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  <p:sldMasterId id="2147483676" r:id="rId2"/>
    <p:sldMasterId id="2147483688" r:id="rId3"/>
    <p:sldMasterId id="2147483700" r:id="rId4"/>
    <p:sldMasterId id="2147483712" r:id="rId5"/>
    <p:sldMasterId id="2147483724" r:id="rId6"/>
  </p:sldMasterIdLst>
  <p:notesMasterIdLst>
    <p:notesMasterId r:id="rId77"/>
  </p:notesMasterIdLst>
  <p:sldIdLst>
    <p:sldId id="564" r:id="rId7"/>
    <p:sldId id="583" r:id="rId8"/>
    <p:sldId id="266" r:id="rId9"/>
    <p:sldId id="265" r:id="rId10"/>
    <p:sldId id="263" r:id="rId11"/>
    <p:sldId id="584" r:id="rId12"/>
    <p:sldId id="631" r:id="rId13"/>
    <p:sldId id="585" r:id="rId14"/>
    <p:sldId id="547" r:id="rId15"/>
    <p:sldId id="720" r:id="rId16"/>
    <p:sldId id="548" r:id="rId17"/>
    <p:sldId id="270" r:id="rId18"/>
    <p:sldId id="586" r:id="rId19"/>
    <p:sldId id="277" r:id="rId20"/>
    <p:sldId id="587" r:id="rId21"/>
    <p:sldId id="347" r:id="rId22"/>
    <p:sldId id="264" r:id="rId23"/>
    <p:sldId id="820" r:id="rId24"/>
    <p:sldId id="592" r:id="rId25"/>
    <p:sldId id="722" r:id="rId26"/>
    <p:sldId id="724" r:id="rId27"/>
    <p:sldId id="267" r:id="rId28"/>
    <p:sldId id="728" r:id="rId29"/>
    <p:sldId id="729" r:id="rId30"/>
    <p:sldId id="730" r:id="rId31"/>
    <p:sldId id="731" r:id="rId32"/>
    <p:sldId id="418" r:id="rId33"/>
    <p:sldId id="413" r:id="rId34"/>
    <p:sldId id="414" r:id="rId35"/>
    <p:sldId id="416" r:id="rId36"/>
    <p:sldId id="417" r:id="rId37"/>
    <p:sldId id="302" r:id="rId38"/>
    <p:sldId id="598" r:id="rId39"/>
    <p:sldId id="599" r:id="rId40"/>
    <p:sldId id="600" r:id="rId41"/>
    <p:sldId id="552" r:id="rId42"/>
    <p:sldId id="553" r:id="rId43"/>
    <p:sldId id="757" r:id="rId44"/>
    <p:sldId id="554" r:id="rId45"/>
    <p:sldId id="555" r:id="rId46"/>
    <p:sldId id="603" r:id="rId47"/>
    <p:sldId id="579" r:id="rId48"/>
    <p:sldId id="821" r:id="rId49"/>
    <p:sldId id="758" r:id="rId50"/>
    <p:sldId id="759" r:id="rId51"/>
    <p:sldId id="760" r:id="rId52"/>
    <p:sldId id="545" r:id="rId53"/>
    <p:sldId id="556" r:id="rId54"/>
    <p:sldId id="606" r:id="rId55"/>
    <p:sldId id="605" r:id="rId56"/>
    <p:sldId id="604" r:id="rId57"/>
    <p:sldId id="423" r:id="rId58"/>
    <p:sldId id="580" r:id="rId59"/>
    <p:sldId id="608" r:id="rId60"/>
    <p:sldId id="623" r:id="rId61"/>
    <p:sldId id="610" r:id="rId62"/>
    <p:sldId id="611" r:id="rId63"/>
    <p:sldId id="612" r:id="rId64"/>
    <p:sldId id="512" r:id="rId65"/>
    <p:sldId id="613" r:id="rId66"/>
    <p:sldId id="581" r:id="rId67"/>
    <p:sldId id="633" r:id="rId68"/>
    <p:sldId id="763" r:id="rId69"/>
    <p:sldId id="426" r:id="rId70"/>
    <p:sldId id="764" r:id="rId71"/>
    <p:sldId id="816" r:id="rId72"/>
    <p:sldId id="817" r:id="rId73"/>
    <p:sldId id="818" r:id="rId74"/>
    <p:sldId id="819" r:id="rId75"/>
    <p:sldId id="624" r:id="rId7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2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3B0099"/>
    <a:srgbClr val="CCCCFF"/>
    <a:srgbClr val="008000"/>
    <a:srgbClr val="FFFF66"/>
    <a:srgbClr val="FF6600"/>
    <a:srgbClr val="A50021"/>
    <a:srgbClr val="FF9900"/>
    <a:srgbClr val="80008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76809" autoAdjust="0"/>
  </p:normalViewPr>
  <p:slideViewPr>
    <p:cSldViewPr showGuides="1">
      <p:cViewPr varScale="1">
        <p:scale>
          <a:sx n="50" d="100"/>
          <a:sy n="50" d="100"/>
        </p:scale>
        <p:origin x="42" y="180"/>
      </p:cViewPr>
      <p:guideLst>
        <p:guide orient="horz" pos="2160"/>
        <p:guide pos="37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BC1B041-38B1-491D-A107-16485602CDC9}" type="datetimeFigureOut">
              <a:rPr lang="zh-CN" altLang="en-US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43C89B8-E68C-4470-9767-E1DE06BCF59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栈和队列是两种应用非常广泛的数据结构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，它们都来自线性表数据结构，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都是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操作受限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”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的线性表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。</a:t>
            </a:r>
          </a:p>
          <a:p>
            <a:pPr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栈在计算机的实现有多种方式：</a:t>
            </a:r>
          </a:p>
          <a:p>
            <a:pPr marL="355600" lvl="1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◆ 硬堆栈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：利用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中的某些寄存器组或类似的硬件或使用内存的特殊区域来实现。这类堆栈容量有限，但速度很快；</a:t>
            </a:r>
          </a:p>
          <a:p>
            <a:pPr marL="355600" lvl="1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◆ 软堆栈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：这类堆栈主要在内存中实现。堆栈容量可以达到很大。在实现方式上，又有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动态方式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静态方式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两种。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DB565EE-192B-41A7-BD8C-5DD6E19D0F05}" type="slidenum">
              <a:rPr lang="zh-CN" altLang="en-US" sz="1200"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栈和队列是两种应用非常广泛的数据结构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，它们都来自线性表数据结构，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都是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操作受限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/>
              </a:rPr>
              <a:t>”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的线性表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。</a:t>
            </a:r>
          </a:p>
          <a:p>
            <a:pPr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栈在计算机的实现有多种方式：</a:t>
            </a:r>
          </a:p>
          <a:p>
            <a:pPr marL="355600" lvl="1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◆ 硬堆栈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：利用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CPU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中的某些寄存器组或类似的硬件或使用内存的特殊区域来实现。这类堆栈容量有限，但速度很快；</a:t>
            </a:r>
          </a:p>
          <a:p>
            <a:pPr marL="355600" lvl="1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◆ 软堆栈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：这类堆栈主要在内存中实现。堆栈容量可以达到很大。在实现方式上，又有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动态方式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静态方式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两种。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C055ADC9-1BBF-4745-8E16-90AD8DF59ACB}" type="slidenum">
              <a:rPr lang="zh-CN" altLang="en-US" sz="1200"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C89B8-E68C-4470-9767-E1DE06BCF59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链式栈无栈满问题，空间可扩充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插入与删除仅在栈顶处执行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链式栈的栈顶在链头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链式栈入栈和出栈操作都非常简单，一般都不使用头结点直接实现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C67FBDB-1571-4991-AFC6-BAE92B62B2EE}" type="slidenum">
              <a:rPr lang="zh-CN" altLang="en-US" sz="1200"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链式栈无栈满问题，空间可扩充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插入与删除仅在栈顶处执行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链式栈的栈顶在链头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链式栈入栈和出栈操作都非常简单，一般都不使用头结点直接实现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9C67FBDB-1571-4991-AFC6-BAE92B62B2EE}" type="slidenum">
              <a:rPr lang="zh-CN" altLang="en-US" sz="1200"/>
              <a:t>20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E22505-B285-46DF-A8C7-BE179E5689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186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6322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normAutofit fontScale="55000" lnSpcReduction="20000"/>
          </a:bodyPr>
          <a:lstStyle/>
          <a:p>
            <a:pPr marL="45720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现在假设在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函数的第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行调用了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hanoi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函数，此时发生了第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层的汉诺塔函数调用。我们来模拟执行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Hanoi(3, A, B, C)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这一句函数调用，以此了解递归函数的执行过程。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当前传递过来的实参是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3, A, B ,C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，由于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 = 3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，所以不执行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分句，而是执行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分句，也就是执行到第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行。在第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行接收到的实参是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，也就是说，这一句函数调用的作用是将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~ 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号圆盘从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柱为中转柱。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执行第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行，进入下一层，也就是第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层汉诺塔函数调用。为了便于理解，我们把汉诺塔程序复印一份，那么汉诺塔函数的递归调用就像是转移到了复印件上继续执行。从这样的角度去理解的话，递归函数调用跟普通的函数调用就基本相似了。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此时在执行栈会压入一个新的栈帧，参数列表就是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返回地址是第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层调用中，由于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 = 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，所以仍然是执行到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分句中的第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行。该行也是一句汉诺塔递归函数调用，实参是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1, A, B,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，其作用是将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号盘子从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柱作为中转柱。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现在进入第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层递归函数调用，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同样会在运行栈中压入一个栈帧，参数列表是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1, A, B,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，返回地址是第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层中的第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层调用中，由于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 = 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，所以会执行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分解中的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函数，该函数的实参是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 1,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那么，该函数的运行结果是将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号盘从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分句执行完毕，那么第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层调用中的汉诺塔函数就执行完毕，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根据当前栈顶中的返回地址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，返回至第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行继续执行。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此时运行栈执行出栈操作，即将执行第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行中的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函数。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函数的参数列表是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 2, 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执行结果将会是将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号盘从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柱。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F53649-C6F2-4A09-AAD9-3E24E18584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945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6322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现在继续执行第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该行也是一句汉诺塔递归调用，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也就是又进入第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层递归函数调用继续执行，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实参列表是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1, C, A, 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再次向运行栈压入第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层递归函数调用的栈帧，但此时要注意的是，返回地址是第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层中的第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继续执行第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层递归函数调用，此时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还是等于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，所以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函数的实参是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C, 1, 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号盘子从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柱。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这样第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层调用执行完毕，根据当前栈帧的返回地址，返回第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行继续执行，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运行栈执行出栈操作。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F53649-C6F2-4A09-AAD9-3E24E18584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114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6322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根据当前栈帧的返回地址，应当返回至第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行继续执行。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当前栈帧出栈。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执行在第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move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函数，实参列表是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 3,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号圆盘从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柱移动到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柱。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F53649-C6F2-4A09-AAD9-3E24E18584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69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6322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接下来在第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行又是一句汉诺塔递归函数调用，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实参列表是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2, B, A,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由此进入第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层递归函数调用，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传递过来的实参列表就是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2, B, A, C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同时运行栈压入一个栈帧，返回地址是第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层的第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行。接下来的执行过程跟前面的步骤类似，在此就不再重复讲解。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CF53649-C6F2-4A09-AAD9-3E24E18584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934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链队列是带头结点的单链表，设头、尾指针。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）出队操作要区分三种情形：队列长度为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和大于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）情形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0" dirty="0"/>
              <a:t>：队列长度为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，无元素可退，报错！</a:t>
            </a:r>
            <a:endParaRPr lang="en-US" altLang="zh-CN" sz="24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1FC198-2D83-4DFC-8CDD-7D23AF44D4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946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在非空队列里，队首指针始终指向队头元素，而队尾指针始终指向队尾元素的下一位置。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hlink"/>
                </a:solidFill>
              </a:rPr>
              <a:t>       </a:t>
            </a:r>
            <a:r>
              <a:rPr lang="zh-CN" altLang="en-US" b="1">
                <a:latin typeface="宋体" panose="02010600030101010101" pitchFamily="2" charset="-122"/>
              </a:rPr>
              <a:t>顺序队列中存在</a:t>
            </a:r>
            <a:r>
              <a:rPr lang="zh-CN" altLang="en-US" b="1">
                <a:latin typeface="Arial" panose="020B0604020202020204" pitchFamily="34" charset="0"/>
              </a:rPr>
              <a:t>“</a:t>
            </a:r>
            <a:r>
              <a:rPr lang="zh-CN" altLang="en-US" b="1">
                <a:solidFill>
                  <a:schemeClr val="folHlink"/>
                </a:solidFill>
                <a:latin typeface="宋体" panose="02010600030101010101" pitchFamily="2" charset="-122"/>
              </a:rPr>
              <a:t>假溢出</a:t>
            </a:r>
            <a:r>
              <a:rPr lang="zh-CN" altLang="en-US" b="1">
                <a:latin typeface="Arial" panose="020B0604020202020204" pitchFamily="34" charset="0"/>
              </a:rPr>
              <a:t>”</a:t>
            </a:r>
            <a:r>
              <a:rPr lang="zh-CN" altLang="en-US" b="1">
                <a:latin typeface="宋体" panose="02010600030101010101" pitchFamily="2" charset="-122"/>
              </a:rPr>
              <a:t>现象。因为在入队和出队操作中，头、尾指针只增加不减小，致使被删除元素的空间永远无法重新利用。因此，尽管队列中实际元素个数可能远远小于数组大小，但可能由于尾指针巳超出向量空间的上界而不能做入队操作。该现象称为</a:t>
            </a:r>
            <a:r>
              <a:rPr lang="zh-CN" altLang="en-US" b="1">
                <a:solidFill>
                  <a:schemeClr val="folHlink"/>
                </a:solidFill>
                <a:latin typeface="宋体" panose="02010600030101010101" pitchFamily="2" charset="-122"/>
              </a:rPr>
              <a:t>假溢出</a:t>
            </a:r>
            <a:r>
              <a:rPr lang="zh-CN" altLang="en-US" b="1">
                <a:latin typeface="宋体" panose="02010600030101010101" pitchFamily="2" charset="-122"/>
              </a:rPr>
              <a:t>。</a:t>
            </a:r>
            <a:endParaRPr lang="zh-CN" altLang="en-US"/>
          </a:p>
          <a:p>
            <a:pPr eaLnBrk="1" hangingPunct="1"/>
            <a:endParaRPr lang="zh-CN" altLang="en-US"/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62CB5198-4CF7-4425-8036-B12172AFF88B}" type="slidenum">
              <a:rPr lang="zh-CN" altLang="en-US" sz="1200"/>
              <a:t>58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zh-CN" altLang="en-US" b="1"/>
              <a:t>为循环队列所分配的空间可以被充分利用，除非向量空间真的被队列元素全部占用，否则不会上溢。因此，真正实用的顺序队列是循环队列。</a:t>
            </a:r>
            <a:endParaRPr lang="zh-CN" altLang="en-US"/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3A1457AF-BE3C-40AB-9377-36176C3A0F95}" type="slidenum">
              <a:rPr lang="zh-CN" altLang="en-US" sz="1200"/>
              <a:t>60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5AF9E50D-4A8A-4D6B-A1DE-1022F7D41417}" type="slidenum">
              <a:rPr lang="zh-CN" altLang="en-US" sz="1200"/>
              <a:t>61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fld id="{5AF9E50D-4A8A-4D6B-A1DE-1022F7D41417}" type="slidenum">
              <a:rPr lang="zh-CN" altLang="en-US" sz="1200"/>
              <a:t>62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E22505-B285-46DF-A8C7-BE179E56890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628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emf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emf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emf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emf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emf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8"/>
            <a:ext cx="6629400" cy="712117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60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90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7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77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09" y="123770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7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7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5"/>
            <a:ext cx="6629400" cy="71211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00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6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7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7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4" y="347448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4" y="216531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11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7"/>
            <a:ext cx="6629400" cy="71211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00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9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31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90"/>
            <a:ext cx="6629400" cy="712117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700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5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2"/>
            <a:ext cx="1988227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5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99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99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84651"/>
      </p:ext>
    </p:extLst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14307"/>
      </p:ext>
    </p:extLst>
  </p:cSld>
  <p:clrMapOvr>
    <a:masterClrMapping/>
  </p:clrMapOvr>
  <p:transition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771481"/>
      </p:ext>
    </p:extLst>
  </p:cSld>
  <p:clrMapOvr>
    <a:masterClrMapping/>
  </p:clrMapOvr>
  <p:transition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441407"/>
      </p:ext>
    </p:extLst>
  </p:cSld>
  <p:clrMapOvr>
    <a:masterClrMapping/>
  </p:clrMapOvr>
  <p:transition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33290"/>
      </p:ext>
    </p:extLst>
  </p:cSld>
  <p:clrMapOvr>
    <a:masterClrMapping/>
  </p:clrMapOvr>
  <p:transition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24545"/>
      </p:ext>
    </p:extLst>
  </p:cSld>
  <p:clrMapOvr>
    <a:masterClrMapping/>
  </p:clrMapOvr>
  <p:transition>
    <p:strips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2977"/>
      </p:ext>
    </p:extLst>
  </p:cSld>
  <p:clrMapOvr>
    <a:masterClrMapping/>
  </p:clrMapOvr>
  <p:transition>
    <p:strips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552543"/>
      </p:ext>
    </p:extLst>
  </p:cSld>
  <p:clrMapOvr>
    <a:masterClrMapping/>
  </p:clrMapOvr>
  <p:transition>
    <p:strips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998516"/>
      </p:ext>
    </p:extLst>
  </p:cSld>
  <p:clrMapOvr>
    <a:masterClrMapping/>
  </p:clrMapOvr>
  <p:transition>
    <p:strips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794368"/>
      </p:ext>
    </p:extLst>
  </p:cSld>
  <p:clrMapOvr>
    <a:masterClrMapping/>
  </p:clrMapOvr>
  <p:transition>
    <p:strips dir="r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310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65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423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33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403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9003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41962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410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93808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7079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5665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76754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020D6-47F3-4714-85DB-2BABA54AC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A5D494-B37F-469C-8BD6-22F44B801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8BAF7-4E5C-4B10-85EF-C2AE6D7A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F030-7CEC-43C3-82F2-3C37B4D480B8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A65872-004A-4E05-B23E-B0FF8D83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E190A-D185-425E-8EFA-497DEC05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292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6FC74-BED8-4A02-BEB8-F3FEE440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DBD844-EE67-41CD-B568-F43DE0FD9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DC75EF-23D5-4B74-97FF-A9C3E475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B1174-5001-472B-AC79-3119DEF14A36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F861B-6F8C-4217-974D-0C537985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88DD8-F310-47FB-8A04-C3DF89C4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0082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ED24A-0DF0-43FB-82FB-60318A7E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F0CDE-4D1F-4324-AD6F-CB38C2029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D57A5-86CF-49CA-8D91-B684A51F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41E8-C402-4AC9-A335-81FAC8BCAF67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F0FAA-4B93-404E-AAEF-C18A52BD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F1005F-2E82-4A3B-9DDF-DCCFAE4D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809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28480-AC93-4A4B-9322-C5035DA4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92E2C-66F5-4EA0-A0FD-41AA7215A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FA2BE-9708-423E-8634-00C8E3E4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8675-AED1-4A55-B410-DE0AC095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4E13-CF3B-46E2-BA17-334961C4C64F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B28DFC-E4B3-4155-A839-4FFAE9AC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E98F9A-191A-42B5-940A-23C61605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780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AFB0-4933-479D-8615-E9812567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CC79D7-E44F-495E-9211-3471CB36B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5C0DEB-541D-49EE-8D9C-59AB63345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5178D1-8059-438E-982C-A8E4AA7EC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5D4069-2EE2-4F76-9792-2C5B9FE77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E33324-B008-4ADC-B9E1-FA454088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ADAA-AB82-4057-B9D6-87B48B158F8F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DEA766-AFAC-455E-99AE-1D469A58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E62A5B-4DE4-4E01-B435-646713B5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4192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816BD-E823-4107-8F2E-39393EF8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B7144B-CD1A-493F-B82E-E637A9E0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2B01B-C2DE-46C2-8D4E-2EFD7F752693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071F9B-50E7-4A96-8B45-50ADE685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D6D294-605F-458D-B835-DDFEC76B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945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614AE5-86B5-4A91-A2C9-BA224D70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1831-BB58-44D9-BEA3-BB49DD4BBBCB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4F5938-51AB-432B-B80B-377EC09EC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0C6A41-20AC-4EBF-B577-809A2A82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3891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40E9-0CAC-46BC-A7FF-2DAA3BD9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D9C44-BA0F-4B1F-AD68-30BF0140E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7A5C2E-99B9-439B-8D48-C04A5E046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F9ADCE-C5C0-4FFF-B30D-47A41A80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1D26-1C86-4B3F-9611-34A03E0C49D3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8E447-0873-449C-8DDF-7372AC1D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290CD0-01DD-4904-B153-FF415870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8201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11EB6-4CC5-4158-9C6E-F624C8D0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7326CD-F14F-41C5-B492-C4C5196A2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4527E6-FDBB-4A2E-A4FF-1BAAD7D74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6C888B-8722-4D57-AEF1-3D894964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B038-DC31-4F05-824A-0F5F68FCB700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130A09-D2FF-422C-8354-25755FA1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4558D5-E24B-4995-8371-19E9367C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747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E2176-9085-4B9D-BAAC-0B13BD8C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031828-E286-483D-AE98-4D470891C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A6C2B8-A954-46BA-9B50-D6495AEE5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AF9D-777E-4789-BF22-EC850419202A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B82960-962E-43DE-8C02-8FFF3A4F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2D2D7-9F26-4466-A6C7-C6868C60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640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F94C2C-6375-4CA0-96C0-60AB7FB38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FC688E-4C2A-4E8A-A2F6-B758A4664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B03FFF-6358-49B2-84F9-7F2F4F20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9B1A-656E-46F4-BE92-A740302A38D7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6D775-A578-4964-ACDF-23EA5378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3C7B59-7C09-4CEC-AA94-78D2A471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1846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88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2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120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976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999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256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1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831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00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963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757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291" y="48936"/>
            <a:ext cx="6629400" cy="71211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59" y="103653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E5187-DE92-993A-0100-7ABE595C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39B5-A6DD-477D-BE99-5AD4CA2F58E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AA60E-7CCA-E8F0-796A-1C44334A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E3B1BE-AB2D-5A23-7D3C-F521ED3F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54559" y="179743"/>
            <a:ext cx="700611" cy="581310"/>
            <a:chOff x="527657" y="117426"/>
            <a:chExt cx="1016528" cy="825488"/>
          </a:xfrm>
        </p:grpSpPr>
        <p:pic>
          <p:nvPicPr>
            <p:cNvPr id="8" name="Picture 3" descr="C:\Users\Administrator\Desktop\微立体创业计划\005.png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Administrator\Desktop\微立体创业计划\004.png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1117" y="8728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127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E304D-4302-9926-B9E4-A4F22949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BE773-4813-48BD-A50D-5974BFBD6D74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BA000-FB47-BDF4-4935-32802488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FA3F2-32A8-6E83-CD3C-B6BFA5A1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31711" y="18704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8269" y="9458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08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7D3EA5-F01E-27E8-6382-8E4698BF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C41B-B701-4ED6-8A9D-BB3EBE32AEBB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F90EF-624C-D401-6E5E-B0149181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81C52-AE99-DAB9-C87E-25AC2D77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6910" y="123768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119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426EC-8608-7076-4E2F-201ECC9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6" y="120217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130B0-2B94-A4AE-6E98-7824EEE5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FFFF7-CCAC-4C16-B3DF-A74AC1DA0111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58B41-817B-123A-14E0-BC57DFD32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64C95-0EF9-F0F6-ED9A-520DF025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32687" y="43283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91955" y="174090"/>
            <a:ext cx="700611" cy="581310"/>
            <a:chOff x="527657" y="117426"/>
            <a:chExt cx="1016528" cy="825488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18513" y="81635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30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84307-8A37-88A5-276E-382ECA8F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CE2CA-F9CF-29DC-C270-D8E9191A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7F53C-D319-4379-BE9D-C0775F1AC39A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87EF2-F446-A5B5-9052-AA7F0AEF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9F2C10-0228-7893-C916-BD1FC13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4677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5CDC8-B89E-CC89-6D8D-B5FA69CE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83" y="3474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E6074-4C08-E5A5-1BC3-6414E2E57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58D588-0735-993F-FDD0-115837A6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5983" y="216531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2D629-DE6B-9EAE-BC43-029A92A4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8CB3-EBC9-4CC4-A374-8AE54067A303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1E168-CA51-40B5-0F51-F557A9BE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A110E-96BC-7564-341B-681A25B8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231" y="112409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342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77F47-4C85-D788-3D9F-55EA08C5B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93787-4F60-8859-2F67-4D1216667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2D604-5A9A-6C30-39E7-4F12BBC6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61EE-7E93-465D-B757-DAE1CB93E92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C49BAC-6CED-D1F9-DF9F-F24A800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1781E8-C2CC-E8D8-DBC6-2169704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349725" y="136525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508993" y="267332"/>
            <a:ext cx="700611" cy="581310"/>
            <a:chOff x="527657" y="117426"/>
            <a:chExt cx="1016528" cy="825488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35551" y="174877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969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91E652-24E5-5D4B-50DE-DB568C82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F1FC26-7D40-3607-CBAD-6EF57B67E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C3179B-0F08-A1E3-33A4-C538C69CF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3DB1D-3969-492C-022F-B513F87E7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9C453B-EC09-DE45-A706-9278FDDB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8CFF-37F7-4C20-841D-A3532578AC8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08686C-7D94-AA63-89D7-45C32CBE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4B4EC2-B11A-C364-C14B-1E762B0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41A2CC41-53EF-D792-C3D8-24D005077F38}"/>
              </a:ext>
            </a:extLst>
          </p:cNvPr>
          <p:cNvSpPr>
            <a:spLocks noGrp="1"/>
          </p:cNvSpPr>
          <p:nvPr userDrawn="1"/>
        </p:nvSpPr>
        <p:spPr>
          <a:xfrm>
            <a:off x="1264533" y="250688"/>
            <a:ext cx="6629400" cy="712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DAD09386-D71F-8627-81AE-8E5A2E01CA18}"/>
              </a:ext>
            </a:extLst>
          </p:cNvPr>
          <p:cNvSpPr>
            <a:spLocks noGrp="1"/>
          </p:cNvSpPr>
          <p:nvPr userDrawn="1"/>
        </p:nvSpPr>
        <p:spPr>
          <a:xfrm>
            <a:off x="446519" y="112949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BBDDF8-8219-CDF6-F368-5129B2EA6B6E}"/>
              </a:ext>
            </a:extLst>
          </p:cNvPr>
          <p:cNvGrpSpPr/>
          <p:nvPr userDrawn="1"/>
        </p:nvGrpSpPr>
        <p:grpSpPr>
          <a:xfrm>
            <a:off x="487894" y="350630"/>
            <a:ext cx="700611" cy="581310"/>
            <a:chOff x="527657" y="117426"/>
            <a:chExt cx="1016528" cy="825488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D6E2D9A-736C-BCF5-C14E-2042A766D87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rgbClr val="0070C0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57" y="117426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67DD840-4505-AB20-3FC2-865F6AC9F32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961" y="129925"/>
              <a:ext cx="813224" cy="812989"/>
            </a:xfrm>
            <a:prstGeom prst="rect">
              <a:avLst/>
            </a:prstGeom>
            <a:noFill/>
            <a:effectLst>
              <a:outerShdw blurRad="127000" dist="63500" dir="3000000" sx="104000" sy="104000" algn="tl" rotWithShape="0">
                <a:prstClr val="black">
                  <a:alpha val="34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273630AC-98EC-3F36-AD9C-4C33F9507C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73077" y="350630"/>
            <a:ext cx="1988226" cy="47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702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A1DB-9ED0-9B4E-C770-E5694309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A23B31-EAB2-1391-7820-A080360E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B3C80-CF0B-F0C0-A442-A088B0EB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CF473-C6CC-BAD8-5383-26E8D253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EC3D5-687C-416C-9B5D-3A75D8F7BA6C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54AA7-A8F7-371E-233F-C3786BFF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BCE91-07DB-6B5D-5B09-85080604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9686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6F22-E5CE-D1A8-570E-9AE797FD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128B0-4299-ED4A-92C5-0E762E6AB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EB65-E6EF-E56C-9D82-1C732D02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0BE0C-1EAE-4AE0-9369-5238A76AA9AE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A3098-73E5-D15B-F904-31354377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C31172-595F-7FBE-C4C5-0D45BFF7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7144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A9512A-F429-E9F6-1E9D-E8FDB3269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BF6BB3-16C3-74FB-3BD9-3D2AA5B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59AC9E-B020-DA3A-3784-05E3CA26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ED7F1-ED4F-4A57-9629-8DACBCF4E104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5E3113-5A22-4324-B7BE-2653A893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4F435-9CA7-A80C-F717-58D1A579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53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65F542E6-4E52-DF9E-3FA4-E1F63DC2D6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20867" y="6416676"/>
            <a:ext cx="1824567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F6E548D5-8AE8-4390-AB9A-FFC8E481B1DE}" type="slidenum"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‹#›</a:t>
            </a:fld>
            <a:endParaRPr lang="zh-CN" altLang="en-US" sz="20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1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>
    <p:strips dir="r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003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210762-AAE8-4BCB-86B5-B09783DD1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D24BA-CA1D-4630-A3FB-FFD38708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6F2CF2-8803-4AFD-A61C-A07183F83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D65D0-23B3-4958-92B7-9CFDBBCF586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B76CA-87F8-4D60-AACC-5E350EFB0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DD0DF-AD23-4EF8-9518-44863A91C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ABB2-A917-4554-8133-39C629CD8C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0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49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9AE7EF-F87D-9C21-C4BB-171C8D9B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3D3E9-FE54-B7B5-61E8-7471036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6B583-F9AA-8EDA-E541-C15244314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1001-B58D-4742-9CFA-41515D63C199}" type="datetime1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A588B-8EE2-28BC-48EA-8B9B0CBDD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4F34A-A39E-23CC-FAEC-C3E874B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FE0B-717B-41AE-9FA2-CA4BF851D1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46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dirty="0"/>
          </a:p>
        </p:txBody>
      </p:sp>
      <p:sp>
        <p:nvSpPr>
          <p:cNvPr id="470018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2924176"/>
            <a:ext cx="9144000" cy="2735263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66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第</a:t>
            </a:r>
            <a:r>
              <a:rPr lang="en-US" altLang="zh-CN" sz="66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</a:t>
            </a:r>
            <a:r>
              <a:rPr lang="zh-CN" altLang="en-US" sz="66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章 栈和队列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6000" dirty="0"/>
              <a:t>outline</a:t>
            </a:r>
            <a:endParaRPr lang="en-US" altLang="zh-CN" sz="5400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栈</a:t>
            </a:r>
            <a:endParaRPr lang="en-US" altLang="zh-CN" sz="4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4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队列</a:t>
            </a:r>
            <a:endParaRPr lang="en-US" altLang="zh-CN" sz="4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endParaRPr lang="zh-CN" altLang="en-US" sz="4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1127448" y="2492897"/>
            <a:ext cx="9540553" cy="165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14400" indent="-4572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rgbClr val="000099"/>
                </a:solidFill>
              </a:rPr>
              <a:t>栈和队列是“</a:t>
            </a:r>
            <a:r>
              <a:rPr lang="zh-CN" altLang="en-US" sz="3600" dirty="0">
                <a:solidFill>
                  <a:srgbClr val="FF0000"/>
                </a:solidFill>
              </a:rPr>
              <a:t>操作受限</a:t>
            </a:r>
            <a:r>
              <a:rPr lang="zh-CN" altLang="en-US" sz="3600" dirty="0">
                <a:solidFill>
                  <a:srgbClr val="000099"/>
                </a:solidFill>
              </a:rPr>
              <a:t>”的线性表</a:t>
            </a:r>
            <a:endParaRPr lang="en-US" altLang="zh-CN" sz="3600" dirty="0">
              <a:solidFill>
                <a:srgbClr val="000099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rgbClr val="000099"/>
                </a:solidFill>
              </a:rPr>
              <a:t>限定插入和删除只能在表 的“端点”进行</a:t>
            </a:r>
          </a:p>
        </p:txBody>
      </p:sp>
      <p:sp>
        <p:nvSpPr>
          <p:cNvPr id="124932" name="Text Box 4"/>
          <p:cNvSpPr txBox="1">
            <a:spLocks noChangeArrowheads="1"/>
          </p:cNvSpPr>
          <p:nvPr/>
        </p:nvSpPr>
        <p:spPr bwMode="auto">
          <a:xfrm>
            <a:off x="2711451" y="908050"/>
            <a:ext cx="81868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hlink"/>
              </a:buClr>
            </a:pPr>
            <a:r>
              <a:rPr lang="zh-CN" altLang="en-US" sz="4800" dirty="0">
                <a:solidFill>
                  <a:srgbClr val="FF0000"/>
                </a:solidFill>
              </a:rPr>
              <a:t>栈和队列是两种常用的线性表</a:t>
            </a:r>
            <a:endParaRPr lang="zh-CN" altLang="en-US" sz="48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4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build="p"/>
      <p:bldP spid="1249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696" y="1700213"/>
            <a:ext cx="7308304" cy="27368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66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3.1 </a:t>
            </a:r>
            <a:r>
              <a:rPr sz="66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栈</a:t>
            </a:r>
            <a:r>
              <a:rPr lang="en-US" altLang="zh-CN" sz="66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(stack)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987425"/>
          </a:xfrm>
        </p:spPr>
        <p:txBody>
          <a:bodyPr/>
          <a:lstStyle/>
          <a:p>
            <a:pPr algn="l" eaLnBrk="1" hangingPunct="1"/>
            <a:r>
              <a:rPr dirty="0">
                <a:ea typeface="楷体_GB2312" pitchFamily="49" charset="-122"/>
              </a:rPr>
              <a:t>栈 的概念与特点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908050"/>
            <a:ext cx="11017224" cy="5329238"/>
          </a:xfrm>
        </p:spPr>
        <p:txBody>
          <a:bodyPr/>
          <a:lstStyle/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00FF"/>
                </a:solidFill>
                <a:ea typeface="仿宋_GB2312" pitchFamily="49" charset="-122"/>
              </a:rPr>
              <a:t>只允许在</a:t>
            </a:r>
            <a:r>
              <a:rPr lang="zh-CN" altLang="en-US" sz="3200" dirty="0">
                <a:solidFill>
                  <a:srgbClr val="FF0000"/>
                </a:solidFill>
                <a:ea typeface="仿宋_GB2312" pitchFamily="49" charset="-122"/>
              </a:rPr>
              <a:t>一端</a:t>
            </a:r>
            <a:r>
              <a:rPr lang="zh-CN" altLang="en-US" sz="3200" dirty="0">
                <a:solidFill>
                  <a:srgbClr val="0000FF"/>
                </a:solidFill>
                <a:ea typeface="仿宋_GB2312" pitchFamily="49" charset="-122"/>
              </a:rPr>
              <a:t>插入和删除操作的线性表</a:t>
            </a:r>
          </a:p>
          <a:p>
            <a:pPr lvl="1" eaLnBrk="1" hangingPunct="1">
              <a:buClr>
                <a:srgbClr val="FF6600"/>
              </a:buClr>
              <a:buSzPct val="50000"/>
            </a:pPr>
            <a:r>
              <a:rPr lang="zh-CN" altLang="en-US" sz="2800" dirty="0">
                <a:solidFill>
                  <a:srgbClr val="008080"/>
                </a:solidFill>
                <a:ea typeface="仿宋_GB2312" pitchFamily="49" charset="-122"/>
              </a:rPr>
              <a:t>栈顶</a:t>
            </a:r>
            <a:r>
              <a:rPr lang="zh-CN" altLang="en-US" sz="2800" dirty="0">
                <a:solidFill>
                  <a:srgbClr val="0000FF"/>
                </a:solidFill>
                <a:ea typeface="仿宋_GB2312" pitchFamily="49" charset="-122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(</a:t>
            </a:r>
            <a:r>
              <a:rPr lang="en-US" altLang="zh-CN" sz="2800" dirty="0">
                <a:solidFill>
                  <a:srgbClr val="CC3300"/>
                </a:solidFill>
                <a:ea typeface="仿宋_GB2312" pitchFamily="49" charset="-122"/>
              </a:rPr>
              <a:t>top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ea typeface="仿宋_GB2312" pitchFamily="49" charset="-122"/>
              </a:rPr>
              <a:t>：允许插入和删除 的一端，又称为表尾</a:t>
            </a:r>
            <a:endParaRPr lang="en-US" altLang="zh-CN" sz="2800" dirty="0">
              <a:solidFill>
                <a:srgbClr val="0000FF"/>
              </a:solidFill>
              <a:ea typeface="仿宋_GB2312" pitchFamily="49" charset="-122"/>
            </a:endParaRPr>
          </a:p>
          <a:p>
            <a:pPr lvl="1" eaLnBrk="1" hangingPunct="1">
              <a:buClr>
                <a:srgbClr val="FF6600"/>
              </a:buClr>
              <a:buSzPct val="50000"/>
            </a:pPr>
            <a:r>
              <a:rPr lang="zh-CN" altLang="en-US" sz="2800" dirty="0">
                <a:solidFill>
                  <a:srgbClr val="008080"/>
                </a:solidFill>
                <a:ea typeface="仿宋_GB2312" pitchFamily="49" charset="-122"/>
              </a:rPr>
              <a:t>栈底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(</a:t>
            </a:r>
            <a:r>
              <a:rPr lang="en-US" altLang="zh-CN" sz="2800" dirty="0">
                <a:solidFill>
                  <a:srgbClr val="CC3300"/>
                </a:solidFill>
                <a:ea typeface="仿宋_GB2312" pitchFamily="49" charset="-122"/>
              </a:rPr>
              <a:t>bottom</a:t>
            </a:r>
            <a:r>
              <a:rPr lang="en-US" altLang="zh-CN" sz="2800" dirty="0">
                <a:solidFill>
                  <a:srgbClr val="0000FF"/>
                </a:solidFill>
                <a:ea typeface="仿宋_GB2312" pitchFamily="49" charset="-122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ea typeface="仿宋_GB2312" pitchFamily="49" charset="-122"/>
              </a:rPr>
              <a:t>：是固定端，又称为表头</a:t>
            </a:r>
            <a:endParaRPr lang="en-US" altLang="zh-CN" sz="2800" dirty="0">
              <a:solidFill>
                <a:srgbClr val="0000FF"/>
              </a:solidFill>
              <a:ea typeface="仿宋_GB2312" pitchFamily="49" charset="-122"/>
            </a:endParaRPr>
          </a:p>
          <a:p>
            <a:pPr lvl="1" eaLnBrk="1" hangingPunct="1">
              <a:buClr>
                <a:srgbClr val="FF6600"/>
              </a:buClr>
              <a:buSzPct val="50000"/>
            </a:pPr>
            <a:endParaRPr lang="en-US" altLang="zh-CN" sz="2800" dirty="0">
              <a:solidFill>
                <a:srgbClr val="0000FF"/>
              </a:solidFill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当表中没有元素时称为</a:t>
            </a: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空栈</a:t>
            </a:r>
            <a:r>
              <a:rPr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en-US" altLang="zh-CN" sz="3200" dirty="0">
              <a:latin typeface="宋体" panose="02010600030101010101" pitchFamily="2" charset="-122"/>
              <a:ea typeface="楷体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CN" sz="3200" dirty="0"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00FF"/>
                </a:solidFill>
                <a:ea typeface="仿宋_GB2312" pitchFamily="49" charset="-122"/>
              </a:rPr>
              <a:t>特点：后进先出 </a:t>
            </a:r>
            <a:r>
              <a:rPr lang="en-US" altLang="zh-CN" sz="3200" dirty="0">
                <a:ea typeface="仿宋_GB2312" pitchFamily="49" charset="-122"/>
              </a:rPr>
              <a:t>(</a:t>
            </a:r>
            <a:r>
              <a:rPr lang="en-US" altLang="zh-CN" sz="3200" dirty="0">
                <a:solidFill>
                  <a:schemeClr val="tx2"/>
                </a:solidFill>
                <a:ea typeface="仿宋_GB2312" pitchFamily="49" charset="-122"/>
              </a:rPr>
              <a:t>LIFO</a:t>
            </a:r>
            <a:r>
              <a:rPr lang="en-US" altLang="zh-CN" sz="3200" dirty="0">
                <a:ea typeface="仿宋_GB2312" pitchFamily="49" charset="-122"/>
              </a:rPr>
              <a:t>)</a:t>
            </a: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CN" sz="3200" dirty="0">
              <a:ea typeface="仿宋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551739" y="3213101"/>
            <a:ext cx="3152775" cy="3794125"/>
            <a:chOff x="6027738" y="3213100"/>
            <a:chExt cx="3152775" cy="3794125"/>
          </a:xfrm>
        </p:grpSpPr>
        <p:sp>
          <p:nvSpPr>
            <p:cNvPr id="11268" name="Text Box 5"/>
            <p:cNvSpPr txBox="1">
              <a:spLocks noChangeArrowheads="1"/>
            </p:cNvSpPr>
            <p:nvPr/>
          </p:nvSpPr>
          <p:spPr bwMode="auto">
            <a:xfrm>
              <a:off x="6402388" y="3213100"/>
              <a:ext cx="1101725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3600"/>
                <a:t>出栈</a:t>
              </a:r>
              <a:endParaRPr lang="zh-CN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11269" name="Text Box 6"/>
            <p:cNvSpPr txBox="1">
              <a:spLocks noChangeArrowheads="1"/>
            </p:cNvSpPr>
            <p:nvPr/>
          </p:nvSpPr>
          <p:spPr bwMode="auto">
            <a:xfrm>
              <a:off x="8078788" y="3221038"/>
              <a:ext cx="1101725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3600"/>
                <a:t>入栈</a:t>
              </a:r>
              <a:endParaRPr lang="zh-CN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11270" name="Rectangle 7" descr="之字形"/>
            <p:cNvSpPr>
              <a:spLocks noChangeArrowheads="1"/>
            </p:cNvSpPr>
            <p:nvPr/>
          </p:nvSpPr>
          <p:spPr bwMode="auto">
            <a:xfrm>
              <a:off x="7018338" y="4264025"/>
              <a:ext cx="1752600" cy="2209800"/>
            </a:xfrm>
            <a:prstGeom prst="rect">
              <a:avLst/>
            </a:prstGeom>
            <a:pattFill prst="zigZag">
              <a:fgClr>
                <a:schemeClr val="accent1"/>
              </a:fgClr>
              <a:bgClr>
                <a:schemeClr val="bg1"/>
              </a:bgClr>
            </a:pattFill>
            <a:ln w="2857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1" name="Rectangle 8"/>
            <p:cNvSpPr>
              <a:spLocks noChangeArrowheads="1"/>
            </p:cNvSpPr>
            <p:nvPr/>
          </p:nvSpPr>
          <p:spPr bwMode="auto">
            <a:xfrm>
              <a:off x="6637338" y="4111625"/>
              <a:ext cx="2209800" cy="228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2" name="Text Box 9"/>
            <p:cNvSpPr txBox="1">
              <a:spLocks noChangeArrowheads="1"/>
            </p:cNvSpPr>
            <p:nvPr/>
          </p:nvSpPr>
          <p:spPr bwMode="auto">
            <a:xfrm>
              <a:off x="7640638" y="5864225"/>
              <a:ext cx="52610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>
              <a:off x="7018338" y="6016625"/>
              <a:ext cx="1752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" name="Text Box 11"/>
            <p:cNvSpPr txBox="1">
              <a:spLocks noChangeArrowheads="1"/>
            </p:cNvSpPr>
            <p:nvPr/>
          </p:nvSpPr>
          <p:spPr bwMode="auto">
            <a:xfrm>
              <a:off x="7475538" y="4416425"/>
              <a:ext cx="54213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n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5" name="Line 12"/>
            <p:cNvSpPr>
              <a:spLocks noChangeShapeType="1"/>
            </p:cNvSpPr>
            <p:nvPr/>
          </p:nvSpPr>
          <p:spPr bwMode="auto">
            <a:xfrm>
              <a:off x="7018338" y="4568825"/>
              <a:ext cx="1752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" name="Line 13"/>
            <p:cNvSpPr>
              <a:spLocks noChangeShapeType="1"/>
            </p:cNvSpPr>
            <p:nvPr/>
          </p:nvSpPr>
          <p:spPr bwMode="auto">
            <a:xfrm>
              <a:off x="7018338" y="5026025"/>
              <a:ext cx="1752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" name="Text Box 14"/>
            <p:cNvSpPr txBox="1">
              <a:spLocks noChangeArrowheads="1"/>
            </p:cNvSpPr>
            <p:nvPr/>
          </p:nvSpPr>
          <p:spPr bwMode="auto">
            <a:xfrm>
              <a:off x="7475538" y="4873625"/>
              <a:ext cx="76976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sz="32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n-1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78" name="Line 15"/>
            <p:cNvSpPr>
              <a:spLocks noChangeShapeType="1"/>
            </p:cNvSpPr>
            <p:nvPr/>
          </p:nvSpPr>
          <p:spPr bwMode="auto">
            <a:xfrm>
              <a:off x="7018338" y="5483225"/>
              <a:ext cx="17526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Text Box 16"/>
            <p:cNvSpPr txBox="1">
              <a:spLocks noChangeArrowheads="1"/>
            </p:cNvSpPr>
            <p:nvPr/>
          </p:nvSpPr>
          <p:spPr bwMode="auto">
            <a:xfrm>
              <a:off x="7551738" y="5284788"/>
              <a:ext cx="59055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en-US" sz="3200" i="1">
                  <a:solidFill>
                    <a:srgbClr val="0000FF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0" name="Text Box 17"/>
            <p:cNvSpPr txBox="1">
              <a:spLocks noChangeArrowheads="1"/>
            </p:cNvSpPr>
            <p:nvPr/>
          </p:nvSpPr>
          <p:spPr bwMode="auto">
            <a:xfrm>
              <a:off x="6027738" y="4168775"/>
              <a:ext cx="747712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隶书" panose="02010509060101010101" pitchFamily="49" charset="-122"/>
                </a:rPr>
                <a:t>top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1" name="Text Box 18"/>
            <p:cNvSpPr txBox="1">
              <a:spLocks noChangeArrowheads="1"/>
            </p:cNvSpPr>
            <p:nvPr/>
          </p:nvSpPr>
          <p:spPr bwMode="auto">
            <a:xfrm>
              <a:off x="6027738" y="6427788"/>
              <a:ext cx="1423987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隶书" panose="02010509060101010101" pitchFamily="49" charset="-122"/>
                </a:rPr>
                <a:t>bottom</a:t>
              </a:r>
              <a:endParaRPr lang="en-US" altLang="zh-CN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2" name="Line 19"/>
            <p:cNvSpPr>
              <a:spLocks noChangeShapeType="1"/>
            </p:cNvSpPr>
            <p:nvPr/>
          </p:nvSpPr>
          <p:spPr bwMode="auto">
            <a:xfrm>
              <a:off x="6484938" y="4797425"/>
              <a:ext cx="5334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3" name="Line 20"/>
            <p:cNvSpPr>
              <a:spLocks noChangeShapeType="1"/>
            </p:cNvSpPr>
            <p:nvPr/>
          </p:nvSpPr>
          <p:spPr bwMode="auto">
            <a:xfrm>
              <a:off x="7475538" y="6778625"/>
              <a:ext cx="5334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" name="Line 21"/>
            <p:cNvSpPr>
              <a:spLocks noChangeShapeType="1"/>
            </p:cNvSpPr>
            <p:nvPr/>
          </p:nvSpPr>
          <p:spPr bwMode="auto">
            <a:xfrm flipH="1">
              <a:off x="8161338" y="3806825"/>
              <a:ext cx="381000" cy="6096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5" name="Line 22"/>
            <p:cNvSpPr>
              <a:spLocks noChangeShapeType="1"/>
            </p:cNvSpPr>
            <p:nvPr/>
          </p:nvSpPr>
          <p:spPr bwMode="auto">
            <a:xfrm rot="17440103" flipV="1">
              <a:off x="7132638" y="3806825"/>
              <a:ext cx="381000" cy="60960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"/>
            <a:ext cx="9144000" cy="987425"/>
          </a:xfrm>
        </p:spPr>
        <p:txBody>
          <a:bodyPr/>
          <a:lstStyle/>
          <a:p>
            <a:pPr algn="l" eaLnBrk="1" hangingPunct="1"/>
            <a:endParaRPr>
              <a:ea typeface="楷体_GB2312" pitchFamily="49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51384" y="549276"/>
            <a:ext cx="11233248" cy="5688013"/>
          </a:xfrm>
        </p:spPr>
        <p:txBody>
          <a:bodyPr>
            <a:normAutofit/>
          </a:bodyPr>
          <a:lstStyle/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设栈</a:t>
            </a:r>
            <a:r>
              <a:rPr lang="en-US" altLang="zh-CN" sz="3600" dirty="0">
                <a:ea typeface="楷体_GB2312" pitchFamily="49" charset="-122"/>
              </a:rPr>
              <a:t>S=(a</a:t>
            </a:r>
            <a:r>
              <a:rPr lang="en-US" altLang="zh-CN" sz="3600" baseline="-24000" dirty="0">
                <a:ea typeface="楷体_GB2312" pitchFamily="49" charset="-122"/>
              </a:rPr>
              <a:t>1</a:t>
            </a:r>
            <a:r>
              <a:rPr lang="zh-CN" altLang="en-US" sz="3600" dirty="0">
                <a:ea typeface="楷体_GB2312" pitchFamily="49" charset="-122"/>
              </a:rPr>
              <a:t>，</a:t>
            </a:r>
            <a:r>
              <a:rPr lang="en-US" altLang="zh-CN" sz="3600" dirty="0">
                <a:ea typeface="楷体_GB2312" pitchFamily="49" charset="-122"/>
              </a:rPr>
              <a:t>a</a:t>
            </a:r>
            <a:r>
              <a:rPr lang="en-US" altLang="zh-CN" sz="3600" baseline="-25000" dirty="0">
                <a:ea typeface="楷体_GB2312" pitchFamily="49" charset="-122"/>
              </a:rPr>
              <a:t>2</a:t>
            </a:r>
            <a:r>
              <a:rPr lang="zh-CN" altLang="en-US" sz="3600" dirty="0">
                <a:ea typeface="楷体_GB2312" pitchFamily="49" charset="-122"/>
              </a:rPr>
              <a:t>，</a:t>
            </a:r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sz="3600" dirty="0">
                <a:ea typeface="楷体_GB2312" pitchFamily="49" charset="-122"/>
              </a:rPr>
              <a:t>a</a:t>
            </a:r>
            <a:r>
              <a:rPr lang="en-US" altLang="zh-CN" sz="3600" baseline="-25000" dirty="0">
                <a:ea typeface="楷体_GB2312" pitchFamily="49" charset="-122"/>
              </a:rPr>
              <a:t>n</a:t>
            </a:r>
            <a:r>
              <a:rPr lang="en-US" altLang="zh-CN" sz="3600" dirty="0">
                <a:ea typeface="楷体_GB2312" pitchFamily="49" charset="-122"/>
              </a:rPr>
              <a:t>)</a:t>
            </a: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，则</a:t>
            </a: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3600" baseline="-25000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称为栈底元素，</a:t>
            </a:r>
            <a:r>
              <a:rPr lang="en-US" altLang="zh-CN" sz="3600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3600" baseline="-25000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为栈顶元素，</a:t>
            </a:r>
            <a:endParaRPr lang="en-US" altLang="zh-CN" sz="3600" dirty="0">
              <a:latin typeface="宋体" panose="02010600030101010101" pitchFamily="2" charset="-122"/>
              <a:ea typeface="楷体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CN" sz="3600" dirty="0">
              <a:latin typeface="宋体" panose="02010600030101010101" pitchFamily="2" charset="-122"/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栈中元素按</a:t>
            </a:r>
            <a:r>
              <a:rPr lang="en-US" altLang="zh-CN" sz="3600" dirty="0">
                <a:ea typeface="楷体_GB2312" pitchFamily="49" charset="-122"/>
              </a:rPr>
              <a:t>a</a:t>
            </a:r>
            <a:r>
              <a:rPr lang="en-US" altLang="zh-CN" sz="3600" baseline="-24000" dirty="0">
                <a:ea typeface="楷体_GB2312" pitchFamily="49" charset="-122"/>
              </a:rPr>
              <a:t>1</a:t>
            </a:r>
            <a:r>
              <a:rPr lang="zh-CN" altLang="en-US" sz="3600" dirty="0">
                <a:ea typeface="楷体_GB2312" pitchFamily="49" charset="-122"/>
              </a:rPr>
              <a:t>，</a:t>
            </a:r>
            <a:r>
              <a:rPr lang="en-US" altLang="zh-CN" sz="3600" dirty="0">
                <a:ea typeface="楷体_GB2312" pitchFamily="49" charset="-122"/>
              </a:rPr>
              <a:t>a</a:t>
            </a:r>
            <a:r>
              <a:rPr lang="en-US" altLang="zh-CN" sz="3600" baseline="-25000" dirty="0">
                <a:ea typeface="楷体_GB2312" pitchFamily="49" charset="-122"/>
              </a:rPr>
              <a:t>2</a:t>
            </a:r>
            <a:r>
              <a:rPr lang="zh-CN" altLang="en-US" sz="3600" dirty="0">
                <a:ea typeface="楷体_GB2312" pitchFamily="49" charset="-122"/>
              </a:rPr>
              <a:t>，</a:t>
            </a:r>
            <a:r>
              <a:rPr lang="en-US" altLang="zh-CN" sz="36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sz="3600" dirty="0">
                <a:ea typeface="楷体_GB2312" pitchFamily="49" charset="-122"/>
              </a:rPr>
              <a:t>a</a:t>
            </a:r>
            <a:r>
              <a:rPr lang="en-US" altLang="zh-CN" sz="3600" baseline="-25000" dirty="0">
                <a:ea typeface="楷体_GB2312" pitchFamily="49" charset="-122"/>
              </a:rPr>
              <a:t>n</a:t>
            </a: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的次序进栈，退栈的第一个元素应为栈顶元素。即栈的修改是</a:t>
            </a:r>
            <a:r>
              <a:rPr lang="zh-CN" altLang="en-US" sz="3600" dirty="0">
                <a:solidFill>
                  <a:srgbClr val="FF0000"/>
                </a:solidFill>
                <a:latin typeface="宋体" panose="02010600030101010101" pitchFamily="2" charset="-122"/>
                <a:ea typeface="楷体_GB2312" pitchFamily="49" charset="-122"/>
              </a:rPr>
              <a:t>按后进先出</a:t>
            </a:r>
            <a:r>
              <a:rPr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的原则进行的。</a:t>
            </a:r>
            <a:endParaRPr lang="en-US" altLang="zh-CN" sz="3600" dirty="0">
              <a:ea typeface="仿宋_GB2312" pitchFamily="49" charset="-122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7926389" y="3213100"/>
            <a:ext cx="1101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/>
              <a:t>出栈</a:t>
            </a:r>
            <a:endParaRPr lang="zh-CN" altLang="en-US" sz="3600">
              <a:solidFill>
                <a:schemeClr val="tx1"/>
              </a:solidFill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9602789" y="3221038"/>
            <a:ext cx="1101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600"/>
              <a:t>入栈</a:t>
            </a:r>
            <a:endParaRPr lang="zh-CN" altLang="en-US" sz="3600">
              <a:solidFill>
                <a:schemeClr val="tx1"/>
              </a:solidFill>
            </a:endParaRPr>
          </a:p>
        </p:txBody>
      </p:sp>
      <p:sp>
        <p:nvSpPr>
          <p:cNvPr id="12294" name="Rectangle 7" descr="之字形"/>
          <p:cNvSpPr>
            <a:spLocks noChangeArrowheads="1"/>
          </p:cNvSpPr>
          <p:nvPr/>
        </p:nvSpPr>
        <p:spPr bwMode="auto">
          <a:xfrm>
            <a:off x="8542338" y="4264025"/>
            <a:ext cx="1752600" cy="2209800"/>
          </a:xfrm>
          <a:prstGeom prst="rect">
            <a:avLst/>
          </a:prstGeom>
          <a:pattFill prst="zigZag">
            <a:fgClr>
              <a:schemeClr val="accent1"/>
            </a:fgClr>
            <a:bgClr>
              <a:schemeClr val="bg1"/>
            </a:bgClr>
          </a:pattFill>
          <a:ln w="28575">
            <a:solidFill>
              <a:schemeClr val="tx2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8161338" y="4111625"/>
            <a:ext cx="22098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9164638" y="5864226"/>
            <a:ext cx="5261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97" name="Line 10"/>
          <p:cNvSpPr>
            <a:spLocks noChangeShapeType="1"/>
          </p:cNvSpPr>
          <p:nvPr/>
        </p:nvSpPr>
        <p:spPr bwMode="auto">
          <a:xfrm>
            <a:off x="8542338" y="6016625"/>
            <a:ext cx="1752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Text Box 11"/>
          <p:cNvSpPr txBox="1">
            <a:spLocks noChangeArrowheads="1"/>
          </p:cNvSpPr>
          <p:nvPr/>
        </p:nvSpPr>
        <p:spPr bwMode="auto">
          <a:xfrm>
            <a:off x="8999538" y="4416426"/>
            <a:ext cx="5421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n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99" name="Line 12"/>
          <p:cNvSpPr>
            <a:spLocks noChangeShapeType="1"/>
          </p:cNvSpPr>
          <p:nvPr/>
        </p:nvSpPr>
        <p:spPr bwMode="auto">
          <a:xfrm>
            <a:off x="8542338" y="4568825"/>
            <a:ext cx="1752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Line 13"/>
          <p:cNvSpPr>
            <a:spLocks noChangeShapeType="1"/>
          </p:cNvSpPr>
          <p:nvPr/>
        </p:nvSpPr>
        <p:spPr bwMode="auto">
          <a:xfrm>
            <a:off x="8542338" y="5026025"/>
            <a:ext cx="1752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1" name="Text Box 14"/>
          <p:cNvSpPr txBox="1">
            <a:spLocks noChangeArrowheads="1"/>
          </p:cNvSpPr>
          <p:nvPr/>
        </p:nvSpPr>
        <p:spPr bwMode="auto">
          <a:xfrm>
            <a:off x="8999539" y="4873626"/>
            <a:ext cx="769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n-1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2" name="Line 15"/>
          <p:cNvSpPr>
            <a:spLocks noChangeShapeType="1"/>
          </p:cNvSpPr>
          <p:nvPr/>
        </p:nvSpPr>
        <p:spPr bwMode="auto">
          <a:xfrm>
            <a:off x="8542338" y="5483225"/>
            <a:ext cx="1752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Text Box 16"/>
          <p:cNvSpPr txBox="1">
            <a:spLocks noChangeArrowheads="1"/>
          </p:cNvSpPr>
          <p:nvPr/>
        </p:nvSpPr>
        <p:spPr bwMode="auto">
          <a:xfrm>
            <a:off x="9075738" y="5284789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en-US" sz="3200" i="1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4" name="Text Box 17"/>
          <p:cNvSpPr txBox="1">
            <a:spLocks noChangeArrowheads="1"/>
          </p:cNvSpPr>
          <p:nvPr/>
        </p:nvSpPr>
        <p:spPr bwMode="auto">
          <a:xfrm>
            <a:off x="7551738" y="4168775"/>
            <a:ext cx="7477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ea typeface="隶书" panose="02010509060101010101" pitchFamily="49" charset="-122"/>
              </a:rPr>
              <a:t>top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5" name="Text Box 18"/>
          <p:cNvSpPr txBox="1">
            <a:spLocks noChangeArrowheads="1"/>
          </p:cNvSpPr>
          <p:nvPr/>
        </p:nvSpPr>
        <p:spPr bwMode="auto">
          <a:xfrm>
            <a:off x="7551739" y="6427789"/>
            <a:ext cx="1423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ea typeface="隶书" panose="02010509060101010101" pitchFamily="49" charset="-122"/>
              </a:rPr>
              <a:t>bottom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6" name="Line 19"/>
          <p:cNvSpPr>
            <a:spLocks noChangeShapeType="1"/>
          </p:cNvSpPr>
          <p:nvPr/>
        </p:nvSpPr>
        <p:spPr bwMode="auto">
          <a:xfrm>
            <a:off x="8008938" y="4797425"/>
            <a:ext cx="533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7" name="Line 20"/>
          <p:cNvSpPr>
            <a:spLocks noChangeShapeType="1"/>
          </p:cNvSpPr>
          <p:nvPr/>
        </p:nvSpPr>
        <p:spPr bwMode="auto">
          <a:xfrm>
            <a:off x="8999538" y="6778625"/>
            <a:ext cx="533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8" name="Line 21"/>
          <p:cNvSpPr>
            <a:spLocks noChangeShapeType="1"/>
          </p:cNvSpPr>
          <p:nvPr/>
        </p:nvSpPr>
        <p:spPr bwMode="auto">
          <a:xfrm flipH="1">
            <a:off x="9685338" y="3806825"/>
            <a:ext cx="381000" cy="609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9" name="Line 22"/>
          <p:cNvSpPr>
            <a:spLocks noChangeShapeType="1"/>
          </p:cNvSpPr>
          <p:nvPr/>
        </p:nvSpPr>
        <p:spPr bwMode="auto">
          <a:xfrm rot="17440103" flipV="1">
            <a:off x="8656638" y="3806825"/>
            <a:ext cx="381000" cy="609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进栈出栈的变化形式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825625"/>
            <a:ext cx="1073040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最先进栈的元素，一定最后出栈吗？？？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思考：</a:t>
            </a:r>
            <a:r>
              <a:rPr lang="en-US" altLang="zh-CN" dirty="0"/>
              <a:t>3</a:t>
            </a:r>
            <a:r>
              <a:rPr lang="zh-CN" altLang="en-US" dirty="0"/>
              <a:t>个整型数字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，依次进栈，求出栈的序列？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2   </a:t>
            </a:r>
            <a:r>
              <a:rPr lang="zh-CN" altLang="en-US" dirty="0">
                <a:solidFill>
                  <a:srgbClr val="C00000"/>
                </a:solidFill>
              </a:rPr>
              <a:t>？？？？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栈的抽象数据类型定义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479376" y="1825625"/>
            <a:ext cx="11305256" cy="435133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>
                <a:ea typeface="楷体_GB2312" pitchFamily="49" charset="-122"/>
              </a:rPr>
              <a:t>ADT Stack{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ea typeface="楷体_GB2312" pitchFamily="49" charset="-122"/>
              </a:rPr>
              <a:t>数据对象：</a:t>
            </a:r>
            <a:r>
              <a:rPr lang="en-US" altLang="zh-CN" sz="2800" dirty="0">
                <a:ea typeface="楷体_GB2312" pitchFamily="49" charset="-122"/>
              </a:rPr>
              <a:t>D ={ </a:t>
            </a:r>
            <a:r>
              <a:rPr lang="en-US" altLang="zh-CN" sz="2800" dirty="0" err="1">
                <a:ea typeface="楷体_GB2312" pitchFamily="49" charset="-122"/>
              </a:rPr>
              <a:t>a</a:t>
            </a:r>
            <a:r>
              <a:rPr lang="en-US" altLang="zh-CN" sz="2800" baseline="-25000" dirty="0" err="1">
                <a:ea typeface="楷体_GB2312" pitchFamily="49" charset="-122"/>
              </a:rPr>
              <a:t>i</a:t>
            </a:r>
            <a:r>
              <a:rPr lang="en-US" altLang="zh-CN" sz="2800" dirty="0" err="1">
                <a:ea typeface="楷体_GB2312" pitchFamily="49" charset="-122"/>
              </a:rPr>
              <a:t>|a</a:t>
            </a:r>
            <a:r>
              <a:rPr lang="en-US" altLang="zh-CN" sz="2800" baseline="-25000" dirty="0" err="1">
                <a:ea typeface="楷体_GB2312" pitchFamily="49" charset="-122"/>
              </a:rPr>
              <a:t>i</a:t>
            </a:r>
            <a:r>
              <a:rPr lang="en-US" altLang="zh-CN" sz="2800" dirty="0" err="1">
                <a:ea typeface="Arial Unicode MS" panose="020B0604020202020204" pitchFamily="34" charset="-122"/>
                <a:cs typeface="Arial Unicode MS" panose="020B0604020202020204" pitchFamily="34" charset="-122"/>
              </a:rPr>
              <a:t>∈</a:t>
            </a:r>
            <a:r>
              <a:rPr lang="en-US" altLang="zh-CN" sz="2800" dirty="0" err="1">
                <a:ea typeface="楷体_GB2312" pitchFamily="49" charset="-122"/>
              </a:rPr>
              <a:t>ElemSet</a:t>
            </a:r>
            <a:r>
              <a:rPr lang="en-US" altLang="zh-CN" sz="2800" dirty="0">
                <a:ea typeface="楷体_GB2312" pitchFamily="49" charset="-122"/>
              </a:rPr>
              <a:t>,  </a:t>
            </a:r>
            <a:r>
              <a:rPr lang="en-US" altLang="zh-CN" sz="2800" dirty="0" err="1">
                <a:ea typeface="楷体_GB2312" pitchFamily="49" charset="-122"/>
              </a:rPr>
              <a:t>i</a:t>
            </a:r>
            <a:r>
              <a:rPr lang="en-US" altLang="zh-CN" sz="2800" dirty="0">
                <a:ea typeface="楷体_GB2312" pitchFamily="49" charset="-122"/>
              </a:rPr>
              <a:t>=1,2,…,n</a:t>
            </a:r>
            <a:r>
              <a:rPr lang="zh-CN" altLang="en-US" sz="2800" dirty="0">
                <a:ea typeface="楷体_GB2312" pitchFamily="49" charset="-122"/>
              </a:rPr>
              <a:t>，</a:t>
            </a:r>
            <a:r>
              <a:rPr lang="en-US" altLang="zh-CN" sz="2800" dirty="0">
                <a:ea typeface="楷体_GB2312" pitchFamily="49" charset="-122"/>
              </a:rPr>
              <a:t>n</a:t>
            </a:r>
            <a:r>
              <a:rPr lang="en-US" altLang="zh-CN" sz="2800" dirty="0">
                <a:ea typeface="楷体_GB2312" pitchFamily="49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ea typeface="楷体_GB2312" pitchFamily="49" charset="-122"/>
              </a:rPr>
              <a:t>0 }</a:t>
            </a:r>
            <a:r>
              <a:rPr lang="zh-CN" altLang="en-US" sz="2800" dirty="0">
                <a:ea typeface="楷体_GB2312" pitchFamily="49" charset="-122"/>
              </a:rPr>
              <a:t>， 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en-US" altLang="zh-CN" sz="2800" dirty="0" err="1">
                <a:ea typeface="楷体_GB2312" pitchFamily="49" charset="-122"/>
              </a:rPr>
              <a:t>ElemSet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是</a:t>
            </a:r>
            <a:r>
              <a:rPr lang="en-US" altLang="zh-CN" sz="2800" dirty="0">
                <a:ea typeface="楷体_GB2312" pitchFamily="49" charset="-122"/>
              </a:rPr>
              <a:t>n</a:t>
            </a:r>
            <a:r>
              <a:rPr lang="zh-CN" altLang="en-US" sz="2800" dirty="0">
                <a:ea typeface="楷体_GB2312" pitchFamily="49" charset="-122"/>
              </a:rPr>
              <a:t>个原子表项的有限序列，每个表项的数据类型为</a:t>
            </a:r>
            <a:r>
              <a:rPr lang="en-US" altLang="zh-CN" sz="2800" dirty="0">
                <a:ea typeface="楷体_GB2312" pitchFamily="49" charset="-122"/>
              </a:rPr>
              <a:t>T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ea typeface="楷体_GB2312" pitchFamily="49" charset="-122"/>
              </a:rPr>
              <a:t>数据关系：</a:t>
            </a:r>
            <a:r>
              <a:rPr lang="en-US" altLang="zh-CN" sz="2800" dirty="0">
                <a:ea typeface="楷体_GB2312" pitchFamily="49" charset="-122"/>
              </a:rPr>
              <a:t>R ={&lt;a</a:t>
            </a:r>
            <a:r>
              <a:rPr lang="en-US" altLang="zh-CN" sz="2800" baseline="-25000" dirty="0">
                <a:ea typeface="楷体_GB2312" pitchFamily="49" charset="-122"/>
              </a:rPr>
              <a:t>i-1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en-US" altLang="zh-CN" sz="2800" dirty="0" err="1">
                <a:ea typeface="楷体_GB2312" pitchFamily="49" charset="-122"/>
              </a:rPr>
              <a:t>a</a:t>
            </a:r>
            <a:r>
              <a:rPr lang="en-US" altLang="zh-CN" sz="2800" baseline="-25000" dirty="0" err="1">
                <a:ea typeface="楷体_GB2312" pitchFamily="49" charset="-122"/>
              </a:rPr>
              <a:t>i</a:t>
            </a:r>
            <a:r>
              <a:rPr lang="en-US" altLang="zh-CN" sz="2800" dirty="0">
                <a:ea typeface="楷体_GB2312" pitchFamily="49" charset="-122"/>
              </a:rPr>
              <a:t>&gt;|a</a:t>
            </a:r>
            <a:r>
              <a:rPr lang="en-US" altLang="zh-CN" sz="2800" baseline="-25000" dirty="0">
                <a:ea typeface="楷体_GB2312" pitchFamily="49" charset="-122"/>
              </a:rPr>
              <a:t>i-1</a:t>
            </a:r>
            <a:r>
              <a:rPr lang="zh-CN" altLang="en-US" sz="2800" dirty="0">
                <a:ea typeface="楷体_GB2312" pitchFamily="49" charset="-122"/>
              </a:rPr>
              <a:t>，</a:t>
            </a:r>
            <a:r>
              <a:rPr lang="en-US" altLang="zh-CN" sz="2800" dirty="0" err="1">
                <a:ea typeface="楷体_GB2312" pitchFamily="49" charset="-122"/>
              </a:rPr>
              <a:t>a</a:t>
            </a:r>
            <a:r>
              <a:rPr lang="en-US" altLang="zh-CN" sz="2800" baseline="-25000" dirty="0" err="1">
                <a:ea typeface="楷体_GB2312" pitchFamily="49" charset="-122"/>
              </a:rPr>
              <a:t>i</a:t>
            </a:r>
            <a:r>
              <a:rPr lang="en-US" altLang="zh-CN" sz="2800" dirty="0" err="1">
                <a:ea typeface="Arial Unicode MS" panose="020B0604020202020204" pitchFamily="34" charset="-122"/>
                <a:cs typeface="Arial Unicode MS" panose="020B0604020202020204" pitchFamily="34" charset="-122"/>
              </a:rPr>
              <a:t>∈</a:t>
            </a:r>
            <a:r>
              <a:rPr lang="en-US" altLang="zh-CN" sz="2800" dirty="0" err="1">
                <a:ea typeface="楷体_GB2312" pitchFamily="49" charset="-122"/>
              </a:rPr>
              <a:t>D</a:t>
            </a:r>
            <a:r>
              <a:rPr lang="en-US" altLang="zh-CN" sz="2800" dirty="0">
                <a:ea typeface="楷体_GB2312" pitchFamily="49" charset="-122"/>
              </a:rPr>
              <a:t>,  </a:t>
            </a:r>
            <a:r>
              <a:rPr lang="en-US" altLang="zh-CN" sz="2800" dirty="0" err="1">
                <a:ea typeface="楷体_GB2312" pitchFamily="49" charset="-122"/>
              </a:rPr>
              <a:t>i</a:t>
            </a:r>
            <a:r>
              <a:rPr lang="en-US" altLang="zh-CN" sz="2800" dirty="0">
                <a:ea typeface="楷体_GB2312" pitchFamily="49" charset="-122"/>
              </a:rPr>
              <a:t>=2,3,…,n }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dirty="0">
                <a:ea typeface="楷体_GB2312" pitchFamily="49" charset="-122"/>
              </a:rPr>
              <a:t>基本操作：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进栈、出栈、取栈顶元素等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ea typeface="楷体_GB2312" pitchFamily="49" charset="-122"/>
              </a:rPr>
              <a:t>} ADT Stack</a:t>
            </a:r>
          </a:p>
          <a:p>
            <a:pPr eaLnBrk="1" hangingPunct="1"/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7368" y="1052736"/>
            <a:ext cx="11377264" cy="5329014"/>
          </a:xfrm>
        </p:spPr>
        <p:txBody>
          <a:bodyPr anchor="t"/>
          <a:lstStyle/>
          <a:p>
            <a:pPr algn="l" eaLnBrk="1" hangingPunct="1">
              <a:defRPr/>
            </a:pP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InitStack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(size)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/>
            </a:r>
            <a:br>
              <a:rPr lang="en-US" altLang="zh-CN" sz="2800" dirty="0">
                <a:solidFill>
                  <a:srgbClr val="FF0000"/>
                </a:solidFill>
                <a:ea typeface="楷体_GB2312" pitchFamily="49" charset="-122"/>
                <a:sym typeface="+mn-ea"/>
              </a:rPr>
            </a:b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>   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操作结果：构造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并返回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一个空栈 S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，容量为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size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FreeStack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(S)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回收栈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占用的存储空间，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不在可用，返回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NULL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ClearStack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(S)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将栈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清</a:t>
            </a:r>
            <a:r>
              <a:rPr lang="zh-CN" altLang="en-US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为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空栈。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1524000" y="-26988"/>
            <a:ext cx="9144000" cy="98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4400"/>
              <a:t>栈的基本操作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738188"/>
            <a:ext cx="10369152" cy="5643562"/>
          </a:xfrm>
        </p:spPr>
        <p:txBody>
          <a:bodyPr anchor="t"/>
          <a:lstStyle/>
          <a:p>
            <a:pPr algn="l" eaLnBrk="1" hangingPunct="1">
              <a:defRPr/>
            </a:pP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4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StackEmpty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(S) 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操作结果：如栈为空，则返回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true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，否则返回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false</a:t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5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StackLen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(S)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操作结果：返回栈元素个数，即栈的长度。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28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1524000" y="-26988"/>
            <a:ext cx="9144000" cy="98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440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9416" y="136134"/>
            <a:ext cx="9144000" cy="2060575"/>
          </a:xfrm>
        </p:spPr>
        <p:txBody>
          <a:bodyPr anchor="t"/>
          <a:lstStyle/>
          <a:p>
            <a:pPr algn="l" eaLnBrk="1" hangingPunct="1">
              <a:lnSpc>
                <a:spcPct val="110000"/>
              </a:lnSpc>
              <a:defRPr/>
            </a:pP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6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GetTop(S)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初始条件：栈已存在且非空。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操作结果：返回栈顶元素。</a:t>
            </a:r>
            <a:r>
              <a:rPr altLang="pt-BR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altLang="pt-BR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28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6387" name="Line 4"/>
          <p:cNvSpPr>
            <a:spLocks noChangeShapeType="1"/>
          </p:cNvSpPr>
          <p:nvPr/>
        </p:nvSpPr>
        <p:spPr bwMode="auto">
          <a:xfrm>
            <a:off x="3629025" y="1700213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>
            <a:off x="3629025" y="1928813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3629025" y="2767013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3648075" y="19796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4257675" y="19796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92" name="Text Box 9"/>
          <p:cNvSpPr txBox="1">
            <a:spLocks noChangeArrowheads="1"/>
          </p:cNvSpPr>
          <p:nvPr/>
        </p:nvSpPr>
        <p:spPr bwMode="auto">
          <a:xfrm>
            <a:off x="7229475" y="19796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93" name="Line 10"/>
          <p:cNvSpPr>
            <a:spLocks noChangeShapeType="1"/>
          </p:cNvSpPr>
          <p:nvPr/>
        </p:nvSpPr>
        <p:spPr bwMode="auto">
          <a:xfrm flipV="1">
            <a:off x="7515225" y="2767013"/>
            <a:ext cx="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Text Box 11"/>
          <p:cNvSpPr txBox="1">
            <a:spLocks noChangeArrowheads="1"/>
          </p:cNvSpPr>
          <p:nvPr/>
        </p:nvSpPr>
        <p:spPr bwMode="auto">
          <a:xfrm>
            <a:off x="5273675" y="1925639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0572" name="Text Box 12"/>
          <p:cNvSpPr txBox="1">
            <a:spLocks noChangeArrowheads="1"/>
          </p:cNvSpPr>
          <p:nvPr/>
        </p:nvSpPr>
        <p:spPr bwMode="auto">
          <a:xfrm>
            <a:off x="1774826" y="1995488"/>
            <a:ext cx="1757363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栈底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23393" y="3500438"/>
            <a:ext cx="10044607" cy="2305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pt-BR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（</a:t>
            </a:r>
            <a:r>
              <a:rPr lang="pt-BR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7</a:t>
            </a:r>
            <a:r>
              <a:rPr lang="zh-CN" altLang="pt-BR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）</a:t>
            </a:r>
            <a:r>
              <a:rPr lang="pt-BR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Pop(</a:t>
            </a:r>
            <a:r>
              <a:rPr lang="en-US" altLang="pt-BR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S</a:t>
            </a:r>
            <a:r>
              <a:rPr lang="pt-BR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)</a:t>
            </a:r>
            <a:r>
              <a:rPr lang="pt-BR" altLang="zh-CN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/>
            </a:r>
            <a:br>
              <a:rPr lang="pt-BR" altLang="zh-CN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</a:br>
            <a:r>
              <a:rPr lang="zh-CN" altLang="pt-BR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初始条件：栈已存在且非空。</a:t>
            </a:r>
            <a:br>
              <a:rPr lang="zh-CN" altLang="pt-BR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</a:br>
            <a:r>
              <a:rPr lang="zh-CN" altLang="pt-BR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操作结果：删除栈顶元素，并</a:t>
            </a:r>
            <a:r>
              <a:rPr lang="zh-CN" altLang="en-US" kern="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返回其值。</a:t>
            </a:r>
          </a:p>
        </p:txBody>
      </p:sp>
      <p:sp>
        <p:nvSpPr>
          <p:cNvPr id="16397" name="Line 4"/>
          <p:cNvSpPr>
            <a:spLocks noChangeShapeType="1"/>
          </p:cNvSpPr>
          <p:nvPr/>
        </p:nvSpPr>
        <p:spPr bwMode="auto">
          <a:xfrm>
            <a:off x="3965575" y="5205413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8" name="Line 5"/>
          <p:cNvSpPr>
            <a:spLocks noChangeShapeType="1"/>
          </p:cNvSpPr>
          <p:nvPr/>
        </p:nvSpPr>
        <p:spPr bwMode="auto">
          <a:xfrm>
            <a:off x="3965575" y="5434013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9" name="Line 6"/>
          <p:cNvSpPr>
            <a:spLocks noChangeShapeType="1"/>
          </p:cNvSpPr>
          <p:nvPr/>
        </p:nvSpPr>
        <p:spPr bwMode="auto">
          <a:xfrm>
            <a:off x="3965575" y="6272213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00" name="Text Box 7"/>
          <p:cNvSpPr txBox="1">
            <a:spLocks noChangeArrowheads="1"/>
          </p:cNvSpPr>
          <p:nvPr/>
        </p:nvSpPr>
        <p:spPr bwMode="auto">
          <a:xfrm>
            <a:off x="3984625" y="54848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401" name="Text Box 8"/>
          <p:cNvSpPr txBox="1">
            <a:spLocks noChangeArrowheads="1"/>
          </p:cNvSpPr>
          <p:nvPr/>
        </p:nvSpPr>
        <p:spPr bwMode="auto">
          <a:xfrm>
            <a:off x="4594225" y="54848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402" name="Text Box 9"/>
          <p:cNvSpPr txBox="1">
            <a:spLocks noChangeArrowheads="1"/>
          </p:cNvSpPr>
          <p:nvPr/>
        </p:nvSpPr>
        <p:spPr bwMode="auto">
          <a:xfrm>
            <a:off x="7699375" y="5484813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V="1">
            <a:off x="7242175" y="6272213"/>
            <a:ext cx="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04" name="Text Box 11"/>
          <p:cNvSpPr txBox="1">
            <a:spLocks noChangeArrowheads="1"/>
          </p:cNvSpPr>
          <p:nvPr/>
        </p:nvSpPr>
        <p:spPr bwMode="auto">
          <a:xfrm>
            <a:off x="6861175" y="5484813"/>
            <a:ext cx="87630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n-1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405" name="Text Box 12"/>
          <p:cNvSpPr txBox="1">
            <a:spLocks noChangeArrowheads="1"/>
          </p:cNvSpPr>
          <p:nvPr/>
        </p:nvSpPr>
        <p:spPr bwMode="auto">
          <a:xfrm>
            <a:off x="7683500" y="5354639"/>
            <a:ext cx="43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</a:p>
        </p:txBody>
      </p:sp>
      <p:sp useBgFill="1"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7699376" y="5484813"/>
            <a:ext cx="574675" cy="711200"/>
          </a:xfrm>
          <a:prstGeom prst="rect">
            <a:avLst/>
          </a:prstGeom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16407" name="Text Box 14"/>
          <p:cNvSpPr txBox="1">
            <a:spLocks noChangeArrowheads="1"/>
          </p:cNvSpPr>
          <p:nvPr/>
        </p:nvSpPr>
        <p:spPr bwMode="auto">
          <a:xfrm>
            <a:off x="5489575" y="5430839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1992314" y="5500688"/>
            <a:ext cx="1901825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栈底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764704"/>
            <a:ext cx="11496599" cy="4104159"/>
          </a:xfrm>
        </p:spPr>
        <p:txBody>
          <a:bodyPr anchor="t"/>
          <a:lstStyle/>
          <a:p>
            <a:pPr algn="l" eaLnBrk="1" hangingPunct="1">
              <a:lnSpc>
                <a:spcPct val="110000"/>
              </a:lnSpc>
              <a:defRPr/>
            </a:pP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StackTrav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(</a:t>
            </a:r>
            <a:r>
              <a:rPr lang="en-US" altLang="zh-CN" sz="2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S,visit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()) 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操作结果：从栈底到栈顶依次对栈的每个元素调用函数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visit()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9</a:t>
            </a:r>
            <a:r>
              <a:rPr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Push(S, e)</a:t>
            </a:r>
            <a:b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初始条件：栈已存在。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操作结果：插入元素</a:t>
            </a:r>
            <a:r>
              <a:rPr lang="en-US" altLang="zh-CN"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e</a:t>
            </a:r>
            <a: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为新的栈顶元素。</a:t>
            </a:r>
            <a:br>
              <a:rPr sz="28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28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5363" name="Line 12"/>
          <p:cNvSpPr>
            <a:spLocks noChangeShapeType="1"/>
          </p:cNvSpPr>
          <p:nvPr/>
        </p:nvSpPr>
        <p:spPr bwMode="auto">
          <a:xfrm>
            <a:off x="3965575" y="4916488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4" name="Line 13"/>
          <p:cNvSpPr>
            <a:spLocks noChangeShapeType="1"/>
          </p:cNvSpPr>
          <p:nvPr/>
        </p:nvSpPr>
        <p:spPr bwMode="auto">
          <a:xfrm>
            <a:off x="3989388" y="5145088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5" name="Line 14"/>
          <p:cNvSpPr>
            <a:spLocks noChangeShapeType="1"/>
          </p:cNvSpPr>
          <p:nvPr/>
        </p:nvSpPr>
        <p:spPr bwMode="auto">
          <a:xfrm>
            <a:off x="3989388" y="5983288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6" name="Text Box 15"/>
          <p:cNvSpPr txBox="1">
            <a:spLocks noChangeArrowheads="1"/>
          </p:cNvSpPr>
          <p:nvPr/>
        </p:nvSpPr>
        <p:spPr bwMode="auto">
          <a:xfrm>
            <a:off x="4008438" y="519588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367" name="Text Box 16"/>
          <p:cNvSpPr txBox="1">
            <a:spLocks noChangeArrowheads="1"/>
          </p:cNvSpPr>
          <p:nvPr/>
        </p:nvSpPr>
        <p:spPr bwMode="auto">
          <a:xfrm>
            <a:off x="4618038" y="519588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368" name="Text Box 17"/>
          <p:cNvSpPr txBox="1">
            <a:spLocks noChangeArrowheads="1"/>
          </p:cNvSpPr>
          <p:nvPr/>
        </p:nvSpPr>
        <p:spPr bwMode="auto">
          <a:xfrm>
            <a:off x="7589838" y="519588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 flipV="1">
            <a:off x="8485188" y="5983288"/>
            <a:ext cx="0" cy="469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3" name="Text Box 19"/>
          <p:cNvSpPr txBox="1">
            <a:spLocks noChangeArrowheads="1"/>
          </p:cNvSpPr>
          <p:nvPr/>
        </p:nvSpPr>
        <p:spPr bwMode="auto">
          <a:xfrm>
            <a:off x="8215313" y="5195888"/>
            <a:ext cx="54610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e 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371" name="Text Box 20"/>
          <p:cNvSpPr txBox="1">
            <a:spLocks noChangeArrowheads="1"/>
          </p:cNvSpPr>
          <p:nvPr/>
        </p:nvSpPr>
        <p:spPr bwMode="auto">
          <a:xfrm>
            <a:off x="5634038" y="5141914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4165" name="Text Box 21"/>
          <p:cNvSpPr txBox="1">
            <a:spLocks noChangeArrowheads="1"/>
          </p:cNvSpPr>
          <p:nvPr/>
        </p:nvSpPr>
        <p:spPr bwMode="auto">
          <a:xfrm>
            <a:off x="2320925" y="5235575"/>
            <a:ext cx="154305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</a:rPr>
              <a:t>栈底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62" grpId="0" animBg="1"/>
      <p:bldP spid="13416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dirty="0" err="1"/>
              <a:t>栈的存储结构</a:t>
            </a:r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17411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3600" dirty="0">
                <a:ea typeface="楷体_GB2312" pitchFamily="49" charset="-122"/>
              </a:rPr>
              <a:t>顺序栈</a:t>
            </a:r>
            <a:r>
              <a:rPr lang="en-US" altLang="zh-CN" sz="3600" dirty="0">
                <a:ea typeface="楷体_GB2312" pitchFamily="49" charset="-122"/>
              </a:rPr>
              <a:t/>
            </a:r>
            <a:br>
              <a:rPr lang="en-US" altLang="zh-CN" sz="3600" dirty="0">
                <a:ea typeface="楷体_GB2312" pitchFamily="49" charset="-122"/>
              </a:rPr>
            </a:br>
            <a:r>
              <a:rPr lang="en-US" altLang="zh-CN" sz="3600" dirty="0">
                <a:ea typeface="楷体_GB2312" pitchFamily="49" charset="-122"/>
              </a:rPr>
              <a:t/>
            </a:r>
            <a:br>
              <a:rPr lang="en-US" altLang="zh-CN" sz="3600" dirty="0">
                <a:ea typeface="楷体_GB2312" pitchFamily="49" charset="-122"/>
              </a:rPr>
            </a:br>
            <a:r>
              <a:rPr lang="zh-CN" altLang="en-US" sz="3600" dirty="0">
                <a:ea typeface="楷体_GB2312" pitchFamily="49" charset="-122"/>
              </a:rPr>
              <a:t>链式栈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type="title"/>
          </p:nvPr>
        </p:nvSpPr>
        <p:spPr>
          <a:xfrm>
            <a:off x="1560514" y="44451"/>
            <a:ext cx="9107487" cy="1223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栈的数组表示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- </a:t>
            </a:r>
            <a:r>
              <a:rPr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顺序栈</a:t>
            </a:r>
            <a:endParaRPr dirty="0">
              <a:ea typeface="楷体_GB2312" pitchFamily="49" charset="-122"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479376" y="1196975"/>
            <a:ext cx="10945215" cy="425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indent="-4572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000099"/>
                </a:solidFill>
              </a:rPr>
              <a:t>利用一维数组依次存放</a:t>
            </a:r>
            <a:r>
              <a:rPr lang="zh-CN" altLang="en-US" sz="3200" dirty="0">
                <a:solidFill>
                  <a:srgbClr val="008000"/>
                </a:solidFill>
              </a:rPr>
              <a:t>从栈底到栈顶</a:t>
            </a:r>
            <a:r>
              <a:rPr lang="zh-CN" altLang="en-US" sz="3200" dirty="0">
                <a:solidFill>
                  <a:srgbClr val="000099"/>
                </a:solidFill>
              </a:rPr>
              <a:t>的数据元素</a:t>
            </a:r>
            <a:endParaRPr lang="en-US" altLang="zh-CN" sz="3200" dirty="0">
              <a:solidFill>
                <a:srgbClr val="000099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endParaRPr lang="en-US" altLang="zh-CN" sz="3200" dirty="0">
              <a:solidFill>
                <a:srgbClr val="000099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000099"/>
                </a:solidFill>
              </a:rPr>
              <a:t>根据数组是否可以根据需要增大</a:t>
            </a:r>
          </a:p>
          <a:p>
            <a:pPr lvl="2"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000099"/>
                </a:solidFill>
              </a:rPr>
              <a:t>◆ 静态顺序栈：实现简单，但不能根据需要增大栈的存储空间；</a:t>
            </a:r>
          </a:p>
          <a:p>
            <a:pPr lvl="2"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sz="3200" dirty="0">
                <a:solidFill>
                  <a:srgbClr val="000099"/>
                </a:solidFill>
              </a:rPr>
              <a:t>◆ 动态顺序栈：可以根据需要增大栈的存储空间，但实现稍为复杂。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endParaRPr lang="en-US" altLang="zh-CN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1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1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1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>
                <a:solidFill>
                  <a:srgbClr val="000099"/>
                </a:solidFill>
              </a:rPr>
              <a:t>动态顺序栈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1438"/>
            <a:ext cx="10730408" cy="4754562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None/>
            </a:pPr>
            <a:r>
              <a:rPr lang="zh-CN" altLang="en-US" dirty="0">
                <a:ea typeface="楷体_GB2312" pitchFamily="49" charset="-122"/>
              </a:rPr>
              <a:t>思路：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dirty="0">
                <a:ea typeface="楷体_GB2312" pitchFamily="49" charset="-122"/>
              </a:rPr>
              <a:t> </a:t>
            </a:r>
            <a:r>
              <a:rPr lang="zh-CN" altLang="en-US" dirty="0">
                <a:ea typeface="楷体_GB2312" pitchFamily="49" charset="-122"/>
              </a:rPr>
              <a:t>先为栈分配一个基本容量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ea typeface="楷体_GB2312" pitchFamily="49" charset="-122"/>
              </a:rPr>
              <a:t>在应用过程中，当栈的空间不够时再逐段扩大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2"/>
          <p:cNvSpPr txBox="1">
            <a:spLocks noChangeArrowheads="1"/>
          </p:cNvSpPr>
          <p:nvPr/>
        </p:nvSpPr>
        <p:spPr bwMode="auto">
          <a:xfrm>
            <a:off x="1524000" y="312739"/>
            <a:ext cx="9144000" cy="5469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kern="0" dirty="0">
                <a:solidFill>
                  <a:srgbClr val="000099"/>
                </a:solidFill>
                <a:ea typeface="楷体_GB2312"/>
                <a:sym typeface="+mn-ea"/>
              </a:rPr>
              <a:t>     类似于线性表的顺序映象实现，指向表尾的指针可以作为栈顶指针。</a:t>
            </a:r>
            <a:endParaRPr lang="zh-CN" altLang="en-US" kern="0" dirty="0">
              <a:solidFill>
                <a:srgbClr val="000099"/>
              </a:solidFill>
              <a:ea typeface="楷体_GB2312"/>
            </a:endParaRPr>
          </a:p>
          <a:p>
            <a:pPr>
              <a:lnSpc>
                <a:spcPct val="115000"/>
              </a:lnSpc>
            </a:pPr>
            <a:endParaRPr lang="en-US" altLang="zh-CN" dirty="0">
              <a:sym typeface="+mn-ea"/>
            </a:endParaRPr>
          </a:p>
          <a:p>
            <a:pPr>
              <a:lnSpc>
                <a:spcPct val="115000"/>
              </a:lnSpc>
            </a:pPr>
            <a:r>
              <a:rPr lang="en-US" altLang="zh-CN" sz="3200" dirty="0">
                <a:sym typeface="+mn-ea"/>
              </a:rPr>
              <a:t>//----- </a:t>
            </a:r>
            <a:r>
              <a:rPr lang="zh-CN" altLang="en-US" sz="3200" dirty="0">
                <a:solidFill>
                  <a:srgbClr val="A50021"/>
                </a:solidFill>
                <a:ea typeface="隶书" panose="02010509060101010101" pitchFamily="49" charset="-122"/>
                <a:sym typeface="+mn-ea"/>
              </a:rPr>
              <a:t>栈的顺序存储表示</a:t>
            </a:r>
            <a:r>
              <a:rPr lang="zh-CN" altLang="en-US" sz="3200" dirty="0">
                <a:sym typeface="+mn-ea"/>
              </a:rPr>
              <a:t> </a:t>
            </a:r>
            <a:r>
              <a:rPr lang="en-US" altLang="zh-CN" sz="3200" dirty="0">
                <a:sym typeface="+mn-ea"/>
              </a:rPr>
              <a:t>-----</a:t>
            </a:r>
            <a:endParaRPr lang="en-US" altLang="zh-CN" sz="3200" dirty="0"/>
          </a:p>
          <a:p>
            <a:pPr>
              <a:lnSpc>
                <a:spcPct val="115000"/>
              </a:lnSpc>
            </a:pP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typedef struct {</a:t>
            </a:r>
            <a:endParaRPr lang="zh-CN" altLang="en-US" sz="3200" kern="0" dirty="0">
              <a:solidFill>
                <a:srgbClr val="000099"/>
              </a:solidFill>
              <a:ea typeface="楷体_GB2312"/>
            </a:endParaRPr>
          </a:p>
          <a:p>
            <a:pPr>
              <a:lnSpc>
                <a:spcPct val="115000"/>
              </a:lnSpc>
            </a:pP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     ElemType  *base;    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//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存储数据的数组</a:t>
            </a:r>
            <a:endParaRPr lang="zh-CN" altLang="en-US" sz="3200" kern="0" dirty="0">
              <a:solidFill>
                <a:srgbClr val="000099"/>
              </a:solidFill>
              <a:ea typeface="楷体_GB2312"/>
            </a:endParaRPr>
          </a:p>
          <a:p>
            <a:pPr>
              <a:lnSpc>
                <a:spcPct val="115000"/>
              </a:lnSpc>
            </a:pP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     ElemType  *top;  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    //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指向栈顶位置</a:t>
            </a:r>
            <a:endParaRPr lang="zh-CN" altLang="en-US" sz="3200" kern="0" dirty="0">
              <a:solidFill>
                <a:srgbClr val="000099"/>
              </a:solidFill>
              <a:ea typeface="楷体_GB2312"/>
            </a:endParaRPr>
          </a:p>
          <a:p>
            <a:pPr>
              <a:lnSpc>
                <a:spcPct val="115000"/>
              </a:lnSpc>
            </a:pP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     int  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size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;    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         //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栈的容量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(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可存储量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)</a:t>
            </a:r>
            <a:endParaRPr lang="zh-CN" altLang="en-US" sz="3200" kern="0" dirty="0">
              <a:solidFill>
                <a:srgbClr val="000099"/>
              </a:solidFill>
              <a:ea typeface="楷体_GB2312"/>
            </a:endParaRPr>
          </a:p>
          <a:p>
            <a:pPr>
              <a:lnSpc>
                <a:spcPct val="115000"/>
              </a:lnSpc>
            </a:pP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  }</a:t>
            </a:r>
            <a:r>
              <a:rPr lang="en-US" altLang="zh-CN" sz="3200" kern="0" dirty="0">
                <a:solidFill>
                  <a:srgbClr val="000099"/>
                </a:solidFill>
                <a:ea typeface="楷体_GB2312"/>
                <a:sym typeface="+mn-ea"/>
              </a:rPr>
              <a:t>*</a:t>
            </a:r>
            <a:r>
              <a:rPr lang="zh-CN" altLang="en-US" sz="3200" kern="0" dirty="0">
                <a:solidFill>
                  <a:srgbClr val="000099"/>
                </a:solidFill>
                <a:ea typeface="楷体_GB2312"/>
                <a:sym typeface="+mn-ea"/>
              </a:rPr>
              <a:t> SqStack;</a:t>
            </a:r>
            <a:endParaRPr lang="zh-CN" altLang="en-US" sz="3200" kern="0" dirty="0">
              <a:solidFill>
                <a:srgbClr val="000099"/>
              </a:solidFill>
              <a:ea typeface="楷体_GB2312"/>
            </a:endParaRPr>
          </a:p>
          <a:p>
            <a:pPr>
              <a:defRPr/>
            </a:pPr>
            <a:endParaRPr lang="zh-CN" altLang="en-US" sz="3200" kern="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7D0996-3131-BC9D-0372-0EC3EED3C9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fld id="{D7C0FE0B-717B-41AE-9FA2-CA4BF851D1C3}" type="slidenum">
              <a:rPr kumimoji="0" lang="zh-CN" altLang="en-US" b="0">
                <a:solidFill>
                  <a:prstClr val="black">
                    <a:tint val="82000"/>
                  </a:prstClr>
                </a:solidFill>
                <a:latin typeface="Times New Roman" panose="02020603050405020304"/>
                <a:ea typeface="宋体" panose="02010600030101010101" pitchFamily="2" charset="-122"/>
              </a:rPr>
              <a:pPr defTabSz="685800" fontAlgn="auto">
                <a:spcBef>
                  <a:spcPts val="0"/>
                </a:spcBef>
                <a:spcAft>
                  <a:spcPts val="0"/>
                </a:spcAft>
              </a:pPr>
              <a:t>17</a:t>
            </a:fld>
            <a:endParaRPr kumimoji="0" lang="zh-CN" altLang="en-US" b="0">
              <a:solidFill>
                <a:prstClr val="black">
                  <a:tint val="82000"/>
                </a:prstClr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6ACEDC-C37F-5EA8-92E9-7DCF38E515B6}"/>
              </a:ext>
            </a:extLst>
          </p:cNvPr>
          <p:cNvSpPr txBox="1"/>
          <p:nvPr/>
        </p:nvSpPr>
        <p:spPr>
          <a:xfrm>
            <a:off x="1" y="834588"/>
            <a:ext cx="6095999" cy="277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栈的</a:t>
            </a:r>
            <a:r>
              <a:rPr kumimoji="0" lang="zh-CN" altLang="zh-CN" sz="17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操作</a:t>
            </a:r>
            <a:r>
              <a:rPr kumimoji="0" lang="zh-CN" altLang="en-US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1700" kern="1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构造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</a:t>
            </a:r>
            <a:r>
              <a:rPr kumimoji="0" lang="zh-CN" altLang="zh-CN" sz="1700" kern="1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返回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kumimoji="0" lang="zh-CN" altLang="zh-CN" sz="17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空栈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，按申请容量</a:t>
            </a:r>
            <a:r>
              <a:rPr kumimoji="0" lang="zh-CN" altLang="zh-CN" sz="17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分配元素存储空间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en-US" altLang="zh-CN" sz="1700" b="0" kern="100" dirty="0">
              <a:solidFill>
                <a:prstClr val="black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称为</a:t>
            </a:r>
            <a:r>
              <a:rPr kumimoji="0" lang="zh-CN" altLang="zh-CN" sz="17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栈底指针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，始终指向栈底的位置。</a:t>
            </a:r>
            <a:endParaRPr kumimoji="0" lang="en-US" altLang="zh-CN" sz="1700" b="0" kern="100" dirty="0">
              <a:solidFill>
                <a:prstClr val="black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称为</a:t>
            </a:r>
            <a:r>
              <a:rPr kumimoji="0" lang="zh-CN" altLang="zh-CN" sz="17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栈顶指针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，其初值指向栈底</a:t>
            </a:r>
            <a:r>
              <a:rPr kumimoji="0" lang="zh-CN" altLang="en-US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kumimoji="0" lang="en-US" altLang="zh-CN" sz="1700" b="0" kern="100" dirty="0">
              <a:solidFill>
                <a:prstClr val="black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en-US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是</a:t>
            </a:r>
            <a:r>
              <a:rPr kumimoji="0" lang="zh-CN" altLang="zh-CN" sz="17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栈空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的状态</a:t>
            </a:r>
            <a:r>
              <a:rPr kumimoji="0" lang="zh-CN" altLang="en-US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kumimoji="0" lang="en-US" altLang="zh-CN" sz="1700" b="0" kern="100" dirty="0">
              <a:solidFill>
                <a:prstClr val="black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每当</a:t>
            </a:r>
            <a:r>
              <a:rPr kumimoji="0" lang="zh-CN" altLang="zh-CN" sz="17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插入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新的栈顶元素时，</a:t>
            </a: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增</a:t>
            </a: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；</a:t>
            </a:r>
            <a:endParaRPr kumimoji="0" lang="en-US" altLang="zh-CN" sz="1700" b="0" kern="100" dirty="0">
              <a:solidFill>
                <a:prstClr val="black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zh-CN" altLang="zh-CN" sz="1700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删除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栈顶元素时，指针</a:t>
            </a: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zh-CN" altLang="zh-CN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减</a:t>
            </a:r>
            <a:r>
              <a:rPr kumimoji="0" lang="en-US" altLang="zh-CN" sz="170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700" b="0" kern="100" dirty="0">
                <a:solidFill>
                  <a:prstClr val="black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kumimoji="0" lang="en-US" altLang="zh-CN" sz="1700" b="0" kern="100" dirty="0">
              <a:solidFill>
                <a:prstClr val="black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214313" indent="-214313"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75000"/>
              <a:buFont typeface="Wingdings" panose="05000000000000000000" pitchFamily="2" charset="2"/>
              <a:buChar char="u"/>
            </a:pP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非空栈的栈顶指针始终指向栈顶元素的</a:t>
            </a:r>
            <a:r>
              <a:rPr kumimoji="0" lang="zh-CN" altLang="zh-CN" sz="1700" i="1" kern="100" dirty="0"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下一个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位置。</a:t>
            </a:r>
            <a:endParaRPr kumimoji="0" lang="en-US" altLang="zh-CN" sz="1700" b="0" kern="100" dirty="0">
              <a:solidFill>
                <a:prstClr val="black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右图</a:t>
            </a:r>
            <a:r>
              <a:rPr kumimoji="0" lang="zh-CN" altLang="zh-CN" sz="17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展示了顺序栈的栈顶指针和栈顶元素之间的关系。</a:t>
            </a:r>
            <a:endParaRPr kumimoji="0" lang="zh-CN" altLang="zh-CN" sz="1700" b="0" kern="100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53E80D-56FB-D4C1-17AF-C0004F4CF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156" y="177984"/>
            <a:ext cx="2217161" cy="561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32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栈</a:t>
            </a:r>
            <a:r>
              <a:rPr kumimoji="0" lang="zh-CN" altLang="zh-CN" sz="3200" b="0" kern="100" dirty="0">
                <a:solidFill>
                  <a:prstClr val="black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sz="3200" kern="1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初始化</a:t>
            </a:r>
            <a:endParaRPr kumimoji="0" lang="zh-CN" altLang="en-US" sz="3200" b="0" dirty="0">
              <a:solidFill>
                <a:prstClr val="black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62FAFE-C559-9A8B-113E-ED41613B8E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53966" y="2921634"/>
            <a:ext cx="3150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hangingPunct="0"/>
            <a:r>
              <a:rPr kumimoji="0" lang="zh-CN" altLang="en-US" sz="1350" b="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栈顶指针和栈顶元素之间的关系</a:t>
            </a:r>
            <a:endParaRPr kumimoji="0" lang="zh-CN" altLang="en-US" sz="1350" b="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326044-C3A8-40D8-D4F7-E5A253D13E43}"/>
              </a:ext>
            </a:extLst>
          </p:cNvPr>
          <p:cNvSpPr txBox="1"/>
          <p:nvPr/>
        </p:nvSpPr>
        <p:spPr>
          <a:xfrm>
            <a:off x="0" y="3681759"/>
            <a:ext cx="6163691" cy="28623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just" defTabSz="685800" fontAlgn="auto">
              <a:spcBef>
                <a:spcPts val="45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size) </a:t>
            </a: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1800" kern="1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// </a:t>
            </a:r>
            <a:r>
              <a:rPr kumimoji="0" lang="zh-CN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构造并返回一个空顺序栈，容量为</a:t>
            </a:r>
            <a:r>
              <a:rPr kumimoji="0" lang="en-US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</a:t>
            </a:r>
            <a:r>
              <a:rPr kumimoji="0" lang="zh-CN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。</a:t>
            </a:r>
            <a:endParaRPr kumimoji="0" lang="zh-CN" altLang="zh-CN" sz="3200" kern="100" dirty="0">
              <a:solidFill>
                <a:srgbClr val="4EA72E">
                  <a:lumMod val="75000"/>
                </a:srgb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</a:t>
            </a:r>
            <a:endParaRPr kumimoji="0" lang="zh-CN" altLang="zh-CN" sz="3200" kern="100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if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 = (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malloc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kern="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(*S)))) </a:t>
            </a: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exit(OVERFLOW);   </a:t>
            </a:r>
            <a:r>
              <a:rPr kumimoji="0" lang="en-US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分配存储空间</a:t>
            </a: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if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(!(S-&gt;base = (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kumimoji="0" lang="en-US" altLang="zh-CN" sz="1800" kern="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calloc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(size, </a:t>
            </a: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800" kern="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kern="100" dirty="0" err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exit(OVERFLOW);</a:t>
            </a:r>
            <a:endParaRPr kumimoji="0" lang="zh-CN" altLang="zh-CN" sz="3200" kern="100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S-&gt;top = S-&gt;base;   S-&gt;size = size;</a:t>
            </a:r>
            <a:endParaRPr kumimoji="0" lang="zh-CN" altLang="zh-CN" sz="3200" kern="100" dirty="0">
              <a:solidFill>
                <a:prstClr val="black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return</a:t>
            </a:r>
            <a:r>
              <a:rPr kumimoji="0" lang="en-US" altLang="zh-CN" sz="1800" kern="100" dirty="0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S;          </a:t>
            </a:r>
            <a:r>
              <a:rPr kumimoji="0" lang="en-US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kern="100" dirty="0">
                <a:solidFill>
                  <a:srgbClr val="4EA72E">
                    <a:lumMod val="75000"/>
                  </a:srgbClr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返回新建的顺序栈</a:t>
            </a:r>
          </a:p>
          <a:p>
            <a:pPr algn="just"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8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  <a:endParaRPr kumimoji="0" lang="zh-CN" altLang="zh-CN" sz="1800" kern="1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7297E8F-1395-46CF-18F7-86E26454F059}"/>
              </a:ext>
            </a:extLst>
          </p:cNvPr>
          <p:cNvGrpSpPr/>
          <p:nvPr/>
        </p:nvGrpSpPr>
        <p:grpSpPr>
          <a:xfrm>
            <a:off x="7014483" y="4835543"/>
            <a:ext cx="1169749" cy="1591779"/>
            <a:chOff x="5301644" y="4672017"/>
            <a:chExt cx="1287212" cy="1806418"/>
          </a:xfrm>
        </p:grpSpPr>
        <p:sp>
          <p:nvSpPr>
            <p:cNvPr id="10" name="文本框 81922">
              <a:extLst>
                <a:ext uri="{FF2B5EF4-FFF2-40B4-BE49-F238E27FC236}">
                  <a16:creationId xmlns:a16="http://schemas.microsoft.com/office/drawing/2014/main" id="{E946D0DE-2CD3-4F6C-BA8F-F6292E352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289" y="4672017"/>
              <a:ext cx="723931" cy="64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r" defTabSz="685800" fontAlgn="auto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zh-CN" sz="1800" dirty="0">
                  <a:solidFill>
                    <a:srgbClr val="A02B93">
                      <a:lumMod val="50000"/>
                    </a:srgbClr>
                  </a:solidFill>
                  <a:latin typeface="Times New Roman" panose="02020603050405020304"/>
                </a:rPr>
                <a:t>top</a:t>
              </a:r>
              <a:endParaRPr kumimoji="0" lang="zh-CN" altLang="en-US" sz="1800" dirty="0">
                <a:solidFill>
                  <a:srgbClr val="A02B93">
                    <a:lumMod val="50000"/>
                  </a:srgbClr>
                </a:solidFill>
                <a:latin typeface="Times New Roman" panose="02020603050405020304"/>
              </a:endParaRPr>
            </a:p>
          </p:txBody>
        </p:sp>
        <p:sp>
          <p:nvSpPr>
            <p:cNvPr id="11" name="文本框 81922">
              <a:extLst>
                <a:ext uri="{FF2B5EF4-FFF2-40B4-BE49-F238E27FC236}">
                  <a16:creationId xmlns:a16="http://schemas.microsoft.com/office/drawing/2014/main" id="{16307666-188E-3599-B51A-33D09EADB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644" y="4868781"/>
              <a:ext cx="797311" cy="116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r" defTabSz="685800" fontAlgn="auto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zh-CN" sz="1800" dirty="0">
                  <a:solidFill>
                    <a:srgbClr val="008080"/>
                  </a:solidFill>
                  <a:latin typeface="Times New Roman" panose="02020603050405020304"/>
                </a:rPr>
                <a:t>base</a:t>
              </a:r>
              <a:endParaRPr kumimoji="0" lang="zh-CN" altLang="en-US" sz="1800" dirty="0">
                <a:solidFill>
                  <a:srgbClr val="008080"/>
                </a:solidFill>
                <a:latin typeface="Times New Roman" panose="02020603050405020304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D04E9E5-703E-DA05-7302-983C4B7B2C63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b="0">
                <a:solidFill>
                  <a:prstClr val="white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7761788-7DA9-17E3-2AB7-0582E2D29C07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5066CF8-E82C-898D-9C15-25613776D1C0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5" name="文本框 81922">
              <a:extLst>
                <a:ext uri="{FF2B5EF4-FFF2-40B4-BE49-F238E27FC236}">
                  <a16:creationId xmlns:a16="http://schemas.microsoft.com/office/drawing/2014/main" id="{4C211460-F074-4946-94E9-4D3D154F3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1755" y="5313135"/>
              <a:ext cx="694945" cy="116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r" defTabSz="685800" fontAlgn="auto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None/>
              </a:pPr>
              <a:r>
                <a:rPr kumimoji="0" lang="en-US" altLang="zh-CN" sz="1800" dirty="0">
                  <a:solidFill>
                    <a:srgbClr val="00B0F0"/>
                  </a:solidFill>
                  <a:latin typeface="Times New Roman" panose="02020603050405020304"/>
                </a:rPr>
                <a:t>size</a:t>
              </a:r>
              <a:endParaRPr kumimoji="0" lang="zh-CN" altLang="en-US" sz="1800" dirty="0">
                <a:solidFill>
                  <a:srgbClr val="00B0F0"/>
                </a:solidFill>
                <a:latin typeface="Times New Roman" panose="02020603050405020304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9CCADC1-6100-1A04-8729-868FBC176806}"/>
              </a:ext>
            </a:extLst>
          </p:cNvPr>
          <p:cNvGrpSpPr/>
          <p:nvPr/>
        </p:nvGrpSpPr>
        <p:grpSpPr>
          <a:xfrm>
            <a:off x="8733672" y="3796867"/>
            <a:ext cx="1012975" cy="1887696"/>
            <a:chOff x="8710119" y="4108727"/>
            <a:chExt cx="1011210" cy="2166807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5066CF8-E82C-898D-9C15-25613776D1C0}"/>
                </a:ext>
              </a:extLst>
            </p:cNvPr>
            <p:cNvSpPr/>
            <p:nvPr/>
          </p:nvSpPr>
          <p:spPr>
            <a:xfrm>
              <a:off x="8710119" y="4503099"/>
              <a:ext cx="662481" cy="661797"/>
            </a:xfrm>
            <a:prstGeom prst="rect">
              <a:avLst/>
            </a:prstGeom>
            <a:solidFill>
              <a:srgbClr val="CC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800" dirty="0">
                  <a:solidFill>
                    <a:srgbClr val="C00000"/>
                  </a:solidFill>
                  <a:latin typeface="Times New Roman" panose="02020603050405020304"/>
                  <a:ea typeface="宋体" panose="02010600030101010101" pitchFamily="2" charset="-122"/>
                </a:rPr>
                <a:t>⁝</a:t>
              </a:r>
              <a:endParaRPr kumimoji="0" lang="zh-CN" altLang="en-US" sz="18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DA07E32-BA40-E485-7214-0813CF6A89AC}"/>
                </a:ext>
              </a:extLst>
            </p:cNvPr>
            <p:cNvSpPr/>
            <p:nvPr/>
          </p:nvSpPr>
          <p:spPr>
            <a:xfrm>
              <a:off x="8710121" y="5177417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b="0">
                <a:solidFill>
                  <a:prstClr val="white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7C27FD6-4D48-5E5D-09E3-4A1534D3A71E}"/>
                </a:ext>
              </a:extLst>
            </p:cNvPr>
            <p:cNvSpPr/>
            <p:nvPr/>
          </p:nvSpPr>
          <p:spPr>
            <a:xfrm>
              <a:off x="8710121" y="5522804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FCEBF6E-2DB1-7B5E-9E94-446D6FB2FB89}"/>
                </a:ext>
              </a:extLst>
            </p:cNvPr>
            <p:cNvSpPr/>
            <p:nvPr/>
          </p:nvSpPr>
          <p:spPr>
            <a:xfrm>
              <a:off x="8710120" y="5865680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D04E9E5-703E-DA05-7302-983C4B7B2C63}"/>
                </a:ext>
              </a:extLst>
            </p:cNvPr>
            <p:cNvSpPr/>
            <p:nvPr/>
          </p:nvSpPr>
          <p:spPr>
            <a:xfrm>
              <a:off x="8710120" y="4147702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876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800" b="0">
                <a:solidFill>
                  <a:prstClr val="white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59C1F0B-E047-19F5-F456-C9DF5B6EB2E5}"/>
                </a:ext>
              </a:extLst>
            </p:cNvPr>
            <p:cNvSpPr txBox="1"/>
            <p:nvPr/>
          </p:nvSpPr>
          <p:spPr>
            <a:xfrm>
              <a:off x="9408968" y="4108727"/>
              <a:ext cx="312361" cy="21668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9</a:t>
              </a: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⁝</a:t>
              </a: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⁝</a:t>
              </a: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en-US" altLang="zh-CN" sz="2000" dirty="0">
                <a:solidFill>
                  <a:srgbClr val="041ABC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2</a:t>
              </a: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1</a:t>
              </a:r>
            </a:p>
            <a:p>
              <a:pPr defTabSz="685800" fontAlgn="auto">
                <a:lnSpc>
                  <a:spcPts val="20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2000" dirty="0">
                  <a:solidFill>
                    <a:srgbClr val="041ABC"/>
                  </a:solidFill>
                  <a:latin typeface="Times New Roman" panose="02020603050405020304"/>
                  <a:ea typeface="宋体" panose="02010600030101010101" pitchFamily="2" charset="-122"/>
                </a:rPr>
                <a:t>0</a:t>
              </a:r>
              <a:endParaRPr kumimoji="0" lang="zh-CN" altLang="en-US" sz="2000" dirty="0">
                <a:solidFill>
                  <a:srgbClr val="041ABC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BD30838-1C42-CD23-96B3-0F49E6C0B54F}"/>
                </a:ext>
              </a:extLst>
            </p:cNvPr>
            <p:cNvSpPr/>
            <p:nvPr/>
          </p:nvSpPr>
          <p:spPr>
            <a:xfrm>
              <a:off x="8710119" y="4147702"/>
              <a:ext cx="662481" cy="2060854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350" b="0">
                <a:solidFill>
                  <a:prstClr val="white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AA1A8E6-394F-C816-364C-3BAC7543C1E4}"/>
              </a:ext>
            </a:extLst>
          </p:cNvPr>
          <p:cNvCxnSpPr>
            <a:cxnSpLocks/>
          </p:cNvCxnSpPr>
          <p:nvPr/>
        </p:nvCxnSpPr>
        <p:spPr>
          <a:xfrm flipV="1">
            <a:off x="7931763" y="5476861"/>
            <a:ext cx="697694" cy="31548"/>
          </a:xfrm>
          <a:prstGeom prst="straightConnector1">
            <a:avLst/>
          </a:prstGeom>
          <a:ln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B51DFB2-5108-B81B-2A78-D9432E66E314}"/>
              </a:ext>
            </a:extLst>
          </p:cNvPr>
          <p:cNvCxnSpPr>
            <a:cxnSpLocks/>
          </p:cNvCxnSpPr>
          <p:nvPr/>
        </p:nvCxnSpPr>
        <p:spPr>
          <a:xfrm>
            <a:off x="7803078" y="5027386"/>
            <a:ext cx="894171" cy="37309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7E19FF1D-9F51-9DE1-AF8A-EDB195A1DE00}"/>
              </a:ext>
            </a:extLst>
          </p:cNvPr>
          <p:cNvSpPr txBox="1"/>
          <p:nvPr/>
        </p:nvSpPr>
        <p:spPr>
          <a:xfrm>
            <a:off x="5192930" y="4903136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rPr>
              <a:t>10</a:t>
            </a:r>
            <a:endParaRPr kumimoji="0" lang="zh-CN" altLang="en-US" sz="1500" dirty="0">
              <a:solidFill>
                <a:srgbClr val="C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AD44EB-A7C8-7F1C-4938-D36CD0ABD284}"/>
              </a:ext>
            </a:extLst>
          </p:cNvPr>
          <p:cNvSpPr txBox="1"/>
          <p:nvPr/>
        </p:nvSpPr>
        <p:spPr>
          <a:xfrm>
            <a:off x="3073736" y="3574248"/>
            <a:ext cx="3770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500" dirty="0">
                <a:solidFill>
                  <a:srgbClr val="C00000"/>
                </a:solidFill>
                <a:latin typeface="Times New Roman" panose="02020603050405020304"/>
                <a:ea typeface="宋体" panose="02010600030101010101" pitchFamily="2" charset="-122"/>
              </a:rPr>
              <a:t>10</a:t>
            </a:r>
            <a:endParaRPr kumimoji="0" lang="zh-CN" altLang="en-US" sz="1500" dirty="0">
              <a:solidFill>
                <a:srgbClr val="C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EFB5C1C-9ECD-1A09-4753-8D88D1E84AE0}"/>
              </a:ext>
            </a:extLst>
          </p:cNvPr>
          <p:cNvCxnSpPr>
            <a:cxnSpLocks/>
          </p:cNvCxnSpPr>
          <p:nvPr/>
        </p:nvCxnSpPr>
        <p:spPr>
          <a:xfrm>
            <a:off x="7333731" y="4730599"/>
            <a:ext cx="278734" cy="164759"/>
          </a:xfrm>
          <a:prstGeom prst="straightConnector1">
            <a:avLst/>
          </a:prstGeom>
          <a:ln>
            <a:solidFill>
              <a:srgbClr val="8E000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81922">
            <a:extLst>
              <a:ext uri="{FF2B5EF4-FFF2-40B4-BE49-F238E27FC236}">
                <a16:creationId xmlns:a16="http://schemas.microsoft.com/office/drawing/2014/main" id="{364E8E1A-11A6-1A56-5398-3C66CCC11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968" y="4472370"/>
            <a:ext cx="354665" cy="36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685800" fontAlgn="auto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None/>
            </a:pPr>
            <a:r>
              <a:rPr kumimoji="0" lang="en-US" altLang="zh-CN" sz="1800" dirty="0">
                <a:solidFill>
                  <a:srgbClr val="C00000"/>
                </a:solidFill>
                <a:ea typeface="楷体_GB2312" pitchFamily="49" charset="-122"/>
              </a:rPr>
              <a:t>S</a:t>
            </a:r>
            <a:endParaRPr kumimoji="0" lang="zh-CN" altLang="en-US" sz="1800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B8482C-888D-2582-E5D4-49F7D1E3F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2882"/>
            <a:ext cx="5919947" cy="207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4.81481E-6 L 0.22435 0.03079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1" y="1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32" grpId="0"/>
      <p:bldP spid="32" grpId="1"/>
      <p:bldP spid="33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8D5ADAB2-A16E-51C5-1B46-1F7513109A0E}"/>
              </a:ext>
            </a:extLst>
          </p:cNvPr>
          <p:cNvGrpSpPr/>
          <p:nvPr/>
        </p:nvGrpSpPr>
        <p:grpSpPr>
          <a:xfrm>
            <a:off x="11013157" y="415684"/>
            <a:ext cx="978083" cy="1791131"/>
            <a:chOff x="8710117" y="4436048"/>
            <a:chExt cx="978083" cy="1791131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ECDCF212-05C4-2D3D-62F8-A917D2FD336B}"/>
                </a:ext>
              </a:extLst>
            </p:cNvPr>
            <p:cNvSpPr/>
            <p:nvPr/>
          </p:nvSpPr>
          <p:spPr>
            <a:xfrm>
              <a:off x="8710119" y="4849039"/>
              <a:ext cx="662481" cy="331442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200CDAE-ADA9-0548-0746-2CFCCE85455E}"/>
                </a:ext>
              </a:extLst>
            </p:cNvPr>
            <p:cNvSpPr/>
            <p:nvPr/>
          </p:nvSpPr>
          <p:spPr>
            <a:xfrm>
              <a:off x="8710121" y="5182612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C475BAF1-C6AD-F41D-0ABE-F2C29FD95956}"/>
                </a:ext>
              </a:extLst>
            </p:cNvPr>
            <p:cNvSpPr/>
            <p:nvPr/>
          </p:nvSpPr>
          <p:spPr>
            <a:xfrm>
              <a:off x="8710121" y="5522804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8812788-AD18-2D1A-E72E-1653E8BB953D}"/>
                </a:ext>
              </a:extLst>
            </p:cNvPr>
            <p:cNvSpPr/>
            <p:nvPr/>
          </p:nvSpPr>
          <p:spPr>
            <a:xfrm>
              <a:off x="8710120" y="5865680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33EC9BE-59EA-90DD-E8C9-4A502D71269D}"/>
                </a:ext>
              </a:extLst>
            </p:cNvPr>
            <p:cNvSpPr/>
            <p:nvPr/>
          </p:nvSpPr>
          <p:spPr>
            <a:xfrm>
              <a:off x="8710117" y="4506716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1E23C8B-329F-D3BA-B5F6-D12E99A874F3}"/>
                </a:ext>
              </a:extLst>
            </p:cNvPr>
            <p:cNvSpPr txBox="1"/>
            <p:nvPr/>
          </p:nvSpPr>
          <p:spPr>
            <a:xfrm>
              <a:off x="9388118" y="4436048"/>
              <a:ext cx="300082" cy="179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9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8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7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6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5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CC0BB65-3AFD-9BB3-176A-B066E140B368}"/>
                </a:ext>
              </a:extLst>
            </p:cNvPr>
            <p:cNvSpPr/>
            <p:nvPr/>
          </p:nvSpPr>
          <p:spPr>
            <a:xfrm>
              <a:off x="8710119" y="4506716"/>
              <a:ext cx="662481" cy="170184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AA70C5-5449-1B4D-109C-F515CC408F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595C2FF2-2579-5C19-13ED-8A4386002807}"/>
              </a:ext>
            </a:extLst>
          </p:cNvPr>
          <p:cNvSpPr>
            <a:spLocks noGrp="1"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AC73F7-2810-73A0-9CF2-5741BA521062}"/>
              </a:ext>
            </a:extLst>
          </p:cNvPr>
          <p:cNvSpPr txBox="1"/>
          <p:nvPr/>
        </p:nvSpPr>
        <p:spPr>
          <a:xfrm>
            <a:off x="409141" y="838551"/>
            <a:ext cx="8918418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Push(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S,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入栈，元素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为新的栈顶元素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若栈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不存在，则报错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(S-&gt;top – S-&gt;base &gt;= S-&gt;size)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若栈已满，则申请扩容</a:t>
            </a:r>
            <a:endParaRPr kumimoji="0" lang="en-US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(S-&gt;base = 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realloc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(S-&gt;base,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若扩容失败</a:t>
            </a:r>
            <a:endParaRPr kumimoji="0" lang="en-US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(S-&gt;size*2*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))))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则报错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S-&gt;top = S-&gt;base + S-&gt;size;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更新栈顶指针（因栈底指针已改变）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S-&gt;size *= 2;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更新栈的容量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*S-&gt;top++ = e;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将元素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置到栈顶，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top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76432217-0AD2-8CAA-197C-BA3CC8426C3E}"/>
              </a:ext>
            </a:extLst>
          </p:cNvPr>
          <p:cNvSpPr txBox="1"/>
          <p:nvPr/>
        </p:nvSpPr>
        <p:spPr>
          <a:xfrm>
            <a:off x="409141" y="5483565"/>
            <a:ext cx="10217282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若栈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不空，则返回栈顶元素，否则返回空元素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||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S.base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栈不存在或空，则返回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S.top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-1);   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返回栈顶元素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5537D159-5867-80B7-E14F-FC96622CF79D}"/>
              </a:ext>
            </a:extLst>
          </p:cNvPr>
          <p:cNvSpPr txBox="1"/>
          <p:nvPr/>
        </p:nvSpPr>
        <p:spPr>
          <a:xfrm>
            <a:off x="409141" y="4130554"/>
            <a:ext cx="10217282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Pop(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若栈不空，则删除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栈顶元素，返回其值；否则返回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|| S-&gt;top == S-&gt;base)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栈不存在或空，则返回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*--S-&gt;top;        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返回退栈元素值，满足不同需求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F8ED98-CA65-79B8-851B-C98197B13D59}"/>
              </a:ext>
            </a:extLst>
          </p:cNvPr>
          <p:cNvSpPr txBox="1"/>
          <p:nvPr/>
        </p:nvSpPr>
        <p:spPr>
          <a:xfrm>
            <a:off x="1288472" y="224204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入栈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出栈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取栈顶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操作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实现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D93E127-2CCF-2964-FB0E-C9307C6638AB}"/>
              </a:ext>
            </a:extLst>
          </p:cNvPr>
          <p:cNvGrpSpPr/>
          <p:nvPr/>
        </p:nvGrpSpPr>
        <p:grpSpPr>
          <a:xfrm>
            <a:off x="9274134" y="2787809"/>
            <a:ext cx="1287212" cy="1130022"/>
            <a:chOff x="5301644" y="4692550"/>
            <a:chExt cx="1287212" cy="1506801"/>
          </a:xfrm>
        </p:grpSpPr>
        <p:sp>
          <p:nvSpPr>
            <p:cNvPr id="9" name="文本框 81922">
              <a:extLst>
                <a:ext uri="{FF2B5EF4-FFF2-40B4-BE49-F238E27FC236}">
                  <a16:creationId xmlns:a16="http://schemas.microsoft.com/office/drawing/2014/main" id="{3D90F82A-24F8-B29A-4CFE-40DCC3E94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289" y="4692550"/>
              <a:ext cx="723930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50000"/>
                    </a:srgbClr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top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5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文本框 81922">
              <a:extLst>
                <a:ext uri="{FF2B5EF4-FFF2-40B4-BE49-F238E27FC236}">
                  <a16:creationId xmlns:a16="http://schemas.microsoft.com/office/drawing/2014/main" id="{0A1A78CD-A9AE-1B99-8A72-B9E53E899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644" y="5147866"/>
              <a:ext cx="797310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Monotype Sort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base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BEC6815-6F15-4470-CE89-B777C2AD4FCC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7C56A2A-B205-5745-4A68-DAB94260F7D9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B834A9A-3187-42B5-8B7E-1BB8EAFFEEBA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文本框 81922">
              <a:extLst>
                <a:ext uri="{FF2B5EF4-FFF2-40B4-BE49-F238E27FC236}">
                  <a16:creationId xmlns:a16="http://schemas.microsoft.com/office/drawing/2014/main" id="{40819792-017C-6329-03AB-F4F804707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1754" y="5592220"/>
              <a:ext cx="694945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Monotype Sort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size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62ADAA9-211E-C0D3-52D8-41F02BE50684}"/>
              </a:ext>
            </a:extLst>
          </p:cNvPr>
          <p:cNvGrpSpPr/>
          <p:nvPr/>
        </p:nvGrpSpPr>
        <p:grpSpPr>
          <a:xfrm>
            <a:off x="11013157" y="2119702"/>
            <a:ext cx="978083" cy="1791131"/>
            <a:chOff x="8710117" y="4436048"/>
            <a:chExt cx="978083" cy="1791131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BAD01F-7A50-07C0-4C27-BA50889AFC8D}"/>
                </a:ext>
              </a:extLst>
            </p:cNvPr>
            <p:cNvSpPr/>
            <p:nvPr/>
          </p:nvSpPr>
          <p:spPr>
            <a:xfrm>
              <a:off x="8710119" y="4849039"/>
              <a:ext cx="662481" cy="331442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D854FCE-3E03-48DE-CB85-9256C7E2BE02}"/>
                </a:ext>
              </a:extLst>
            </p:cNvPr>
            <p:cNvSpPr/>
            <p:nvPr/>
          </p:nvSpPr>
          <p:spPr>
            <a:xfrm>
              <a:off x="8710121" y="5182612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29CE8E5-740E-F12E-1D35-A394421761E5}"/>
                </a:ext>
              </a:extLst>
            </p:cNvPr>
            <p:cNvSpPr/>
            <p:nvPr/>
          </p:nvSpPr>
          <p:spPr>
            <a:xfrm>
              <a:off x="8710121" y="5522804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DC2BD8C-883C-4596-8900-205E0B2DCD25}"/>
                </a:ext>
              </a:extLst>
            </p:cNvPr>
            <p:cNvSpPr/>
            <p:nvPr/>
          </p:nvSpPr>
          <p:spPr>
            <a:xfrm>
              <a:off x="8710120" y="5865680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227F47A-9978-E7A7-E476-53D6D649DB41}"/>
                </a:ext>
              </a:extLst>
            </p:cNvPr>
            <p:cNvSpPr/>
            <p:nvPr/>
          </p:nvSpPr>
          <p:spPr>
            <a:xfrm>
              <a:off x="8710117" y="4506716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15E74AF-3FB6-236C-93E1-A246EAD7BBB3}"/>
                </a:ext>
              </a:extLst>
            </p:cNvPr>
            <p:cNvSpPr txBox="1"/>
            <p:nvPr/>
          </p:nvSpPr>
          <p:spPr>
            <a:xfrm>
              <a:off x="9388118" y="4436048"/>
              <a:ext cx="300082" cy="1791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666B012-791B-4ECC-CBCD-7EB9A1FF8F11}"/>
                </a:ext>
              </a:extLst>
            </p:cNvPr>
            <p:cNvSpPr/>
            <p:nvPr/>
          </p:nvSpPr>
          <p:spPr>
            <a:xfrm>
              <a:off x="8710119" y="4506716"/>
              <a:ext cx="662481" cy="170184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6BEA695-65D8-E2A3-F856-58AB16582F9F}"/>
              </a:ext>
            </a:extLst>
          </p:cNvPr>
          <p:cNvCxnSpPr>
            <a:cxnSpLocks/>
          </p:cNvCxnSpPr>
          <p:nvPr/>
        </p:nvCxnSpPr>
        <p:spPr>
          <a:xfrm>
            <a:off x="10325595" y="3352396"/>
            <a:ext cx="687562" cy="476654"/>
          </a:xfrm>
          <a:prstGeom prst="straightConnector1">
            <a:avLst/>
          </a:prstGeom>
          <a:ln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E67A188-8C85-1CBD-72FF-518138A957EB}"/>
              </a:ext>
            </a:extLst>
          </p:cNvPr>
          <p:cNvCxnSpPr>
            <a:cxnSpLocks/>
          </p:cNvCxnSpPr>
          <p:nvPr/>
        </p:nvCxnSpPr>
        <p:spPr>
          <a:xfrm>
            <a:off x="10325595" y="3028199"/>
            <a:ext cx="687562" cy="61482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A01C66D-F45B-AAE4-3544-E06EA7D8B929}"/>
              </a:ext>
            </a:extLst>
          </p:cNvPr>
          <p:cNvCxnSpPr>
            <a:cxnSpLocks/>
          </p:cNvCxnSpPr>
          <p:nvPr/>
        </p:nvCxnSpPr>
        <p:spPr>
          <a:xfrm>
            <a:off x="9699799" y="2632483"/>
            <a:ext cx="371645" cy="219678"/>
          </a:xfrm>
          <a:prstGeom prst="straightConnector1">
            <a:avLst/>
          </a:prstGeom>
          <a:ln>
            <a:solidFill>
              <a:srgbClr val="8E000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81922">
            <a:extLst>
              <a:ext uri="{FF2B5EF4-FFF2-40B4-BE49-F238E27FC236}">
                <a16:creationId xmlns:a16="http://schemas.microsoft.com/office/drawing/2014/main" id="{9A2ED32B-1872-8B35-0098-35CA9EAB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6779" y="2303576"/>
            <a:ext cx="472887" cy="45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B00E1B-E847-7813-0E37-8C1BD49421CB}"/>
              </a:ext>
            </a:extLst>
          </p:cNvPr>
          <p:cNvSpPr txBox="1"/>
          <p:nvPr/>
        </p:nvSpPr>
        <p:spPr>
          <a:xfrm>
            <a:off x="10129460" y="3503475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99B8A5-738F-AA02-7ECD-E7FA3652B189}"/>
              </a:ext>
            </a:extLst>
          </p:cNvPr>
          <p:cNvSpPr txBox="1"/>
          <p:nvPr/>
        </p:nvSpPr>
        <p:spPr>
          <a:xfrm>
            <a:off x="8127596" y="407361"/>
            <a:ext cx="1236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依次入栈：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7D9687E-6DF2-F958-2B1B-F0620F87C2D6}"/>
              </a:ext>
            </a:extLst>
          </p:cNvPr>
          <p:cNvSpPr txBox="1"/>
          <p:nvPr/>
        </p:nvSpPr>
        <p:spPr>
          <a:xfrm>
            <a:off x="9468177" y="763478"/>
            <a:ext cx="511703" cy="3729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'B'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5200E7A-5D36-69E8-73DE-E4E592EB2F3D}"/>
              </a:ext>
            </a:extLst>
          </p:cNvPr>
          <p:cNvSpPr txBox="1"/>
          <p:nvPr/>
        </p:nvSpPr>
        <p:spPr>
          <a:xfrm>
            <a:off x="9468177" y="1044309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’C'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AF1932F-030F-3AFC-C487-24A812F4AF23}"/>
              </a:ext>
            </a:extLst>
          </p:cNvPr>
          <p:cNvSpPr txBox="1"/>
          <p:nvPr/>
        </p:nvSpPr>
        <p:spPr>
          <a:xfrm>
            <a:off x="9468177" y="442381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'A'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9036C50-7621-98CC-9BAF-FC18227567A0}"/>
              </a:ext>
            </a:extLst>
          </p:cNvPr>
          <p:cNvSpPr txBox="1"/>
          <p:nvPr/>
        </p:nvSpPr>
        <p:spPr>
          <a:xfrm>
            <a:off x="9475492" y="1332570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’D'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文本框 32">
            <a:extLst>
              <a:ext uri="{FF2B5EF4-FFF2-40B4-BE49-F238E27FC236}">
                <a16:creationId xmlns:a16="http://schemas.microsoft.com/office/drawing/2014/main" id="{85200E7A-5D36-69E8-73DE-E4E592EB2F3D}"/>
              </a:ext>
            </a:extLst>
          </p:cNvPr>
          <p:cNvSpPr txBox="1"/>
          <p:nvPr/>
        </p:nvSpPr>
        <p:spPr>
          <a:xfrm>
            <a:off x="9475492" y="1653390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’E'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B2189B9-D893-C7EB-D385-BE6388342E3C}"/>
              </a:ext>
            </a:extLst>
          </p:cNvPr>
          <p:cNvSpPr txBox="1"/>
          <p:nvPr/>
        </p:nvSpPr>
        <p:spPr>
          <a:xfrm>
            <a:off x="9468177" y="438139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'A'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AA8CCC4-BC72-09AE-E785-B488E5693323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325595" y="3026068"/>
            <a:ext cx="687566" cy="351828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32">
            <a:extLst>
              <a:ext uri="{FF2B5EF4-FFF2-40B4-BE49-F238E27FC236}">
                <a16:creationId xmlns:a16="http://schemas.microsoft.com/office/drawing/2014/main" id="{2387482C-FF59-644F-3696-ECE1ECFF4640}"/>
              </a:ext>
            </a:extLst>
          </p:cNvPr>
          <p:cNvSpPr txBox="1"/>
          <p:nvPr/>
        </p:nvSpPr>
        <p:spPr>
          <a:xfrm>
            <a:off x="9470170" y="1976140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’F'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1DDAFD5-C5E6-B533-3266-CBFE3D4D3D00}"/>
              </a:ext>
            </a:extLst>
          </p:cNvPr>
          <p:cNvSpPr txBox="1"/>
          <p:nvPr/>
        </p:nvSpPr>
        <p:spPr>
          <a:xfrm>
            <a:off x="9468177" y="765262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'B'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1C97CFC-9130-9C0F-424C-9F87C62C1521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10325595" y="3034943"/>
            <a:ext cx="687564" cy="6347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1A31AD8-9E36-940F-85F0-31D9841B2F4F}"/>
              </a:ext>
            </a:extLst>
          </p:cNvPr>
          <p:cNvSpPr txBox="1"/>
          <p:nvPr/>
        </p:nvSpPr>
        <p:spPr>
          <a:xfrm>
            <a:off x="9468177" y="1060843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'C'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564100D2-EA80-3F29-C87D-111C6D6E7233}"/>
              </a:ext>
            </a:extLst>
          </p:cNvPr>
          <p:cNvCxnSpPr>
            <a:cxnSpLocks/>
          </p:cNvCxnSpPr>
          <p:nvPr/>
        </p:nvCxnSpPr>
        <p:spPr>
          <a:xfrm flipV="1">
            <a:off x="10325594" y="2682426"/>
            <a:ext cx="703079" cy="35093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AF5A2A90-5AFE-4C9D-3D39-FDD3E15BB4DD}"/>
              </a:ext>
            </a:extLst>
          </p:cNvPr>
          <p:cNvSpPr txBox="1"/>
          <p:nvPr/>
        </p:nvSpPr>
        <p:spPr>
          <a:xfrm>
            <a:off x="9468177" y="1324046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'D'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80B568C-152B-2C06-8913-27FB7907EEF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0325592" y="2361808"/>
            <a:ext cx="687565" cy="68704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74FC436-A155-78E7-78B6-006A5A464E87}"/>
              </a:ext>
            </a:extLst>
          </p:cNvPr>
          <p:cNvSpPr txBox="1"/>
          <p:nvPr/>
        </p:nvSpPr>
        <p:spPr>
          <a:xfrm>
            <a:off x="9482807" y="1661262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'E'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8439E68-B60A-FDA1-1B92-DD4F6DD7E5EF}"/>
              </a:ext>
            </a:extLst>
          </p:cNvPr>
          <p:cNvCxnSpPr>
            <a:cxnSpLocks/>
          </p:cNvCxnSpPr>
          <p:nvPr/>
        </p:nvCxnSpPr>
        <p:spPr>
          <a:xfrm flipV="1">
            <a:off x="10305293" y="1990275"/>
            <a:ext cx="723380" cy="1056068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1DC5BAA-5CA0-5CDB-9113-7AE7E8447C7D}"/>
              </a:ext>
            </a:extLst>
          </p:cNvPr>
          <p:cNvSpPr txBox="1"/>
          <p:nvPr/>
        </p:nvSpPr>
        <p:spPr>
          <a:xfrm>
            <a:off x="9455179" y="1978483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'F'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33900CE-3457-B0F3-4C87-60A231B99D29}"/>
              </a:ext>
            </a:extLst>
          </p:cNvPr>
          <p:cNvSpPr txBox="1"/>
          <p:nvPr/>
        </p:nvSpPr>
        <p:spPr>
          <a:xfrm>
            <a:off x="10044500" y="3504028"/>
            <a:ext cx="5245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9CBC213-1564-4F8C-5057-125E4FEAC4E2}"/>
              </a:ext>
            </a:extLst>
          </p:cNvPr>
          <p:cNvCxnSpPr>
            <a:cxnSpLocks/>
          </p:cNvCxnSpPr>
          <p:nvPr/>
        </p:nvCxnSpPr>
        <p:spPr>
          <a:xfrm flipV="1">
            <a:off x="10313051" y="1649677"/>
            <a:ext cx="707423" cy="139041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7F004205-5E7C-05FF-62E2-122CEB94DB87}"/>
              </a:ext>
            </a:extLst>
          </p:cNvPr>
          <p:cNvSpPr txBox="1"/>
          <p:nvPr/>
        </p:nvSpPr>
        <p:spPr>
          <a:xfrm>
            <a:off x="10626423" y="4309456"/>
            <a:ext cx="104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Pop(S) =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F542B67-A0CA-C787-0B76-2BBF5AA6A1DC}"/>
              </a:ext>
            </a:extLst>
          </p:cNvPr>
          <p:cNvSpPr txBox="1"/>
          <p:nvPr/>
        </p:nvSpPr>
        <p:spPr>
          <a:xfrm>
            <a:off x="10633790" y="4726415"/>
            <a:ext cx="1041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Pop(S) =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E7E9150-FFD2-FA1E-A9E5-599465A165A1}"/>
              </a:ext>
            </a:extLst>
          </p:cNvPr>
          <p:cNvSpPr txBox="1"/>
          <p:nvPr/>
        </p:nvSpPr>
        <p:spPr>
          <a:xfrm>
            <a:off x="10281331" y="5800332"/>
            <a:ext cx="13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8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GetTop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(S) =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8E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A098DA3-92E0-2C0D-27AB-1BB8E8CDC6C9}"/>
              </a:ext>
            </a:extLst>
          </p:cNvPr>
          <p:cNvSpPr txBox="1"/>
          <p:nvPr/>
        </p:nvSpPr>
        <p:spPr>
          <a:xfrm>
            <a:off x="11124201" y="2505500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'D'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C8A284B8-3899-A306-06F9-66718BFF7682}"/>
              </a:ext>
            </a:extLst>
          </p:cNvPr>
          <p:cNvCxnSpPr>
            <a:cxnSpLocks/>
          </p:cNvCxnSpPr>
          <p:nvPr/>
        </p:nvCxnSpPr>
        <p:spPr>
          <a:xfrm>
            <a:off x="1174173" y="1693378"/>
            <a:ext cx="3860222" cy="85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9ADA08D0-0CC4-E914-EE77-2129F9461C68}"/>
              </a:ext>
            </a:extLst>
          </p:cNvPr>
          <p:cNvCxnSpPr>
            <a:cxnSpLocks/>
          </p:cNvCxnSpPr>
          <p:nvPr/>
        </p:nvCxnSpPr>
        <p:spPr>
          <a:xfrm>
            <a:off x="931718" y="1745811"/>
            <a:ext cx="0" cy="101308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E9C98FC-EEC2-1323-1F2D-7C82B66581E5}"/>
              </a:ext>
            </a:extLst>
          </p:cNvPr>
          <p:cNvCxnSpPr>
            <a:cxnSpLocks/>
          </p:cNvCxnSpPr>
          <p:nvPr/>
        </p:nvCxnSpPr>
        <p:spPr>
          <a:xfrm>
            <a:off x="775855" y="3356392"/>
            <a:ext cx="1884218" cy="2150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20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7.40741E-7 L 0.13568 0.4511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4" y="2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07407E-6 L 0.13568 0.3562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4" y="17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48148E-6 L 0.13568 0.26273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4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500"/>
                            </p:stCondLst>
                            <p:childTnLst>
                              <p:par>
                                <p:cTn id="9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59259E-6 L 0.13568 0.17569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84" y="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48148E-6 L 0.13451 0.07894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19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500"/>
                            </p:stCondLst>
                            <p:childTnLst>
                              <p:par>
                                <p:cTn id="1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500"/>
                            </p:stCondLst>
                            <p:childTnLst>
                              <p:par>
                                <p:cTn id="1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2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000"/>
                            </p:stCondLst>
                            <p:childTnLst>
                              <p:par>
                                <p:cTn id="207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2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2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22222E-6 L 0.13672 -0.01945 " pathEditMode="relative" rAng="0" ptsTypes="AA">
                                      <p:cBhvr>
                                        <p:cTn id="22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36" y="-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0"/>
                            </p:stCondLst>
                            <p:childTnLst>
                              <p:par>
                                <p:cTn id="2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000"/>
                            </p:stCondLst>
                            <p:childTnLst>
                              <p:par>
                                <p:cTn id="25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500"/>
                            </p:stCondLst>
                            <p:childTnLst>
                              <p:par>
                                <p:cTn id="2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500"/>
                            </p:stCondLst>
                            <p:childTnLst>
                              <p:par>
                                <p:cTn id="260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1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000"/>
                            </p:stCondLst>
                            <p:childTnLst>
                              <p:par>
                                <p:cTn id="26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672 -0.01945 L 0.17188 0.34213 " pathEditMode="relative" rAng="0" ptsTypes="AA">
                                      <p:cBhvr>
                                        <p:cTn id="26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1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000"/>
                            </p:stCondLst>
                            <p:childTnLst>
                              <p:par>
                                <p:cTn id="27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500"/>
                            </p:stCondLst>
                            <p:childTnLst>
                              <p:par>
                                <p:cTn id="2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2500"/>
                            </p:stCondLst>
                            <p:childTnLst>
                              <p:par>
                                <p:cTn id="279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4500"/>
                            </p:stCondLst>
                            <p:childTnLst>
                              <p:par>
                                <p:cTn id="282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51 0.07894 L 0.16967 0.4507 " pathEditMode="relative" rAng="0" ptsTypes="AA">
                                      <p:cBhvr>
                                        <p:cTn id="28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8" y="1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1000"/>
                            </p:stCondLst>
                            <p:childTnLst>
                              <p:par>
                                <p:cTn id="29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1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1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500"/>
                            </p:stCondLst>
                            <p:childTnLst>
                              <p:par>
                                <p:cTn id="30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7 L 0.03503 0.47917 " pathEditMode="relative" rAng="0" ptsTypes="AA">
                                      <p:cBhvr>
                                        <p:cTn id="30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2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7" grpId="0"/>
      <p:bldP spid="30" grpId="0"/>
      <p:bldP spid="32" grpId="0"/>
      <p:bldP spid="33" grpId="0"/>
      <p:bldP spid="35" grpId="0"/>
      <p:bldP spid="36" grpId="0"/>
      <p:bldP spid="37" grpId="0"/>
      <p:bldP spid="38" grpId="0"/>
      <p:bldP spid="38" grpId="1"/>
      <p:bldP spid="42" grpId="0"/>
      <p:bldP spid="43" grpId="0"/>
      <p:bldP spid="43" grpId="1"/>
      <p:bldP spid="46" grpId="0"/>
      <p:bldP spid="46" grpId="1"/>
      <p:bldP spid="49" grpId="0"/>
      <p:bldP spid="49" grpId="1"/>
      <p:bldP spid="52" grpId="0"/>
      <p:bldP spid="52" grpId="1"/>
      <p:bldP spid="52" grpId="2"/>
      <p:bldP spid="52" grpId="3"/>
      <p:bldP spid="55" grpId="0"/>
      <p:bldP spid="55" grpId="1"/>
      <p:bldP spid="55" grpId="2"/>
      <p:bldP spid="55" grpId="3"/>
      <p:bldP spid="64" grpId="0"/>
      <p:bldP spid="67" grpId="0"/>
      <p:bldP spid="69" grpId="0"/>
      <p:bldP spid="70" grpId="0"/>
      <p:bldP spid="71" grpId="0"/>
      <p:bldP spid="7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链式栈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栈的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链式存储结构</a:t>
            </a:r>
            <a:r>
              <a:rPr lang="zh-CN" altLang="en-US" dirty="0">
                <a:latin typeface="宋体" panose="02010600030101010101" pitchFamily="2" charset="-122"/>
              </a:rPr>
              <a:t>称为链栈，是运算受限的单链表。其插</a:t>
            </a:r>
            <a:r>
              <a:rPr lang="zh-CN" altLang="en-US" dirty="0">
                <a:solidFill>
                  <a:srgbClr val="3B0099"/>
                </a:solidFill>
                <a:latin typeface="宋体" panose="02010600030101010101" pitchFamily="2" charset="-122"/>
              </a:rPr>
              <a:t>入和删除操</a:t>
            </a:r>
            <a:r>
              <a:rPr lang="zh-CN" altLang="en-US" dirty="0">
                <a:latin typeface="宋体" panose="02010600030101010101" pitchFamily="2" charset="-122"/>
              </a:rPr>
              <a:t>作只能在表头</a:t>
            </a:r>
            <a:r>
              <a:rPr lang="en-US" altLang="zh-CN" dirty="0">
                <a:latin typeface="宋体" panose="02010600030101010101" pitchFamily="2" charset="-122"/>
              </a:rPr>
              <a:t>/</a:t>
            </a:r>
            <a:r>
              <a:rPr lang="zh-CN" altLang="en-US" dirty="0">
                <a:latin typeface="宋体" panose="02010600030101010101" pitchFamily="2" charset="-122"/>
              </a:rPr>
              <a:t>栈顶位置上进行。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链式栈的操作，一般</a:t>
            </a:r>
            <a:r>
              <a:rPr lang="zh-CN" altLang="en-US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不使用头结点</a:t>
            </a:r>
            <a:endParaRPr lang="en-US" altLang="zh-CN" dirty="0"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栈顶指针</a:t>
            </a:r>
            <a:r>
              <a:rPr lang="en-US" altLang="zh-CN" dirty="0"/>
              <a:t>top</a:t>
            </a:r>
            <a:r>
              <a:rPr lang="zh-CN" altLang="en-US" dirty="0">
                <a:latin typeface="宋体" panose="02010600030101010101" pitchFamily="2" charset="-122"/>
              </a:rPr>
              <a:t>就是链表的头指针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  <p:grpSp>
        <p:nvGrpSpPr>
          <p:cNvPr id="30724" name="Group 5"/>
          <p:cNvGrpSpPr/>
          <p:nvPr/>
        </p:nvGrpSpPr>
        <p:grpSpPr bwMode="auto">
          <a:xfrm>
            <a:off x="6096001" y="2636839"/>
            <a:ext cx="4310063" cy="3748087"/>
            <a:chOff x="0" y="0"/>
            <a:chExt cx="2379" cy="1715"/>
          </a:xfrm>
        </p:grpSpPr>
        <p:grpSp>
          <p:nvGrpSpPr>
            <p:cNvPr id="30725" name="Group 6"/>
            <p:cNvGrpSpPr/>
            <p:nvPr/>
          </p:nvGrpSpPr>
          <p:grpSpPr bwMode="auto">
            <a:xfrm>
              <a:off x="0" y="1"/>
              <a:ext cx="1123" cy="563"/>
              <a:chOff x="0" y="0"/>
              <a:chExt cx="1123" cy="563"/>
            </a:xfrm>
          </p:grpSpPr>
          <p:sp>
            <p:nvSpPr>
              <p:cNvPr id="30750" name="Rectangle 7"/>
              <p:cNvSpPr>
                <a:spLocks noChangeArrowheads="1"/>
              </p:cNvSpPr>
              <p:nvPr/>
            </p:nvSpPr>
            <p:spPr bwMode="auto">
              <a:xfrm>
                <a:off x="432" y="336"/>
                <a:ext cx="453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000"/>
                  <a:t>空栈</a:t>
                </a:r>
              </a:p>
            </p:txBody>
          </p:sp>
          <p:grpSp>
            <p:nvGrpSpPr>
              <p:cNvPr id="30751" name="Group 8"/>
              <p:cNvGrpSpPr/>
              <p:nvPr/>
            </p:nvGrpSpPr>
            <p:grpSpPr bwMode="auto">
              <a:xfrm>
                <a:off x="0" y="0"/>
                <a:ext cx="608" cy="227"/>
                <a:chOff x="0" y="0"/>
                <a:chExt cx="608" cy="227"/>
              </a:xfrm>
            </p:grpSpPr>
            <p:sp>
              <p:nvSpPr>
                <p:cNvPr id="30755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0" cy="2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/>
                    <a:t>top</a:t>
                  </a:r>
                </a:p>
              </p:txBody>
            </p:sp>
            <p:sp>
              <p:nvSpPr>
                <p:cNvPr id="30756" name="Line 10"/>
                <p:cNvSpPr>
                  <a:spLocks noChangeShapeType="1"/>
                </p:cNvSpPr>
                <p:nvPr/>
              </p:nvSpPr>
              <p:spPr bwMode="auto">
                <a:xfrm>
                  <a:off x="336" y="144"/>
                  <a:ext cx="27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752" name="Group 11"/>
              <p:cNvGrpSpPr/>
              <p:nvPr/>
            </p:nvGrpSpPr>
            <p:grpSpPr bwMode="auto">
              <a:xfrm>
                <a:off x="624" y="30"/>
                <a:ext cx="499" cy="227"/>
                <a:chOff x="0" y="0"/>
                <a:chExt cx="499" cy="227"/>
              </a:xfrm>
            </p:grpSpPr>
            <p:sp>
              <p:nvSpPr>
                <p:cNvPr id="30753" name="Rectangle 1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        ⋀</a:t>
                  </a:r>
                  <a:endParaRPr lang="zh-CN" altLang="en-US" sz="2400"/>
                </a:p>
              </p:txBody>
            </p:sp>
            <p:sp>
              <p:nvSpPr>
                <p:cNvPr id="30754" name="Line 13"/>
                <p:cNvSpPr>
                  <a:spLocks noChangeShapeType="1"/>
                </p:cNvSpPr>
                <p:nvPr/>
              </p:nvSpPr>
              <p:spPr bwMode="auto">
                <a:xfrm>
                  <a:off x="331" y="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0726" name="Group 14"/>
            <p:cNvGrpSpPr/>
            <p:nvPr/>
          </p:nvGrpSpPr>
          <p:grpSpPr bwMode="auto">
            <a:xfrm>
              <a:off x="1152" y="0"/>
              <a:ext cx="1227" cy="1715"/>
              <a:chOff x="0" y="0"/>
              <a:chExt cx="1227" cy="1715"/>
            </a:xfrm>
          </p:grpSpPr>
          <p:sp>
            <p:nvSpPr>
              <p:cNvPr id="30727" name="Rectangle 15"/>
              <p:cNvSpPr>
                <a:spLocks noChangeArrowheads="1"/>
              </p:cNvSpPr>
              <p:nvPr/>
            </p:nvSpPr>
            <p:spPr bwMode="auto">
              <a:xfrm>
                <a:off x="660" y="1488"/>
                <a:ext cx="56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000"/>
                  <a:t>非空栈</a:t>
                </a:r>
              </a:p>
            </p:txBody>
          </p:sp>
          <p:grpSp>
            <p:nvGrpSpPr>
              <p:cNvPr id="30728" name="Group 16"/>
              <p:cNvGrpSpPr/>
              <p:nvPr/>
            </p:nvGrpSpPr>
            <p:grpSpPr bwMode="auto">
              <a:xfrm>
                <a:off x="0" y="0"/>
                <a:ext cx="1152" cy="440"/>
                <a:chOff x="0" y="0"/>
                <a:chExt cx="1152" cy="440"/>
              </a:xfrm>
            </p:grpSpPr>
            <p:grpSp>
              <p:nvGrpSpPr>
                <p:cNvPr id="30743" name="Group 17"/>
                <p:cNvGrpSpPr/>
                <p:nvPr/>
              </p:nvGrpSpPr>
              <p:grpSpPr bwMode="auto">
                <a:xfrm>
                  <a:off x="0" y="0"/>
                  <a:ext cx="608" cy="227"/>
                  <a:chOff x="0" y="0"/>
                  <a:chExt cx="608" cy="227"/>
                </a:xfrm>
              </p:grpSpPr>
              <p:sp>
                <p:nvSpPr>
                  <p:cNvPr id="3074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40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/>
                      <a:t>top</a:t>
                    </a:r>
                  </a:p>
                </p:txBody>
              </p:sp>
              <p:sp>
                <p:nvSpPr>
                  <p:cNvPr id="3074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336" y="144"/>
                    <a:ext cx="27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44" name="Group 20"/>
                <p:cNvGrpSpPr/>
                <p:nvPr/>
              </p:nvGrpSpPr>
              <p:grpSpPr bwMode="auto">
                <a:xfrm>
                  <a:off x="608" y="48"/>
                  <a:ext cx="544" cy="227"/>
                  <a:chOff x="0" y="0"/>
                  <a:chExt cx="544" cy="227"/>
                </a:xfrm>
              </p:grpSpPr>
              <p:sp>
                <p:nvSpPr>
                  <p:cNvPr id="30746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44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400"/>
                      <a:t> </a:t>
                    </a:r>
                    <a:r>
                      <a:rPr lang="en-US" altLang="zh-CN" sz="2400"/>
                      <a:t>a</a:t>
                    </a:r>
                    <a:r>
                      <a:rPr lang="en-US" altLang="zh-CN" sz="2400" baseline="-25000"/>
                      <a:t>4</a:t>
                    </a:r>
                  </a:p>
                </p:txBody>
              </p:sp>
              <p:sp>
                <p:nvSpPr>
                  <p:cNvPr id="30747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45" name="Line 23"/>
                <p:cNvSpPr>
                  <a:spLocks noChangeShapeType="1"/>
                </p:cNvSpPr>
                <p:nvPr/>
              </p:nvSpPr>
              <p:spPr bwMode="auto">
                <a:xfrm>
                  <a:off x="1104" y="213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729" name="Group 24"/>
              <p:cNvGrpSpPr/>
              <p:nvPr/>
            </p:nvGrpSpPr>
            <p:grpSpPr bwMode="auto">
              <a:xfrm>
                <a:off x="626" y="453"/>
                <a:ext cx="544" cy="371"/>
                <a:chOff x="0" y="0"/>
                <a:chExt cx="544" cy="371"/>
              </a:xfrm>
            </p:grpSpPr>
            <p:grpSp>
              <p:nvGrpSpPr>
                <p:cNvPr id="30739" name="Group 25"/>
                <p:cNvGrpSpPr/>
                <p:nvPr/>
              </p:nvGrpSpPr>
              <p:grpSpPr bwMode="auto">
                <a:xfrm>
                  <a:off x="0" y="0"/>
                  <a:ext cx="544" cy="227"/>
                  <a:chOff x="0" y="0"/>
                  <a:chExt cx="544" cy="227"/>
                </a:xfrm>
              </p:grpSpPr>
              <p:sp>
                <p:nvSpPr>
                  <p:cNvPr id="30741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44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400"/>
                      <a:t> </a:t>
                    </a:r>
                    <a:r>
                      <a:rPr lang="en-US" altLang="zh-CN" sz="2400"/>
                      <a:t>a</a:t>
                    </a:r>
                    <a:r>
                      <a:rPr lang="en-US" altLang="zh-CN" sz="2400" baseline="-25000"/>
                      <a:t>3</a:t>
                    </a:r>
                  </a:p>
                </p:txBody>
              </p:sp>
              <p:sp>
                <p:nvSpPr>
                  <p:cNvPr id="30742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40" name="Line 28"/>
                <p:cNvSpPr>
                  <a:spLocks noChangeShapeType="1"/>
                </p:cNvSpPr>
                <p:nvPr/>
              </p:nvSpPr>
              <p:spPr bwMode="auto">
                <a:xfrm>
                  <a:off x="487" y="144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730" name="Group 29"/>
              <p:cNvGrpSpPr/>
              <p:nvPr/>
            </p:nvGrpSpPr>
            <p:grpSpPr bwMode="auto">
              <a:xfrm>
                <a:off x="647" y="828"/>
                <a:ext cx="553" cy="623"/>
                <a:chOff x="0" y="0"/>
                <a:chExt cx="553" cy="623"/>
              </a:xfrm>
            </p:grpSpPr>
            <p:grpSp>
              <p:nvGrpSpPr>
                <p:cNvPr id="30731" name="Group 30"/>
                <p:cNvGrpSpPr/>
                <p:nvPr/>
              </p:nvGrpSpPr>
              <p:grpSpPr bwMode="auto">
                <a:xfrm>
                  <a:off x="9" y="396"/>
                  <a:ext cx="544" cy="227"/>
                  <a:chOff x="0" y="0"/>
                  <a:chExt cx="544" cy="227"/>
                </a:xfrm>
              </p:grpSpPr>
              <p:sp>
                <p:nvSpPr>
                  <p:cNvPr id="30737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44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400"/>
                      <a:t> </a:t>
                    </a:r>
                    <a:r>
                      <a:rPr lang="en-US" altLang="zh-CN" sz="2400"/>
                      <a:t>a</a:t>
                    </a:r>
                    <a:r>
                      <a:rPr lang="en-US" altLang="zh-CN" sz="2400" baseline="-25000"/>
                      <a:t>1     </a:t>
                    </a:r>
                    <a:r>
                      <a:rPr lang="en-US" altLang="zh-CN" sz="2400">
                        <a:ea typeface="Arial Unicode MS" panose="020B0604020202020204" pitchFamily="34" charset="-122"/>
                        <a:cs typeface="Arial Unicode MS" panose="020B0604020202020204" pitchFamily="34" charset="-122"/>
                      </a:rPr>
                      <a:t>⋀</a:t>
                    </a:r>
                  </a:p>
                </p:txBody>
              </p:sp>
              <p:sp>
                <p:nvSpPr>
                  <p:cNvPr id="3073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732" name="Group 33"/>
                <p:cNvGrpSpPr/>
                <p:nvPr/>
              </p:nvGrpSpPr>
              <p:grpSpPr bwMode="auto">
                <a:xfrm>
                  <a:off x="0" y="0"/>
                  <a:ext cx="544" cy="384"/>
                  <a:chOff x="0" y="0"/>
                  <a:chExt cx="544" cy="384"/>
                </a:xfrm>
              </p:grpSpPr>
              <p:grpSp>
                <p:nvGrpSpPr>
                  <p:cNvPr id="30733" name="Group 34"/>
                  <p:cNvGrpSpPr/>
                  <p:nvPr/>
                </p:nvGrpSpPr>
                <p:grpSpPr bwMode="auto">
                  <a:xfrm>
                    <a:off x="0" y="0"/>
                    <a:ext cx="544" cy="227"/>
                    <a:chOff x="0" y="0"/>
                    <a:chExt cx="544" cy="227"/>
                  </a:xfrm>
                </p:grpSpPr>
                <p:sp>
                  <p:nvSpPr>
                    <p:cNvPr id="30735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544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 eaLnBrk="0" hangingPunct="0"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2400"/>
                        <a:t> </a:t>
                      </a:r>
                      <a:r>
                        <a:rPr lang="en-US" altLang="zh-CN" sz="2400"/>
                        <a:t>a</a:t>
                      </a:r>
                      <a:r>
                        <a:rPr lang="en-US" altLang="zh-CN" sz="2400" baseline="-25000"/>
                        <a:t>2</a:t>
                      </a:r>
                    </a:p>
                  </p:txBody>
                </p:sp>
                <p:sp>
                  <p:nvSpPr>
                    <p:cNvPr id="30736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84" y="0"/>
                      <a:ext cx="0" cy="22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734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80" y="157"/>
                    <a:ext cx="0" cy="2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链式栈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栈的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链式存储结构</a:t>
            </a:r>
            <a:r>
              <a:rPr lang="zh-CN" altLang="en-US" dirty="0">
                <a:latin typeface="宋体" panose="02010600030101010101" pitchFamily="2" charset="-122"/>
              </a:rPr>
              <a:t>称为链栈，是运算受限的单链表。其插入和删除操作只能在表头</a:t>
            </a:r>
            <a:r>
              <a:rPr lang="en-US" altLang="zh-CN" dirty="0">
                <a:latin typeface="宋体" panose="02010600030101010101" pitchFamily="2" charset="-122"/>
              </a:rPr>
              <a:t>/</a:t>
            </a:r>
            <a:r>
              <a:rPr lang="zh-CN" altLang="en-US" dirty="0">
                <a:latin typeface="宋体" panose="02010600030101010101" pitchFamily="2" charset="-122"/>
              </a:rPr>
              <a:t>栈顶位置上进行。</a:t>
            </a:r>
          </a:p>
          <a:p>
            <a:pPr eaLnBrk="1" hangingPunct="1">
              <a:defRPr/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25602" name="Line 2"/>
          <p:cNvSpPr/>
          <p:nvPr/>
        </p:nvSpPr>
        <p:spPr>
          <a:xfrm>
            <a:off x="35814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3" name="Line 3"/>
          <p:cNvSpPr/>
          <p:nvPr/>
        </p:nvSpPr>
        <p:spPr>
          <a:xfrm>
            <a:off x="3581400" y="28956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Line 4"/>
          <p:cNvSpPr/>
          <p:nvPr/>
        </p:nvSpPr>
        <p:spPr>
          <a:xfrm>
            <a:off x="44196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5" name="Line 5"/>
          <p:cNvSpPr/>
          <p:nvPr/>
        </p:nvSpPr>
        <p:spPr>
          <a:xfrm>
            <a:off x="48768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6"/>
          <p:cNvSpPr/>
          <p:nvPr/>
        </p:nvSpPr>
        <p:spPr>
          <a:xfrm>
            <a:off x="3581400" y="35814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7"/>
          <p:cNvSpPr/>
          <p:nvPr/>
        </p:nvSpPr>
        <p:spPr>
          <a:xfrm>
            <a:off x="90678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8"/>
          <p:cNvSpPr/>
          <p:nvPr/>
        </p:nvSpPr>
        <p:spPr>
          <a:xfrm>
            <a:off x="9067800" y="28956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Line 9"/>
          <p:cNvSpPr/>
          <p:nvPr/>
        </p:nvSpPr>
        <p:spPr>
          <a:xfrm>
            <a:off x="99060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Line 10"/>
          <p:cNvSpPr/>
          <p:nvPr/>
        </p:nvSpPr>
        <p:spPr>
          <a:xfrm>
            <a:off x="103632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1" name="Line 11"/>
          <p:cNvSpPr/>
          <p:nvPr/>
        </p:nvSpPr>
        <p:spPr>
          <a:xfrm>
            <a:off x="9067800" y="35814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2" name="Line 12"/>
          <p:cNvSpPr/>
          <p:nvPr/>
        </p:nvSpPr>
        <p:spPr>
          <a:xfrm>
            <a:off x="54864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3" name="Line 13"/>
          <p:cNvSpPr/>
          <p:nvPr/>
        </p:nvSpPr>
        <p:spPr>
          <a:xfrm>
            <a:off x="5486400" y="28956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4" name="Line 14"/>
          <p:cNvSpPr/>
          <p:nvPr/>
        </p:nvSpPr>
        <p:spPr>
          <a:xfrm>
            <a:off x="63246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5" name="Line 15"/>
          <p:cNvSpPr/>
          <p:nvPr/>
        </p:nvSpPr>
        <p:spPr>
          <a:xfrm>
            <a:off x="6781800" y="28956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6" name="Line 16"/>
          <p:cNvSpPr/>
          <p:nvPr/>
        </p:nvSpPr>
        <p:spPr>
          <a:xfrm>
            <a:off x="5486400" y="35814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7" name="Line 17"/>
          <p:cNvSpPr/>
          <p:nvPr/>
        </p:nvSpPr>
        <p:spPr>
          <a:xfrm>
            <a:off x="2667000" y="3200400"/>
            <a:ext cx="9144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5618" name="Line 18"/>
          <p:cNvSpPr/>
          <p:nvPr/>
        </p:nvSpPr>
        <p:spPr>
          <a:xfrm>
            <a:off x="4876800" y="3200400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5619" name="Line 19"/>
          <p:cNvSpPr/>
          <p:nvPr/>
        </p:nvSpPr>
        <p:spPr>
          <a:xfrm>
            <a:off x="6781800" y="3200400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5620" name="Line 20"/>
          <p:cNvSpPr/>
          <p:nvPr/>
        </p:nvSpPr>
        <p:spPr>
          <a:xfrm>
            <a:off x="8458200" y="3200400"/>
            <a:ext cx="60960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25621" name="Line 21"/>
          <p:cNvSpPr/>
          <p:nvPr/>
        </p:nvSpPr>
        <p:spPr>
          <a:xfrm>
            <a:off x="7543800" y="3200400"/>
            <a:ext cx="762000" cy="0"/>
          </a:xfrm>
          <a:prstGeom prst="line">
            <a:avLst/>
          </a:prstGeom>
          <a:ln w="19050" cap="flat" cmpd="sng">
            <a:solidFill>
              <a:srgbClr val="00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22" name="Text Box 22"/>
          <p:cNvSpPr txBox="1"/>
          <p:nvPr/>
        </p:nvSpPr>
        <p:spPr>
          <a:xfrm>
            <a:off x="1676400" y="2559050"/>
            <a:ext cx="20129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3600" dirty="0">
                <a:ea typeface="楷体_GB2312" pitchFamily="49" charset="-122"/>
              </a:rPr>
              <a:t>栈顶指针</a:t>
            </a:r>
          </a:p>
        </p:txBody>
      </p:sp>
      <p:sp>
        <p:nvSpPr>
          <p:cNvPr id="25624" name="Text Box 25"/>
          <p:cNvSpPr txBox="1"/>
          <p:nvPr/>
        </p:nvSpPr>
        <p:spPr>
          <a:xfrm>
            <a:off x="9829800" y="2895600"/>
            <a:ext cx="533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3600" dirty="0"/>
              <a:t>∧</a:t>
            </a:r>
            <a:endParaRPr lang="zh-CN" altLang="en-US" sz="4000" dirty="0"/>
          </a:p>
        </p:txBody>
      </p:sp>
      <p:sp>
        <p:nvSpPr>
          <p:cNvPr id="25625" name="Text Box 26"/>
          <p:cNvSpPr txBox="1"/>
          <p:nvPr/>
        </p:nvSpPr>
        <p:spPr>
          <a:xfrm>
            <a:off x="9172575" y="2803525"/>
            <a:ext cx="612668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4000" dirty="0"/>
              <a:t>a</a:t>
            </a:r>
            <a:r>
              <a:rPr lang="en-US" altLang="zh-CN" sz="4000" baseline="-25000" dirty="0"/>
              <a:t>1</a:t>
            </a:r>
            <a:endParaRPr lang="en-US" altLang="zh-CN" sz="4000" dirty="0"/>
          </a:p>
        </p:txBody>
      </p:sp>
      <p:sp>
        <p:nvSpPr>
          <p:cNvPr id="25626" name="Text Box 27"/>
          <p:cNvSpPr txBox="1"/>
          <p:nvPr/>
        </p:nvSpPr>
        <p:spPr>
          <a:xfrm>
            <a:off x="3686175" y="2803525"/>
            <a:ext cx="631904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4000" dirty="0"/>
              <a:t>a</a:t>
            </a:r>
            <a:r>
              <a:rPr lang="en-US" altLang="zh-CN" sz="4000" baseline="-25000" dirty="0"/>
              <a:t>n</a:t>
            </a:r>
            <a:endParaRPr lang="en-US" altLang="zh-CN" sz="4000" dirty="0"/>
          </a:p>
        </p:txBody>
      </p:sp>
      <p:sp>
        <p:nvSpPr>
          <p:cNvPr id="104476" name="Comment 28"/>
          <p:cNvSpPr/>
          <p:nvPr/>
        </p:nvSpPr>
        <p:spPr>
          <a:xfrm>
            <a:off x="2286001" y="4724400"/>
            <a:ext cx="3032125" cy="1200150"/>
          </a:xfrm>
          <a:prstGeom prst="rect">
            <a:avLst/>
          </a:prstGeom>
          <a:solidFill>
            <a:srgbClr val="FCFDC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3600" dirty="0">
                <a:solidFill>
                  <a:srgbClr val="800000"/>
                </a:solidFill>
                <a:latin typeface="Arial" panose="020B0604020202020204" pitchFamily="34" charset="0"/>
              </a:rPr>
              <a:t>注意</a:t>
            </a:r>
            <a:r>
              <a:rPr lang="en-US" altLang="zh-CN" sz="3600" dirty="0">
                <a:solidFill>
                  <a:srgbClr val="800000"/>
                </a:solidFill>
                <a:latin typeface="Arial" panose="020B0604020202020204" pitchFamily="34" charset="0"/>
              </a:rPr>
              <a:t>:  </a:t>
            </a:r>
            <a:r>
              <a:rPr lang="zh-CN" altLang="en-US" sz="3600" dirty="0">
                <a:solidFill>
                  <a:srgbClr val="800000"/>
                </a:solidFill>
                <a:latin typeface="Arial" panose="020B0604020202020204" pitchFamily="34" charset="0"/>
              </a:rPr>
              <a:t>链栈中指针的方向</a:t>
            </a:r>
            <a:endParaRPr lang="zh-CN" altLang="en-US" sz="16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104477" name="AutoShape 29"/>
          <p:cNvSpPr/>
          <p:nvPr/>
        </p:nvSpPr>
        <p:spPr>
          <a:xfrm>
            <a:off x="5105400" y="3810000"/>
            <a:ext cx="304800" cy="838200"/>
          </a:xfrm>
          <a:prstGeom prst="upArrow">
            <a:avLst>
              <a:gd name="adj1" fmla="val 50000"/>
              <a:gd name="adj2" fmla="val 68750"/>
            </a:avLst>
          </a:prstGeom>
          <a:solidFill>
            <a:srgbClr val="FFCC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spcBef>
                <a:spcPct val="0"/>
              </a:spcBef>
              <a:buNone/>
            </a:pPr>
            <a:endParaRPr lang="zh-CN" altLang="en-US" sz="4000" dirty="0"/>
          </a:p>
        </p:txBody>
      </p:sp>
      <p:sp>
        <p:nvSpPr>
          <p:cNvPr id="25629" name="Text Box 30"/>
          <p:cNvSpPr txBox="1"/>
          <p:nvPr/>
        </p:nvSpPr>
        <p:spPr>
          <a:xfrm>
            <a:off x="5546726" y="2816225"/>
            <a:ext cx="917239" cy="707886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4000" dirty="0"/>
              <a:t>a</a:t>
            </a:r>
            <a:r>
              <a:rPr lang="en-US" altLang="zh-CN" sz="4000" baseline="-25000" dirty="0"/>
              <a:t>n-1</a:t>
            </a:r>
            <a:endParaRPr lang="en-US" altLang="zh-CN" sz="40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476" grpId="0" animBg="1"/>
      <p:bldP spid="10447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/>
          <p:nvPr/>
        </p:nvSpPr>
        <p:spPr>
          <a:xfrm>
            <a:off x="2819400" y="228600"/>
            <a:ext cx="4773930" cy="101473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>
                <a:solidFill>
                  <a:srgbClr val="9966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栈的应用举例</a:t>
            </a:r>
            <a:endParaRPr lang="zh-CN" altLang="en-US" sz="6000" dirty="0">
              <a:solidFill>
                <a:srgbClr val="0000FF"/>
              </a:solidFill>
            </a:endParaRPr>
          </a:p>
        </p:txBody>
      </p:sp>
      <p:sp>
        <p:nvSpPr>
          <p:cNvPr id="21507" name="Text Box 3">
            <a:hlinkClick r:id="rId2" action="ppaction://hlinksldjump"/>
          </p:cNvPr>
          <p:cNvSpPr txBox="1"/>
          <p:nvPr/>
        </p:nvSpPr>
        <p:spPr>
          <a:xfrm>
            <a:off x="2590800" y="1371600"/>
            <a:ext cx="4268788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400" dirty="0">
                <a:solidFill>
                  <a:srgbClr val="660066"/>
                </a:solidFill>
              </a:rPr>
              <a:t>例一、 数制转换</a:t>
            </a:r>
            <a:endParaRPr lang="zh-CN" altLang="en-US" sz="4400" dirty="0"/>
          </a:p>
        </p:txBody>
      </p:sp>
      <p:sp>
        <p:nvSpPr>
          <p:cNvPr id="21508" name="Text Box 4">
            <a:hlinkClick r:id="rId3" action="ppaction://hlinksldjump"/>
          </p:cNvPr>
          <p:cNvSpPr txBox="1"/>
          <p:nvPr/>
        </p:nvSpPr>
        <p:spPr>
          <a:xfrm>
            <a:off x="2590801" y="2209800"/>
            <a:ext cx="5959475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400" dirty="0">
                <a:solidFill>
                  <a:srgbClr val="660066"/>
                </a:solidFill>
              </a:rPr>
              <a:t>例二、 括号匹配的检验</a:t>
            </a:r>
            <a:endParaRPr lang="zh-CN" altLang="en-US" sz="4400" dirty="0"/>
          </a:p>
        </p:txBody>
      </p:sp>
      <p:sp>
        <p:nvSpPr>
          <p:cNvPr id="21513" name="AutoShape 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829800" y="6248400"/>
            <a:ext cx="5334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eaLnBrk="0" hangingPunct="0">
              <a:defRPr/>
            </a:pPr>
            <a:endParaRPr kumimoji="0" lang="zh-CN" altLang="en-US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Text Box 4">
            <a:hlinkClick r:id="rId3" action="ppaction://hlinksldjump"/>
          </p:cNvPr>
          <p:cNvSpPr txBox="1"/>
          <p:nvPr/>
        </p:nvSpPr>
        <p:spPr>
          <a:xfrm>
            <a:off x="2648905" y="3100070"/>
            <a:ext cx="5843266" cy="769441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 smtClean="0">
                <a:solidFill>
                  <a:srgbClr val="660066"/>
                </a:solidFill>
              </a:rPr>
              <a:t>例三、</a:t>
            </a:r>
            <a:r>
              <a:rPr lang="zh-CN" altLang="zh-CN" sz="4400" dirty="0">
                <a:solidFill>
                  <a:srgbClr val="660066"/>
                </a:solidFill>
              </a:rPr>
              <a:t>栈与递归的实现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08" grpId="0"/>
      <p:bldP spid="21513" grpId="0" bldLvl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D28359-2929-29F0-FC86-31390F26BB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006914-B2BC-FB94-D3AF-475A6E603720}"/>
              </a:ext>
            </a:extLst>
          </p:cNvPr>
          <p:cNvSpPr txBox="1"/>
          <p:nvPr/>
        </p:nvSpPr>
        <p:spPr>
          <a:xfrm>
            <a:off x="213013" y="870814"/>
            <a:ext cx="5455228" cy="1395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67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十进制数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和其他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进制数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一个简单算法基于下列原理：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*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%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（其中：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为整除运算，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为乘法运算，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为求余运算）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427502-CCF5-618C-C8F8-833F2339519C}"/>
              </a:ext>
            </a:extLst>
          </p:cNvPr>
          <p:cNvSpPr txBox="1"/>
          <p:nvPr/>
        </p:nvSpPr>
        <p:spPr>
          <a:xfrm>
            <a:off x="866991" y="232644"/>
            <a:ext cx="3383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797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kern="1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kern="1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kern="1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zh-CN" altLang="zh-CN" sz="2800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Times New Roman" panose="02020603050405020304" pitchFamily="18" charset="0"/>
              </a:rPr>
              <a:t>数制转换</a:t>
            </a:r>
            <a:endParaRPr kumimoji="0" lang="zh-CN" altLang="zh-CN" sz="2800" i="0" u="none" strike="noStrike" kern="10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444DA7-8290-89B2-E6B0-DA6667B036CB}"/>
              </a:ext>
            </a:extLst>
          </p:cNvPr>
          <p:cNvSpPr txBox="1"/>
          <p:nvPr/>
        </p:nvSpPr>
        <p:spPr>
          <a:xfrm>
            <a:off x="5829301" y="776943"/>
            <a:ext cx="6222423" cy="35140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conversion(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unsighed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3.1  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对于非负十进制整数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，打印输出等值的八进制数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=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(6);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建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空栈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(N)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循环中，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不断变小，直至为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Push(S,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N%8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8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除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，余数入栈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N = N/8;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8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除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，商替代原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值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StackEmpty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(S)) 	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循环到栈空为止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("%d", Pop(S));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输出退栈值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("\n");    	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换行，结束</a:t>
            </a:r>
          </a:p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6957E8-6C5C-2AC4-3B16-B612A326D1AD}"/>
              </a:ext>
            </a:extLst>
          </p:cNvPr>
          <p:cNvSpPr txBox="1"/>
          <p:nvPr/>
        </p:nvSpPr>
        <p:spPr>
          <a:xfrm>
            <a:off x="213013" y="4255727"/>
            <a:ext cx="5455228" cy="212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编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程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：对输入的任意非负十进制整数，打印输出等值的八进制数。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上述计算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从低位到高位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顺序产生八进制数的各个数位，打印输出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通常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高位到低位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进行，恰好相反。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若将计算过程中得到的八进制数的各位顺序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进栈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，则按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出栈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序列打印输出的即为对应的八进制数。</a:t>
            </a:r>
            <a:endParaRPr kumimoji="0" lang="zh-CN" alt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87C91D9-2394-4E53-FD3D-94BF05245A1F}"/>
              </a:ext>
            </a:extLst>
          </p:cNvPr>
          <p:cNvCxnSpPr>
            <a:cxnSpLocks/>
          </p:cNvCxnSpPr>
          <p:nvPr/>
        </p:nvCxnSpPr>
        <p:spPr>
          <a:xfrm>
            <a:off x="1293668" y="2961409"/>
            <a:ext cx="0" cy="1179368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A2AFA2F-4376-2E34-4ED8-390C6081A83A}"/>
              </a:ext>
            </a:extLst>
          </p:cNvPr>
          <p:cNvCxnSpPr>
            <a:cxnSpLocks/>
          </p:cNvCxnSpPr>
          <p:nvPr/>
        </p:nvCxnSpPr>
        <p:spPr>
          <a:xfrm flipV="1">
            <a:off x="3629870" y="2961409"/>
            <a:ext cx="0" cy="1179368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93E127-2CCF-2964-FB0E-C9307C6638AB}"/>
              </a:ext>
            </a:extLst>
          </p:cNvPr>
          <p:cNvGrpSpPr/>
          <p:nvPr/>
        </p:nvGrpSpPr>
        <p:grpSpPr>
          <a:xfrm>
            <a:off x="6382535" y="5526505"/>
            <a:ext cx="1287212" cy="1130024"/>
            <a:chOff x="5301644" y="4692550"/>
            <a:chExt cx="1287212" cy="1506801"/>
          </a:xfrm>
        </p:grpSpPr>
        <p:sp>
          <p:nvSpPr>
            <p:cNvPr id="41" name="文本框 81922">
              <a:extLst>
                <a:ext uri="{FF2B5EF4-FFF2-40B4-BE49-F238E27FC236}">
                  <a16:creationId xmlns:a16="http://schemas.microsoft.com/office/drawing/2014/main" id="{3D90F82A-24F8-B29A-4CFE-40DCC3E94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289" y="4692550"/>
              <a:ext cx="723930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50000"/>
                    </a:srgbClr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top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5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文本框 81922">
              <a:extLst>
                <a:ext uri="{FF2B5EF4-FFF2-40B4-BE49-F238E27FC236}">
                  <a16:creationId xmlns:a16="http://schemas.microsoft.com/office/drawing/2014/main" id="{0A1A78CD-A9AE-1B99-8A72-B9E53E899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644" y="5147866"/>
              <a:ext cx="797310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Monotype Sort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base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BEC6815-6F15-4470-CE89-B777C2AD4FCC}"/>
                </a:ext>
              </a:extLst>
            </p:cNvPr>
            <p:cNvSpPr/>
            <p:nvPr/>
          </p:nvSpPr>
          <p:spPr>
            <a:xfrm>
              <a:off x="6074443" y="4767250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B7C56A2A-B205-5745-4A68-DAB94260F7D9}"/>
                </a:ext>
              </a:extLst>
            </p:cNvPr>
            <p:cNvSpPr/>
            <p:nvPr/>
          </p:nvSpPr>
          <p:spPr>
            <a:xfrm>
              <a:off x="6074443" y="52277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B834A9A-3187-42B5-8B7E-1BB8EAFFEEBA}"/>
                </a:ext>
              </a:extLst>
            </p:cNvPr>
            <p:cNvSpPr/>
            <p:nvPr/>
          </p:nvSpPr>
          <p:spPr>
            <a:xfrm>
              <a:off x="6074442" y="5684997"/>
              <a:ext cx="514413" cy="457200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文本框 81922">
              <a:extLst>
                <a:ext uri="{FF2B5EF4-FFF2-40B4-BE49-F238E27FC236}">
                  <a16:creationId xmlns:a16="http://schemas.microsoft.com/office/drawing/2014/main" id="{40819792-017C-6329-03AB-F4F804707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1754" y="5592220"/>
              <a:ext cx="694945" cy="607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Char char="•"/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Char char="–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Monotype Sort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size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6BEA695-65D8-E2A3-F856-58AB16582F9F}"/>
              </a:ext>
            </a:extLst>
          </p:cNvPr>
          <p:cNvCxnSpPr>
            <a:cxnSpLocks/>
          </p:cNvCxnSpPr>
          <p:nvPr/>
        </p:nvCxnSpPr>
        <p:spPr>
          <a:xfrm>
            <a:off x="7433996" y="6091086"/>
            <a:ext cx="687562" cy="476654"/>
          </a:xfrm>
          <a:prstGeom prst="straightConnector1">
            <a:avLst/>
          </a:prstGeom>
          <a:ln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E67A188-8C85-1CBD-72FF-518138A957EB}"/>
              </a:ext>
            </a:extLst>
          </p:cNvPr>
          <p:cNvCxnSpPr>
            <a:cxnSpLocks/>
          </p:cNvCxnSpPr>
          <p:nvPr/>
        </p:nvCxnSpPr>
        <p:spPr>
          <a:xfrm>
            <a:off x="7433996" y="5766889"/>
            <a:ext cx="687562" cy="614826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A01C66D-F45B-AAE4-3544-E06EA7D8B929}"/>
              </a:ext>
            </a:extLst>
          </p:cNvPr>
          <p:cNvCxnSpPr>
            <a:cxnSpLocks/>
          </p:cNvCxnSpPr>
          <p:nvPr/>
        </p:nvCxnSpPr>
        <p:spPr>
          <a:xfrm>
            <a:off x="6808200" y="5371173"/>
            <a:ext cx="371645" cy="219678"/>
          </a:xfrm>
          <a:prstGeom prst="straightConnector1">
            <a:avLst/>
          </a:prstGeom>
          <a:ln>
            <a:solidFill>
              <a:srgbClr val="8E000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81922">
            <a:extLst>
              <a:ext uri="{FF2B5EF4-FFF2-40B4-BE49-F238E27FC236}">
                <a16:creationId xmlns:a16="http://schemas.microsoft.com/office/drawing/2014/main" id="{9A2ED32B-1872-8B35-0098-35CA9EAB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180" y="5042266"/>
            <a:ext cx="472887" cy="45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文本框 26">
            <a:extLst>
              <a:ext uri="{FF2B5EF4-FFF2-40B4-BE49-F238E27FC236}">
                <a16:creationId xmlns:a16="http://schemas.microsoft.com/office/drawing/2014/main" id="{E9B00E1B-E847-7813-0E37-8C1BD49421CB}"/>
              </a:ext>
            </a:extLst>
          </p:cNvPr>
          <p:cNvSpPr txBox="1"/>
          <p:nvPr/>
        </p:nvSpPr>
        <p:spPr>
          <a:xfrm>
            <a:off x="7237861" y="6242165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AA8CCC4-BC72-09AE-E785-B488E5693323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7433996" y="5764758"/>
            <a:ext cx="687566" cy="351828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1C97CFC-9130-9C0F-424C-9F87C62C1521}"/>
              </a:ext>
            </a:extLst>
          </p:cNvPr>
          <p:cNvCxnSpPr>
            <a:cxnSpLocks/>
          </p:cNvCxnSpPr>
          <p:nvPr/>
        </p:nvCxnSpPr>
        <p:spPr>
          <a:xfrm>
            <a:off x="7433996" y="5773633"/>
            <a:ext cx="682780" cy="7288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64100D2-EA80-3F29-C87D-111C6D6E7233}"/>
              </a:ext>
            </a:extLst>
          </p:cNvPr>
          <p:cNvCxnSpPr>
            <a:cxnSpLocks/>
          </p:cNvCxnSpPr>
          <p:nvPr/>
        </p:nvCxnSpPr>
        <p:spPr>
          <a:xfrm flipV="1">
            <a:off x="7433995" y="5421116"/>
            <a:ext cx="703079" cy="350934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80B568C-152B-2C06-8913-27FB7907EEFF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7433993" y="5105693"/>
            <a:ext cx="687565" cy="687045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4377A40-6851-B059-84A5-098CA5F450C1}"/>
              </a:ext>
            </a:extLst>
          </p:cNvPr>
          <p:cNvGrpSpPr/>
          <p:nvPr/>
        </p:nvGrpSpPr>
        <p:grpSpPr>
          <a:xfrm>
            <a:off x="8121557" y="4536266"/>
            <a:ext cx="983109" cy="2137380"/>
            <a:chOff x="8121557" y="4536266"/>
            <a:chExt cx="983109" cy="2137380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1BAD01F-7A50-07C0-4C27-BA50889AFC8D}"/>
                </a:ext>
              </a:extLst>
            </p:cNvPr>
            <p:cNvSpPr/>
            <p:nvPr/>
          </p:nvSpPr>
          <p:spPr>
            <a:xfrm>
              <a:off x="8121560" y="5276578"/>
              <a:ext cx="662481" cy="331442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D854FCE-3E03-48DE-CB85-9256C7E2BE02}"/>
                </a:ext>
              </a:extLst>
            </p:cNvPr>
            <p:cNvSpPr/>
            <p:nvPr/>
          </p:nvSpPr>
          <p:spPr>
            <a:xfrm>
              <a:off x="8121562" y="5604956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229CE8E5-740E-F12E-1D35-A394421761E5}"/>
                </a:ext>
              </a:extLst>
            </p:cNvPr>
            <p:cNvSpPr/>
            <p:nvPr/>
          </p:nvSpPr>
          <p:spPr>
            <a:xfrm>
              <a:off x="8121562" y="5945148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BDC2BD8C-883C-4596-8900-205E0B2DCD25}"/>
                </a:ext>
              </a:extLst>
            </p:cNvPr>
            <p:cNvSpPr/>
            <p:nvPr/>
          </p:nvSpPr>
          <p:spPr>
            <a:xfrm>
              <a:off x="8121561" y="6288024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227F47A-9978-E7A7-E476-53D6D649DB41}"/>
                </a:ext>
              </a:extLst>
            </p:cNvPr>
            <p:cNvSpPr/>
            <p:nvPr/>
          </p:nvSpPr>
          <p:spPr>
            <a:xfrm>
              <a:off x="8121558" y="4934255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文本框 20">
              <a:extLst>
                <a:ext uri="{FF2B5EF4-FFF2-40B4-BE49-F238E27FC236}">
                  <a16:creationId xmlns:a16="http://schemas.microsoft.com/office/drawing/2014/main" id="{F15E74AF-3FB6-236C-93E1-A246EAD7BBB3}"/>
                </a:ext>
              </a:extLst>
            </p:cNvPr>
            <p:cNvSpPr txBox="1"/>
            <p:nvPr/>
          </p:nvSpPr>
          <p:spPr>
            <a:xfrm>
              <a:off x="8804584" y="4536266"/>
              <a:ext cx="300082" cy="2137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5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4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3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2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l" defTabSz="914400" rtl="0" eaLnBrk="1" fontAlgn="auto" latinLnBrk="0" hangingPunct="1">
                <a:lnSpc>
                  <a:spcPts val="2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666B012-791B-4ECC-CBCD-7EB9A1FF8F11}"/>
                </a:ext>
              </a:extLst>
            </p:cNvPr>
            <p:cNvSpPr/>
            <p:nvPr/>
          </p:nvSpPr>
          <p:spPr>
            <a:xfrm>
              <a:off x="8121560" y="4585801"/>
              <a:ext cx="662481" cy="2045099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3B56512-5768-AFAB-1352-E6F907CDD063}"/>
                </a:ext>
              </a:extLst>
            </p:cNvPr>
            <p:cNvSpPr/>
            <p:nvPr/>
          </p:nvSpPr>
          <p:spPr>
            <a:xfrm>
              <a:off x="8121557" y="4590996"/>
              <a:ext cx="662481" cy="342876"/>
            </a:xfrm>
            <a:prstGeom prst="rect">
              <a:avLst/>
            </a:prstGeom>
            <a:solidFill>
              <a:srgbClr val="CCFFFF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8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94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903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92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88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8470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8705" algn="l" defTabSz="121983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2198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1" name="文本框 26">
            <a:extLst>
              <a:ext uri="{FF2B5EF4-FFF2-40B4-BE49-F238E27FC236}">
                <a16:creationId xmlns:a16="http://schemas.microsoft.com/office/drawing/2014/main" id="{1FE29468-5894-A074-23FF-4435F1F8002C}"/>
              </a:ext>
            </a:extLst>
          </p:cNvPr>
          <p:cNvSpPr txBox="1"/>
          <p:nvPr/>
        </p:nvSpPr>
        <p:spPr>
          <a:xfrm>
            <a:off x="9670451" y="554794"/>
            <a:ext cx="8643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1348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8A284B8-3899-A306-06F9-66718BFF7682}"/>
              </a:ext>
            </a:extLst>
          </p:cNvPr>
          <p:cNvCxnSpPr>
            <a:cxnSpLocks/>
          </p:cNvCxnSpPr>
          <p:nvPr/>
        </p:nvCxnSpPr>
        <p:spPr>
          <a:xfrm>
            <a:off x="6286910" y="1795705"/>
            <a:ext cx="3419475" cy="163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58EA29E-7729-9E35-5839-93B2A0AD76B3}"/>
              </a:ext>
            </a:extLst>
          </p:cNvPr>
          <p:cNvCxnSpPr>
            <a:cxnSpLocks/>
          </p:cNvCxnSpPr>
          <p:nvPr/>
        </p:nvCxnSpPr>
        <p:spPr>
          <a:xfrm flipH="1">
            <a:off x="6201386" y="1860072"/>
            <a:ext cx="8049" cy="94313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26">
            <a:extLst>
              <a:ext uri="{FF2B5EF4-FFF2-40B4-BE49-F238E27FC236}">
                <a16:creationId xmlns:a16="http://schemas.microsoft.com/office/drawing/2014/main" id="{CFBB90E5-E946-BA49-A2BA-9410096B00CA}"/>
              </a:ext>
            </a:extLst>
          </p:cNvPr>
          <p:cNvSpPr txBox="1"/>
          <p:nvPr/>
        </p:nvSpPr>
        <p:spPr>
          <a:xfrm>
            <a:off x="7712411" y="2136545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7" name="文本框 26">
            <a:extLst>
              <a:ext uri="{FF2B5EF4-FFF2-40B4-BE49-F238E27FC236}">
                <a16:creationId xmlns:a16="http://schemas.microsoft.com/office/drawing/2014/main" id="{3FEBF8F8-4C67-185D-637C-630177D5BA01}"/>
              </a:ext>
            </a:extLst>
          </p:cNvPr>
          <p:cNvSpPr txBox="1"/>
          <p:nvPr/>
        </p:nvSpPr>
        <p:spPr>
          <a:xfrm>
            <a:off x="7712411" y="2134962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8" name="文本框 26">
            <a:extLst>
              <a:ext uri="{FF2B5EF4-FFF2-40B4-BE49-F238E27FC236}">
                <a16:creationId xmlns:a16="http://schemas.microsoft.com/office/drawing/2014/main" id="{2C1D7717-0B8D-0C75-9388-FA43D23080B3}"/>
              </a:ext>
            </a:extLst>
          </p:cNvPr>
          <p:cNvSpPr txBox="1"/>
          <p:nvPr/>
        </p:nvSpPr>
        <p:spPr>
          <a:xfrm>
            <a:off x="7712411" y="2131054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9" name="文本框 26">
            <a:extLst>
              <a:ext uri="{FF2B5EF4-FFF2-40B4-BE49-F238E27FC236}">
                <a16:creationId xmlns:a16="http://schemas.microsoft.com/office/drawing/2014/main" id="{B1C0BE13-9F4F-529B-0DFF-FDC3674DE773}"/>
              </a:ext>
            </a:extLst>
          </p:cNvPr>
          <p:cNvSpPr txBox="1"/>
          <p:nvPr/>
        </p:nvSpPr>
        <p:spPr>
          <a:xfrm>
            <a:off x="7712411" y="2162634"/>
            <a:ext cx="3545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74B9E4DC-2AE5-AF55-02E2-903AC2BC913B}"/>
              </a:ext>
            </a:extLst>
          </p:cNvPr>
          <p:cNvCxnSpPr>
            <a:cxnSpLocks/>
          </p:cNvCxnSpPr>
          <p:nvPr/>
        </p:nvCxnSpPr>
        <p:spPr>
          <a:xfrm>
            <a:off x="6201386" y="3138928"/>
            <a:ext cx="0" cy="51867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146C788-B332-68B7-42BE-1DD611F10A3E}"/>
              </a:ext>
            </a:extLst>
          </p:cNvPr>
          <p:cNvCxnSpPr>
            <a:cxnSpLocks/>
          </p:cNvCxnSpPr>
          <p:nvPr/>
        </p:nvCxnSpPr>
        <p:spPr>
          <a:xfrm>
            <a:off x="6294704" y="3931873"/>
            <a:ext cx="177229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6594A1C6-2263-C087-E680-B633EA02F084}"/>
              </a:ext>
            </a:extLst>
          </p:cNvPr>
          <p:cNvSpPr txBox="1"/>
          <p:nvPr/>
        </p:nvSpPr>
        <p:spPr>
          <a:xfrm>
            <a:off x="9225913" y="4918010"/>
            <a:ext cx="2354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依次出栈输出各位：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5A9F39C-323A-1C1F-A86F-D8FC7D1597D6}"/>
              </a:ext>
            </a:extLst>
          </p:cNvPr>
          <p:cNvSpPr txBox="1"/>
          <p:nvPr/>
        </p:nvSpPr>
        <p:spPr>
          <a:xfrm>
            <a:off x="213013" y="2197984"/>
            <a:ext cx="4691496" cy="205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1348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2504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800" b="1" i="0" u="none" strike="noStrike" kern="1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，其运算过程如下：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139319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      N / 8     </a:t>
            </a:r>
            <a:r>
              <a:rPr kumimoji="0" lang="en-US" altLang="zh-CN" sz="1800" b="1" i="1" u="none" strike="noStrike" kern="1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% 8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125984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1348       168        4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1326515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168          21        0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139319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21           2         5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1459865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2            0         2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84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07407E-6 L 0.04531 0.60255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30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0"/>
                            </p:stCondLst>
                            <p:childTnLst>
                              <p:par>
                                <p:cTn id="10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04531 0.54931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6" y="27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7037E-7 L 0.04557 0.49838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2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500"/>
                            </p:stCondLst>
                            <p:childTnLst>
                              <p:par>
                                <p:cTn id="160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000"/>
                            </p:stCondLst>
                            <p:childTnLst>
                              <p:par>
                                <p:cTn id="1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4000"/>
                            </p:stCondLst>
                            <p:childTnLst>
                              <p:par>
                                <p:cTn id="16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7.40741E-7 L 0.04635 0.44699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8" y="2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500"/>
                            </p:stCondLst>
                            <p:childTnLst>
                              <p:par>
                                <p:cTn id="18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500"/>
                            </p:stCondLst>
                            <p:childTnLst>
                              <p:par>
                                <p:cTn id="216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500"/>
                            </p:stCondLst>
                            <p:childTnLst>
                              <p:par>
                                <p:cTn id="219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35 0.44699 L 0.17617 0.45903 " pathEditMode="relative" rAng="0" ptsTypes="AA">
                                      <p:cBhvr>
                                        <p:cTn id="22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84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1500"/>
                            </p:stCondLst>
                            <p:childTnLst>
                              <p:par>
                                <p:cTn id="238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500"/>
                            </p:stCondLst>
                            <p:childTnLst>
                              <p:par>
                                <p:cTn id="241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57 0.49838 L 0.20599 0.46204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-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4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500"/>
                            </p:stCondLst>
                            <p:childTnLst>
                              <p:par>
                                <p:cTn id="260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500"/>
                            </p:stCondLst>
                            <p:childTnLst>
                              <p:par>
                                <p:cTn id="263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31 0.54931 L 0.23033 0.46158 " pathEditMode="relative" rAng="0" ptsTypes="AA">
                                      <p:cBhvr>
                                        <p:cTn id="26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45" y="-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00"/>
                            </p:stCondLst>
                            <p:childTnLst>
                              <p:par>
                                <p:cTn id="2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2" presetID="8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000"/>
                            </p:stCondLst>
                            <p:childTnLst>
                              <p:par>
                                <p:cTn id="285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31 0.60255 L 0.25664 0.4625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8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500"/>
                            </p:stCondLst>
                            <p:childTnLst>
                              <p:par>
                                <p:cTn id="2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uiExpand="1" build="p"/>
      <p:bldP spid="23" grpId="0"/>
      <p:bldP spid="24" grpId="0"/>
      <p:bldP spid="51" grpId="0"/>
      <p:bldP spid="56" grpId="0"/>
      <p:bldP spid="56" grpId="1"/>
      <p:bldP spid="56" grpId="2"/>
      <p:bldP spid="56" grpId="3"/>
      <p:bldP spid="57" grpId="0"/>
      <p:bldP spid="57" grpId="1"/>
      <p:bldP spid="57" grpId="2"/>
      <p:bldP spid="57" grpId="3"/>
      <p:bldP spid="58" grpId="0"/>
      <p:bldP spid="58" grpId="1"/>
      <p:bldP spid="58" grpId="2"/>
      <p:bldP spid="58" grpId="3"/>
      <p:bldP spid="59" grpId="0"/>
      <p:bldP spid="59" grpId="1"/>
      <p:bldP spid="59" grpId="2"/>
      <p:bldP spid="59" grpId="3"/>
      <p:bldP spid="64" grpId="0"/>
      <p:bldP spid="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/>
          <p:nvPr/>
        </p:nvSpPr>
        <p:spPr>
          <a:xfrm>
            <a:off x="623392" y="228601"/>
            <a:ext cx="10657184" cy="32289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rgbClr val="3B0099"/>
                </a:solidFill>
              </a:rPr>
              <a:t>例二、 括号匹配的检验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假设在表达式中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（［］（））或［（［ ］［ ］）］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等为正确的格式，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［（ ］）或（［（ ））或 （（）］</a:t>
            </a:r>
            <a:r>
              <a:rPr lang="en-US" altLang="zh-CN" dirty="0">
                <a:solidFill>
                  <a:srgbClr val="3B0099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均为不正确的格式。</a:t>
            </a:r>
          </a:p>
        </p:txBody>
      </p:sp>
      <p:sp>
        <p:nvSpPr>
          <p:cNvPr id="31747" name="矩形 3"/>
          <p:cNvSpPr/>
          <p:nvPr/>
        </p:nvSpPr>
        <p:spPr>
          <a:xfrm>
            <a:off x="623392" y="4465320"/>
            <a:ext cx="10225583" cy="21183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则 检验括号是否匹配的方法可用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B0099"/>
                </a:solidFill>
              </a:rPr>
              <a:t>“期待的急迫程度”这个概念来描述。</a:t>
            </a:r>
          </a:p>
        </p:txBody>
      </p:sp>
    </p:spTree>
    <p:extLst>
      <p:ext uri="{BB962C8B-B14F-4D97-AF65-F5344CB8AC3E}">
        <p14:creationId xmlns:p14="http://schemas.microsoft.com/office/powerpoint/2010/main" val="1183977153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0" y="2133600"/>
            <a:ext cx="77724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分析可能出现的</a:t>
            </a:r>
            <a:r>
              <a:rPr lang="zh-CN" altLang="en-US" b="1" dirty="0">
                <a:solidFill>
                  <a:srgbClr val="A50021"/>
                </a:solidFill>
              </a:rPr>
              <a:t>不匹配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的情况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idx="4294967295"/>
          </p:nvPr>
        </p:nvSpPr>
        <p:spPr>
          <a:xfrm>
            <a:off x="1271464" y="3276600"/>
            <a:ext cx="10920536" cy="6096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eaLnBrk="1" hangingPunct="1"/>
            <a:r>
              <a:rPr lang="zh-CN" altLang="en-US" sz="4000" dirty="0">
                <a:ea typeface="楷体_GB2312" pitchFamily="49" charset="-122"/>
              </a:rPr>
              <a:t>到来的右括弧</a:t>
            </a:r>
            <a:r>
              <a:rPr lang="zh-CN" altLang="en-US" sz="4000" dirty="0">
                <a:solidFill>
                  <a:srgbClr val="FF0000"/>
                </a:solidFill>
                <a:ea typeface="楷体_GB2312" pitchFamily="49" charset="-122"/>
              </a:rPr>
              <a:t>并非是所“期待”</a:t>
            </a:r>
            <a:r>
              <a:rPr lang="zh-CN" altLang="en-US" sz="4000" dirty="0">
                <a:ea typeface="楷体_GB2312" pitchFamily="49" charset="-122"/>
              </a:rPr>
              <a:t>的；</a:t>
            </a:r>
          </a:p>
        </p:txBody>
      </p:sp>
      <p:sp>
        <p:nvSpPr>
          <p:cNvPr id="32772" name="Text Box 4"/>
          <p:cNvSpPr txBox="1"/>
          <p:nvPr/>
        </p:nvSpPr>
        <p:spPr>
          <a:xfrm>
            <a:off x="2286000" y="228600"/>
            <a:ext cx="6309360" cy="19380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4000" kern="0" dirty="0">
                <a:solidFill>
                  <a:srgbClr val="000099"/>
                </a:solidFill>
                <a:latin typeface="+mn-lt"/>
              </a:rPr>
              <a:t>例如：考虑下列括号序列：</a:t>
            </a:r>
          </a:p>
          <a:p>
            <a:r>
              <a:rPr lang="zh-CN" altLang="en-US" sz="4000" kern="0" dirty="0">
                <a:solidFill>
                  <a:srgbClr val="000099"/>
                </a:solidFill>
                <a:latin typeface="+mn-lt"/>
              </a:rPr>
              <a:t>             [  (   [   ]  [   ]   )  ]</a:t>
            </a:r>
          </a:p>
          <a:p>
            <a:r>
              <a:rPr lang="zh-CN" altLang="en-US" sz="4000" kern="0" dirty="0">
                <a:solidFill>
                  <a:srgbClr val="000099"/>
                </a:solidFill>
                <a:latin typeface="+mn-lt"/>
              </a:rPr>
              <a:t>             1  2  3 4  5  6  7  8</a:t>
            </a:r>
          </a:p>
        </p:txBody>
      </p:sp>
      <p:sp>
        <p:nvSpPr>
          <p:cNvPr id="26629" name="Rectangle 5"/>
          <p:cNvSpPr/>
          <p:nvPr/>
        </p:nvSpPr>
        <p:spPr>
          <a:xfrm>
            <a:off x="1271464" y="4114800"/>
            <a:ext cx="8786936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4000" b="0" dirty="0">
                <a:solidFill>
                  <a:schemeClr val="tx1"/>
                </a:solidFill>
                <a:latin typeface="+mn-lt"/>
              </a:rPr>
              <a:t>到来的是</a:t>
            </a:r>
            <a:r>
              <a:rPr lang="zh-CN" altLang="en-US" sz="4000" dirty="0">
                <a:solidFill>
                  <a:schemeClr val="tx1"/>
                </a:solidFill>
                <a:latin typeface="+mn-lt"/>
              </a:rPr>
              <a:t>“</a:t>
            </a:r>
            <a:r>
              <a:rPr lang="zh-CN" altLang="en-US" sz="4000" b="0" dirty="0">
                <a:solidFill>
                  <a:srgbClr val="FF0000"/>
                </a:solidFill>
                <a:latin typeface="+mn-lt"/>
              </a:rPr>
              <a:t>不速之客</a:t>
            </a:r>
            <a:r>
              <a:rPr lang="zh-CN" altLang="en-US" sz="4000" dirty="0">
                <a:solidFill>
                  <a:schemeClr val="tx1"/>
                </a:solidFill>
                <a:latin typeface="+mn-lt"/>
              </a:rPr>
              <a:t>”；</a:t>
            </a:r>
          </a:p>
        </p:txBody>
      </p:sp>
      <p:sp>
        <p:nvSpPr>
          <p:cNvPr id="26630" name="Rectangle 6"/>
          <p:cNvSpPr/>
          <p:nvPr/>
        </p:nvSpPr>
        <p:spPr>
          <a:xfrm>
            <a:off x="1271464" y="4876800"/>
            <a:ext cx="9937104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altLang="en-US" sz="4000" b="0" dirty="0">
                <a:solidFill>
                  <a:schemeClr val="tx1"/>
                </a:solidFill>
                <a:latin typeface="+mn-lt"/>
              </a:rPr>
              <a:t>直到结束，也没有到来所</a:t>
            </a:r>
            <a:r>
              <a:rPr lang="zh-CN" altLang="en-US" sz="4000" b="0" dirty="0">
                <a:solidFill>
                  <a:srgbClr val="FF0000"/>
                </a:solidFill>
                <a:latin typeface="+mn-lt"/>
              </a:rPr>
              <a:t>“期待”</a:t>
            </a:r>
            <a:r>
              <a:rPr lang="zh-CN" altLang="en-US" sz="4000" b="0" dirty="0">
                <a:solidFill>
                  <a:schemeClr val="tx1"/>
                </a:solidFill>
                <a:latin typeface="+mn-lt"/>
              </a:rPr>
              <a:t>的括弧。</a:t>
            </a:r>
          </a:p>
        </p:txBody>
      </p:sp>
    </p:spTree>
    <p:extLst>
      <p:ext uri="{BB962C8B-B14F-4D97-AF65-F5344CB8AC3E}">
        <p14:creationId xmlns:p14="http://schemas.microsoft.com/office/powerpoint/2010/main" val="976240791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  <p:bldP spid="26629" grpId="0" build="p"/>
      <p:bldP spid="2663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1752600" y="76200"/>
            <a:ext cx="89154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算法的设计思想：</a:t>
            </a:r>
            <a:endParaRPr lang="zh-CN" altLang="en-US" dirty="0">
              <a:solidFill>
                <a:srgbClr val="A50021"/>
              </a:solidFill>
              <a:latin typeface="楷体_GB2312" pitchFamily="49" charset="-122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839416" y="882650"/>
            <a:ext cx="6888535" cy="641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A50021"/>
                </a:solidFill>
              </a:rPr>
              <a:t>1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）凡出现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左括弧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，则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进栈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；</a:t>
            </a:r>
            <a:endParaRPr lang="zh-CN" altLang="en-US" dirty="0">
              <a:solidFill>
                <a:srgbClr val="A50021"/>
              </a:solidFill>
              <a:latin typeface="楷体_GB2312" pitchFamily="49" charset="-122"/>
            </a:endParaRPr>
          </a:p>
        </p:txBody>
      </p:sp>
      <p:sp>
        <p:nvSpPr>
          <p:cNvPr id="27652" name="Text Box 4"/>
          <p:cNvSpPr txBox="1"/>
          <p:nvPr/>
        </p:nvSpPr>
        <p:spPr>
          <a:xfrm>
            <a:off x="839416" y="1555751"/>
            <a:ext cx="9006259" cy="31162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</a:rPr>
              <a:t>2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）凡出现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右括弧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，首先检查栈是否空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若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栈空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，则表明该</a:t>
            </a:r>
            <a:r>
              <a:rPr lang="zh-CN" altLang="en-US" sz="3600" dirty="0">
                <a:solidFill>
                  <a:srgbClr val="660033"/>
                </a:solidFill>
              </a:rPr>
              <a:t>“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右括弧</a:t>
            </a:r>
            <a:r>
              <a:rPr lang="zh-CN" altLang="en-US" sz="3600" dirty="0">
                <a:solidFill>
                  <a:srgbClr val="660033"/>
                </a:solidFill>
              </a:rPr>
              <a:t>”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多余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否则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和栈顶元素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比较，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    若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相匹配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，则</a:t>
            </a:r>
            <a:r>
              <a:rPr lang="zh-CN" altLang="en-US" sz="3600" dirty="0">
                <a:solidFill>
                  <a:srgbClr val="660033"/>
                </a:solidFill>
              </a:rPr>
              <a:t>“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左括弧出栈</a:t>
            </a:r>
            <a:r>
              <a:rPr lang="zh-CN" altLang="en-US" sz="3600" dirty="0">
                <a:solidFill>
                  <a:srgbClr val="660033"/>
                </a:solidFill>
              </a:rPr>
              <a:t>”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 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    否则表明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不匹配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27653" name="Text Box 5"/>
          <p:cNvSpPr txBox="1"/>
          <p:nvPr/>
        </p:nvSpPr>
        <p:spPr>
          <a:xfrm>
            <a:off x="767408" y="4648200"/>
            <a:ext cx="9214792" cy="19065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</a:rPr>
              <a:t>3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）表达式检验结束时，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若栈空，则表明表达式中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匹配正确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，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   否则表明</a:t>
            </a:r>
            <a:r>
              <a:rPr lang="zh-CN" altLang="en-US" sz="3600" dirty="0">
                <a:solidFill>
                  <a:srgbClr val="660033"/>
                </a:solidFill>
              </a:rPr>
              <a:t>“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左括弧</a:t>
            </a:r>
            <a:r>
              <a:rPr lang="zh-CN" altLang="en-US" sz="3600" dirty="0">
                <a:solidFill>
                  <a:srgbClr val="660033"/>
                </a:solidFill>
              </a:rPr>
              <a:t>”</a:t>
            </a:r>
            <a:r>
              <a:rPr lang="zh-CN" altLang="en-US" sz="3600" dirty="0">
                <a:solidFill>
                  <a:srgbClr val="660033"/>
                </a:solidFill>
                <a:latin typeface="楷体_GB2312" pitchFamily="49" charset="-122"/>
              </a:rPr>
              <a:t>有余</a:t>
            </a:r>
            <a:r>
              <a:rPr lang="zh-CN" altLang="en-US" sz="3600" dirty="0">
                <a:solidFill>
                  <a:srgbClr val="A50021"/>
                </a:solidFill>
                <a:latin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1623361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2" grpId="0"/>
      <p:bldP spid="276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407368" y="22225"/>
            <a:ext cx="11784632" cy="6553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Status matching(</a:t>
            </a:r>
            <a:r>
              <a:rPr lang="en-US" altLang="zh-CN" sz="3200" dirty="0">
                <a:solidFill>
                  <a:srgbClr val="3B0099"/>
                </a:solidFill>
              </a:rPr>
              <a:t>char []</a:t>
            </a:r>
            <a:r>
              <a:rPr lang="zh-CN" altLang="en-US" sz="3200" dirty="0">
                <a:solidFill>
                  <a:srgbClr val="3B0099"/>
                </a:solidFill>
              </a:rPr>
              <a:t>exp</a:t>
            </a:r>
            <a:r>
              <a:rPr lang="en-US" altLang="zh-CN" sz="3200" dirty="0">
                <a:solidFill>
                  <a:srgbClr val="3B0099"/>
                </a:solidFill>
              </a:rPr>
              <a:t>,int </a:t>
            </a:r>
            <a:r>
              <a:rPr lang="en-US" altLang="zh-CN" sz="3200" dirty="0" err="1">
                <a:solidFill>
                  <a:srgbClr val="3B0099"/>
                </a:solidFill>
              </a:rPr>
              <a:t>len</a:t>
            </a:r>
            <a:r>
              <a:rPr lang="zh-CN" altLang="en-US" sz="3200" dirty="0">
                <a:solidFill>
                  <a:srgbClr val="3B0099"/>
                </a:solidFill>
              </a:rPr>
              <a:t>) {  </a:t>
            </a:r>
            <a:r>
              <a:rPr lang="en-US" altLang="zh-CN" sz="3200" dirty="0">
                <a:solidFill>
                  <a:srgbClr val="3B0099"/>
                </a:solidFill>
              </a:rPr>
              <a:t>//</a:t>
            </a:r>
            <a:r>
              <a:rPr lang="zh-CN" altLang="en-US" sz="3200" dirty="0">
                <a:solidFill>
                  <a:srgbClr val="3B0099"/>
                </a:solidFill>
              </a:rPr>
              <a:t>表达式是长度为</a:t>
            </a:r>
            <a:r>
              <a:rPr lang="en-US" altLang="zh-CN" sz="3200" dirty="0">
                <a:solidFill>
                  <a:srgbClr val="3B0099"/>
                </a:solidFill>
              </a:rPr>
              <a:t>n</a:t>
            </a:r>
            <a:r>
              <a:rPr lang="zh-CN" altLang="en-US" sz="3200" dirty="0">
                <a:solidFill>
                  <a:srgbClr val="3B0099"/>
                </a:solidFill>
              </a:rPr>
              <a:t>的字符串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int state = 1</a:t>
            </a:r>
            <a:r>
              <a:rPr lang="en-US" altLang="zh-CN" sz="3200" dirty="0">
                <a:solidFill>
                  <a:srgbClr val="3B0099"/>
                </a:solidFill>
              </a:rPr>
              <a:t>,</a:t>
            </a:r>
            <a:r>
              <a:rPr lang="zh-CN" altLang="en-US" sz="3200" dirty="0">
                <a:solidFill>
                  <a:srgbClr val="3B0099"/>
                </a:solidFill>
              </a:rPr>
              <a:t> </a:t>
            </a:r>
            <a:r>
              <a:rPr lang="en-US" altLang="zh-CN" sz="3200" dirty="0" err="1">
                <a:solidFill>
                  <a:srgbClr val="3B0099"/>
                </a:solidFill>
              </a:rPr>
              <a:t>i</a:t>
            </a:r>
            <a:r>
              <a:rPr lang="en-US" altLang="zh-CN" sz="3200" dirty="0">
                <a:solidFill>
                  <a:srgbClr val="3B0099"/>
                </a:solidFill>
              </a:rPr>
              <a:t>=1;</a:t>
            </a:r>
            <a:endParaRPr lang="zh-CN" altLang="en-US" sz="3200" dirty="0">
              <a:solidFill>
                <a:srgbClr val="3B0099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while (i&lt;=</a:t>
            </a:r>
            <a:r>
              <a:rPr lang="en-US" altLang="zh-CN" sz="3200" dirty="0">
                <a:solidFill>
                  <a:srgbClr val="3B0099"/>
                </a:solidFill>
              </a:rPr>
              <a:t>n</a:t>
            </a:r>
            <a:r>
              <a:rPr lang="zh-CN" altLang="en-US" sz="3200" dirty="0">
                <a:solidFill>
                  <a:srgbClr val="3B0099"/>
                </a:solidFill>
              </a:rPr>
              <a:t> &amp;&amp; state) {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switch of exp[i] {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case 左括弧:{Push(S,exp[i]); i++; break;}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case”)”: {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   if(NOT StackEmpty(S)&amp;&amp;GetTop(S)=“(“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     {Pop(S,e);  i++;}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   else {state = 0;}          </a:t>
            </a:r>
            <a:r>
              <a:rPr lang="en-US" altLang="zh-CN" sz="3200" dirty="0">
                <a:solidFill>
                  <a:srgbClr val="3B0099"/>
                </a:solidFill>
              </a:rPr>
              <a:t>#</a:t>
            </a:r>
            <a:r>
              <a:rPr lang="zh-CN" altLang="en-US" sz="3200" dirty="0">
                <a:solidFill>
                  <a:srgbClr val="FF0000"/>
                </a:solidFill>
              </a:rPr>
              <a:t>已经匹配失败了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        break;  }   … …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}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200" dirty="0">
                <a:solidFill>
                  <a:srgbClr val="3B0099"/>
                </a:solidFill>
              </a:rPr>
              <a:t>  if (StackEmpty(S)&amp;&amp;state) return OK; …...</a:t>
            </a:r>
          </a:p>
        </p:txBody>
      </p:sp>
      <p:sp>
        <p:nvSpPr>
          <p:cNvPr id="28675" name="AutoShape 3">
            <a:hlinkClick r:id="rId2" action="ppaction://hlinksldjump"/>
          </p:cNvPr>
          <p:cNvSpPr/>
          <p:nvPr/>
        </p:nvSpPr>
        <p:spPr>
          <a:xfrm>
            <a:off x="10058400" y="6248400"/>
            <a:ext cx="381000" cy="381000"/>
          </a:xfrm>
          <a:prstGeom prst="actionButtonBackPrevious">
            <a:avLst/>
          </a:prstGeom>
          <a:solidFill>
            <a:srgbClr val="0099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7897158"/>
      </p:ext>
    </p:extLst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12152F-FAA6-B0E3-8C15-544A3EFFF8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44396" y="638752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53DE65-BBE7-E726-523A-DD8BE71022C1}"/>
              </a:ext>
            </a:extLst>
          </p:cNvPr>
          <p:cNvSpPr txBox="1"/>
          <p:nvPr/>
        </p:nvSpPr>
        <p:spPr>
          <a:xfrm>
            <a:off x="193370" y="787538"/>
            <a:ext cx="4789073" cy="2185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2667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栈最重要的应用之一是在程序设计语言中辅助实现函数调用，特别是</a:t>
            </a:r>
            <a:r>
              <a:rPr kumimoji="0" lang="zh-CN" altLang="zh-CN" sz="240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递归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调用。一个直接调用自己或通过一系列调用语句间接地调用自己的函数，称做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递归函数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C10DC3-F623-99CD-167E-A9D09EF3D328}"/>
              </a:ext>
            </a:extLst>
          </p:cNvPr>
          <p:cNvSpPr txBox="1"/>
          <p:nvPr/>
        </p:nvSpPr>
        <p:spPr>
          <a:xfrm>
            <a:off x="1345623" y="230971"/>
            <a:ext cx="3636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栈与递归的实现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3932B5D-D6FB-5BF3-CE4C-FD13B388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242" y="723593"/>
            <a:ext cx="7085722" cy="2505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Hanoi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塔问题）先陈述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阶的情形：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假设有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个分别命名为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的塔柱，在塔柱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上插有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个直径大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小各不相同、依小到大编号为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1,2,….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的带孔圆盘。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要求将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柱上的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个圆盘移至塔柱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上并仍按同样顺序叠放，圆盘移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动时必须遵循下列规则：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）每次只能移动塔柱顶上的一个圆盘；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）圆盘可以插在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中的任一塔柱上；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楷体" panose="02010609060101010101" pitchFamily="49" charset="-122"/>
                <a:cs typeface="Times New Roman" panose="02020603050405020304" pitchFamily="18" charset="0"/>
              </a:rPr>
              <a:t>）任何时刻都不能将一个较大的圆盘压在较小的的圆盘之上。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接连接符 6">
            <a:extLst>
              <a:ext uri="{FF2B5EF4-FFF2-40B4-BE49-F238E27FC236}">
                <a16:creationId xmlns:a16="http://schemas.microsoft.com/office/drawing/2014/main" id="{7BCFEF91-AACD-CBB9-4D18-32F960947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374" y="6322436"/>
            <a:ext cx="7089775" cy="1587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直接连接符 10">
            <a:extLst>
              <a:ext uri="{FF2B5EF4-FFF2-40B4-BE49-F238E27FC236}">
                <a16:creationId xmlns:a16="http://schemas.microsoft.com/office/drawing/2014/main" id="{2EF5BF4B-6676-3620-ABF1-75C263D720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3173" y="4031671"/>
            <a:ext cx="8786" cy="22907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接连接符 11">
            <a:extLst>
              <a:ext uri="{FF2B5EF4-FFF2-40B4-BE49-F238E27FC236}">
                <a16:creationId xmlns:a16="http://schemas.microsoft.com/office/drawing/2014/main" id="{AEAE9D9F-3795-FFD1-407A-79FBE76E3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6685" y="4031671"/>
            <a:ext cx="2026" cy="22907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接连接符 12">
            <a:extLst>
              <a:ext uri="{FF2B5EF4-FFF2-40B4-BE49-F238E27FC236}">
                <a16:creationId xmlns:a16="http://schemas.microsoft.com/office/drawing/2014/main" id="{ECB8FC9C-E5DD-5EA2-AF1D-554B0A8A1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775372" y="4031671"/>
            <a:ext cx="13795" cy="22907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组合 3">
            <a:extLst>
              <a:ext uri="{FF2B5EF4-FFF2-40B4-BE49-F238E27FC236}">
                <a16:creationId xmlns:a16="http://schemas.microsoft.com/office/drawing/2014/main" id="{EA8B72F3-90EC-71A2-8047-EF3829FABFD0}"/>
              </a:ext>
            </a:extLst>
          </p:cNvPr>
          <p:cNvGrpSpPr/>
          <p:nvPr/>
        </p:nvGrpSpPr>
        <p:grpSpPr bwMode="auto">
          <a:xfrm>
            <a:off x="5490586" y="4809548"/>
            <a:ext cx="747712" cy="523875"/>
            <a:chOff x="0" y="0"/>
            <a:chExt cx="995680" cy="525461"/>
          </a:xfrm>
        </p:grpSpPr>
        <p:sp>
          <p:nvSpPr>
            <p:cNvPr id="18" name="矩形 19">
              <a:extLst>
                <a:ext uri="{FF2B5EF4-FFF2-40B4-BE49-F238E27FC236}">
                  <a16:creationId xmlns:a16="http://schemas.microsoft.com/office/drawing/2014/main" id="{328BB263-601D-0793-2D74-39BAB579A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995680" cy="498055"/>
            </a:xfrm>
            <a:prstGeom prst="rect">
              <a:avLst/>
            </a:prstGeom>
            <a:gradFill flip="none" rotWithShape="1">
              <a:gsLst>
                <a:gs pos="0">
                  <a:srgbClr val="CC9900">
                    <a:shade val="30000"/>
                    <a:satMod val="115000"/>
                  </a:srgbClr>
                </a:gs>
                <a:gs pos="50000">
                  <a:srgbClr val="CC9900">
                    <a:shade val="67500"/>
                    <a:satMod val="115000"/>
                  </a:srgbClr>
                </a:gs>
                <a:gs pos="100000">
                  <a:srgbClr val="CC99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9" name="文本框 21">
              <a:extLst>
                <a:ext uri="{FF2B5EF4-FFF2-40B4-BE49-F238E27FC236}">
                  <a16:creationId xmlns:a16="http://schemas.microsoft.com/office/drawing/2014/main" id="{B4071A88-5D9D-AA8E-8D13-EE41860AE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99" y="63796"/>
              <a:ext cx="275492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20" name="组合 4">
            <a:extLst>
              <a:ext uri="{FF2B5EF4-FFF2-40B4-BE49-F238E27FC236}">
                <a16:creationId xmlns:a16="http://schemas.microsoft.com/office/drawing/2014/main" id="{0DFF6981-89C5-60F5-2F00-FF10E95CCEDF}"/>
              </a:ext>
            </a:extLst>
          </p:cNvPr>
          <p:cNvGrpSpPr/>
          <p:nvPr/>
        </p:nvGrpSpPr>
        <p:grpSpPr bwMode="auto">
          <a:xfrm>
            <a:off x="5261987" y="5327072"/>
            <a:ext cx="1189037" cy="546100"/>
            <a:chOff x="0" y="0"/>
            <a:chExt cx="1584960" cy="546774"/>
          </a:xfrm>
        </p:grpSpPr>
        <p:sp>
          <p:nvSpPr>
            <p:cNvPr id="21" name="矩形 18">
              <a:extLst>
                <a:ext uri="{FF2B5EF4-FFF2-40B4-BE49-F238E27FC236}">
                  <a16:creationId xmlns:a16="http://schemas.microsoft.com/office/drawing/2014/main" id="{3C5A990C-BF9D-D630-0CD6-DDA3BE79C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584960" cy="498055"/>
            </a:xfrm>
            <a:prstGeom prst="rect">
              <a:avLst/>
            </a:prstGeom>
            <a:gradFill flip="none" rotWithShape="1">
              <a:gsLst>
                <a:gs pos="0">
                  <a:srgbClr val="CC9900">
                    <a:shade val="30000"/>
                    <a:satMod val="115000"/>
                  </a:srgbClr>
                </a:gs>
                <a:gs pos="50000">
                  <a:srgbClr val="CC9900">
                    <a:shade val="67500"/>
                    <a:satMod val="115000"/>
                  </a:srgbClr>
                </a:gs>
                <a:gs pos="100000">
                  <a:srgbClr val="CC99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文本框 22">
              <a:extLst>
                <a:ext uri="{FF2B5EF4-FFF2-40B4-BE49-F238E27FC236}">
                  <a16:creationId xmlns:a16="http://schemas.microsoft.com/office/drawing/2014/main" id="{6CDE2FA1-305B-0BB2-9396-2AF3BF564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59" y="85109"/>
              <a:ext cx="275492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23" name="组合 5">
            <a:extLst>
              <a:ext uri="{FF2B5EF4-FFF2-40B4-BE49-F238E27FC236}">
                <a16:creationId xmlns:a16="http://schemas.microsoft.com/office/drawing/2014/main" id="{C43C33D3-DC28-0B73-C727-662FC2482238}"/>
              </a:ext>
            </a:extLst>
          </p:cNvPr>
          <p:cNvGrpSpPr/>
          <p:nvPr/>
        </p:nvGrpSpPr>
        <p:grpSpPr bwMode="auto">
          <a:xfrm>
            <a:off x="5019099" y="5823961"/>
            <a:ext cx="1706563" cy="858837"/>
            <a:chOff x="0" y="0"/>
            <a:chExt cx="2275840" cy="858101"/>
          </a:xfrm>
        </p:grpSpPr>
        <p:sp>
          <p:nvSpPr>
            <p:cNvPr id="24" name="矩形 17">
              <a:extLst>
                <a:ext uri="{FF2B5EF4-FFF2-40B4-BE49-F238E27FC236}">
                  <a16:creationId xmlns:a16="http://schemas.microsoft.com/office/drawing/2014/main" id="{195C2CEA-928C-D34E-5F76-4B5C79A81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275840" cy="498055"/>
            </a:xfrm>
            <a:prstGeom prst="rect">
              <a:avLst/>
            </a:prstGeom>
            <a:gradFill flip="none" rotWithShape="1">
              <a:gsLst>
                <a:gs pos="0">
                  <a:srgbClr val="CC9900">
                    <a:shade val="30000"/>
                    <a:satMod val="115000"/>
                  </a:srgbClr>
                </a:gs>
                <a:gs pos="50000">
                  <a:srgbClr val="CC9900">
                    <a:shade val="67500"/>
                    <a:satMod val="115000"/>
                  </a:srgbClr>
                </a:gs>
                <a:gs pos="100000">
                  <a:srgbClr val="CC99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文本框 23">
              <a:extLst>
                <a:ext uri="{FF2B5EF4-FFF2-40B4-BE49-F238E27FC236}">
                  <a16:creationId xmlns:a16="http://schemas.microsoft.com/office/drawing/2014/main" id="{ADAEE87A-EA92-6E8B-6EEA-5C17AE138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01" y="27104"/>
              <a:ext cx="275492" cy="8309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3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26" name="文本框 20">
            <a:extLst>
              <a:ext uri="{FF2B5EF4-FFF2-40B4-BE49-F238E27FC236}">
                <a16:creationId xmlns:a16="http://schemas.microsoft.com/office/drawing/2014/main" id="{5C475A07-044C-E9B4-161A-306ABD7C7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524" y="6345681"/>
            <a:ext cx="37061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A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66689ED0-88C9-2A87-10CA-C9AB204B7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4044" y="6345681"/>
            <a:ext cx="3481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C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EF25822-D659-BB8C-CD9C-C5F432D8E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5150" y="6345681"/>
            <a:ext cx="35779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B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8F29997-DBF4-161E-E14E-CEB041009ACD}"/>
              </a:ext>
            </a:extLst>
          </p:cNvPr>
          <p:cNvSpPr/>
          <p:nvPr/>
        </p:nvSpPr>
        <p:spPr bwMode="auto">
          <a:xfrm>
            <a:off x="4806373" y="4718018"/>
            <a:ext cx="2114988" cy="121339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60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4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9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4.16667E-7 -0.25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25 L 0.40273 -0.24814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3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73 -0.24814 L 0.40286 0.14144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33333E-6 L 0.00065 -0.32709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32709 L 0.19466 -0.32732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66 -0.32732 L 0.19779 0.06412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1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86 0.14144 L 0.40273 -0.24814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9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73 -0.24814 L 0.19401 -0.25023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43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01 -0.25023 L 0.19687 0.0636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44444E-6 L -0.00065 -0.42223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0.42223 L 0.40208 -0.42037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3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08 -0.42037 L 0.40221 -0.00625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87 0.06366 L 0.19401 -0.25023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-15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01 -0.25023 L 4.16667E-7 -0.25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25 L 0.0013 0.14213 " pathEditMode="relative" rAng="0" ptsTypes="AA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779 0.06412 L 0.19466 -0.32732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19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466 -0.32732 L 0.40338 -0.32523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3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338 -0.32523 L 0.40221 -0.0125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1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14213 L 4.16667E-7 -0.25 " pathEditMode="relative" rAng="0" ptsTypes="AA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1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25 L 0.40273 -0.24814 " pathEditMode="relative" rAng="0" ptsTypes="AA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130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73 -0.24814 L 0.40352 -0.00787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矩形 3"/>
          <p:cNvSpPr>
            <a:spLocks noChangeArrowheads="1"/>
          </p:cNvSpPr>
          <p:nvPr/>
        </p:nvSpPr>
        <p:spPr bwMode="auto">
          <a:xfrm>
            <a:off x="752017" y="1168689"/>
            <a:ext cx="3175001" cy="3970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：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5300" name="直接连接符 10"/>
          <p:cNvSpPr>
            <a:spLocks noChangeShapeType="1"/>
          </p:cNvSpPr>
          <p:nvPr/>
        </p:nvSpPr>
        <p:spPr bwMode="auto">
          <a:xfrm>
            <a:off x="2662238" y="5340351"/>
            <a:ext cx="0" cy="13890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01" name="直接连接符 11"/>
          <p:cNvSpPr>
            <a:spLocks noChangeShapeType="1"/>
          </p:cNvSpPr>
          <p:nvPr/>
        </p:nvSpPr>
        <p:spPr bwMode="auto">
          <a:xfrm>
            <a:off x="4437063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02" name="直接连接符 12"/>
          <p:cNvSpPr>
            <a:spLocks noChangeShapeType="1"/>
          </p:cNvSpPr>
          <p:nvPr/>
        </p:nvSpPr>
        <p:spPr bwMode="auto">
          <a:xfrm>
            <a:off x="6192838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5303" name="组合 21"/>
          <p:cNvGrpSpPr/>
          <p:nvPr/>
        </p:nvGrpSpPr>
        <p:grpSpPr bwMode="auto">
          <a:xfrm>
            <a:off x="2318078" y="5521752"/>
            <a:ext cx="676275" cy="461665"/>
            <a:chOff x="764381" y="5526623"/>
            <a:chExt cx="747713" cy="462387"/>
          </a:xfrm>
        </p:grpSpPr>
        <p:sp>
          <p:nvSpPr>
            <p:cNvPr id="55413" name="矩形 19"/>
            <p:cNvSpPr>
              <a:spLocks noChangeArrowheads="1"/>
            </p:cNvSpPr>
            <p:nvPr/>
          </p:nvSpPr>
          <p:spPr bwMode="auto">
            <a:xfrm>
              <a:off x="764381" y="5555975"/>
              <a:ext cx="747713" cy="36038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4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4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5414" name="文本框 21"/>
            <p:cNvSpPr>
              <a:spLocks noChangeArrowheads="1"/>
            </p:cNvSpPr>
            <p:nvPr/>
          </p:nvSpPr>
          <p:spPr bwMode="auto">
            <a:xfrm>
              <a:off x="789945" y="5526623"/>
              <a:ext cx="206883" cy="4623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2109788" y="5888039"/>
            <a:ext cx="1122362" cy="461665"/>
            <a:chOff x="552030" y="5887358"/>
            <a:chExt cx="1189038" cy="461675"/>
          </a:xfrm>
        </p:grpSpPr>
        <p:sp>
          <p:nvSpPr>
            <p:cNvPr id="55411" name="矩形 18"/>
            <p:cNvSpPr>
              <a:spLocks noChangeArrowheads="1"/>
            </p:cNvSpPr>
            <p:nvPr/>
          </p:nvSpPr>
          <p:spPr bwMode="auto">
            <a:xfrm>
              <a:off x="552030" y="5940717"/>
              <a:ext cx="1189038" cy="36098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5412" name="文本框 22"/>
            <p:cNvSpPr>
              <a:spLocks noChangeArrowheads="1"/>
            </p:cNvSpPr>
            <p:nvPr/>
          </p:nvSpPr>
          <p:spPr bwMode="auto">
            <a:xfrm>
              <a:off x="652209" y="5887358"/>
              <a:ext cx="206674" cy="4616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55305" name="组合 5"/>
          <p:cNvGrpSpPr/>
          <p:nvPr/>
        </p:nvGrpSpPr>
        <p:grpSpPr bwMode="auto">
          <a:xfrm>
            <a:off x="1868488" y="6259514"/>
            <a:ext cx="1587500" cy="830997"/>
            <a:chOff x="-32606" y="-31897"/>
            <a:chExt cx="2275840" cy="1150781"/>
          </a:xfrm>
        </p:grpSpPr>
        <p:sp>
          <p:nvSpPr>
            <p:cNvPr id="55409" name="矩形 17"/>
            <p:cNvSpPr>
              <a:spLocks noChangeArrowheads="1"/>
            </p:cNvSpPr>
            <p:nvPr/>
          </p:nvSpPr>
          <p:spPr bwMode="auto">
            <a:xfrm>
              <a:off x="-32606" y="50892"/>
              <a:ext cx="2275840" cy="498055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4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4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5410" name="文本框 23"/>
            <p:cNvSpPr>
              <a:spLocks noChangeArrowheads="1"/>
            </p:cNvSpPr>
            <p:nvPr/>
          </p:nvSpPr>
          <p:spPr bwMode="auto">
            <a:xfrm>
              <a:off x="232313" y="-31897"/>
              <a:ext cx="275492" cy="11507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3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9" name="文本框 16"/>
          <p:cNvSpPr>
            <a:spLocks noChangeArrowheads="1"/>
          </p:cNvSpPr>
          <p:nvPr/>
        </p:nvSpPr>
        <p:spPr bwMode="auto">
          <a:xfrm>
            <a:off x="2460625" y="4846639"/>
            <a:ext cx="43313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A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55307" name="文本框 20"/>
          <p:cNvSpPr>
            <a:spLocks noChangeArrowheads="1"/>
          </p:cNvSpPr>
          <p:nvPr/>
        </p:nvSpPr>
        <p:spPr bwMode="auto">
          <a:xfrm>
            <a:off x="5995988" y="4860926"/>
            <a:ext cx="40267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C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1" name="文本框 24"/>
          <p:cNvSpPr>
            <a:spLocks noChangeArrowheads="1"/>
          </p:cNvSpPr>
          <p:nvPr/>
        </p:nvSpPr>
        <p:spPr bwMode="auto">
          <a:xfrm>
            <a:off x="4251325" y="4840289"/>
            <a:ext cx="41549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B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49" name="文本框 16"/>
          <p:cNvSpPr>
            <a:spLocks noChangeArrowheads="1"/>
          </p:cNvSpPr>
          <p:nvPr/>
        </p:nvSpPr>
        <p:spPr bwMode="auto">
          <a:xfrm>
            <a:off x="1435392" y="4619359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4574348" y="1108075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 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}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3" name="文本框 16"/>
          <p:cNvSpPr>
            <a:spLocks noChangeArrowheads="1"/>
          </p:cNvSpPr>
          <p:nvPr/>
        </p:nvSpPr>
        <p:spPr bwMode="auto">
          <a:xfrm>
            <a:off x="5531881" y="4663992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cxnSp>
        <p:nvCxnSpPr>
          <p:cNvPr id="55317" name="直接连接符 56"/>
          <p:cNvCxnSpPr>
            <a:cxnSpLocks noChangeShapeType="1"/>
          </p:cNvCxnSpPr>
          <p:nvPr/>
        </p:nvCxnSpPr>
        <p:spPr bwMode="auto">
          <a:xfrm flipV="1">
            <a:off x="4236789" y="1314451"/>
            <a:ext cx="0" cy="267028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55318" name="直接箭头连接符 58"/>
          <p:cNvCxnSpPr>
            <a:cxnSpLocks noChangeShapeType="1"/>
          </p:cNvCxnSpPr>
          <p:nvPr/>
        </p:nvCxnSpPr>
        <p:spPr bwMode="auto">
          <a:xfrm>
            <a:off x="4226212" y="1295401"/>
            <a:ext cx="301720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sp>
        <p:nvSpPr>
          <p:cNvPr id="55319" name="矩形 61"/>
          <p:cNvSpPr>
            <a:spLocks noChangeArrowheads="1"/>
          </p:cNvSpPr>
          <p:nvPr/>
        </p:nvSpPr>
        <p:spPr bwMode="auto">
          <a:xfrm>
            <a:off x="3808204" y="115598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0" name="矩形 64"/>
          <p:cNvSpPr>
            <a:spLocks noChangeArrowheads="1"/>
          </p:cNvSpPr>
          <p:nvPr/>
        </p:nvSpPr>
        <p:spPr bwMode="auto">
          <a:xfrm>
            <a:off x="2293143" y="340831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1" name="矩形 65"/>
          <p:cNvSpPr>
            <a:spLocks noChangeArrowheads="1"/>
          </p:cNvSpPr>
          <p:nvPr/>
        </p:nvSpPr>
        <p:spPr bwMode="auto">
          <a:xfrm>
            <a:off x="3811379" y="144621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2" name="矩形 66"/>
          <p:cNvSpPr>
            <a:spLocks noChangeArrowheads="1"/>
          </p:cNvSpPr>
          <p:nvPr/>
        </p:nvSpPr>
        <p:spPr bwMode="auto">
          <a:xfrm>
            <a:off x="3811379" y="196850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3" name="矩形 67"/>
          <p:cNvSpPr>
            <a:spLocks noChangeArrowheads="1"/>
          </p:cNvSpPr>
          <p:nvPr/>
        </p:nvSpPr>
        <p:spPr bwMode="auto">
          <a:xfrm>
            <a:off x="3811379" y="170656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5324" name="Group 4"/>
          <p:cNvGrpSpPr>
            <a:grpSpLocks noChangeAspect="1"/>
          </p:cNvGrpSpPr>
          <p:nvPr/>
        </p:nvGrpSpPr>
        <p:grpSpPr bwMode="auto">
          <a:xfrm>
            <a:off x="3227179" y="1171575"/>
            <a:ext cx="841375" cy="1130300"/>
            <a:chOff x="1665" y="698"/>
            <a:chExt cx="530" cy="712"/>
          </a:xfrm>
        </p:grpSpPr>
        <p:sp>
          <p:nvSpPr>
            <p:cNvPr id="5539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665" y="698"/>
              <a:ext cx="530" cy="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9" name="Freeform 9"/>
            <p:cNvSpPr>
              <a:spLocks noEditPoints="1"/>
            </p:cNvSpPr>
            <p:nvPr/>
          </p:nvSpPr>
          <p:spPr bwMode="auto">
            <a:xfrm>
              <a:off x="1679" y="809"/>
              <a:ext cx="430" cy="20"/>
            </a:xfrm>
            <a:custGeom>
              <a:avLst/>
              <a:gdLst>
                <a:gd name="T0" fmla="*/ 6 w 593"/>
                <a:gd name="T1" fmla="*/ 9 h 28"/>
                <a:gd name="T2" fmla="*/ 87 w 593"/>
                <a:gd name="T3" fmla="*/ 7 h 28"/>
                <a:gd name="T4" fmla="*/ 93 w 593"/>
                <a:gd name="T5" fmla="*/ 12 h 28"/>
                <a:gd name="T6" fmla="*/ 87 w 593"/>
                <a:gd name="T7" fmla="*/ 19 h 28"/>
                <a:gd name="T8" fmla="*/ 6 w 593"/>
                <a:gd name="T9" fmla="*/ 20 h 28"/>
                <a:gd name="T10" fmla="*/ 0 w 593"/>
                <a:gd name="T11" fmla="*/ 14 h 28"/>
                <a:gd name="T12" fmla="*/ 6 w 593"/>
                <a:gd name="T13" fmla="*/ 9 h 28"/>
                <a:gd name="T14" fmla="*/ 145 w 593"/>
                <a:gd name="T15" fmla="*/ 6 h 28"/>
                <a:gd name="T16" fmla="*/ 226 w 593"/>
                <a:gd name="T17" fmla="*/ 4 h 28"/>
                <a:gd name="T18" fmla="*/ 232 w 593"/>
                <a:gd name="T19" fmla="*/ 10 h 28"/>
                <a:gd name="T20" fmla="*/ 226 w 593"/>
                <a:gd name="T21" fmla="*/ 16 h 28"/>
                <a:gd name="T22" fmla="*/ 145 w 593"/>
                <a:gd name="T23" fmla="*/ 17 h 28"/>
                <a:gd name="T24" fmla="*/ 139 w 593"/>
                <a:gd name="T25" fmla="*/ 11 h 28"/>
                <a:gd name="T26" fmla="*/ 145 w 593"/>
                <a:gd name="T27" fmla="*/ 6 h 28"/>
                <a:gd name="T28" fmla="*/ 284 w 593"/>
                <a:gd name="T29" fmla="*/ 3 h 28"/>
                <a:gd name="T30" fmla="*/ 365 w 593"/>
                <a:gd name="T31" fmla="*/ 1 h 28"/>
                <a:gd name="T32" fmla="*/ 371 w 593"/>
                <a:gd name="T33" fmla="*/ 7 h 28"/>
                <a:gd name="T34" fmla="*/ 365 w 593"/>
                <a:gd name="T35" fmla="*/ 13 h 28"/>
                <a:gd name="T36" fmla="*/ 284 w 593"/>
                <a:gd name="T37" fmla="*/ 14 h 28"/>
                <a:gd name="T38" fmla="*/ 278 w 593"/>
                <a:gd name="T39" fmla="*/ 9 h 28"/>
                <a:gd name="T40" fmla="*/ 284 w 593"/>
                <a:gd name="T41" fmla="*/ 3 h 28"/>
                <a:gd name="T42" fmla="*/ 423 w 593"/>
                <a:gd name="T43" fmla="*/ 0 h 28"/>
                <a:gd name="T44" fmla="*/ 424 w 593"/>
                <a:gd name="T45" fmla="*/ 0 h 28"/>
                <a:gd name="T46" fmla="*/ 430 w 593"/>
                <a:gd name="T47" fmla="*/ 6 h 28"/>
                <a:gd name="T48" fmla="*/ 424 w 593"/>
                <a:gd name="T49" fmla="*/ 11 h 28"/>
                <a:gd name="T50" fmla="*/ 423 w 593"/>
                <a:gd name="T51" fmla="*/ 11 h 28"/>
                <a:gd name="T52" fmla="*/ 418 w 593"/>
                <a:gd name="T53" fmla="*/ 6 h 28"/>
                <a:gd name="T54" fmla="*/ 423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0" name="Freeform 10"/>
            <p:cNvSpPr/>
            <p:nvPr/>
          </p:nvSpPr>
          <p:spPr bwMode="auto">
            <a:xfrm>
              <a:off x="1685" y="797"/>
              <a:ext cx="26" cy="51"/>
            </a:xfrm>
            <a:custGeom>
              <a:avLst/>
              <a:gdLst>
                <a:gd name="T0" fmla="*/ 25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1" name="Rectangle 11"/>
            <p:cNvSpPr>
              <a:spLocks noChangeArrowheads="1"/>
            </p:cNvSpPr>
            <p:nvPr/>
          </p:nvSpPr>
          <p:spPr bwMode="auto">
            <a:xfrm>
              <a:off x="1770" y="739"/>
              <a:ext cx="248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2" name="Rectangle 12"/>
            <p:cNvSpPr>
              <a:spLocks noChangeArrowheads="1"/>
            </p:cNvSpPr>
            <p:nvPr/>
          </p:nvSpPr>
          <p:spPr bwMode="auto">
            <a:xfrm>
              <a:off x="1750" y="713"/>
              <a:ext cx="291" cy="1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3" name="Freeform 13"/>
            <p:cNvSpPr>
              <a:spLocks noEditPoints="1"/>
            </p:cNvSpPr>
            <p:nvPr/>
          </p:nvSpPr>
          <p:spPr bwMode="auto">
            <a:xfrm>
              <a:off x="1776" y="990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4" name="Freeform 14"/>
            <p:cNvSpPr/>
            <p:nvPr/>
          </p:nvSpPr>
          <p:spPr bwMode="auto">
            <a:xfrm>
              <a:off x="1782" y="970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5" name="Freeform 15"/>
            <p:cNvSpPr>
              <a:spLocks noEditPoints="1"/>
            </p:cNvSpPr>
            <p:nvPr/>
          </p:nvSpPr>
          <p:spPr bwMode="auto">
            <a:xfrm>
              <a:off x="1776" y="1163"/>
              <a:ext cx="311" cy="11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1 h 16"/>
                <a:gd name="T8" fmla="*/ 6 w 429"/>
                <a:gd name="T9" fmla="*/ 11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1 h 16"/>
                <a:gd name="T22" fmla="*/ 145 w 429"/>
                <a:gd name="T23" fmla="*/ 11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1 h 16"/>
                <a:gd name="T36" fmla="*/ 284 w 429"/>
                <a:gd name="T37" fmla="*/ 11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6" name="Freeform 16"/>
            <p:cNvSpPr/>
            <p:nvPr/>
          </p:nvSpPr>
          <p:spPr bwMode="auto">
            <a:xfrm>
              <a:off x="1782" y="1143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7" name="Freeform 17"/>
            <p:cNvSpPr>
              <a:spLocks noEditPoints="1"/>
            </p:cNvSpPr>
            <p:nvPr/>
          </p:nvSpPr>
          <p:spPr bwMode="auto">
            <a:xfrm>
              <a:off x="1776" y="1313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8" name="Freeform 18"/>
            <p:cNvSpPr/>
            <p:nvPr/>
          </p:nvSpPr>
          <p:spPr bwMode="auto">
            <a:xfrm>
              <a:off x="1782" y="1293"/>
              <a:ext cx="26" cy="52"/>
            </a:xfrm>
            <a:custGeom>
              <a:avLst/>
              <a:gdLst>
                <a:gd name="T0" fmla="*/ 26 w 26"/>
                <a:gd name="T1" fmla="*/ 0 h 52"/>
                <a:gd name="T2" fmla="*/ 0 w 26"/>
                <a:gd name="T3" fmla="*/ 26 h 52"/>
                <a:gd name="T4" fmla="*/ 26 w 26"/>
                <a:gd name="T5" fmla="*/ 52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5328" name="组合 117"/>
          <p:cNvGrpSpPr/>
          <p:nvPr/>
        </p:nvGrpSpPr>
        <p:grpSpPr bwMode="auto">
          <a:xfrm>
            <a:off x="7084975" y="1142207"/>
            <a:ext cx="841375" cy="1130300"/>
            <a:chOff x="7622548" y="2841221"/>
            <a:chExt cx="841375" cy="1130300"/>
          </a:xfrm>
        </p:grpSpPr>
        <p:sp>
          <p:nvSpPr>
            <p:cNvPr id="55387" name="AutoShape 3"/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88" name="Freeform 9"/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89" name="Freeform 10"/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0" name="Rectangle 11"/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1" name="Rectangle 12"/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2" name="Freeform 13"/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3" name="Freeform 14"/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4" name="Freeform 15"/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5" name="Freeform 16"/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6" name="Freeform 17"/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7" name="Freeform 18"/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329" name="AutoShape 3"/>
          <p:cNvSpPr>
            <a:spLocks noChangeAspect="1" noChangeArrowheads="1" noTextEdit="1"/>
          </p:cNvSpPr>
          <p:nvPr/>
        </p:nvSpPr>
        <p:spPr bwMode="auto">
          <a:xfrm>
            <a:off x="7770814" y="149225"/>
            <a:ext cx="841375" cy="113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5330" name="直接连接符 84"/>
          <p:cNvCxnSpPr>
            <a:cxnSpLocks noChangeShapeType="1"/>
          </p:cNvCxnSpPr>
          <p:nvPr/>
        </p:nvCxnSpPr>
        <p:spPr bwMode="auto">
          <a:xfrm>
            <a:off x="1318069" y="3984731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8F16DA-F106-468F-BA9C-AF868FEC0FFE}"/>
              </a:ext>
            </a:extLst>
          </p:cNvPr>
          <p:cNvGrpSpPr/>
          <p:nvPr/>
        </p:nvGrpSpPr>
        <p:grpSpPr>
          <a:xfrm>
            <a:off x="7481667" y="5262991"/>
            <a:ext cx="3773810" cy="509588"/>
            <a:chOff x="8021238" y="2910327"/>
            <a:chExt cx="3773810" cy="509588"/>
          </a:xfrm>
        </p:grpSpPr>
        <p:grpSp>
          <p:nvGrpSpPr>
            <p:cNvPr id="55347" name="组合 24"/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55385" name="直接连接符 6"/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386" name="直接连接符 11"/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56" name="矩形 129"/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2, A, C, B</a:t>
              </a:r>
            </a:p>
          </p:txBody>
        </p:sp>
        <p:sp>
          <p:nvSpPr>
            <p:cNvPr id="114" name="文本框 16"/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1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499804-4551-4123-86C3-A4D24D6280FC}"/>
              </a:ext>
            </a:extLst>
          </p:cNvPr>
          <p:cNvGrpSpPr/>
          <p:nvPr/>
        </p:nvGrpSpPr>
        <p:grpSpPr>
          <a:xfrm>
            <a:off x="7481667" y="4561242"/>
            <a:ext cx="3748410" cy="2130275"/>
            <a:chOff x="6840215" y="4393316"/>
            <a:chExt cx="3748410" cy="2130275"/>
          </a:xfrm>
        </p:grpSpPr>
        <p:sp>
          <p:nvSpPr>
            <p:cNvPr id="55348" name="直接连接符 6"/>
            <p:cNvSpPr>
              <a:spLocks noChangeShapeType="1"/>
            </p:cNvSpPr>
            <p:nvPr/>
          </p:nvSpPr>
          <p:spPr bwMode="auto">
            <a:xfrm>
              <a:off x="8239126" y="6501515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49" name="直接连接符 11"/>
            <p:cNvSpPr>
              <a:spLocks noChangeShapeType="1"/>
            </p:cNvSpPr>
            <p:nvPr/>
          </p:nvSpPr>
          <p:spPr bwMode="auto">
            <a:xfrm flipH="1">
              <a:off x="8224838" y="4393316"/>
              <a:ext cx="14287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0" name="直接连接符 12"/>
            <p:cNvSpPr>
              <a:spLocks noChangeShapeType="1"/>
            </p:cNvSpPr>
            <p:nvPr/>
          </p:nvSpPr>
          <p:spPr bwMode="auto">
            <a:xfrm>
              <a:off x="10536238" y="4393316"/>
              <a:ext cx="0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1" name="矩形 187"/>
            <p:cNvSpPr>
              <a:spLocks noChangeArrowheads="1"/>
            </p:cNvSpPr>
            <p:nvPr/>
          </p:nvSpPr>
          <p:spPr bwMode="auto">
            <a:xfrm>
              <a:off x="7991475" y="5622040"/>
              <a:ext cx="25971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i+1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3, A, B, C</a:t>
              </a:r>
            </a:p>
          </p:txBody>
        </p:sp>
        <p:sp>
          <p:nvSpPr>
            <p:cNvPr id="55352" name="直接连接符 6"/>
            <p:cNvSpPr>
              <a:spLocks noChangeShapeType="1"/>
            </p:cNvSpPr>
            <p:nvPr/>
          </p:nvSpPr>
          <p:spPr bwMode="auto">
            <a:xfrm>
              <a:off x="8239126" y="5596640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3" name="直接连接符 11"/>
            <p:cNvSpPr>
              <a:spLocks noChangeShapeType="1"/>
            </p:cNvSpPr>
            <p:nvPr/>
          </p:nvSpPr>
          <p:spPr bwMode="auto">
            <a:xfrm>
              <a:off x="8710613" y="5596641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文本框 16"/>
            <p:cNvSpPr>
              <a:spLocks noChangeArrowheads="1"/>
            </p:cNvSpPr>
            <p:nvPr/>
          </p:nvSpPr>
          <p:spPr bwMode="auto">
            <a:xfrm>
              <a:off x="6840215" y="557438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0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4" name="直接连接符 6"/>
            <p:cNvSpPr>
              <a:spLocks noChangeShapeType="1"/>
            </p:cNvSpPr>
            <p:nvPr/>
          </p:nvSpPr>
          <p:spPr bwMode="auto">
            <a:xfrm>
              <a:off x="8239126" y="6052103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直接连接符 11"/>
            <p:cNvSpPr>
              <a:spLocks noChangeShapeType="1"/>
            </p:cNvSpPr>
            <p:nvPr/>
          </p:nvSpPr>
          <p:spPr bwMode="auto">
            <a:xfrm>
              <a:off x="8710613" y="6052104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矩形 187"/>
            <p:cNvSpPr>
              <a:spLocks noChangeArrowheads="1"/>
            </p:cNvSpPr>
            <p:nvPr/>
          </p:nvSpPr>
          <p:spPr bwMode="auto">
            <a:xfrm>
              <a:off x="7991475" y="610781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…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 ……</a:t>
              </a:r>
            </a:p>
          </p:txBody>
        </p:sp>
        <p:sp>
          <p:nvSpPr>
            <p:cNvPr id="177" name="文本框 16"/>
            <p:cNvSpPr>
              <a:spLocks noChangeArrowheads="1"/>
            </p:cNvSpPr>
            <p:nvPr/>
          </p:nvSpPr>
          <p:spPr bwMode="auto">
            <a:xfrm>
              <a:off x="6897365" y="6097317"/>
              <a:ext cx="123623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main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栈帧</a:t>
              </a:r>
            </a:p>
          </p:txBody>
        </p:sp>
      </p:grpSp>
      <p:sp>
        <p:nvSpPr>
          <p:cNvPr id="123" name="矩形 64">
            <a:extLst>
              <a:ext uri="{FF2B5EF4-FFF2-40B4-BE49-F238E27FC236}">
                <a16:creationId xmlns:a16="http://schemas.microsoft.com/office/drawing/2014/main" id="{BA738C11-1E09-429B-BF02-90957BBA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6" y="340934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矩形 102">
            <a:extLst>
              <a:ext uri="{FF2B5EF4-FFF2-40B4-BE49-F238E27FC236}">
                <a16:creationId xmlns:a16="http://schemas.microsoft.com/office/drawing/2014/main" id="{FC44E3E4-66E1-4389-853C-E82DF1A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229" y="340118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矩形 104">
            <a:extLst>
              <a:ext uri="{FF2B5EF4-FFF2-40B4-BE49-F238E27FC236}">
                <a16:creationId xmlns:a16="http://schemas.microsoft.com/office/drawing/2014/main" id="{36CD40FF-0996-4BC3-A7B9-FE535547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17" y="341042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矩形 105">
            <a:extLst>
              <a:ext uri="{FF2B5EF4-FFF2-40B4-BE49-F238E27FC236}">
                <a16:creationId xmlns:a16="http://schemas.microsoft.com/office/drawing/2014/main" id="{DBA01893-71F1-430E-B8D3-01051AEF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42" y="34010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3" name="矩形 64">
            <a:extLst>
              <a:ext uri="{FF2B5EF4-FFF2-40B4-BE49-F238E27FC236}">
                <a16:creationId xmlns:a16="http://schemas.microsoft.com/office/drawing/2014/main" id="{9DD76D49-9EF8-4B0F-97A5-713EA5E1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82" y="11559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5" name="矩形 102">
            <a:extLst>
              <a:ext uri="{FF2B5EF4-FFF2-40B4-BE49-F238E27FC236}">
                <a16:creationId xmlns:a16="http://schemas.microsoft.com/office/drawing/2014/main" id="{F0004EDE-538F-420F-B44F-1ABB8EE9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677" y="144729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6" name="矩形 104">
            <a:extLst>
              <a:ext uri="{FF2B5EF4-FFF2-40B4-BE49-F238E27FC236}">
                <a16:creationId xmlns:a16="http://schemas.microsoft.com/office/drawing/2014/main" id="{5303462B-9614-43A5-8605-D3229957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904" y="170799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05">
            <a:extLst>
              <a:ext uri="{FF2B5EF4-FFF2-40B4-BE49-F238E27FC236}">
                <a16:creationId xmlns:a16="http://schemas.microsoft.com/office/drawing/2014/main" id="{6B98055B-CFA5-40A0-BCA7-51384257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684" y="197467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 123">
            <a:extLst>
              <a:ext uri="{FF2B5EF4-FFF2-40B4-BE49-F238E27FC236}">
                <a16:creationId xmlns:a16="http://schemas.microsoft.com/office/drawing/2014/main" id="{94C0A25C-40DD-4AB5-A7BC-E879ECDB6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948" y="109663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 125">
            <a:extLst>
              <a:ext uri="{FF2B5EF4-FFF2-40B4-BE49-F238E27FC236}">
                <a16:creationId xmlns:a16="http://schemas.microsoft.com/office/drawing/2014/main" id="{F3B072F4-D259-4186-93B2-6FB86B885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9847" y="137771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5" name="矩形 132">
            <a:extLst>
              <a:ext uri="{FF2B5EF4-FFF2-40B4-BE49-F238E27FC236}">
                <a16:creationId xmlns:a16="http://schemas.microsoft.com/office/drawing/2014/main" id="{53E3733E-CF86-4223-B149-78BBEB940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123" y="166446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6" name="矩形 135">
            <a:extLst>
              <a:ext uri="{FF2B5EF4-FFF2-40B4-BE49-F238E27FC236}">
                <a16:creationId xmlns:a16="http://schemas.microsoft.com/office/drawing/2014/main" id="{CD99B6EC-00E6-4D44-ACB4-1D0E6BFE4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4" y="190976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7" name="直接连接符 56">
            <a:extLst>
              <a:ext uri="{FF2B5EF4-FFF2-40B4-BE49-F238E27FC236}">
                <a16:creationId xmlns:a16="http://schemas.microsoft.com/office/drawing/2014/main" id="{09E636BD-99A0-42F9-8064-BF4A082170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143519" y="342739"/>
            <a:ext cx="0" cy="3570679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88" name="直接箭头连接符 58">
            <a:extLst>
              <a:ext uri="{FF2B5EF4-FFF2-40B4-BE49-F238E27FC236}">
                <a16:creationId xmlns:a16="http://schemas.microsoft.com/office/drawing/2014/main" id="{612AB988-5760-4662-A876-F5B6503FCB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56935" y="342739"/>
            <a:ext cx="336286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cxnSp>
        <p:nvCxnSpPr>
          <p:cNvPr id="89" name="直接连接符 84">
            <a:extLst>
              <a:ext uri="{FF2B5EF4-FFF2-40B4-BE49-F238E27FC236}">
                <a16:creationId xmlns:a16="http://schemas.microsoft.com/office/drawing/2014/main" id="{B23C5A1D-1173-4D34-85B2-C64EAC070B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24799" y="3913418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67E521D8-66D9-45BD-B22F-9FE63DE8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263" y="171383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n,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y,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z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文本框 16">
            <a:extLst>
              <a:ext uri="{FF2B5EF4-FFF2-40B4-BE49-F238E27FC236}">
                <a16:creationId xmlns:a16="http://schemas.microsoft.com/office/drawing/2014/main" id="{C2480F6A-6424-44A3-8979-6F507E58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9049" y="4073043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94" name="矩形 122">
            <a:extLst>
              <a:ext uri="{FF2B5EF4-FFF2-40B4-BE49-F238E27FC236}">
                <a16:creationId xmlns:a16="http://schemas.microsoft.com/office/drawing/2014/main" id="{0BD96AE8-4A09-4A72-B729-8657107B2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1848" y="331076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0816350-315A-484D-B4D4-224B032D5B20}"/>
              </a:ext>
            </a:extLst>
          </p:cNvPr>
          <p:cNvSpPr txBox="1"/>
          <p:nvPr/>
        </p:nvSpPr>
        <p:spPr>
          <a:xfrm>
            <a:off x="758238" y="3913418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125">
            <a:extLst>
              <a:ext uri="{FF2B5EF4-FFF2-40B4-BE49-F238E27FC236}">
                <a16:creationId xmlns:a16="http://schemas.microsoft.com/office/drawing/2014/main" id="{C11D41CF-A09A-4C11-B3FB-575F7286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214" y="329608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132">
            <a:extLst>
              <a:ext uri="{FF2B5EF4-FFF2-40B4-BE49-F238E27FC236}">
                <a16:creationId xmlns:a16="http://schemas.microsoft.com/office/drawing/2014/main" id="{2594944D-187F-47A0-BD24-054F924A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34" y="3304224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35">
            <a:extLst>
              <a:ext uri="{FF2B5EF4-FFF2-40B4-BE49-F238E27FC236}">
                <a16:creationId xmlns:a16="http://schemas.microsoft.com/office/drawing/2014/main" id="{588FA892-1B2E-464D-9914-8E34312A0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5137" y="3303694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" name="矩形 122">
            <a:extLst>
              <a:ext uri="{FF2B5EF4-FFF2-40B4-BE49-F238E27FC236}">
                <a16:creationId xmlns:a16="http://schemas.microsoft.com/office/drawing/2014/main" id="{5FF56406-E7AE-4483-9D5A-BAE7466F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747" y="3311041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3" name="组合 117">
            <a:extLst>
              <a:ext uri="{FF2B5EF4-FFF2-40B4-BE49-F238E27FC236}">
                <a16:creationId xmlns:a16="http://schemas.microsoft.com/office/drawing/2014/main" id="{13772B7B-050C-4551-AE81-8B090B2377B8}"/>
              </a:ext>
            </a:extLst>
          </p:cNvPr>
          <p:cNvGrpSpPr/>
          <p:nvPr/>
        </p:nvGrpSpPr>
        <p:grpSpPr bwMode="auto">
          <a:xfrm>
            <a:off x="10961954" y="152184"/>
            <a:ext cx="841375" cy="1130300"/>
            <a:chOff x="7622548" y="2841221"/>
            <a:chExt cx="841375" cy="1130300"/>
          </a:xfrm>
        </p:grpSpPr>
        <p:sp>
          <p:nvSpPr>
            <p:cNvPr id="104" name="AutoShape 3">
              <a:extLst>
                <a:ext uri="{FF2B5EF4-FFF2-40B4-BE49-F238E27FC236}">
                  <a16:creationId xmlns:a16="http://schemas.microsoft.com/office/drawing/2014/main" id="{6F932085-BC42-457E-B279-E0BC4F924F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EB6BEF1B-5209-4FE9-81CA-067E63B47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CC8A63BF-9AE2-4BA5-9BE4-05C95E8C16CF}"/>
                </a:ext>
              </a:extLst>
            </p:cNvPr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Rectangle 11">
              <a:extLst>
                <a:ext uri="{FF2B5EF4-FFF2-40B4-BE49-F238E27FC236}">
                  <a16:creationId xmlns:a16="http://schemas.microsoft.com/office/drawing/2014/main" id="{60B0BAA0-2DEF-4E75-8083-CF8E49F4B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Rectangle 12">
              <a:extLst>
                <a:ext uri="{FF2B5EF4-FFF2-40B4-BE49-F238E27FC236}">
                  <a16:creationId xmlns:a16="http://schemas.microsoft.com/office/drawing/2014/main" id="{E98F0D63-FB30-4C89-A46A-5CFCC72C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E01882D9-A672-433B-8321-9A845680F0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FEAA16A7-9183-48FA-A8E4-A24134F3ED98}"/>
                </a:ext>
              </a:extLst>
            </p:cNvPr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15">
              <a:extLst>
                <a:ext uri="{FF2B5EF4-FFF2-40B4-BE49-F238E27FC236}">
                  <a16:creationId xmlns:a16="http://schemas.microsoft.com/office/drawing/2014/main" id="{8517DA9A-9479-45CA-AE90-4DB08E2E81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44197E68-8844-4075-8DAB-028042790724}"/>
                </a:ext>
              </a:extLst>
            </p:cNvPr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FDCCEB2B-A3D1-4EF0-9F69-A5625F890B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86DF9EBF-6B2B-48EF-968D-F6AF7C4DD53A}"/>
                </a:ext>
              </a:extLst>
            </p:cNvPr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704C2611-20A9-43F2-88A9-6C7B91563A1C}"/>
              </a:ext>
            </a:extLst>
          </p:cNvPr>
          <p:cNvGrpSpPr/>
          <p:nvPr/>
        </p:nvGrpSpPr>
        <p:grpSpPr>
          <a:xfrm>
            <a:off x="7481667" y="4743641"/>
            <a:ext cx="3773810" cy="509588"/>
            <a:chOff x="8021238" y="2910327"/>
            <a:chExt cx="3773810" cy="509588"/>
          </a:xfrm>
        </p:grpSpPr>
        <p:grpSp>
          <p:nvGrpSpPr>
            <p:cNvPr id="118" name="组合 24">
              <a:extLst>
                <a:ext uri="{FF2B5EF4-FFF2-40B4-BE49-F238E27FC236}">
                  <a16:creationId xmlns:a16="http://schemas.microsoft.com/office/drawing/2014/main" id="{D1D51CA9-D586-4D34-9DCF-096E0C3F4691}"/>
                </a:ext>
              </a:extLst>
            </p:cNvPr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121" name="直接连接符 6">
                <a:extLst>
                  <a:ext uri="{FF2B5EF4-FFF2-40B4-BE49-F238E27FC236}">
                    <a16:creationId xmlns:a16="http://schemas.microsoft.com/office/drawing/2014/main" id="{A9BCA9BB-996D-4B01-A58B-0CD866269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直接连接符 11">
                <a:extLst>
                  <a:ext uri="{FF2B5EF4-FFF2-40B4-BE49-F238E27FC236}">
                    <a16:creationId xmlns:a16="http://schemas.microsoft.com/office/drawing/2014/main" id="{AA37A87B-8535-474C-85D1-40B9EEC71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19" name="矩形 129">
              <a:extLst>
                <a:ext uri="{FF2B5EF4-FFF2-40B4-BE49-F238E27FC236}">
                  <a16:creationId xmlns:a16="http://schemas.microsoft.com/office/drawing/2014/main" id="{0E4895F1-F04A-4DFD-9D86-B06B71D41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1, A, B, C</a:t>
              </a:r>
            </a:p>
          </p:txBody>
        </p:sp>
        <p:sp>
          <p:nvSpPr>
            <p:cNvPr id="120" name="文本框 16">
              <a:extLst>
                <a:ext uri="{FF2B5EF4-FFF2-40B4-BE49-F238E27FC236}">
                  <a16:creationId xmlns:a16="http://schemas.microsoft.com/office/drawing/2014/main" id="{734427A6-D3A1-4EAC-96E0-06E098F11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E68F1338-620C-4B82-AB6C-B23A5F68249A}"/>
              </a:ext>
            </a:extLst>
          </p:cNvPr>
          <p:cNvSpPr txBox="1"/>
          <p:nvPr/>
        </p:nvSpPr>
        <p:spPr>
          <a:xfrm>
            <a:off x="4568795" y="4109860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8" name="直接箭头连接符 58">
            <a:extLst>
              <a:ext uri="{FF2B5EF4-FFF2-40B4-BE49-F238E27FC236}">
                <a16:creationId xmlns:a16="http://schemas.microsoft.com/office/drawing/2014/main" id="{7FCA0897-7BFB-47F6-815A-7ABEFDB22AB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084762" y="664947"/>
            <a:ext cx="1587503" cy="1244816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129" name="直接箭头连接符 58">
            <a:extLst>
              <a:ext uri="{FF2B5EF4-FFF2-40B4-BE49-F238E27FC236}">
                <a16:creationId xmlns:a16="http://schemas.microsoft.com/office/drawing/2014/main" id="{5725360A-B271-442A-99EC-A169E98AFA5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562001" y="1252676"/>
            <a:ext cx="1088275" cy="627719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130" name="直接连接符 84">
            <a:extLst>
              <a:ext uri="{FF2B5EF4-FFF2-40B4-BE49-F238E27FC236}">
                <a16:creationId xmlns:a16="http://schemas.microsoft.com/office/drawing/2014/main" id="{277C5668-4261-4F29-B50E-5CA67AB805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1325" y="4170820"/>
            <a:ext cx="4355493" cy="0"/>
          </a:xfrm>
          <a:prstGeom prst="line">
            <a:avLst/>
          </a:prstGeom>
          <a:noFill/>
          <a:ln w="19050" algn="ctr">
            <a:solidFill>
              <a:srgbClr val="990000"/>
            </a:solidFill>
            <a:round/>
          </a:ln>
        </p:spPr>
      </p:cxnSp>
      <p:cxnSp>
        <p:nvCxnSpPr>
          <p:cNvPr id="131" name="直接连接符 56">
            <a:extLst>
              <a:ext uri="{FF2B5EF4-FFF2-40B4-BE49-F238E27FC236}">
                <a16:creationId xmlns:a16="http://schemas.microsoft.com/office/drawing/2014/main" id="{42C67FCC-190F-4566-9112-AFA95C42EE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56684" y="4162817"/>
            <a:ext cx="0" cy="142632"/>
          </a:xfrm>
          <a:prstGeom prst="line">
            <a:avLst/>
          </a:prstGeom>
          <a:noFill/>
          <a:ln w="19050" algn="ctr">
            <a:solidFill>
              <a:srgbClr val="990000"/>
            </a:solidFill>
            <a:round/>
          </a:ln>
        </p:spPr>
      </p:cxnSp>
      <p:cxnSp>
        <p:nvCxnSpPr>
          <p:cNvPr id="134" name="直接箭头连接符 58">
            <a:extLst>
              <a:ext uri="{FF2B5EF4-FFF2-40B4-BE49-F238E27FC236}">
                <a16:creationId xmlns:a16="http://schemas.microsoft.com/office/drawing/2014/main" id="{4C6FFBAD-4357-4679-AFF5-7F0D18AF04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6684" y="4305449"/>
            <a:ext cx="336286" cy="0"/>
          </a:xfrm>
          <a:prstGeom prst="straightConnector1">
            <a:avLst/>
          </a:prstGeom>
          <a:noFill/>
          <a:ln w="19050" algn="ctr">
            <a:solidFill>
              <a:srgbClr val="990000"/>
            </a:solidFill>
            <a:round/>
            <a:tailEnd type="triangle" w="med" len="med"/>
          </a:ln>
        </p:spPr>
      </p:cxnSp>
      <p:sp>
        <p:nvSpPr>
          <p:cNvPr id="137" name="直接连接符 6">
            <a:extLst>
              <a:ext uri="{FF2B5EF4-FFF2-40B4-BE49-F238E27FC236}">
                <a16:creationId xmlns:a16="http://schemas.microsoft.com/office/drawing/2014/main" id="{62004F5F-7BE9-49FD-A381-DBB678329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950" y="6665353"/>
            <a:ext cx="5691187" cy="0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9" name="直接箭头连接符 58">
            <a:extLst>
              <a:ext uri="{FF2B5EF4-FFF2-40B4-BE49-F238E27FC236}">
                <a16:creationId xmlns:a16="http://schemas.microsoft.com/office/drawing/2014/main" id="{EB404602-C6D1-4DC0-A50B-8DB1D63F66B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95989" y="1635125"/>
            <a:ext cx="1863418" cy="2636957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140" name="直接箭头连接符 58">
            <a:extLst>
              <a:ext uri="{FF2B5EF4-FFF2-40B4-BE49-F238E27FC236}">
                <a16:creationId xmlns:a16="http://schemas.microsoft.com/office/drawing/2014/main" id="{72A6DF14-3849-47B7-B721-A2A625F494C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25521" y="2233188"/>
            <a:ext cx="1312664" cy="2009526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142" name="直接箭头连接符 58">
            <a:extLst>
              <a:ext uri="{FF2B5EF4-FFF2-40B4-BE49-F238E27FC236}">
                <a16:creationId xmlns:a16="http://schemas.microsoft.com/office/drawing/2014/main" id="{215FAB83-F2F4-4999-BAD3-818F0206BE4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46476" y="1346325"/>
            <a:ext cx="1628844" cy="2910124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sp>
        <p:nvSpPr>
          <p:cNvPr id="132" name="Rectangle 2">
            <a:extLst>
              <a:ext uri="{FF2B5EF4-FFF2-40B4-BE49-F238E27FC236}">
                <a16:creationId xmlns:a16="http://schemas.microsoft.com/office/drawing/2014/main" id="{E829754E-E1A9-4E3D-95F9-27587FD3F137}"/>
              </a:ext>
            </a:extLst>
          </p:cNvPr>
          <p:cNvSpPr txBox="1">
            <a:spLocks noChangeArrowheads="1"/>
          </p:cNvSpPr>
          <p:nvPr/>
        </p:nvSpPr>
        <p:spPr>
          <a:xfrm>
            <a:off x="446433" y="226888"/>
            <a:ext cx="5159461" cy="602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hanoi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(3, A, B, C)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执行过程</a:t>
            </a:r>
          </a:p>
        </p:txBody>
      </p:sp>
    </p:spTree>
    <p:extLst>
      <p:ext uri="{BB962C8B-B14F-4D97-AF65-F5344CB8AC3E}">
        <p14:creationId xmlns:p14="http://schemas.microsoft.com/office/powerpoint/2010/main" val="38302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7" dur="indefinite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0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0.13854 0.32893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8" y="1673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22222E-6 L -0.04687 0.2481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8" y="12384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48148E-6 L -0.09804 0.2847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3" y="1435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2.59259E-6 L -0.07343 0.2074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33333E-6 L 0.45052 -0.3370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26" y="-1669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0.42409 -0.29491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46" y="-14537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11111E-6 L 0.37122 -0.2187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55" y="-10949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0.39922 -0.25324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57" y="-1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0.67148 0.20533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68" y="1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3.7037E-7 L -0.10651 0.27963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9" y="13981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-0.06198 0.2386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9" y="11921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111E-6 L -0.08255 0.20278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8" y="10139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-0.15079 0.3208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74" y="1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22222E-6 L 0.42305 -0.42222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33" y="-21111"/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7 L 0.37709 -0.34421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54" y="-17222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7 L 0.4 -0.38102 " pathEditMode="relative" rAng="0" ptsTypes="AA">
                                      <p:cBhvr>
                                        <p:cTn id="16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-19051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96296E-6 L 0.44883 -0.46204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35" y="-2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500"/>
                            </p:stCondLst>
                            <p:childTnLst>
                              <p:par>
                                <p:cTn id="1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3000"/>
                            </p:stCondLst>
                            <p:childTnLst>
                              <p:par>
                                <p:cTn id="17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59259E-6 L 0.35898 0.10717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43" y="5347"/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2.59259E-6 L 1.45833E-6 -0.10255 " pathEditMode="relative" rAng="0" ptsTypes="AA">
                                      <p:cBhvr>
                                        <p:cTn id="194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10255 L 0.28984 -0.10533 " pathEditMode="relative" rAng="0" ptsTypes="AA">
                                      <p:cBhvr>
                                        <p:cTn id="197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9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84 -0.10533 L 0.28984 0.10324 " pathEditMode="relative" rAng="0" ptsTypes="AA">
                                      <p:cBhvr>
                                        <p:cTn id="200" dur="10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00"/>
                            </p:stCondLst>
                            <p:childTnLst>
                              <p:par>
                                <p:cTn id="268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7 L -0.00117 -0.15602 " pathEditMode="relative" rAng="0" ptsTypes="AA">
                                      <p:cBhvr>
                                        <p:cTn id="2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000"/>
                            </p:stCondLst>
                            <p:childTnLst>
                              <p:par>
                                <p:cTn id="28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15602 L 0.14492 -0.15394 " pathEditMode="relative" rAng="0" ptsTypes="AA">
                                      <p:cBhvr>
                                        <p:cTn id="2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0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000"/>
                            </p:stCondLst>
                            <p:childTnLst>
                              <p:par>
                                <p:cTn id="29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492 -0.15394 L 0.14453 0.04768 " pathEditMode="relative" rAng="0" ptsTypes="AA">
                                      <p:cBhvr>
                                        <p:cTn id="2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2" grpId="0"/>
      <p:bldP spid="53" grpId="0" animBg="1"/>
      <p:bldP spid="55320" grpId="0"/>
      <p:bldP spid="123" grpId="0"/>
      <p:bldP spid="123" grpId="1"/>
      <p:bldP spid="124" grpId="0"/>
      <p:bldP spid="124" grpId="1"/>
      <p:bldP spid="125" grpId="0"/>
      <p:bldP spid="125" grpId="1"/>
      <p:bldP spid="126" grpId="0"/>
      <p:bldP spid="126" grpId="1"/>
      <p:bldP spid="133" grpId="0"/>
      <p:bldP spid="133" grpId="1"/>
      <p:bldP spid="135" grpId="0"/>
      <p:bldP spid="136" grpId="0"/>
      <p:bldP spid="138" grpId="0"/>
      <p:bldP spid="83" grpId="0"/>
      <p:bldP spid="83" grpId="1"/>
      <p:bldP spid="83" grpId="2"/>
      <p:bldP spid="84" grpId="0"/>
      <p:bldP spid="84" grpId="1"/>
      <p:bldP spid="85" grpId="0"/>
      <p:bldP spid="85" grpId="1"/>
      <p:bldP spid="86" grpId="0"/>
      <p:bldP spid="86" grpId="1"/>
      <p:bldP spid="90" grpId="0"/>
      <p:bldP spid="90" grpId="1"/>
      <p:bldP spid="93" grpId="0" animBg="1"/>
      <p:bldP spid="93" grpId="1" animBg="1"/>
      <p:bldP spid="94" grpId="0"/>
      <p:bldP spid="98" grpId="0"/>
      <p:bldP spid="98" grpId="1"/>
      <p:bldP spid="99" grpId="0"/>
      <p:bldP spid="99" grpId="1"/>
      <p:bldP spid="99" grpId="2"/>
      <p:bldP spid="100" grpId="0"/>
      <p:bldP spid="100" grpId="1"/>
      <p:bldP spid="100" grpId="2"/>
      <p:bldP spid="101" grpId="0"/>
      <p:bldP spid="101" grpId="1"/>
      <p:bldP spid="101" grpId="2"/>
      <p:bldP spid="102" grpId="0"/>
      <p:bldP spid="102" grpId="1"/>
      <p:bldP spid="102" grpId="2"/>
      <p:bldP spid="127" grpId="0"/>
      <p:bldP spid="127" grpId="1"/>
      <p:bldP spid="127" grpId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22">
            <a:extLst>
              <a:ext uri="{FF2B5EF4-FFF2-40B4-BE49-F238E27FC236}">
                <a16:creationId xmlns:a16="http://schemas.microsoft.com/office/drawing/2014/main" id="{5FF56406-E7AE-4483-9D5A-BAE7466F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038" y="425013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4574348" y="1108075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0" name="矩形 122">
            <a:extLst>
              <a:ext uri="{FF2B5EF4-FFF2-40B4-BE49-F238E27FC236}">
                <a16:creationId xmlns:a16="http://schemas.microsoft.com/office/drawing/2014/main" id="{8A9C4C6B-EB08-27D2-A0B4-1BAB8D4A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658" y="425349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298" name="矩形 3"/>
          <p:cNvSpPr>
            <a:spLocks noChangeArrowheads="1"/>
          </p:cNvSpPr>
          <p:nvPr/>
        </p:nvSpPr>
        <p:spPr bwMode="auto">
          <a:xfrm>
            <a:off x="752017" y="1168689"/>
            <a:ext cx="3175001" cy="3970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5300" name="直接连接符 10"/>
          <p:cNvSpPr>
            <a:spLocks noChangeShapeType="1"/>
          </p:cNvSpPr>
          <p:nvPr/>
        </p:nvSpPr>
        <p:spPr bwMode="auto">
          <a:xfrm>
            <a:off x="2662238" y="5340351"/>
            <a:ext cx="0" cy="13890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01" name="直接连接符 11"/>
          <p:cNvSpPr>
            <a:spLocks noChangeShapeType="1"/>
          </p:cNvSpPr>
          <p:nvPr/>
        </p:nvSpPr>
        <p:spPr bwMode="auto">
          <a:xfrm>
            <a:off x="4437063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02" name="直接连接符 12"/>
          <p:cNvSpPr>
            <a:spLocks noChangeShapeType="1"/>
          </p:cNvSpPr>
          <p:nvPr/>
        </p:nvSpPr>
        <p:spPr bwMode="auto">
          <a:xfrm>
            <a:off x="6192838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5305" name="组合 5"/>
          <p:cNvGrpSpPr/>
          <p:nvPr/>
        </p:nvGrpSpPr>
        <p:grpSpPr bwMode="auto">
          <a:xfrm>
            <a:off x="1868488" y="6259514"/>
            <a:ext cx="1587500" cy="830997"/>
            <a:chOff x="-32606" y="-31897"/>
            <a:chExt cx="2275840" cy="1150781"/>
          </a:xfrm>
        </p:grpSpPr>
        <p:sp>
          <p:nvSpPr>
            <p:cNvPr id="55409" name="矩形 17"/>
            <p:cNvSpPr>
              <a:spLocks noChangeArrowheads="1"/>
            </p:cNvSpPr>
            <p:nvPr/>
          </p:nvSpPr>
          <p:spPr bwMode="auto">
            <a:xfrm>
              <a:off x="-32606" y="50892"/>
              <a:ext cx="2275840" cy="498055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4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4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5410" name="文本框 23"/>
            <p:cNvSpPr>
              <a:spLocks noChangeArrowheads="1"/>
            </p:cNvSpPr>
            <p:nvPr/>
          </p:nvSpPr>
          <p:spPr bwMode="auto">
            <a:xfrm>
              <a:off x="232313" y="-31897"/>
              <a:ext cx="275492" cy="11507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3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9" name="文本框 16"/>
          <p:cNvSpPr>
            <a:spLocks noChangeArrowheads="1"/>
          </p:cNvSpPr>
          <p:nvPr/>
        </p:nvSpPr>
        <p:spPr bwMode="auto">
          <a:xfrm>
            <a:off x="2460625" y="4846639"/>
            <a:ext cx="43313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A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55307" name="文本框 20"/>
          <p:cNvSpPr>
            <a:spLocks noChangeArrowheads="1"/>
          </p:cNvSpPr>
          <p:nvPr/>
        </p:nvSpPr>
        <p:spPr bwMode="auto">
          <a:xfrm>
            <a:off x="5995988" y="4860926"/>
            <a:ext cx="40267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C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1" name="文本框 24"/>
          <p:cNvSpPr>
            <a:spLocks noChangeArrowheads="1"/>
          </p:cNvSpPr>
          <p:nvPr/>
        </p:nvSpPr>
        <p:spPr bwMode="auto">
          <a:xfrm>
            <a:off x="4251325" y="4840289"/>
            <a:ext cx="41549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Calibri" panose="020F0502020204030204" pitchFamily="34" charset="0"/>
              </a:rPr>
              <a:t>B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49" name="文本框 16"/>
          <p:cNvSpPr>
            <a:spLocks noChangeArrowheads="1"/>
          </p:cNvSpPr>
          <p:nvPr/>
        </p:nvSpPr>
        <p:spPr bwMode="auto">
          <a:xfrm>
            <a:off x="1435393" y="4592782"/>
            <a:ext cx="1226846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53" name="文本框 16"/>
          <p:cNvSpPr>
            <a:spLocks noChangeArrowheads="1"/>
          </p:cNvSpPr>
          <p:nvPr/>
        </p:nvSpPr>
        <p:spPr bwMode="auto">
          <a:xfrm>
            <a:off x="5531881" y="4663992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cxnSp>
        <p:nvCxnSpPr>
          <p:cNvPr id="55317" name="直接连接符 56"/>
          <p:cNvCxnSpPr>
            <a:cxnSpLocks noChangeShapeType="1"/>
          </p:cNvCxnSpPr>
          <p:nvPr/>
        </p:nvCxnSpPr>
        <p:spPr bwMode="auto">
          <a:xfrm flipV="1">
            <a:off x="4236789" y="1314451"/>
            <a:ext cx="0" cy="267028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55318" name="直接箭头连接符 58"/>
          <p:cNvCxnSpPr>
            <a:cxnSpLocks noChangeShapeType="1"/>
          </p:cNvCxnSpPr>
          <p:nvPr/>
        </p:nvCxnSpPr>
        <p:spPr bwMode="auto">
          <a:xfrm>
            <a:off x="4226212" y="1295401"/>
            <a:ext cx="301720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sp>
        <p:nvSpPr>
          <p:cNvPr id="55319" name="矩形 61"/>
          <p:cNvSpPr>
            <a:spLocks noChangeArrowheads="1"/>
          </p:cNvSpPr>
          <p:nvPr/>
        </p:nvSpPr>
        <p:spPr bwMode="auto">
          <a:xfrm>
            <a:off x="3808204" y="115598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0" name="矩形 64"/>
          <p:cNvSpPr>
            <a:spLocks noChangeArrowheads="1"/>
          </p:cNvSpPr>
          <p:nvPr/>
        </p:nvSpPr>
        <p:spPr bwMode="auto">
          <a:xfrm>
            <a:off x="2293143" y="340831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1" name="矩形 65"/>
          <p:cNvSpPr>
            <a:spLocks noChangeArrowheads="1"/>
          </p:cNvSpPr>
          <p:nvPr/>
        </p:nvSpPr>
        <p:spPr bwMode="auto">
          <a:xfrm>
            <a:off x="3811379" y="144621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2" name="矩形 66"/>
          <p:cNvSpPr>
            <a:spLocks noChangeArrowheads="1"/>
          </p:cNvSpPr>
          <p:nvPr/>
        </p:nvSpPr>
        <p:spPr bwMode="auto">
          <a:xfrm>
            <a:off x="3811379" y="196850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323" name="矩形 67"/>
          <p:cNvSpPr>
            <a:spLocks noChangeArrowheads="1"/>
          </p:cNvSpPr>
          <p:nvPr/>
        </p:nvSpPr>
        <p:spPr bwMode="auto">
          <a:xfrm>
            <a:off x="3811379" y="170656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5324" name="Group 4"/>
          <p:cNvGrpSpPr>
            <a:grpSpLocks noChangeAspect="1"/>
          </p:cNvGrpSpPr>
          <p:nvPr/>
        </p:nvGrpSpPr>
        <p:grpSpPr bwMode="auto">
          <a:xfrm>
            <a:off x="3227179" y="1171575"/>
            <a:ext cx="841375" cy="1130300"/>
            <a:chOff x="1665" y="698"/>
            <a:chExt cx="530" cy="712"/>
          </a:xfrm>
        </p:grpSpPr>
        <p:sp>
          <p:nvSpPr>
            <p:cNvPr id="5539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665" y="698"/>
              <a:ext cx="530" cy="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9" name="Freeform 9"/>
            <p:cNvSpPr>
              <a:spLocks noEditPoints="1"/>
            </p:cNvSpPr>
            <p:nvPr/>
          </p:nvSpPr>
          <p:spPr bwMode="auto">
            <a:xfrm>
              <a:off x="1679" y="809"/>
              <a:ext cx="430" cy="20"/>
            </a:xfrm>
            <a:custGeom>
              <a:avLst/>
              <a:gdLst>
                <a:gd name="T0" fmla="*/ 6 w 593"/>
                <a:gd name="T1" fmla="*/ 9 h 28"/>
                <a:gd name="T2" fmla="*/ 87 w 593"/>
                <a:gd name="T3" fmla="*/ 7 h 28"/>
                <a:gd name="T4" fmla="*/ 93 w 593"/>
                <a:gd name="T5" fmla="*/ 12 h 28"/>
                <a:gd name="T6" fmla="*/ 87 w 593"/>
                <a:gd name="T7" fmla="*/ 19 h 28"/>
                <a:gd name="T8" fmla="*/ 6 w 593"/>
                <a:gd name="T9" fmla="*/ 20 h 28"/>
                <a:gd name="T10" fmla="*/ 0 w 593"/>
                <a:gd name="T11" fmla="*/ 14 h 28"/>
                <a:gd name="T12" fmla="*/ 6 w 593"/>
                <a:gd name="T13" fmla="*/ 9 h 28"/>
                <a:gd name="T14" fmla="*/ 145 w 593"/>
                <a:gd name="T15" fmla="*/ 6 h 28"/>
                <a:gd name="T16" fmla="*/ 226 w 593"/>
                <a:gd name="T17" fmla="*/ 4 h 28"/>
                <a:gd name="T18" fmla="*/ 232 w 593"/>
                <a:gd name="T19" fmla="*/ 10 h 28"/>
                <a:gd name="T20" fmla="*/ 226 w 593"/>
                <a:gd name="T21" fmla="*/ 16 h 28"/>
                <a:gd name="T22" fmla="*/ 145 w 593"/>
                <a:gd name="T23" fmla="*/ 17 h 28"/>
                <a:gd name="T24" fmla="*/ 139 w 593"/>
                <a:gd name="T25" fmla="*/ 11 h 28"/>
                <a:gd name="T26" fmla="*/ 145 w 593"/>
                <a:gd name="T27" fmla="*/ 6 h 28"/>
                <a:gd name="T28" fmla="*/ 284 w 593"/>
                <a:gd name="T29" fmla="*/ 3 h 28"/>
                <a:gd name="T30" fmla="*/ 365 w 593"/>
                <a:gd name="T31" fmla="*/ 1 h 28"/>
                <a:gd name="T32" fmla="*/ 371 w 593"/>
                <a:gd name="T33" fmla="*/ 7 h 28"/>
                <a:gd name="T34" fmla="*/ 365 w 593"/>
                <a:gd name="T35" fmla="*/ 13 h 28"/>
                <a:gd name="T36" fmla="*/ 284 w 593"/>
                <a:gd name="T37" fmla="*/ 14 h 28"/>
                <a:gd name="T38" fmla="*/ 278 w 593"/>
                <a:gd name="T39" fmla="*/ 9 h 28"/>
                <a:gd name="T40" fmla="*/ 284 w 593"/>
                <a:gd name="T41" fmla="*/ 3 h 28"/>
                <a:gd name="T42" fmla="*/ 423 w 593"/>
                <a:gd name="T43" fmla="*/ 0 h 28"/>
                <a:gd name="T44" fmla="*/ 424 w 593"/>
                <a:gd name="T45" fmla="*/ 0 h 28"/>
                <a:gd name="T46" fmla="*/ 430 w 593"/>
                <a:gd name="T47" fmla="*/ 6 h 28"/>
                <a:gd name="T48" fmla="*/ 424 w 593"/>
                <a:gd name="T49" fmla="*/ 11 h 28"/>
                <a:gd name="T50" fmla="*/ 423 w 593"/>
                <a:gd name="T51" fmla="*/ 11 h 28"/>
                <a:gd name="T52" fmla="*/ 418 w 593"/>
                <a:gd name="T53" fmla="*/ 6 h 28"/>
                <a:gd name="T54" fmla="*/ 423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0" name="Freeform 10"/>
            <p:cNvSpPr/>
            <p:nvPr/>
          </p:nvSpPr>
          <p:spPr bwMode="auto">
            <a:xfrm>
              <a:off x="1685" y="797"/>
              <a:ext cx="26" cy="51"/>
            </a:xfrm>
            <a:custGeom>
              <a:avLst/>
              <a:gdLst>
                <a:gd name="T0" fmla="*/ 25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1" name="Rectangle 11"/>
            <p:cNvSpPr>
              <a:spLocks noChangeArrowheads="1"/>
            </p:cNvSpPr>
            <p:nvPr/>
          </p:nvSpPr>
          <p:spPr bwMode="auto">
            <a:xfrm>
              <a:off x="1770" y="739"/>
              <a:ext cx="248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2" name="Rectangle 12"/>
            <p:cNvSpPr>
              <a:spLocks noChangeArrowheads="1"/>
            </p:cNvSpPr>
            <p:nvPr/>
          </p:nvSpPr>
          <p:spPr bwMode="auto">
            <a:xfrm>
              <a:off x="1750" y="713"/>
              <a:ext cx="291" cy="1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3" name="Freeform 13"/>
            <p:cNvSpPr>
              <a:spLocks noEditPoints="1"/>
            </p:cNvSpPr>
            <p:nvPr/>
          </p:nvSpPr>
          <p:spPr bwMode="auto">
            <a:xfrm>
              <a:off x="1776" y="990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4" name="Freeform 14"/>
            <p:cNvSpPr/>
            <p:nvPr/>
          </p:nvSpPr>
          <p:spPr bwMode="auto">
            <a:xfrm>
              <a:off x="1782" y="970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5" name="Freeform 15"/>
            <p:cNvSpPr>
              <a:spLocks noEditPoints="1"/>
            </p:cNvSpPr>
            <p:nvPr/>
          </p:nvSpPr>
          <p:spPr bwMode="auto">
            <a:xfrm>
              <a:off x="1776" y="1163"/>
              <a:ext cx="311" cy="11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1 h 16"/>
                <a:gd name="T8" fmla="*/ 6 w 429"/>
                <a:gd name="T9" fmla="*/ 11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1 h 16"/>
                <a:gd name="T22" fmla="*/ 145 w 429"/>
                <a:gd name="T23" fmla="*/ 11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1 h 16"/>
                <a:gd name="T36" fmla="*/ 284 w 429"/>
                <a:gd name="T37" fmla="*/ 11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6" name="Freeform 16"/>
            <p:cNvSpPr/>
            <p:nvPr/>
          </p:nvSpPr>
          <p:spPr bwMode="auto">
            <a:xfrm>
              <a:off x="1782" y="1143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7" name="Freeform 17"/>
            <p:cNvSpPr>
              <a:spLocks noEditPoints="1"/>
            </p:cNvSpPr>
            <p:nvPr/>
          </p:nvSpPr>
          <p:spPr bwMode="auto">
            <a:xfrm>
              <a:off x="1776" y="1313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408" name="Freeform 18"/>
            <p:cNvSpPr/>
            <p:nvPr/>
          </p:nvSpPr>
          <p:spPr bwMode="auto">
            <a:xfrm>
              <a:off x="1782" y="1293"/>
              <a:ext cx="26" cy="52"/>
            </a:xfrm>
            <a:custGeom>
              <a:avLst/>
              <a:gdLst>
                <a:gd name="T0" fmla="*/ 26 w 26"/>
                <a:gd name="T1" fmla="*/ 0 h 52"/>
                <a:gd name="T2" fmla="*/ 0 w 26"/>
                <a:gd name="T3" fmla="*/ 26 h 52"/>
                <a:gd name="T4" fmla="*/ 26 w 26"/>
                <a:gd name="T5" fmla="*/ 52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55328" name="组合 117"/>
          <p:cNvGrpSpPr/>
          <p:nvPr/>
        </p:nvGrpSpPr>
        <p:grpSpPr bwMode="auto">
          <a:xfrm>
            <a:off x="7084975" y="1142207"/>
            <a:ext cx="841375" cy="1130300"/>
            <a:chOff x="7622548" y="2841221"/>
            <a:chExt cx="841375" cy="1130300"/>
          </a:xfrm>
        </p:grpSpPr>
        <p:sp>
          <p:nvSpPr>
            <p:cNvPr id="55387" name="AutoShape 3"/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88" name="Freeform 9"/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89" name="Freeform 10"/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0" name="Rectangle 11"/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1" name="Rectangle 12"/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2" name="Freeform 13"/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3" name="Freeform 14"/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4" name="Freeform 15"/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5" name="Freeform 16"/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6" name="Freeform 17"/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97" name="Freeform 18"/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329" name="AutoShape 3"/>
          <p:cNvSpPr>
            <a:spLocks noChangeAspect="1" noChangeArrowheads="1" noTextEdit="1"/>
          </p:cNvSpPr>
          <p:nvPr/>
        </p:nvSpPr>
        <p:spPr bwMode="auto">
          <a:xfrm>
            <a:off x="7770814" y="149225"/>
            <a:ext cx="841375" cy="113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5330" name="直接连接符 84"/>
          <p:cNvCxnSpPr>
            <a:cxnSpLocks noChangeShapeType="1"/>
          </p:cNvCxnSpPr>
          <p:nvPr/>
        </p:nvCxnSpPr>
        <p:spPr bwMode="auto">
          <a:xfrm>
            <a:off x="1318069" y="3984731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8F16DA-F106-468F-BA9C-AF868FEC0FFE}"/>
              </a:ext>
            </a:extLst>
          </p:cNvPr>
          <p:cNvGrpSpPr/>
          <p:nvPr/>
        </p:nvGrpSpPr>
        <p:grpSpPr>
          <a:xfrm>
            <a:off x="7481667" y="5262991"/>
            <a:ext cx="3773810" cy="509588"/>
            <a:chOff x="8021238" y="2910327"/>
            <a:chExt cx="3773810" cy="509588"/>
          </a:xfrm>
        </p:grpSpPr>
        <p:grpSp>
          <p:nvGrpSpPr>
            <p:cNvPr id="55347" name="组合 24"/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55385" name="直接连接符 6"/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386" name="直接连接符 11"/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56" name="矩形 129"/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2, A, C, B</a:t>
              </a:r>
            </a:p>
          </p:txBody>
        </p:sp>
        <p:sp>
          <p:nvSpPr>
            <p:cNvPr id="114" name="文本框 16"/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1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499804-4551-4123-86C3-A4D24D6280FC}"/>
              </a:ext>
            </a:extLst>
          </p:cNvPr>
          <p:cNvGrpSpPr/>
          <p:nvPr/>
        </p:nvGrpSpPr>
        <p:grpSpPr>
          <a:xfrm>
            <a:off x="7481667" y="4561242"/>
            <a:ext cx="3748410" cy="2130275"/>
            <a:chOff x="6840215" y="4393316"/>
            <a:chExt cx="3748410" cy="2130275"/>
          </a:xfrm>
        </p:grpSpPr>
        <p:sp>
          <p:nvSpPr>
            <p:cNvPr id="55348" name="直接连接符 6"/>
            <p:cNvSpPr>
              <a:spLocks noChangeShapeType="1"/>
            </p:cNvSpPr>
            <p:nvPr/>
          </p:nvSpPr>
          <p:spPr bwMode="auto">
            <a:xfrm>
              <a:off x="8239126" y="6501515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49" name="直接连接符 11"/>
            <p:cNvSpPr>
              <a:spLocks noChangeShapeType="1"/>
            </p:cNvSpPr>
            <p:nvPr/>
          </p:nvSpPr>
          <p:spPr bwMode="auto">
            <a:xfrm flipH="1">
              <a:off x="8224838" y="4393316"/>
              <a:ext cx="14287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0" name="直接连接符 12"/>
            <p:cNvSpPr>
              <a:spLocks noChangeShapeType="1"/>
            </p:cNvSpPr>
            <p:nvPr/>
          </p:nvSpPr>
          <p:spPr bwMode="auto">
            <a:xfrm>
              <a:off x="10536238" y="4393316"/>
              <a:ext cx="0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1" name="矩形 187"/>
            <p:cNvSpPr>
              <a:spLocks noChangeArrowheads="1"/>
            </p:cNvSpPr>
            <p:nvPr/>
          </p:nvSpPr>
          <p:spPr bwMode="auto">
            <a:xfrm>
              <a:off x="7991475" y="5622040"/>
              <a:ext cx="25971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i+1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3, A, B, C</a:t>
              </a:r>
            </a:p>
          </p:txBody>
        </p:sp>
        <p:sp>
          <p:nvSpPr>
            <p:cNvPr id="55352" name="直接连接符 6"/>
            <p:cNvSpPr>
              <a:spLocks noChangeShapeType="1"/>
            </p:cNvSpPr>
            <p:nvPr/>
          </p:nvSpPr>
          <p:spPr bwMode="auto">
            <a:xfrm>
              <a:off x="8239126" y="5596640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353" name="直接连接符 11"/>
            <p:cNvSpPr>
              <a:spLocks noChangeShapeType="1"/>
            </p:cNvSpPr>
            <p:nvPr/>
          </p:nvSpPr>
          <p:spPr bwMode="auto">
            <a:xfrm>
              <a:off x="8710613" y="5596641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文本框 16"/>
            <p:cNvSpPr>
              <a:spLocks noChangeArrowheads="1"/>
            </p:cNvSpPr>
            <p:nvPr/>
          </p:nvSpPr>
          <p:spPr bwMode="auto">
            <a:xfrm>
              <a:off x="6840215" y="557438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0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4" name="直接连接符 6"/>
            <p:cNvSpPr>
              <a:spLocks noChangeShapeType="1"/>
            </p:cNvSpPr>
            <p:nvPr/>
          </p:nvSpPr>
          <p:spPr bwMode="auto">
            <a:xfrm>
              <a:off x="8239126" y="6052103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直接连接符 11"/>
            <p:cNvSpPr>
              <a:spLocks noChangeShapeType="1"/>
            </p:cNvSpPr>
            <p:nvPr/>
          </p:nvSpPr>
          <p:spPr bwMode="auto">
            <a:xfrm>
              <a:off x="8710613" y="6052104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矩形 187"/>
            <p:cNvSpPr>
              <a:spLocks noChangeArrowheads="1"/>
            </p:cNvSpPr>
            <p:nvPr/>
          </p:nvSpPr>
          <p:spPr bwMode="auto">
            <a:xfrm>
              <a:off x="7991475" y="610781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…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 ……</a:t>
              </a:r>
            </a:p>
          </p:txBody>
        </p:sp>
        <p:sp>
          <p:nvSpPr>
            <p:cNvPr id="177" name="文本框 16"/>
            <p:cNvSpPr>
              <a:spLocks noChangeArrowheads="1"/>
            </p:cNvSpPr>
            <p:nvPr/>
          </p:nvSpPr>
          <p:spPr bwMode="auto">
            <a:xfrm>
              <a:off x="6897365" y="6097317"/>
              <a:ext cx="123623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main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栈帧</a:t>
              </a:r>
            </a:p>
          </p:txBody>
        </p:sp>
      </p:grpSp>
      <p:sp>
        <p:nvSpPr>
          <p:cNvPr id="123" name="矩形 64">
            <a:extLst>
              <a:ext uri="{FF2B5EF4-FFF2-40B4-BE49-F238E27FC236}">
                <a16:creationId xmlns:a16="http://schemas.microsoft.com/office/drawing/2014/main" id="{BA738C11-1E09-429B-BF02-90957BBA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6" y="340934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4" name="矩形 102">
            <a:extLst>
              <a:ext uri="{FF2B5EF4-FFF2-40B4-BE49-F238E27FC236}">
                <a16:creationId xmlns:a16="http://schemas.microsoft.com/office/drawing/2014/main" id="{FC44E3E4-66E1-4389-853C-E82DF1A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229" y="340118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5" name="矩形 104">
            <a:extLst>
              <a:ext uri="{FF2B5EF4-FFF2-40B4-BE49-F238E27FC236}">
                <a16:creationId xmlns:a16="http://schemas.microsoft.com/office/drawing/2014/main" id="{36CD40FF-0996-4BC3-A7B9-FE535547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17" y="341042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6" name="矩形 105">
            <a:extLst>
              <a:ext uri="{FF2B5EF4-FFF2-40B4-BE49-F238E27FC236}">
                <a16:creationId xmlns:a16="http://schemas.microsoft.com/office/drawing/2014/main" id="{DBA01893-71F1-430E-B8D3-01051AEF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42" y="34010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3" name="矩形 64">
            <a:extLst>
              <a:ext uri="{FF2B5EF4-FFF2-40B4-BE49-F238E27FC236}">
                <a16:creationId xmlns:a16="http://schemas.microsoft.com/office/drawing/2014/main" id="{9DD76D49-9EF8-4B0F-97A5-713EA5E1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82" y="11559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5" name="矩形 102">
            <a:extLst>
              <a:ext uri="{FF2B5EF4-FFF2-40B4-BE49-F238E27FC236}">
                <a16:creationId xmlns:a16="http://schemas.microsoft.com/office/drawing/2014/main" id="{F0004EDE-538F-420F-B44F-1ABB8EE9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677" y="144729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6" name="矩形 104">
            <a:extLst>
              <a:ext uri="{FF2B5EF4-FFF2-40B4-BE49-F238E27FC236}">
                <a16:creationId xmlns:a16="http://schemas.microsoft.com/office/drawing/2014/main" id="{5303462B-9614-43A5-8605-D3229957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904" y="170799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8" name="矩形 105">
            <a:extLst>
              <a:ext uri="{FF2B5EF4-FFF2-40B4-BE49-F238E27FC236}">
                <a16:creationId xmlns:a16="http://schemas.microsoft.com/office/drawing/2014/main" id="{6B98055B-CFA5-40A0-BCA7-51384257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684" y="197467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7" name="直接连接符 56">
            <a:extLst>
              <a:ext uri="{FF2B5EF4-FFF2-40B4-BE49-F238E27FC236}">
                <a16:creationId xmlns:a16="http://schemas.microsoft.com/office/drawing/2014/main" id="{09E636BD-99A0-42F9-8064-BF4A0821703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132502" y="342739"/>
            <a:ext cx="11017" cy="4348471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88" name="直接箭头连接符 58">
            <a:extLst>
              <a:ext uri="{FF2B5EF4-FFF2-40B4-BE49-F238E27FC236}">
                <a16:creationId xmlns:a16="http://schemas.microsoft.com/office/drawing/2014/main" id="{612AB988-5760-4662-A876-F5B6503FCB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56935" y="342739"/>
            <a:ext cx="336286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cxnSp>
        <p:nvCxnSpPr>
          <p:cNvPr id="89" name="直接连接符 84">
            <a:extLst>
              <a:ext uri="{FF2B5EF4-FFF2-40B4-BE49-F238E27FC236}">
                <a16:creationId xmlns:a16="http://schemas.microsoft.com/office/drawing/2014/main" id="{B23C5A1D-1173-4D34-85B2-C64EAC070B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22398" y="4691210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67E521D8-66D9-45BD-B22F-9FE63DE8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263" y="171383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move(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93" name="文本框 16">
            <a:extLst>
              <a:ext uri="{FF2B5EF4-FFF2-40B4-BE49-F238E27FC236}">
                <a16:creationId xmlns:a16="http://schemas.microsoft.com/office/drawing/2014/main" id="{C2480F6A-6424-44A3-8979-6F507E58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9049" y="4073043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0816350-315A-484D-B4D4-224B032D5B20}"/>
              </a:ext>
            </a:extLst>
          </p:cNvPr>
          <p:cNvSpPr txBox="1"/>
          <p:nvPr/>
        </p:nvSpPr>
        <p:spPr>
          <a:xfrm>
            <a:off x="758238" y="3913418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125">
            <a:extLst>
              <a:ext uri="{FF2B5EF4-FFF2-40B4-BE49-F238E27FC236}">
                <a16:creationId xmlns:a16="http://schemas.microsoft.com/office/drawing/2014/main" id="{C11D41CF-A09A-4C11-B3FB-575F7286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127" y="4261621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0" name="矩形 132">
            <a:extLst>
              <a:ext uri="{FF2B5EF4-FFF2-40B4-BE49-F238E27FC236}">
                <a16:creationId xmlns:a16="http://schemas.microsoft.com/office/drawing/2014/main" id="{2594944D-187F-47A0-BD24-054F924A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847" y="425706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1" name="矩形 135">
            <a:extLst>
              <a:ext uri="{FF2B5EF4-FFF2-40B4-BE49-F238E27FC236}">
                <a16:creationId xmlns:a16="http://schemas.microsoft.com/office/drawing/2014/main" id="{588FA892-1B2E-464D-9914-8E34312A0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0050" y="425653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3" name="组合 117">
            <a:extLst>
              <a:ext uri="{FF2B5EF4-FFF2-40B4-BE49-F238E27FC236}">
                <a16:creationId xmlns:a16="http://schemas.microsoft.com/office/drawing/2014/main" id="{13772B7B-050C-4551-AE81-8B090B2377B8}"/>
              </a:ext>
            </a:extLst>
          </p:cNvPr>
          <p:cNvGrpSpPr/>
          <p:nvPr/>
        </p:nvGrpSpPr>
        <p:grpSpPr bwMode="auto">
          <a:xfrm>
            <a:off x="10961954" y="152184"/>
            <a:ext cx="841375" cy="1130300"/>
            <a:chOff x="7622548" y="2841221"/>
            <a:chExt cx="841375" cy="1130300"/>
          </a:xfrm>
        </p:grpSpPr>
        <p:sp>
          <p:nvSpPr>
            <p:cNvPr id="104" name="AutoShape 3">
              <a:extLst>
                <a:ext uri="{FF2B5EF4-FFF2-40B4-BE49-F238E27FC236}">
                  <a16:creationId xmlns:a16="http://schemas.microsoft.com/office/drawing/2014/main" id="{6F932085-BC42-457E-B279-E0BC4F924F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EB6BEF1B-5209-4FE9-81CA-067E63B47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CC8A63BF-9AE2-4BA5-9BE4-05C95E8C16CF}"/>
                </a:ext>
              </a:extLst>
            </p:cNvPr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Rectangle 11">
              <a:extLst>
                <a:ext uri="{FF2B5EF4-FFF2-40B4-BE49-F238E27FC236}">
                  <a16:creationId xmlns:a16="http://schemas.microsoft.com/office/drawing/2014/main" id="{60B0BAA0-2DEF-4E75-8083-CF8E49F4B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Rectangle 12">
              <a:extLst>
                <a:ext uri="{FF2B5EF4-FFF2-40B4-BE49-F238E27FC236}">
                  <a16:creationId xmlns:a16="http://schemas.microsoft.com/office/drawing/2014/main" id="{E98F0D63-FB30-4C89-A46A-5CFCC72C9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等线" panose="02010600030101010101" pitchFamily="2" charset="-122"/>
                  <a:cs typeface="+mn-cs"/>
                </a:rPr>
                <a:t>实参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E01882D9-A672-433B-8321-9A845680F0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FEAA16A7-9183-48FA-A8E4-A24134F3ED98}"/>
                </a:ext>
              </a:extLst>
            </p:cNvPr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15">
              <a:extLst>
                <a:ext uri="{FF2B5EF4-FFF2-40B4-BE49-F238E27FC236}">
                  <a16:creationId xmlns:a16="http://schemas.microsoft.com/office/drawing/2014/main" id="{8517DA9A-9479-45CA-AE90-4DB08E2E81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44197E68-8844-4075-8DAB-028042790724}"/>
                </a:ext>
              </a:extLst>
            </p:cNvPr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FDCCEB2B-A3D1-4EF0-9F69-A5625F890B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86DF9EBF-6B2B-48EF-968D-F6AF7C4DD53A}"/>
                </a:ext>
              </a:extLst>
            </p:cNvPr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130" name="直接连接符 84">
            <a:extLst>
              <a:ext uri="{FF2B5EF4-FFF2-40B4-BE49-F238E27FC236}">
                <a16:creationId xmlns:a16="http://schemas.microsoft.com/office/drawing/2014/main" id="{277C5668-4261-4F29-B50E-5CA67AB805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1325" y="4170820"/>
            <a:ext cx="4355493" cy="0"/>
          </a:xfrm>
          <a:prstGeom prst="line">
            <a:avLst/>
          </a:prstGeom>
          <a:noFill/>
          <a:ln w="19050" algn="ctr">
            <a:solidFill>
              <a:srgbClr val="990000"/>
            </a:solidFill>
            <a:round/>
          </a:ln>
        </p:spPr>
      </p:cxnSp>
      <p:cxnSp>
        <p:nvCxnSpPr>
          <p:cNvPr id="131" name="直接连接符 56">
            <a:extLst>
              <a:ext uri="{FF2B5EF4-FFF2-40B4-BE49-F238E27FC236}">
                <a16:creationId xmlns:a16="http://schemas.microsoft.com/office/drawing/2014/main" id="{42C67FCC-190F-4566-9112-AFA95C42EE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56684" y="4162817"/>
            <a:ext cx="0" cy="698109"/>
          </a:xfrm>
          <a:prstGeom prst="line">
            <a:avLst/>
          </a:prstGeom>
          <a:noFill/>
          <a:ln w="19050" algn="ctr">
            <a:solidFill>
              <a:srgbClr val="990000"/>
            </a:solidFill>
            <a:round/>
          </a:ln>
        </p:spPr>
      </p:cxnSp>
      <p:cxnSp>
        <p:nvCxnSpPr>
          <p:cNvPr id="134" name="直接箭头连接符 58">
            <a:extLst>
              <a:ext uri="{FF2B5EF4-FFF2-40B4-BE49-F238E27FC236}">
                <a16:creationId xmlns:a16="http://schemas.microsoft.com/office/drawing/2014/main" id="{4C6FFBAD-4357-4679-AFF5-7F0D18AF04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6684" y="4305449"/>
            <a:ext cx="336286" cy="0"/>
          </a:xfrm>
          <a:prstGeom prst="straightConnector1">
            <a:avLst/>
          </a:prstGeom>
          <a:noFill/>
          <a:ln w="19050" algn="ctr">
            <a:solidFill>
              <a:srgbClr val="990000"/>
            </a:solidFill>
            <a:round/>
            <a:tailEnd type="triangle" w="med" len="med"/>
          </a:ln>
        </p:spPr>
      </p:cxnSp>
      <p:sp>
        <p:nvSpPr>
          <p:cNvPr id="137" name="直接连接符 6">
            <a:extLst>
              <a:ext uri="{FF2B5EF4-FFF2-40B4-BE49-F238E27FC236}">
                <a16:creationId xmlns:a16="http://schemas.microsoft.com/office/drawing/2014/main" id="{62004F5F-7BE9-49FD-A381-DBB678329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5439" y="6729413"/>
            <a:ext cx="5691187" cy="0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3">
            <a:extLst>
              <a:ext uri="{FF2B5EF4-FFF2-40B4-BE49-F238E27FC236}">
                <a16:creationId xmlns:a16="http://schemas.microsoft.com/office/drawing/2014/main" id="{699F1191-6CF9-3A8E-C844-A9102A91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948" y="109663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125">
            <a:extLst>
              <a:ext uri="{FF2B5EF4-FFF2-40B4-BE49-F238E27FC236}">
                <a16:creationId xmlns:a16="http://schemas.microsoft.com/office/drawing/2014/main" id="{0D781A94-FE8D-66C3-53B7-C8FE49F33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9847" y="137771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32">
            <a:extLst>
              <a:ext uri="{FF2B5EF4-FFF2-40B4-BE49-F238E27FC236}">
                <a16:creationId xmlns:a16="http://schemas.microsoft.com/office/drawing/2014/main" id="{150A2B82-84E2-F2A8-1DB2-881E55417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123" y="166446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35">
            <a:extLst>
              <a:ext uri="{FF2B5EF4-FFF2-40B4-BE49-F238E27FC236}">
                <a16:creationId xmlns:a16="http://schemas.microsoft.com/office/drawing/2014/main" id="{D39A3CF5-4282-C1DC-1D16-9802A0C5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4" y="190976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7" name="直接箭头连接符 58">
            <a:extLst>
              <a:ext uri="{FF2B5EF4-FFF2-40B4-BE49-F238E27FC236}">
                <a16:creationId xmlns:a16="http://schemas.microsoft.com/office/drawing/2014/main" id="{1E5C9CFA-0242-04D9-4476-BB2A9F7BDAE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084762" y="664947"/>
            <a:ext cx="1587503" cy="1244816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18" name="直接箭头连接符 58">
            <a:extLst>
              <a:ext uri="{FF2B5EF4-FFF2-40B4-BE49-F238E27FC236}">
                <a16:creationId xmlns:a16="http://schemas.microsoft.com/office/drawing/2014/main" id="{491F2BA8-1363-FE40-BED3-DEB280DFCE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0562001" y="1252676"/>
            <a:ext cx="1088275" cy="627719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F703B73-E6FF-9A73-7A6E-09337B4074A7}"/>
              </a:ext>
            </a:extLst>
          </p:cNvPr>
          <p:cNvGrpSpPr/>
          <p:nvPr/>
        </p:nvGrpSpPr>
        <p:grpSpPr>
          <a:xfrm>
            <a:off x="7481667" y="4743641"/>
            <a:ext cx="3773810" cy="509588"/>
            <a:chOff x="8021238" y="2910327"/>
            <a:chExt cx="3773810" cy="509588"/>
          </a:xfrm>
        </p:grpSpPr>
        <p:grpSp>
          <p:nvGrpSpPr>
            <p:cNvPr id="22" name="组合 24">
              <a:extLst>
                <a:ext uri="{FF2B5EF4-FFF2-40B4-BE49-F238E27FC236}">
                  <a16:creationId xmlns:a16="http://schemas.microsoft.com/office/drawing/2014/main" id="{DACEF3EB-4375-4877-373D-7FA5A9182227}"/>
                </a:ext>
              </a:extLst>
            </p:cNvPr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26" name="直接连接符 6">
                <a:extLst>
                  <a:ext uri="{FF2B5EF4-FFF2-40B4-BE49-F238E27FC236}">
                    <a16:creationId xmlns:a16="http://schemas.microsoft.com/office/drawing/2014/main" id="{D41A241C-5230-BD5D-DFAB-9A491F879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直接连接符 11">
                <a:extLst>
                  <a:ext uri="{FF2B5EF4-FFF2-40B4-BE49-F238E27FC236}">
                    <a16:creationId xmlns:a16="http://schemas.microsoft.com/office/drawing/2014/main" id="{1A4F2689-0CD7-D65E-7821-8CAEE4DB4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4" name="矩形 129">
              <a:extLst>
                <a:ext uri="{FF2B5EF4-FFF2-40B4-BE49-F238E27FC236}">
                  <a16:creationId xmlns:a16="http://schemas.microsoft.com/office/drawing/2014/main" id="{3928A6D9-6C5E-71A9-2D03-7F3458FA0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+mn-cs"/>
                </a:rPr>
                <a:t>     1, C, A, B</a:t>
              </a:r>
            </a:p>
          </p:txBody>
        </p:sp>
        <p:sp>
          <p:nvSpPr>
            <p:cNvPr id="25" name="文本框 16">
              <a:extLst>
                <a:ext uri="{FF2B5EF4-FFF2-40B4-BE49-F238E27FC236}">
                  <a16:creationId xmlns:a16="http://schemas.microsoft.com/office/drawing/2014/main" id="{4A219727-9BEB-7AE0-9CEA-19D8594DE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2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FE5EF5F-347C-F89E-2332-16BEA1714D1F}"/>
              </a:ext>
            </a:extLst>
          </p:cNvPr>
          <p:cNvSpPr txBox="1"/>
          <p:nvPr/>
        </p:nvSpPr>
        <p:spPr>
          <a:xfrm>
            <a:off x="4579814" y="4671122"/>
            <a:ext cx="434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D8E05F-A8D0-550D-5828-09B64C2CEE2B}"/>
              </a:ext>
            </a:extLst>
          </p:cNvPr>
          <p:cNvSpPr txBox="1"/>
          <p:nvPr/>
        </p:nvSpPr>
        <p:spPr>
          <a:xfrm>
            <a:off x="8941952" y="5355142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4" name="组合 21">
            <a:extLst>
              <a:ext uri="{FF2B5EF4-FFF2-40B4-BE49-F238E27FC236}">
                <a16:creationId xmlns:a16="http://schemas.microsoft.com/office/drawing/2014/main" id="{BD2968AF-B36A-1B22-4940-CDD0B558131F}"/>
              </a:ext>
            </a:extLst>
          </p:cNvPr>
          <p:cNvGrpSpPr/>
          <p:nvPr/>
        </p:nvGrpSpPr>
        <p:grpSpPr bwMode="auto">
          <a:xfrm>
            <a:off x="5856962" y="6282036"/>
            <a:ext cx="676275" cy="461665"/>
            <a:chOff x="764381" y="5526623"/>
            <a:chExt cx="747713" cy="462387"/>
          </a:xfrm>
        </p:grpSpPr>
        <p:sp>
          <p:nvSpPr>
            <p:cNvPr id="35" name="矩形 19">
              <a:extLst>
                <a:ext uri="{FF2B5EF4-FFF2-40B4-BE49-F238E27FC236}">
                  <a16:creationId xmlns:a16="http://schemas.microsoft.com/office/drawing/2014/main" id="{A45D006D-8A1A-E515-92E6-38A4DE06E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" y="5555979"/>
              <a:ext cx="747713" cy="36038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4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4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36" name="文本框 21">
              <a:extLst>
                <a:ext uri="{FF2B5EF4-FFF2-40B4-BE49-F238E27FC236}">
                  <a16:creationId xmlns:a16="http://schemas.microsoft.com/office/drawing/2014/main" id="{189199FF-CA0B-9224-2696-3F3BE7C1E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945" y="5526623"/>
              <a:ext cx="206883" cy="4623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04870F-ACB5-9BEC-4B5D-C61F2510B9E9}"/>
              </a:ext>
            </a:extLst>
          </p:cNvPr>
          <p:cNvGrpSpPr/>
          <p:nvPr/>
        </p:nvGrpSpPr>
        <p:grpSpPr bwMode="auto">
          <a:xfrm>
            <a:off x="3858827" y="6248698"/>
            <a:ext cx="1122362" cy="461665"/>
            <a:chOff x="552030" y="5887358"/>
            <a:chExt cx="1189038" cy="461675"/>
          </a:xfrm>
        </p:grpSpPr>
        <p:sp>
          <p:nvSpPr>
            <p:cNvPr id="38" name="矩形 18">
              <a:extLst>
                <a:ext uri="{FF2B5EF4-FFF2-40B4-BE49-F238E27FC236}">
                  <a16:creationId xmlns:a16="http://schemas.microsoft.com/office/drawing/2014/main" id="{62044C5A-031D-1C9C-7018-4C144ABD7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30" y="5950243"/>
              <a:ext cx="1189038" cy="36098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39" name="文本框 22">
              <a:extLst>
                <a:ext uri="{FF2B5EF4-FFF2-40B4-BE49-F238E27FC236}">
                  <a16:creationId xmlns:a16="http://schemas.microsoft.com/office/drawing/2014/main" id="{D75CA884-EE07-5F33-3414-CA59111D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09" y="5887358"/>
              <a:ext cx="206674" cy="4616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等线" panose="02010600030101010101" pitchFamily="2" charset="-122"/>
                  <a:cs typeface="+mn-cs"/>
                  <a:sym typeface="Calibri" panose="020F0502020204030204" pitchFamily="34" charset="0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等线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27" name="Rectangle 2">
            <a:extLst>
              <a:ext uri="{FF2B5EF4-FFF2-40B4-BE49-F238E27FC236}">
                <a16:creationId xmlns:a16="http://schemas.microsoft.com/office/drawing/2014/main" id="{85F0D0FD-AC04-4F4A-BF1A-C72845E05E88}"/>
              </a:ext>
            </a:extLst>
          </p:cNvPr>
          <p:cNvSpPr txBox="1">
            <a:spLocks noChangeArrowheads="1"/>
          </p:cNvSpPr>
          <p:nvPr/>
        </p:nvSpPr>
        <p:spPr>
          <a:xfrm>
            <a:off x="446433" y="226888"/>
            <a:ext cx="5024381" cy="632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hanoi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(3, A, B, C)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执行过程</a:t>
            </a:r>
          </a:p>
        </p:txBody>
      </p:sp>
    </p:spTree>
    <p:extLst>
      <p:ext uri="{BB962C8B-B14F-4D97-AF65-F5344CB8AC3E}">
        <p14:creationId xmlns:p14="http://schemas.microsoft.com/office/powerpoint/2010/main" val="230262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7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0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22222E-6 L -6.25E-7 0.04004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2.59259E-6 L -0.0858 0.4182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0" y="2090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-0.10872 0.3796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43" y="1898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11111E-6 L -0.06406 0.3421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3" y="1710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7 L -0.14831 0.4578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2" y="2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2.59259E-6 L 0.44726 -0.59838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57" y="-29931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41953 -0.55787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77" y="-27894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48148E-6 L 0.39661 -0.5199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31" y="-25995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0.37213 -0.48264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07" y="-2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7 L 0.35729 0.02708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2.96296E-6 L -0.00039 -0.20741 " pathEditMode="relative" rAng="0" ptsTypes="AA">
                                      <p:cBhvr>
                                        <p:cTn id="1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20741 L -0.1431 -0.20741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388 -0.20718 L -0.14388 -0.05857 " pathEditMode="relative" rAng="0" ptsTypes="AA">
                                      <p:cBhvr>
                                        <p:cTn id="1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4004 L -6.25E-7 0.081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500"/>
                            </p:stCondLst>
                            <p:childTnLst>
                              <p:par>
                                <p:cTn id="17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2" grpId="1"/>
      <p:bldP spid="102" grpId="2"/>
      <p:bldP spid="30" grpId="0"/>
      <p:bldP spid="90" grpId="0"/>
      <p:bldP spid="90" grpId="1"/>
      <p:bldP spid="93" grpId="0" animBg="1"/>
      <p:bldP spid="93" grpId="1" animBg="1"/>
      <p:bldP spid="99" grpId="0"/>
      <p:bldP spid="99" grpId="1"/>
      <p:bldP spid="99" grpId="2"/>
      <p:bldP spid="100" grpId="0"/>
      <p:bldP spid="100" grpId="1"/>
      <p:bldP spid="100" grpId="2"/>
      <p:bldP spid="101" grpId="0"/>
      <p:bldP spid="101" grpId="1"/>
      <p:bldP spid="101" grpId="2"/>
      <p:bldP spid="13" grpId="0"/>
      <p:bldP spid="13" grpId="1"/>
      <p:bldP spid="13" grpId="2"/>
      <p:bldP spid="14" grpId="0"/>
      <p:bldP spid="14" grpId="1"/>
      <p:bldP spid="15" grpId="0"/>
      <p:bldP spid="15" grpId="1"/>
      <p:bldP spid="16" grpId="0"/>
      <p:bldP spid="16" grpId="1"/>
      <p:bldP spid="28" grpId="0"/>
      <p:bldP spid="28" grpId="1"/>
      <p:bldP spid="28" grpId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22">
            <a:extLst>
              <a:ext uri="{FF2B5EF4-FFF2-40B4-BE49-F238E27FC236}">
                <a16:creationId xmlns:a16="http://schemas.microsoft.com/office/drawing/2014/main" id="{5FF56406-E7AE-4483-9D5A-BAE7466F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038" y="425013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4574348" y="1108075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else 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0" name="矩形 122">
            <a:extLst>
              <a:ext uri="{FF2B5EF4-FFF2-40B4-BE49-F238E27FC236}">
                <a16:creationId xmlns:a16="http://schemas.microsoft.com/office/drawing/2014/main" id="{8A9C4C6B-EB08-27D2-A0B4-1BAB8D4A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658" y="425349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8" name="矩形 3"/>
          <p:cNvSpPr>
            <a:spLocks noChangeArrowheads="1"/>
          </p:cNvSpPr>
          <p:nvPr/>
        </p:nvSpPr>
        <p:spPr bwMode="auto">
          <a:xfrm>
            <a:off x="752017" y="1168689"/>
            <a:ext cx="3175001" cy="3970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else 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5300" name="直接连接符 10"/>
          <p:cNvSpPr>
            <a:spLocks noChangeShapeType="1"/>
          </p:cNvSpPr>
          <p:nvPr/>
        </p:nvSpPr>
        <p:spPr bwMode="auto">
          <a:xfrm>
            <a:off x="2662238" y="5340351"/>
            <a:ext cx="0" cy="13890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1" name="直接连接符 11"/>
          <p:cNvSpPr>
            <a:spLocks noChangeShapeType="1"/>
          </p:cNvSpPr>
          <p:nvPr/>
        </p:nvSpPr>
        <p:spPr bwMode="auto">
          <a:xfrm>
            <a:off x="4437063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2" name="直接连接符 12"/>
          <p:cNvSpPr>
            <a:spLocks noChangeShapeType="1"/>
          </p:cNvSpPr>
          <p:nvPr/>
        </p:nvSpPr>
        <p:spPr bwMode="auto">
          <a:xfrm>
            <a:off x="6192838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5305" name="组合 5"/>
          <p:cNvGrpSpPr/>
          <p:nvPr/>
        </p:nvGrpSpPr>
        <p:grpSpPr bwMode="auto">
          <a:xfrm>
            <a:off x="1868488" y="6259514"/>
            <a:ext cx="1587500" cy="830997"/>
            <a:chOff x="-32606" y="-31897"/>
            <a:chExt cx="2275840" cy="1150781"/>
          </a:xfrm>
        </p:grpSpPr>
        <p:sp>
          <p:nvSpPr>
            <p:cNvPr id="55409" name="矩形 17"/>
            <p:cNvSpPr>
              <a:spLocks noChangeArrowheads="1"/>
            </p:cNvSpPr>
            <p:nvPr/>
          </p:nvSpPr>
          <p:spPr bwMode="auto">
            <a:xfrm>
              <a:off x="-32606" y="50892"/>
              <a:ext cx="2275840" cy="498055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4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4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55410" name="文本框 23"/>
            <p:cNvSpPr>
              <a:spLocks noChangeArrowheads="1"/>
            </p:cNvSpPr>
            <p:nvPr/>
          </p:nvSpPr>
          <p:spPr bwMode="auto">
            <a:xfrm>
              <a:off x="232313" y="-31897"/>
              <a:ext cx="275492" cy="11507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3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19" name="文本框 16"/>
          <p:cNvSpPr>
            <a:spLocks noChangeArrowheads="1"/>
          </p:cNvSpPr>
          <p:nvPr/>
        </p:nvSpPr>
        <p:spPr bwMode="auto">
          <a:xfrm>
            <a:off x="2460625" y="4846639"/>
            <a:ext cx="43313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A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55307" name="文本框 20"/>
          <p:cNvSpPr>
            <a:spLocks noChangeArrowheads="1"/>
          </p:cNvSpPr>
          <p:nvPr/>
        </p:nvSpPr>
        <p:spPr bwMode="auto">
          <a:xfrm>
            <a:off x="5995988" y="4860926"/>
            <a:ext cx="40267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C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1" name="文本框 24"/>
          <p:cNvSpPr>
            <a:spLocks noChangeArrowheads="1"/>
          </p:cNvSpPr>
          <p:nvPr/>
        </p:nvSpPr>
        <p:spPr bwMode="auto">
          <a:xfrm>
            <a:off x="4251325" y="4840289"/>
            <a:ext cx="41549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B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49" name="文本框 16"/>
          <p:cNvSpPr>
            <a:spLocks noChangeArrowheads="1"/>
          </p:cNvSpPr>
          <p:nvPr/>
        </p:nvSpPr>
        <p:spPr bwMode="auto">
          <a:xfrm>
            <a:off x="1435392" y="4619359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53" name="文本框 16"/>
          <p:cNvSpPr>
            <a:spLocks noChangeArrowheads="1"/>
          </p:cNvSpPr>
          <p:nvPr/>
        </p:nvSpPr>
        <p:spPr bwMode="auto">
          <a:xfrm>
            <a:off x="5531881" y="4663992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cxnSp>
        <p:nvCxnSpPr>
          <p:cNvPr id="55317" name="直接连接符 56"/>
          <p:cNvCxnSpPr>
            <a:cxnSpLocks noChangeShapeType="1"/>
          </p:cNvCxnSpPr>
          <p:nvPr/>
        </p:nvCxnSpPr>
        <p:spPr bwMode="auto">
          <a:xfrm flipV="1">
            <a:off x="4236789" y="1314451"/>
            <a:ext cx="0" cy="267028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55318" name="直接箭头连接符 58"/>
          <p:cNvCxnSpPr>
            <a:cxnSpLocks noChangeShapeType="1"/>
          </p:cNvCxnSpPr>
          <p:nvPr/>
        </p:nvCxnSpPr>
        <p:spPr bwMode="auto">
          <a:xfrm>
            <a:off x="4226212" y="1295401"/>
            <a:ext cx="301720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sp>
        <p:nvSpPr>
          <p:cNvPr id="55319" name="矩形 61"/>
          <p:cNvSpPr>
            <a:spLocks noChangeArrowheads="1"/>
          </p:cNvSpPr>
          <p:nvPr/>
        </p:nvSpPr>
        <p:spPr bwMode="auto">
          <a:xfrm>
            <a:off x="3808204" y="115598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0" name="矩形 64"/>
          <p:cNvSpPr>
            <a:spLocks noChangeArrowheads="1"/>
          </p:cNvSpPr>
          <p:nvPr/>
        </p:nvSpPr>
        <p:spPr bwMode="auto">
          <a:xfrm>
            <a:off x="2293143" y="340831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1" name="矩形 65"/>
          <p:cNvSpPr>
            <a:spLocks noChangeArrowheads="1"/>
          </p:cNvSpPr>
          <p:nvPr/>
        </p:nvSpPr>
        <p:spPr bwMode="auto">
          <a:xfrm>
            <a:off x="3811379" y="144621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2" name="矩形 66"/>
          <p:cNvSpPr>
            <a:spLocks noChangeArrowheads="1"/>
          </p:cNvSpPr>
          <p:nvPr/>
        </p:nvSpPr>
        <p:spPr bwMode="auto">
          <a:xfrm>
            <a:off x="3811379" y="196850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3" name="矩形 67"/>
          <p:cNvSpPr>
            <a:spLocks noChangeArrowheads="1"/>
          </p:cNvSpPr>
          <p:nvPr/>
        </p:nvSpPr>
        <p:spPr bwMode="auto">
          <a:xfrm>
            <a:off x="3811379" y="170656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5324" name="Group 4"/>
          <p:cNvGrpSpPr>
            <a:grpSpLocks noChangeAspect="1"/>
          </p:cNvGrpSpPr>
          <p:nvPr/>
        </p:nvGrpSpPr>
        <p:grpSpPr bwMode="auto">
          <a:xfrm>
            <a:off x="3227179" y="1171575"/>
            <a:ext cx="841375" cy="1130300"/>
            <a:chOff x="1665" y="698"/>
            <a:chExt cx="530" cy="712"/>
          </a:xfrm>
        </p:grpSpPr>
        <p:sp>
          <p:nvSpPr>
            <p:cNvPr id="5539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665" y="698"/>
              <a:ext cx="530" cy="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9" name="Freeform 9"/>
            <p:cNvSpPr>
              <a:spLocks noEditPoints="1"/>
            </p:cNvSpPr>
            <p:nvPr/>
          </p:nvSpPr>
          <p:spPr bwMode="auto">
            <a:xfrm>
              <a:off x="1679" y="809"/>
              <a:ext cx="430" cy="20"/>
            </a:xfrm>
            <a:custGeom>
              <a:avLst/>
              <a:gdLst>
                <a:gd name="T0" fmla="*/ 6 w 593"/>
                <a:gd name="T1" fmla="*/ 9 h 28"/>
                <a:gd name="T2" fmla="*/ 87 w 593"/>
                <a:gd name="T3" fmla="*/ 7 h 28"/>
                <a:gd name="T4" fmla="*/ 93 w 593"/>
                <a:gd name="T5" fmla="*/ 12 h 28"/>
                <a:gd name="T6" fmla="*/ 87 w 593"/>
                <a:gd name="T7" fmla="*/ 19 h 28"/>
                <a:gd name="T8" fmla="*/ 6 w 593"/>
                <a:gd name="T9" fmla="*/ 20 h 28"/>
                <a:gd name="T10" fmla="*/ 0 w 593"/>
                <a:gd name="T11" fmla="*/ 14 h 28"/>
                <a:gd name="T12" fmla="*/ 6 w 593"/>
                <a:gd name="T13" fmla="*/ 9 h 28"/>
                <a:gd name="T14" fmla="*/ 145 w 593"/>
                <a:gd name="T15" fmla="*/ 6 h 28"/>
                <a:gd name="T16" fmla="*/ 226 w 593"/>
                <a:gd name="T17" fmla="*/ 4 h 28"/>
                <a:gd name="T18" fmla="*/ 232 w 593"/>
                <a:gd name="T19" fmla="*/ 10 h 28"/>
                <a:gd name="T20" fmla="*/ 226 w 593"/>
                <a:gd name="T21" fmla="*/ 16 h 28"/>
                <a:gd name="T22" fmla="*/ 145 w 593"/>
                <a:gd name="T23" fmla="*/ 17 h 28"/>
                <a:gd name="T24" fmla="*/ 139 w 593"/>
                <a:gd name="T25" fmla="*/ 11 h 28"/>
                <a:gd name="T26" fmla="*/ 145 w 593"/>
                <a:gd name="T27" fmla="*/ 6 h 28"/>
                <a:gd name="T28" fmla="*/ 284 w 593"/>
                <a:gd name="T29" fmla="*/ 3 h 28"/>
                <a:gd name="T30" fmla="*/ 365 w 593"/>
                <a:gd name="T31" fmla="*/ 1 h 28"/>
                <a:gd name="T32" fmla="*/ 371 w 593"/>
                <a:gd name="T33" fmla="*/ 7 h 28"/>
                <a:gd name="T34" fmla="*/ 365 w 593"/>
                <a:gd name="T35" fmla="*/ 13 h 28"/>
                <a:gd name="T36" fmla="*/ 284 w 593"/>
                <a:gd name="T37" fmla="*/ 14 h 28"/>
                <a:gd name="T38" fmla="*/ 278 w 593"/>
                <a:gd name="T39" fmla="*/ 9 h 28"/>
                <a:gd name="T40" fmla="*/ 284 w 593"/>
                <a:gd name="T41" fmla="*/ 3 h 28"/>
                <a:gd name="T42" fmla="*/ 423 w 593"/>
                <a:gd name="T43" fmla="*/ 0 h 28"/>
                <a:gd name="T44" fmla="*/ 424 w 593"/>
                <a:gd name="T45" fmla="*/ 0 h 28"/>
                <a:gd name="T46" fmla="*/ 430 w 593"/>
                <a:gd name="T47" fmla="*/ 6 h 28"/>
                <a:gd name="T48" fmla="*/ 424 w 593"/>
                <a:gd name="T49" fmla="*/ 11 h 28"/>
                <a:gd name="T50" fmla="*/ 423 w 593"/>
                <a:gd name="T51" fmla="*/ 11 h 28"/>
                <a:gd name="T52" fmla="*/ 418 w 593"/>
                <a:gd name="T53" fmla="*/ 6 h 28"/>
                <a:gd name="T54" fmla="*/ 423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0" name="Freeform 10"/>
            <p:cNvSpPr/>
            <p:nvPr/>
          </p:nvSpPr>
          <p:spPr bwMode="auto">
            <a:xfrm>
              <a:off x="1685" y="797"/>
              <a:ext cx="26" cy="51"/>
            </a:xfrm>
            <a:custGeom>
              <a:avLst/>
              <a:gdLst>
                <a:gd name="T0" fmla="*/ 25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1" name="Rectangle 11"/>
            <p:cNvSpPr>
              <a:spLocks noChangeArrowheads="1"/>
            </p:cNvSpPr>
            <p:nvPr/>
          </p:nvSpPr>
          <p:spPr bwMode="auto">
            <a:xfrm>
              <a:off x="1770" y="739"/>
              <a:ext cx="248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2" name="Rectangle 12"/>
            <p:cNvSpPr>
              <a:spLocks noChangeArrowheads="1"/>
            </p:cNvSpPr>
            <p:nvPr/>
          </p:nvSpPr>
          <p:spPr bwMode="auto">
            <a:xfrm>
              <a:off x="1750" y="713"/>
              <a:ext cx="291" cy="1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3" name="Freeform 13"/>
            <p:cNvSpPr>
              <a:spLocks noEditPoints="1"/>
            </p:cNvSpPr>
            <p:nvPr/>
          </p:nvSpPr>
          <p:spPr bwMode="auto">
            <a:xfrm>
              <a:off x="1776" y="990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4" name="Freeform 14"/>
            <p:cNvSpPr/>
            <p:nvPr/>
          </p:nvSpPr>
          <p:spPr bwMode="auto">
            <a:xfrm>
              <a:off x="1782" y="970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5" name="Freeform 15"/>
            <p:cNvSpPr>
              <a:spLocks noEditPoints="1"/>
            </p:cNvSpPr>
            <p:nvPr/>
          </p:nvSpPr>
          <p:spPr bwMode="auto">
            <a:xfrm>
              <a:off x="1776" y="1163"/>
              <a:ext cx="311" cy="11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1 h 16"/>
                <a:gd name="T8" fmla="*/ 6 w 429"/>
                <a:gd name="T9" fmla="*/ 11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1 h 16"/>
                <a:gd name="T22" fmla="*/ 145 w 429"/>
                <a:gd name="T23" fmla="*/ 11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1 h 16"/>
                <a:gd name="T36" fmla="*/ 284 w 429"/>
                <a:gd name="T37" fmla="*/ 11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6" name="Freeform 16"/>
            <p:cNvSpPr/>
            <p:nvPr/>
          </p:nvSpPr>
          <p:spPr bwMode="auto">
            <a:xfrm>
              <a:off x="1782" y="1143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7" name="Freeform 17"/>
            <p:cNvSpPr>
              <a:spLocks noEditPoints="1"/>
            </p:cNvSpPr>
            <p:nvPr/>
          </p:nvSpPr>
          <p:spPr bwMode="auto">
            <a:xfrm>
              <a:off x="1776" y="1313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8" name="Freeform 18"/>
            <p:cNvSpPr/>
            <p:nvPr/>
          </p:nvSpPr>
          <p:spPr bwMode="auto">
            <a:xfrm>
              <a:off x="1782" y="1293"/>
              <a:ext cx="26" cy="52"/>
            </a:xfrm>
            <a:custGeom>
              <a:avLst/>
              <a:gdLst>
                <a:gd name="T0" fmla="*/ 26 w 26"/>
                <a:gd name="T1" fmla="*/ 0 h 52"/>
                <a:gd name="T2" fmla="*/ 0 w 26"/>
                <a:gd name="T3" fmla="*/ 26 h 52"/>
                <a:gd name="T4" fmla="*/ 26 w 26"/>
                <a:gd name="T5" fmla="*/ 52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5328" name="组合 117"/>
          <p:cNvGrpSpPr/>
          <p:nvPr/>
        </p:nvGrpSpPr>
        <p:grpSpPr bwMode="auto">
          <a:xfrm>
            <a:off x="7084975" y="1142207"/>
            <a:ext cx="841375" cy="1130300"/>
            <a:chOff x="7622548" y="2841221"/>
            <a:chExt cx="841375" cy="1130300"/>
          </a:xfrm>
        </p:grpSpPr>
        <p:sp>
          <p:nvSpPr>
            <p:cNvPr id="55387" name="AutoShape 3"/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88" name="Freeform 9"/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89" name="Freeform 10"/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0" name="Rectangle 11"/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1" name="Rectangle 12"/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2" name="Freeform 13"/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3" name="Freeform 14"/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4" name="Freeform 15"/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5" name="Freeform 16"/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6" name="Freeform 17"/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7" name="Freeform 18"/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329" name="AutoShape 3"/>
          <p:cNvSpPr>
            <a:spLocks noChangeAspect="1" noChangeArrowheads="1" noTextEdit="1"/>
          </p:cNvSpPr>
          <p:nvPr/>
        </p:nvSpPr>
        <p:spPr bwMode="auto">
          <a:xfrm>
            <a:off x="7770814" y="149225"/>
            <a:ext cx="841375" cy="113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5330" name="直接连接符 84"/>
          <p:cNvCxnSpPr>
            <a:cxnSpLocks noChangeShapeType="1"/>
          </p:cNvCxnSpPr>
          <p:nvPr/>
        </p:nvCxnSpPr>
        <p:spPr bwMode="auto">
          <a:xfrm>
            <a:off x="1318069" y="3984731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8F16DA-F106-468F-BA9C-AF868FEC0FFE}"/>
              </a:ext>
            </a:extLst>
          </p:cNvPr>
          <p:cNvGrpSpPr/>
          <p:nvPr/>
        </p:nvGrpSpPr>
        <p:grpSpPr>
          <a:xfrm>
            <a:off x="7481667" y="5262991"/>
            <a:ext cx="3773810" cy="509588"/>
            <a:chOff x="8021238" y="2910327"/>
            <a:chExt cx="3773810" cy="509588"/>
          </a:xfrm>
        </p:grpSpPr>
        <p:grpSp>
          <p:nvGrpSpPr>
            <p:cNvPr id="55347" name="组合 24"/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55385" name="直接连接符 6"/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86" name="直接连接符 11"/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56" name="矩形 129"/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   2, A, C, B</a:t>
              </a:r>
            </a:p>
          </p:txBody>
        </p:sp>
        <p:sp>
          <p:nvSpPr>
            <p:cNvPr id="114" name="文本框 16"/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1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499804-4551-4123-86C3-A4D24D6280FC}"/>
              </a:ext>
            </a:extLst>
          </p:cNvPr>
          <p:cNvGrpSpPr/>
          <p:nvPr/>
        </p:nvGrpSpPr>
        <p:grpSpPr>
          <a:xfrm>
            <a:off x="7481667" y="4561242"/>
            <a:ext cx="3748410" cy="2130275"/>
            <a:chOff x="6840215" y="4393316"/>
            <a:chExt cx="3748410" cy="2130275"/>
          </a:xfrm>
        </p:grpSpPr>
        <p:sp>
          <p:nvSpPr>
            <p:cNvPr id="55348" name="直接连接符 6"/>
            <p:cNvSpPr>
              <a:spLocks noChangeShapeType="1"/>
            </p:cNvSpPr>
            <p:nvPr/>
          </p:nvSpPr>
          <p:spPr bwMode="auto">
            <a:xfrm>
              <a:off x="8239126" y="6501515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49" name="直接连接符 11"/>
            <p:cNvSpPr>
              <a:spLocks noChangeShapeType="1"/>
            </p:cNvSpPr>
            <p:nvPr/>
          </p:nvSpPr>
          <p:spPr bwMode="auto">
            <a:xfrm flipH="1">
              <a:off x="8224838" y="4393316"/>
              <a:ext cx="14287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0" name="直接连接符 12"/>
            <p:cNvSpPr>
              <a:spLocks noChangeShapeType="1"/>
            </p:cNvSpPr>
            <p:nvPr/>
          </p:nvSpPr>
          <p:spPr bwMode="auto">
            <a:xfrm>
              <a:off x="10536238" y="4393316"/>
              <a:ext cx="0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1" name="矩形 187"/>
            <p:cNvSpPr>
              <a:spLocks noChangeArrowheads="1"/>
            </p:cNvSpPr>
            <p:nvPr/>
          </p:nvSpPr>
          <p:spPr bwMode="auto">
            <a:xfrm>
              <a:off x="7991475" y="5622040"/>
              <a:ext cx="25971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i+1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3, A, B, C</a:t>
              </a:r>
            </a:p>
          </p:txBody>
        </p:sp>
        <p:sp>
          <p:nvSpPr>
            <p:cNvPr id="55352" name="直接连接符 6"/>
            <p:cNvSpPr>
              <a:spLocks noChangeShapeType="1"/>
            </p:cNvSpPr>
            <p:nvPr/>
          </p:nvSpPr>
          <p:spPr bwMode="auto">
            <a:xfrm>
              <a:off x="8239126" y="5596640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3" name="直接连接符 11"/>
            <p:cNvSpPr>
              <a:spLocks noChangeShapeType="1"/>
            </p:cNvSpPr>
            <p:nvPr/>
          </p:nvSpPr>
          <p:spPr bwMode="auto">
            <a:xfrm>
              <a:off x="8710613" y="5596641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文本框 16"/>
            <p:cNvSpPr>
              <a:spLocks noChangeArrowheads="1"/>
            </p:cNvSpPr>
            <p:nvPr/>
          </p:nvSpPr>
          <p:spPr bwMode="auto">
            <a:xfrm>
              <a:off x="6840215" y="557438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0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4" name="直接连接符 6"/>
            <p:cNvSpPr>
              <a:spLocks noChangeShapeType="1"/>
            </p:cNvSpPr>
            <p:nvPr/>
          </p:nvSpPr>
          <p:spPr bwMode="auto">
            <a:xfrm>
              <a:off x="8239126" y="6052103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5" name="直接连接符 11"/>
            <p:cNvSpPr>
              <a:spLocks noChangeShapeType="1"/>
            </p:cNvSpPr>
            <p:nvPr/>
          </p:nvSpPr>
          <p:spPr bwMode="auto">
            <a:xfrm>
              <a:off x="8710613" y="6052104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6" name="矩形 187"/>
            <p:cNvSpPr>
              <a:spLocks noChangeArrowheads="1"/>
            </p:cNvSpPr>
            <p:nvPr/>
          </p:nvSpPr>
          <p:spPr bwMode="auto">
            <a:xfrm>
              <a:off x="7991475" y="610781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…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    ……</a:t>
              </a:r>
            </a:p>
          </p:txBody>
        </p:sp>
        <p:sp>
          <p:nvSpPr>
            <p:cNvPr id="177" name="文本框 16"/>
            <p:cNvSpPr>
              <a:spLocks noChangeArrowheads="1"/>
            </p:cNvSpPr>
            <p:nvPr/>
          </p:nvSpPr>
          <p:spPr bwMode="auto">
            <a:xfrm>
              <a:off x="6897365" y="6097317"/>
              <a:ext cx="123623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main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栈帧</a:t>
              </a:r>
            </a:p>
          </p:txBody>
        </p:sp>
      </p:grpSp>
      <p:sp>
        <p:nvSpPr>
          <p:cNvPr id="123" name="矩形 64">
            <a:extLst>
              <a:ext uri="{FF2B5EF4-FFF2-40B4-BE49-F238E27FC236}">
                <a16:creationId xmlns:a16="http://schemas.microsoft.com/office/drawing/2014/main" id="{BA738C11-1E09-429B-BF02-90957BBA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6" y="340934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" name="矩形 102">
            <a:extLst>
              <a:ext uri="{FF2B5EF4-FFF2-40B4-BE49-F238E27FC236}">
                <a16:creationId xmlns:a16="http://schemas.microsoft.com/office/drawing/2014/main" id="{FC44E3E4-66E1-4389-853C-E82DF1A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229" y="340118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" name="矩形 104">
            <a:extLst>
              <a:ext uri="{FF2B5EF4-FFF2-40B4-BE49-F238E27FC236}">
                <a16:creationId xmlns:a16="http://schemas.microsoft.com/office/drawing/2014/main" id="{36CD40FF-0996-4BC3-A7B9-FE535547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17" y="341042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" name="矩形 105">
            <a:extLst>
              <a:ext uri="{FF2B5EF4-FFF2-40B4-BE49-F238E27FC236}">
                <a16:creationId xmlns:a16="http://schemas.microsoft.com/office/drawing/2014/main" id="{DBA01893-71F1-430E-B8D3-01051AEF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42" y="34010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矩形 64">
            <a:extLst>
              <a:ext uri="{FF2B5EF4-FFF2-40B4-BE49-F238E27FC236}">
                <a16:creationId xmlns:a16="http://schemas.microsoft.com/office/drawing/2014/main" id="{9DD76D49-9EF8-4B0F-97A5-713EA5E1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82" y="11559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矩形 102">
            <a:extLst>
              <a:ext uri="{FF2B5EF4-FFF2-40B4-BE49-F238E27FC236}">
                <a16:creationId xmlns:a16="http://schemas.microsoft.com/office/drawing/2014/main" id="{F0004EDE-538F-420F-B44F-1ABB8EE9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677" y="144729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矩形 104">
            <a:extLst>
              <a:ext uri="{FF2B5EF4-FFF2-40B4-BE49-F238E27FC236}">
                <a16:creationId xmlns:a16="http://schemas.microsoft.com/office/drawing/2014/main" id="{5303462B-9614-43A5-8605-D3229957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904" y="170799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8" name="矩形 105">
            <a:extLst>
              <a:ext uri="{FF2B5EF4-FFF2-40B4-BE49-F238E27FC236}">
                <a16:creationId xmlns:a16="http://schemas.microsoft.com/office/drawing/2014/main" id="{6B98055B-CFA5-40A0-BCA7-51384257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684" y="197467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0816350-315A-484D-B4D4-224B032D5B20}"/>
              </a:ext>
            </a:extLst>
          </p:cNvPr>
          <p:cNvSpPr txBox="1"/>
          <p:nvPr/>
        </p:nvSpPr>
        <p:spPr>
          <a:xfrm>
            <a:off x="758238" y="3913418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" name="矩形 125">
            <a:extLst>
              <a:ext uri="{FF2B5EF4-FFF2-40B4-BE49-F238E27FC236}">
                <a16:creationId xmlns:a16="http://schemas.microsoft.com/office/drawing/2014/main" id="{C11D41CF-A09A-4C11-B3FB-575F7286E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127" y="4261621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矩形 132">
            <a:extLst>
              <a:ext uri="{FF2B5EF4-FFF2-40B4-BE49-F238E27FC236}">
                <a16:creationId xmlns:a16="http://schemas.microsoft.com/office/drawing/2014/main" id="{2594944D-187F-47A0-BD24-054F924A5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6847" y="425706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矩形 135">
            <a:extLst>
              <a:ext uri="{FF2B5EF4-FFF2-40B4-BE49-F238E27FC236}">
                <a16:creationId xmlns:a16="http://schemas.microsoft.com/office/drawing/2014/main" id="{588FA892-1B2E-464D-9914-8E34312A0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0050" y="425653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" name="直接连接符 6">
            <a:extLst>
              <a:ext uri="{FF2B5EF4-FFF2-40B4-BE49-F238E27FC236}">
                <a16:creationId xmlns:a16="http://schemas.microsoft.com/office/drawing/2014/main" id="{62004F5F-7BE9-49FD-A381-DBB678329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5439" y="6729413"/>
            <a:ext cx="5691187" cy="0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3">
            <a:extLst>
              <a:ext uri="{FF2B5EF4-FFF2-40B4-BE49-F238E27FC236}">
                <a16:creationId xmlns:a16="http://schemas.microsoft.com/office/drawing/2014/main" id="{699F1191-6CF9-3A8E-C844-A9102A91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948" y="109663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25">
            <a:extLst>
              <a:ext uri="{FF2B5EF4-FFF2-40B4-BE49-F238E27FC236}">
                <a16:creationId xmlns:a16="http://schemas.microsoft.com/office/drawing/2014/main" id="{0D781A94-FE8D-66C3-53B7-C8FE49F33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9847" y="137771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32">
            <a:extLst>
              <a:ext uri="{FF2B5EF4-FFF2-40B4-BE49-F238E27FC236}">
                <a16:creationId xmlns:a16="http://schemas.microsoft.com/office/drawing/2014/main" id="{150A2B82-84E2-F2A8-1DB2-881E55417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123" y="166446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35">
            <a:extLst>
              <a:ext uri="{FF2B5EF4-FFF2-40B4-BE49-F238E27FC236}">
                <a16:creationId xmlns:a16="http://schemas.microsoft.com/office/drawing/2014/main" id="{D39A3CF5-4282-C1DC-1D16-9802A0C5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4" y="190976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D8E05F-A8D0-550D-5828-09B64C2CEE2B}"/>
              </a:ext>
            </a:extLst>
          </p:cNvPr>
          <p:cNvSpPr txBox="1"/>
          <p:nvPr/>
        </p:nvSpPr>
        <p:spPr>
          <a:xfrm>
            <a:off x="8941952" y="5355142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04870F-ACB5-9BEC-4B5D-C61F2510B9E9}"/>
              </a:ext>
            </a:extLst>
          </p:cNvPr>
          <p:cNvGrpSpPr/>
          <p:nvPr/>
        </p:nvGrpSpPr>
        <p:grpSpPr bwMode="auto">
          <a:xfrm>
            <a:off x="3858827" y="6248698"/>
            <a:ext cx="1122362" cy="461665"/>
            <a:chOff x="552030" y="5887358"/>
            <a:chExt cx="1189038" cy="461675"/>
          </a:xfrm>
        </p:grpSpPr>
        <p:sp>
          <p:nvSpPr>
            <p:cNvPr id="38" name="矩形 18">
              <a:extLst>
                <a:ext uri="{FF2B5EF4-FFF2-40B4-BE49-F238E27FC236}">
                  <a16:creationId xmlns:a16="http://schemas.microsoft.com/office/drawing/2014/main" id="{62044C5A-031D-1C9C-7018-4C144ABD7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30" y="5950243"/>
              <a:ext cx="1189038" cy="36098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39" name="文本框 22">
              <a:extLst>
                <a:ext uri="{FF2B5EF4-FFF2-40B4-BE49-F238E27FC236}">
                  <a16:creationId xmlns:a16="http://schemas.microsoft.com/office/drawing/2014/main" id="{D75CA884-EE07-5F33-3414-CA59111D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09" y="5887358"/>
              <a:ext cx="206674" cy="4616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4" name="组合 21">
            <a:extLst>
              <a:ext uri="{FF2B5EF4-FFF2-40B4-BE49-F238E27FC236}">
                <a16:creationId xmlns:a16="http://schemas.microsoft.com/office/drawing/2014/main" id="{612CACEF-ACAF-6DDB-71FD-441AC8CBD785}"/>
              </a:ext>
            </a:extLst>
          </p:cNvPr>
          <p:cNvGrpSpPr/>
          <p:nvPr/>
        </p:nvGrpSpPr>
        <p:grpSpPr bwMode="auto">
          <a:xfrm>
            <a:off x="4097199" y="5906564"/>
            <a:ext cx="676275" cy="461665"/>
            <a:chOff x="764381" y="5526623"/>
            <a:chExt cx="747713" cy="462387"/>
          </a:xfrm>
        </p:grpSpPr>
        <p:sp>
          <p:nvSpPr>
            <p:cNvPr id="5" name="矩形 19">
              <a:extLst>
                <a:ext uri="{FF2B5EF4-FFF2-40B4-BE49-F238E27FC236}">
                  <a16:creationId xmlns:a16="http://schemas.microsoft.com/office/drawing/2014/main" id="{28D0B185-A707-2071-0F4E-525E2F68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" y="5555979"/>
              <a:ext cx="747713" cy="36038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4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4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6" name="文本框 21">
              <a:extLst>
                <a:ext uri="{FF2B5EF4-FFF2-40B4-BE49-F238E27FC236}">
                  <a16:creationId xmlns:a16="http://schemas.microsoft.com/office/drawing/2014/main" id="{251A86AC-9789-224C-048B-D2C083D28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945" y="5526623"/>
              <a:ext cx="206883" cy="4623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cxnSp>
        <p:nvCxnSpPr>
          <p:cNvPr id="9" name="直接箭头连接符 58">
            <a:extLst>
              <a:ext uri="{FF2B5EF4-FFF2-40B4-BE49-F238E27FC236}">
                <a16:creationId xmlns:a16="http://schemas.microsoft.com/office/drawing/2014/main" id="{C4645CF9-8E02-8457-34B8-885701FA9B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56684" y="4860926"/>
            <a:ext cx="336286" cy="0"/>
          </a:xfrm>
          <a:prstGeom prst="straightConnector1">
            <a:avLst/>
          </a:prstGeom>
          <a:noFill/>
          <a:ln w="19050" algn="ctr">
            <a:solidFill>
              <a:srgbClr val="990000"/>
            </a:solidFill>
            <a:round/>
            <a:tailEnd type="triangle" w="med" len="med"/>
          </a:ln>
        </p:spPr>
      </p:cxnSp>
      <p:cxnSp>
        <p:nvCxnSpPr>
          <p:cNvPr id="12" name="直接箭头连接符 58">
            <a:extLst>
              <a:ext uri="{FF2B5EF4-FFF2-40B4-BE49-F238E27FC236}">
                <a16:creationId xmlns:a16="http://schemas.microsoft.com/office/drawing/2014/main" id="{4C30F236-BD21-DD6C-5873-F7172EB3966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136278" y="1724025"/>
            <a:ext cx="1722549" cy="2299568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23" name="直接箭头连接符 58">
            <a:extLst>
              <a:ext uri="{FF2B5EF4-FFF2-40B4-BE49-F238E27FC236}">
                <a16:creationId xmlns:a16="http://schemas.microsoft.com/office/drawing/2014/main" id="{366993AF-4221-D912-C0E0-1C846B19C53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03962" y="2238641"/>
            <a:ext cx="1269472" cy="1795514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45" name="直接箭头连接符 58">
            <a:extLst>
              <a:ext uri="{FF2B5EF4-FFF2-40B4-BE49-F238E27FC236}">
                <a16:creationId xmlns:a16="http://schemas.microsoft.com/office/drawing/2014/main" id="{6252AFAE-8553-932F-27AF-37DDE879A87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30932" y="1454124"/>
            <a:ext cx="1407930" cy="2580031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sp>
        <p:nvSpPr>
          <p:cNvPr id="103" name="Rectangle 2">
            <a:extLst>
              <a:ext uri="{FF2B5EF4-FFF2-40B4-BE49-F238E27FC236}">
                <a16:creationId xmlns:a16="http://schemas.microsoft.com/office/drawing/2014/main" id="{61BE9653-C907-48CB-9C5A-1DC9A47F3719}"/>
              </a:ext>
            </a:extLst>
          </p:cNvPr>
          <p:cNvSpPr txBox="1">
            <a:spLocks noChangeArrowheads="1"/>
          </p:cNvSpPr>
          <p:nvPr/>
        </p:nvSpPr>
        <p:spPr>
          <a:xfrm>
            <a:off x="446434" y="226888"/>
            <a:ext cx="4868516" cy="6494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hanoi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(3, A, B, C)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执行过程</a:t>
            </a:r>
          </a:p>
        </p:txBody>
      </p:sp>
    </p:spTree>
    <p:extLst>
      <p:ext uri="{BB962C8B-B14F-4D97-AF65-F5344CB8AC3E}">
        <p14:creationId xmlns:p14="http://schemas.microsoft.com/office/powerpoint/2010/main" val="177925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7" dur="indefinite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7037E-6 L -0.30976 -0.113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95" y="-567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3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85185E-6 L 6.25E-7 -0.21296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21296 L 0.28893 -0.21366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893 -0.21366 L 0.28958 -0.0011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0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52" grpId="0"/>
      <p:bldP spid="30" grpId="0"/>
      <p:bldP spid="53" grpId="0" animBg="1"/>
      <p:bldP spid="99" grpId="0"/>
      <p:bldP spid="100" grpId="0"/>
      <p:bldP spid="101" grpId="0"/>
      <p:bldP spid="13" grpId="0"/>
      <p:bldP spid="14" grpId="0"/>
      <p:bldP spid="15" grpId="0"/>
      <p:bldP spid="16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4574348" y="1108075"/>
            <a:ext cx="3175000" cy="424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 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else 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5298" name="矩形 3"/>
          <p:cNvSpPr>
            <a:spLocks noChangeArrowheads="1"/>
          </p:cNvSpPr>
          <p:nvPr/>
        </p:nvSpPr>
        <p:spPr bwMode="auto">
          <a:xfrm>
            <a:off x="752017" y="1168689"/>
            <a:ext cx="3175001" cy="3970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void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n,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x,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y,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char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z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{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1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(1 == n)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move(x,1,z);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else {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实参：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(n–1,x,z,y);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move(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x,n,z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hanoi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(n–1,y,x,z);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5300" name="直接连接符 10"/>
          <p:cNvSpPr>
            <a:spLocks noChangeShapeType="1"/>
          </p:cNvSpPr>
          <p:nvPr/>
        </p:nvSpPr>
        <p:spPr bwMode="auto">
          <a:xfrm>
            <a:off x="2662238" y="5340351"/>
            <a:ext cx="0" cy="1389063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1" name="直接连接符 11"/>
          <p:cNvSpPr>
            <a:spLocks noChangeShapeType="1"/>
          </p:cNvSpPr>
          <p:nvPr/>
        </p:nvSpPr>
        <p:spPr bwMode="auto">
          <a:xfrm>
            <a:off x="4437063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2" name="直接连接符 12"/>
          <p:cNvSpPr>
            <a:spLocks noChangeShapeType="1"/>
          </p:cNvSpPr>
          <p:nvPr/>
        </p:nvSpPr>
        <p:spPr bwMode="auto">
          <a:xfrm>
            <a:off x="6192838" y="5389563"/>
            <a:ext cx="0" cy="1325562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6"/>
          <p:cNvSpPr>
            <a:spLocks noChangeArrowheads="1"/>
          </p:cNvSpPr>
          <p:nvPr/>
        </p:nvSpPr>
        <p:spPr bwMode="auto">
          <a:xfrm>
            <a:off x="2460625" y="4846639"/>
            <a:ext cx="433132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A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55307" name="文本框 20"/>
          <p:cNvSpPr>
            <a:spLocks noChangeArrowheads="1"/>
          </p:cNvSpPr>
          <p:nvPr/>
        </p:nvSpPr>
        <p:spPr bwMode="auto">
          <a:xfrm>
            <a:off x="5995988" y="4860926"/>
            <a:ext cx="40267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C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21" name="文本框 24"/>
          <p:cNvSpPr>
            <a:spLocks noChangeArrowheads="1"/>
          </p:cNvSpPr>
          <p:nvPr/>
        </p:nvSpPr>
        <p:spPr bwMode="auto">
          <a:xfrm>
            <a:off x="4251325" y="4840289"/>
            <a:ext cx="41549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rPr>
              <a:t>B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49" name="文本框 16"/>
          <p:cNvSpPr>
            <a:spLocks noChangeArrowheads="1"/>
          </p:cNvSpPr>
          <p:nvPr/>
        </p:nvSpPr>
        <p:spPr bwMode="auto">
          <a:xfrm>
            <a:off x="1435392" y="4619359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0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sp>
        <p:nvSpPr>
          <p:cNvPr id="53" name="文本框 16"/>
          <p:cNvSpPr>
            <a:spLocks noChangeArrowheads="1"/>
          </p:cNvSpPr>
          <p:nvPr/>
        </p:nvSpPr>
        <p:spPr bwMode="auto">
          <a:xfrm>
            <a:off x="5531881" y="4663992"/>
            <a:ext cx="1231427" cy="369332"/>
          </a:xfrm>
          <a:prstGeom prst="rect">
            <a:avLst/>
          </a:prstGeom>
          <a:noFill/>
          <a:ln w="12700">
            <a:gradFill>
              <a:gsLst>
                <a:gs pos="72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</a:ln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第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层调用</a:t>
            </a:r>
          </a:p>
        </p:txBody>
      </p:sp>
      <p:cxnSp>
        <p:nvCxnSpPr>
          <p:cNvPr id="55317" name="直接连接符 56"/>
          <p:cNvCxnSpPr>
            <a:cxnSpLocks noChangeShapeType="1"/>
          </p:cNvCxnSpPr>
          <p:nvPr/>
        </p:nvCxnSpPr>
        <p:spPr bwMode="auto">
          <a:xfrm flipV="1">
            <a:off x="4236789" y="1299370"/>
            <a:ext cx="0" cy="3218815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cxnSp>
        <p:nvCxnSpPr>
          <p:cNvPr id="55318" name="直接箭头连接符 58"/>
          <p:cNvCxnSpPr>
            <a:cxnSpLocks noChangeShapeType="1"/>
          </p:cNvCxnSpPr>
          <p:nvPr/>
        </p:nvCxnSpPr>
        <p:spPr bwMode="auto">
          <a:xfrm>
            <a:off x="4226212" y="1295401"/>
            <a:ext cx="301720" cy="0"/>
          </a:xfrm>
          <a:prstGeom prst="straightConnector1">
            <a:avLst/>
          </a:prstGeom>
          <a:noFill/>
          <a:ln w="19050" algn="ctr">
            <a:solidFill>
              <a:srgbClr val="7030A0"/>
            </a:solidFill>
            <a:round/>
            <a:tailEnd type="triangle" w="med" len="med"/>
          </a:ln>
        </p:spPr>
      </p:cxnSp>
      <p:sp>
        <p:nvSpPr>
          <p:cNvPr id="55319" name="矩形 61"/>
          <p:cNvSpPr>
            <a:spLocks noChangeArrowheads="1"/>
          </p:cNvSpPr>
          <p:nvPr/>
        </p:nvSpPr>
        <p:spPr bwMode="auto">
          <a:xfrm>
            <a:off x="3808204" y="115598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0" name="矩形 64"/>
          <p:cNvSpPr>
            <a:spLocks noChangeArrowheads="1"/>
          </p:cNvSpPr>
          <p:nvPr/>
        </p:nvSpPr>
        <p:spPr bwMode="auto">
          <a:xfrm>
            <a:off x="2293143" y="340831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1" name="矩形 65"/>
          <p:cNvSpPr>
            <a:spLocks noChangeArrowheads="1"/>
          </p:cNvSpPr>
          <p:nvPr/>
        </p:nvSpPr>
        <p:spPr bwMode="auto">
          <a:xfrm>
            <a:off x="3811379" y="144621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2" name="矩形 66"/>
          <p:cNvSpPr>
            <a:spLocks noChangeArrowheads="1"/>
          </p:cNvSpPr>
          <p:nvPr/>
        </p:nvSpPr>
        <p:spPr bwMode="auto">
          <a:xfrm>
            <a:off x="3811379" y="196850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3" name="矩形 67"/>
          <p:cNvSpPr>
            <a:spLocks noChangeArrowheads="1"/>
          </p:cNvSpPr>
          <p:nvPr/>
        </p:nvSpPr>
        <p:spPr bwMode="auto">
          <a:xfrm>
            <a:off x="3811379" y="170656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5324" name="Group 4"/>
          <p:cNvGrpSpPr>
            <a:grpSpLocks noChangeAspect="1"/>
          </p:cNvGrpSpPr>
          <p:nvPr/>
        </p:nvGrpSpPr>
        <p:grpSpPr bwMode="auto">
          <a:xfrm>
            <a:off x="3227179" y="1171575"/>
            <a:ext cx="841375" cy="1130300"/>
            <a:chOff x="1665" y="698"/>
            <a:chExt cx="530" cy="712"/>
          </a:xfrm>
        </p:grpSpPr>
        <p:sp>
          <p:nvSpPr>
            <p:cNvPr id="5539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665" y="698"/>
              <a:ext cx="530" cy="7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9" name="Freeform 9"/>
            <p:cNvSpPr>
              <a:spLocks noEditPoints="1"/>
            </p:cNvSpPr>
            <p:nvPr/>
          </p:nvSpPr>
          <p:spPr bwMode="auto">
            <a:xfrm>
              <a:off x="1679" y="809"/>
              <a:ext cx="430" cy="20"/>
            </a:xfrm>
            <a:custGeom>
              <a:avLst/>
              <a:gdLst>
                <a:gd name="T0" fmla="*/ 6 w 593"/>
                <a:gd name="T1" fmla="*/ 9 h 28"/>
                <a:gd name="T2" fmla="*/ 87 w 593"/>
                <a:gd name="T3" fmla="*/ 7 h 28"/>
                <a:gd name="T4" fmla="*/ 93 w 593"/>
                <a:gd name="T5" fmla="*/ 12 h 28"/>
                <a:gd name="T6" fmla="*/ 87 w 593"/>
                <a:gd name="T7" fmla="*/ 19 h 28"/>
                <a:gd name="T8" fmla="*/ 6 w 593"/>
                <a:gd name="T9" fmla="*/ 20 h 28"/>
                <a:gd name="T10" fmla="*/ 0 w 593"/>
                <a:gd name="T11" fmla="*/ 14 h 28"/>
                <a:gd name="T12" fmla="*/ 6 w 593"/>
                <a:gd name="T13" fmla="*/ 9 h 28"/>
                <a:gd name="T14" fmla="*/ 145 w 593"/>
                <a:gd name="T15" fmla="*/ 6 h 28"/>
                <a:gd name="T16" fmla="*/ 226 w 593"/>
                <a:gd name="T17" fmla="*/ 4 h 28"/>
                <a:gd name="T18" fmla="*/ 232 w 593"/>
                <a:gd name="T19" fmla="*/ 10 h 28"/>
                <a:gd name="T20" fmla="*/ 226 w 593"/>
                <a:gd name="T21" fmla="*/ 16 h 28"/>
                <a:gd name="T22" fmla="*/ 145 w 593"/>
                <a:gd name="T23" fmla="*/ 17 h 28"/>
                <a:gd name="T24" fmla="*/ 139 w 593"/>
                <a:gd name="T25" fmla="*/ 11 h 28"/>
                <a:gd name="T26" fmla="*/ 145 w 593"/>
                <a:gd name="T27" fmla="*/ 6 h 28"/>
                <a:gd name="T28" fmla="*/ 284 w 593"/>
                <a:gd name="T29" fmla="*/ 3 h 28"/>
                <a:gd name="T30" fmla="*/ 365 w 593"/>
                <a:gd name="T31" fmla="*/ 1 h 28"/>
                <a:gd name="T32" fmla="*/ 371 w 593"/>
                <a:gd name="T33" fmla="*/ 7 h 28"/>
                <a:gd name="T34" fmla="*/ 365 w 593"/>
                <a:gd name="T35" fmla="*/ 13 h 28"/>
                <a:gd name="T36" fmla="*/ 284 w 593"/>
                <a:gd name="T37" fmla="*/ 14 h 28"/>
                <a:gd name="T38" fmla="*/ 278 w 593"/>
                <a:gd name="T39" fmla="*/ 9 h 28"/>
                <a:gd name="T40" fmla="*/ 284 w 593"/>
                <a:gd name="T41" fmla="*/ 3 h 28"/>
                <a:gd name="T42" fmla="*/ 423 w 593"/>
                <a:gd name="T43" fmla="*/ 0 h 28"/>
                <a:gd name="T44" fmla="*/ 424 w 593"/>
                <a:gd name="T45" fmla="*/ 0 h 28"/>
                <a:gd name="T46" fmla="*/ 430 w 593"/>
                <a:gd name="T47" fmla="*/ 6 h 28"/>
                <a:gd name="T48" fmla="*/ 424 w 593"/>
                <a:gd name="T49" fmla="*/ 11 h 28"/>
                <a:gd name="T50" fmla="*/ 423 w 593"/>
                <a:gd name="T51" fmla="*/ 11 h 28"/>
                <a:gd name="T52" fmla="*/ 418 w 593"/>
                <a:gd name="T53" fmla="*/ 6 h 28"/>
                <a:gd name="T54" fmla="*/ 423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0" name="Freeform 10"/>
            <p:cNvSpPr/>
            <p:nvPr/>
          </p:nvSpPr>
          <p:spPr bwMode="auto">
            <a:xfrm>
              <a:off x="1685" y="797"/>
              <a:ext cx="26" cy="51"/>
            </a:xfrm>
            <a:custGeom>
              <a:avLst/>
              <a:gdLst>
                <a:gd name="T0" fmla="*/ 25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1" name="Rectangle 11"/>
            <p:cNvSpPr>
              <a:spLocks noChangeArrowheads="1"/>
            </p:cNvSpPr>
            <p:nvPr/>
          </p:nvSpPr>
          <p:spPr bwMode="auto">
            <a:xfrm>
              <a:off x="1770" y="739"/>
              <a:ext cx="248" cy="1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2" name="Rectangle 12"/>
            <p:cNvSpPr>
              <a:spLocks noChangeArrowheads="1"/>
            </p:cNvSpPr>
            <p:nvPr/>
          </p:nvSpPr>
          <p:spPr bwMode="auto">
            <a:xfrm>
              <a:off x="1750" y="713"/>
              <a:ext cx="291" cy="1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3" name="Freeform 13"/>
            <p:cNvSpPr>
              <a:spLocks noEditPoints="1"/>
            </p:cNvSpPr>
            <p:nvPr/>
          </p:nvSpPr>
          <p:spPr bwMode="auto">
            <a:xfrm>
              <a:off x="1776" y="990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4" name="Freeform 14"/>
            <p:cNvSpPr/>
            <p:nvPr/>
          </p:nvSpPr>
          <p:spPr bwMode="auto">
            <a:xfrm>
              <a:off x="1782" y="970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5" name="Freeform 15"/>
            <p:cNvSpPr>
              <a:spLocks noEditPoints="1"/>
            </p:cNvSpPr>
            <p:nvPr/>
          </p:nvSpPr>
          <p:spPr bwMode="auto">
            <a:xfrm>
              <a:off x="1776" y="1163"/>
              <a:ext cx="311" cy="11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1 h 16"/>
                <a:gd name="T8" fmla="*/ 6 w 429"/>
                <a:gd name="T9" fmla="*/ 11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1 h 16"/>
                <a:gd name="T22" fmla="*/ 145 w 429"/>
                <a:gd name="T23" fmla="*/ 11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1 h 16"/>
                <a:gd name="T36" fmla="*/ 284 w 429"/>
                <a:gd name="T37" fmla="*/ 11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6" name="Freeform 16"/>
            <p:cNvSpPr/>
            <p:nvPr/>
          </p:nvSpPr>
          <p:spPr bwMode="auto">
            <a:xfrm>
              <a:off x="1782" y="1143"/>
              <a:ext cx="26" cy="51"/>
            </a:xfrm>
            <a:custGeom>
              <a:avLst/>
              <a:gdLst>
                <a:gd name="T0" fmla="*/ 26 w 26"/>
                <a:gd name="T1" fmla="*/ 0 h 51"/>
                <a:gd name="T2" fmla="*/ 0 w 26"/>
                <a:gd name="T3" fmla="*/ 26 h 51"/>
                <a:gd name="T4" fmla="*/ 26 w 26"/>
                <a:gd name="T5" fmla="*/ 51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7" name="Freeform 17"/>
            <p:cNvSpPr>
              <a:spLocks noEditPoints="1"/>
            </p:cNvSpPr>
            <p:nvPr/>
          </p:nvSpPr>
          <p:spPr bwMode="auto">
            <a:xfrm>
              <a:off x="1776" y="1313"/>
              <a:ext cx="311" cy="12"/>
            </a:xfrm>
            <a:custGeom>
              <a:avLst/>
              <a:gdLst>
                <a:gd name="T0" fmla="*/ 6 w 429"/>
                <a:gd name="T1" fmla="*/ 0 h 16"/>
                <a:gd name="T2" fmla="*/ 87 w 429"/>
                <a:gd name="T3" fmla="*/ 0 h 16"/>
                <a:gd name="T4" fmla="*/ 93 w 429"/>
                <a:gd name="T5" fmla="*/ 6 h 16"/>
                <a:gd name="T6" fmla="*/ 87 w 429"/>
                <a:gd name="T7" fmla="*/ 12 h 16"/>
                <a:gd name="T8" fmla="*/ 6 w 429"/>
                <a:gd name="T9" fmla="*/ 12 h 16"/>
                <a:gd name="T10" fmla="*/ 0 w 429"/>
                <a:gd name="T11" fmla="*/ 6 h 16"/>
                <a:gd name="T12" fmla="*/ 6 w 429"/>
                <a:gd name="T13" fmla="*/ 0 h 16"/>
                <a:gd name="T14" fmla="*/ 145 w 429"/>
                <a:gd name="T15" fmla="*/ 0 h 16"/>
                <a:gd name="T16" fmla="*/ 226 w 429"/>
                <a:gd name="T17" fmla="*/ 0 h 16"/>
                <a:gd name="T18" fmla="*/ 232 w 429"/>
                <a:gd name="T19" fmla="*/ 6 h 16"/>
                <a:gd name="T20" fmla="*/ 226 w 429"/>
                <a:gd name="T21" fmla="*/ 12 h 16"/>
                <a:gd name="T22" fmla="*/ 145 w 429"/>
                <a:gd name="T23" fmla="*/ 12 h 16"/>
                <a:gd name="T24" fmla="*/ 139 w 429"/>
                <a:gd name="T25" fmla="*/ 6 h 16"/>
                <a:gd name="T26" fmla="*/ 145 w 429"/>
                <a:gd name="T27" fmla="*/ 0 h 16"/>
                <a:gd name="T28" fmla="*/ 284 w 429"/>
                <a:gd name="T29" fmla="*/ 0 h 16"/>
                <a:gd name="T30" fmla="*/ 305 w 429"/>
                <a:gd name="T31" fmla="*/ 0 h 16"/>
                <a:gd name="T32" fmla="*/ 311 w 429"/>
                <a:gd name="T33" fmla="*/ 6 h 16"/>
                <a:gd name="T34" fmla="*/ 305 w 429"/>
                <a:gd name="T35" fmla="*/ 12 h 16"/>
                <a:gd name="T36" fmla="*/ 284 w 429"/>
                <a:gd name="T37" fmla="*/ 12 h 16"/>
                <a:gd name="T38" fmla="*/ 278 w 429"/>
                <a:gd name="T39" fmla="*/ 6 h 16"/>
                <a:gd name="T40" fmla="*/ 284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408" name="Freeform 18"/>
            <p:cNvSpPr/>
            <p:nvPr/>
          </p:nvSpPr>
          <p:spPr bwMode="auto">
            <a:xfrm>
              <a:off x="1782" y="1293"/>
              <a:ext cx="26" cy="52"/>
            </a:xfrm>
            <a:custGeom>
              <a:avLst/>
              <a:gdLst>
                <a:gd name="T0" fmla="*/ 26 w 26"/>
                <a:gd name="T1" fmla="*/ 0 h 52"/>
                <a:gd name="T2" fmla="*/ 0 w 26"/>
                <a:gd name="T3" fmla="*/ 26 h 52"/>
                <a:gd name="T4" fmla="*/ 26 w 26"/>
                <a:gd name="T5" fmla="*/ 52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5328" name="组合 117"/>
          <p:cNvGrpSpPr/>
          <p:nvPr/>
        </p:nvGrpSpPr>
        <p:grpSpPr bwMode="auto">
          <a:xfrm>
            <a:off x="7084975" y="1142207"/>
            <a:ext cx="841375" cy="1130300"/>
            <a:chOff x="7622548" y="2841221"/>
            <a:chExt cx="841375" cy="1130300"/>
          </a:xfrm>
        </p:grpSpPr>
        <p:sp>
          <p:nvSpPr>
            <p:cNvPr id="55387" name="AutoShape 3"/>
            <p:cNvSpPr>
              <a:spLocks noChangeAspect="1" noChangeArrowheads="1" noTextEdit="1"/>
            </p:cNvSpPr>
            <p:nvPr/>
          </p:nvSpPr>
          <p:spPr bwMode="auto">
            <a:xfrm>
              <a:off x="7622548" y="2841221"/>
              <a:ext cx="841375" cy="1130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88" name="Freeform 9"/>
            <p:cNvSpPr>
              <a:spLocks noEditPoints="1"/>
            </p:cNvSpPr>
            <p:nvPr/>
          </p:nvSpPr>
          <p:spPr bwMode="auto">
            <a:xfrm>
              <a:off x="7644773" y="3017434"/>
              <a:ext cx="682625" cy="31750"/>
            </a:xfrm>
            <a:custGeom>
              <a:avLst/>
              <a:gdLst>
                <a:gd name="T0" fmla="*/ 9209 w 593"/>
                <a:gd name="T1" fmla="*/ 13607 h 28"/>
                <a:gd name="T2" fmla="*/ 138137 w 593"/>
                <a:gd name="T3" fmla="*/ 11339 h 28"/>
                <a:gd name="T4" fmla="*/ 147346 w 593"/>
                <a:gd name="T5" fmla="*/ 19277 h 28"/>
                <a:gd name="T6" fmla="*/ 138137 w 593"/>
                <a:gd name="T7" fmla="*/ 29482 h 28"/>
                <a:gd name="T8" fmla="*/ 9209 w 593"/>
                <a:gd name="T9" fmla="*/ 31750 h 28"/>
                <a:gd name="T10" fmla="*/ 0 w 593"/>
                <a:gd name="T11" fmla="*/ 22679 h 28"/>
                <a:gd name="T12" fmla="*/ 9209 w 593"/>
                <a:gd name="T13" fmla="*/ 13607 h 28"/>
                <a:gd name="T14" fmla="*/ 230228 w 593"/>
                <a:gd name="T15" fmla="*/ 9071 h 28"/>
                <a:gd name="T16" fmla="*/ 359155 w 593"/>
                <a:gd name="T17" fmla="*/ 6804 h 28"/>
                <a:gd name="T18" fmla="*/ 368364 w 593"/>
                <a:gd name="T19" fmla="*/ 15875 h 28"/>
                <a:gd name="T20" fmla="*/ 359155 w 593"/>
                <a:gd name="T21" fmla="*/ 24946 h 28"/>
                <a:gd name="T22" fmla="*/ 230228 w 593"/>
                <a:gd name="T23" fmla="*/ 27214 h 28"/>
                <a:gd name="T24" fmla="*/ 221019 w 593"/>
                <a:gd name="T25" fmla="*/ 18143 h 28"/>
                <a:gd name="T26" fmla="*/ 230228 w 593"/>
                <a:gd name="T27" fmla="*/ 9071 h 28"/>
                <a:gd name="T28" fmla="*/ 451246 w 593"/>
                <a:gd name="T29" fmla="*/ 4536 h 28"/>
                <a:gd name="T30" fmla="*/ 580174 w 593"/>
                <a:gd name="T31" fmla="*/ 2268 h 28"/>
                <a:gd name="T32" fmla="*/ 589383 w 593"/>
                <a:gd name="T33" fmla="*/ 11339 h 28"/>
                <a:gd name="T34" fmla="*/ 580174 w 593"/>
                <a:gd name="T35" fmla="*/ 20411 h 28"/>
                <a:gd name="T36" fmla="*/ 451246 w 593"/>
                <a:gd name="T37" fmla="*/ 22679 h 28"/>
                <a:gd name="T38" fmla="*/ 442037 w 593"/>
                <a:gd name="T39" fmla="*/ 13607 h 28"/>
                <a:gd name="T40" fmla="*/ 451246 w 593"/>
                <a:gd name="T41" fmla="*/ 4536 h 28"/>
                <a:gd name="T42" fmla="*/ 672265 w 593"/>
                <a:gd name="T43" fmla="*/ 0 h 28"/>
                <a:gd name="T44" fmla="*/ 673416 w 593"/>
                <a:gd name="T45" fmla="*/ 0 h 28"/>
                <a:gd name="T46" fmla="*/ 682625 w 593"/>
                <a:gd name="T47" fmla="*/ 9071 h 28"/>
                <a:gd name="T48" fmla="*/ 673416 w 593"/>
                <a:gd name="T49" fmla="*/ 18143 h 28"/>
                <a:gd name="T50" fmla="*/ 672265 w 593"/>
                <a:gd name="T51" fmla="*/ 18143 h 28"/>
                <a:gd name="T52" fmla="*/ 663056 w 593"/>
                <a:gd name="T53" fmla="*/ 10205 h 28"/>
                <a:gd name="T54" fmla="*/ 672265 w 593"/>
                <a:gd name="T55" fmla="*/ 0 h 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593"/>
                <a:gd name="T85" fmla="*/ 0 h 28"/>
                <a:gd name="T86" fmla="*/ 593 w 593"/>
                <a:gd name="T87" fmla="*/ 28 h 28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593" h="28">
                  <a:moveTo>
                    <a:pt x="8" y="12"/>
                  </a:moveTo>
                  <a:lnTo>
                    <a:pt x="120" y="10"/>
                  </a:lnTo>
                  <a:cubicBezTo>
                    <a:pt x="124" y="9"/>
                    <a:pt x="128" y="13"/>
                    <a:pt x="128" y="17"/>
                  </a:cubicBezTo>
                  <a:cubicBezTo>
                    <a:pt x="128" y="22"/>
                    <a:pt x="125" y="25"/>
                    <a:pt x="120" y="26"/>
                  </a:cubicBezTo>
                  <a:lnTo>
                    <a:pt x="8" y="28"/>
                  </a:lnTo>
                  <a:cubicBezTo>
                    <a:pt x="4" y="28"/>
                    <a:pt x="0" y="24"/>
                    <a:pt x="0" y="20"/>
                  </a:cubicBezTo>
                  <a:cubicBezTo>
                    <a:pt x="0" y="16"/>
                    <a:pt x="3" y="12"/>
                    <a:pt x="8" y="12"/>
                  </a:cubicBezTo>
                  <a:close/>
                  <a:moveTo>
                    <a:pt x="200" y="8"/>
                  </a:moveTo>
                  <a:lnTo>
                    <a:pt x="312" y="6"/>
                  </a:lnTo>
                  <a:cubicBezTo>
                    <a:pt x="316" y="6"/>
                    <a:pt x="320" y="9"/>
                    <a:pt x="320" y="14"/>
                  </a:cubicBezTo>
                  <a:cubicBezTo>
                    <a:pt x="320" y="18"/>
                    <a:pt x="317" y="22"/>
                    <a:pt x="312" y="22"/>
                  </a:cubicBezTo>
                  <a:lnTo>
                    <a:pt x="200" y="24"/>
                  </a:lnTo>
                  <a:cubicBezTo>
                    <a:pt x="196" y="24"/>
                    <a:pt x="192" y="21"/>
                    <a:pt x="192" y="16"/>
                  </a:cubicBezTo>
                  <a:cubicBezTo>
                    <a:pt x="192" y="12"/>
                    <a:pt x="195" y="8"/>
                    <a:pt x="200" y="8"/>
                  </a:cubicBezTo>
                  <a:close/>
                  <a:moveTo>
                    <a:pt x="392" y="4"/>
                  </a:moveTo>
                  <a:lnTo>
                    <a:pt x="504" y="2"/>
                  </a:lnTo>
                  <a:cubicBezTo>
                    <a:pt x="508" y="2"/>
                    <a:pt x="512" y="5"/>
                    <a:pt x="512" y="10"/>
                  </a:cubicBezTo>
                  <a:cubicBezTo>
                    <a:pt x="512" y="14"/>
                    <a:pt x="509" y="18"/>
                    <a:pt x="504" y="18"/>
                  </a:cubicBezTo>
                  <a:lnTo>
                    <a:pt x="392" y="20"/>
                  </a:lnTo>
                  <a:cubicBezTo>
                    <a:pt x="388" y="20"/>
                    <a:pt x="384" y="17"/>
                    <a:pt x="384" y="12"/>
                  </a:cubicBezTo>
                  <a:cubicBezTo>
                    <a:pt x="384" y="8"/>
                    <a:pt x="387" y="4"/>
                    <a:pt x="392" y="4"/>
                  </a:cubicBezTo>
                  <a:close/>
                  <a:moveTo>
                    <a:pt x="584" y="0"/>
                  </a:moveTo>
                  <a:lnTo>
                    <a:pt x="585" y="0"/>
                  </a:lnTo>
                  <a:cubicBezTo>
                    <a:pt x="590" y="0"/>
                    <a:pt x="593" y="4"/>
                    <a:pt x="593" y="8"/>
                  </a:cubicBezTo>
                  <a:cubicBezTo>
                    <a:pt x="593" y="13"/>
                    <a:pt x="590" y="16"/>
                    <a:pt x="585" y="16"/>
                  </a:cubicBezTo>
                  <a:lnTo>
                    <a:pt x="584" y="16"/>
                  </a:lnTo>
                  <a:cubicBezTo>
                    <a:pt x="580" y="16"/>
                    <a:pt x="576" y="13"/>
                    <a:pt x="576" y="9"/>
                  </a:cubicBezTo>
                  <a:cubicBezTo>
                    <a:pt x="576" y="4"/>
                    <a:pt x="579" y="0"/>
                    <a:pt x="584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89" name="Freeform 10"/>
            <p:cNvSpPr/>
            <p:nvPr/>
          </p:nvSpPr>
          <p:spPr bwMode="auto">
            <a:xfrm>
              <a:off x="7654298" y="2998384"/>
              <a:ext cx="41275" cy="80963"/>
            </a:xfrm>
            <a:custGeom>
              <a:avLst/>
              <a:gdLst>
                <a:gd name="T0" fmla="*/ 39688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5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0" name="Rectangle 11"/>
            <p:cNvSpPr>
              <a:spLocks noChangeArrowheads="1"/>
            </p:cNvSpPr>
            <p:nvPr/>
          </p:nvSpPr>
          <p:spPr bwMode="auto">
            <a:xfrm>
              <a:off x="7789236" y="2906309"/>
              <a:ext cx="393700" cy="2540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1" name="Rectangle 12"/>
            <p:cNvSpPr>
              <a:spLocks noChangeArrowheads="1"/>
            </p:cNvSpPr>
            <p:nvPr/>
          </p:nvSpPr>
          <p:spPr bwMode="auto">
            <a:xfrm>
              <a:off x="7789236" y="2865607"/>
              <a:ext cx="461665" cy="3077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实参</a:t>
              </a:r>
              <a:endPara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2" name="Freeform 13"/>
            <p:cNvSpPr>
              <a:spLocks noEditPoints="1"/>
            </p:cNvSpPr>
            <p:nvPr/>
          </p:nvSpPr>
          <p:spPr bwMode="auto">
            <a:xfrm>
              <a:off x="7798761" y="3304771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3" name="Freeform 14"/>
            <p:cNvSpPr/>
            <p:nvPr/>
          </p:nvSpPr>
          <p:spPr bwMode="auto">
            <a:xfrm>
              <a:off x="7808286" y="3273021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4" name="Freeform 15"/>
            <p:cNvSpPr>
              <a:spLocks noEditPoints="1"/>
            </p:cNvSpPr>
            <p:nvPr/>
          </p:nvSpPr>
          <p:spPr bwMode="auto">
            <a:xfrm>
              <a:off x="7798761" y="3579409"/>
              <a:ext cx="493713" cy="17463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8732 h 16"/>
                <a:gd name="T6" fmla="*/ 138102 w 429"/>
                <a:gd name="T7" fmla="*/ 17463 h 16"/>
                <a:gd name="T8" fmla="*/ 9207 w 429"/>
                <a:gd name="T9" fmla="*/ 17463 h 16"/>
                <a:gd name="T10" fmla="*/ 0 w 429"/>
                <a:gd name="T11" fmla="*/ 8732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8732 h 16"/>
                <a:gd name="T20" fmla="*/ 359064 w 429"/>
                <a:gd name="T21" fmla="*/ 17463 h 16"/>
                <a:gd name="T22" fmla="*/ 230169 w 429"/>
                <a:gd name="T23" fmla="*/ 17463 h 16"/>
                <a:gd name="T24" fmla="*/ 220962 w 429"/>
                <a:gd name="T25" fmla="*/ 8732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8732 h 16"/>
                <a:gd name="T34" fmla="*/ 484506 w 429"/>
                <a:gd name="T35" fmla="*/ 17463 h 16"/>
                <a:gd name="T36" fmla="*/ 451132 w 429"/>
                <a:gd name="T37" fmla="*/ 17463 h 16"/>
                <a:gd name="T38" fmla="*/ 441925 w 429"/>
                <a:gd name="T39" fmla="*/ 8732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3"/>
                    <a:pt x="128" y="8"/>
                  </a:cubicBezTo>
                  <a:cubicBezTo>
                    <a:pt x="128" y="12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2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3"/>
                    <a:pt x="320" y="8"/>
                  </a:cubicBezTo>
                  <a:cubicBezTo>
                    <a:pt x="320" y="12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2"/>
                    <a:pt x="192" y="8"/>
                  </a:cubicBezTo>
                  <a:cubicBezTo>
                    <a:pt x="192" y="3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3"/>
                    <a:pt x="429" y="8"/>
                  </a:cubicBezTo>
                  <a:cubicBezTo>
                    <a:pt x="429" y="12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2"/>
                    <a:pt x="384" y="8"/>
                  </a:cubicBezTo>
                  <a:cubicBezTo>
                    <a:pt x="384" y="3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5" name="Freeform 16"/>
            <p:cNvSpPr/>
            <p:nvPr/>
          </p:nvSpPr>
          <p:spPr bwMode="auto">
            <a:xfrm>
              <a:off x="7808286" y="3547659"/>
              <a:ext cx="41275" cy="80963"/>
            </a:xfrm>
            <a:custGeom>
              <a:avLst/>
              <a:gdLst>
                <a:gd name="T0" fmla="*/ 41275 w 26"/>
                <a:gd name="T1" fmla="*/ 0 h 51"/>
                <a:gd name="T2" fmla="*/ 0 w 26"/>
                <a:gd name="T3" fmla="*/ 41275 h 51"/>
                <a:gd name="T4" fmla="*/ 41275 w 26"/>
                <a:gd name="T5" fmla="*/ 80963 h 51"/>
                <a:gd name="T6" fmla="*/ 0 60000 65536"/>
                <a:gd name="T7" fmla="*/ 0 60000 65536"/>
                <a:gd name="T8" fmla="*/ 0 60000 65536"/>
                <a:gd name="T9" fmla="*/ 0 w 26"/>
                <a:gd name="T10" fmla="*/ 0 h 51"/>
                <a:gd name="T11" fmla="*/ 26 w 26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1">
                  <a:moveTo>
                    <a:pt x="26" y="0"/>
                  </a:moveTo>
                  <a:lnTo>
                    <a:pt x="0" y="26"/>
                  </a:lnTo>
                  <a:lnTo>
                    <a:pt x="26" y="51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6" name="Freeform 17"/>
            <p:cNvSpPr>
              <a:spLocks noEditPoints="1"/>
            </p:cNvSpPr>
            <p:nvPr/>
          </p:nvSpPr>
          <p:spPr bwMode="auto">
            <a:xfrm>
              <a:off x="7798761" y="3817534"/>
              <a:ext cx="493713" cy="19050"/>
            </a:xfrm>
            <a:custGeom>
              <a:avLst/>
              <a:gdLst>
                <a:gd name="T0" fmla="*/ 9207 w 429"/>
                <a:gd name="T1" fmla="*/ 0 h 16"/>
                <a:gd name="T2" fmla="*/ 138102 w 429"/>
                <a:gd name="T3" fmla="*/ 0 h 16"/>
                <a:gd name="T4" fmla="*/ 147308 w 429"/>
                <a:gd name="T5" fmla="*/ 9525 h 16"/>
                <a:gd name="T6" fmla="*/ 138102 w 429"/>
                <a:gd name="T7" fmla="*/ 19050 h 16"/>
                <a:gd name="T8" fmla="*/ 9207 w 429"/>
                <a:gd name="T9" fmla="*/ 19050 h 16"/>
                <a:gd name="T10" fmla="*/ 0 w 429"/>
                <a:gd name="T11" fmla="*/ 9525 h 16"/>
                <a:gd name="T12" fmla="*/ 9207 w 429"/>
                <a:gd name="T13" fmla="*/ 0 h 16"/>
                <a:gd name="T14" fmla="*/ 230169 w 429"/>
                <a:gd name="T15" fmla="*/ 0 h 16"/>
                <a:gd name="T16" fmla="*/ 359064 w 429"/>
                <a:gd name="T17" fmla="*/ 0 h 16"/>
                <a:gd name="T18" fmla="*/ 368271 w 429"/>
                <a:gd name="T19" fmla="*/ 9525 h 16"/>
                <a:gd name="T20" fmla="*/ 359064 w 429"/>
                <a:gd name="T21" fmla="*/ 19050 h 16"/>
                <a:gd name="T22" fmla="*/ 230169 w 429"/>
                <a:gd name="T23" fmla="*/ 19050 h 16"/>
                <a:gd name="T24" fmla="*/ 220962 w 429"/>
                <a:gd name="T25" fmla="*/ 9525 h 16"/>
                <a:gd name="T26" fmla="*/ 230169 w 429"/>
                <a:gd name="T27" fmla="*/ 0 h 16"/>
                <a:gd name="T28" fmla="*/ 451132 w 429"/>
                <a:gd name="T29" fmla="*/ 0 h 16"/>
                <a:gd name="T30" fmla="*/ 484506 w 429"/>
                <a:gd name="T31" fmla="*/ 0 h 16"/>
                <a:gd name="T32" fmla="*/ 493713 w 429"/>
                <a:gd name="T33" fmla="*/ 9525 h 16"/>
                <a:gd name="T34" fmla="*/ 484506 w 429"/>
                <a:gd name="T35" fmla="*/ 19050 h 16"/>
                <a:gd name="T36" fmla="*/ 451132 w 429"/>
                <a:gd name="T37" fmla="*/ 19050 h 16"/>
                <a:gd name="T38" fmla="*/ 441925 w 429"/>
                <a:gd name="T39" fmla="*/ 9525 h 16"/>
                <a:gd name="T40" fmla="*/ 451132 w 429"/>
                <a:gd name="T41" fmla="*/ 0 h 1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29"/>
                <a:gd name="T64" fmla="*/ 0 h 16"/>
                <a:gd name="T65" fmla="*/ 429 w 429"/>
                <a:gd name="T66" fmla="*/ 16 h 1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29" h="16">
                  <a:moveTo>
                    <a:pt x="8" y="0"/>
                  </a:moveTo>
                  <a:lnTo>
                    <a:pt x="120" y="0"/>
                  </a:lnTo>
                  <a:cubicBezTo>
                    <a:pt x="124" y="0"/>
                    <a:pt x="128" y="4"/>
                    <a:pt x="128" y="8"/>
                  </a:cubicBezTo>
                  <a:cubicBezTo>
                    <a:pt x="128" y="13"/>
                    <a:pt x="124" y="16"/>
                    <a:pt x="120" y="16"/>
                  </a:cubicBez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lose/>
                  <a:moveTo>
                    <a:pt x="200" y="0"/>
                  </a:moveTo>
                  <a:lnTo>
                    <a:pt x="312" y="0"/>
                  </a:lnTo>
                  <a:cubicBezTo>
                    <a:pt x="316" y="0"/>
                    <a:pt x="320" y="4"/>
                    <a:pt x="320" y="8"/>
                  </a:cubicBezTo>
                  <a:cubicBezTo>
                    <a:pt x="320" y="13"/>
                    <a:pt x="316" y="16"/>
                    <a:pt x="312" y="16"/>
                  </a:cubicBezTo>
                  <a:lnTo>
                    <a:pt x="200" y="16"/>
                  </a:lnTo>
                  <a:cubicBezTo>
                    <a:pt x="196" y="16"/>
                    <a:pt x="192" y="13"/>
                    <a:pt x="192" y="8"/>
                  </a:cubicBezTo>
                  <a:cubicBezTo>
                    <a:pt x="192" y="4"/>
                    <a:pt x="196" y="0"/>
                    <a:pt x="200" y="0"/>
                  </a:cubicBezTo>
                  <a:close/>
                  <a:moveTo>
                    <a:pt x="392" y="0"/>
                  </a:moveTo>
                  <a:lnTo>
                    <a:pt x="421" y="0"/>
                  </a:lnTo>
                  <a:cubicBezTo>
                    <a:pt x="426" y="0"/>
                    <a:pt x="429" y="4"/>
                    <a:pt x="429" y="8"/>
                  </a:cubicBezTo>
                  <a:cubicBezTo>
                    <a:pt x="429" y="13"/>
                    <a:pt x="426" y="16"/>
                    <a:pt x="421" y="16"/>
                  </a:cubicBezTo>
                  <a:lnTo>
                    <a:pt x="392" y="16"/>
                  </a:lnTo>
                  <a:cubicBezTo>
                    <a:pt x="388" y="16"/>
                    <a:pt x="384" y="13"/>
                    <a:pt x="384" y="8"/>
                  </a:cubicBezTo>
                  <a:cubicBezTo>
                    <a:pt x="384" y="4"/>
                    <a:pt x="388" y="0"/>
                    <a:pt x="392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bevel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97" name="Freeform 18"/>
            <p:cNvSpPr/>
            <p:nvPr/>
          </p:nvSpPr>
          <p:spPr bwMode="auto">
            <a:xfrm>
              <a:off x="7808286" y="3785784"/>
              <a:ext cx="41275" cy="82550"/>
            </a:xfrm>
            <a:custGeom>
              <a:avLst/>
              <a:gdLst>
                <a:gd name="T0" fmla="*/ 41275 w 26"/>
                <a:gd name="T1" fmla="*/ 0 h 52"/>
                <a:gd name="T2" fmla="*/ 0 w 26"/>
                <a:gd name="T3" fmla="*/ 41275 h 52"/>
                <a:gd name="T4" fmla="*/ 41275 w 26"/>
                <a:gd name="T5" fmla="*/ 82550 h 52"/>
                <a:gd name="T6" fmla="*/ 0 60000 65536"/>
                <a:gd name="T7" fmla="*/ 0 60000 65536"/>
                <a:gd name="T8" fmla="*/ 0 60000 65536"/>
                <a:gd name="T9" fmla="*/ 0 w 26"/>
                <a:gd name="T10" fmla="*/ 0 h 52"/>
                <a:gd name="T11" fmla="*/ 26 w 2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" h="52">
                  <a:moveTo>
                    <a:pt x="26" y="0"/>
                  </a:moveTo>
                  <a:lnTo>
                    <a:pt x="0" y="26"/>
                  </a:lnTo>
                  <a:lnTo>
                    <a:pt x="26" y="52"/>
                  </a:ln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329" name="AutoShape 3"/>
          <p:cNvSpPr>
            <a:spLocks noChangeAspect="1" noChangeArrowheads="1" noTextEdit="1"/>
          </p:cNvSpPr>
          <p:nvPr/>
        </p:nvSpPr>
        <p:spPr bwMode="auto">
          <a:xfrm>
            <a:off x="7770814" y="149225"/>
            <a:ext cx="841375" cy="1130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5330" name="直接连接符 84"/>
          <p:cNvCxnSpPr>
            <a:cxnSpLocks noChangeShapeType="1"/>
          </p:cNvCxnSpPr>
          <p:nvPr/>
        </p:nvCxnSpPr>
        <p:spPr bwMode="auto">
          <a:xfrm>
            <a:off x="1318069" y="4503898"/>
            <a:ext cx="2918720" cy="0"/>
          </a:xfrm>
          <a:prstGeom prst="line">
            <a:avLst/>
          </a:prstGeom>
          <a:noFill/>
          <a:ln w="19050" algn="ctr">
            <a:solidFill>
              <a:srgbClr val="7030A0"/>
            </a:solidFill>
            <a:round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8F16DA-F106-468F-BA9C-AF868FEC0FFE}"/>
              </a:ext>
            </a:extLst>
          </p:cNvPr>
          <p:cNvGrpSpPr/>
          <p:nvPr/>
        </p:nvGrpSpPr>
        <p:grpSpPr>
          <a:xfrm>
            <a:off x="7481667" y="5262991"/>
            <a:ext cx="3773810" cy="509588"/>
            <a:chOff x="8021238" y="2910327"/>
            <a:chExt cx="3773810" cy="509588"/>
          </a:xfrm>
        </p:grpSpPr>
        <p:grpSp>
          <p:nvGrpSpPr>
            <p:cNvPr id="55347" name="组合 24"/>
            <p:cNvGrpSpPr/>
            <p:nvPr/>
          </p:nvGrpSpPr>
          <p:grpSpPr bwMode="auto">
            <a:xfrm>
              <a:off x="9418562" y="2910327"/>
              <a:ext cx="2295525" cy="471488"/>
              <a:chOff x="6713677" y="5355853"/>
              <a:chExt cx="2295992" cy="471395"/>
            </a:xfrm>
          </p:grpSpPr>
          <p:sp>
            <p:nvSpPr>
              <p:cNvPr id="55385" name="直接连接符 6"/>
              <p:cNvSpPr>
                <a:spLocks noChangeShapeType="1"/>
              </p:cNvSpPr>
              <p:nvPr/>
            </p:nvSpPr>
            <p:spPr bwMode="auto">
              <a:xfrm>
                <a:off x="6713677" y="5355853"/>
                <a:ext cx="2295992" cy="0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86" name="直接连接符 11"/>
              <p:cNvSpPr>
                <a:spLocks noChangeShapeType="1"/>
              </p:cNvSpPr>
              <p:nvPr/>
            </p:nvSpPr>
            <p:spPr bwMode="auto">
              <a:xfrm>
                <a:off x="7185566" y="5355853"/>
                <a:ext cx="0" cy="47139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56" name="矩形 129"/>
            <p:cNvSpPr>
              <a:spLocks noChangeArrowheads="1"/>
            </p:cNvSpPr>
            <p:nvPr/>
          </p:nvSpPr>
          <p:spPr bwMode="auto">
            <a:xfrm>
              <a:off x="9197898" y="301986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   2, B, A, C</a:t>
              </a:r>
            </a:p>
          </p:txBody>
        </p:sp>
        <p:sp>
          <p:nvSpPr>
            <p:cNvPr id="114" name="文本框 16"/>
            <p:cNvSpPr>
              <a:spLocks noChangeArrowheads="1"/>
            </p:cNvSpPr>
            <p:nvPr/>
          </p:nvSpPr>
          <p:spPr bwMode="auto">
            <a:xfrm>
              <a:off x="8021238" y="297419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1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499804-4551-4123-86C3-A4D24D6280FC}"/>
              </a:ext>
            </a:extLst>
          </p:cNvPr>
          <p:cNvGrpSpPr/>
          <p:nvPr/>
        </p:nvGrpSpPr>
        <p:grpSpPr>
          <a:xfrm>
            <a:off x="7481667" y="4561242"/>
            <a:ext cx="3748410" cy="2130275"/>
            <a:chOff x="6840215" y="4393316"/>
            <a:chExt cx="3748410" cy="2130275"/>
          </a:xfrm>
        </p:grpSpPr>
        <p:sp>
          <p:nvSpPr>
            <p:cNvPr id="55348" name="直接连接符 6"/>
            <p:cNvSpPr>
              <a:spLocks noChangeShapeType="1"/>
            </p:cNvSpPr>
            <p:nvPr/>
          </p:nvSpPr>
          <p:spPr bwMode="auto">
            <a:xfrm>
              <a:off x="8239126" y="6501515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49" name="直接连接符 11"/>
            <p:cNvSpPr>
              <a:spLocks noChangeShapeType="1"/>
            </p:cNvSpPr>
            <p:nvPr/>
          </p:nvSpPr>
          <p:spPr bwMode="auto">
            <a:xfrm flipH="1">
              <a:off x="8224838" y="4393316"/>
              <a:ext cx="14287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0" name="直接连接符 12"/>
            <p:cNvSpPr>
              <a:spLocks noChangeShapeType="1"/>
            </p:cNvSpPr>
            <p:nvPr/>
          </p:nvSpPr>
          <p:spPr bwMode="auto">
            <a:xfrm>
              <a:off x="10536238" y="4393316"/>
              <a:ext cx="0" cy="2130275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1" name="矩形 187"/>
            <p:cNvSpPr>
              <a:spLocks noChangeArrowheads="1"/>
            </p:cNvSpPr>
            <p:nvPr/>
          </p:nvSpPr>
          <p:spPr bwMode="auto">
            <a:xfrm>
              <a:off x="7991475" y="5622040"/>
              <a:ext cx="25971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i+1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3, A, B, C</a:t>
              </a:r>
            </a:p>
          </p:txBody>
        </p:sp>
        <p:sp>
          <p:nvSpPr>
            <p:cNvPr id="55352" name="直接连接符 6"/>
            <p:cNvSpPr>
              <a:spLocks noChangeShapeType="1"/>
            </p:cNvSpPr>
            <p:nvPr/>
          </p:nvSpPr>
          <p:spPr bwMode="auto">
            <a:xfrm>
              <a:off x="8239126" y="5596640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53" name="直接连接符 11"/>
            <p:cNvSpPr>
              <a:spLocks noChangeShapeType="1"/>
            </p:cNvSpPr>
            <p:nvPr/>
          </p:nvSpPr>
          <p:spPr bwMode="auto">
            <a:xfrm>
              <a:off x="8710613" y="5596641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文本框 16"/>
            <p:cNvSpPr>
              <a:spLocks noChangeArrowheads="1"/>
            </p:cNvSpPr>
            <p:nvPr/>
          </p:nvSpPr>
          <p:spPr bwMode="auto">
            <a:xfrm>
              <a:off x="6840215" y="5574386"/>
              <a:ext cx="143340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第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0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层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hanoi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4" name="直接连接符 6"/>
            <p:cNvSpPr>
              <a:spLocks noChangeShapeType="1"/>
            </p:cNvSpPr>
            <p:nvPr/>
          </p:nvSpPr>
          <p:spPr bwMode="auto">
            <a:xfrm>
              <a:off x="8239126" y="6052103"/>
              <a:ext cx="2297113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5" name="直接连接符 11"/>
            <p:cNvSpPr>
              <a:spLocks noChangeShapeType="1"/>
            </p:cNvSpPr>
            <p:nvPr/>
          </p:nvSpPr>
          <p:spPr bwMode="auto">
            <a:xfrm>
              <a:off x="8710613" y="6052104"/>
              <a:ext cx="0" cy="4714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6" name="矩形 187"/>
            <p:cNvSpPr>
              <a:spLocks noChangeArrowheads="1"/>
            </p:cNvSpPr>
            <p:nvPr/>
          </p:nvSpPr>
          <p:spPr bwMode="auto">
            <a:xfrm>
              <a:off x="7991475" y="6107815"/>
              <a:ext cx="2597150" cy="4000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just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…</a:t>
              </a:r>
              <a:r>
                <a: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      ……</a:t>
              </a:r>
            </a:p>
          </p:txBody>
        </p:sp>
        <p:sp>
          <p:nvSpPr>
            <p:cNvPr id="177" name="文本框 16"/>
            <p:cNvSpPr>
              <a:spLocks noChangeArrowheads="1"/>
            </p:cNvSpPr>
            <p:nvPr/>
          </p:nvSpPr>
          <p:spPr bwMode="auto">
            <a:xfrm>
              <a:off x="6897365" y="6097317"/>
              <a:ext cx="1236236" cy="400110"/>
            </a:xfrm>
            <a:prstGeom prst="rect">
              <a:avLst/>
            </a:prstGeom>
            <a:noFill/>
            <a:ln w="12700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main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宋体" panose="02010600030101010101" pitchFamily="2" charset="-122"/>
                </a:rPr>
                <a:t>栈帧</a:t>
              </a:r>
            </a:p>
          </p:txBody>
        </p:sp>
      </p:grpSp>
      <p:sp>
        <p:nvSpPr>
          <p:cNvPr id="123" name="矩形 64">
            <a:extLst>
              <a:ext uri="{FF2B5EF4-FFF2-40B4-BE49-F238E27FC236}">
                <a16:creationId xmlns:a16="http://schemas.microsoft.com/office/drawing/2014/main" id="{BA738C11-1E09-429B-BF02-90957BBA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766" y="340934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" name="矩形 102">
            <a:extLst>
              <a:ext uri="{FF2B5EF4-FFF2-40B4-BE49-F238E27FC236}">
                <a16:creationId xmlns:a16="http://schemas.microsoft.com/office/drawing/2014/main" id="{FC44E3E4-66E1-4389-853C-E82DF1A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229" y="340118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" name="矩形 104">
            <a:extLst>
              <a:ext uri="{FF2B5EF4-FFF2-40B4-BE49-F238E27FC236}">
                <a16:creationId xmlns:a16="http://schemas.microsoft.com/office/drawing/2014/main" id="{36CD40FF-0996-4BC3-A7B9-FE535547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817" y="341042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" name="矩形 105">
            <a:extLst>
              <a:ext uri="{FF2B5EF4-FFF2-40B4-BE49-F238E27FC236}">
                <a16:creationId xmlns:a16="http://schemas.microsoft.com/office/drawing/2014/main" id="{DBA01893-71F1-430E-B8D3-01051AEF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42" y="34010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矩形 64">
            <a:extLst>
              <a:ext uri="{FF2B5EF4-FFF2-40B4-BE49-F238E27FC236}">
                <a16:creationId xmlns:a16="http://schemas.microsoft.com/office/drawing/2014/main" id="{9DD76D49-9EF8-4B0F-97A5-713EA5E1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82" y="1155988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矩形 102">
            <a:extLst>
              <a:ext uri="{FF2B5EF4-FFF2-40B4-BE49-F238E27FC236}">
                <a16:creationId xmlns:a16="http://schemas.microsoft.com/office/drawing/2014/main" id="{F0004EDE-538F-420F-B44F-1ABB8EE94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677" y="1447295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矩形 104">
            <a:extLst>
              <a:ext uri="{FF2B5EF4-FFF2-40B4-BE49-F238E27FC236}">
                <a16:creationId xmlns:a16="http://schemas.microsoft.com/office/drawing/2014/main" id="{5303462B-9614-43A5-8605-D3229957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904" y="170799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8" name="矩形 105">
            <a:extLst>
              <a:ext uri="{FF2B5EF4-FFF2-40B4-BE49-F238E27FC236}">
                <a16:creationId xmlns:a16="http://schemas.microsoft.com/office/drawing/2014/main" id="{6B98055B-CFA5-40A0-BCA7-51384257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684" y="1974676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0816350-315A-484D-B4D4-224B032D5B20}"/>
              </a:ext>
            </a:extLst>
          </p:cNvPr>
          <p:cNvSpPr txBox="1"/>
          <p:nvPr/>
        </p:nvSpPr>
        <p:spPr>
          <a:xfrm>
            <a:off x="758238" y="3913418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" name="直接连接符 6">
            <a:extLst>
              <a:ext uri="{FF2B5EF4-FFF2-40B4-BE49-F238E27FC236}">
                <a16:creationId xmlns:a16="http://schemas.microsoft.com/office/drawing/2014/main" id="{62004F5F-7BE9-49FD-A381-DBB678329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5439" y="6729413"/>
            <a:ext cx="5691187" cy="0"/>
          </a:xfrm>
          <a:prstGeom prst="line">
            <a:avLst/>
          </a:prstGeom>
          <a:noFill/>
          <a:ln w="63500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D8E05F-A8D0-550D-5828-09B64C2CEE2B}"/>
              </a:ext>
            </a:extLst>
          </p:cNvPr>
          <p:cNvSpPr txBox="1"/>
          <p:nvPr/>
        </p:nvSpPr>
        <p:spPr>
          <a:xfrm>
            <a:off x="750833" y="4461861"/>
            <a:ext cx="457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04870F-ACB5-9BEC-4B5D-C61F2510B9E9}"/>
              </a:ext>
            </a:extLst>
          </p:cNvPr>
          <p:cNvGrpSpPr/>
          <p:nvPr/>
        </p:nvGrpSpPr>
        <p:grpSpPr bwMode="auto">
          <a:xfrm>
            <a:off x="3858827" y="6248698"/>
            <a:ext cx="1122362" cy="461665"/>
            <a:chOff x="552030" y="5887358"/>
            <a:chExt cx="1189038" cy="461675"/>
          </a:xfrm>
        </p:grpSpPr>
        <p:sp>
          <p:nvSpPr>
            <p:cNvPr id="38" name="矩形 18">
              <a:extLst>
                <a:ext uri="{FF2B5EF4-FFF2-40B4-BE49-F238E27FC236}">
                  <a16:creationId xmlns:a16="http://schemas.microsoft.com/office/drawing/2014/main" id="{62044C5A-031D-1C9C-7018-4C144ABD7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30" y="5950243"/>
              <a:ext cx="1189038" cy="360987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39" name="文本框 22">
              <a:extLst>
                <a:ext uri="{FF2B5EF4-FFF2-40B4-BE49-F238E27FC236}">
                  <a16:creationId xmlns:a16="http://schemas.microsoft.com/office/drawing/2014/main" id="{D75CA884-EE07-5F33-3414-CA59111D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09" y="5887358"/>
              <a:ext cx="206674" cy="4616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4" name="组合 21">
            <a:extLst>
              <a:ext uri="{FF2B5EF4-FFF2-40B4-BE49-F238E27FC236}">
                <a16:creationId xmlns:a16="http://schemas.microsoft.com/office/drawing/2014/main" id="{612CACEF-ACAF-6DDB-71FD-441AC8CBD785}"/>
              </a:ext>
            </a:extLst>
          </p:cNvPr>
          <p:cNvGrpSpPr/>
          <p:nvPr/>
        </p:nvGrpSpPr>
        <p:grpSpPr bwMode="auto">
          <a:xfrm>
            <a:off x="4097199" y="5906564"/>
            <a:ext cx="676275" cy="461665"/>
            <a:chOff x="764381" y="5526623"/>
            <a:chExt cx="747713" cy="462387"/>
          </a:xfrm>
        </p:grpSpPr>
        <p:sp>
          <p:nvSpPr>
            <p:cNvPr id="5" name="矩形 19">
              <a:extLst>
                <a:ext uri="{FF2B5EF4-FFF2-40B4-BE49-F238E27FC236}">
                  <a16:creationId xmlns:a16="http://schemas.microsoft.com/office/drawing/2014/main" id="{28D0B185-A707-2071-0F4E-525E2F68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81" y="5555979"/>
              <a:ext cx="747713" cy="36038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4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4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6" name="文本框 21">
              <a:extLst>
                <a:ext uri="{FF2B5EF4-FFF2-40B4-BE49-F238E27FC236}">
                  <a16:creationId xmlns:a16="http://schemas.microsoft.com/office/drawing/2014/main" id="{251A86AC-9789-224C-048B-D2C083D28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945" y="5526623"/>
              <a:ext cx="206883" cy="4623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cxnSp>
        <p:nvCxnSpPr>
          <p:cNvPr id="12" name="直接箭头连接符 58">
            <a:extLst>
              <a:ext uri="{FF2B5EF4-FFF2-40B4-BE49-F238E27FC236}">
                <a16:creationId xmlns:a16="http://schemas.microsoft.com/office/drawing/2014/main" id="{4C30F236-BD21-DD6C-5873-F7172EB3966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136278" y="1724025"/>
            <a:ext cx="1722549" cy="2299568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23" name="直接箭头连接符 58">
            <a:extLst>
              <a:ext uri="{FF2B5EF4-FFF2-40B4-BE49-F238E27FC236}">
                <a16:creationId xmlns:a16="http://schemas.microsoft.com/office/drawing/2014/main" id="{366993AF-4221-D912-C0E0-1C846B19C53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03962" y="2238641"/>
            <a:ext cx="1269472" cy="1795514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cxnSp>
        <p:nvCxnSpPr>
          <p:cNvPr id="45" name="直接箭头连接符 58">
            <a:extLst>
              <a:ext uri="{FF2B5EF4-FFF2-40B4-BE49-F238E27FC236}">
                <a16:creationId xmlns:a16="http://schemas.microsoft.com/office/drawing/2014/main" id="{6252AFAE-8553-932F-27AF-37DDE879A87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30932" y="1454124"/>
            <a:ext cx="1407930" cy="2580031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round/>
            <a:tailEnd type="arrow" w="lg" len="lg"/>
          </a:ln>
        </p:spPr>
      </p:cxnSp>
      <p:grpSp>
        <p:nvGrpSpPr>
          <p:cNvPr id="10" name="组合 5">
            <a:extLst>
              <a:ext uri="{FF2B5EF4-FFF2-40B4-BE49-F238E27FC236}">
                <a16:creationId xmlns:a16="http://schemas.microsoft.com/office/drawing/2014/main" id="{E0DC6643-68B4-7DDB-8054-4531E6A6FDE9}"/>
              </a:ext>
            </a:extLst>
          </p:cNvPr>
          <p:cNvGrpSpPr/>
          <p:nvPr/>
        </p:nvGrpSpPr>
        <p:grpSpPr bwMode="auto">
          <a:xfrm>
            <a:off x="5397884" y="6256989"/>
            <a:ext cx="1587500" cy="830997"/>
            <a:chOff x="-32606" y="-31897"/>
            <a:chExt cx="2275840" cy="1150781"/>
          </a:xfrm>
        </p:grpSpPr>
        <p:sp>
          <p:nvSpPr>
            <p:cNvPr id="11" name="矩形 17">
              <a:extLst>
                <a:ext uri="{FF2B5EF4-FFF2-40B4-BE49-F238E27FC236}">
                  <a16:creationId xmlns:a16="http://schemas.microsoft.com/office/drawing/2014/main" id="{624DE823-6078-A3B4-5EC8-66AFD0A3D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606" y="50892"/>
              <a:ext cx="2275840" cy="498055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4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4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63500">
              <a:solidFill>
                <a:srgbClr val="7030A0"/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文本框 23">
              <a:extLst>
                <a:ext uri="{FF2B5EF4-FFF2-40B4-BE49-F238E27FC236}">
                  <a16:creationId xmlns:a16="http://schemas.microsoft.com/office/drawing/2014/main" id="{BDDB3212-8DE5-E294-B0BC-661B1A956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313" y="-31897"/>
              <a:ext cx="275492" cy="11507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  <a:sym typeface="Calibri" panose="020F0502020204030204" pitchFamily="34" charset="0"/>
                </a:rPr>
                <a:t>3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Calibri" panose="020F050202020403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endParaRPr>
            </a:p>
          </p:txBody>
        </p:sp>
      </p:grpSp>
      <p:cxnSp>
        <p:nvCxnSpPr>
          <p:cNvPr id="18" name="直接箭头连接符 58">
            <a:extLst>
              <a:ext uri="{FF2B5EF4-FFF2-40B4-BE49-F238E27FC236}">
                <a16:creationId xmlns:a16="http://schemas.microsoft.com/office/drawing/2014/main" id="{37B3C3E4-785A-6DA8-119E-3ADE19FE093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7848" y="4083003"/>
            <a:ext cx="336286" cy="0"/>
          </a:xfrm>
          <a:prstGeom prst="straightConnector1">
            <a:avLst/>
          </a:prstGeom>
          <a:noFill/>
          <a:ln w="19050" algn="ctr">
            <a:solidFill>
              <a:srgbClr val="990000"/>
            </a:solidFill>
            <a:round/>
            <a:tailEnd type="triangle" w="med" len="med"/>
          </a:ln>
        </p:spPr>
      </p:cxnSp>
      <p:sp>
        <p:nvSpPr>
          <p:cNvPr id="102" name="矩形 122">
            <a:extLst>
              <a:ext uri="{FF2B5EF4-FFF2-40B4-BE49-F238E27FC236}">
                <a16:creationId xmlns:a16="http://schemas.microsoft.com/office/drawing/2014/main" id="{5FF56406-E7AE-4483-9D5A-BAE7466F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265" y="4015353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矩形 122">
            <a:extLst>
              <a:ext uri="{FF2B5EF4-FFF2-40B4-BE49-F238E27FC236}">
                <a16:creationId xmlns:a16="http://schemas.microsoft.com/office/drawing/2014/main" id="{2620020F-1B0C-AF97-5CD9-561132AE1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265" y="4017319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矩形 125">
            <a:extLst>
              <a:ext uri="{FF2B5EF4-FFF2-40B4-BE49-F238E27FC236}">
                <a16:creationId xmlns:a16="http://schemas.microsoft.com/office/drawing/2014/main" id="{BEAA32B4-83CD-4613-605F-0852E8EAF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500" y="4023510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B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矩形 132">
            <a:extLst>
              <a:ext uri="{FF2B5EF4-FFF2-40B4-BE49-F238E27FC236}">
                <a16:creationId xmlns:a16="http://schemas.microsoft.com/office/drawing/2014/main" id="{4257342A-F300-D717-19F9-1F9E8496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706" y="400731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C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135">
            <a:extLst>
              <a:ext uri="{FF2B5EF4-FFF2-40B4-BE49-F238E27FC236}">
                <a16:creationId xmlns:a16="http://schemas.microsoft.com/office/drawing/2014/main" id="{F57ED9AF-EAAF-5D4B-A822-F4905C9E8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855" y="4014402"/>
            <a:ext cx="33855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楷体" panose="02010609060101010101" pitchFamily="49" charset="-122"/>
                <a:cs typeface="+mn-cs"/>
              </a:rPr>
              <a:t>A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4" name="Rectangle 2">
            <a:extLst>
              <a:ext uri="{FF2B5EF4-FFF2-40B4-BE49-F238E27FC236}">
                <a16:creationId xmlns:a16="http://schemas.microsoft.com/office/drawing/2014/main" id="{7E0789A7-4F6E-4E2C-8412-C09979D1BB02}"/>
              </a:ext>
            </a:extLst>
          </p:cNvPr>
          <p:cNvSpPr txBox="1">
            <a:spLocks noChangeArrowheads="1"/>
          </p:cNvSpPr>
          <p:nvPr/>
        </p:nvSpPr>
        <p:spPr>
          <a:xfrm>
            <a:off x="446434" y="226888"/>
            <a:ext cx="4723043" cy="6212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Courier New" panose="02070309020205020404" pitchFamily="49" charset="0"/>
                <a:sym typeface="微软雅黑" panose="020B0503020204020204" pitchFamily="34" charset="-122"/>
              </a:rPr>
              <a:t>hanoi(3, A, B, C)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微软雅黑" panose="020B0503020204020204" pitchFamily="34" charset="-122"/>
              </a:rPr>
              <a:t>执行过程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20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0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13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7037E-7 L 0.00027 0.0435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17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81481E-6 L -0.13854 0.4189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27" y="2094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22222E-6 L -0.07265 0.3761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33" y="1879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09726 0.337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0" y="1687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7 L -0.05143 0.2981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78" y="1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3.7037E-6 L 0.44765 -0.42547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83" y="-21273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0.42226 -0.38704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07" y="-19352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07407E-6 L 0.37487 -0.30024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-1502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33333E-6 L 0.39831 -0.34027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09" y="-17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0.67096 0.1287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42" y="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 animBg="1"/>
      <p:bldP spid="133" grpId="0"/>
      <p:bldP spid="133" grpId="1"/>
      <p:bldP spid="135" grpId="0"/>
      <p:bldP spid="136" grpId="0"/>
      <p:bldP spid="138" grpId="0"/>
      <p:bldP spid="29" grpId="0"/>
      <p:bldP spid="29" grpId="1"/>
      <p:bldP spid="102" grpId="0"/>
      <p:bldP spid="27" grpId="0"/>
      <p:bldP spid="27" grpId="1"/>
      <p:bldP spid="28" grpId="0"/>
      <p:bldP spid="28" grpId="1"/>
      <p:bldP spid="31" grpId="0"/>
      <p:bldP spid="31" grpId="1"/>
      <p:bldP spid="32" grpId="0"/>
      <p:bldP spid="3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908050"/>
            <a:ext cx="9144000" cy="5041900"/>
          </a:xfrm>
        </p:spPr>
        <p:txBody>
          <a:bodyPr/>
          <a:lstStyle/>
          <a:p>
            <a:pPr algn="ctr" eaLnBrk="1" hangingPunct="1">
              <a:defRPr/>
            </a:pPr>
            <a:r>
              <a:rPr sz="60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队列</a:t>
            </a:r>
            <a:endParaRPr sz="60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队列的概念和特点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队列</a:t>
            </a:r>
            <a:r>
              <a:rPr lang="en-US" altLang="zh-CN" dirty="0">
                <a:solidFill>
                  <a:srgbClr val="FF0000"/>
                </a:solidFill>
              </a:rPr>
              <a:t>(Queue)</a:t>
            </a:r>
            <a:r>
              <a:rPr lang="zh-CN" altLang="en-US" dirty="0">
                <a:latin typeface="宋体" panose="02010600030101010101" pitchFamily="2" charset="-122"/>
              </a:rPr>
              <a:t>：也是运算受限的线性表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只允许在表的一端进行插入，而在另一端进行删除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队头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front</a:t>
            </a:r>
            <a:r>
              <a:rPr lang="en-US" altLang="zh-CN" dirty="0"/>
              <a:t>) </a:t>
            </a:r>
            <a:r>
              <a:rPr lang="zh-CN" altLang="en-US" dirty="0">
                <a:latin typeface="宋体" panose="02010600030101010101" pitchFamily="2" charset="-122"/>
              </a:rPr>
              <a:t>：允许进行删除的一端称为队头。</a:t>
            </a:r>
          </a:p>
          <a:p>
            <a:pPr marL="400050" lvl="1" indent="0"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队尾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rear</a:t>
            </a:r>
            <a:r>
              <a:rPr lang="en-US" altLang="zh-CN" dirty="0"/>
              <a:t>) </a:t>
            </a:r>
            <a:r>
              <a:rPr lang="zh-CN" altLang="en-US" dirty="0">
                <a:latin typeface="宋体" panose="02010600030101010101" pitchFamily="2" charset="-122"/>
              </a:rPr>
              <a:t>：允许进行插入的一端称为队尾。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400050" lvl="1" indent="0" eaLnBrk="1" hangingPunct="1">
              <a:lnSpc>
                <a:spcPct val="110000"/>
              </a:lnSpc>
              <a:buNone/>
              <a:defRPr/>
            </a:pPr>
            <a:endParaRPr lang="zh-CN" altLang="en-US" dirty="0"/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特点：是一种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</a:rPr>
              <a:t>先进先出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F</a:t>
            </a:r>
            <a:r>
              <a:rPr lang="en-US" altLang="zh-CN" dirty="0"/>
              <a:t>irst </a:t>
            </a:r>
            <a:r>
              <a:rPr lang="en-US" altLang="zh-CN" dirty="0">
                <a:solidFill>
                  <a:schemeClr val="accent1"/>
                </a:solidFill>
              </a:rPr>
              <a:t>I</a:t>
            </a:r>
            <a:r>
              <a:rPr lang="en-US" altLang="zh-CN" dirty="0"/>
              <a:t>n </a:t>
            </a:r>
            <a:r>
              <a:rPr lang="en-US" altLang="zh-CN" dirty="0">
                <a:solidFill>
                  <a:schemeClr val="accent1"/>
                </a:solidFill>
              </a:rPr>
              <a:t>F</a:t>
            </a:r>
            <a:r>
              <a:rPr lang="en-US" altLang="zh-CN" dirty="0"/>
              <a:t>irst </a:t>
            </a:r>
            <a:r>
              <a:rPr lang="en-US" altLang="zh-CN" dirty="0">
                <a:solidFill>
                  <a:schemeClr val="accent1"/>
                </a:solidFill>
              </a:rPr>
              <a:t>O</a:t>
            </a:r>
            <a:r>
              <a:rPr lang="en-US" altLang="zh-CN" dirty="0"/>
              <a:t>ut </a:t>
            </a:r>
            <a:r>
              <a:rPr lang="zh-CN" altLang="en-US" dirty="0">
                <a:latin typeface="宋体" panose="02010600030101010101" pitchFamily="2" charset="-122"/>
              </a:rPr>
              <a:t>，简称</a:t>
            </a:r>
            <a:r>
              <a:rPr lang="en-US" altLang="zh-CN" dirty="0">
                <a:solidFill>
                  <a:srgbClr val="008000"/>
                </a:solidFill>
              </a:rPr>
              <a:t>FIFO</a:t>
            </a:r>
            <a:r>
              <a:rPr lang="en-US" altLang="zh-CN" dirty="0"/>
              <a:t>)</a:t>
            </a:r>
            <a:r>
              <a:rPr lang="zh-CN" altLang="en-US" dirty="0">
                <a:latin typeface="宋体" panose="02010600030101010101" pitchFamily="2" charset="-122"/>
              </a:rPr>
              <a:t>的线性表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667000" y="4318001"/>
            <a:ext cx="68722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4114800" y="3937000"/>
            <a:ext cx="419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4114800" y="4470400"/>
            <a:ext cx="419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295775" y="3833814"/>
            <a:ext cx="36182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 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 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3200" baseline="-25000">
                <a:solidFill>
                  <a:srgbClr val="0000FF"/>
                </a:solidFill>
                <a:ea typeface="宋体" panose="02010600030101010101" pitchFamily="2" charset="-122"/>
              </a:rPr>
              <a:t>3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320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3200" i="1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sz="3200" i="1" baseline="-2500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803526" y="4348164"/>
            <a:ext cx="1019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front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639176" y="4348164"/>
            <a:ext cx="885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i="1">
                <a:solidFill>
                  <a:schemeClr val="hlink"/>
                </a:solidFill>
                <a:ea typeface="宋体" panose="02010600030101010101" pitchFamily="2" charset="-122"/>
              </a:rPr>
              <a:t>rear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3352800" y="4165600"/>
            <a:ext cx="91440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 flipV="1">
            <a:off x="8153400" y="4165600"/>
            <a:ext cx="91440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384925" y="38608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b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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队列中没有元素时称为</a:t>
            </a:r>
            <a:r>
              <a:rPr lang="zh-CN" altLang="en-US" dirty="0">
                <a:solidFill>
                  <a:srgbClr val="008000"/>
                </a:solidFill>
                <a:latin typeface="宋体" panose="02010600030101010101" pitchFamily="2" charset="-122"/>
                <a:ea typeface="楷体_GB2312" pitchFamily="49" charset="-122"/>
              </a:rPr>
              <a:t>空队列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楷体_GB2312" pitchFamily="49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在空队列中依次加入元素</a:t>
            </a:r>
            <a:r>
              <a:rPr lang="en-US" altLang="zh-CN" dirty="0">
                <a:ea typeface="楷体_GB2312" pitchFamily="49" charset="-122"/>
              </a:rPr>
              <a:t>a</a:t>
            </a:r>
            <a:r>
              <a:rPr lang="en-US" altLang="zh-CN" baseline="-20000" dirty="0">
                <a:ea typeface="楷体_GB2312" pitchFamily="49" charset="-122"/>
              </a:rPr>
              <a:t>1</a:t>
            </a:r>
            <a:r>
              <a:rPr lang="en-US" altLang="zh-CN" dirty="0">
                <a:ea typeface="楷体_GB2312" pitchFamily="49" charset="-122"/>
              </a:rPr>
              <a:t>, a</a:t>
            </a:r>
            <a:r>
              <a:rPr lang="en-US" altLang="zh-CN" baseline="-20000" dirty="0">
                <a:ea typeface="楷体_GB2312" pitchFamily="49" charset="-122"/>
              </a:rPr>
              <a:t>2</a:t>
            </a:r>
            <a:r>
              <a:rPr lang="en-US" altLang="zh-CN" dirty="0">
                <a:ea typeface="楷体_GB2312" pitchFamily="49" charset="-122"/>
              </a:rPr>
              <a:t>,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dirty="0">
                <a:ea typeface="楷体_GB2312" pitchFamily="49" charset="-122"/>
              </a:rPr>
              <a:t>, a</a:t>
            </a:r>
            <a:r>
              <a:rPr lang="en-US" altLang="zh-CN" baseline="-20000" dirty="0">
                <a:ea typeface="楷体_GB2312" pitchFamily="49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之后，</a:t>
            </a:r>
            <a:r>
              <a:rPr lang="en-US" altLang="zh-CN" dirty="0">
                <a:ea typeface="楷体_GB2312" pitchFamily="49" charset="-122"/>
              </a:rPr>
              <a:t>a</a:t>
            </a:r>
            <a:r>
              <a:rPr lang="en-US" altLang="zh-CN" baseline="-20000" dirty="0">
                <a:ea typeface="楷体_GB2312" pitchFamily="49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是队头元素，</a:t>
            </a:r>
            <a:r>
              <a:rPr lang="en-US" altLang="zh-CN" dirty="0">
                <a:ea typeface="楷体_GB2312" pitchFamily="49" charset="-122"/>
              </a:rPr>
              <a:t>a</a:t>
            </a:r>
            <a:r>
              <a:rPr lang="en-US" altLang="zh-CN" baseline="-20000" dirty="0">
                <a:ea typeface="楷体_GB2312" pitchFamily="49" charset="-122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是队尾元素。退出队列的次序也只能是</a:t>
            </a:r>
            <a:r>
              <a:rPr lang="en-US" altLang="zh-CN" dirty="0">
                <a:ea typeface="楷体_GB2312" pitchFamily="49" charset="-122"/>
              </a:rPr>
              <a:t>a</a:t>
            </a:r>
            <a:r>
              <a:rPr lang="en-US" altLang="zh-CN" baseline="-20000" dirty="0">
                <a:ea typeface="楷体_GB2312" pitchFamily="49" charset="-122"/>
              </a:rPr>
              <a:t>1</a:t>
            </a:r>
            <a:r>
              <a:rPr lang="en-US" altLang="zh-CN" dirty="0">
                <a:ea typeface="楷体_GB2312" pitchFamily="49" charset="-122"/>
              </a:rPr>
              <a:t>, a</a:t>
            </a:r>
            <a:r>
              <a:rPr lang="en-US" altLang="zh-CN" baseline="-20000" dirty="0">
                <a:ea typeface="楷体_GB2312" pitchFamily="49" charset="-122"/>
              </a:rPr>
              <a:t>2</a:t>
            </a:r>
            <a:r>
              <a:rPr lang="en-US" altLang="zh-CN" dirty="0">
                <a:ea typeface="楷体_GB2312" pitchFamily="49" charset="-122"/>
              </a:rPr>
              <a:t>,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en-US" altLang="zh-CN" dirty="0">
                <a:ea typeface="楷体_GB2312" pitchFamily="49" charset="-122"/>
              </a:rPr>
              <a:t>, a</a:t>
            </a:r>
            <a:r>
              <a:rPr lang="en-US" altLang="zh-CN" baseline="-20000" dirty="0">
                <a:ea typeface="楷体_GB2312" pitchFamily="49" charset="-122"/>
              </a:rPr>
              <a:t>n</a:t>
            </a:r>
            <a:r>
              <a:rPr lang="en-US" altLang="zh-CN" dirty="0">
                <a:latin typeface="宋体" panose="02010600030101010101" pitchFamily="2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，即队列的修改是依</a:t>
            </a:r>
            <a:r>
              <a:rPr lang="zh-CN" altLang="en-US" dirty="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先进先出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的原则进行的</a:t>
            </a:r>
            <a:endParaRPr lang="zh-CN" altLang="en-US" dirty="0">
              <a:ea typeface="楷体_GB2312" pitchFamily="49" charset="-122"/>
            </a:endParaRPr>
          </a:p>
        </p:txBody>
      </p:sp>
      <p:grpSp>
        <p:nvGrpSpPr>
          <p:cNvPr id="46084" name="Group 4"/>
          <p:cNvGrpSpPr/>
          <p:nvPr/>
        </p:nvGrpSpPr>
        <p:grpSpPr bwMode="auto">
          <a:xfrm>
            <a:off x="3071813" y="4076700"/>
            <a:ext cx="5592762" cy="1316038"/>
            <a:chOff x="0" y="0"/>
            <a:chExt cx="3523" cy="829"/>
          </a:xfrm>
        </p:grpSpPr>
        <p:grpSp>
          <p:nvGrpSpPr>
            <p:cNvPr id="46085" name="Group 5"/>
            <p:cNvGrpSpPr/>
            <p:nvPr/>
          </p:nvGrpSpPr>
          <p:grpSpPr bwMode="auto">
            <a:xfrm>
              <a:off x="960" y="0"/>
              <a:ext cx="1632" cy="336"/>
              <a:chOff x="0" y="0"/>
              <a:chExt cx="1480" cy="336"/>
            </a:xfrm>
          </p:grpSpPr>
          <p:sp>
            <p:nvSpPr>
              <p:cNvPr id="46098" name="Rectangle 6"/>
              <p:cNvSpPr>
                <a:spLocks noChangeArrowheads="1"/>
              </p:cNvSpPr>
              <p:nvPr/>
            </p:nvSpPr>
            <p:spPr bwMode="auto">
              <a:xfrm>
                <a:off x="114" y="0"/>
                <a:ext cx="1292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en-US" altLang="zh-CN"/>
                  <a:t>a</a:t>
                </a:r>
                <a:r>
                  <a:rPr lang="en-US" altLang="zh-CN" baseline="-20000"/>
                  <a:t>1 </a:t>
                </a:r>
                <a:r>
                  <a:rPr lang="en-US" altLang="zh-CN"/>
                  <a:t>, a</a:t>
                </a:r>
                <a:r>
                  <a:rPr lang="en-US" altLang="zh-CN" baseline="-20000"/>
                  <a:t>2 </a:t>
                </a:r>
                <a:r>
                  <a:rPr lang="en-US" altLang="zh-CN"/>
                  <a:t>, … ,  a</a:t>
                </a:r>
                <a:r>
                  <a:rPr lang="en-US" altLang="zh-CN" baseline="-20000"/>
                  <a:t>n</a:t>
                </a:r>
              </a:p>
            </p:txBody>
          </p:sp>
          <p:sp>
            <p:nvSpPr>
              <p:cNvPr id="46099" name="Line 7"/>
              <p:cNvSpPr>
                <a:spLocks noChangeShapeType="1"/>
              </p:cNvSpPr>
              <p:nvPr/>
            </p:nvSpPr>
            <p:spPr bwMode="auto">
              <a:xfrm>
                <a:off x="6" y="0"/>
                <a:ext cx="14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00" name="Line 8"/>
              <p:cNvSpPr>
                <a:spLocks noChangeShapeType="1"/>
              </p:cNvSpPr>
              <p:nvPr/>
            </p:nvSpPr>
            <p:spPr bwMode="auto">
              <a:xfrm>
                <a:off x="0" y="336"/>
                <a:ext cx="14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6086" name="Group 9"/>
            <p:cNvGrpSpPr/>
            <p:nvPr/>
          </p:nvGrpSpPr>
          <p:grpSpPr bwMode="auto">
            <a:xfrm>
              <a:off x="0" y="0"/>
              <a:ext cx="933" cy="272"/>
              <a:chOff x="0" y="0"/>
              <a:chExt cx="933" cy="272"/>
            </a:xfrm>
          </p:grpSpPr>
          <p:sp>
            <p:nvSpPr>
              <p:cNvPr id="46096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400"/>
                  <a:t>出队</a:t>
                </a:r>
              </a:p>
            </p:txBody>
          </p:sp>
          <p:sp>
            <p:nvSpPr>
              <p:cNvPr id="46097" name="Line 11"/>
              <p:cNvSpPr>
                <a:spLocks noChangeShapeType="1"/>
              </p:cNvSpPr>
              <p:nvPr/>
            </p:nvSpPr>
            <p:spPr bwMode="auto">
              <a:xfrm flipH="1">
                <a:off x="525" y="156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6087" name="Group 12"/>
            <p:cNvGrpSpPr/>
            <p:nvPr/>
          </p:nvGrpSpPr>
          <p:grpSpPr bwMode="auto">
            <a:xfrm>
              <a:off x="2640" y="48"/>
              <a:ext cx="883" cy="272"/>
              <a:chOff x="0" y="0"/>
              <a:chExt cx="883" cy="272"/>
            </a:xfrm>
          </p:grpSpPr>
          <p:sp>
            <p:nvSpPr>
              <p:cNvPr id="46094" name="Rectangle 13"/>
              <p:cNvSpPr>
                <a:spLocks noChangeArrowheads="1"/>
              </p:cNvSpPr>
              <p:nvPr/>
            </p:nvSpPr>
            <p:spPr bwMode="auto">
              <a:xfrm>
                <a:off x="384" y="0"/>
                <a:ext cx="4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400"/>
                  <a:t>入队</a:t>
                </a:r>
              </a:p>
            </p:txBody>
          </p:sp>
          <p:sp>
            <p:nvSpPr>
              <p:cNvPr id="46095" name="Line 14"/>
              <p:cNvSpPr>
                <a:spLocks noChangeShapeType="1"/>
              </p:cNvSpPr>
              <p:nvPr/>
            </p:nvSpPr>
            <p:spPr bwMode="auto">
              <a:xfrm flipH="1">
                <a:off x="0" y="144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6088" name="Group 15"/>
            <p:cNvGrpSpPr/>
            <p:nvPr/>
          </p:nvGrpSpPr>
          <p:grpSpPr bwMode="auto">
            <a:xfrm>
              <a:off x="2112" y="336"/>
              <a:ext cx="499" cy="493"/>
              <a:chOff x="0" y="0"/>
              <a:chExt cx="499" cy="493"/>
            </a:xfrm>
          </p:grpSpPr>
          <p:sp>
            <p:nvSpPr>
              <p:cNvPr id="46092" name="Rectangle 16"/>
              <p:cNvSpPr>
                <a:spLocks noChangeArrowheads="1"/>
              </p:cNvSpPr>
              <p:nvPr/>
            </p:nvSpPr>
            <p:spPr bwMode="auto">
              <a:xfrm>
                <a:off x="0" y="221"/>
                <a:ext cx="4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400"/>
                  <a:t>队尾</a:t>
                </a:r>
              </a:p>
            </p:txBody>
          </p:sp>
          <p:sp>
            <p:nvSpPr>
              <p:cNvPr id="46093" name="Line 17"/>
              <p:cNvSpPr>
                <a:spLocks noChangeShapeType="1"/>
              </p:cNvSpPr>
              <p:nvPr/>
            </p:nvSpPr>
            <p:spPr bwMode="auto">
              <a:xfrm flipV="1">
                <a:off x="258" y="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6089" name="Group 18"/>
            <p:cNvGrpSpPr/>
            <p:nvPr/>
          </p:nvGrpSpPr>
          <p:grpSpPr bwMode="auto">
            <a:xfrm>
              <a:off x="1008" y="336"/>
              <a:ext cx="499" cy="493"/>
              <a:chOff x="0" y="0"/>
              <a:chExt cx="499" cy="493"/>
            </a:xfrm>
          </p:grpSpPr>
          <p:sp>
            <p:nvSpPr>
              <p:cNvPr id="46090" name="Rectangle 19"/>
              <p:cNvSpPr>
                <a:spLocks noChangeArrowheads="1"/>
              </p:cNvSpPr>
              <p:nvPr/>
            </p:nvSpPr>
            <p:spPr bwMode="auto">
              <a:xfrm>
                <a:off x="0" y="221"/>
                <a:ext cx="4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 sz="2400"/>
                  <a:t>队首</a:t>
                </a:r>
              </a:p>
            </p:txBody>
          </p:sp>
          <p:sp>
            <p:nvSpPr>
              <p:cNvPr id="46091" name="Line 20"/>
              <p:cNvSpPr>
                <a:spLocks noChangeShapeType="1"/>
              </p:cNvSpPr>
              <p:nvPr/>
            </p:nvSpPr>
            <p:spPr bwMode="auto">
              <a:xfrm flipV="1">
                <a:off x="258" y="0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队列的抽象数据类型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ADT Queue{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数据对象：</a:t>
            </a:r>
            <a:r>
              <a:rPr lang="en-US" altLang="zh-CN" dirty="0"/>
              <a:t>D ={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|a</a:t>
            </a:r>
            <a:r>
              <a:rPr lang="en-US" altLang="zh-CN" baseline="-25000" dirty="0" err="1"/>
              <a:t>i</a:t>
            </a:r>
            <a:r>
              <a:rPr lang="en-US" altLang="zh-CN" dirty="0" err="1">
                <a:ea typeface="Arial Unicode MS" panose="020B0604020202020204" pitchFamily="34" charset="-122"/>
                <a:cs typeface="Arial Unicode MS" panose="020B0604020202020204" pitchFamily="34" charset="-122"/>
              </a:rPr>
              <a:t>∈</a:t>
            </a:r>
            <a:r>
              <a:rPr lang="en-US" altLang="zh-CN" dirty="0" err="1"/>
              <a:t>ElemSet</a:t>
            </a:r>
            <a:r>
              <a:rPr lang="en-US" altLang="zh-CN" dirty="0"/>
              <a:t>,  </a:t>
            </a:r>
            <a:r>
              <a:rPr lang="en-US" altLang="zh-CN" dirty="0" err="1"/>
              <a:t>i</a:t>
            </a:r>
            <a:r>
              <a:rPr lang="en-US" altLang="zh-CN" dirty="0"/>
              <a:t>=1, 2, …, n, n &gt;= 0 }</a:t>
            </a:r>
          </a:p>
          <a:p>
            <a:pPr lvl="2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>
                <a:ea typeface="楷体_GB2312" pitchFamily="49" charset="-122"/>
              </a:rPr>
              <a:t>其中，</a:t>
            </a:r>
            <a:r>
              <a:rPr lang="en-US" altLang="zh-CN" sz="2400" dirty="0" err="1">
                <a:ea typeface="楷体_GB2312" pitchFamily="49" charset="-122"/>
              </a:rPr>
              <a:t>ElemSet</a:t>
            </a:r>
            <a:r>
              <a:rPr lang="en-US" altLang="zh-CN" sz="2400" dirty="0">
                <a:ea typeface="楷体_GB2312" pitchFamily="49" charset="-122"/>
              </a:rPr>
              <a:t> </a:t>
            </a:r>
            <a:r>
              <a:rPr lang="zh-CN" altLang="en-US" sz="2400" dirty="0">
                <a:ea typeface="楷体_GB2312" pitchFamily="49" charset="-122"/>
              </a:rPr>
              <a:t>是</a:t>
            </a:r>
            <a:r>
              <a:rPr lang="en-US" altLang="zh-CN" sz="2400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个原子表项的有限序列，每个表项的数据类型为</a:t>
            </a:r>
            <a:r>
              <a:rPr lang="en-US" altLang="zh-CN" sz="2400" dirty="0">
                <a:ea typeface="楷体_GB2312" pitchFamily="49" charset="-122"/>
              </a:rPr>
              <a:t>T</a:t>
            </a:r>
            <a:endParaRPr lang="en-US" altLang="zh-CN" sz="2400" dirty="0"/>
          </a:p>
          <a:p>
            <a:pPr marL="447675" lvl="3" indent="504825" eaLnBrk="1" hangingPunct="1">
              <a:lnSpc>
                <a:spcPct val="110000"/>
              </a:lnSpc>
              <a:defRPr/>
            </a:pPr>
            <a:r>
              <a:rPr lang="zh-CN" altLang="en-US" sz="2600" dirty="0"/>
              <a:t>数据关系：</a:t>
            </a:r>
            <a:r>
              <a:rPr lang="en-US" altLang="zh-CN" sz="2600" dirty="0"/>
              <a:t>R = {&lt;a</a:t>
            </a:r>
            <a:r>
              <a:rPr lang="en-US" altLang="zh-CN" sz="2600" baseline="-20000" dirty="0"/>
              <a:t>i-1</a:t>
            </a:r>
            <a:r>
              <a:rPr lang="en-US" altLang="zh-CN" sz="2600" dirty="0"/>
              <a:t>, </a:t>
            </a:r>
            <a:r>
              <a:rPr lang="en-US" altLang="zh-CN" sz="2600" dirty="0" err="1"/>
              <a:t>a</a:t>
            </a:r>
            <a:r>
              <a:rPr lang="en-US" altLang="zh-CN" sz="2600" baseline="-20000" dirty="0" err="1"/>
              <a:t>i</a:t>
            </a:r>
            <a:r>
              <a:rPr lang="en-US" altLang="zh-CN" sz="2600" dirty="0"/>
              <a:t>&gt; | a</a:t>
            </a:r>
            <a:r>
              <a:rPr lang="en-US" altLang="zh-CN" sz="2600" baseline="-20000" dirty="0"/>
              <a:t>i-1</a:t>
            </a:r>
            <a:r>
              <a:rPr lang="en-US" altLang="zh-CN" sz="2600" dirty="0"/>
              <a:t>, </a:t>
            </a:r>
            <a:r>
              <a:rPr lang="en-US" altLang="zh-CN" sz="2600" dirty="0" err="1"/>
              <a:t>a</a:t>
            </a:r>
            <a:r>
              <a:rPr lang="en-US" altLang="zh-CN" sz="2600" baseline="-20000" dirty="0" err="1"/>
              <a:t>i</a:t>
            </a:r>
            <a:r>
              <a:rPr lang="en-US" altLang="zh-CN" sz="2600" dirty="0" err="1"/>
              <a:t>∈D</a:t>
            </a:r>
            <a:r>
              <a:rPr lang="en-US" altLang="zh-CN" sz="2600" dirty="0"/>
              <a:t>, 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=2,3,…,n }</a:t>
            </a:r>
            <a:r>
              <a:rPr lang="zh-CN" altLang="en-US" sz="3200" dirty="0"/>
              <a:t>，</a:t>
            </a:r>
            <a:r>
              <a:rPr lang="en-US" altLang="zh-CN" sz="2400" dirty="0"/>
              <a:t>  </a:t>
            </a:r>
            <a:r>
              <a:rPr lang="zh-CN" altLang="en-US" sz="2400" dirty="0"/>
              <a:t>约定</a:t>
            </a:r>
            <a:r>
              <a:rPr lang="en-US" altLang="zh-CN" sz="2400" dirty="0"/>
              <a:t>a</a:t>
            </a:r>
            <a:r>
              <a:rPr lang="en-US" altLang="zh-CN" sz="2400" baseline="-20000" dirty="0"/>
              <a:t>1</a:t>
            </a:r>
            <a:r>
              <a:rPr lang="zh-CN" altLang="en-US" sz="2400" dirty="0"/>
              <a:t>端为队头，</a:t>
            </a:r>
            <a:r>
              <a:rPr lang="en-US" altLang="zh-CN" sz="2400" dirty="0"/>
              <a:t>a</a:t>
            </a:r>
            <a:r>
              <a:rPr lang="en-US" altLang="zh-CN" sz="2400" baseline="-20000" dirty="0"/>
              <a:t>n</a:t>
            </a:r>
            <a:r>
              <a:rPr lang="zh-CN" altLang="en-US" sz="2400" dirty="0"/>
              <a:t>端为队尾。</a:t>
            </a:r>
            <a:endParaRPr lang="zh-CN" altLang="en-US" dirty="0"/>
          </a:p>
          <a:p>
            <a:pPr marL="443230" lvl="3" indent="5080" eaLnBrk="1" hangingPunct="1">
              <a:lnSpc>
                <a:spcPct val="110000"/>
              </a:lnSpc>
              <a:defRPr/>
            </a:pPr>
            <a:r>
              <a:rPr lang="zh-CN" altLang="en-US" sz="2600" dirty="0"/>
              <a:t>   基本操作</a:t>
            </a:r>
            <a:r>
              <a:rPr lang="zh-CN" altLang="en-US" sz="2600" dirty="0" smtClean="0"/>
              <a:t>：</a:t>
            </a:r>
            <a:r>
              <a:rPr lang="zh-CN" altLang="en-US" sz="2600" dirty="0" smtClean="0">
                <a:solidFill>
                  <a:srgbClr val="FF0000"/>
                </a:solidFill>
              </a:rPr>
              <a:t>入队操作，出队操作，取队首</a:t>
            </a:r>
            <a:endParaRPr lang="zh-CN" altLang="en-US" sz="2600" dirty="0">
              <a:solidFill>
                <a:srgbClr val="FF0000"/>
              </a:solidFill>
            </a:endParaRPr>
          </a:p>
          <a:p>
            <a:pPr marL="355600" lvl="1" eaLnBrk="1" hangingPunct="1">
              <a:lnSpc>
                <a:spcPct val="110000"/>
              </a:lnSpc>
              <a:buNone/>
              <a:defRPr/>
            </a:pPr>
            <a:r>
              <a:rPr lang="en-US" altLang="zh-CN" sz="2800" dirty="0"/>
              <a:t>} ADT Queue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936625"/>
            <a:ext cx="8448600" cy="5516563"/>
          </a:xfrm>
        </p:spPr>
        <p:txBody>
          <a:bodyPr anchor="t"/>
          <a:lstStyle/>
          <a:p>
            <a:pPr>
              <a:lnSpc>
                <a:spcPct val="85000"/>
              </a:lnSpc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（1）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InitQueue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(Q)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构造一个空队列Q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			 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b="1" kern="100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FreeQueue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(Q)</a:t>
            </a:r>
            <a:b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初始条件：队列Q已存在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/>
            </a:r>
            <a:br>
              <a:rPr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操作结果：队列Q被销毁，不再存在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ClearQueue(Q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)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/>
            </a:r>
            <a:b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初始条件：队列Q已存在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操作结果：将Q清为空队列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>
            <a:off x="1524000" y="174625"/>
            <a:ext cx="9144000" cy="661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838200" indent="-838200" algn="ctr">
              <a:defRPr/>
            </a:pP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队列的基本操作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7408" y="0"/>
            <a:ext cx="10585176" cy="6858000"/>
          </a:xfrm>
        </p:spPr>
        <p:txBody>
          <a:bodyPr anchor="t"/>
          <a:lstStyle/>
          <a:p>
            <a:pPr algn="l" eaLnBrk="1" hangingPunct="1">
              <a:lnSpc>
                <a:spcPct val="85000"/>
              </a:lnSpc>
              <a:defRPr/>
            </a:pP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4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）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QueueEmpty(Q)</a:t>
            </a:r>
            <a:b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初始条件：队列Q已存在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操作结果：若Q为空队列，则返回TRUE，否则返回FALSE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5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）</a:t>
            </a:r>
            <a:r>
              <a:rPr lang="en-US" altLang="zh-CN" sz="32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QueueLength (Q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)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初始条件：队列Q已存在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操作结果：返回Q的元素个数，即队列的长度</a:t>
            </a: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3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55440" y="0"/>
            <a:ext cx="9865096" cy="6858000"/>
          </a:xfrm>
        </p:spPr>
        <p:txBody>
          <a:bodyPr anchor="t"/>
          <a:lstStyle/>
          <a:p>
            <a:pPr algn="l" eaLnBrk="1" hangingPunct="1">
              <a:lnSpc>
                <a:spcPct val="85000"/>
              </a:lnSpc>
              <a:defRPr/>
            </a:pP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6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DeQueue(Q)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初始条件：队列非空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操作结果：删除队头元素，并返回其值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3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9155" name="Line 3"/>
          <p:cNvSpPr>
            <a:spLocks noChangeShapeType="1"/>
          </p:cNvSpPr>
          <p:nvPr/>
        </p:nvSpPr>
        <p:spPr bwMode="auto">
          <a:xfrm>
            <a:off x="3270250" y="4872038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Line 4"/>
          <p:cNvSpPr>
            <a:spLocks noChangeShapeType="1"/>
          </p:cNvSpPr>
          <p:nvPr/>
        </p:nvSpPr>
        <p:spPr bwMode="auto">
          <a:xfrm>
            <a:off x="3270250" y="5710238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3803650" y="49228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413250" y="49228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7385050" y="49228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6712" name="Line 8"/>
          <p:cNvSpPr>
            <a:spLocks noChangeShapeType="1"/>
          </p:cNvSpPr>
          <p:nvPr/>
        </p:nvSpPr>
        <p:spPr bwMode="auto">
          <a:xfrm flipV="1">
            <a:off x="4718050" y="5710238"/>
            <a:ext cx="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5429250" y="4868864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 useBgFill="1">
        <p:nvSpPr>
          <p:cNvPr id="456714" name="Text Box 10"/>
          <p:cNvSpPr txBox="1">
            <a:spLocks noChangeArrowheads="1"/>
          </p:cNvSpPr>
          <p:nvPr/>
        </p:nvSpPr>
        <p:spPr bwMode="auto">
          <a:xfrm>
            <a:off x="3803651" y="4922838"/>
            <a:ext cx="574675" cy="711200"/>
          </a:xfrm>
          <a:prstGeom prst="rect">
            <a:avLst/>
          </a:prstGeom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456715" name="Text Box 11"/>
          <p:cNvSpPr txBox="1">
            <a:spLocks noChangeArrowheads="1"/>
          </p:cNvSpPr>
          <p:nvPr/>
        </p:nvSpPr>
        <p:spPr bwMode="auto">
          <a:xfrm>
            <a:off x="2136775" y="4948238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队头</a:t>
            </a:r>
          </a:p>
        </p:txBody>
      </p:sp>
      <p:sp>
        <p:nvSpPr>
          <p:cNvPr id="456716" name="Text Box 12"/>
          <p:cNvSpPr txBox="1">
            <a:spLocks noChangeArrowheads="1"/>
          </p:cNvSpPr>
          <p:nvPr/>
        </p:nvSpPr>
        <p:spPr bwMode="auto">
          <a:xfrm>
            <a:off x="7967663" y="4941888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队尾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4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2" grpId="0" bldLvl="0" animBg="1"/>
      <p:bldP spid="456714" grpId="0" bldLvl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27448" y="476250"/>
            <a:ext cx="8016552" cy="6381750"/>
          </a:xfrm>
        </p:spPr>
        <p:txBody>
          <a:bodyPr anchor="t"/>
          <a:lstStyle/>
          <a:p>
            <a:pPr algn="l" eaLnBrk="1" hangingPunct="1">
              <a:lnSpc>
                <a:spcPct val="110000"/>
              </a:lnSpc>
              <a:defRPr/>
            </a:pP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7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GetHead(Q)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/>
            </a:r>
            <a:b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 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初始条件：Q为非空队列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 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操作结果：返回Q的队头元素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/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</a:br>
            <a:endParaRPr sz="3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2813050" y="41529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0" name="Line 4"/>
          <p:cNvSpPr>
            <a:spLocks noChangeShapeType="1"/>
          </p:cNvSpPr>
          <p:nvPr/>
        </p:nvSpPr>
        <p:spPr bwMode="auto">
          <a:xfrm>
            <a:off x="2889250" y="4991100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3746500" y="4203700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4356100" y="4203700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7327900" y="4203700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 flipV="1">
            <a:off x="4032250" y="4914900"/>
            <a:ext cx="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72100" y="4149726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7738" name="Text Box 10"/>
          <p:cNvSpPr txBox="1">
            <a:spLocks noChangeArrowheads="1"/>
          </p:cNvSpPr>
          <p:nvPr/>
        </p:nvSpPr>
        <p:spPr bwMode="auto">
          <a:xfrm>
            <a:off x="2065338" y="4221163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队头</a:t>
            </a:r>
          </a:p>
        </p:txBody>
      </p:sp>
      <p:sp>
        <p:nvSpPr>
          <p:cNvPr id="457739" name="Text Box 11"/>
          <p:cNvSpPr txBox="1">
            <a:spLocks noChangeArrowheads="1"/>
          </p:cNvSpPr>
          <p:nvPr/>
        </p:nvSpPr>
        <p:spPr bwMode="auto">
          <a:xfrm>
            <a:off x="7967663" y="4227513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队尾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9456" y="476250"/>
            <a:ext cx="7944544" cy="6381750"/>
          </a:xfrm>
        </p:spPr>
        <p:txBody>
          <a:bodyPr anchor="t"/>
          <a:lstStyle/>
          <a:p>
            <a:pPr algn="l" eaLnBrk="1" hangingPunct="1">
              <a:lnSpc>
                <a:spcPct val="110000"/>
              </a:lnSpc>
              <a:buClrTx/>
              <a:buSzTx/>
              <a:buFontTx/>
              <a:defRPr/>
            </a:pP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8</a:t>
            </a:r>
            <a:r>
              <a:rPr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</a:t>
            </a:r>
            <a:r>
              <a:rPr lang="en-US" altLang="zh-CN" sz="32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EnQueue</a:t>
            </a: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(Q, e)</a:t>
            </a:r>
            <a: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/>
            </a:r>
            <a:br>
              <a:rPr lang="en-US" altLang="zh-CN" sz="3200" dirty="0">
                <a:solidFill>
                  <a:schemeClr val="tx1"/>
                </a:solidFill>
                <a:ea typeface="楷体_GB2312" pitchFamily="49" charset="-122"/>
                <a:sym typeface="+mn-ea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 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初始条件：队列Q已存在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b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</a:b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  </a:t>
            </a:r>
            <a:r>
              <a:rPr sz="32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操作结果：插入元素e为Q的新的队尾元素</a:t>
            </a:r>
            <a:r>
              <a:rPr sz="32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  <a:sym typeface="+mn-ea"/>
              </a:rPr>
              <a:t>。</a:t>
            </a:r>
            <a:endParaRPr sz="32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>
            <a:off x="2782888" y="4224338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4" name="Line 4"/>
          <p:cNvSpPr>
            <a:spLocks noChangeShapeType="1"/>
          </p:cNvSpPr>
          <p:nvPr/>
        </p:nvSpPr>
        <p:spPr bwMode="auto">
          <a:xfrm>
            <a:off x="2794000" y="5062538"/>
            <a:ext cx="617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422650" y="42751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4032250" y="42751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7004050" y="4275138"/>
            <a:ext cx="59055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4000" b="0" baseline="-2500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8760" name="Line 8"/>
          <p:cNvSpPr>
            <a:spLocks noChangeShapeType="1"/>
          </p:cNvSpPr>
          <p:nvPr/>
        </p:nvSpPr>
        <p:spPr bwMode="auto">
          <a:xfrm flipV="1">
            <a:off x="7899400" y="5062538"/>
            <a:ext cx="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8761" name="Text Box 9"/>
          <p:cNvSpPr txBox="1">
            <a:spLocks noChangeArrowheads="1"/>
          </p:cNvSpPr>
          <p:nvPr/>
        </p:nvSpPr>
        <p:spPr bwMode="auto">
          <a:xfrm>
            <a:off x="7629525" y="4275138"/>
            <a:ext cx="546100" cy="711200"/>
          </a:xfrm>
          <a:prstGeom prst="rect">
            <a:avLst/>
          </a:prstGeom>
          <a:solidFill>
            <a:srgbClr val="FFFFCC"/>
          </a:solidFill>
          <a:ln w="9525">
            <a:solidFill>
              <a:srgbClr val="800000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 b="0">
                <a:solidFill>
                  <a:srgbClr val="FF0000"/>
                </a:solidFill>
                <a:ea typeface="宋体" panose="02010600030101010101" pitchFamily="2" charset="-122"/>
              </a:rPr>
              <a:t>e 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5048250" y="4221164"/>
            <a:ext cx="1327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  <a:ea typeface="宋体" panose="02010600030101010101" pitchFamily="2" charset="-122"/>
              </a:rPr>
              <a:t>… …</a:t>
            </a:r>
            <a:endParaRPr lang="en-US" altLang="zh-CN" sz="40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58763" name="Text Box 11"/>
          <p:cNvSpPr txBox="1">
            <a:spLocks noChangeArrowheads="1"/>
          </p:cNvSpPr>
          <p:nvPr/>
        </p:nvSpPr>
        <p:spPr bwMode="auto">
          <a:xfrm>
            <a:off x="1703388" y="4300538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队头</a:t>
            </a:r>
          </a:p>
        </p:txBody>
      </p:sp>
      <p:sp>
        <p:nvSpPr>
          <p:cNvPr id="458764" name="Text Box 12"/>
          <p:cNvSpPr txBox="1">
            <a:spLocks noChangeArrowheads="1"/>
          </p:cNvSpPr>
          <p:nvPr/>
        </p:nvSpPr>
        <p:spPr bwMode="auto">
          <a:xfrm>
            <a:off x="8183563" y="4300538"/>
            <a:ext cx="1727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队尾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60" grpId="0" animBg="1"/>
      <p:bldP spid="458761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t>队列的存储结构</a:t>
            </a:r>
          </a:p>
        </p:txBody>
      </p:sp>
      <p:sp>
        <p:nvSpPr>
          <p:cNvPr id="52227" name="副标题 2"/>
          <p:cNvSpPr>
            <a:spLocks noGrp="1"/>
          </p:cNvSpPr>
          <p:nvPr>
            <p:ph type="subTitle" idx="1"/>
          </p:nvPr>
        </p:nvSpPr>
        <p:spPr>
          <a:xfrm>
            <a:off x="1524000" y="3933056"/>
            <a:ext cx="9144000" cy="1324744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ea typeface="楷体_GB2312" pitchFamily="49" charset="-122"/>
              </a:rPr>
              <a:t>链式存储</a:t>
            </a:r>
            <a:endParaRPr lang="en-US" altLang="zh-CN" sz="3200" dirty="0">
              <a:ea typeface="楷体_GB2312" pitchFamily="49" charset="-122"/>
            </a:endParaRPr>
          </a:p>
          <a:p>
            <a:pPr eaLnBrk="1" hangingPunct="1"/>
            <a:r>
              <a:rPr lang="zh-CN" altLang="en-US" sz="3200" dirty="0">
                <a:ea typeface="楷体_GB2312" pitchFamily="49" charset="-122"/>
              </a:rPr>
              <a:t>顺序存储</a:t>
            </a:r>
            <a:endParaRPr lang="en-US" altLang="zh-CN" sz="3200" dirty="0">
              <a:ea typeface="楷体_GB2312" pitchFamily="49" charset="-122"/>
            </a:endParaRPr>
          </a:p>
          <a:p>
            <a:pPr eaLnBrk="1" hangingPunct="1"/>
            <a:endParaRPr lang="zh-CN" altLang="en-US" sz="3200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2667000" y="1679576"/>
            <a:ext cx="68722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title"/>
          </p:nvPr>
        </p:nvSpPr>
        <p:spPr>
          <a:xfrm>
            <a:off x="4943872" y="2335214"/>
            <a:ext cx="5724128" cy="6619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sz="54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链队列</a:t>
            </a:r>
            <a:endParaRPr sz="5400" dirty="0">
              <a:solidFill>
                <a:srgbClr val="000099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758B4-DDC5-A947-621F-B340836F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52A76E-9C91-158B-A273-EBF84F973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442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用一个链表来保存队列中的数据元素，这样的队列称为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链队列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链队列用两个指针分别指示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队头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队尾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（分别称为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头指针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尾指针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）才便于在队头和队尾的操作。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为操作方便，也给链队列添加一个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头结点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，并令头指针指向头结点。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322511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/>
          <p:nvPr/>
        </p:nvSpPr>
        <p:spPr>
          <a:xfrm>
            <a:off x="5591493" y="260351"/>
            <a:ext cx="201930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rgbClr val="0070C0"/>
                </a:solidFill>
              </a:rPr>
              <a:t>链队列</a:t>
            </a:r>
          </a:p>
        </p:txBody>
      </p:sp>
      <p:sp>
        <p:nvSpPr>
          <p:cNvPr id="70659" name="Line 2"/>
          <p:cNvSpPr/>
          <p:nvPr/>
        </p:nvSpPr>
        <p:spPr>
          <a:xfrm>
            <a:off x="2922588" y="1539875"/>
            <a:ext cx="9906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lg" len="lg"/>
          </a:ln>
        </p:spPr>
      </p:sp>
      <p:grpSp>
        <p:nvGrpSpPr>
          <p:cNvPr id="2" name="Group 4"/>
          <p:cNvGrpSpPr/>
          <p:nvPr/>
        </p:nvGrpSpPr>
        <p:grpSpPr>
          <a:xfrm>
            <a:off x="3913188" y="1235076"/>
            <a:ext cx="1295400" cy="3413125"/>
            <a:chOff x="48" y="0"/>
            <a:chExt cx="816" cy="2150"/>
          </a:xfrm>
        </p:grpSpPr>
        <p:sp>
          <p:nvSpPr>
            <p:cNvPr id="71789" name="Rectangle 4"/>
            <p:cNvSpPr/>
            <p:nvPr/>
          </p:nvSpPr>
          <p:spPr>
            <a:xfrm>
              <a:off x="456" y="1824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90" name="Rectangle 5"/>
            <p:cNvSpPr/>
            <p:nvPr/>
          </p:nvSpPr>
          <p:spPr>
            <a:xfrm>
              <a:off x="48" y="1824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71791" name="Line 6"/>
            <p:cNvSpPr/>
            <p:nvPr/>
          </p:nvSpPr>
          <p:spPr>
            <a:xfrm>
              <a:off x="48" y="1824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2" name="Line 7"/>
            <p:cNvSpPr/>
            <p:nvPr/>
          </p:nvSpPr>
          <p:spPr>
            <a:xfrm>
              <a:off x="48" y="2150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3" name="Line 8"/>
            <p:cNvSpPr/>
            <p:nvPr/>
          </p:nvSpPr>
          <p:spPr>
            <a:xfrm>
              <a:off x="48" y="182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4" name="Line 9"/>
            <p:cNvSpPr/>
            <p:nvPr/>
          </p:nvSpPr>
          <p:spPr>
            <a:xfrm>
              <a:off x="456" y="1824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5" name="Line 10"/>
            <p:cNvSpPr/>
            <p:nvPr/>
          </p:nvSpPr>
          <p:spPr>
            <a:xfrm>
              <a:off x="864" y="182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6" name="Rectangle 11"/>
            <p:cNvSpPr/>
            <p:nvPr/>
          </p:nvSpPr>
          <p:spPr>
            <a:xfrm>
              <a:off x="456" y="1200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97" name="Rectangle 12"/>
            <p:cNvSpPr/>
            <p:nvPr/>
          </p:nvSpPr>
          <p:spPr>
            <a:xfrm>
              <a:off x="48" y="1200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1798" name="Line 13"/>
            <p:cNvSpPr/>
            <p:nvPr/>
          </p:nvSpPr>
          <p:spPr>
            <a:xfrm>
              <a:off x="48" y="1200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9" name="Line 14"/>
            <p:cNvSpPr/>
            <p:nvPr/>
          </p:nvSpPr>
          <p:spPr>
            <a:xfrm>
              <a:off x="48" y="152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0" name="Line 15"/>
            <p:cNvSpPr/>
            <p:nvPr/>
          </p:nvSpPr>
          <p:spPr>
            <a:xfrm>
              <a:off x="48" y="120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1" name="Line 16"/>
            <p:cNvSpPr/>
            <p:nvPr/>
          </p:nvSpPr>
          <p:spPr>
            <a:xfrm>
              <a:off x="456" y="1200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2" name="Line 17"/>
            <p:cNvSpPr/>
            <p:nvPr/>
          </p:nvSpPr>
          <p:spPr>
            <a:xfrm>
              <a:off x="864" y="120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3" name="Rectangle 18"/>
            <p:cNvSpPr/>
            <p:nvPr/>
          </p:nvSpPr>
          <p:spPr>
            <a:xfrm>
              <a:off x="456" y="624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804" name="Rectangle 19"/>
            <p:cNvSpPr/>
            <p:nvPr/>
          </p:nvSpPr>
          <p:spPr>
            <a:xfrm>
              <a:off x="48" y="624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1805" name="Line 20"/>
            <p:cNvSpPr/>
            <p:nvPr/>
          </p:nvSpPr>
          <p:spPr>
            <a:xfrm>
              <a:off x="48" y="624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6" name="Line 21"/>
            <p:cNvSpPr/>
            <p:nvPr/>
          </p:nvSpPr>
          <p:spPr>
            <a:xfrm>
              <a:off x="48" y="950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7" name="Line 22"/>
            <p:cNvSpPr/>
            <p:nvPr/>
          </p:nvSpPr>
          <p:spPr>
            <a:xfrm>
              <a:off x="48" y="62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8" name="Line 23"/>
            <p:cNvSpPr/>
            <p:nvPr/>
          </p:nvSpPr>
          <p:spPr>
            <a:xfrm>
              <a:off x="456" y="624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9" name="Line 24"/>
            <p:cNvSpPr/>
            <p:nvPr/>
          </p:nvSpPr>
          <p:spPr>
            <a:xfrm>
              <a:off x="864" y="624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0" name="Rectangle 25"/>
            <p:cNvSpPr/>
            <p:nvPr/>
          </p:nvSpPr>
          <p:spPr>
            <a:xfrm>
              <a:off x="456" y="0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811" name="Rectangle 26"/>
            <p:cNvSpPr/>
            <p:nvPr/>
          </p:nvSpPr>
          <p:spPr>
            <a:xfrm>
              <a:off x="48" y="0"/>
              <a:ext cx="408" cy="326"/>
            </a:xfrm>
            <a:prstGeom prst="rect">
              <a:avLst/>
            </a:prstGeom>
            <a:solidFill>
              <a:srgbClr val="CC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 </a:t>
              </a:r>
            </a:p>
          </p:txBody>
        </p:sp>
        <p:sp>
          <p:nvSpPr>
            <p:cNvPr id="71812" name="Line 27"/>
            <p:cNvSpPr/>
            <p:nvPr/>
          </p:nvSpPr>
          <p:spPr>
            <a:xfrm>
              <a:off x="48" y="0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3" name="Line 28"/>
            <p:cNvSpPr/>
            <p:nvPr/>
          </p:nvSpPr>
          <p:spPr>
            <a:xfrm>
              <a:off x="48" y="32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4" name="Line 29"/>
            <p:cNvSpPr/>
            <p:nvPr/>
          </p:nvSpPr>
          <p:spPr>
            <a:xfrm>
              <a:off x="48" y="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5" name="Line 30"/>
            <p:cNvSpPr/>
            <p:nvPr/>
          </p:nvSpPr>
          <p:spPr>
            <a:xfrm>
              <a:off x="456" y="0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6" name="Line 31"/>
            <p:cNvSpPr/>
            <p:nvPr/>
          </p:nvSpPr>
          <p:spPr>
            <a:xfrm>
              <a:off x="864" y="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7" name="Line 32"/>
            <p:cNvSpPr/>
            <p:nvPr/>
          </p:nvSpPr>
          <p:spPr>
            <a:xfrm flipH="1">
              <a:off x="48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8" name="Line 33"/>
            <p:cNvSpPr/>
            <p:nvPr/>
          </p:nvSpPr>
          <p:spPr>
            <a:xfrm flipH="1">
              <a:off x="48" y="0"/>
              <a:ext cx="432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9" name="Line 34"/>
            <p:cNvSpPr/>
            <p:nvPr/>
          </p:nvSpPr>
          <p:spPr>
            <a:xfrm flipH="1">
              <a:off x="192" y="192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71820" name="AutoShape 35"/>
            <p:cNvCxnSpPr/>
            <p:nvPr/>
          </p:nvCxnSpPr>
          <p:spPr>
            <a:xfrm>
              <a:off x="660" y="326"/>
              <a:ext cx="0" cy="298"/>
            </a:xfrm>
            <a:prstGeom prst="straightConnector1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71821" name="AutoShape 36"/>
            <p:cNvCxnSpPr/>
            <p:nvPr/>
          </p:nvCxnSpPr>
          <p:spPr>
            <a:xfrm>
              <a:off x="660" y="950"/>
              <a:ext cx="0" cy="250"/>
            </a:xfrm>
            <a:prstGeom prst="straightConnector1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71822" name="Line 37"/>
            <p:cNvSpPr/>
            <p:nvPr/>
          </p:nvSpPr>
          <p:spPr>
            <a:xfrm>
              <a:off x="672" y="1536"/>
              <a:ext cx="0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95" name="Line 38"/>
          <p:cNvSpPr/>
          <p:nvPr/>
        </p:nvSpPr>
        <p:spPr>
          <a:xfrm>
            <a:off x="2770188" y="4435475"/>
            <a:ext cx="1066800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headEnd type="none" w="med" len="med"/>
            <a:tailEnd type="triangle" w="lg" len="lg"/>
          </a:ln>
        </p:spPr>
      </p:sp>
      <p:graphicFrame>
        <p:nvGraphicFramePr>
          <p:cNvPr id="70696" name="Group 40"/>
          <p:cNvGraphicFramePr>
            <a:graphicFrameLocks noGrp="1"/>
          </p:cNvGraphicFramePr>
          <p:nvPr/>
        </p:nvGraphicFramePr>
        <p:xfrm>
          <a:off x="9323388" y="5654676"/>
          <a:ext cx="1295400" cy="51781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549" marB="455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708" name="Rectangle 52"/>
          <p:cNvSpPr/>
          <p:nvPr/>
        </p:nvSpPr>
        <p:spPr>
          <a:xfrm>
            <a:off x="9258300" y="41148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endParaRPr lang="zh-CN" altLang="en-US" dirty="0"/>
          </a:p>
        </p:txBody>
      </p:sp>
      <p:sp>
        <p:nvSpPr>
          <p:cNvPr id="70709" name="Rectangle 53"/>
          <p:cNvSpPr/>
          <p:nvPr/>
        </p:nvSpPr>
        <p:spPr>
          <a:xfrm>
            <a:off x="8610600" y="41148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70710" name="Line 54"/>
          <p:cNvSpPr/>
          <p:nvPr/>
        </p:nvSpPr>
        <p:spPr>
          <a:xfrm>
            <a:off x="8610600" y="4114800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1" name="Line 55"/>
          <p:cNvSpPr/>
          <p:nvPr/>
        </p:nvSpPr>
        <p:spPr>
          <a:xfrm>
            <a:off x="8610600" y="4632325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2" name="Line 56"/>
          <p:cNvSpPr/>
          <p:nvPr/>
        </p:nvSpPr>
        <p:spPr>
          <a:xfrm>
            <a:off x="8610600" y="41148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3" name="Line 57"/>
          <p:cNvSpPr/>
          <p:nvPr/>
        </p:nvSpPr>
        <p:spPr>
          <a:xfrm>
            <a:off x="9258300" y="4114801"/>
            <a:ext cx="0" cy="517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4" name="Line 58"/>
          <p:cNvSpPr/>
          <p:nvPr/>
        </p:nvSpPr>
        <p:spPr>
          <a:xfrm>
            <a:off x="9906000" y="41148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5" name="Rectangle 59"/>
          <p:cNvSpPr/>
          <p:nvPr/>
        </p:nvSpPr>
        <p:spPr>
          <a:xfrm>
            <a:off x="9258300" y="31242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endParaRPr lang="zh-CN" altLang="en-US" dirty="0"/>
          </a:p>
        </p:txBody>
      </p:sp>
      <p:sp>
        <p:nvSpPr>
          <p:cNvPr id="70716" name="Rectangle 60"/>
          <p:cNvSpPr/>
          <p:nvPr/>
        </p:nvSpPr>
        <p:spPr>
          <a:xfrm>
            <a:off x="8610600" y="31242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0717" name="Line 61"/>
          <p:cNvSpPr/>
          <p:nvPr/>
        </p:nvSpPr>
        <p:spPr>
          <a:xfrm>
            <a:off x="8610600" y="3124200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8" name="Line 62"/>
          <p:cNvSpPr/>
          <p:nvPr/>
        </p:nvSpPr>
        <p:spPr>
          <a:xfrm>
            <a:off x="8610600" y="3641725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19" name="Line 63"/>
          <p:cNvSpPr/>
          <p:nvPr/>
        </p:nvSpPr>
        <p:spPr>
          <a:xfrm>
            <a:off x="8610600" y="31242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0" name="Line 64"/>
          <p:cNvSpPr/>
          <p:nvPr/>
        </p:nvSpPr>
        <p:spPr>
          <a:xfrm>
            <a:off x="9258300" y="3124201"/>
            <a:ext cx="0" cy="517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1" name="Line 65"/>
          <p:cNvSpPr/>
          <p:nvPr/>
        </p:nvSpPr>
        <p:spPr>
          <a:xfrm>
            <a:off x="9906000" y="31242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2" name="Rectangle 73"/>
          <p:cNvSpPr/>
          <p:nvPr/>
        </p:nvSpPr>
        <p:spPr>
          <a:xfrm>
            <a:off x="9258300" y="12192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endParaRPr lang="zh-CN" altLang="en-US" dirty="0"/>
          </a:p>
        </p:txBody>
      </p:sp>
      <p:sp>
        <p:nvSpPr>
          <p:cNvPr id="70723" name="Rectangle 74"/>
          <p:cNvSpPr/>
          <p:nvPr/>
        </p:nvSpPr>
        <p:spPr>
          <a:xfrm>
            <a:off x="8610600" y="1219201"/>
            <a:ext cx="647700" cy="51752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/>
              <a:t>  </a:t>
            </a:r>
          </a:p>
        </p:txBody>
      </p:sp>
      <p:sp>
        <p:nvSpPr>
          <p:cNvPr id="70724" name="Line 75"/>
          <p:cNvSpPr/>
          <p:nvPr/>
        </p:nvSpPr>
        <p:spPr>
          <a:xfrm>
            <a:off x="8610600" y="1219200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5" name="Line 76"/>
          <p:cNvSpPr/>
          <p:nvPr/>
        </p:nvSpPr>
        <p:spPr>
          <a:xfrm>
            <a:off x="8610600" y="1736725"/>
            <a:ext cx="12954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6" name="Line 77"/>
          <p:cNvSpPr/>
          <p:nvPr/>
        </p:nvSpPr>
        <p:spPr>
          <a:xfrm>
            <a:off x="8610600" y="12192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7" name="Line 78"/>
          <p:cNvSpPr/>
          <p:nvPr/>
        </p:nvSpPr>
        <p:spPr>
          <a:xfrm>
            <a:off x="9258300" y="1219201"/>
            <a:ext cx="0" cy="517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8" name="Line 79"/>
          <p:cNvSpPr/>
          <p:nvPr/>
        </p:nvSpPr>
        <p:spPr>
          <a:xfrm>
            <a:off x="9906000" y="1219201"/>
            <a:ext cx="0" cy="51752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29" name="Line 80"/>
          <p:cNvSpPr/>
          <p:nvPr/>
        </p:nvSpPr>
        <p:spPr>
          <a:xfrm flipH="1">
            <a:off x="8610600" y="1219200"/>
            <a:ext cx="4572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30" name="Line 81"/>
          <p:cNvSpPr/>
          <p:nvPr/>
        </p:nvSpPr>
        <p:spPr>
          <a:xfrm flipH="1">
            <a:off x="8534400" y="1295400"/>
            <a:ext cx="6858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31" name="Line 82"/>
          <p:cNvSpPr/>
          <p:nvPr/>
        </p:nvSpPr>
        <p:spPr>
          <a:xfrm flipH="1">
            <a:off x="8839200" y="1524000"/>
            <a:ext cx="381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732" name="Line 83"/>
          <p:cNvSpPr/>
          <p:nvPr/>
        </p:nvSpPr>
        <p:spPr>
          <a:xfrm>
            <a:off x="7620000" y="1524000"/>
            <a:ext cx="9906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lg" len="lg"/>
          </a:ln>
        </p:spPr>
      </p:sp>
      <p:grpSp>
        <p:nvGrpSpPr>
          <p:cNvPr id="3" name="Group 77"/>
          <p:cNvGrpSpPr/>
          <p:nvPr/>
        </p:nvGrpSpPr>
        <p:grpSpPr>
          <a:xfrm>
            <a:off x="8610600" y="1736726"/>
            <a:ext cx="1295400" cy="1387475"/>
            <a:chOff x="0" y="0"/>
            <a:chExt cx="816" cy="874"/>
          </a:xfrm>
        </p:grpSpPr>
        <p:sp>
          <p:nvSpPr>
            <p:cNvPr id="71780" name="Rectangle 66"/>
            <p:cNvSpPr/>
            <p:nvPr/>
          </p:nvSpPr>
          <p:spPr>
            <a:xfrm>
              <a:off x="408" y="298"/>
              <a:ext cx="408" cy="326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81" name="Rectangle 67"/>
            <p:cNvSpPr/>
            <p:nvPr/>
          </p:nvSpPr>
          <p:spPr>
            <a:xfrm>
              <a:off x="0" y="298"/>
              <a:ext cx="408" cy="326"/>
            </a:xfrm>
            <a:prstGeom prst="rect">
              <a:avLst/>
            </a:prstGeom>
            <a:solidFill>
              <a:srgbClr val="FFCCFF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</a:t>
              </a: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1782" name="Line 68"/>
            <p:cNvSpPr/>
            <p:nvPr/>
          </p:nvSpPr>
          <p:spPr>
            <a:xfrm>
              <a:off x="0" y="298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3" name="Line 69"/>
            <p:cNvSpPr/>
            <p:nvPr/>
          </p:nvSpPr>
          <p:spPr>
            <a:xfrm>
              <a:off x="0" y="624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4" name="Line 70"/>
            <p:cNvSpPr/>
            <p:nvPr/>
          </p:nvSpPr>
          <p:spPr>
            <a:xfrm>
              <a:off x="0" y="298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5" name="Line 71"/>
            <p:cNvSpPr/>
            <p:nvPr/>
          </p:nvSpPr>
          <p:spPr>
            <a:xfrm>
              <a:off x="408" y="298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6" name="Line 72"/>
            <p:cNvSpPr/>
            <p:nvPr/>
          </p:nvSpPr>
          <p:spPr>
            <a:xfrm>
              <a:off x="816" y="298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71787" name="AutoShape 84"/>
            <p:cNvCxnSpPr/>
            <p:nvPr/>
          </p:nvCxnSpPr>
          <p:spPr>
            <a:xfrm>
              <a:off x="612" y="0"/>
              <a:ext cx="0" cy="29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71788" name="AutoShape 85"/>
            <p:cNvCxnSpPr>
              <a:endCxn id="70715" idx="0"/>
            </p:cNvCxnSpPr>
            <p:nvPr/>
          </p:nvCxnSpPr>
          <p:spPr>
            <a:xfrm>
              <a:off x="612" y="624"/>
              <a:ext cx="0" cy="25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70743" name="Line 86"/>
          <p:cNvSpPr/>
          <p:nvPr/>
        </p:nvSpPr>
        <p:spPr>
          <a:xfrm>
            <a:off x="9601200" y="36576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744" name="Line 87"/>
          <p:cNvSpPr/>
          <p:nvPr/>
        </p:nvSpPr>
        <p:spPr>
          <a:xfrm>
            <a:off x="7467600" y="4343400"/>
            <a:ext cx="10668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70745" name="Text Box 88"/>
          <p:cNvSpPr txBox="1"/>
          <p:nvPr/>
        </p:nvSpPr>
        <p:spPr>
          <a:xfrm>
            <a:off x="6324600" y="12954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Q.front</a:t>
            </a:r>
          </a:p>
        </p:txBody>
      </p:sp>
      <p:sp>
        <p:nvSpPr>
          <p:cNvPr id="70746" name="Text Box 89"/>
          <p:cNvSpPr txBox="1"/>
          <p:nvPr/>
        </p:nvSpPr>
        <p:spPr>
          <a:xfrm>
            <a:off x="6400800" y="4114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Q.rear</a:t>
            </a:r>
          </a:p>
        </p:txBody>
      </p:sp>
      <p:sp>
        <p:nvSpPr>
          <p:cNvPr id="70747" name="Text Box 90"/>
          <p:cNvSpPr txBox="1"/>
          <p:nvPr/>
        </p:nvSpPr>
        <p:spPr>
          <a:xfrm>
            <a:off x="5970588" y="2911475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 删  除</a:t>
            </a:r>
          </a:p>
        </p:txBody>
      </p:sp>
      <p:sp>
        <p:nvSpPr>
          <p:cNvPr id="70748" name="Text Box 91"/>
          <p:cNvSpPr txBox="1"/>
          <p:nvPr/>
        </p:nvSpPr>
        <p:spPr>
          <a:xfrm>
            <a:off x="6732588" y="2911475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 一个元素</a:t>
            </a:r>
          </a:p>
        </p:txBody>
      </p:sp>
      <p:sp>
        <p:nvSpPr>
          <p:cNvPr id="70749" name="Text Box 92"/>
          <p:cNvSpPr txBox="1"/>
          <p:nvPr/>
        </p:nvSpPr>
        <p:spPr>
          <a:xfrm>
            <a:off x="2208213" y="4968875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</a:rPr>
              <a:t> 添加        一个元素</a:t>
            </a:r>
          </a:p>
        </p:txBody>
      </p:sp>
      <p:sp>
        <p:nvSpPr>
          <p:cNvPr id="70750" name="Line 93"/>
          <p:cNvSpPr/>
          <p:nvPr/>
        </p:nvSpPr>
        <p:spPr>
          <a:xfrm>
            <a:off x="8942388" y="5883275"/>
            <a:ext cx="381000" cy="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751" name="AutoShape 94"/>
          <p:cNvSpPr/>
          <p:nvPr/>
        </p:nvSpPr>
        <p:spPr>
          <a:xfrm>
            <a:off x="6383338" y="2420938"/>
            <a:ext cx="1143000" cy="228600"/>
          </a:xfrm>
          <a:prstGeom prst="rightArrow">
            <a:avLst>
              <a:gd name="adj1" fmla="val 30555"/>
              <a:gd name="adj2" fmla="val 407638"/>
            </a:avLst>
          </a:prstGeom>
          <a:solidFill>
            <a:srgbClr val="FF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0752" name="Line 95"/>
          <p:cNvSpPr/>
          <p:nvPr/>
        </p:nvSpPr>
        <p:spPr>
          <a:xfrm flipV="1">
            <a:off x="9323388" y="6265863"/>
            <a:ext cx="228600" cy="531812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70753" name="Text Box 96"/>
          <p:cNvSpPr txBox="1"/>
          <p:nvPr/>
        </p:nvSpPr>
        <p:spPr>
          <a:xfrm>
            <a:off x="9496425" y="5668963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/>
              <a:t>e</a:t>
            </a:r>
          </a:p>
        </p:txBody>
      </p:sp>
      <p:sp>
        <p:nvSpPr>
          <p:cNvPr id="70754" name="Text Box 97"/>
          <p:cNvSpPr txBox="1"/>
          <p:nvPr/>
        </p:nvSpPr>
        <p:spPr>
          <a:xfrm>
            <a:off x="9955213" y="5724525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/>
              <a:t>^</a:t>
            </a:r>
          </a:p>
        </p:txBody>
      </p:sp>
      <p:sp>
        <p:nvSpPr>
          <p:cNvPr id="70755" name="Oval 98"/>
          <p:cNvSpPr/>
          <p:nvPr/>
        </p:nvSpPr>
        <p:spPr>
          <a:xfrm>
            <a:off x="7467600" y="6324600"/>
            <a:ext cx="1600200" cy="5334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4" name="Group 100"/>
          <p:cNvGrpSpPr/>
          <p:nvPr/>
        </p:nvGrpSpPr>
        <p:grpSpPr>
          <a:xfrm>
            <a:off x="1524000" y="5502276"/>
            <a:ext cx="7570788" cy="1355725"/>
            <a:chOff x="0" y="0"/>
            <a:chExt cx="4769" cy="854"/>
          </a:xfrm>
        </p:grpSpPr>
        <p:sp>
          <p:nvSpPr>
            <p:cNvPr id="71742" name="Rectangle 100"/>
            <p:cNvSpPr/>
            <p:nvPr/>
          </p:nvSpPr>
          <p:spPr>
            <a:xfrm>
              <a:off x="2201" y="96"/>
              <a:ext cx="408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43" name="Rectangle 101"/>
            <p:cNvSpPr/>
            <p:nvPr/>
          </p:nvSpPr>
          <p:spPr>
            <a:xfrm>
              <a:off x="1793" y="96"/>
              <a:ext cx="408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 </a:t>
              </a: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1744" name="Line 102"/>
            <p:cNvSpPr/>
            <p:nvPr/>
          </p:nvSpPr>
          <p:spPr>
            <a:xfrm>
              <a:off x="1793" y="9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45" name="Line 103"/>
            <p:cNvSpPr/>
            <p:nvPr/>
          </p:nvSpPr>
          <p:spPr>
            <a:xfrm>
              <a:off x="1793" y="422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46" name="Line 104"/>
            <p:cNvSpPr/>
            <p:nvPr/>
          </p:nvSpPr>
          <p:spPr>
            <a:xfrm>
              <a:off x="1793" y="9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47" name="Line 105"/>
            <p:cNvSpPr/>
            <p:nvPr/>
          </p:nvSpPr>
          <p:spPr>
            <a:xfrm>
              <a:off x="2201" y="9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48" name="Line 106"/>
            <p:cNvSpPr/>
            <p:nvPr/>
          </p:nvSpPr>
          <p:spPr>
            <a:xfrm>
              <a:off x="2609" y="9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49" name="Rectangle 107"/>
            <p:cNvSpPr/>
            <p:nvPr/>
          </p:nvSpPr>
          <p:spPr>
            <a:xfrm>
              <a:off x="3257" y="96"/>
              <a:ext cx="408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50" name="Rectangle 108"/>
            <p:cNvSpPr/>
            <p:nvPr/>
          </p:nvSpPr>
          <p:spPr>
            <a:xfrm>
              <a:off x="2849" y="96"/>
              <a:ext cx="408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 </a:t>
              </a: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1751" name="Line 109"/>
            <p:cNvSpPr/>
            <p:nvPr/>
          </p:nvSpPr>
          <p:spPr>
            <a:xfrm>
              <a:off x="2849" y="9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2" name="Line 110"/>
            <p:cNvSpPr/>
            <p:nvPr/>
          </p:nvSpPr>
          <p:spPr>
            <a:xfrm>
              <a:off x="2849" y="422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3" name="Line 111"/>
            <p:cNvSpPr/>
            <p:nvPr/>
          </p:nvSpPr>
          <p:spPr>
            <a:xfrm>
              <a:off x="2849" y="9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4" name="Line 112"/>
            <p:cNvSpPr/>
            <p:nvPr/>
          </p:nvSpPr>
          <p:spPr>
            <a:xfrm>
              <a:off x="3257" y="9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5" name="Line 113"/>
            <p:cNvSpPr/>
            <p:nvPr/>
          </p:nvSpPr>
          <p:spPr>
            <a:xfrm>
              <a:off x="3665" y="9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6" name="Rectangle 114"/>
            <p:cNvSpPr/>
            <p:nvPr/>
          </p:nvSpPr>
          <p:spPr>
            <a:xfrm>
              <a:off x="4265" y="96"/>
              <a:ext cx="408" cy="33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57" name="Rectangle 115"/>
            <p:cNvSpPr/>
            <p:nvPr/>
          </p:nvSpPr>
          <p:spPr>
            <a:xfrm>
              <a:off x="3857" y="96"/>
              <a:ext cx="408" cy="33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 </a:t>
              </a: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71758" name="Line 116"/>
            <p:cNvSpPr/>
            <p:nvPr/>
          </p:nvSpPr>
          <p:spPr>
            <a:xfrm>
              <a:off x="3857" y="9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59" name="Line 117"/>
            <p:cNvSpPr/>
            <p:nvPr/>
          </p:nvSpPr>
          <p:spPr>
            <a:xfrm>
              <a:off x="3857" y="432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0" name="Line 118"/>
            <p:cNvSpPr/>
            <p:nvPr/>
          </p:nvSpPr>
          <p:spPr>
            <a:xfrm>
              <a:off x="3857" y="9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1" name="Line 119"/>
            <p:cNvSpPr/>
            <p:nvPr/>
          </p:nvSpPr>
          <p:spPr>
            <a:xfrm>
              <a:off x="4265" y="96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2" name="Line 120"/>
            <p:cNvSpPr/>
            <p:nvPr/>
          </p:nvSpPr>
          <p:spPr>
            <a:xfrm>
              <a:off x="4673" y="96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63" name="Text Box 121"/>
            <p:cNvSpPr txBox="1"/>
            <p:nvPr/>
          </p:nvSpPr>
          <p:spPr>
            <a:xfrm>
              <a:off x="0" y="0"/>
              <a:ext cx="9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</a:rPr>
                <a:t>Q.front</a:t>
              </a:r>
            </a:p>
          </p:txBody>
        </p:sp>
        <p:sp>
          <p:nvSpPr>
            <p:cNvPr id="71764" name="Line 122"/>
            <p:cNvSpPr/>
            <p:nvPr/>
          </p:nvSpPr>
          <p:spPr>
            <a:xfrm>
              <a:off x="182" y="275"/>
              <a:ext cx="528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65" name="Line 123"/>
            <p:cNvSpPr/>
            <p:nvPr/>
          </p:nvSpPr>
          <p:spPr>
            <a:xfrm>
              <a:off x="1505" y="240"/>
              <a:ext cx="28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66" name="Line 124"/>
            <p:cNvSpPr/>
            <p:nvPr/>
          </p:nvSpPr>
          <p:spPr>
            <a:xfrm>
              <a:off x="2609" y="240"/>
              <a:ext cx="240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67" name="Line 125"/>
            <p:cNvSpPr/>
            <p:nvPr/>
          </p:nvSpPr>
          <p:spPr>
            <a:xfrm>
              <a:off x="3665" y="240"/>
              <a:ext cx="192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68" name="Line 126"/>
            <p:cNvSpPr/>
            <p:nvPr/>
          </p:nvSpPr>
          <p:spPr>
            <a:xfrm flipV="1">
              <a:off x="3953" y="481"/>
              <a:ext cx="144" cy="33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69" name="Text Box 127"/>
            <p:cNvSpPr txBox="1"/>
            <p:nvPr/>
          </p:nvSpPr>
          <p:spPr>
            <a:xfrm>
              <a:off x="4049" y="566"/>
              <a:ext cx="7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/>
                <a:t>Q.rear</a:t>
              </a:r>
            </a:p>
          </p:txBody>
        </p:sp>
        <p:sp>
          <p:nvSpPr>
            <p:cNvPr id="71770" name="Rectangle 128"/>
            <p:cNvSpPr/>
            <p:nvPr/>
          </p:nvSpPr>
          <p:spPr>
            <a:xfrm>
              <a:off x="1120" y="105"/>
              <a:ext cx="385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endParaRPr lang="zh-CN" altLang="en-US" dirty="0"/>
            </a:p>
          </p:txBody>
        </p:sp>
        <p:sp>
          <p:nvSpPr>
            <p:cNvPr id="71771" name="Rectangle 129"/>
            <p:cNvSpPr/>
            <p:nvPr/>
          </p:nvSpPr>
          <p:spPr>
            <a:xfrm>
              <a:off x="734" y="105"/>
              <a:ext cx="386" cy="32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</a:pPr>
              <a:r>
                <a:rPr lang="zh-CN" altLang="en-US" dirty="0"/>
                <a:t>  </a:t>
              </a:r>
            </a:p>
          </p:txBody>
        </p:sp>
        <p:sp>
          <p:nvSpPr>
            <p:cNvPr id="71772" name="Line 130"/>
            <p:cNvSpPr/>
            <p:nvPr/>
          </p:nvSpPr>
          <p:spPr>
            <a:xfrm>
              <a:off x="734" y="105"/>
              <a:ext cx="77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3" name="Line 131"/>
            <p:cNvSpPr/>
            <p:nvPr/>
          </p:nvSpPr>
          <p:spPr>
            <a:xfrm>
              <a:off x="734" y="431"/>
              <a:ext cx="771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4" name="Line 132"/>
            <p:cNvSpPr/>
            <p:nvPr/>
          </p:nvSpPr>
          <p:spPr>
            <a:xfrm>
              <a:off x="734" y="105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5" name="Line 133"/>
            <p:cNvSpPr/>
            <p:nvPr/>
          </p:nvSpPr>
          <p:spPr>
            <a:xfrm>
              <a:off x="1120" y="105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6" name="Line 134"/>
            <p:cNvSpPr/>
            <p:nvPr/>
          </p:nvSpPr>
          <p:spPr>
            <a:xfrm>
              <a:off x="1505" y="105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7" name="Line 135"/>
            <p:cNvSpPr/>
            <p:nvPr/>
          </p:nvSpPr>
          <p:spPr>
            <a:xfrm flipH="1">
              <a:off x="734" y="105"/>
              <a:ext cx="27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8" name="Line 136"/>
            <p:cNvSpPr/>
            <p:nvPr/>
          </p:nvSpPr>
          <p:spPr>
            <a:xfrm flipH="1">
              <a:off x="689" y="153"/>
              <a:ext cx="40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9" name="Line 137"/>
            <p:cNvSpPr/>
            <p:nvPr/>
          </p:nvSpPr>
          <p:spPr>
            <a:xfrm flipH="1">
              <a:off x="870" y="297"/>
              <a:ext cx="227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795" name="Text Box 139"/>
          <p:cNvSpPr txBox="1"/>
          <p:nvPr/>
        </p:nvSpPr>
        <p:spPr>
          <a:xfrm>
            <a:off x="1627188" y="1311275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Q.front</a:t>
            </a:r>
          </a:p>
        </p:txBody>
      </p:sp>
      <p:sp>
        <p:nvSpPr>
          <p:cNvPr id="70796" name="Text Box 140"/>
          <p:cNvSpPr txBox="1"/>
          <p:nvPr/>
        </p:nvSpPr>
        <p:spPr>
          <a:xfrm>
            <a:off x="1627188" y="4206875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</a:rPr>
              <a:t>Q.rear</a:t>
            </a:r>
          </a:p>
        </p:txBody>
      </p:sp>
      <p:sp>
        <p:nvSpPr>
          <p:cNvPr id="70797" name="Text Box 141"/>
          <p:cNvSpPr txBox="1"/>
          <p:nvPr/>
        </p:nvSpPr>
        <p:spPr>
          <a:xfrm>
            <a:off x="2895600" y="2286000"/>
            <a:ext cx="9906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队头</a:t>
            </a:r>
          </a:p>
        </p:txBody>
      </p:sp>
      <p:sp>
        <p:nvSpPr>
          <p:cNvPr id="70798" name="Text Box 142"/>
          <p:cNvSpPr txBox="1"/>
          <p:nvPr/>
        </p:nvSpPr>
        <p:spPr>
          <a:xfrm>
            <a:off x="5181600" y="4267200"/>
            <a:ext cx="990600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dirty="0">
                <a:solidFill>
                  <a:schemeClr val="tx1"/>
                </a:solidFill>
              </a:rPr>
              <a:t>队尾</a:t>
            </a:r>
          </a:p>
        </p:txBody>
      </p:sp>
      <p:sp>
        <p:nvSpPr>
          <p:cNvPr id="70799" name="Oval 143"/>
          <p:cNvSpPr/>
          <p:nvPr/>
        </p:nvSpPr>
        <p:spPr>
          <a:xfrm>
            <a:off x="7467600" y="6324600"/>
            <a:ext cx="1600200" cy="533400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0800" name="Text Box 144"/>
          <p:cNvSpPr txBox="1"/>
          <p:nvPr/>
        </p:nvSpPr>
        <p:spPr>
          <a:xfrm>
            <a:off x="9677400" y="64008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3B0099"/>
                </a:solidFill>
              </a:rPr>
              <a:t>Q.rear</a:t>
            </a:r>
          </a:p>
        </p:txBody>
      </p:sp>
      <p:sp>
        <p:nvSpPr>
          <p:cNvPr id="70801" name="Line 145"/>
          <p:cNvSpPr/>
          <p:nvPr/>
        </p:nvSpPr>
        <p:spPr>
          <a:xfrm>
            <a:off x="9480550" y="1773239"/>
            <a:ext cx="0" cy="1368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2" name="Line 87"/>
          <p:cNvSpPr/>
          <p:nvPr/>
        </p:nvSpPr>
        <p:spPr>
          <a:xfrm flipH="1">
            <a:off x="2922588" y="4694239"/>
            <a:ext cx="1257300" cy="808037"/>
          </a:xfrm>
          <a:prstGeom prst="line">
            <a:avLst/>
          </a:prstGeom>
          <a:ln w="38100" cap="flat" cmpd="sng">
            <a:solidFill>
              <a:srgbClr val="00B050"/>
            </a:solidFill>
            <a:prstDash val="solid"/>
            <a:headEnd type="none" w="med" len="med"/>
            <a:tailEnd type="triangle" w="lg" len="lg"/>
          </a:ln>
        </p:spPr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0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0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0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0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7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7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08" grpId="0" bldLvl="0" animBg="1"/>
      <p:bldP spid="70709" grpId="0" bldLvl="0" animBg="1"/>
      <p:bldP spid="70715" grpId="0" bldLvl="0" animBg="1"/>
      <p:bldP spid="70716" grpId="0" bldLvl="0" animBg="1"/>
      <p:bldP spid="70722" grpId="0" bldLvl="0" animBg="1"/>
      <p:bldP spid="70723" grpId="0" bldLvl="0" animBg="1"/>
      <p:bldP spid="70745" grpId="0"/>
      <p:bldP spid="70746" grpId="0"/>
      <p:bldP spid="70747" grpId="0"/>
      <p:bldP spid="70748" grpId="0"/>
      <p:bldP spid="70748" grpId="1"/>
      <p:bldP spid="70749" grpId="0"/>
      <p:bldP spid="70751" grpId="0" bldLvl="0" animBg="1"/>
      <p:bldP spid="70753" grpId="0"/>
      <p:bldP spid="70754" grpId="0"/>
      <p:bldP spid="70755" grpId="0" bldLvl="0" animBg="1"/>
      <p:bldP spid="70795" grpId="0"/>
      <p:bldP spid="70796" grpId="0"/>
      <p:bldP spid="70797" grpId="0"/>
      <p:bldP spid="70798" grpId="0"/>
      <p:bldP spid="70799" grpId="0" bldLvl="0" animBg="1"/>
      <p:bldP spid="7080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链队列的实现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eaLnBrk="1" hangingPunct="1">
              <a:buNone/>
            </a:pPr>
            <a:r>
              <a:rPr lang="zh-CN" altLang="en-US" sz="4000" dirty="0"/>
              <a:t> </a:t>
            </a:r>
            <a:r>
              <a:rPr lang="en-US" altLang="zh-CN" sz="4000" dirty="0"/>
              <a:t>typedef struct QNode {// </a:t>
            </a:r>
            <a:r>
              <a:rPr lang="zh-CN" altLang="en-US" sz="4000" dirty="0">
                <a:solidFill>
                  <a:srgbClr val="800000"/>
                </a:solidFill>
              </a:rPr>
              <a:t>结点类型</a:t>
            </a:r>
            <a:endParaRPr lang="zh-CN" altLang="en-US" sz="4000" dirty="0"/>
          </a:p>
          <a:p>
            <a:pPr eaLnBrk="1" hangingPunct="1">
              <a:buNone/>
            </a:pPr>
            <a:r>
              <a:rPr lang="zh-CN" altLang="en-US" sz="4000" dirty="0"/>
              <a:t>    </a:t>
            </a:r>
            <a:r>
              <a:rPr lang="en-US" altLang="zh-CN" sz="4000" dirty="0"/>
              <a:t> </a:t>
            </a:r>
            <a:r>
              <a:rPr lang="en-US" altLang="zh-CN" sz="4000" dirty="0" err="1"/>
              <a:t>ElemType</a:t>
            </a:r>
            <a:r>
              <a:rPr lang="en-US" altLang="zh-CN" sz="4000" dirty="0"/>
              <a:t>      data;</a:t>
            </a:r>
          </a:p>
          <a:p>
            <a:pPr eaLnBrk="1" hangingPunct="1">
              <a:buNone/>
            </a:pPr>
            <a:r>
              <a:rPr lang="en-US" altLang="zh-CN" sz="4000" dirty="0"/>
              <a:t>    struct QNode  *next;</a:t>
            </a:r>
          </a:p>
          <a:p>
            <a:pPr eaLnBrk="1" hangingPunct="1">
              <a:buNone/>
            </a:pPr>
            <a:r>
              <a:rPr lang="en-US" altLang="zh-CN" sz="4000" dirty="0"/>
              <a:t>  } QNode, *QueuePtr;</a:t>
            </a:r>
          </a:p>
          <a:p>
            <a:pPr eaLnBrk="1" hangingPunct="1">
              <a:buNone/>
            </a:pPr>
            <a:endParaRPr lang="zh-CN" altLang="en-US" sz="4000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/>
          <p:nvPr/>
        </p:nvSpPr>
        <p:spPr>
          <a:xfrm>
            <a:off x="2063751" y="235903"/>
            <a:ext cx="5009577" cy="20346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dirty="0">
                <a:solidFill>
                  <a:schemeClr val="tx1"/>
                </a:solidFill>
              </a:rPr>
              <a:t>typedef struct { // </a:t>
            </a:r>
            <a:r>
              <a:rPr lang="zh-CN" altLang="en-US" dirty="0">
                <a:solidFill>
                  <a:srgbClr val="800000"/>
                </a:solidFill>
              </a:rPr>
              <a:t>链队列类型</a:t>
            </a:r>
            <a:endParaRPr lang="zh-CN" altLang="en-US" dirty="0"/>
          </a:p>
          <a:p>
            <a:pPr>
              <a:lnSpc>
                <a:spcPct val="115000"/>
              </a:lnSpc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chemeClr val="tx1"/>
                </a:solidFill>
              </a:rPr>
              <a:t>QueuePtr  front;  //</a:t>
            </a:r>
            <a:r>
              <a:rPr lang="en-US" altLang="zh-CN" dirty="0"/>
              <a:t> </a:t>
            </a:r>
            <a:r>
              <a:rPr lang="zh-CN" altLang="en-US" dirty="0"/>
              <a:t>队头指针</a:t>
            </a:r>
            <a:endParaRPr lang="zh-CN" altLang="en-US" dirty="0">
              <a:solidFill>
                <a:srgbClr val="A50021"/>
              </a:solidFill>
            </a:endParaRPr>
          </a:p>
          <a:p>
            <a:pPr>
              <a:lnSpc>
                <a:spcPct val="115000"/>
              </a:lnSpc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chemeClr val="tx1"/>
                </a:solidFill>
              </a:rPr>
              <a:t>QueuePtr  rear;   //</a:t>
            </a:r>
            <a:r>
              <a:rPr lang="en-US" altLang="zh-CN" dirty="0"/>
              <a:t> </a:t>
            </a:r>
            <a:r>
              <a:rPr lang="zh-CN" altLang="en-US" dirty="0"/>
              <a:t>队尾指针</a:t>
            </a:r>
          </a:p>
          <a:p>
            <a:pPr>
              <a:lnSpc>
                <a:spcPct val="115000"/>
              </a:lnSpc>
            </a:pPr>
            <a:r>
              <a:rPr lang="en-US" altLang="zh-CN" dirty="0">
                <a:solidFill>
                  <a:schemeClr val="tx1"/>
                </a:solidFill>
              </a:rPr>
              <a:t>} *</a:t>
            </a:r>
            <a:r>
              <a:rPr lang="en-US" altLang="zh-CN" dirty="0" err="1">
                <a:solidFill>
                  <a:schemeClr val="tx1"/>
                </a:solidFill>
              </a:rPr>
              <a:t>LinkQueue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72707" name="Rectangle 3"/>
          <p:cNvSpPr/>
          <p:nvPr/>
        </p:nvSpPr>
        <p:spPr>
          <a:xfrm>
            <a:off x="3048000" y="3733800"/>
            <a:ext cx="304800" cy="609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72708" name="Rectangle 4"/>
          <p:cNvSpPr/>
          <p:nvPr/>
        </p:nvSpPr>
        <p:spPr>
          <a:xfrm>
            <a:off x="3048000" y="4343400"/>
            <a:ext cx="304800" cy="609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72709" name="Rectangle 5"/>
          <p:cNvSpPr/>
          <p:nvPr/>
        </p:nvSpPr>
        <p:spPr>
          <a:xfrm>
            <a:off x="4648200" y="3733800"/>
            <a:ext cx="3048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72710" name="Rectangle 6"/>
          <p:cNvSpPr/>
          <p:nvPr/>
        </p:nvSpPr>
        <p:spPr>
          <a:xfrm>
            <a:off x="3962400" y="3733800"/>
            <a:ext cx="685800" cy="609600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72711" name="Rectangle 7"/>
          <p:cNvSpPr/>
          <p:nvPr/>
        </p:nvSpPr>
        <p:spPr>
          <a:xfrm>
            <a:off x="6172200" y="3733800"/>
            <a:ext cx="3048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/>
          </a:p>
        </p:txBody>
      </p:sp>
      <p:sp>
        <p:nvSpPr>
          <p:cNvPr id="72712" name="Rectangle 8"/>
          <p:cNvSpPr/>
          <p:nvPr/>
        </p:nvSpPr>
        <p:spPr>
          <a:xfrm>
            <a:off x="5486400" y="3733800"/>
            <a:ext cx="6858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2713" name="Rectangle 9"/>
          <p:cNvSpPr/>
          <p:nvPr/>
        </p:nvSpPr>
        <p:spPr>
          <a:xfrm>
            <a:off x="9601200" y="3733800"/>
            <a:ext cx="3048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zh-CN" altLang="en-US" sz="2400" dirty="0"/>
              <a:t>∧</a:t>
            </a:r>
            <a:endParaRPr lang="zh-CN" altLang="en-US" dirty="0"/>
          </a:p>
        </p:txBody>
      </p:sp>
      <p:sp>
        <p:nvSpPr>
          <p:cNvPr id="72714" name="Rectangle 10"/>
          <p:cNvSpPr/>
          <p:nvPr/>
        </p:nvSpPr>
        <p:spPr>
          <a:xfrm>
            <a:off x="8915400" y="3733800"/>
            <a:ext cx="685800" cy="609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72715" name="Line 11"/>
          <p:cNvSpPr/>
          <p:nvPr/>
        </p:nvSpPr>
        <p:spPr>
          <a:xfrm>
            <a:off x="3200400" y="4038600"/>
            <a:ext cx="762000" cy="0"/>
          </a:xfrm>
          <a:prstGeom prst="line">
            <a:avLst/>
          </a:prstGeom>
          <a:ln w="28575" cap="flat" cmpd="sng">
            <a:solidFill>
              <a:srgbClr val="FF505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2716" name="Line 12"/>
          <p:cNvSpPr/>
          <p:nvPr/>
        </p:nvSpPr>
        <p:spPr>
          <a:xfrm>
            <a:off x="4800600" y="4038600"/>
            <a:ext cx="7620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2717" name="Line 13"/>
          <p:cNvSpPr/>
          <p:nvPr/>
        </p:nvSpPr>
        <p:spPr>
          <a:xfrm>
            <a:off x="6324600" y="4038600"/>
            <a:ext cx="7620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2718" name="Line 14"/>
          <p:cNvSpPr/>
          <p:nvPr/>
        </p:nvSpPr>
        <p:spPr>
          <a:xfrm>
            <a:off x="8153400" y="4038600"/>
            <a:ext cx="7620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2719" name="Text Box 15"/>
          <p:cNvSpPr txBox="1"/>
          <p:nvPr/>
        </p:nvSpPr>
        <p:spPr>
          <a:xfrm>
            <a:off x="7315200" y="3565525"/>
            <a:ext cx="8382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/>
              <a:t>…</a:t>
            </a:r>
          </a:p>
        </p:txBody>
      </p:sp>
      <p:sp>
        <p:nvSpPr>
          <p:cNvPr id="72720" name="Line 16"/>
          <p:cNvSpPr/>
          <p:nvPr/>
        </p:nvSpPr>
        <p:spPr>
          <a:xfrm>
            <a:off x="3200400" y="4648200"/>
            <a:ext cx="6096000" cy="0"/>
          </a:xfrm>
          <a:prstGeom prst="line">
            <a:avLst/>
          </a:prstGeom>
          <a:ln w="28575" cap="flat" cmpd="sng">
            <a:solidFill>
              <a:srgbClr val="FF505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21" name="Line 17"/>
          <p:cNvSpPr/>
          <p:nvPr/>
        </p:nvSpPr>
        <p:spPr>
          <a:xfrm flipV="1">
            <a:off x="9296400" y="4343400"/>
            <a:ext cx="0" cy="304800"/>
          </a:xfrm>
          <a:prstGeom prst="line">
            <a:avLst/>
          </a:prstGeom>
          <a:ln w="28575" cap="flat" cmpd="sng">
            <a:solidFill>
              <a:srgbClr val="FF5050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2722" name="Text Box 18"/>
          <p:cNvSpPr txBox="1"/>
          <p:nvPr/>
        </p:nvSpPr>
        <p:spPr>
          <a:xfrm>
            <a:off x="1856843" y="3779105"/>
            <a:ext cx="1072730" cy="11364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3200" dirty="0">
                <a:solidFill>
                  <a:srgbClr val="A50021"/>
                </a:solidFill>
              </a:rPr>
              <a:t>front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 dirty="0">
                <a:solidFill>
                  <a:srgbClr val="A50021"/>
                </a:solidFill>
              </a:rPr>
              <a:t>rear</a:t>
            </a:r>
          </a:p>
        </p:txBody>
      </p:sp>
      <p:sp>
        <p:nvSpPr>
          <p:cNvPr id="72731" name="Text Box 27"/>
          <p:cNvSpPr txBox="1"/>
          <p:nvPr/>
        </p:nvSpPr>
        <p:spPr>
          <a:xfrm>
            <a:off x="2133601" y="5410200"/>
            <a:ext cx="180657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800000"/>
                </a:solidFill>
                <a:ea typeface="隶书" panose="02010509060101010101" pitchFamily="49" charset="-122"/>
              </a:rPr>
              <a:t>空队列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88FE62-CEFA-244F-B1CC-CFD1EC90732A}"/>
              </a:ext>
            </a:extLst>
          </p:cNvPr>
          <p:cNvSpPr txBox="1"/>
          <p:nvPr/>
        </p:nvSpPr>
        <p:spPr>
          <a:xfrm>
            <a:off x="2133601" y="2492896"/>
            <a:ext cx="4610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LinkQueue</a:t>
            </a:r>
            <a:r>
              <a:rPr lang="en-US" altLang="zh-CN" dirty="0"/>
              <a:t> Q;</a:t>
            </a:r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D541217-C9AF-D42C-D7C2-901C20D9FEEF}"/>
              </a:ext>
            </a:extLst>
          </p:cNvPr>
          <p:cNvGrpSpPr/>
          <p:nvPr/>
        </p:nvGrpSpPr>
        <p:grpSpPr>
          <a:xfrm>
            <a:off x="4054334" y="5453804"/>
            <a:ext cx="2843043" cy="1533234"/>
            <a:chOff x="8124941" y="3946444"/>
            <a:chExt cx="1245904" cy="80232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CC4361-7BEB-100A-6E5E-927F14C00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3946444"/>
              <a:ext cx="360615" cy="3482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9445F95-C652-E031-DFF5-CD20344C0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4291061"/>
              <a:ext cx="360615" cy="3610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5627E8F3-9CA8-2A8B-6CF5-3689636E4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4941" y="4053958"/>
              <a:ext cx="867511" cy="694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front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rear</a:t>
              </a: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1AACCAA-529A-4949-824A-4CACF9B0BC36}"/>
              </a:ext>
            </a:extLst>
          </p:cNvPr>
          <p:cNvCxnSpPr>
            <a:cxnSpLocks/>
            <a:stCxn id="20" idx="3"/>
            <a:endCxn id="28" idx="1"/>
          </p:cNvCxnSpPr>
          <p:nvPr/>
        </p:nvCxnSpPr>
        <p:spPr>
          <a:xfrm>
            <a:off x="6897377" y="5786519"/>
            <a:ext cx="899171" cy="158530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3E0E6F0-D394-9C91-064A-26D408D66C38}"/>
              </a:ext>
            </a:extLst>
          </p:cNvPr>
          <p:cNvCxnSpPr>
            <a:cxnSpLocks/>
          </p:cNvCxnSpPr>
          <p:nvPr/>
        </p:nvCxnSpPr>
        <p:spPr>
          <a:xfrm flipV="1">
            <a:off x="6890623" y="6191782"/>
            <a:ext cx="843677" cy="265569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36EE6A8-F8C8-D529-F494-88FEF1935CD9}"/>
              </a:ext>
            </a:extLst>
          </p:cNvPr>
          <p:cNvGrpSpPr/>
          <p:nvPr/>
        </p:nvGrpSpPr>
        <p:grpSpPr>
          <a:xfrm>
            <a:off x="7796548" y="5608513"/>
            <a:ext cx="1475703" cy="646977"/>
            <a:chOff x="9741672" y="4082970"/>
            <a:chExt cx="646696" cy="338554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051C5CD-7563-DC56-57A0-D140FFC5F7DC}"/>
                </a:ext>
              </a:extLst>
            </p:cNvPr>
            <p:cNvGrpSpPr/>
            <p:nvPr/>
          </p:nvGrpSpPr>
          <p:grpSpPr>
            <a:xfrm>
              <a:off x="9741672" y="4101961"/>
              <a:ext cx="596900" cy="314227"/>
              <a:chOff x="1745372" y="572988"/>
              <a:chExt cx="596900" cy="31422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28" name="Rectangle 9">
                <a:extLst>
                  <a:ext uri="{FF2B5EF4-FFF2-40B4-BE49-F238E27FC236}">
                    <a16:creationId xmlns:a16="http://schemas.microsoft.com/office/drawing/2014/main" id="{75357692-B0A3-0705-DA14-9649A36B1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grpFill/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zh-CN" sz="1600" dirty="0"/>
              </a:p>
            </p:txBody>
          </p:sp>
          <p:sp>
            <p:nvSpPr>
              <p:cNvPr id="29" name="Line 10">
                <a:extLst>
                  <a:ext uri="{FF2B5EF4-FFF2-40B4-BE49-F238E27FC236}">
                    <a16:creationId xmlns:a16="http://schemas.microsoft.com/office/drawing/2014/main" id="{2A3571B6-3360-6DAA-BD35-DE2695A38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grp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3AD3A00-E574-5338-1BAE-0CAA59F79888}"/>
                </a:ext>
              </a:extLst>
            </p:cNvPr>
            <p:cNvSpPr txBox="1"/>
            <p:nvPr/>
          </p:nvSpPr>
          <p:spPr>
            <a:xfrm>
              <a:off x="10054911" y="4082970"/>
              <a:ext cx="33345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∧</a:t>
              </a:r>
              <a:endParaRPr lang="zh-CN" altLang="en-US" sz="1600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FB4E1BD-81D6-F3CE-B28E-1A862B47C723}"/>
              </a:ext>
            </a:extLst>
          </p:cNvPr>
          <p:cNvGrpSpPr/>
          <p:nvPr/>
        </p:nvGrpSpPr>
        <p:grpSpPr>
          <a:xfrm>
            <a:off x="4800600" y="4915570"/>
            <a:ext cx="1371601" cy="465686"/>
            <a:chOff x="384596" y="5426268"/>
            <a:chExt cx="601075" cy="243687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1211355-A557-2ECB-DA05-2F9D6A8893F5}"/>
                </a:ext>
              </a:extLst>
            </p:cNvPr>
            <p:cNvSpPr txBox="1"/>
            <p:nvPr/>
          </p:nvSpPr>
          <p:spPr>
            <a:xfrm>
              <a:off x="384596" y="5426268"/>
              <a:ext cx="572805" cy="209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235C5342-F2C8-38FD-5AE6-E0244B7DE924}"/>
                </a:ext>
              </a:extLst>
            </p:cNvPr>
            <p:cNvCxnSpPr>
              <a:cxnSpLocks/>
            </p:cNvCxnSpPr>
            <p:nvPr/>
          </p:nvCxnSpPr>
          <p:spPr>
            <a:xfrm>
              <a:off x="551561" y="5548420"/>
              <a:ext cx="434110" cy="121535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3176359-0CE9-3119-D8E2-7676FE953F45}"/>
              </a:ext>
            </a:extLst>
          </p:cNvPr>
          <p:cNvGrpSpPr/>
          <p:nvPr/>
        </p:nvGrpSpPr>
        <p:grpSpPr>
          <a:xfrm>
            <a:off x="1600199" y="3354697"/>
            <a:ext cx="1371601" cy="465686"/>
            <a:chOff x="384596" y="5426268"/>
            <a:chExt cx="601075" cy="243687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2DA9318-6245-59C5-83F2-67631DCBE443}"/>
                </a:ext>
              </a:extLst>
            </p:cNvPr>
            <p:cNvSpPr txBox="1"/>
            <p:nvPr/>
          </p:nvSpPr>
          <p:spPr>
            <a:xfrm>
              <a:off x="384596" y="5426268"/>
              <a:ext cx="572805" cy="209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73115E4F-236D-4D09-3773-4C63734C7A53}"/>
                </a:ext>
              </a:extLst>
            </p:cNvPr>
            <p:cNvCxnSpPr>
              <a:cxnSpLocks/>
            </p:cNvCxnSpPr>
            <p:nvPr/>
          </p:nvCxnSpPr>
          <p:spPr>
            <a:xfrm>
              <a:off x="551561" y="5548420"/>
              <a:ext cx="434110" cy="121535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2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2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ldLvl="0" animBg="1"/>
      <p:bldP spid="72708" grpId="0" bldLvl="0" animBg="1"/>
      <p:bldP spid="72709" grpId="0" bldLvl="0" animBg="1"/>
      <p:bldP spid="72710" grpId="0" bldLvl="0" animBg="1"/>
      <p:bldP spid="72711" grpId="0" bldLvl="0" animBg="1"/>
      <p:bldP spid="72712" grpId="0" bldLvl="0" animBg="1"/>
      <p:bldP spid="72713" grpId="0" bldLvl="0" animBg="1"/>
      <p:bldP spid="72714" grpId="0" bldLvl="0" animBg="1"/>
      <p:bldP spid="72719" grpId="0"/>
      <p:bldP spid="72722" grpId="0"/>
      <p:bldP spid="72731" grpId="0"/>
      <p:bldP spid="2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60351"/>
            <a:ext cx="9144000" cy="669925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CN" sz="4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1. </a:t>
            </a:r>
            <a:r>
              <a:rPr sz="4800" dirty="0" err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链队列的基本概念</a:t>
            </a:r>
            <a:endParaRPr sz="480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2924176"/>
            <a:ext cx="9144000" cy="30972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头指针</a:t>
            </a:r>
            <a:r>
              <a:rPr lang="en-US" altLang="zh-CN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Front:</a:t>
            </a: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指向队首</a:t>
            </a:r>
            <a:endParaRPr lang="en-US" altLang="zh-CN" sz="32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尾指针</a:t>
            </a:r>
            <a:r>
              <a:rPr lang="en-US" altLang="zh-CN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Rear:</a:t>
            </a: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指向队尾</a:t>
            </a:r>
            <a:endParaRPr lang="en-US" altLang="zh-CN" sz="32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endParaRPr lang="en-US" altLang="zh-CN" sz="32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链式队列在入队时无队满问题</a:t>
            </a:r>
            <a:endParaRPr lang="en-US" altLang="zh-CN" sz="32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适用于元素变化较大的情形</a:t>
            </a:r>
          </a:p>
          <a:p>
            <a:pPr eaLnBrk="1" hangingPunct="1"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队空条件为 </a:t>
            </a:r>
            <a:r>
              <a:rPr lang="en-US" altLang="zh-CN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 </a:t>
            </a:r>
            <a:r>
              <a:rPr lang="en-US" altLang="zh-CN" sz="3200" i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==</a:t>
            </a:r>
            <a:r>
              <a:rPr lang="en-US" altLang="zh-CN" sz="32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rear</a:t>
            </a:r>
            <a:endParaRPr lang="en-US" altLang="zh-CN" sz="3200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1828800" y="4543425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zh-CN" sz="3600">
              <a:solidFill>
                <a:srgbClr val="CC3300"/>
              </a:solidFill>
              <a:ea typeface="宋体" panose="02010600030101010101" pitchFamily="2" charset="-122"/>
            </a:endParaRPr>
          </a:p>
        </p:txBody>
      </p:sp>
      <p:sp>
        <p:nvSpPr>
          <p:cNvPr id="2054" name="Rectangle 27"/>
          <p:cNvSpPr>
            <a:spLocks noChangeArrowheads="1"/>
          </p:cNvSpPr>
          <p:nvPr/>
        </p:nvSpPr>
        <p:spPr bwMode="auto">
          <a:xfrm>
            <a:off x="1524001" y="28054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26"/>
          <p:cNvGraphicFramePr>
            <a:graphicFrameLocks noChangeAspect="1"/>
          </p:cNvGraphicFramePr>
          <p:nvPr/>
        </p:nvGraphicFramePr>
        <p:xfrm>
          <a:off x="1630364" y="908050"/>
          <a:ext cx="8929687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3" imgW="5524500" imgH="1155700" progId="Visio.Drawing.11">
                  <p:embed/>
                </p:oleObj>
              </mc:Choice>
              <mc:Fallback>
                <p:oleObj name="Visio" r:id="rId3" imgW="5524500" imgH="1155700" progId="Visio.Drawing.11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364" y="908050"/>
                        <a:ext cx="8929687" cy="184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Text Box 2"/>
          <p:cNvSpPr txBox="1">
            <a:spLocks noChangeArrowheads="1"/>
          </p:cNvSpPr>
          <p:nvPr/>
        </p:nvSpPr>
        <p:spPr bwMode="auto">
          <a:xfrm>
            <a:off x="479376" y="44450"/>
            <a:ext cx="11593288" cy="55936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>
                <a:sym typeface="+mn-ea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初始化队列</a:t>
            </a:r>
            <a:endParaRPr lang="zh-CN" altLang="en-US" sz="2400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LinkQueue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InitQueue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() {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   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LinkQueue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Q;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  if(!(Q=(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LinkQueue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)malloc(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sizeof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(*Q)))) //</a:t>
            </a:r>
            <a:r>
              <a:rPr lang="zh-CN" altLang="en-US" sz="2400" dirty="0">
                <a:solidFill>
                  <a:srgbClr val="800000"/>
                </a:solidFill>
                <a:sym typeface="+mn-ea"/>
              </a:rPr>
              <a:t>分配记录空间</a:t>
            </a:r>
            <a:endParaRPr lang="en-US" altLang="zh-CN" sz="2400" dirty="0">
              <a:solidFill>
                <a:srgbClr val="800000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                     exit(OVERFLOW) 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  if(!(Q-&gt;front=Q-&gt;rear = </a:t>
            </a:r>
            <a:r>
              <a:rPr lang="zh-CN" altLang="en-US" sz="2400" dirty="0">
                <a:solidFill>
                  <a:srgbClr val="800000"/>
                </a:solidFill>
                <a:sym typeface="+mn-ea"/>
              </a:rPr>
              <a:t>（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Queueptr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)malloc(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sizeof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(</a:t>
            </a:r>
            <a:r>
              <a:rPr lang="en-US" altLang="zh-CN" sz="2400" dirty="0" err="1">
                <a:solidFill>
                  <a:srgbClr val="800000"/>
                </a:solidFill>
                <a:sym typeface="+mn-ea"/>
              </a:rPr>
              <a:t>Qnode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))))  //</a:t>
            </a:r>
            <a:r>
              <a:rPr lang="zh-CN" altLang="en-US" sz="2400" dirty="0">
                <a:solidFill>
                  <a:srgbClr val="800000"/>
                </a:solidFill>
                <a:sym typeface="+mn-ea"/>
              </a:rPr>
              <a:t>分配头结点      </a:t>
            </a:r>
            <a:endParaRPr lang="en-US" altLang="zh-CN" sz="2400" dirty="0">
              <a:solidFill>
                <a:srgbClr val="800000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800000"/>
                </a:solidFill>
                <a:sym typeface="+mn-ea"/>
              </a:rPr>
              <a:t>                  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exit(OVERFLOW);</a:t>
            </a:r>
            <a:endParaRPr lang="en-US" altLang="zh-CN" sz="2400" dirty="0">
              <a:solidFill>
                <a:srgbClr val="8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// </a:t>
            </a:r>
            <a:r>
              <a:rPr lang="zh-CN" altLang="en-US" sz="2400" dirty="0">
                <a:solidFill>
                  <a:srgbClr val="800000"/>
                </a:solidFill>
                <a:sym typeface="+mn-ea"/>
              </a:rPr>
              <a:t>构造一个空队列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Q</a:t>
            </a:r>
            <a:endParaRPr lang="en-US" altLang="zh-CN" sz="2400" dirty="0">
              <a:solidFill>
                <a:srgbClr val="8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5050"/>
                </a:solidFill>
                <a:sym typeface="+mn-ea"/>
              </a:rPr>
              <a:t>     Q-&gt;front-&gt;next = NULL</a:t>
            </a: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;</a:t>
            </a:r>
            <a:endParaRPr lang="en-US" altLang="zh-CN" sz="2400" dirty="0">
              <a:solidFill>
                <a:srgbClr val="8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      return Q;</a:t>
            </a:r>
            <a:endParaRPr lang="en-US" altLang="zh-CN" sz="2400" dirty="0">
              <a:solidFill>
                <a:srgbClr val="8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sym typeface="+mn-ea"/>
              </a:rPr>
              <a:t>}</a:t>
            </a:r>
            <a:endParaRPr lang="en-US" altLang="zh-CN" sz="2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95996C-AE28-BD07-62D0-23513AF41D0D}"/>
              </a:ext>
            </a:extLst>
          </p:cNvPr>
          <p:cNvGrpSpPr/>
          <p:nvPr/>
        </p:nvGrpSpPr>
        <p:grpSpPr>
          <a:xfrm>
            <a:off x="5519936" y="5085184"/>
            <a:ext cx="2843043" cy="1533234"/>
            <a:chOff x="8124941" y="3946444"/>
            <a:chExt cx="1245904" cy="802320"/>
          </a:xfrm>
        </p:grpSpPr>
        <p:sp>
          <p:nvSpPr>
            <p:cNvPr id="3" name="Rectangle 19">
              <a:extLst>
                <a:ext uri="{FF2B5EF4-FFF2-40B4-BE49-F238E27FC236}">
                  <a16:creationId xmlns:a16="http://schemas.microsoft.com/office/drawing/2014/main" id="{CDBF6B58-329D-F8A8-239A-EA4BE3538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3946444"/>
              <a:ext cx="360615" cy="3482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5ED00F47-AE6F-1E82-13DC-CE0424724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4291061"/>
              <a:ext cx="360615" cy="3610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5" name="Text Box 23">
              <a:extLst>
                <a:ext uri="{FF2B5EF4-FFF2-40B4-BE49-F238E27FC236}">
                  <a16:creationId xmlns:a16="http://schemas.microsoft.com/office/drawing/2014/main" id="{AB8A3D1A-9517-F58D-1C14-BCADD7253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4941" y="4053958"/>
              <a:ext cx="867511" cy="694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front</a:t>
              </a:r>
            </a:p>
            <a:p>
              <a:pPr algn="r">
                <a:lnSpc>
                  <a:spcPct val="110000"/>
                </a:lnSpc>
              </a:pPr>
              <a:r>
                <a:rPr lang="en-US" altLang="zh-CN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rear</a:t>
              </a:r>
            </a:p>
          </p:txBody>
        </p:sp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4D6DDC1-25FA-E132-CA33-6261FB441E1F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8362979" y="5417899"/>
            <a:ext cx="899171" cy="158530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83662A2-3026-B935-E419-23ECF827E253}"/>
              </a:ext>
            </a:extLst>
          </p:cNvPr>
          <p:cNvCxnSpPr>
            <a:cxnSpLocks/>
          </p:cNvCxnSpPr>
          <p:nvPr/>
        </p:nvCxnSpPr>
        <p:spPr>
          <a:xfrm flipV="1">
            <a:off x="8356225" y="5823162"/>
            <a:ext cx="843677" cy="265569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F5D02A-407C-C047-1B62-2847673F84C7}"/>
              </a:ext>
            </a:extLst>
          </p:cNvPr>
          <p:cNvGrpSpPr/>
          <p:nvPr/>
        </p:nvGrpSpPr>
        <p:grpSpPr>
          <a:xfrm>
            <a:off x="9262156" y="5276190"/>
            <a:ext cx="1660091" cy="757183"/>
            <a:chOff x="9741672" y="4101961"/>
            <a:chExt cx="727500" cy="39622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39DB28B-0788-5B62-68FE-F72B9DF6C65C}"/>
                </a:ext>
              </a:extLst>
            </p:cNvPr>
            <p:cNvGrpSpPr/>
            <p:nvPr/>
          </p:nvGrpSpPr>
          <p:grpSpPr>
            <a:xfrm>
              <a:off x="9741672" y="4101961"/>
              <a:ext cx="596900" cy="314227"/>
              <a:chOff x="1745372" y="572988"/>
              <a:chExt cx="596900" cy="31422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4EB73BCF-2B84-572B-C928-7A0BD6E04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grpFill/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zh-CN" sz="1600" dirty="0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77C614B3-F802-E080-827B-0D3513372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grp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5C048-66D4-B797-4406-F961276DAD3B}"/>
                </a:ext>
              </a:extLst>
            </p:cNvPr>
            <p:cNvSpPr txBox="1"/>
            <p:nvPr/>
          </p:nvSpPr>
          <p:spPr>
            <a:xfrm>
              <a:off x="10135715" y="4159630"/>
              <a:ext cx="33345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∧</a:t>
              </a:r>
              <a:endParaRPr lang="zh-CN" altLang="en-US" sz="1600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2404BEC-2FE7-0424-353D-317A4E0ABD26}"/>
              </a:ext>
            </a:extLst>
          </p:cNvPr>
          <p:cNvGrpSpPr/>
          <p:nvPr/>
        </p:nvGrpSpPr>
        <p:grpSpPr>
          <a:xfrm>
            <a:off x="6266202" y="4154917"/>
            <a:ext cx="1371601" cy="857714"/>
            <a:chOff x="384596" y="5221125"/>
            <a:chExt cx="601075" cy="44883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25CFC43-F6C6-2336-06CF-A5A6D57ACA10}"/>
                </a:ext>
              </a:extLst>
            </p:cNvPr>
            <p:cNvSpPr txBox="1"/>
            <p:nvPr/>
          </p:nvSpPr>
          <p:spPr>
            <a:xfrm>
              <a:off x="384596" y="5221125"/>
              <a:ext cx="558253" cy="209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891F46A-5CE4-4885-7EF0-B910D78941CB}"/>
                </a:ext>
              </a:extLst>
            </p:cNvPr>
            <p:cNvCxnSpPr>
              <a:cxnSpLocks/>
            </p:cNvCxnSpPr>
            <p:nvPr/>
          </p:nvCxnSpPr>
          <p:spPr>
            <a:xfrm>
              <a:off x="530900" y="5350463"/>
              <a:ext cx="454771" cy="319492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FD5628AE-CD2B-B1A8-AF3C-AF2BDC296883}"/>
              </a:ext>
            </a:extLst>
          </p:cNvPr>
          <p:cNvSpPr txBox="1"/>
          <p:nvPr/>
        </p:nvSpPr>
        <p:spPr>
          <a:xfrm>
            <a:off x="9421289" y="595453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头结点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29C8306-33D1-5853-CA35-7225A023CEF4}"/>
              </a:ext>
            </a:extLst>
          </p:cNvPr>
          <p:cNvSpPr txBox="1"/>
          <p:nvPr/>
        </p:nvSpPr>
        <p:spPr>
          <a:xfrm>
            <a:off x="7324289" y="6387642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记录空间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入队操作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分析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生成新结点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将新结点追加在队尾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修改尾指针</a:t>
            </a:r>
          </a:p>
        </p:txBody>
      </p:sp>
      <p:grpSp>
        <p:nvGrpSpPr>
          <p:cNvPr id="59396" name="Group 16"/>
          <p:cNvGrpSpPr/>
          <p:nvPr/>
        </p:nvGrpSpPr>
        <p:grpSpPr bwMode="auto">
          <a:xfrm>
            <a:off x="5087938" y="3425825"/>
            <a:ext cx="3168650" cy="1081088"/>
            <a:chOff x="0" y="0"/>
            <a:chExt cx="1996" cy="681"/>
          </a:xfrm>
        </p:grpSpPr>
        <p:sp>
          <p:nvSpPr>
            <p:cNvPr id="59419" name="Rectangle 17"/>
            <p:cNvSpPr>
              <a:spLocks noChangeArrowheads="1"/>
            </p:cNvSpPr>
            <p:nvPr/>
          </p:nvSpPr>
          <p:spPr bwMode="auto">
            <a:xfrm>
              <a:off x="672" y="432"/>
              <a:ext cx="771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/>
                <a:t>(b)   x</a:t>
              </a:r>
              <a:r>
                <a:rPr lang="zh-CN" altLang="en-US" sz="2000"/>
                <a:t>入队</a:t>
              </a:r>
            </a:p>
          </p:txBody>
        </p:sp>
        <p:grpSp>
          <p:nvGrpSpPr>
            <p:cNvPr id="59420" name="Group 18"/>
            <p:cNvGrpSpPr/>
            <p:nvPr/>
          </p:nvGrpSpPr>
          <p:grpSpPr bwMode="auto">
            <a:xfrm>
              <a:off x="0" y="0"/>
              <a:ext cx="1996" cy="408"/>
              <a:chOff x="0" y="0"/>
              <a:chExt cx="1996" cy="408"/>
            </a:xfrm>
          </p:grpSpPr>
          <p:grpSp>
            <p:nvGrpSpPr>
              <p:cNvPr id="59421" name="Group 19"/>
              <p:cNvGrpSpPr/>
              <p:nvPr/>
            </p:nvGrpSpPr>
            <p:grpSpPr bwMode="auto">
              <a:xfrm>
                <a:off x="1421" y="14"/>
                <a:ext cx="575" cy="231"/>
                <a:chOff x="0" y="0"/>
                <a:chExt cx="575" cy="231"/>
              </a:xfrm>
            </p:grpSpPr>
            <p:sp>
              <p:nvSpPr>
                <p:cNvPr id="59434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4"/>
                  <a:ext cx="575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 </a:t>
                  </a:r>
                  <a:r>
                    <a:rPr lang="en-US" altLang="zh-CN" sz="2400"/>
                    <a:t>x  </a:t>
                  </a:r>
                  <a:r>
                    <a:rPr lang="en-US" altLang="zh-CN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∧</a:t>
                  </a:r>
                </a:p>
              </p:txBody>
            </p:sp>
            <p:sp>
              <p:nvSpPr>
                <p:cNvPr id="59435" name="Line 21"/>
                <p:cNvSpPr>
                  <a:spLocks noChangeShapeType="1"/>
                </p:cNvSpPr>
                <p:nvPr/>
              </p:nvSpPr>
              <p:spPr bwMode="auto">
                <a:xfrm>
                  <a:off x="333" y="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22" name="Group 22"/>
              <p:cNvGrpSpPr/>
              <p:nvPr/>
            </p:nvGrpSpPr>
            <p:grpSpPr bwMode="auto">
              <a:xfrm>
                <a:off x="768" y="9"/>
                <a:ext cx="645" cy="227"/>
                <a:chOff x="0" y="0"/>
                <a:chExt cx="645" cy="227"/>
              </a:xfrm>
            </p:grpSpPr>
            <p:grpSp>
              <p:nvGrpSpPr>
                <p:cNvPr id="59430" name="Group 23"/>
                <p:cNvGrpSpPr/>
                <p:nvPr/>
              </p:nvGrpSpPr>
              <p:grpSpPr bwMode="auto">
                <a:xfrm>
                  <a:off x="0" y="0"/>
                  <a:ext cx="499" cy="227"/>
                  <a:chOff x="0" y="0"/>
                  <a:chExt cx="499" cy="227"/>
                </a:xfrm>
              </p:grpSpPr>
              <p:sp>
                <p:nvSpPr>
                  <p:cNvPr id="5943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9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r" eaLnBrk="1" hangingPunct="1"/>
                    <a:endParaRPr lang="zh-CN" altLang="en-US" sz="2400"/>
                  </a:p>
                </p:txBody>
              </p:sp>
              <p:sp>
                <p:nvSpPr>
                  <p:cNvPr id="5943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18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9431" name="Line 26"/>
                <p:cNvSpPr>
                  <a:spLocks noChangeShapeType="1"/>
                </p:cNvSpPr>
                <p:nvPr/>
              </p:nvSpPr>
              <p:spPr bwMode="auto">
                <a:xfrm>
                  <a:off x="405" y="114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23" name="Group 27"/>
              <p:cNvGrpSpPr/>
              <p:nvPr/>
            </p:nvGrpSpPr>
            <p:grpSpPr bwMode="auto">
              <a:xfrm>
                <a:off x="0" y="0"/>
                <a:ext cx="771" cy="204"/>
                <a:chOff x="0" y="0"/>
                <a:chExt cx="768" cy="227"/>
              </a:xfrm>
            </p:grpSpPr>
            <p:sp>
              <p:nvSpPr>
                <p:cNvPr id="59428" name="Rectangle 2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2400"/>
                    <a:t>front</a:t>
                  </a:r>
                </a:p>
              </p:txBody>
            </p:sp>
            <p:sp>
              <p:nvSpPr>
                <p:cNvPr id="59429" name="Line 29"/>
                <p:cNvSpPr>
                  <a:spLocks noChangeShapeType="1"/>
                </p:cNvSpPr>
                <p:nvPr/>
              </p:nvSpPr>
              <p:spPr bwMode="auto">
                <a:xfrm>
                  <a:off x="528" y="123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24" name="Group 30"/>
              <p:cNvGrpSpPr/>
              <p:nvPr/>
            </p:nvGrpSpPr>
            <p:grpSpPr bwMode="auto">
              <a:xfrm>
                <a:off x="0" y="204"/>
                <a:ext cx="1544" cy="204"/>
                <a:chOff x="0" y="0"/>
                <a:chExt cx="1544" cy="204"/>
              </a:xfrm>
            </p:grpSpPr>
            <p:sp>
              <p:nvSpPr>
                <p:cNvPr id="59425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91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</a:t>
                  </a:r>
                  <a:r>
                    <a:rPr lang="en-US" altLang="zh-CN" sz="2400"/>
                    <a:t>rear</a:t>
                  </a:r>
                </a:p>
              </p:txBody>
            </p:sp>
            <p:sp>
              <p:nvSpPr>
                <p:cNvPr id="59426" name="Line 32"/>
                <p:cNvSpPr>
                  <a:spLocks noChangeShapeType="1"/>
                </p:cNvSpPr>
                <p:nvPr/>
              </p:nvSpPr>
              <p:spPr bwMode="auto">
                <a:xfrm>
                  <a:off x="519" y="159"/>
                  <a:ext cx="102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427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544" y="45"/>
                  <a:ext cx="0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59397" name="Group 34"/>
          <p:cNvGrpSpPr/>
          <p:nvPr/>
        </p:nvGrpSpPr>
        <p:grpSpPr bwMode="auto">
          <a:xfrm>
            <a:off x="5087939" y="4868863"/>
            <a:ext cx="4167187" cy="1149350"/>
            <a:chOff x="0" y="0"/>
            <a:chExt cx="2625" cy="724"/>
          </a:xfrm>
        </p:grpSpPr>
        <p:sp>
          <p:nvSpPr>
            <p:cNvPr id="59398" name="Rectangle 35"/>
            <p:cNvSpPr>
              <a:spLocks noChangeArrowheads="1"/>
            </p:cNvSpPr>
            <p:nvPr/>
          </p:nvSpPr>
          <p:spPr bwMode="auto">
            <a:xfrm>
              <a:off x="817" y="475"/>
              <a:ext cx="861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/>
                <a:t>(c)  y</a:t>
              </a:r>
              <a:r>
                <a:rPr lang="zh-CN" altLang="en-US" sz="2000"/>
                <a:t>再入队</a:t>
              </a:r>
            </a:p>
          </p:txBody>
        </p:sp>
        <p:grpSp>
          <p:nvGrpSpPr>
            <p:cNvPr id="59399" name="Group 36"/>
            <p:cNvGrpSpPr/>
            <p:nvPr/>
          </p:nvGrpSpPr>
          <p:grpSpPr bwMode="auto">
            <a:xfrm>
              <a:off x="0" y="0"/>
              <a:ext cx="2625" cy="408"/>
              <a:chOff x="0" y="0"/>
              <a:chExt cx="2625" cy="408"/>
            </a:xfrm>
          </p:grpSpPr>
          <p:grpSp>
            <p:nvGrpSpPr>
              <p:cNvPr id="59400" name="Group 37"/>
              <p:cNvGrpSpPr/>
              <p:nvPr/>
            </p:nvGrpSpPr>
            <p:grpSpPr bwMode="auto">
              <a:xfrm>
                <a:off x="2098" y="18"/>
                <a:ext cx="527" cy="227"/>
                <a:chOff x="0" y="0"/>
                <a:chExt cx="527" cy="227"/>
              </a:xfrm>
            </p:grpSpPr>
            <p:sp>
              <p:nvSpPr>
                <p:cNvPr id="59417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27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 </a:t>
                  </a:r>
                  <a:r>
                    <a:rPr lang="en-US" altLang="zh-CN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y   ∧</a:t>
                  </a:r>
                  <a:endParaRPr lang="en-US" altLang="zh-CN" sz="2400"/>
                </a:p>
              </p:txBody>
            </p:sp>
            <p:sp>
              <p:nvSpPr>
                <p:cNvPr id="59418" name="Line 39"/>
                <p:cNvSpPr>
                  <a:spLocks noChangeShapeType="1"/>
                </p:cNvSpPr>
                <p:nvPr/>
              </p:nvSpPr>
              <p:spPr bwMode="auto">
                <a:xfrm>
                  <a:off x="318" y="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01" name="Group 40"/>
              <p:cNvGrpSpPr/>
              <p:nvPr/>
            </p:nvGrpSpPr>
            <p:grpSpPr bwMode="auto">
              <a:xfrm>
                <a:off x="760" y="9"/>
                <a:ext cx="645" cy="227"/>
                <a:chOff x="0" y="0"/>
                <a:chExt cx="645" cy="227"/>
              </a:xfrm>
            </p:grpSpPr>
            <p:grpSp>
              <p:nvGrpSpPr>
                <p:cNvPr id="59413" name="Group 41"/>
                <p:cNvGrpSpPr/>
                <p:nvPr/>
              </p:nvGrpSpPr>
              <p:grpSpPr bwMode="auto">
                <a:xfrm>
                  <a:off x="0" y="0"/>
                  <a:ext cx="499" cy="227"/>
                  <a:chOff x="0" y="0"/>
                  <a:chExt cx="499" cy="227"/>
                </a:xfrm>
              </p:grpSpPr>
              <p:sp>
                <p:nvSpPr>
                  <p:cNvPr id="59415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9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r" eaLnBrk="1" hangingPunct="1"/>
                    <a:endParaRPr lang="zh-CN" altLang="en-US" sz="2400"/>
                  </a:p>
                </p:txBody>
              </p:sp>
              <p:sp>
                <p:nvSpPr>
                  <p:cNvPr id="59416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318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9414" name="Line 44"/>
                <p:cNvSpPr>
                  <a:spLocks noChangeShapeType="1"/>
                </p:cNvSpPr>
                <p:nvPr/>
              </p:nvSpPr>
              <p:spPr bwMode="auto">
                <a:xfrm>
                  <a:off x="405" y="114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02" name="Group 45"/>
              <p:cNvGrpSpPr/>
              <p:nvPr/>
            </p:nvGrpSpPr>
            <p:grpSpPr bwMode="auto">
              <a:xfrm>
                <a:off x="0" y="0"/>
                <a:ext cx="771" cy="204"/>
                <a:chOff x="0" y="0"/>
                <a:chExt cx="768" cy="227"/>
              </a:xfrm>
            </p:grpSpPr>
            <p:sp>
              <p:nvSpPr>
                <p:cNvPr id="59411" name="Rectangle 4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2400"/>
                    <a:t>front</a:t>
                  </a:r>
                </a:p>
              </p:txBody>
            </p:sp>
            <p:sp>
              <p:nvSpPr>
                <p:cNvPr id="59412" name="Line 47"/>
                <p:cNvSpPr>
                  <a:spLocks noChangeShapeType="1"/>
                </p:cNvSpPr>
                <p:nvPr/>
              </p:nvSpPr>
              <p:spPr bwMode="auto">
                <a:xfrm>
                  <a:off x="528" y="123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03" name="Group 48"/>
              <p:cNvGrpSpPr/>
              <p:nvPr/>
            </p:nvGrpSpPr>
            <p:grpSpPr bwMode="auto">
              <a:xfrm>
                <a:off x="0" y="204"/>
                <a:ext cx="2239" cy="204"/>
                <a:chOff x="0" y="0"/>
                <a:chExt cx="2239" cy="204"/>
              </a:xfrm>
            </p:grpSpPr>
            <p:sp>
              <p:nvSpPr>
                <p:cNvPr id="59408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9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</a:t>
                  </a:r>
                  <a:r>
                    <a:rPr lang="en-US" altLang="zh-CN" sz="2400"/>
                    <a:t>rear</a:t>
                  </a:r>
                </a:p>
              </p:txBody>
            </p:sp>
            <p:sp>
              <p:nvSpPr>
                <p:cNvPr id="59409" name="Line 50"/>
                <p:cNvSpPr>
                  <a:spLocks noChangeShapeType="1"/>
                </p:cNvSpPr>
                <p:nvPr/>
              </p:nvSpPr>
              <p:spPr bwMode="auto">
                <a:xfrm>
                  <a:off x="538" y="157"/>
                  <a:ext cx="17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410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239" y="43"/>
                  <a:ext cx="0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9404" name="Group 52"/>
              <p:cNvGrpSpPr/>
              <p:nvPr/>
            </p:nvGrpSpPr>
            <p:grpSpPr bwMode="auto">
              <a:xfrm>
                <a:off x="1413" y="18"/>
                <a:ext cx="682" cy="231"/>
                <a:chOff x="0" y="0"/>
                <a:chExt cx="682" cy="231"/>
              </a:xfrm>
            </p:grpSpPr>
            <p:sp>
              <p:nvSpPr>
                <p:cNvPr id="59405" name="Rectangle 5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</a:t>
                  </a:r>
                  <a:r>
                    <a:rPr lang="en-US" altLang="zh-CN" sz="2400"/>
                    <a:t>x</a:t>
                  </a:r>
                </a:p>
              </p:txBody>
            </p:sp>
            <p:sp>
              <p:nvSpPr>
                <p:cNvPr id="59406" name="Line 54"/>
                <p:cNvSpPr>
                  <a:spLocks noChangeShapeType="1"/>
                </p:cNvSpPr>
                <p:nvPr/>
              </p:nvSpPr>
              <p:spPr bwMode="auto">
                <a:xfrm>
                  <a:off x="341" y="4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407" name="Line 55"/>
                <p:cNvSpPr>
                  <a:spLocks noChangeShapeType="1"/>
                </p:cNvSpPr>
                <p:nvPr/>
              </p:nvSpPr>
              <p:spPr bwMode="auto">
                <a:xfrm>
                  <a:off x="442" y="117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908720"/>
            <a:ext cx="11233248" cy="518728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Status </a:t>
            </a:r>
            <a:r>
              <a:rPr lang="en-US" altLang="zh-CN" dirty="0" err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EnQueueL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(</a:t>
            </a:r>
            <a:r>
              <a:rPr lang="en-US" altLang="zh-CN" dirty="0" err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LinkQueue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Q, </a:t>
            </a:r>
            <a:r>
              <a:rPr lang="en-US" altLang="zh-CN" dirty="0" err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ElemType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e)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if (!Q)   return ERROR;              //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若链队列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不存在，则报错</a:t>
            </a:r>
            <a:endParaRPr lang="en-US" altLang="zh-CN" dirty="0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// 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插入元素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e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为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的新的队尾元素</a:t>
            </a:r>
            <a:endParaRPr lang="en-US" altLang="zh-CN" dirty="0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dirty="0" err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QueuePtr</a:t>
            </a: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p;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if(!</a:t>
            </a:r>
            <a:r>
              <a:rPr lang="en-US" altLang="zh-CN" dirty="0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p = (</a:t>
            </a:r>
            <a:r>
              <a:rPr lang="en-US" altLang="zh-CN" dirty="0" err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QueuePtr</a:t>
            </a:r>
            <a:r>
              <a:rPr lang="en-US" altLang="zh-CN" dirty="0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 malloc (</a:t>
            </a:r>
            <a:r>
              <a:rPr lang="en-US" altLang="zh-CN" dirty="0" err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sizeof</a:t>
            </a:r>
            <a:r>
              <a:rPr lang="en-US" altLang="zh-CN" dirty="0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(</a:t>
            </a:r>
            <a:r>
              <a:rPr lang="en-US" altLang="zh-CN" dirty="0" err="1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QNode</a:t>
            </a:r>
            <a:r>
              <a:rPr lang="en-US" altLang="zh-CN" dirty="0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))) return ERROR;       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//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分配新结点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p-&gt;data = e;   p-&gt;next = NULL;                      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//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新结点赋值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</a:t>
            </a:r>
            <a:r>
              <a:rPr lang="en-US" altLang="zh-CN" dirty="0">
                <a:solidFill>
                  <a:srgbClr val="FF505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Q-&gt;rear-&gt;next = p;    Q-&gt;rear = p;                 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//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在队尾插入</a:t>
            </a:r>
            <a:endParaRPr lang="en-US" altLang="zh-CN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return OK;</a:t>
            </a:r>
            <a:endParaRPr lang="en-US" altLang="zh-CN" dirty="0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}</a:t>
            </a:r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出队操作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楷体_GB2312" pitchFamily="49" charset="-122"/>
              </a:rPr>
              <a:t>分析：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定位到队首元素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取出元素</a:t>
            </a:r>
            <a:endParaRPr lang="en-US" altLang="zh-CN">
              <a:ea typeface="楷体_GB2312" pitchFamily="49" charset="-122"/>
            </a:endParaRPr>
          </a:p>
          <a:p>
            <a:pPr lvl="1" eaLnBrk="1" hangingPunct="1"/>
            <a:r>
              <a:rPr lang="zh-CN" altLang="en-US">
                <a:ea typeface="楷体_GB2312" pitchFamily="49" charset="-122"/>
              </a:rPr>
              <a:t>修改头结点指针</a:t>
            </a:r>
            <a:endParaRPr lang="en-US" altLang="zh-CN">
              <a:ea typeface="楷体_GB2312" pitchFamily="49" charset="-122"/>
            </a:endParaRPr>
          </a:p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  <p:grpSp>
        <p:nvGrpSpPr>
          <p:cNvPr id="57348" name="Group 56"/>
          <p:cNvGrpSpPr/>
          <p:nvPr/>
        </p:nvGrpSpPr>
        <p:grpSpPr bwMode="auto">
          <a:xfrm>
            <a:off x="3359151" y="4437064"/>
            <a:ext cx="4200525" cy="1260475"/>
            <a:chOff x="0" y="0"/>
            <a:chExt cx="2646" cy="794"/>
          </a:xfrm>
        </p:grpSpPr>
        <p:sp>
          <p:nvSpPr>
            <p:cNvPr id="57349" name="Rectangle 57"/>
            <p:cNvSpPr>
              <a:spLocks noChangeArrowheads="1"/>
            </p:cNvSpPr>
            <p:nvPr/>
          </p:nvSpPr>
          <p:spPr bwMode="auto">
            <a:xfrm>
              <a:off x="998" y="545"/>
              <a:ext cx="861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/>
                <a:t>(d)    x</a:t>
              </a:r>
              <a:r>
                <a:rPr lang="zh-CN" altLang="en-US" sz="2000"/>
                <a:t>出队</a:t>
              </a:r>
            </a:p>
          </p:txBody>
        </p:sp>
        <p:grpSp>
          <p:nvGrpSpPr>
            <p:cNvPr id="57350" name="Group 58"/>
            <p:cNvGrpSpPr/>
            <p:nvPr/>
          </p:nvGrpSpPr>
          <p:grpSpPr bwMode="auto">
            <a:xfrm>
              <a:off x="0" y="0"/>
              <a:ext cx="2646" cy="504"/>
              <a:chOff x="0" y="0"/>
              <a:chExt cx="2646" cy="504"/>
            </a:xfrm>
          </p:grpSpPr>
          <p:grpSp>
            <p:nvGrpSpPr>
              <p:cNvPr id="57351" name="Group 59"/>
              <p:cNvGrpSpPr/>
              <p:nvPr/>
            </p:nvGrpSpPr>
            <p:grpSpPr bwMode="auto">
              <a:xfrm>
                <a:off x="2106" y="114"/>
                <a:ext cx="540" cy="227"/>
                <a:chOff x="0" y="0"/>
                <a:chExt cx="540" cy="227"/>
              </a:xfrm>
            </p:grpSpPr>
            <p:sp>
              <p:nvSpPr>
                <p:cNvPr id="57369" name="Rectangle 6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40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 </a:t>
                  </a:r>
                  <a:r>
                    <a:rPr lang="en-US" altLang="zh-CN" sz="2400">
                      <a:ea typeface="Arial Unicode MS" panose="020B0604020202020204" pitchFamily="34" charset="-122"/>
                      <a:cs typeface="Arial Unicode MS" panose="020B0604020202020204" pitchFamily="34" charset="-122"/>
                    </a:rPr>
                    <a:t>y   ∧</a:t>
                  </a:r>
                  <a:endParaRPr lang="en-US" altLang="zh-CN" sz="2400"/>
                </a:p>
              </p:txBody>
            </p:sp>
            <p:sp>
              <p:nvSpPr>
                <p:cNvPr id="57370" name="Line 61"/>
                <p:cNvSpPr>
                  <a:spLocks noChangeShapeType="1"/>
                </p:cNvSpPr>
                <p:nvPr/>
              </p:nvSpPr>
              <p:spPr bwMode="auto">
                <a:xfrm>
                  <a:off x="318" y="0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352" name="Group 62"/>
              <p:cNvGrpSpPr/>
              <p:nvPr/>
            </p:nvGrpSpPr>
            <p:grpSpPr bwMode="auto">
              <a:xfrm>
                <a:off x="1421" y="114"/>
                <a:ext cx="545" cy="231"/>
                <a:chOff x="0" y="0"/>
                <a:chExt cx="499" cy="231"/>
              </a:xfrm>
            </p:grpSpPr>
            <p:sp>
              <p:nvSpPr>
                <p:cNvPr id="57367" name="Rectangle 6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 </a:t>
                  </a:r>
                  <a:r>
                    <a:rPr lang="en-US" altLang="zh-CN" sz="2400"/>
                    <a:t>x</a:t>
                  </a:r>
                </a:p>
              </p:txBody>
            </p:sp>
            <p:sp>
              <p:nvSpPr>
                <p:cNvPr id="57368" name="Line 64"/>
                <p:cNvSpPr>
                  <a:spLocks noChangeShapeType="1"/>
                </p:cNvSpPr>
                <p:nvPr/>
              </p:nvSpPr>
              <p:spPr bwMode="auto">
                <a:xfrm>
                  <a:off x="357" y="4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353" name="Group 65"/>
              <p:cNvGrpSpPr/>
              <p:nvPr/>
            </p:nvGrpSpPr>
            <p:grpSpPr bwMode="auto">
              <a:xfrm>
                <a:off x="0" y="96"/>
                <a:ext cx="771" cy="204"/>
                <a:chOff x="0" y="0"/>
                <a:chExt cx="768" cy="227"/>
              </a:xfrm>
            </p:grpSpPr>
            <p:sp>
              <p:nvSpPr>
                <p:cNvPr id="57365" name="Rectangle 6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9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sz="2400"/>
                    <a:t>front</a:t>
                  </a:r>
                </a:p>
              </p:txBody>
            </p:sp>
            <p:sp>
              <p:nvSpPr>
                <p:cNvPr id="57366" name="Line 67"/>
                <p:cNvSpPr>
                  <a:spLocks noChangeShapeType="1"/>
                </p:cNvSpPr>
                <p:nvPr/>
              </p:nvSpPr>
              <p:spPr bwMode="auto">
                <a:xfrm>
                  <a:off x="528" y="123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354" name="Group 68"/>
              <p:cNvGrpSpPr/>
              <p:nvPr/>
            </p:nvGrpSpPr>
            <p:grpSpPr bwMode="auto">
              <a:xfrm>
                <a:off x="0" y="300"/>
                <a:ext cx="2228" cy="204"/>
                <a:chOff x="0" y="0"/>
                <a:chExt cx="2228" cy="204"/>
              </a:xfrm>
            </p:grpSpPr>
            <p:sp>
              <p:nvSpPr>
                <p:cNvPr id="57362" name="Rectangle 6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9" cy="2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400"/>
                    <a:t> </a:t>
                  </a:r>
                  <a:r>
                    <a:rPr lang="en-US" altLang="zh-CN" sz="2400"/>
                    <a:t>rear</a:t>
                  </a:r>
                </a:p>
              </p:txBody>
            </p:sp>
            <p:sp>
              <p:nvSpPr>
                <p:cNvPr id="57363" name="Line 70"/>
                <p:cNvSpPr>
                  <a:spLocks noChangeShapeType="1"/>
                </p:cNvSpPr>
                <p:nvPr/>
              </p:nvSpPr>
              <p:spPr bwMode="auto">
                <a:xfrm>
                  <a:off x="528" y="159"/>
                  <a:ext cx="170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364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2221" y="45"/>
                  <a:ext cx="0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355" name="Group 72"/>
              <p:cNvGrpSpPr/>
              <p:nvPr/>
            </p:nvGrpSpPr>
            <p:grpSpPr bwMode="auto">
              <a:xfrm>
                <a:off x="768" y="0"/>
                <a:ext cx="1501" cy="332"/>
                <a:chOff x="0" y="0"/>
                <a:chExt cx="1501" cy="332"/>
              </a:xfrm>
            </p:grpSpPr>
            <p:grpSp>
              <p:nvGrpSpPr>
                <p:cNvPr id="57356" name="Group 73"/>
                <p:cNvGrpSpPr/>
                <p:nvPr/>
              </p:nvGrpSpPr>
              <p:grpSpPr bwMode="auto">
                <a:xfrm>
                  <a:off x="0" y="105"/>
                  <a:ext cx="499" cy="227"/>
                  <a:chOff x="0" y="0"/>
                  <a:chExt cx="499" cy="227"/>
                </a:xfrm>
              </p:grpSpPr>
              <p:sp>
                <p:nvSpPr>
                  <p:cNvPr id="5736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499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 eaLnBrk="0" hangingPunct="0"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800" b="1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r" eaLnBrk="1" hangingPunct="1"/>
                    <a:endParaRPr lang="zh-CN" altLang="en-US" sz="2400"/>
                  </a:p>
                </p:txBody>
              </p:sp>
              <p:sp>
                <p:nvSpPr>
                  <p:cNvPr id="57361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18" y="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7357" name="Line 76"/>
                <p:cNvSpPr>
                  <a:spLocks noChangeShapeType="1"/>
                </p:cNvSpPr>
                <p:nvPr/>
              </p:nvSpPr>
              <p:spPr bwMode="auto">
                <a:xfrm>
                  <a:off x="397" y="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358" name="Line 77"/>
                <p:cNvSpPr>
                  <a:spLocks noChangeShapeType="1"/>
                </p:cNvSpPr>
                <p:nvPr/>
              </p:nvSpPr>
              <p:spPr bwMode="auto">
                <a:xfrm>
                  <a:off x="397" y="0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359" name="Line 78"/>
                <p:cNvSpPr>
                  <a:spLocks noChangeShapeType="1"/>
                </p:cNvSpPr>
                <p:nvPr/>
              </p:nvSpPr>
              <p:spPr bwMode="auto">
                <a:xfrm>
                  <a:off x="1501" y="0"/>
                  <a:ext cx="0" cy="1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2B68A86-1C90-08C8-3277-683CAF1C1982}"/>
              </a:ext>
            </a:extLst>
          </p:cNvPr>
          <p:cNvSpPr txBox="1"/>
          <p:nvPr/>
        </p:nvSpPr>
        <p:spPr>
          <a:xfrm>
            <a:off x="539180" y="805354"/>
            <a:ext cx="10816204" cy="27376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DeQueueL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LinkQueue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出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队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列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 || Q-&gt;front==Q-&gt;rear)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空或队空，则返回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nullE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QueuePtr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 = Q-&gt;front-&gt;next;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指向队头元素结点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 = p-&gt;data;    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队头元素值赋给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Q-&gt;front-&gt;next = p-&gt;next;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删除队头元素结点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(Q-&gt;rear==p) Q-&gt;rear = Q-&gt;front;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若删除的也是队尾结点，则队列变空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free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(p);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    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释放被删结点，返回退队元素值</a:t>
            </a: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1AFA73-A323-34F3-7EFE-6D79A991BB1A}"/>
              </a:ext>
            </a:extLst>
          </p:cNvPr>
          <p:cNvSpPr txBox="1"/>
          <p:nvPr/>
        </p:nvSpPr>
        <p:spPr>
          <a:xfrm>
            <a:off x="119531" y="3555889"/>
            <a:ext cx="4390124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   链队列出队操作要考虑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三种情况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355A0E4-CFC3-0477-45EF-D5CD5B5E1A04}"/>
              </a:ext>
            </a:extLst>
          </p:cNvPr>
          <p:cNvGrpSpPr/>
          <p:nvPr/>
        </p:nvGrpSpPr>
        <p:grpSpPr>
          <a:xfrm>
            <a:off x="317413" y="5662025"/>
            <a:ext cx="1223007" cy="705668"/>
            <a:chOff x="8147838" y="3946444"/>
            <a:chExt cx="1223007" cy="705668"/>
          </a:xfrm>
        </p:grpSpPr>
        <p:sp>
          <p:nvSpPr>
            <p:cNvPr id="42" name="Rectangle 19">
              <a:extLst>
                <a:ext uri="{FF2B5EF4-FFF2-40B4-BE49-F238E27FC236}">
                  <a16:creationId xmlns:a16="http://schemas.microsoft.com/office/drawing/2014/main" id="{76B5B702-F813-BDC1-81E7-6480A56B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3946444"/>
              <a:ext cx="360615" cy="3482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Rectangle 20">
              <a:extLst>
                <a:ext uri="{FF2B5EF4-FFF2-40B4-BE49-F238E27FC236}">
                  <a16:creationId xmlns:a16="http://schemas.microsoft.com/office/drawing/2014/main" id="{324225E1-CF34-5622-C9DD-FF9324621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230" y="4291061"/>
              <a:ext cx="360615" cy="3610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Text Box 23">
              <a:extLst>
                <a:ext uri="{FF2B5EF4-FFF2-40B4-BE49-F238E27FC236}">
                  <a16:creationId xmlns:a16="http://schemas.microsoft.com/office/drawing/2014/main" id="{F808EAA5-F39D-61DA-5A15-E8059900F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7838" y="3957306"/>
              <a:ext cx="867511" cy="694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front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rear</a:t>
              </a:r>
            </a:p>
          </p:txBody>
        </p:sp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F8559F1-B3A7-A6CF-AEE0-748941B6D069}"/>
              </a:ext>
            </a:extLst>
          </p:cNvPr>
          <p:cNvCxnSpPr>
            <a:cxnSpLocks/>
          </p:cNvCxnSpPr>
          <p:nvPr/>
        </p:nvCxnSpPr>
        <p:spPr>
          <a:xfrm>
            <a:off x="1333284" y="5833988"/>
            <a:ext cx="572805" cy="62655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ED91839-29E1-0A46-1A9D-556824D0B2A1}"/>
              </a:ext>
            </a:extLst>
          </p:cNvPr>
          <p:cNvCxnSpPr>
            <a:cxnSpLocks/>
          </p:cNvCxnSpPr>
          <p:nvPr/>
        </p:nvCxnSpPr>
        <p:spPr>
          <a:xfrm flipV="1">
            <a:off x="1344123" y="6105726"/>
            <a:ext cx="561966" cy="92502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0153B6E-A0E6-251C-36E2-4EC4C6E6F7AB}"/>
              </a:ext>
            </a:extLst>
          </p:cNvPr>
          <p:cNvGrpSpPr/>
          <p:nvPr/>
        </p:nvGrpSpPr>
        <p:grpSpPr>
          <a:xfrm>
            <a:off x="1911247" y="5798551"/>
            <a:ext cx="646696" cy="338554"/>
            <a:chOff x="9741672" y="4082970"/>
            <a:chExt cx="646696" cy="338554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82264EB0-1C80-72D3-ADF3-A7AE4D082B53}"/>
                </a:ext>
              </a:extLst>
            </p:cNvPr>
            <p:cNvGrpSpPr/>
            <p:nvPr/>
          </p:nvGrpSpPr>
          <p:grpSpPr>
            <a:xfrm>
              <a:off x="9741672" y="4101961"/>
              <a:ext cx="596900" cy="314227"/>
              <a:chOff x="1745372" y="572988"/>
              <a:chExt cx="596900" cy="31422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046F529D-DAED-FD2A-D865-DC93521BE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grpFill/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Line 10">
                <a:extLst>
                  <a:ext uri="{FF2B5EF4-FFF2-40B4-BE49-F238E27FC236}">
                    <a16:creationId xmlns:a16="http://schemas.microsoft.com/office/drawing/2014/main" id="{16B86733-BF2F-BC71-52A6-324A38AB0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grp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9E5CC8B-EB11-128D-625F-00B80D3C5B7F}"/>
                </a:ext>
              </a:extLst>
            </p:cNvPr>
            <p:cNvSpPr txBox="1"/>
            <p:nvPr/>
          </p:nvSpPr>
          <p:spPr>
            <a:xfrm>
              <a:off x="10054911" y="4082970"/>
              <a:ext cx="33345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Rounded MT Bold" panose="020F0704030504030204" pitchFamily="34" charset="0"/>
                  <a:ea typeface="宋体" panose="02010600030101010101" pitchFamily="2" charset="-122"/>
                  <a:cs typeface="+mn-cs"/>
                </a:rPr>
                <a:t>∧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8FD1016-E473-B09A-EEA8-1459B95DD953}"/>
              </a:ext>
            </a:extLst>
          </p:cNvPr>
          <p:cNvCxnSpPr>
            <a:cxnSpLocks/>
          </p:cNvCxnSpPr>
          <p:nvPr/>
        </p:nvCxnSpPr>
        <p:spPr>
          <a:xfrm>
            <a:off x="1030072" y="1488299"/>
            <a:ext cx="3767839" cy="9525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85DBC856-0F00-7739-0090-27BE51A657C3}"/>
              </a:ext>
            </a:extLst>
          </p:cNvPr>
          <p:cNvCxnSpPr>
            <a:cxnSpLocks/>
          </p:cNvCxnSpPr>
          <p:nvPr/>
        </p:nvCxnSpPr>
        <p:spPr>
          <a:xfrm>
            <a:off x="5005471" y="1497824"/>
            <a:ext cx="1734195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副标题 2">
            <a:extLst>
              <a:ext uri="{FF2B5EF4-FFF2-40B4-BE49-F238E27FC236}">
                <a16:creationId xmlns:a16="http://schemas.microsoft.com/office/drawing/2014/main" id="{7A89A0C1-AC80-AD56-1A1D-789447C5F795}"/>
              </a:ext>
            </a:extLst>
          </p:cNvPr>
          <p:cNvSpPr txBox="1">
            <a:spLocks/>
          </p:cNvSpPr>
          <p:nvPr/>
        </p:nvSpPr>
        <p:spPr>
          <a:xfrm>
            <a:off x="1382343" y="264797"/>
            <a:ext cx="3008819" cy="46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链队列出队算法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595CFC5-85BC-49F3-9821-202280A05A8F}"/>
              </a:ext>
            </a:extLst>
          </p:cNvPr>
          <p:cNvSpPr txBox="1"/>
          <p:nvPr/>
        </p:nvSpPr>
        <p:spPr>
          <a:xfrm>
            <a:off x="317413" y="1153922"/>
            <a:ext cx="4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✔️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55C87D-488E-D5A5-687E-20B4C3994A17}"/>
              </a:ext>
            </a:extLst>
          </p:cNvPr>
          <p:cNvSpPr txBox="1"/>
          <p:nvPr/>
        </p:nvSpPr>
        <p:spPr>
          <a:xfrm>
            <a:off x="323440" y="4027444"/>
            <a:ext cx="2651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情形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队列长度为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返回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nullE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971263-2558-B48F-8AD4-7FF0E36E3326}"/>
              </a:ext>
            </a:extLst>
          </p:cNvPr>
          <p:cNvSpPr txBox="1"/>
          <p:nvPr/>
        </p:nvSpPr>
        <p:spPr>
          <a:xfrm>
            <a:off x="3434677" y="3994159"/>
            <a:ext cx="43435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情形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队列长度大于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用指针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指向队首的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元素结点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保存即将出队的元素值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头结点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next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指向出队元素后继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释放出队元素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结点，返回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  <a:sym typeface="微软雅黑" panose="020B0503020204020204" pitchFamily="34" charset="-122"/>
              </a:rPr>
              <a:t>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1630C5-3E1B-DBBC-CC1A-227034B191FD}"/>
              </a:ext>
            </a:extLst>
          </p:cNvPr>
          <p:cNvSpPr txBox="1"/>
          <p:nvPr/>
        </p:nvSpPr>
        <p:spPr>
          <a:xfrm>
            <a:off x="8456969" y="3982566"/>
            <a:ext cx="3342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情形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队列长度为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）执行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情形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的前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步。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置队尾指针也指向头结点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）同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情形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的第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微软雅黑" panose="020B0503020204020204" pitchFamily="34" charset="-122"/>
              </a:rPr>
              <a:t>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42AA17-7BBB-44FF-92AA-0F8C9CE23B4E}"/>
              </a:ext>
            </a:extLst>
          </p:cNvPr>
          <p:cNvGrpSpPr/>
          <p:nvPr/>
        </p:nvGrpSpPr>
        <p:grpSpPr>
          <a:xfrm>
            <a:off x="5318799" y="5949409"/>
            <a:ext cx="596900" cy="314227"/>
            <a:chOff x="1745372" y="572988"/>
            <a:chExt cx="596900" cy="314227"/>
          </a:xfrm>
        </p:grpSpPr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0CB04C83-59F3-46CB-792C-8B9A33EB7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372" y="572988"/>
              <a:ext cx="596900" cy="314227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b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01790AE9-54F5-F0E3-2A89-90D5DACFA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1041" y="572988"/>
              <a:ext cx="0" cy="314227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EAC9C48-83EA-6601-2617-813489B0C800}"/>
              </a:ext>
            </a:extLst>
          </p:cNvPr>
          <p:cNvCxnSpPr>
            <a:cxnSpLocks/>
          </p:cNvCxnSpPr>
          <p:nvPr/>
        </p:nvCxnSpPr>
        <p:spPr>
          <a:xfrm>
            <a:off x="5799176" y="6106523"/>
            <a:ext cx="419520" cy="13918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8D1A175-3F9E-03AF-425B-B789635E6A7A}"/>
              </a:ext>
            </a:extLst>
          </p:cNvPr>
          <p:cNvGrpSpPr/>
          <p:nvPr/>
        </p:nvGrpSpPr>
        <p:grpSpPr>
          <a:xfrm>
            <a:off x="5382748" y="5442255"/>
            <a:ext cx="141064" cy="513062"/>
            <a:chOff x="1945020" y="773062"/>
            <a:chExt cx="141064" cy="513062"/>
          </a:xfrm>
        </p:grpSpPr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ED831D9B-B379-E6D9-C372-35E5D02F6566}"/>
                </a:ext>
              </a:extLst>
            </p:cNvPr>
            <p:cNvCxnSpPr>
              <a:cxnSpLocks/>
            </p:cNvCxnSpPr>
            <p:nvPr/>
          </p:nvCxnSpPr>
          <p:spPr>
            <a:xfrm>
              <a:off x="2057999" y="1035921"/>
              <a:ext cx="0" cy="250203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33">
              <a:extLst>
                <a:ext uri="{FF2B5EF4-FFF2-40B4-BE49-F238E27FC236}">
                  <a16:creationId xmlns:a16="http://schemas.microsoft.com/office/drawing/2014/main" id="{4FAD5848-1163-5D38-3AB1-CBBD434AD50F}"/>
                </a:ext>
              </a:extLst>
            </p:cNvPr>
            <p:cNvSpPr txBox="1"/>
            <p:nvPr/>
          </p:nvSpPr>
          <p:spPr>
            <a:xfrm>
              <a:off x="1945020" y="773062"/>
              <a:ext cx="14106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21D44A9-5223-BAA7-4945-9C861825279E}"/>
              </a:ext>
            </a:extLst>
          </p:cNvPr>
          <p:cNvGrpSpPr/>
          <p:nvPr/>
        </p:nvGrpSpPr>
        <p:grpSpPr>
          <a:xfrm>
            <a:off x="2878974" y="5887535"/>
            <a:ext cx="5277065" cy="717955"/>
            <a:chOff x="2878974" y="5887535"/>
            <a:chExt cx="5277065" cy="717955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DC5C5E0A-730B-1130-85B0-59374151D766}"/>
                </a:ext>
              </a:extLst>
            </p:cNvPr>
            <p:cNvGrpSpPr/>
            <p:nvPr/>
          </p:nvGrpSpPr>
          <p:grpSpPr>
            <a:xfrm>
              <a:off x="6218696" y="5949944"/>
              <a:ext cx="596900" cy="314227"/>
              <a:chOff x="1745372" y="572988"/>
              <a:chExt cx="596900" cy="314227"/>
            </a:xfrm>
          </p:grpSpPr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2EDFDBA7-9D74-F470-EA94-02366B938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6666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10">
                <a:extLst>
                  <a:ext uri="{FF2B5EF4-FFF2-40B4-BE49-F238E27FC236}">
                    <a16:creationId xmlns:a16="http://schemas.microsoft.com/office/drawing/2014/main" id="{3CA7375B-C7F1-A673-2129-B5BE7F610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725D1BBF-2BE2-68FB-791D-58AAAE4866BB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3933494" y="6103699"/>
              <a:ext cx="523564" cy="8627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E4D73B9A-CD6A-D2FB-F36D-8A549691A70C}"/>
                </a:ext>
              </a:extLst>
            </p:cNvPr>
            <p:cNvCxnSpPr>
              <a:cxnSpLocks/>
            </p:cNvCxnSpPr>
            <p:nvPr/>
          </p:nvCxnSpPr>
          <p:spPr>
            <a:xfrm>
              <a:off x="6716582" y="6101138"/>
              <a:ext cx="300625" cy="0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1733D74-D651-7481-C67B-54ECCE55D4D2}"/>
                </a:ext>
              </a:extLst>
            </p:cNvPr>
            <p:cNvCxnSpPr>
              <a:cxnSpLocks/>
            </p:cNvCxnSpPr>
            <p:nvPr/>
          </p:nvCxnSpPr>
          <p:spPr>
            <a:xfrm>
              <a:off x="7320204" y="6102489"/>
              <a:ext cx="238935" cy="788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B29D30D4-93C0-39B4-D886-F22FB8F725EB}"/>
                </a:ext>
              </a:extLst>
            </p:cNvPr>
            <p:cNvGrpSpPr/>
            <p:nvPr/>
          </p:nvGrpSpPr>
          <p:grpSpPr>
            <a:xfrm>
              <a:off x="7559139" y="5952080"/>
              <a:ext cx="596900" cy="314227"/>
              <a:chOff x="1745372" y="572988"/>
              <a:chExt cx="596900" cy="314227"/>
            </a:xfrm>
          </p:grpSpPr>
          <p:sp>
            <p:nvSpPr>
              <p:cNvPr id="63" name="Rectangle 9">
                <a:extLst>
                  <a:ext uri="{FF2B5EF4-FFF2-40B4-BE49-F238E27FC236}">
                    <a16:creationId xmlns:a16="http://schemas.microsoft.com/office/drawing/2014/main" id="{B1EC8145-7BD3-6191-756C-5E875AE76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6666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n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Line 10">
                <a:extLst>
                  <a:ext uri="{FF2B5EF4-FFF2-40B4-BE49-F238E27FC236}">
                    <a16:creationId xmlns:a16="http://schemas.microsoft.com/office/drawing/2014/main" id="{9C614FDA-C1E4-A97F-9F3C-0525D8977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3" name="Text Box 62">
              <a:extLst>
                <a:ext uri="{FF2B5EF4-FFF2-40B4-BE49-F238E27FC236}">
                  <a16:creationId xmlns:a16="http://schemas.microsoft.com/office/drawing/2014/main" id="{D207E4D2-2ACE-BC8A-1152-9674CF703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0993" y="5980166"/>
              <a:ext cx="149080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Rounded MT Bold" panose="020F0704030504030204" pitchFamily="34" charset="0"/>
                  <a:ea typeface="宋体" panose="02010600030101010101" pitchFamily="2" charset="-122"/>
                  <a:cs typeface="+mn-cs"/>
                </a:rPr>
                <a:t>∧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Rounded MT Bold" panose="020F07040305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7BEB1979-D48E-C6F1-3D46-B631E25E4035}"/>
                </a:ext>
              </a:extLst>
            </p:cNvPr>
            <p:cNvGrpSpPr/>
            <p:nvPr/>
          </p:nvGrpSpPr>
          <p:grpSpPr>
            <a:xfrm>
              <a:off x="2878974" y="5887535"/>
              <a:ext cx="1181099" cy="717955"/>
              <a:chOff x="2878974" y="5887535"/>
              <a:chExt cx="1181099" cy="717955"/>
            </a:xfrm>
          </p:grpSpPr>
          <p:sp>
            <p:nvSpPr>
              <p:cNvPr id="19" name="Text Box 61">
                <a:extLst>
                  <a:ext uri="{FF2B5EF4-FFF2-40B4-BE49-F238E27FC236}">
                    <a16:creationId xmlns:a16="http://schemas.microsoft.com/office/drawing/2014/main" id="{57E12AB4-E900-6763-5786-8E0CF8C3D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9236" y="6172724"/>
                <a:ext cx="1847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5" name="Rectangle 19">
                <a:extLst>
                  <a:ext uri="{FF2B5EF4-FFF2-40B4-BE49-F238E27FC236}">
                    <a16:creationId xmlns:a16="http://schemas.microsoft.com/office/drawing/2014/main" id="{C95EB9D3-9516-796C-F4DF-7637A6037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9458" y="5887535"/>
                <a:ext cx="360615" cy="34821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0">
                <a:extLst>
                  <a:ext uri="{FF2B5EF4-FFF2-40B4-BE49-F238E27FC236}">
                    <a16:creationId xmlns:a16="http://schemas.microsoft.com/office/drawing/2014/main" id="{BD75F8A0-D54C-C073-AD7E-829B19FE9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9458" y="6232152"/>
                <a:ext cx="360615" cy="36105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Text Box 23">
                <a:extLst>
                  <a:ext uri="{FF2B5EF4-FFF2-40B4-BE49-F238E27FC236}">
                    <a16:creationId xmlns:a16="http://schemas.microsoft.com/office/drawing/2014/main" id="{208D6D51-6D35-5091-74F6-387872F692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8974" y="5910684"/>
                <a:ext cx="871506" cy="6948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Courier New" panose="02070309020205020404" pitchFamily="49" charset="0"/>
                  </a:rPr>
                  <a:t>front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ourier New" panose="02070309020205020404" pitchFamily="49" charset="0"/>
                    <a:ea typeface="宋体" panose="02010600030101010101" pitchFamily="2" charset="-122"/>
                    <a:cs typeface="Courier New" panose="02070309020205020404" pitchFamily="49" charset="0"/>
                  </a:rPr>
                  <a:t>rear</a:t>
                </a:r>
              </a:p>
            </p:txBody>
          </p:sp>
        </p:grp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2188F62-5CDD-0049-B61D-771B8F51C590}"/>
                </a:ext>
              </a:extLst>
            </p:cNvPr>
            <p:cNvCxnSpPr>
              <a:cxnSpLocks/>
            </p:cNvCxnSpPr>
            <p:nvPr/>
          </p:nvCxnSpPr>
          <p:spPr>
            <a:xfrm>
              <a:off x="3879765" y="6439041"/>
              <a:ext cx="3977824" cy="15210"/>
            </a:xfrm>
            <a:prstGeom prst="straightConnector1">
              <a:avLst/>
            </a:prstGeom>
            <a:ln w="19050">
              <a:headEnd type="oval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42820FCF-B555-F848-E697-CE73DB713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589" y="6266307"/>
              <a:ext cx="0" cy="193476"/>
            </a:xfrm>
            <a:prstGeom prst="straightConnector1">
              <a:avLst/>
            </a:prstGeom>
            <a:ln w="19050"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 Box 15">
              <a:extLst>
                <a:ext uri="{FF2B5EF4-FFF2-40B4-BE49-F238E27FC236}">
                  <a16:creationId xmlns:a16="http://schemas.microsoft.com/office/drawing/2014/main" id="{B69AD789-0A3E-E0F4-3CCF-B6B477385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062" y="5891264"/>
              <a:ext cx="8382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rPr>
                <a:t>…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81DA2F1C-D364-D3AE-63A4-FD4FDD82B012}"/>
                </a:ext>
              </a:extLst>
            </p:cNvPr>
            <p:cNvGrpSpPr/>
            <p:nvPr/>
          </p:nvGrpSpPr>
          <p:grpSpPr>
            <a:xfrm>
              <a:off x="4457058" y="5955212"/>
              <a:ext cx="596900" cy="314227"/>
              <a:chOff x="1745372" y="572988"/>
              <a:chExt cx="596900" cy="31422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59" name="Rectangle 9">
                <a:extLst>
                  <a:ext uri="{FF2B5EF4-FFF2-40B4-BE49-F238E27FC236}">
                    <a16:creationId xmlns:a16="http://schemas.microsoft.com/office/drawing/2014/main" id="{C55EFF85-D5B8-06C5-7B11-2F6942266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grpFill/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4FEE9FE2-2D0B-B471-46FE-7A33E4D0B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grp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A5DB4788-5DDD-4992-667C-3A6B82C7767A}"/>
              </a:ext>
            </a:extLst>
          </p:cNvPr>
          <p:cNvSpPr/>
          <p:nvPr/>
        </p:nvSpPr>
        <p:spPr>
          <a:xfrm>
            <a:off x="4916245" y="6131859"/>
            <a:ext cx="1296296" cy="226098"/>
          </a:xfrm>
          <a:custGeom>
            <a:avLst/>
            <a:gdLst>
              <a:gd name="connsiteX0" fmla="*/ 0 w 1296296"/>
              <a:gd name="connsiteY0" fmla="*/ 0 h 226098"/>
              <a:gd name="connsiteX1" fmla="*/ 225910 w 1296296"/>
              <a:gd name="connsiteY1" fmla="*/ 172122 h 226098"/>
              <a:gd name="connsiteX2" fmla="*/ 726141 w 1296296"/>
              <a:gd name="connsiteY2" fmla="*/ 225910 h 226098"/>
              <a:gd name="connsiteX3" fmla="*/ 1075764 w 1296296"/>
              <a:gd name="connsiteY3" fmla="*/ 182880 h 226098"/>
              <a:gd name="connsiteX4" fmla="*/ 1296296 w 1296296"/>
              <a:gd name="connsiteY4" fmla="*/ 21515 h 22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296" h="226098">
                <a:moveTo>
                  <a:pt x="0" y="0"/>
                </a:moveTo>
                <a:cubicBezTo>
                  <a:pt x="52443" y="67235"/>
                  <a:pt x="104887" y="134470"/>
                  <a:pt x="225910" y="172122"/>
                </a:cubicBezTo>
                <a:cubicBezTo>
                  <a:pt x="346933" y="209774"/>
                  <a:pt x="584499" y="224117"/>
                  <a:pt x="726141" y="225910"/>
                </a:cubicBezTo>
                <a:cubicBezTo>
                  <a:pt x="867783" y="227703"/>
                  <a:pt x="980738" y="216946"/>
                  <a:pt x="1075764" y="182880"/>
                </a:cubicBezTo>
                <a:cubicBezTo>
                  <a:pt x="1170790" y="148814"/>
                  <a:pt x="1233543" y="85164"/>
                  <a:pt x="1296296" y="21515"/>
                </a:cubicBezTo>
              </a:path>
            </a:pathLst>
          </a:custGeom>
          <a:noFill/>
          <a:ln>
            <a:solidFill>
              <a:srgbClr val="C00000"/>
            </a:solidFill>
            <a:headEnd type="oval" w="med" len="med"/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1E794437-7380-1643-C96E-DD0374330FCB}"/>
              </a:ext>
            </a:extLst>
          </p:cNvPr>
          <p:cNvGrpSpPr/>
          <p:nvPr/>
        </p:nvGrpSpPr>
        <p:grpSpPr>
          <a:xfrm>
            <a:off x="8601132" y="5827116"/>
            <a:ext cx="2124186" cy="717955"/>
            <a:chOff x="8601132" y="5827116"/>
            <a:chExt cx="2124186" cy="717955"/>
          </a:xfrm>
        </p:grpSpPr>
        <p:sp>
          <p:nvSpPr>
            <p:cNvPr id="81" name="Text Box 61">
              <a:extLst>
                <a:ext uri="{FF2B5EF4-FFF2-40B4-BE49-F238E27FC236}">
                  <a16:creationId xmlns:a16="http://schemas.microsoft.com/office/drawing/2014/main" id="{6E886136-D170-3CB4-4EF6-A0D3B852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1394" y="6112305"/>
              <a:ext cx="1847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2" name="Rectangle 19">
              <a:extLst>
                <a:ext uri="{FF2B5EF4-FFF2-40B4-BE49-F238E27FC236}">
                  <a16:creationId xmlns:a16="http://schemas.microsoft.com/office/drawing/2014/main" id="{8F25C21D-ADF8-82F6-23A5-E75F605D8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16" y="5827116"/>
              <a:ext cx="360615" cy="3482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Rectangle 20">
              <a:extLst>
                <a:ext uri="{FF2B5EF4-FFF2-40B4-BE49-F238E27FC236}">
                  <a16:creationId xmlns:a16="http://schemas.microsoft.com/office/drawing/2014/main" id="{3FECE974-4DD1-E19B-2D51-F7504C259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1616" y="6171733"/>
              <a:ext cx="360615" cy="36105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>
              <a:solidFill>
                <a:srgbClr val="0099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Text Box 23">
              <a:extLst>
                <a:ext uri="{FF2B5EF4-FFF2-40B4-BE49-F238E27FC236}">
                  <a16:creationId xmlns:a16="http://schemas.microsoft.com/office/drawing/2014/main" id="{C9097639-C349-DAB1-5054-6503097AD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1132" y="5850265"/>
              <a:ext cx="871506" cy="694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front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rear</a:t>
              </a: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C025FDC-D2D9-3BCE-E17A-661552C7452F}"/>
                </a:ext>
              </a:extLst>
            </p:cNvPr>
            <p:cNvGrpSpPr/>
            <p:nvPr/>
          </p:nvGrpSpPr>
          <p:grpSpPr>
            <a:xfrm>
              <a:off x="10128418" y="5903062"/>
              <a:ext cx="596900" cy="314227"/>
              <a:chOff x="1745372" y="572988"/>
              <a:chExt cx="596900" cy="314227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96" name="Rectangle 9">
                <a:extLst>
                  <a:ext uri="{FF2B5EF4-FFF2-40B4-BE49-F238E27FC236}">
                    <a16:creationId xmlns:a16="http://schemas.microsoft.com/office/drawing/2014/main" id="{86571B58-C23D-BBD6-2215-97B3F788F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grpFill/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Line 10">
                <a:extLst>
                  <a:ext uri="{FF2B5EF4-FFF2-40B4-BE49-F238E27FC236}">
                    <a16:creationId xmlns:a16="http://schemas.microsoft.com/office/drawing/2014/main" id="{74E0D480-8836-E27C-E2B5-EDA195E77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grp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F4C84E64-7E8B-0A5B-15DC-9087A684EFF8}"/>
                </a:ext>
              </a:extLst>
            </p:cNvPr>
            <p:cNvCxnSpPr>
              <a:cxnSpLocks/>
              <a:endCxn id="96" idx="1"/>
            </p:cNvCxnSpPr>
            <p:nvPr/>
          </p:nvCxnSpPr>
          <p:spPr>
            <a:xfrm>
              <a:off x="9604854" y="6051549"/>
              <a:ext cx="523564" cy="8627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83306C7-D9BF-0EAC-32FE-12014E0F211F}"/>
              </a:ext>
            </a:extLst>
          </p:cNvPr>
          <p:cNvCxnSpPr>
            <a:cxnSpLocks/>
          </p:cNvCxnSpPr>
          <p:nvPr/>
        </p:nvCxnSpPr>
        <p:spPr>
          <a:xfrm flipV="1">
            <a:off x="10612963" y="6051549"/>
            <a:ext cx="454608" cy="8626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D90FBBD0-694A-D45A-A480-CD755DF08880}"/>
              </a:ext>
            </a:extLst>
          </p:cNvPr>
          <p:cNvGrpSpPr/>
          <p:nvPr/>
        </p:nvGrpSpPr>
        <p:grpSpPr>
          <a:xfrm>
            <a:off x="11040957" y="5850265"/>
            <a:ext cx="641248" cy="369332"/>
            <a:chOff x="11040957" y="5850265"/>
            <a:chExt cx="641248" cy="369332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7F71EF98-3378-39FB-2481-6A70188F4709}"/>
                </a:ext>
              </a:extLst>
            </p:cNvPr>
            <p:cNvGrpSpPr/>
            <p:nvPr/>
          </p:nvGrpSpPr>
          <p:grpSpPr>
            <a:xfrm>
              <a:off x="11040957" y="5888990"/>
              <a:ext cx="596900" cy="314227"/>
              <a:chOff x="1745372" y="572988"/>
              <a:chExt cx="596900" cy="314227"/>
            </a:xfrm>
          </p:grpSpPr>
          <p:sp>
            <p:nvSpPr>
              <p:cNvPr id="98" name="Rectangle 9">
                <a:extLst>
                  <a:ext uri="{FF2B5EF4-FFF2-40B4-BE49-F238E27FC236}">
                    <a16:creationId xmlns:a16="http://schemas.microsoft.com/office/drawing/2014/main" id="{42A4D4B7-95DF-C464-E81F-7ECD294A3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372" y="572988"/>
                <a:ext cx="596900" cy="314227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rgbClr val="00999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b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a</a:t>
                </a:r>
                <a:r>
                  <a:rPr kumimoji="0" lang="en-US" altLang="zh-CN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9" name="Line 10">
                <a:extLst>
                  <a:ext uri="{FF2B5EF4-FFF2-40B4-BE49-F238E27FC236}">
                    <a16:creationId xmlns:a16="http://schemas.microsoft.com/office/drawing/2014/main" id="{44F8A445-A246-8902-0473-612BBD6A6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1041" y="572988"/>
                <a:ext cx="0" cy="314227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7" name="文本框 30">
              <a:extLst>
                <a:ext uri="{FF2B5EF4-FFF2-40B4-BE49-F238E27FC236}">
                  <a16:creationId xmlns:a16="http://schemas.microsoft.com/office/drawing/2014/main" id="{F68236CC-8369-F171-46DE-2B39D2D8DF6C}"/>
                </a:ext>
              </a:extLst>
            </p:cNvPr>
            <p:cNvSpPr txBox="1"/>
            <p:nvPr/>
          </p:nvSpPr>
          <p:spPr>
            <a:xfrm>
              <a:off x="11346449" y="5850265"/>
              <a:ext cx="3357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Rounded MT Bold" panose="020F0704030504030204" pitchFamily="34" charset="0"/>
                  <a:ea typeface="宋体" panose="02010600030101010101" pitchFamily="2" charset="-122"/>
                  <a:cs typeface="+mn-cs"/>
                </a:rPr>
                <a:t>∧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4EEC1947-AA05-F1CD-06CB-4949D02A5D0B}"/>
              </a:ext>
            </a:extLst>
          </p:cNvPr>
          <p:cNvGrpSpPr/>
          <p:nvPr/>
        </p:nvGrpSpPr>
        <p:grpSpPr>
          <a:xfrm>
            <a:off x="11137180" y="5328046"/>
            <a:ext cx="141064" cy="566852"/>
            <a:chOff x="1977294" y="719272"/>
            <a:chExt cx="141064" cy="566852"/>
          </a:xfrm>
        </p:grpSpPr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357BD15D-5B3C-2813-064D-1D5407E31790}"/>
                </a:ext>
              </a:extLst>
            </p:cNvPr>
            <p:cNvCxnSpPr>
              <a:cxnSpLocks/>
            </p:cNvCxnSpPr>
            <p:nvPr/>
          </p:nvCxnSpPr>
          <p:spPr>
            <a:xfrm>
              <a:off x="2057999" y="1035921"/>
              <a:ext cx="0" cy="250203"/>
            </a:xfrm>
            <a:prstGeom prst="straightConnector1">
              <a:avLst/>
            </a:prstGeom>
            <a:ln w="19050">
              <a:headEnd type="oval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35">
              <a:extLst>
                <a:ext uri="{FF2B5EF4-FFF2-40B4-BE49-F238E27FC236}">
                  <a16:creationId xmlns:a16="http://schemas.microsoft.com/office/drawing/2014/main" id="{E3F1199F-C2F6-6B09-41C8-5EE3D9DD8CEA}"/>
                </a:ext>
              </a:extLst>
            </p:cNvPr>
            <p:cNvSpPr txBox="1"/>
            <p:nvPr/>
          </p:nvSpPr>
          <p:spPr>
            <a:xfrm>
              <a:off x="1977294" y="719272"/>
              <a:ext cx="141064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E97132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91" name="文本框 45">
            <a:extLst>
              <a:ext uri="{FF2B5EF4-FFF2-40B4-BE49-F238E27FC236}">
                <a16:creationId xmlns:a16="http://schemas.microsoft.com/office/drawing/2014/main" id="{102B15CC-C6BC-13F1-8A6D-F99788BD1F73}"/>
              </a:ext>
            </a:extLst>
          </p:cNvPr>
          <p:cNvSpPr txBox="1"/>
          <p:nvPr/>
        </p:nvSpPr>
        <p:spPr>
          <a:xfrm>
            <a:off x="10445902" y="5855460"/>
            <a:ext cx="335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Rounded MT Bold" panose="020F0704030504030204" pitchFamily="34" charset="0"/>
                <a:ea typeface="宋体" panose="02010600030101010101" pitchFamily="2" charset="-122"/>
                <a:cs typeface="+mn-cs"/>
              </a:rPr>
              <a:t>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0DAAA2A9-2BFB-4D7A-5D50-B745EBE40524}"/>
              </a:ext>
            </a:extLst>
          </p:cNvPr>
          <p:cNvGrpSpPr/>
          <p:nvPr/>
        </p:nvGrpSpPr>
        <p:grpSpPr>
          <a:xfrm>
            <a:off x="9627997" y="6217289"/>
            <a:ext cx="679639" cy="183518"/>
            <a:chOff x="9627997" y="6217289"/>
            <a:chExt cx="679639" cy="183518"/>
          </a:xfrm>
        </p:grpSpPr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DAA730C-577A-A8AF-CA34-197B94E37B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07636" y="6217289"/>
              <a:ext cx="0" cy="183518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4828F287-F0E9-98EE-510D-C9A32F329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7997" y="6388481"/>
              <a:ext cx="679639" cy="516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oval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5435A71-91C9-973C-8D23-8ACA988C5DC3}"/>
              </a:ext>
            </a:extLst>
          </p:cNvPr>
          <p:cNvSpPr txBox="1"/>
          <p:nvPr/>
        </p:nvSpPr>
        <p:spPr>
          <a:xfrm>
            <a:off x="312095" y="1153922"/>
            <a:ext cx="35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×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C43503FA-21F0-1F01-4960-AEDA6A114C43}"/>
              </a:ext>
            </a:extLst>
          </p:cNvPr>
          <p:cNvCxnSpPr>
            <a:cxnSpLocks/>
          </p:cNvCxnSpPr>
          <p:nvPr/>
        </p:nvCxnSpPr>
        <p:spPr>
          <a:xfrm>
            <a:off x="1038991" y="1827725"/>
            <a:ext cx="3758920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16A9B7E3-F73C-01ED-8ADA-2CB0928479D0}"/>
              </a:ext>
            </a:extLst>
          </p:cNvPr>
          <p:cNvCxnSpPr>
            <a:cxnSpLocks/>
          </p:cNvCxnSpPr>
          <p:nvPr/>
        </p:nvCxnSpPr>
        <p:spPr>
          <a:xfrm>
            <a:off x="1034531" y="2174190"/>
            <a:ext cx="2845234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40658A4-8210-7E05-3592-0921C5432671}"/>
              </a:ext>
            </a:extLst>
          </p:cNvPr>
          <p:cNvSpPr txBox="1"/>
          <p:nvPr/>
        </p:nvSpPr>
        <p:spPr>
          <a:xfrm>
            <a:off x="5395527" y="5887535"/>
            <a:ext cx="282785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4E9B0086-4A2E-F0BD-B5B9-D59BB53B6732}"/>
              </a:ext>
            </a:extLst>
          </p:cNvPr>
          <p:cNvCxnSpPr>
            <a:cxnSpLocks/>
          </p:cNvCxnSpPr>
          <p:nvPr/>
        </p:nvCxnSpPr>
        <p:spPr>
          <a:xfrm>
            <a:off x="1030072" y="2485378"/>
            <a:ext cx="3426986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8B839FF-A2BD-8ED9-A72B-0387F1C5E6D8}"/>
              </a:ext>
            </a:extLst>
          </p:cNvPr>
          <p:cNvCxnSpPr>
            <a:cxnSpLocks/>
          </p:cNvCxnSpPr>
          <p:nvPr/>
        </p:nvCxnSpPr>
        <p:spPr>
          <a:xfrm flipV="1">
            <a:off x="4929599" y="6129057"/>
            <a:ext cx="389200" cy="5423"/>
          </a:xfrm>
          <a:prstGeom prst="straightConnector1">
            <a:avLst/>
          </a:prstGeom>
          <a:ln w="19050">
            <a:headEnd type="oval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16A9B7E3-F73C-01ED-8ADA-2CB0928479D0}"/>
              </a:ext>
            </a:extLst>
          </p:cNvPr>
          <p:cNvCxnSpPr>
            <a:cxnSpLocks/>
          </p:cNvCxnSpPr>
          <p:nvPr/>
        </p:nvCxnSpPr>
        <p:spPr>
          <a:xfrm>
            <a:off x="1030072" y="2821662"/>
            <a:ext cx="2014278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642412D-E34A-6C5B-8F26-CA3EBB74B003}"/>
              </a:ext>
            </a:extLst>
          </p:cNvPr>
          <p:cNvSpPr txBox="1"/>
          <p:nvPr/>
        </p:nvSpPr>
        <p:spPr>
          <a:xfrm>
            <a:off x="317412" y="2466540"/>
            <a:ext cx="357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×</a:t>
            </a:r>
          </a:p>
        </p:txBody>
      </p: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8DBF43C4-8944-3735-FA7E-D73BC9B60B36}"/>
              </a:ext>
            </a:extLst>
          </p:cNvPr>
          <p:cNvCxnSpPr>
            <a:cxnSpLocks/>
          </p:cNvCxnSpPr>
          <p:nvPr/>
        </p:nvCxnSpPr>
        <p:spPr>
          <a:xfrm>
            <a:off x="1017338" y="3149278"/>
            <a:ext cx="2733142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E0511C86-FB15-AB20-A517-F8729B5C10C0}"/>
              </a:ext>
            </a:extLst>
          </p:cNvPr>
          <p:cNvGrpSpPr/>
          <p:nvPr/>
        </p:nvGrpSpPr>
        <p:grpSpPr>
          <a:xfrm>
            <a:off x="9622954" y="6181539"/>
            <a:ext cx="1638489" cy="206942"/>
            <a:chOff x="9627997" y="6187342"/>
            <a:chExt cx="1638489" cy="206942"/>
          </a:xfrm>
        </p:grpSpPr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82B70854-1A56-2A0C-A074-6C6DA569B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27997" y="6389124"/>
              <a:ext cx="1638489" cy="5160"/>
            </a:xfrm>
            <a:prstGeom prst="straightConnector1">
              <a:avLst/>
            </a:prstGeom>
            <a:ln w="19050">
              <a:headEnd type="oval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B48C6DC0-645D-809D-6536-4256AF4B0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58866" y="6187342"/>
              <a:ext cx="0" cy="193476"/>
            </a:xfrm>
            <a:prstGeom prst="straightConnector1">
              <a:avLst/>
            </a:prstGeom>
            <a:ln w="19050">
              <a:headEnd type="none" w="med" len="med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58056BC7-7C34-FAA9-10A7-7E430917EBE3}"/>
              </a:ext>
            </a:extLst>
          </p:cNvPr>
          <p:cNvSpPr txBox="1"/>
          <p:nvPr/>
        </p:nvSpPr>
        <p:spPr>
          <a:xfrm>
            <a:off x="312095" y="2466540"/>
            <a:ext cx="4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✔️</a:t>
            </a:r>
          </a:p>
        </p:txBody>
      </p: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5A6983FF-07E0-078E-2636-E8062FBA5B7C}"/>
              </a:ext>
            </a:extLst>
          </p:cNvPr>
          <p:cNvCxnSpPr>
            <a:cxnSpLocks/>
          </p:cNvCxnSpPr>
          <p:nvPr/>
        </p:nvCxnSpPr>
        <p:spPr>
          <a:xfrm>
            <a:off x="3214140" y="2821662"/>
            <a:ext cx="2585036" cy="0"/>
          </a:xfrm>
          <a:prstGeom prst="line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4FDF55CF-85A1-0BB0-077B-F49DBCC0D645}"/>
              </a:ext>
            </a:extLst>
          </p:cNvPr>
          <p:cNvGrpSpPr/>
          <p:nvPr/>
        </p:nvGrpSpPr>
        <p:grpSpPr>
          <a:xfrm>
            <a:off x="546250" y="5313198"/>
            <a:ext cx="651027" cy="400110"/>
            <a:chOff x="546250" y="5313198"/>
            <a:chExt cx="651027" cy="400110"/>
          </a:xfrm>
        </p:grpSpPr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CB1E507C-5FDC-3ADA-AF8A-4CC8E70BEBCE}"/>
                </a:ext>
              </a:extLst>
            </p:cNvPr>
            <p:cNvSpPr txBox="1"/>
            <p:nvPr/>
          </p:nvSpPr>
          <p:spPr>
            <a:xfrm>
              <a:off x="546250" y="5313198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Q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4AACC780-83C7-4725-E499-F8900D1F8FAF}"/>
                </a:ext>
              </a:extLst>
            </p:cNvPr>
            <p:cNvCxnSpPr/>
            <p:nvPr/>
          </p:nvCxnSpPr>
          <p:spPr>
            <a:xfrm>
              <a:off x="878084" y="5605045"/>
              <a:ext cx="319193" cy="56980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625EDF9-222E-D4E1-2B3C-1C39A6879E3B}"/>
              </a:ext>
            </a:extLst>
          </p:cNvPr>
          <p:cNvGrpSpPr/>
          <p:nvPr/>
        </p:nvGrpSpPr>
        <p:grpSpPr>
          <a:xfrm>
            <a:off x="3067773" y="5540939"/>
            <a:ext cx="651027" cy="400110"/>
            <a:chOff x="546250" y="5313198"/>
            <a:chExt cx="651027" cy="400110"/>
          </a:xfrm>
        </p:grpSpPr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647E6AD6-2D1E-D466-1C60-639E03F42118}"/>
                </a:ext>
              </a:extLst>
            </p:cNvPr>
            <p:cNvSpPr txBox="1"/>
            <p:nvPr/>
          </p:nvSpPr>
          <p:spPr>
            <a:xfrm>
              <a:off x="546250" y="5313198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Q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A007B767-F818-3171-8169-E29C2057CE03}"/>
                </a:ext>
              </a:extLst>
            </p:cNvPr>
            <p:cNvCxnSpPr/>
            <p:nvPr/>
          </p:nvCxnSpPr>
          <p:spPr>
            <a:xfrm>
              <a:off x="878084" y="5605045"/>
              <a:ext cx="319193" cy="56980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4FDF55CF-85A1-0BB0-077B-F49DBCC0D645}"/>
              </a:ext>
            </a:extLst>
          </p:cNvPr>
          <p:cNvGrpSpPr/>
          <p:nvPr/>
        </p:nvGrpSpPr>
        <p:grpSpPr>
          <a:xfrm>
            <a:off x="8783716" y="5495554"/>
            <a:ext cx="651027" cy="400110"/>
            <a:chOff x="546250" y="5313198"/>
            <a:chExt cx="651027" cy="400110"/>
          </a:xfrm>
        </p:grpSpPr>
        <p:sp>
          <p:nvSpPr>
            <p:cNvPr id="133" name="文本框 124">
              <a:extLst>
                <a:ext uri="{FF2B5EF4-FFF2-40B4-BE49-F238E27FC236}">
                  <a16:creationId xmlns:a16="http://schemas.microsoft.com/office/drawing/2014/main" id="{CB1E507C-5FDC-3ADA-AF8A-4CC8E70BEBCE}"/>
                </a:ext>
              </a:extLst>
            </p:cNvPr>
            <p:cNvSpPr txBox="1"/>
            <p:nvPr/>
          </p:nvSpPr>
          <p:spPr>
            <a:xfrm>
              <a:off x="546250" y="5313198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Q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endParaRP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4AACC780-83C7-4725-E499-F8900D1F8FAF}"/>
                </a:ext>
              </a:extLst>
            </p:cNvPr>
            <p:cNvCxnSpPr/>
            <p:nvPr/>
          </p:nvCxnSpPr>
          <p:spPr>
            <a:xfrm>
              <a:off x="878084" y="5605045"/>
              <a:ext cx="319193" cy="56980"/>
            </a:xfrm>
            <a:prstGeom prst="straightConnector1">
              <a:avLst/>
            </a:prstGeom>
            <a:ln>
              <a:solidFill>
                <a:srgbClr val="8E0000"/>
              </a:solidFill>
              <a:headEnd type="oval" w="med" len="med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5415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16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48148E-6 L -0.07761 -0.19167 " pathEditMode="relative" rAng="0" ptsTypes="AA">
                                      <p:cBhvr>
                                        <p:cTn id="160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0" y="-9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000"/>
                            </p:stCondLst>
                            <p:childTnLst>
                              <p:par>
                                <p:cTn id="16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4500"/>
                            </p:stCondLst>
                            <p:childTnLst>
                              <p:par>
                                <p:cTn id="1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500"/>
                            </p:stCondLst>
                            <p:childTnLst>
                              <p:par>
                                <p:cTn id="18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000"/>
                            </p:stCondLst>
                            <p:childTnLst>
                              <p:par>
                                <p:cTn id="2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000"/>
                            </p:stCondLst>
                            <p:childTnLst>
                              <p:par>
                                <p:cTn id="24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4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000"/>
                            </p:stCondLst>
                            <p:childTnLst>
                              <p:par>
                                <p:cTn id="2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1000"/>
                            </p:stCondLst>
                            <p:childTnLst>
                              <p:par>
                                <p:cTn id="283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1500"/>
                            </p:stCondLst>
                            <p:childTnLst>
                              <p:par>
                                <p:cTn id="2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2500"/>
                            </p:stCondLst>
                            <p:childTnLst>
                              <p:par>
                                <p:cTn id="2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000"/>
                            </p:stCondLst>
                            <p:childTnLst>
                              <p:par>
                                <p:cTn id="29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000"/>
                            </p:stCondLst>
                            <p:childTnLst>
                              <p:par>
                                <p:cTn id="3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500"/>
                            </p:stCondLst>
                            <p:childTnLst>
                              <p:par>
                                <p:cTn id="3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2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4" grpId="0" autoUpdateAnimBg="0"/>
      <p:bldP spid="55" grpId="0"/>
      <p:bldP spid="55" grpId="1"/>
      <p:bldP spid="10" grpId="0" uiExpand="1" build="p"/>
      <p:bldP spid="12" grpId="0" uiExpand="1" build="p"/>
      <p:bldP spid="14" grpId="0" uiExpand="1" build="p"/>
      <p:bldP spid="78" grpId="0" animBg="1"/>
      <p:bldP spid="91" grpId="0"/>
      <p:bldP spid="103" grpId="0"/>
      <p:bldP spid="103" grpId="1"/>
      <p:bldP spid="109" grpId="0"/>
      <p:bldP spid="109" grpId="1"/>
      <p:bldP spid="114" grpId="0"/>
      <p:bldP spid="114" grpId="1"/>
      <p:bldP spid="122" grpId="0"/>
      <p:bldP spid="122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2667000" y="1679576"/>
            <a:ext cx="68722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title"/>
          </p:nvPr>
        </p:nvSpPr>
        <p:spPr>
          <a:xfrm>
            <a:off x="1595438" y="2335214"/>
            <a:ext cx="8964612" cy="1525587"/>
          </a:xfrm>
        </p:spPr>
        <p:txBody>
          <a:bodyPr/>
          <a:lstStyle/>
          <a:p>
            <a:pPr eaLnBrk="1" hangingPunct="1">
              <a:defRPr/>
            </a:pPr>
            <a:r>
              <a:rPr sz="44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循环队列</a:t>
            </a:r>
            <a:r>
              <a:rPr lang="en-US" altLang="zh-CN" sz="4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——</a:t>
            </a:r>
            <a:r>
              <a:rPr sz="4400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队列的顺序存储结构</a:t>
            </a:r>
            <a:endParaRPr sz="4400" dirty="0">
              <a:solidFill>
                <a:srgbClr val="000099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顺序队列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341438"/>
            <a:ext cx="9648750" cy="47545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楷体_GB2312" pitchFamily="49" charset="-122"/>
              </a:rPr>
              <a:t>利用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一组连续的存储单元</a:t>
            </a:r>
            <a:r>
              <a:rPr lang="en-US" altLang="zh-CN" dirty="0">
                <a:solidFill>
                  <a:srgbClr val="C00000"/>
                </a:solidFill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一维数组</a:t>
            </a:r>
            <a:r>
              <a:rPr lang="en-US" altLang="zh-CN" dirty="0">
                <a:solidFill>
                  <a:srgbClr val="C00000"/>
                </a:solidFill>
                <a:ea typeface="楷体_GB2312" pitchFamily="49" charset="-122"/>
              </a:rPr>
              <a:t>) </a:t>
            </a:r>
            <a:r>
              <a:rPr lang="zh-CN" altLang="en-US" dirty="0">
                <a:ea typeface="楷体_GB2312" pitchFamily="49" charset="-122"/>
              </a:rPr>
              <a:t>依次存放从队首到队尾的各个元素，称为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顺序队列</a:t>
            </a:r>
            <a:endParaRPr lang="en-US" altLang="zh-CN" dirty="0">
              <a:solidFill>
                <a:srgbClr val="C00000"/>
              </a:solidFill>
              <a:ea typeface="楷体_GB2312" pitchFamily="49" charset="-122"/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C00000"/>
              </a:solidFill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ea typeface="楷体_GB2312" pitchFamily="49" charset="-122"/>
              </a:rPr>
              <a:t>设立一个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队首标志</a:t>
            </a:r>
            <a:r>
              <a:rPr lang="en-US" altLang="zh-CN" dirty="0">
                <a:ea typeface="楷体_GB2312" pitchFamily="49" charset="-122"/>
              </a:rPr>
              <a:t>front </a:t>
            </a:r>
            <a:r>
              <a:rPr lang="zh-CN" altLang="en-US" dirty="0">
                <a:ea typeface="楷体_GB2312" pitchFamily="49" charset="-122"/>
              </a:rPr>
              <a:t>，一个</a:t>
            </a:r>
            <a:r>
              <a:rPr lang="zh-CN" altLang="en-US" dirty="0">
                <a:solidFill>
                  <a:srgbClr val="C00000"/>
                </a:solidFill>
                <a:ea typeface="楷体_GB2312" pitchFamily="49" charset="-122"/>
              </a:rPr>
              <a:t>队尾标志</a:t>
            </a:r>
            <a:r>
              <a:rPr lang="en-US" altLang="zh-CN" dirty="0">
                <a:ea typeface="楷体_GB2312" pitchFamily="49" charset="-122"/>
              </a:rPr>
              <a:t>rear</a:t>
            </a:r>
            <a:r>
              <a:rPr lang="en-US" altLang="zh-CN" dirty="0">
                <a:solidFill>
                  <a:schemeClr val="hlink"/>
                </a:solidFill>
                <a:ea typeface="楷体_GB2312" pitchFamily="49" charset="-122"/>
              </a:rPr>
              <a:t> </a:t>
            </a:r>
            <a:endParaRPr lang="en-US" altLang="zh-CN" dirty="0"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>
                <a:ea typeface="楷体_GB2312" pitchFamily="49" charset="-122"/>
              </a:rPr>
              <a:t>front:</a:t>
            </a:r>
            <a:r>
              <a:rPr lang="zh-CN" altLang="en-US" dirty="0">
                <a:ea typeface="楷体_GB2312" pitchFamily="49" charset="-122"/>
              </a:rPr>
              <a:t>指向队首</a:t>
            </a:r>
            <a:endParaRPr lang="en-US" altLang="zh-CN" dirty="0">
              <a:ea typeface="楷体_GB2312" pitchFamily="49" charset="-122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>
                <a:ea typeface="楷体_GB2312" pitchFamily="49" charset="-122"/>
              </a:rPr>
              <a:t>rear:</a:t>
            </a:r>
            <a:r>
              <a:rPr lang="zh-CN" altLang="en-US" dirty="0">
                <a:ea typeface="楷体_GB2312" pitchFamily="49" charset="-122"/>
              </a:rPr>
              <a:t>队尾元素的</a:t>
            </a:r>
            <a:r>
              <a:rPr lang="zh-CN" altLang="en-US" dirty="0">
                <a:solidFill>
                  <a:srgbClr val="008000"/>
                </a:solidFill>
                <a:ea typeface="楷体_GB2312" pitchFamily="49" charset="-122"/>
              </a:rPr>
              <a:t>下一个位置</a:t>
            </a:r>
            <a:r>
              <a:rPr lang="zh-CN" altLang="en-US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 marL="355600" lvl="1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  <a:defRPr/>
            </a:pPr>
            <a:r>
              <a:rPr lang="zh-CN" altLang="en-US" sz="2800" dirty="0"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ea typeface="楷体_GB2312" pitchFamily="49" charset="-122"/>
              </a:rPr>
              <a:t>◆</a:t>
            </a:r>
            <a:endParaRPr lang="en-US" altLang="zh-CN" dirty="0">
              <a:solidFill>
                <a:srgbClr val="C00000"/>
              </a:solidFill>
              <a:ea typeface="楷体_GB2312" pitchFamily="49" charset="-122"/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C00000"/>
              </a:solidFill>
              <a:ea typeface="楷体_GB2312" pitchFamily="49" charset="-122"/>
            </a:endParaRPr>
          </a:p>
          <a:p>
            <a:pPr eaLnBrk="1" hangingPunct="1">
              <a:defRPr/>
            </a:pPr>
            <a:endParaRPr lang="zh-CN" altLang="en-US" dirty="0">
              <a:solidFill>
                <a:srgbClr val="C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lvl="1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初始化</a:t>
            </a:r>
            <a:r>
              <a:rPr lang="zh-CN" altLang="en-US" sz="2800" dirty="0">
                <a:ea typeface="楷体_GB2312" pitchFamily="49" charset="-122"/>
              </a:rPr>
              <a:t>：</a:t>
            </a:r>
            <a:r>
              <a:rPr lang="en-US" altLang="zh-CN" sz="2800" dirty="0">
                <a:ea typeface="楷体_GB2312" pitchFamily="49" charset="-122"/>
              </a:rPr>
              <a:t>front=rear=0</a:t>
            </a:r>
            <a:r>
              <a:rPr lang="zh-CN" altLang="en-US" sz="2800" dirty="0">
                <a:ea typeface="楷体_GB2312" pitchFamily="49" charset="-122"/>
              </a:rPr>
              <a:t>。</a:t>
            </a:r>
          </a:p>
          <a:p>
            <a:pPr marL="355600" lvl="1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zh-CN" altLang="en-US" sz="2800" dirty="0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ea typeface="楷体_GB2312" pitchFamily="49" charset="-122"/>
              </a:rPr>
              <a:t>◆ 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入队</a:t>
            </a:r>
            <a:r>
              <a:rPr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r>
              <a:rPr lang="zh-CN" altLang="en-US" sz="2800" dirty="0">
                <a:ea typeface="楷体_GB2312" pitchFamily="49" charset="-122"/>
              </a:rPr>
              <a:t>将新元素插入</a:t>
            </a:r>
            <a:r>
              <a:rPr lang="en-US" altLang="zh-CN" sz="2800" dirty="0">
                <a:ea typeface="楷体_GB2312" pitchFamily="49" charset="-122"/>
              </a:rPr>
              <a:t>rear</a:t>
            </a:r>
            <a:r>
              <a:rPr lang="zh-CN" altLang="en-US" sz="2800" dirty="0">
                <a:ea typeface="楷体_GB2312" pitchFamily="49" charset="-122"/>
              </a:rPr>
              <a:t>所指的位置，然后</a:t>
            </a:r>
            <a:r>
              <a:rPr lang="en-US" altLang="zh-CN" sz="2800" dirty="0">
                <a:ea typeface="楷体_GB2312" pitchFamily="49" charset="-122"/>
              </a:rPr>
              <a:t>rear</a:t>
            </a:r>
            <a:r>
              <a:rPr lang="zh-CN" altLang="en-US" sz="2800" dirty="0">
                <a:ea typeface="楷体_GB2312" pitchFamily="49" charset="-122"/>
              </a:rPr>
              <a:t>加</a:t>
            </a:r>
            <a:r>
              <a:rPr lang="en-US" altLang="zh-CN" sz="2800" dirty="0">
                <a:ea typeface="楷体_GB2312" pitchFamily="49" charset="-122"/>
              </a:rPr>
              <a:t>1</a:t>
            </a:r>
            <a:r>
              <a:rPr lang="zh-CN" altLang="en-US" sz="2800" dirty="0">
                <a:ea typeface="楷体_GB2312" pitchFamily="49" charset="-122"/>
              </a:rPr>
              <a:t>。</a:t>
            </a:r>
          </a:p>
          <a:p>
            <a:pPr marL="355600" lvl="1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zh-CN" altLang="en-US" sz="2800" dirty="0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ea typeface="楷体_GB2312" pitchFamily="49" charset="-122"/>
              </a:rPr>
              <a:t>◆ 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出队</a:t>
            </a:r>
            <a:r>
              <a:rPr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r>
              <a:rPr lang="zh-CN" altLang="en-US" sz="2800" dirty="0">
                <a:ea typeface="楷体_GB2312" pitchFamily="49" charset="-122"/>
              </a:rPr>
              <a:t>删去</a:t>
            </a:r>
            <a:r>
              <a:rPr lang="en-US" altLang="zh-CN" sz="2800" dirty="0">
                <a:ea typeface="楷体_GB2312" pitchFamily="49" charset="-122"/>
              </a:rPr>
              <a:t>front</a:t>
            </a:r>
            <a:r>
              <a:rPr lang="zh-CN" altLang="en-US" sz="2800" dirty="0">
                <a:ea typeface="楷体_GB2312" pitchFamily="49" charset="-122"/>
              </a:rPr>
              <a:t>所指的元素，然后加</a:t>
            </a:r>
            <a:r>
              <a:rPr lang="en-US" altLang="zh-CN" sz="2800" dirty="0">
                <a:ea typeface="楷体_GB2312" pitchFamily="49" charset="-122"/>
              </a:rPr>
              <a:t>1</a:t>
            </a:r>
            <a:r>
              <a:rPr lang="zh-CN" altLang="en-US" sz="2800" dirty="0">
                <a:ea typeface="楷体_GB2312" pitchFamily="49" charset="-122"/>
              </a:rPr>
              <a:t>并返回被删元素。</a:t>
            </a:r>
          </a:p>
          <a:p>
            <a:pPr marL="355600" lvl="1" eaLnBrk="1" hangingPunct="1">
              <a:lnSpc>
                <a:spcPct val="110000"/>
              </a:lnSpc>
              <a:buClr>
                <a:schemeClr val="accent2"/>
              </a:buClr>
              <a:buSzPct val="80000"/>
              <a:buNone/>
            </a:pPr>
            <a:r>
              <a:rPr lang="zh-CN" altLang="en-US" sz="2800" dirty="0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ea typeface="楷体_GB2312" pitchFamily="49" charset="-122"/>
              </a:rPr>
              <a:t>◆ 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队空</a:t>
            </a:r>
            <a:r>
              <a:rPr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：</a:t>
            </a:r>
            <a:r>
              <a:rPr lang="en-US" altLang="zh-CN" sz="2800" dirty="0">
                <a:ea typeface="楷体_GB2312" pitchFamily="49" charset="-122"/>
              </a:rPr>
              <a:t>front=rear</a:t>
            </a:r>
            <a:r>
              <a:rPr lang="zh-CN" altLang="en-US" sz="2800" dirty="0">
                <a:ea typeface="楷体_GB2312" pitchFamily="49" charset="-122"/>
              </a:rPr>
              <a:t>。</a:t>
            </a:r>
          </a:p>
          <a:p>
            <a:pPr marL="0" indent="0">
              <a:buNone/>
            </a:pPr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ChangeArrowheads="1"/>
          </p:cNvSpPr>
          <p:nvPr/>
        </p:nvSpPr>
        <p:spPr bwMode="auto">
          <a:xfrm>
            <a:off x="2286000" y="1371600"/>
            <a:ext cx="32004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6563" name="Line 8"/>
          <p:cNvSpPr>
            <a:spLocks noChangeShapeType="1"/>
          </p:cNvSpPr>
          <p:nvPr/>
        </p:nvSpPr>
        <p:spPr bwMode="auto">
          <a:xfrm>
            <a:off x="27432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4" name="Line 9"/>
          <p:cNvSpPr>
            <a:spLocks noChangeShapeType="1"/>
          </p:cNvSpPr>
          <p:nvPr/>
        </p:nvSpPr>
        <p:spPr bwMode="auto">
          <a:xfrm flipV="1">
            <a:off x="27432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Line 10"/>
          <p:cNvSpPr>
            <a:spLocks noChangeShapeType="1"/>
          </p:cNvSpPr>
          <p:nvPr/>
        </p:nvSpPr>
        <p:spPr bwMode="auto">
          <a:xfrm>
            <a:off x="32004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6" name="Line 11"/>
          <p:cNvSpPr>
            <a:spLocks noChangeShapeType="1"/>
          </p:cNvSpPr>
          <p:nvPr/>
        </p:nvSpPr>
        <p:spPr bwMode="auto">
          <a:xfrm flipV="1">
            <a:off x="32004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7" name="Line 12"/>
          <p:cNvSpPr>
            <a:spLocks noChangeShapeType="1"/>
          </p:cNvSpPr>
          <p:nvPr/>
        </p:nvSpPr>
        <p:spPr bwMode="auto">
          <a:xfrm>
            <a:off x="36576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8" name="Line 13"/>
          <p:cNvSpPr>
            <a:spLocks noChangeShapeType="1"/>
          </p:cNvSpPr>
          <p:nvPr/>
        </p:nvSpPr>
        <p:spPr bwMode="auto">
          <a:xfrm flipV="1">
            <a:off x="36576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9" name="Line 14"/>
          <p:cNvSpPr>
            <a:spLocks noChangeShapeType="1"/>
          </p:cNvSpPr>
          <p:nvPr/>
        </p:nvSpPr>
        <p:spPr bwMode="auto">
          <a:xfrm>
            <a:off x="41148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0" name="Line 15"/>
          <p:cNvSpPr>
            <a:spLocks noChangeShapeType="1"/>
          </p:cNvSpPr>
          <p:nvPr/>
        </p:nvSpPr>
        <p:spPr bwMode="auto">
          <a:xfrm flipV="1">
            <a:off x="41148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1" name="Line 16"/>
          <p:cNvSpPr>
            <a:spLocks noChangeShapeType="1"/>
          </p:cNvSpPr>
          <p:nvPr/>
        </p:nvSpPr>
        <p:spPr bwMode="auto">
          <a:xfrm>
            <a:off x="45720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2" name="Line 17"/>
          <p:cNvSpPr>
            <a:spLocks noChangeShapeType="1"/>
          </p:cNvSpPr>
          <p:nvPr/>
        </p:nvSpPr>
        <p:spPr bwMode="auto">
          <a:xfrm flipV="1">
            <a:off x="45720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3" name="Line 18"/>
          <p:cNvSpPr>
            <a:spLocks noChangeShapeType="1"/>
          </p:cNvSpPr>
          <p:nvPr/>
        </p:nvSpPr>
        <p:spPr bwMode="auto">
          <a:xfrm>
            <a:off x="50292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4" name="Line 19"/>
          <p:cNvSpPr>
            <a:spLocks noChangeShapeType="1"/>
          </p:cNvSpPr>
          <p:nvPr/>
        </p:nvSpPr>
        <p:spPr bwMode="auto">
          <a:xfrm flipV="1">
            <a:off x="50292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6172200" y="1371600"/>
            <a:ext cx="32004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zh-CN" sz="2400"/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66294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 flipV="1">
            <a:off x="66294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70866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24"/>
          <p:cNvSpPr>
            <a:spLocks noChangeShapeType="1"/>
          </p:cNvSpPr>
          <p:nvPr/>
        </p:nvSpPr>
        <p:spPr bwMode="auto">
          <a:xfrm flipV="1">
            <a:off x="70866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>
            <a:off x="75438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26"/>
          <p:cNvSpPr>
            <a:spLocks noChangeShapeType="1"/>
          </p:cNvSpPr>
          <p:nvPr/>
        </p:nvSpPr>
        <p:spPr bwMode="auto">
          <a:xfrm flipV="1">
            <a:off x="75438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>
            <a:off x="80010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28"/>
          <p:cNvSpPr>
            <a:spLocks noChangeShapeType="1"/>
          </p:cNvSpPr>
          <p:nvPr/>
        </p:nvSpPr>
        <p:spPr bwMode="auto">
          <a:xfrm flipV="1">
            <a:off x="80010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>
            <a:off x="84582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 flipV="1">
            <a:off x="84582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31"/>
          <p:cNvSpPr>
            <a:spLocks noChangeShapeType="1"/>
          </p:cNvSpPr>
          <p:nvPr/>
        </p:nvSpPr>
        <p:spPr bwMode="auto">
          <a:xfrm>
            <a:off x="89154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32"/>
          <p:cNvSpPr>
            <a:spLocks noChangeShapeType="1"/>
          </p:cNvSpPr>
          <p:nvPr/>
        </p:nvSpPr>
        <p:spPr bwMode="auto">
          <a:xfrm flipV="1">
            <a:off x="8915400" y="1219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>
            <a:off x="2286000" y="4086225"/>
            <a:ext cx="32004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" name="Line 34"/>
          <p:cNvSpPr>
            <a:spLocks noChangeShapeType="1"/>
          </p:cNvSpPr>
          <p:nvPr/>
        </p:nvSpPr>
        <p:spPr bwMode="auto">
          <a:xfrm>
            <a:off x="27432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35"/>
          <p:cNvSpPr>
            <a:spLocks noChangeShapeType="1"/>
          </p:cNvSpPr>
          <p:nvPr/>
        </p:nvSpPr>
        <p:spPr bwMode="auto">
          <a:xfrm flipV="1">
            <a:off x="27432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6"/>
          <p:cNvSpPr>
            <a:spLocks noChangeShapeType="1"/>
          </p:cNvSpPr>
          <p:nvPr/>
        </p:nvSpPr>
        <p:spPr bwMode="auto">
          <a:xfrm>
            <a:off x="32004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7"/>
          <p:cNvSpPr>
            <a:spLocks noChangeShapeType="1"/>
          </p:cNvSpPr>
          <p:nvPr/>
        </p:nvSpPr>
        <p:spPr bwMode="auto">
          <a:xfrm flipV="1">
            <a:off x="32004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>
            <a:off x="36576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flipV="1">
            <a:off x="36576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40"/>
          <p:cNvSpPr>
            <a:spLocks noChangeShapeType="1"/>
          </p:cNvSpPr>
          <p:nvPr/>
        </p:nvSpPr>
        <p:spPr bwMode="auto">
          <a:xfrm>
            <a:off x="41148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41148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42"/>
          <p:cNvSpPr>
            <a:spLocks noChangeShapeType="1"/>
          </p:cNvSpPr>
          <p:nvPr/>
        </p:nvSpPr>
        <p:spPr bwMode="auto">
          <a:xfrm>
            <a:off x="45720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 flipV="1">
            <a:off x="45720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44"/>
          <p:cNvSpPr>
            <a:spLocks noChangeShapeType="1"/>
          </p:cNvSpPr>
          <p:nvPr/>
        </p:nvSpPr>
        <p:spPr bwMode="auto">
          <a:xfrm>
            <a:off x="5029200" y="40862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45"/>
          <p:cNvSpPr>
            <a:spLocks noChangeShapeType="1"/>
          </p:cNvSpPr>
          <p:nvPr/>
        </p:nvSpPr>
        <p:spPr bwMode="auto">
          <a:xfrm flipV="1">
            <a:off x="5029200" y="39338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59"/>
          <p:cNvSpPr>
            <a:spLocks noChangeArrowheads="1"/>
          </p:cNvSpPr>
          <p:nvPr/>
        </p:nvSpPr>
        <p:spPr bwMode="auto">
          <a:xfrm>
            <a:off x="6172200" y="4087813"/>
            <a:ext cx="32004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Line 60"/>
          <p:cNvSpPr>
            <a:spLocks noChangeShapeType="1"/>
          </p:cNvSpPr>
          <p:nvPr/>
        </p:nvSpPr>
        <p:spPr bwMode="auto">
          <a:xfrm>
            <a:off x="66294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61"/>
          <p:cNvSpPr>
            <a:spLocks noChangeShapeType="1"/>
          </p:cNvSpPr>
          <p:nvPr/>
        </p:nvSpPr>
        <p:spPr bwMode="auto">
          <a:xfrm flipV="1">
            <a:off x="66294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62"/>
          <p:cNvSpPr>
            <a:spLocks noChangeShapeType="1"/>
          </p:cNvSpPr>
          <p:nvPr/>
        </p:nvSpPr>
        <p:spPr bwMode="auto">
          <a:xfrm>
            <a:off x="70866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63"/>
          <p:cNvSpPr>
            <a:spLocks noChangeShapeType="1"/>
          </p:cNvSpPr>
          <p:nvPr/>
        </p:nvSpPr>
        <p:spPr bwMode="auto">
          <a:xfrm flipV="1">
            <a:off x="70866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Line 64"/>
          <p:cNvSpPr>
            <a:spLocks noChangeShapeType="1"/>
          </p:cNvSpPr>
          <p:nvPr/>
        </p:nvSpPr>
        <p:spPr bwMode="auto">
          <a:xfrm>
            <a:off x="75438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65"/>
          <p:cNvSpPr>
            <a:spLocks noChangeShapeType="1"/>
          </p:cNvSpPr>
          <p:nvPr/>
        </p:nvSpPr>
        <p:spPr bwMode="auto">
          <a:xfrm flipV="1">
            <a:off x="75438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66"/>
          <p:cNvSpPr>
            <a:spLocks noChangeShapeType="1"/>
          </p:cNvSpPr>
          <p:nvPr/>
        </p:nvSpPr>
        <p:spPr bwMode="auto">
          <a:xfrm>
            <a:off x="80010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67"/>
          <p:cNvSpPr>
            <a:spLocks noChangeShapeType="1"/>
          </p:cNvSpPr>
          <p:nvPr/>
        </p:nvSpPr>
        <p:spPr bwMode="auto">
          <a:xfrm flipV="1">
            <a:off x="80010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68"/>
          <p:cNvSpPr>
            <a:spLocks noChangeShapeType="1"/>
          </p:cNvSpPr>
          <p:nvPr/>
        </p:nvSpPr>
        <p:spPr bwMode="auto">
          <a:xfrm>
            <a:off x="84582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69"/>
          <p:cNvSpPr>
            <a:spLocks noChangeShapeType="1"/>
          </p:cNvSpPr>
          <p:nvPr/>
        </p:nvSpPr>
        <p:spPr bwMode="auto">
          <a:xfrm flipV="1">
            <a:off x="84582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70"/>
          <p:cNvSpPr>
            <a:spLocks noChangeShapeType="1"/>
          </p:cNvSpPr>
          <p:nvPr/>
        </p:nvSpPr>
        <p:spPr bwMode="auto">
          <a:xfrm>
            <a:off x="8915400" y="40878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71"/>
          <p:cNvSpPr>
            <a:spLocks noChangeShapeType="1"/>
          </p:cNvSpPr>
          <p:nvPr/>
        </p:nvSpPr>
        <p:spPr bwMode="auto">
          <a:xfrm flipV="1">
            <a:off x="8915400" y="3935413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4" name="Text Box 111"/>
          <p:cNvSpPr txBox="1">
            <a:spLocks noChangeArrowheads="1"/>
          </p:cNvSpPr>
          <p:nvPr/>
        </p:nvSpPr>
        <p:spPr bwMode="auto">
          <a:xfrm>
            <a:off x="2195513" y="19812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66615" name="Text Box 112"/>
          <p:cNvSpPr txBox="1">
            <a:spLocks noChangeArrowheads="1"/>
          </p:cNvSpPr>
          <p:nvPr/>
        </p:nvSpPr>
        <p:spPr bwMode="auto">
          <a:xfrm>
            <a:off x="3041651" y="1981200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66616" name="Line 113"/>
          <p:cNvSpPr>
            <a:spLocks noChangeShapeType="1"/>
          </p:cNvSpPr>
          <p:nvPr/>
        </p:nvSpPr>
        <p:spPr bwMode="auto">
          <a:xfrm>
            <a:off x="2459039" y="1879600"/>
            <a:ext cx="73025" cy="2174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7" name="Line 114"/>
          <p:cNvSpPr>
            <a:spLocks noChangeShapeType="1"/>
          </p:cNvSpPr>
          <p:nvPr/>
        </p:nvSpPr>
        <p:spPr bwMode="auto">
          <a:xfrm flipH="1" flipV="1">
            <a:off x="2566988" y="1881188"/>
            <a:ext cx="557212" cy="25241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8" name="Text Box 115"/>
          <p:cNvSpPr txBox="1">
            <a:spLocks noChangeArrowheads="1"/>
          </p:cNvSpPr>
          <p:nvPr/>
        </p:nvSpPr>
        <p:spPr bwMode="auto">
          <a:xfrm>
            <a:off x="3733801" y="1944688"/>
            <a:ext cx="11795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空队列</a:t>
            </a:r>
          </a:p>
        </p:txBody>
      </p:sp>
      <p:sp>
        <p:nvSpPr>
          <p:cNvPr id="59" name="Text Box 116"/>
          <p:cNvSpPr txBox="1">
            <a:spLocks noChangeArrowheads="1"/>
          </p:cNvSpPr>
          <p:nvPr/>
        </p:nvSpPr>
        <p:spPr bwMode="auto">
          <a:xfrm>
            <a:off x="6126163" y="19812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60" name="Text Box 117"/>
          <p:cNvSpPr txBox="1">
            <a:spLocks noChangeArrowheads="1"/>
          </p:cNvSpPr>
          <p:nvPr/>
        </p:nvSpPr>
        <p:spPr bwMode="auto">
          <a:xfrm>
            <a:off x="6972301" y="1981200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61" name="Line 118"/>
          <p:cNvSpPr>
            <a:spLocks noChangeShapeType="1"/>
          </p:cNvSpPr>
          <p:nvPr/>
        </p:nvSpPr>
        <p:spPr bwMode="auto">
          <a:xfrm>
            <a:off x="6367464" y="1844676"/>
            <a:ext cx="160337" cy="25241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119"/>
          <p:cNvSpPr>
            <a:spLocks noChangeShapeType="1"/>
          </p:cNvSpPr>
          <p:nvPr/>
        </p:nvSpPr>
        <p:spPr bwMode="auto">
          <a:xfrm flipH="1" flipV="1">
            <a:off x="6816726" y="1844676"/>
            <a:ext cx="466725" cy="2889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Text Box 120"/>
          <p:cNvSpPr txBox="1">
            <a:spLocks noChangeArrowheads="1"/>
          </p:cNvSpPr>
          <p:nvPr/>
        </p:nvSpPr>
        <p:spPr bwMode="auto">
          <a:xfrm>
            <a:off x="7664450" y="1966913"/>
            <a:ext cx="1085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A进队</a:t>
            </a:r>
          </a:p>
        </p:txBody>
      </p:sp>
      <p:sp>
        <p:nvSpPr>
          <p:cNvPr id="64" name="Text Box 121"/>
          <p:cNvSpPr txBox="1">
            <a:spLocks noChangeArrowheads="1"/>
          </p:cNvSpPr>
          <p:nvPr/>
        </p:nvSpPr>
        <p:spPr bwMode="auto">
          <a:xfrm>
            <a:off x="6188076" y="130968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A</a:t>
            </a:r>
            <a:endParaRPr lang="zh-CN" altLang="zh-CN" sz="2400"/>
          </a:p>
        </p:txBody>
      </p:sp>
      <p:sp>
        <p:nvSpPr>
          <p:cNvPr id="65" name="Text Box 122"/>
          <p:cNvSpPr txBox="1">
            <a:spLocks noChangeArrowheads="1"/>
          </p:cNvSpPr>
          <p:nvPr/>
        </p:nvSpPr>
        <p:spPr bwMode="auto">
          <a:xfrm>
            <a:off x="2239963" y="469582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66" name="Text Box 123"/>
          <p:cNvSpPr txBox="1">
            <a:spLocks noChangeArrowheads="1"/>
          </p:cNvSpPr>
          <p:nvPr/>
        </p:nvSpPr>
        <p:spPr bwMode="auto">
          <a:xfrm>
            <a:off x="3071813" y="4703763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67" name="Line 124"/>
          <p:cNvSpPr>
            <a:spLocks noChangeShapeType="1"/>
          </p:cNvSpPr>
          <p:nvPr/>
        </p:nvSpPr>
        <p:spPr bwMode="auto">
          <a:xfrm>
            <a:off x="2509838" y="4543425"/>
            <a:ext cx="165100" cy="2682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125"/>
          <p:cNvSpPr>
            <a:spLocks noChangeShapeType="1"/>
          </p:cNvSpPr>
          <p:nvPr/>
        </p:nvSpPr>
        <p:spPr bwMode="auto">
          <a:xfrm flipH="1" flipV="1">
            <a:off x="3378201" y="4543425"/>
            <a:ext cx="125413" cy="2682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126"/>
          <p:cNvSpPr txBox="1">
            <a:spLocks noChangeArrowheads="1"/>
          </p:cNvSpPr>
          <p:nvPr/>
        </p:nvSpPr>
        <p:spPr bwMode="auto">
          <a:xfrm>
            <a:off x="3778250" y="4681538"/>
            <a:ext cx="10683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B进队</a:t>
            </a:r>
          </a:p>
        </p:txBody>
      </p:sp>
      <p:sp>
        <p:nvSpPr>
          <p:cNvPr id="70" name="Text Box 127"/>
          <p:cNvSpPr txBox="1">
            <a:spLocks noChangeArrowheads="1"/>
          </p:cNvSpPr>
          <p:nvPr/>
        </p:nvSpPr>
        <p:spPr bwMode="auto">
          <a:xfrm>
            <a:off x="2344738" y="4024313"/>
            <a:ext cx="855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A  B</a:t>
            </a:r>
            <a:endParaRPr lang="zh-CN" altLang="zh-CN" sz="2400"/>
          </a:p>
        </p:txBody>
      </p:sp>
      <p:sp>
        <p:nvSpPr>
          <p:cNvPr id="71" name="Text Box 128"/>
          <p:cNvSpPr txBox="1">
            <a:spLocks noChangeArrowheads="1"/>
          </p:cNvSpPr>
          <p:nvPr/>
        </p:nvSpPr>
        <p:spPr bwMode="auto">
          <a:xfrm>
            <a:off x="6092825" y="468312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72" name="Text Box 129"/>
          <p:cNvSpPr txBox="1">
            <a:spLocks noChangeArrowheads="1"/>
          </p:cNvSpPr>
          <p:nvPr/>
        </p:nvSpPr>
        <p:spPr bwMode="auto">
          <a:xfrm>
            <a:off x="6938963" y="4683125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73" name="Line 130"/>
          <p:cNvSpPr>
            <a:spLocks noChangeShapeType="1"/>
          </p:cNvSpPr>
          <p:nvPr/>
        </p:nvSpPr>
        <p:spPr bwMode="auto">
          <a:xfrm>
            <a:off x="6419851" y="4562476"/>
            <a:ext cx="144463" cy="2508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131"/>
          <p:cNvSpPr>
            <a:spLocks noChangeShapeType="1"/>
          </p:cNvSpPr>
          <p:nvPr/>
        </p:nvSpPr>
        <p:spPr bwMode="auto">
          <a:xfrm flipV="1">
            <a:off x="7356476" y="4562476"/>
            <a:ext cx="817563" cy="25082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Text Box 132"/>
          <p:cNvSpPr txBox="1">
            <a:spLocks noChangeArrowheads="1"/>
          </p:cNvSpPr>
          <p:nvPr/>
        </p:nvSpPr>
        <p:spPr bwMode="auto">
          <a:xfrm>
            <a:off x="7775576" y="4668838"/>
            <a:ext cx="148907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C, D进队</a:t>
            </a:r>
          </a:p>
        </p:txBody>
      </p:sp>
      <p:sp>
        <p:nvSpPr>
          <p:cNvPr id="76" name="Text Box 133"/>
          <p:cNvSpPr txBox="1">
            <a:spLocks noChangeArrowheads="1"/>
          </p:cNvSpPr>
          <p:nvPr/>
        </p:nvSpPr>
        <p:spPr bwMode="auto">
          <a:xfrm>
            <a:off x="6197601" y="4025901"/>
            <a:ext cx="1814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A  B   C  D</a:t>
            </a:r>
            <a:endParaRPr lang="zh-CN" altLang="zh-CN" sz="2400"/>
          </a:p>
        </p:txBody>
      </p:sp>
      <p:sp>
        <p:nvSpPr>
          <p:cNvPr id="66637" name="标题 7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顺序队列入队</a:t>
            </a:r>
          </a:p>
        </p:txBody>
      </p:sp>
      <p:sp>
        <p:nvSpPr>
          <p:cNvPr id="66638" name="内容占位符 7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9" grpId="0"/>
      <p:bldP spid="60" grpId="0"/>
      <p:bldP spid="61" grpId="0" animBg="1"/>
      <p:bldP spid="62" grpId="0" animBg="1"/>
      <p:bldP spid="63" grpId="0"/>
      <p:bldP spid="64" grpId="0"/>
      <p:bldP spid="65" grpId="0"/>
      <p:bldP spid="66" grpId="0"/>
      <p:bldP spid="67" grpId="0" animBg="1"/>
      <p:bldP spid="68" grpId="0" animBg="1"/>
      <p:bldP spid="69" grpId="0"/>
      <p:bldP spid="70" grpId="0"/>
      <p:bldP spid="71" grpId="0"/>
      <p:bldP spid="72" grpId="0"/>
      <p:bldP spid="73" grpId="0" animBg="1"/>
      <p:bldP spid="74" grpId="0" animBg="1"/>
      <p:bldP spid="75" grpId="0"/>
      <p:bldP spid="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72200" y="4371975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6000" y="4371975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72200" y="1709738"/>
            <a:ext cx="914400" cy="457200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2286000" y="1709738"/>
            <a:ext cx="457200" cy="457200"/>
          </a:xfrm>
          <a:prstGeom prst="rect">
            <a:avLst/>
          </a:prstGeom>
          <a:solidFill>
            <a:srgbClr val="969696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0" name="Rectangle 46"/>
          <p:cNvSpPr>
            <a:spLocks noChangeArrowheads="1"/>
          </p:cNvSpPr>
          <p:nvPr/>
        </p:nvSpPr>
        <p:spPr bwMode="auto">
          <a:xfrm>
            <a:off x="2743200" y="1709738"/>
            <a:ext cx="27432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591" name="Line 47"/>
          <p:cNvSpPr>
            <a:spLocks noChangeShapeType="1"/>
          </p:cNvSpPr>
          <p:nvPr/>
        </p:nvSpPr>
        <p:spPr bwMode="auto">
          <a:xfrm>
            <a:off x="27432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2" name="Line 48"/>
          <p:cNvSpPr>
            <a:spLocks noChangeShapeType="1"/>
          </p:cNvSpPr>
          <p:nvPr/>
        </p:nvSpPr>
        <p:spPr bwMode="auto">
          <a:xfrm flipV="1">
            <a:off x="27432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Line 49"/>
          <p:cNvSpPr>
            <a:spLocks noChangeShapeType="1"/>
          </p:cNvSpPr>
          <p:nvPr/>
        </p:nvSpPr>
        <p:spPr bwMode="auto">
          <a:xfrm>
            <a:off x="32004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4" name="Line 50"/>
          <p:cNvSpPr>
            <a:spLocks noChangeShapeType="1"/>
          </p:cNvSpPr>
          <p:nvPr/>
        </p:nvSpPr>
        <p:spPr bwMode="auto">
          <a:xfrm flipV="1">
            <a:off x="32004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5" name="Line 51"/>
          <p:cNvSpPr>
            <a:spLocks noChangeShapeType="1"/>
          </p:cNvSpPr>
          <p:nvPr/>
        </p:nvSpPr>
        <p:spPr bwMode="auto">
          <a:xfrm>
            <a:off x="36576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6" name="Line 52"/>
          <p:cNvSpPr>
            <a:spLocks noChangeShapeType="1"/>
          </p:cNvSpPr>
          <p:nvPr/>
        </p:nvSpPr>
        <p:spPr bwMode="auto">
          <a:xfrm flipV="1">
            <a:off x="36576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7" name="Line 53"/>
          <p:cNvSpPr>
            <a:spLocks noChangeShapeType="1"/>
          </p:cNvSpPr>
          <p:nvPr/>
        </p:nvSpPr>
        <p:spPr bwMode="auto">
          <a:xfrm>
            <a:off x="41148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8" name="Line 54"/>
          <p:cNvSpPr>
            <a:spLocks noChangeShapeType="1"/>
          </p:cNvSpPr>
          <p:nvPr/>
        </p:nvSpPr>
        <p:spPr bwMode="auto">
          <a:xfrm flipV="1">
            <a:off x="41148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9" name="Line 55"/>
          <p:cNvSpPr>
            <a:spLocks noChangeShapeType="1"/>
          </p:cNvSpPr>
          <p:nvPr/>
        </p:nvSpPr>
        <p:spPr bwMode="auto">
          <a:xfrm>
            <a:off x="45720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0" name="Line 56"/>
          <p:cNvSpPr>
            <a:spLocks noChangeShapeType="1"/>
          </p:cNvSpPr>
          <p:nvPr/>
        </p:nvSpPr>
        <p:spPr bwMode="auto">
          <a:xfrm flipV="1">
            <a:off x="45720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1" name="Line 57"/>
          <p:cNvSpPr>
            <a:spLocks noChangeShapeType="1"/>
          </p:cNvSpPr>
          <p:nvPr/>
        </p:nvSpPr>
        <p:spPr bwMode="auto">
          <a:xfrm>
            <a:off x="50292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02" name="Line 58"/>
          <p:cNvSpPr>
            <a:spLocks noChangeShapeType="1"/>
          </p:cNvSpPr>
          <p:nvPr/>
        </p:nvSpPr>
        <p:spPr bwMode="auto">
          <a:xfrm flipV="1">
            <a:off x="50292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72"/>
          <p:cNvSpPr>
            <a:spLocks noChangeArrowheads="1"/>
          </p:cNvSpPr>
          <p:nvPr/>
        </p:nvSpPr>
        <p:spPr bwMode="auto">
          <a:xfrm>
            <a:off x="7086600" y="1709738"/>
            <a:ext cx="22860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66294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 flipV="1">
            <a:off x="66294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5"/>
          <p:cNvSpPr>
            <a:spLocks noChangeShapeType="1"/>
          </p:cNvSpPr>
          <p:nvPr/>
        </p:nvSpPr>
        <p:spPr bwMode="auto">
          <a:xfrm>
            <a:off x="70866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76"/>
          <p:cNvSpPr>
            <a:spLocks noChangeShapeType="1"/>
          </p:cNvSpPr>
          <p:nvPr/>
        </p:nvSpPr>
        <p:spPr bwMode="auto">
          <a:xfrm flipV="1">
            <a:off x="70866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77"/>
          <p:cNvSpPr>
            <a:spLocks noChangeShapeType="1"/>
          </p:cNvSpPr>
          <p:nvPr/>
        </p:nvSpPr>
        <p:spPr bwMode="auto">
          <a:xfrm>
            <a:off x="75438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78"/>
          <p:cNvSpPr>
            <a:spLocks noChangeShapeType="1"/>
          </p:cNvSpPr>
          <p:nvPr/>
        </p:nvSpPr>
        <p:spPr bwMode="auto">
          <a:xfrm flipV="1">
            <a:off x="75438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79"/>
          <p:cNvSpPr>
            <a:spLocks noChangeShapeType="1"/>
          </p:cNvSpPr>
          <p:nvPr/>
        </p:nvSpPr>
        <p:spPr bwMode="auto">
          <a:xfrm>
            <a:off x="80010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80"/>
          <p:cNvSpPr>
            <a:spLocks noChangeShapeType="1"/>
          </p:cNvSpPr>
          <p:nvPr/>
        </p:nvSpPr>
        <p:spPr bwMode="auto">
          <a:xfrm flipV="1">
            <a:off x="80010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81"/>
          <p:cNvSpPr>
            <a:spLocks noChangeShapeType="1"/>
          </p:cNvSpPr>
          <p:nvPr/>
        </p:nvSpPr>
        <p:spPr bwMode="auto">
          <a:xfrm>
            <a:off x="84582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82"/>
          <p:cNvSpPr>
            <a:spLocks noChangeShapeType="1"/>
          </p:cNvSpPr>
          <p:nvPr/>
        </p:nvSpPr>
        <p:spPr bwMode="auto">
          <a:xfrm flipV="1">
            <a:off x="84582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83"/>
          <p:cNvSpPr>
            <a:spLocks noChangeShapeType="1"/>
          </p:cNvSpPr>
          <p:nvPr/>
        </p:nvSpPr>
        <p:spPr bwMode="auto">
          <a:xfrm>
            <a:off x="8915400" y="17097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4"/>
          <p:cNvSpPr>
            <a:spLocks noChangeShapeType="1"/>
          </p:cNvSpPr>
          <p:nvPr/>
        </p:nvSpPr>
        <p:spPr bwMode="auto">
          <a:xfrm flipV="1">
            <a:off x="8915400" y="1557338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85"/>
          <p:cNvSpPr>
            <a:spLocks noChangeArrowheads="1"/>
          </p:cNvSpPr>
          <p:nvPr/>
        </p:nvSpPr>
        <p:spPr bwMode="auto">
          <a:xfrm>
            <a:off x="7086600" y="4371975"/>
            <a:ext cx="22860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Line 86"/>
          <p:cNvSpPr>
            <a:spLocks noChangeShapeType="1"/>
          </p:cNvSpPr>
          <p:nvPr/>
        </p:nvSpPr>
        <p:spPr bwMode="auto">
          <a:xfrm>
            <a:off x="66294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87"/>
          <p:cNvSpPr>
            <a:spLocks noChangeShapeType="1"/>
          </p:cNvSpPr>
          <p:nvPr/>
        </p:nvSpPr>
        <p:spPr bwMode="auto">
          <a:xfrm flipV="1">
            <a:off x="66294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88"/>
          <p:cNvSpPr>
            <a:spLocks noChangeShapeType="1"/>
          </p:cNvSpPr>
          <p:nvPr/>
        </p:nvSpPr>
        <p:spPr bwMode="auto">
          <a:xfrm>
            <a:off x="70866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89"/>
          <p:cNvSpPr>
            <a:spLocks noChangeShapeType="1"/>
          </p:cNvSpPr>
          <p:nvPr/>
        </p:nvSpPr>
        <p:spPr bwMode="auto">
          <a:xfrm flipV="1">
            <a:off x="70866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90"/>
          <p:cNvSpPr>
            <a:spLocks noChangeShapeType="1"/>
          </p:cNvSpPr>
          <p:nvPr/>
        </p:nvSpPr>
        <p:spPr bwMode="auto">
          <a:xfrm>
            <a:off x="75438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91"/>
          <p:cNvSpPr>
            <a:spLocks noChangeShapeType="1"/>
          </p:cNvSpPr>
          <p:nvPr/>
        </p:nvSpPr>
        <p:spPr bwMode="auto">
          <a:xfrm flipV="1">
            <a:off x="75438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92"/>
          <p:cNvSpPr>
            <a:spLocks noChangeShapeType="1"/>
          </p:cNvSpPr>
          <p:nvPr/>
        </p:nvSpPr>
        <p:spPr bwMode="auto">
          <a:xfrm>
            <a:off x="80010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93"/>
          <p:cNvSpPr>
            <a:spLocks noChangeShapeType="1"/>
          </p:cNvSpPr>
          <p:nvPr/>
        </p:nvSpPr>
        <p:spPr bwMode="auto">
          <a:xfrm flipV="1">
            <a:off x="80010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94"/>
          <p:cNvSpPr>
            <a:spLocks noChangeShapeType="1"/>
          </p:cNvSpPr>
          <p:nvPr/>
        </p:nvSpPr>
        <p:spPr bwMode="auto">
          <a:xfrm>
            <a:off x="84582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95"/>
          <p:cNvSpPr>
            <a:spLocks noChangeShapeType="1"/>
          </p:cNvSpPr>
          <p:nvPr/>
        </p:nvSpPr>
        <p:spPr bwMode="auto">
          <a:xfrm flipV="1">
            <a:off x="84582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96"/>
          <p:cNvSpPr>
            <a:spLocks noChangeShapeType="1"/>
          </p:cNvSpPr>
          <p:nvPr/>
        </p:nvSpPr>
        <p:spPr bwMode="auto">
          <a:xfrm>
            <a:off x="89154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Line 97"/>
          <p:cNvSpPr>
            <a:spLocks noChangeShapeType="1"/>
          </p:cNvSpPr>
          <p:nvPr/>
        </p:nvSpPr>
        <p:spPr bwMode="auto">
          <a:xfrm flipV="1">
            <a:off x="89154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Rectangle 98"/>
          <p:cNvSpPr>
            <a:spLocks noChangeArrowheads="1"/>
          </p:cNvSpPr>
          <p:nvPr/>
        </p:nvSpPr>
        <p:spPr bwMode="auto">
          <a:xfrm>
            <a:off x="3200400" y="4371975"/>
            <a:ext cx="2286000" cy="457200"/>
          </a:xfrm>
          <a:prstGeom prst="rect">
            <a:avLst/>
          </a:prstGeom>
          <a:solidFill>
            <a:schemeClr val="bg1"/>
          </a:solidFill>
          <a:ln w="9525">
            <a:miter lim="800000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  <a:contourClr>
              <a:schemeClr val="bg1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" name="Line 99"/>
          <p:cNvSpPr>
            <a:spLocks noChangeShapeType="1"/>
          </p:cNvSpPr>
          <p:nvPr/>
        </p:nvSpPr>
        <p:spPr bwMode="auto">
          <a:xfrm>
            <a:off x="27432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Line 100"/>
          <p:cNvSpPr>
            <a:spLocks noChangeShapeType="1"/>
          </p:cNvSpPr>
          <p:nvPr/>
        </p:nvSpPr>
        <p:spPr bwMode="auto">
          <a:xfrm flipV="1">
            <a:off x="27432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Line 101"/>
          <p:cNvSpPr>
            <a:spLocks noChangeShapeType="1"/>
          </p:cNvSpPr>
          <p:nvPr/>
        </p:nvSpPr>
        <p:spPr bwMode="auto">
          <a:xfrm>
            <a:off x="32004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Line 102"/>
          <p:cNvSpPr>
            <a:spLocks noChangeShapeType="1"/>
          </p:cNvSpPr>
          <p:nvPr/>
        </p:nvSpPr>
        <p:spPr bwMode="auto">
          <a:xfrm flipV="1">
            <a:off x="32004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Line 103"/>
          <p:cNvSpPr>
            <a:spLocks noChangeShapeType="1"/>
          </p:cNvSpPr>
          <p:nvPr/>
        </p:nvSpPr>
        <p:spPr bwMode="auto">
          <a:xfrm>
            <a:off x="36576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Line 104"/>
          <p:cNvSpPr>
            <a:spLocks noChangeShapeType="1"/>
          </p:cNvSpPr>
          <p:nvPr/>
        </p:nvSpPr>
        <p:spPr bwMode="auto">
          <a:xfrm flipV="1">
            <a:off x="36576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Line 105"/>
          <p:cNvSpPr>
            <a:spLocks noChangeShapeType="1"/>
          </p:cNvSpPr>
          <p:nvPr/>
        </p:nvSpPr>
        <p:spPr bwMode="auto">
          <a:xfrm>
            <a:off x="41148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106"/>
          <p:cNvSpPr>
            <a:spLocks noChangeShapeType="1"/>
          </p:cNvSpPr>
          <p:nvPr/>
        </p:nvSpPr>
        <p:spPr bwMode="auto">
          <a:xfrm flipV="1">
            <a:off x="41148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107"/>
          <p:cNvSpPr>
            <a:spLocks noChangeShapeType="1"/>
          </p:cNvSpPr>
          <p:nvPr/>
        </p:nvSpPr>
        <p:spPr bwMode="auto">
          <a:xfrm>
            <a:off x="45720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Line 108"/>
          <p:cNvSpPr>
            <a:spLocks noChangeShapeType="1"/>
          </p:cNvSpPr>
          <p:nvPr/>
        </p:nvSpPr>
        <p:spPr bwMode="auto">
          <a:xfrm flipV="1">
            <a:off x="45720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109"/>
          <p:cNvSpPr>
            <a:spLocks noChangeShapeType="1"/>
          </p:cNvSpPr>
          <p:nvPr/>
        </p:nvSpPr>
        <p:spPr bwMode="auto">
          <a:xfrm>
            <a:off x="5029200" y="4371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110"/>
          <p:cNvSpPr>
            <a:spLocks noChangeShapeType="1"/>
          </p:cNvSpPr>
          <p:nvPr/>
        </p:nvSpPr>
        <p:spPr bwMode="auto">
          <a:xfrm flipV="1">
            <a:off x="5029200" y="4213225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42" name="Text Box 134"/>
          <p:cNvSpPr txBox="1">
            <a:spLocks noChangeArrowheads="1"/>
          </p:cNvSpPr>
          <p:nvPr/>
        </p:nvSpPr>
        <p:spPr bwMode="auto">
          <a:xfrm>
            <a:off x="2239963" y="230505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67643" name="Text Box 135"/>
          <p:cNvSpPr txBox="1">
            <a:spLocks noChangeArrowheads="1"/>
          </p:cNvSpPr>
          <p:nvPr/>
        </p:nvSpPr>
        <p:spPr bwMode="auto">
          <a:xfrm>
            <a:off x="3086101" y="2305050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67644" name="Line 136"/>
          <p:cNvSpPr>
            <a:spLocks noChangeShapeType="1"/>
          </p:cNvSpPr>
          <p:nvPr/>
        </p:nvSpPr>
        <p:spPr bwMode="auto">
          <a:xfrm flipH="1">
            <a:off x="2743201" y="2184400"/>
            <a:ext cx="220663" cy="2873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45" name="Line 137"/>
          <p:cNvSpPr>
            <a:spLocks noChangeShapeType="1"/>
          </p:cNvSpPr>
          <p:nvPr/>
        </p:nvSpPr>
        <p:spPr bwMode="auto">
          <a:xfrm flipV="1">
            <a:off x="3505201" y="2184400"/>
            <a:ext cx="790575" cy="2873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646" name="Text Box 138"/>
          <p:cNvSpPr txBox="1">
            <a:spLocks noChangeArrowheads="1"/>
          </p:cNvSpPr>
          <p:nvPr/>
        </p:nvSpPr>
        <p:spPr bwMode="auto">
          <a:xfrm>
            <a:off x="3930650" y="2290763"/>
            <a:ext cx="1085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A退队</a:t>
            </a:r>
          </a:p>
        </p:txBody>
      </p:sp>
      <p:sp>
        <p:nvSpPr>
          <p:cNvPr id="67647" name="Text Box 139"/>
          <p:cNvSpPr txBox="1">
            <a:spLocks noChangeArrowheads="1"/>
          </p:cNvSpPr>
          <p:nvPr/>
        </p:nvSpPr>
        <p:spPr bwMode="auto">
          <a:xfrm>
            <a:off x="2747964" y="1633538"/>
            <a:ext cx="1290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B  C  D</a:t>
            </a:r>
            <a:endParaRPr lang="zh-CN" altLang="zh-CN" sz="2400"/>
          </a:p>
        </p:txBody>
      </p:sp>
      <p:sp>
        <p:nvSpPr>
          <p:cNvPr id="65" name="Text Box 140"/>
          <p:cNvSpPr txBox="1">
            <a:spLocks noChangeArrowheads="1"/>
          </p:cNvSpPr>
          <p:nvPr/>
        </p:nvSpPr>
        <p:spPr bwMode="auto">
          <a:xfrm>
            <a:off x="6092825" y="230505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66" name="Text Box 141"/>
          <p:cNvSpPr txBox="1">
            <a:spLocks noChangeArrowheads="1"/>
          </p:cNvSpPr>
          <p:nvPr/>
        </p:nvSpPr>
        <p:spPr bwMode="auto">
          <a:xfrm>
            <a:off x="6938963" y="2305050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67" name="Line 142"/>
          <p:cNvSpPr>
            <a:spLocks noChangeShapeType="1"/>
          </p:cNvSpPr>
          <p:nvPr/>
        </p:nvSpPr>
        <p:spPr bwMode="auto">
          <a:xfrm flipH="1">
            <a:off x="6596064" y="2184400"/>
            <a:ext cx="687387" cy="2873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143"/>
          <p:cNvSpPr>
            <a:spLocks noChangeShapeType="1"/>
          </p:cNvSpPr>
          <p:nvPr/>
        </p:nvSpPr>
        <p:spPr bwMode="auto">
          <a:xfrm flipV="1">
            <a:off x="7358064" y="2184400"/>
            <a:ext cx="790575" cy="2873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144"/>
          <p:cNvSpPr txBox="1">
            <a:spLocks noChangeArrowheads="1"/>
          </p:cNvSpPr>
          <p:nvPr/>
        </p:nvSpPr>
        <p:spPr bwMode="auto">
          <a:xfrm>
            <a:off x="7799389" y="2290763"/>
            <a:ext cx="10683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B退队</a:t>
            </a:r>
          </a:p>
        </p:txBody>
      </p:sp>
      <p:sp>
        <p:nvSpPr>
          <p:cNvPr id="70" name="Text Box 145"/>
          <p:cNvSpPr txBox="1">
            <a:spLocks noChangeArrowheads="1"/>
          </p:cNvSpPr>
          <p:nvPr/>
        </p:nvSpPr>
        <p:spPr bwMode="auto">
          <a:xfrm>
            <a:off x="7124700" y="1633538"/>
            <a:ext cx="876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C  D</a:t>
            </a:r>
            <a:endParaRPr lang="zh-CN" altLang="zh-CN" sz="2400"/>
          </a:p>
        </p:txBody>
      </p:sp>
      <p:sp>
        <p:nvSpPr>
          <p:cNvPr id="71" name="Text Box 146"/>
          <p:cNvSpPr txBox="1">
            <a:spLocks noChangeArrowheads="1"/>
          </p:cNvSpPr>
          <p:nvPr/>
        </p:nvSpPr>
        <p:spPr bwMode="auto">
          <a:xfrm>
            <a:off x="2209800" y="49672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72" name="Text Box 147"/>
          <p:cNvSpPr txBox="1">
            <a:spLocks noChangeArrowheads="1"/>
          </p:cNvSpPr>
          <p:nvPr/>
        </p:nvSpPr>
        <p:spPr bwMode="auto">
          <a:xfrm>
            <a:off x="3055938" y="496728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73" name="Line 148"/>
          <p:cNvSpPr>
            <a:spLocks noChangeShapeType="1"/>
          </p:cNvSpPr>
          <p:nvPr/>
        </p:nvSpPr>
        <p:spPr bwMode="auto">
          <a:xfrm flipH="1">
            <a:off x="2713039" y="4848225"/>
            <a:ext cx="719137" cy="2857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Line 149"/>
          <p:cNvSpPr>
            <a:spLocks noChangeShapeType="1"/>
          </p:cNvSpPr>
          <p:nvPr/>
        </p:nvSpPr>
        <p:spPr bwMode="auto">
          <a:xfrm flipV="1">
            <a:off x="3475039" y="4848225"/>
            <a:ext cx="2225675" cy="2857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Text Box 150"/>
          <p:cNvSpPr txBox="1">
            <a:spLocks noChangeArrowheads="1"/>
          </p:cNvSpPr>
          <p:nvPr/>
        </p:nvSpPr>
        <p:spPr bwMode="auto">
          <a:xfrm>
            <a:off x="4260850" y="4953000"/>
            <a:ext cx="16906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E,F,G进队</a:t>
            </a:r>
          </a:p>
        </p:txBody>
      </p:sp>
      <p:sp>
        <p:nvSpPr>
          <p:cNvPr id="76" name="Text Box 151"/>
          <p:cNvSpPr txBox="1">
            <a:spLocks noChangeArrowheads="1"/>
          </p:cNvSpPr>
          <p:nvPr/>
        </p:nvSpPr>
        <p:spPr bwMode="auto">
          <a:xfrm>
            <a:off x="3238500" y="4310063"/>
            <a:ext cx="2228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C  D  E  F   G</a:t>
            </a:r>
            <a:endParaRPr lang="zh-CN" altLang="zh-CN" sz="2400"/>
          </a:p>
        </p:txBody>
      </p:sp>
      <p:sp>
        <p:nvSpPr>
          <p:cNvPr id="77" name="Text Box 152"/>
          <p:cNvSpPr txBox="1">
            <a:spLocks noChangeArrowheads="1"/>
          </p:cNvSpPr>
          <p:nvPr/>
        </p:nvSpPr>
        <p:spPr bwMode="auto">
          <a:xfrm>
            <a:off x="7162800" y="4310063"/>
            <a:ext cx="2228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/>
              <a:t>C  D  E  F   G</a:t>
            </a:r>
            <a:endParaRPr lang="zh-CN" altLang="zh-CN" sz="2400"/>
          </a:p>
        </p:txBody>
      </p:sp>
      <p:sp>
        <p:nvSpPr>
          <p:cNvPr id="78" name="Text Box 153"/>
          <p:cNvSpPr txBox="1">
            <a:spLocks noChangeArrowheads="1"/>
          </p:cNvSpPr>
          <p:nvPr/>
        </p:nvSpPr>
        <p:spPr bwMode="auto">
          <a:xfrm>
            <a:off x="6076950" y="49530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front</a:t>
            </a:r>
          </a:p>
        </p:txBody>
      </p:sp>
      <p:sp>
        <p:nvSpPr>
          <p:cNvPr id="79" name="Text Box 154"/>
          <p:cNvSpPr txBox="1">
            <a:spLocks noChangeArrowheads="1"/>
          </p:cNvSpPr>
          <p:nvPr/>
        </p:nvSpPr>
        <p:spPr bwMode="auto">
          <a:xfrm>
            <a:off x="6923088" y="4953000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400"/>
              <a:t>rear</a:t>
            </a:r>
          </a:p>
        </p:txBody>
      </p:sp>
      <p:sp>
        <p:nvSpPr>
          <p:cNvPr id="80" name="Line 155"/>
          <p:cNvSpPr>
            <a:spLocks noChangeShapeType="1"/>
          </p:cNvSpPr>
          <p:nvPr/>
        </p:nvSpPr>
        <p:spPr bwMode="auto">
          <a:xfrm flipH="1">
            <a:off x="6580188" y="4848226"/>
            <a:ext cx="703262" cy="271463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156"/>
          <p:cNvSpPr>
            <a:spLocks noChangeShapeType="1"/>
          </p:cNvSpPr>
          <p:nvPr/>
        </p:nvSpPr>
        <p:spPr bwMode="auto">
          <a:xfrm flipV="1">
            <a:off x="7342188" y="4811714"/>
            <a:ext cx="2246312" cy="307975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Text Box 157"/>
          <p:cNvSpPr txBox="1">
            <a:spLocks noChangeArrowheads="1"/>
          </p:cNvSpPr>
          <p:nvPr/>
        </p:nvSpPr>
        <p:spPr bwMode="auto">
          <a:xfrm>
            <a:off x="8245476" y="4938713"/>
            <a:ext cx="18510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600">
                <a:ea typeface="隶书" panose="02010509060101010101" pitchFamily="49" charset="-122"/>
              </a:rPr>
              <a:t>H进队,溢出</a:t>
            </a:r>
          </a:p>
        </p:txBody>
      </p:sp>
      <p:sp>
        <p:nvSpPr>
          <p:cNvPr id="67666" name="标题 8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顺序队列出队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5" grpId="0"/>
      <p:bldP spid="66" grpId="0"/>
      <p:bldP spid="67" grpId="0" animBg="1"/>
      <p:bldP spid="68" grpId="0" animBg="1"/>
      <p:bldP spid="69" grpId="0"/>
      <p:bldP spid="70" grpId="0"/>
      <p:bldP spid="71" grpId="0"/>
      <p:bldP spid="72" grpId="0"/>
      <p:bldP spid="73" grpId="0" animBg="1"/>
      <p:bldP spid="74" grpId="0" animBg="1"/>
      <p:bldP spid="75" grpId="0"/>
      <p:bldP spid="76" grpId="0"/>
      <p:bldP spid="77" grpId="0"/>
      <p:bldP spid="78" grpId="0"/>
      <p:bldP spid="79" grpId="0"/>
      <p:bldP spid="80" grpId="0" animBg="1"/>
      <p:bldP spid="81" grpId="0" animBg="1"/>
      <p:bldP spid="8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假溢出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入队和出队操作中，头、尾指针只增加不减小，致使被删除元素的空间永远无法重新利用。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因此，尽管队列中实际元素个数可能远远小于数组大小，但可能由于尾指针巳超出向量空间的上界而不能做入队操作。该现象称为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假溢出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解决假溢出方法：将队列元素存放数组首尾相接，形成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循环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环形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队列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0" y="115889"/>
            <a:ext cx="9144000" cy="446087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sz="4800" dirty="0" err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循环队列</a:t>
            </a:r>
            <a:r>
              <a:rPr sz="4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 </a:t>
            </a:r>
            <a:r>
              <a:rPr lang="en-US" altLang="zh-CN" sz="48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(Circular Queue)</a:t>
            </a:r>
            <a:endParaRPr lang="en-US" altLang="zh-CN" sz="4800" dirty="0">
              <a:ea typeface="楷体_GB2312" pitchFamily="49" charset="-122"/>
            </a:endParaRPr>
          </a:p>
        </p:txBody>
      </p:sp>
      <p:sp>
        <p:nvSpPr>
          <p:cNvPr id="389122" name="Rectangle 2"/>
          <p:cNvSpPr>
            <a:spLocks noGrp="1" noChangeArrowheads="1"/>
          </p:cNvSpPr>
          <p:nvPr>
            <p:ph idx="1"/>
          </p:nvPr>
        </p:nvSpPr>
        <p:spPr>
          <a:xfrm>
            <a:off x="695400" y="765175"/>
            <a:ext cx="10945216" cy="532765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05000"/>
              </a:lnSpc>
              <a:spcBef>
                <a:spcPct val="15000"/>
              </a:spcBef>
              <a:buClr>
                <a:srgbClr val="FF6600"/>
              </a:buClr>
              <a:buSzPct val="5000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队列存放数组被当作首尾相接的表处理。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endParaRPr lang="en-US" altLang="zh-CN" sz="32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105000"/>
              </a:lnSpc>
              <a:spcBef>
                <a:spcPct val="15000"/>
              </a:spcBef>
              <a:buClr>
                <a:srgbClr val="FF6600"/>
              </a:buClr>
              <a:buSzPct val="5000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出队、入队操作时，队首、队尾指针仍要自加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，朝前移动。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105000"/>
              </a:lnSpc>
              <a:spcBef>
                <a:spcPct val="15000"/>
              </a:spcBef>
              <a:buClr>
                <a:srgbClr val="FF6600"/>
              </a:buClr>
              <a:buSzPct val="50000"/>
              <a:buNone/>
              <a:defRPr/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只不过当队首、队尾指针指向向量上界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(MAX_QUEUE_SIZE-1)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时，其加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操作的结果是指向向量的下界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55600" lvl="1" indent="363855" eaLnBrk="1" hangingPunct="1">
              <a:lnSpc>
                <a:spcPct val="110000"/>
              </a:lnSpc>
              <a:defRPr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if  (i+1==MAX_QUEUE_SIZE)  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=0;</a:t>
            </a:r>
          </a:p>
          <a:p>
            <a:pPr marL="355600" lvl="1" indent="363855" eaLnBrk="1" hangingPunct="1">
              <a:lnSpc>
                <a:spcPct val="110000"/>
              </a:lnSpc>
              <a:defRPr/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else    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++ ;</a:t>
            </a:r>
          </a:p>
          <a:p>
            <a:pPr marL="355600" lvl="1" indent="363855" eaLnBrk="1" hangingPunct="1">
              <a:lnSpc>
                <a:spcPct val="110000"/>
              </a:lnSpc>
              <a:defRPr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其中：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代表队首指针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(front)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或队尾指针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(rear)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endParaRPr lang="zh-CN" altLang="en-US" sz="32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9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9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15000"/>
              </a:spcBef>
              <a:buClr>
                <a:srgbClr val="FF66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队头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、队尾</a:t>
            </a: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rear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自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加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时从</a:t>
            </a:r>
            <a:r>
              <a:rPr lang="en-US" altLang="zh-CN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maxSize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-1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直接进到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0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，可用语言的取模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(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余数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)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运算实现。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队头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</a:t>
            </a: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自加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1:  front = (front+1) % </a:t>
            </a:r>
            <a:r>
              <a:rPr lang="en-US" altLang="zh-CN" dirty="0" err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maxSize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;</a:t>
            </a:r>
            <a:endParaRPr lang="en-US" altLang="zh-CN" dirty="0">
              <a:ea typeface="仿宋_GB2312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队尾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rear</a:t>
            </a: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自加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1:  rear = (rear+1) % </a:t>
            </a:r>
            <a:r>
              <a:rPr lang="en-US" altLang="zh-CN" dirty="0" err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maxSize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队列初始化：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 = rear = 0;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2" descr="再生纸"/>
          <p:cNvSpPr>
            <a:spLocks noChangeArrowheads="1"/>
          </p:cNvSpPr>
          <p:nvPr/>
        </p:nvSpPr>
        <p:spPr bwMode="auto">
          <a:xfrm>
            <a:off x="2514600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3" name="Line 3"/>
          <p:cNvSpPr>
            <a:spLocks noChangeShapeType="1"/>
          </p:cNvSpPr>
          <p:nvPr/>
        </p:nvSpPr>
        <p:spPr bwMode="auto">
          <a:xfrm>
            <a:off x="34290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4" name="Line 4"/>
          <p:cNvSpPr>
            <a:spLocks noChangeShapeType="1"/>
          </p:cNvSpPr>
          <p:nvPr/>
        </p:nvSpPr>
        <p:spPr bwMode="auto">
          <a:xfrm>
            <a:off x="2514600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5" name="Line 5"/>
          <p:cNvSpPr>
            <a:spLocks noChangeShapeType="1"/>
          </p:cNvSpPr>
          <p:nvPr/>
        </p:nvSpPr>
        <p:spPr bwMode="auto">
          <a:xfrm>
            <a:off x="2819400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Line 6"/>
          <p:cNvSpPr>
            <a:spLocks noChangeShapeType="1"/>
          </p:cNvSpPr>
          <p:nvPr/>
        </p:nvSpPr>
        <p:spPr bwMode="auto">
          <a:xfrm flipH="1">
            <a:off x="2819400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Oval 7"/>
          <p:cNvSpPr>
            <a:spLocks noChangeArrowheads="1"/>
          </p:cNvSpPr>
          <p:nvPr/>
        </p:nvSpPr>
        <p:spPr bwMode="auto">
          <a:xfrm>
            <a:off x="2971800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4267200" y="1423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4235450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3625850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2819400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2286000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693" name="Rectangle 13"/>
          <p:cNvSpPr>
            <a:spLocks noChangeArrowheads="1"/>
          </p:cNvSpPr>
          <p:nvPr/>
        </p:nvSpPr>
        <p:spPr bwMode="auto">
          <a:xfrm>
            <a:off x="2286000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694" name="Rectangle 14"/>
          <p:cNvSpPr>
            <a:spLocks noChangeArrowheads="1"/>
          </p:cNvSpPr>
          <p:nvPr/>
        </p:nvSpPr>
        <p:spPr bwMode="auto">
          <a:xfrm>
            <a:off x="2819400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695" name="Rectangle 15"/>
          <p:cNvSpPr>
            <a:spLocks noChangeArrowheads="1"/>
          </p:cNvSpPr>
          <p:nvPr/>
        </p:nvSpPr>
        <p:spPr bwMode="auto">
          <a:xfrm>
            <a:off x="3733800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696" name="Line 16"/>
          <p:cNvSpPr>
            <a:spLocks noChangeShapeType="1"/>
          </p:cNvSpPr>
          <p:nvPr/>
        </p:nvSpPr>
        <p:spPr bwMode="auto">
          <a:xfrm flipH="1">
            <a:off x="4191000" y="1042988"/>
            <a:ext cx="228600" cy="3810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4038600" y="6619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98" name="Oval 18" descr="再生纸"/>
          <p:cNvSpPr>
            <a:spLocks noChangeArrowheads="1"/>
          </p:cNvSpPr>
          <p:nvPr/>
        </p:nvSpPr>
        <p:spPr bwMode="auto">
          <a:xfrm>
            <a:off x="7400925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99" name="Line 19"/>
          <p:cNvSpPr>
            <a:spLocks noChangeShapeType="1"/>
          </p:cNvSpPr>
          <p:nvPr/>
        </p:nvSpPr>
        <p:spPr bwMode="auto">
          <a:xfrm>
            <a:off x="7400925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77057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 flipH="1">
            <a:off x="77057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9153525" y="131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03" name="Text Box 23"/>
          <p:cNvSpPr txBox="1">
            <a:spLocks noChangeArrowheads="1"/>
          </p:cNvSpPr>
          <p:nvPr/>
        </p:nvSpPr>
        <p:spPr bwMode="auto">
          <a:xfrm>
            <a:off x="912177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851217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05" name="Rectangle 25"/>
          <p:cNvSpPr>
            <a:spLocks noChangeArrowheads="1"/>
          </p:cNvSpPr>
          <p:nvPr/>
        </p:nvSpPr>
        <p:spPr bwMode="auto">
          <a:xfrm>
            <a:off x="7816850" y="2795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06" name="Rectangle 26"/>
          <p:cNvSpPr>
            <a:spLocks noChangeArrowheads="1"/>
          </p:cNvSpPr>
          <p:nvPr/>
        </p:nvSpPr>
        <p:spPr bwMode="auto">
          <a:xfrm>
            <a:off x="717232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07" name="Rectangle 27"/>
          <p:cNvSpPr>
            <a:spLocks noChangeArrowheads="1"/>
          </p:cNvSpPr>
          <p:nvPr/>
        </p:nvSpPr>
        <p:spPr bwMode="auto">
          <a:xfrm>
            <a:off x="7172325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08" name="Rectangle 28"/>
          <p:cNvSpPr>
            <a:spLocks noChangeArrowheads="1"/>
          </p:cNvSpPr>
          <p:nvPr/>
        </p:nvSpPr>
        <p:spPr bwMode="auto">
          <a:xfrm>
            <a:off x="77057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09" name="Rectangle 29"/>
          <p:cNvSpPr>
            <a:spLocks noChangeArrowheads="1"/>
          </p:cNvSpPr>
          <p:nvPr/>
        </p:nvSpPr>
        <p:spPr bwMode="auto">
          <a:xfrm>
            <a:off x="86201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10" name="Line 30"/>
          <p:cNvSpPr>
            <a:spLocks noChangeShapeType="1"/>
          </p:cNvSpPr>
          <p:nvPr/>
        </p:nvSpPr>
        <p:spPr bwMode="auto">
          <a:xfrm flipH="1">
            <a:off x="9067800" y="1119188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1" name="Text Box 31"/>
          <p:cNvSpPr txBox="1">
            <a:spLocks noChangeArrowheads="1"/>
          </p:cNvSpPr>
          <p:nvPr/>
        </p:nvSpPr>
        <p:spPr bwMode="auto">
          <a:xfrm>
            <a:off x="9067800" y="7381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2" name="Oval 32" descr="再生纸"/>
          <p:cNvSpPr>
            <a:spLocks noChangeArrowheads="1"/>
          </p:cNvSpPr>
          <p:nvPr/>
        </p:nvSpPr>
        <p:spPr bwMode="auto">
          <a:xfrm>
            <a:off x="4962525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3" name="Line 33"/>
          <p:cNvSpPr>
            <a:spLocks noChangeShapeType="1"/>
          </p:cNvSpPr>
          <p:nvPr/>
        </p:nvSpPr>
        <p:spPr bwMode="auto">
          <a:xfrm>
            <a:off x="4962525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4" name="Line 34"/>
          <p:cNvSpPr>
            <a:spLocks noChangeShapeType="1"/>
          </p:cNvSpPr>
          <p:nvPr/>
        </p:nvSpPr>
        <p:spPr bwMode="auto">
          <a:xfrm>
            <a:off x="52673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5" name="Line 35"/>
          <p:cNvSpPr>
            <a:spLocks noChangeShapeType="1"/>
          </p:cNvSpPr>
          <p:nvPr/>
        </p:nvSpPr>
        <p:spPr bwMode="auto">
          <a:xfrm flipH="1">
            <a:off x="52673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6" name="Text Box 36"/>
          <p:cNvSpPr txBox="1">
            <a:spLocks noChangeArrowheads="1"/>
          </p:cNvSpPr>
          <p:nvPr/>
        </p:nvSpPr>
        <p:spPr bwMode="auto">
          <a:xfrm>
            <a:off x="6715125" y="131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7" name="Text Box 37"/>
          <p:cNvSpPr txBox="1">
            <a:spLocks noChangeArrowheads="1"/>
          </p:cNvSpPr>
          <p:nvPr/>
        </p:nvSpPr>
        <p:spPr bwMode="auto">
          <a:xfrm>
            <a:off x="668337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8" name="Rectangle 38"/>
          <p:cNvSpPr>
            <a:spLocks noChangeArrowheads="1"/>
          </p:cNvSpPr>
          <p:nvPr/>
        </p:nvSpPr>
        <p:spPr bwMode="auto">
          <a:xfrm>
            <a:off x="607377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19" name="Rectangle 39"/>
          <p:cNvSpPr>
            <a:spLocks noChangeArrowheads="1"/>
          </p:cNvSpPr>
          <p:nvPr/>
        </p:nvSpPr>
        <p:spPr bwMode="auto">
          <a:xfrm>
            <a:off x="526732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20" name="Rectangle 40"/>
          <p:cNvSpPr>
            <a:spLocks noChangeArrowheads="1"/>
          </p:cNvSpPr>
          <p:nvPr/>
        </p:nvSpPr>
        <p:spPr bwMode="auto">
          <a:xfrm>
            <a:off x="473392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21" name="Rectangle 41"/>
          <p:cNvSpPr>
            <a:spLocks noChangeArrowheads="1"/>
          </p:cNvSpPr>
          <p:nvPr/>
        </p:nvSpPr>
        <p:spPr bwMode="auto">
          <a:xfrm>
            <a:off x="4733925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22" name="Rectangle 42"/>
          <p:cNvSpPr>
            <a:spLocks noChangeArrowheads="1"/>
          </p:cNvSpPr>
          <p:nvPr/>
        </p:nvSpPr>
        <p:spPr bwMode="auto">
          <a:xfrm>
            <a:off x="52673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23" name="Rectangle 43"/>
          <p:cNvSpPr>
            <a:spLocks noChangeArrowheads="1"/>
          </p:cNvSpPr>
          <p:nvPr/>
        </p:nvSpPr>
        <p:spPr bwMode="auto">
          <a:xfrm>
            <a:off x="61817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24" name="Line 44"/>
          <p:cNvSpPr>
            <a:spLocks noChangeShapeType="1"/>
          </p:cNvSpPr>
          <p:nvPr/>
        </p:nvSpPr>
        <p:spPr bwMode="auto">
          <a:xfrm flipH="1">
            <a:off x="6629400" y="1119188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5" name="Text Box 45"/>
          <p:cNvSpPr txBox="1">
            <a:spLocks noChangeArrowheads="1"/>
          </p:cNvSpPr>
          <p:nvPr/>
        </p:nvSpPr>
        <p:spPr bwMode="auto">
          <a:xfrm>
            <a:off x="6629400" y="7381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26" name="Text Box 46"/>
          <p:cNvSpPr txBox="1">
            <a:spLocks noChangeArrowheads="1"/>
          </p:cNvSpPr>
          <p:nvPr/>
        </p:nvSpPr>
        <p:spPr bwMode="auto">
          <a:xfrm>
            <a:off x="4337051" y="9667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27" name="Line 47"/>
          <p:cNvSpPr>
            <a:spLocks noChangeShapeType="1"/>
          </p:cNvSpPr>
          <p:nvPr/>
        </p:nvSpPr>
        <p:spPr bwMode="auto">
          <a:xfrm flipH="1">
            <a:off x="4191000" y="1347788"/>
            <a:ext cx="3810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8" name="Line 48"/>
          <p:cNvSpPr>
            <a:spLocks noChangeShapeType="1"/>
          </p:cNvSpPr>
          <p:nvPr/>
        </p:nvSpPr>
        <p:spPr bwMode="auto">
          <a:xfrm>
            <a:off x="58674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9" name="Oval 49"/>
          <p:cNvSpPr>
            <a:spLocks noChangeArrowheads="1"/>
          </p:cNvSpPr>
          <p:nvPr/>
        </p:nvSpPr>
        <p:spPr bwMode="auto">
          <a:xfrm>
            <a:off x="5419725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0" name="Line 50"/>
          <p:cNvSpPr>
            <a:spLocks noChangeShapeType="1"/>
          </p:cNvSpPr>
          <p:nvPr/>
        </p:nvSpPr>
        <p:spPr bwMode="auto">
          <a:xfrm>
            <a:off x="83058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1" name="Oval 51"/>
          <p:cNvSpPr>
            <a:spLocks noChangeArrowheads="1"/>
          </p:cNvSpPr>
          <p:nvPr/>
        </p:nvSpPr>
        <p:spPr bwMode="auto">
          <a:xfrm>
            <a:off x="7858125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2" name="Text Box 52"/>
          <p:cNvSpPr txBox="1">
            <a:spLocks noChangeArrowheads="1"/>
          </p:cNvSpPr>
          <p:nvPr/>
        </p:nvSpPr>
        <p:spPr bwMode="auto">
          <a:xfrm>
            <a:off x="6248400" y="13477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A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3" name="Text Box 53"/>
          <p:cNvSpPr txBox="1">
            <a:spLocks noChangeArrowheads="1"/>
          </p:cNvSpPr>
          <p:nvPr/>
        </p:nvSpPr>
        <p:spPr bwMode="auto">
          <a:xfrm>
            <a:off x="8686800" y="13477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A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4" name="Text Box 54"/>
          <p:cNvSpPr txBox="1">
            <a:spLocks noChangeArrowheads="1"/>
          </p:cNvSpPr>
          <p:nvPr/>
        </p:nvSpPr>
        <p:spPr bwMode="auto">
          <a:xfrm>
            <a:off x="8686801" y="19113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99"/>
                </a:solidFill>
              </a:rPr>
              <a:t>B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735" name="Text Box 55"/>
          <p:cNvSpPr txBox="1">
            <a:spLocks noChangeArrowheads="1"/>
          </p:cNvSpPr>
          <p:nvPr/>
        </p:nvSpPr>
        <p:spPr bwMode="auto">
          <a:xfrm>
            <a:off x="8305800" y="23383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6" name="Text Box 56"/>
          <p:cNvSpPr txBox="1">
            <a:spLocks noChangeArrowheads="1"/>
          </p:cNvSpPr>
          <p:nvPr/>
        </p:nvSpPr>
        <p:spPr bwMode="auto">
          <a:xfrm>
            <a:off x="6553201" y="25669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7" name="Line 57"/>
          <p:cNvSpPr>
            <a:spLocks noChangeShapeType="1"/>
          </p:cNvSpPr>
          <p:nvPr/>
        </p:nvSpPr>
        <p:spPr bwMode="auto">
          <a:xfrm flipH="1" flipV="1">
            <a:off x="6629400" y="2490788"/>
            <a:ext cx="3048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8" name="Text Box 58"/>
          <p:cNvSpPr txBox="1">
            <a:spLocks noChangeArrowheads="1"/>
          </p:cNvSpPr>
          <p:nvPr/>
        </p:nvSpPr>
        <p:spPr bwMode="auto">
          <a:xfrm>
            <a:off x="7107238" y="279558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9" name="Line 59"/>
          <p:cNvSpPr>
            <a:spLocks noChangeShapeType="1"/>
          </p:cNvSpPr>
          <p:nvPr/>
        </p:nvSpPr>
        <p:spPr bwMode="auto">
          <a:xfrm flipV="1">
            <a:off x="7620000" y="2795588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0" name="Text Box 60"/>
          <p:cNvSpPr txBox="1">
            <a:spLocks noChangeArrowheads="1"/>
          </p:cNvSpPr>
          <p:nvPr/>
        </p:nvSpPr>
        <p:spPr bwMode="auto">
          <a:xfrm>
            <a:off x="2803526" y="3024188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</a:rPr>
              <a:t>空队列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41" name="Text Box 61"/>
          <p:cNvSpPr txBox="1">
            <a:spLocks noChangeArrowheads="1"/>
          </p:cNvSpPr>
          <p:nvPr/>
        </p:nvSpPr>
        <p:spPr bwMode="auto">
          <a:xfrm>
            <a:off x="5292725" y="3046413"/>
            <a:ext cx="1155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A</a:t>
            </a:r>
            <a:r>
              <a:rPr lang="zh-CN" altLang="zh-CN">
                <a:solidFill>
                  <a:srgbClr val="000099"/>
                </a:solidFill>
              </a:rPr>
              <a:t>入队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42" name="Text Box 62"/>
          <p:cNvSpPr txBox="1">
            <a:spLocks noChangeArrowheads="1"/>
          </p:cNvSpPr>
          <p:nvPr/>
        </p:nvSpPr>
        <p:spPr bwMode="auto">
          <a:xfrm>
            <a:off x="7832725" y="3038476"/>
            <a:ext cx="1570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B, C</a:t>
            </a:r>
            <a:r>
              <a:rPr lang="zh-CN" altLang="zh-CN">
                <a:solidFill>
                  <a:srgbClr val="000099"/>
                </a:solidFill>
              </a:rPr>
              <a:t>入队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43" name="Oval 63" descr="再生纸"/>
          <p:cNvSpPr>
            <a:spLocks noChangeArrowheads="1"/>
          </p:cNvSpPr>
          <p:nvPr/>
        </p:nvSpPr>
        <p:spPr bwMode="auto">
          <a:xfrm>
            <a:off x="2473325" y="38623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44" name="Line 64"/>
          <p:cNvSpPr>
            <a:spLocks noChangeShapeType="1"/>
          </p:cNvSpPr>
          <p:nvPr/>
        </p:nvSpPr>
        <p:spPr bwMode="auto">
          <a:xfrm>
            <a:off x="3387725" y="38623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5" name="Line 65"/>
          <p:cNvSpPr>
            <a:spLocks noChangeShapeType="1"/>
          </p:cNvSpPr>
          <p:nvPr/>
        </p:nvSpPr>
        <p:spPr bwMode="auto">
          <a:xfrm>
            <a:off x="2473325" y="47767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6" name="Line 66"/>
          <p:cNvSpPr>
            <a:spLocks noChangeShapeType="1"/>
          </p:cNvSpPr>
          <p:nvPr/>
        </p:nvSpPr>
        <p:spPr bwMode="auto">
          <a:xfrm>
            <a:off x="2778125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7" name="Line 67"/>
          <p:cNvSpPr>
            <a:spLocks noChangeShapeType="1"/>
          </p:cNvSpPr>
          <p:nvPr/>
        </p:nvSpPr>
        <p:spPr bwMode="auto">
          <a:xfrm flipH="1">
            <a:off x="2778125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8" name="Oval 68"/>
          <p:cNvSpPr>
            <a:spLocks noChangeArrowheads="1"/>
          </p:cNvSpPr>
          <p:nvPr/>
        </p:nvSpPr>
        <p:spPr bwMode="auto">
          <a:xfrm>
            <a:off x="2930525" y="43195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49" name="Text Box 69"/>
          <p:cNvSpPr txBox="1">
            <a:spLocks noChangeArrowheads="1"/>
          </p:cNvSpPr>
          <p:nvPr/>
        </p:nvSpPr>
        <p:spPr bwMode="auto">
          <a:xfrm>
            <a:off x="4225925" y="4243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50" name="Text Box 70"/>
          <p:cNvSpPr txBox="1">
            <a:spLocks noChangeArrowheads="1"/>
          </p:cNvSpPr>
          <p:nvPr/>
        </p:nvSpPr>
        <p:spPr bwMode="auto">
          <a:xfrm>
            <a:off x="4194175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51" name="Rectangle 71"/>
          <p:cNvSpPr>
            <a:spLocks noChangeArrowheads="1"/>
          </p:cNvSpPr>
          <p:nvPr/>
        </p:nvSpPr>
        <p:spPr bwMode="auto">
          <a:xfrm>
            <a:off x="3584575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52" name="Rectangle 72"/>
          <p:cNvSpPr>
            <a:spLocks noChangeArrowheads="1"/>
          </p:cNvSpPr>
          <p:nvPr/>
        </p:nvSpPr>
        <p:spPr bwMode="auto">
          <a:xfrm>
            <a:off x="2940050" y="5614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53" name="Rectangle 73"/>
          <p:cNvSpPr>
            <a:spLocks noChangeArrowheads="1"/>
          </p:cNvSpPr>
          <p:nvPr/>
        </p:nvSpPr>
        <p:spPr bwMode="auto">
          <a:xfrm>
            <a:off x="2244725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54" name="Rectangle 74"/>
          <p:cNvSpPr>
            <a:spLocks noChangeArrowheads="1"/>
          </p:cNvSpPr>
          <p:nvPr/>
        </p:nvSpPr>
        <p:spPr bwMode="auto">
          <a:xfrm>
            <a:off x="2244725" y="4090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55" name="Rectangle 75"/>
          <p:cNvSpPr>
            <a:spLocks noChangeArrowheads="1"/>
          </p:cNvSpPr>
          <p:nvPr/>
        </p:nvSpPr>
        <p:spPr bwMode="auto">
          <a:xfrm>
            <a:off x="2778125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56" name="Rectangle 76"/>
          <p:cNvSpPr>
            <a:spLocks noChangeArrowheads="1"/>
          </p:cNvSpPr>
          <p:nvPr/>
        </p:nvSpPr>
        <p:spPr bwMode="auto">
          <a:xfrm>
            <a:off x="3692525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57" name="Oval 77" descr="再生纸"/>
          <p:cNvSpPr>
            <a:spLocks noChangeArrowheads="1"/>
          </p:cNvSpPr>
          <p:nvPr/>
        </p:nvSpPr>
        <p:spPr bwMode="auto">
          <a:xfrm>
            <a:off x="4921250" y="38623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58" name="Line 78"/>
          <p:cNvSpPr>
            <a:spLocks noChangeShapeType="1"/>
          </p:cNvSpPr>
          <p:nvPr/>
        </p:nvSpPr>
        <p:spPr bwMode="auto">
          <a:xfrm>
            <a:off x="4921250" y="47767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9" name="Line 79"/>
          <p:cNvSpPr>
            <a:spLocks noChangeShapeType="1"/>
          </p:cNvSpPr>
          <p:nvPr/>
        </p:nvSpPr>
        <p:spPr bwMode="auto">
          <a:xfrm>
            <a:off x="5226050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0" name="Line 80"/>
          <p:cNvSpPr>
            <a:spLocks noChangeShapeType="1"/>
          </p:cNvSpPr>
          <p:nvPr/>
        </p:nvSpPr>
        <p:spPr bwMode="auto">
          <a:xfrm flipH="1">
            <a:off x="5226050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1" name="Text Box 81"/>
          <p:cNvSpPr txBox="1">
            <a:spLocks noChangeArrowheads="1"/>
          </p:cNvSpPr>
          <p:nvPr/>
        </p:nvSpPr>
        <p:spPr bwMode="auto">
          <a:xfrm>
            <a:off x="6673850" y="41322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62" name="Text Box 82"/>
          <p:cNvSpPr txBox="1">
            <a:spLocks noChangeArrowheads="1"/>
          </p:cNvSpPr>
          <p:nvPr/>
        </p:nvSpPr>
        <p:spPr bwMode="auto">
          <a:xfrm>
            <a:off x="6642100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63" name="Rectangle 83"/>
          <p:cNvSpPr>
            <a:spLocks noChangeArrowheads="1"/>
          </p:cNvSpPr>
          <p:nvPr/>
        </p:nvSpPr>
        <p:spPr bwMode="auto">
          <a:xfrm>
            <a:off x="6032500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64" name="Rectangle 84"/>
          <p:cNvSpPr>
            <a:spLocks noChangeArrowheads="1"/>
          </p:cNvSpPr>
          <p:nvPr/>
        </p:nvSpPr>
        <p:spPr bwMode="auto">
          <a:xfrm>
            <a:off x="5302250" y="5614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65" name="Rectangle 85"/>
          <p:cNvSpPr>
            <a:spLocks noChangeArrowheads="1"/>
          </p:cNvSpPr>
          <p:nvPr/>
        </p:nvSpPr>
        <p:spPr bwMode="auto">
          <a:xfrm>
            <a:off x="4692650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66" name="Rectangle 86"/>
          <p:cNvSpPr>
            <a:spLocks noChangeArrowheads="1"/>
          </p:cNvSpPr>
          <p:nvPr/>
        </p:nvSpPr>
        <p:spPr bwMode="auto">
          <a:xfrm>
            <a:off x="4692650" y="4090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67" name="Rectangle 87"/>
          <p:cNvSpPr>
            <a:spLocks noChangeArrowheads="1"/>
          </p:cNvSpPr>
          <p:nvPr/>
        </p:nvSpPr>
        <p:spPr bwMode="auto">
          <a:xfrm>
            <a:off x="5226050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68" name="Rectangle 88"/>
          <p:cNvSpPr>
            <a:spLocks noChangeArrowheads="1"/>
          </p:cNvSpPr>
          <p:nvPr/>
        </p:nvSpPr>
        <p:spPr bwMode="auto">
          <a:xfrm>
            <a:off x="6140450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69" name="Line 89"/>
          <p:cNvSpPr>
            <a:spLocks noChangeShapeType="1"/>
          </p:cNvSpPr>
          <p:nvPr/>
        </p:nvSpPr>
        <p:spPr bwMode="auto">
          <a:xfrm>
            <a:off x="5826125" y="38623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0" name="Oval 90"/>
          <p:cNvSpPr>
            <a:spLocks noChangeArrowheads="1"/>
          </p:cNvSpPr>
          <p:nvPr/>
        </p:nvSpPr>
        <p:spPr bwMode="auto">
          <a:xfrm>
            <a:off x="5378450" y="43195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1" name="Text Box 91"/>
          <p:cNvSpPr txBox="1">
            <a:spLocks noChangeArrowheads="1"/>
          </p:cNvSpPr>
          <p:nvPr/>
        </p:nvSpPr>
        <p:spPr bwMode="auto">
          <a:xfrm>
            <a:off x="2762250" y="5934076"/>
            <a:ext cx="115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A</a:t>
            </a:r>
            <a:r>
              <a:rPr lang="zh-CN" altLang="zh-CN">
                <a:solidFill>
                  <a:srgbClr val="000099"/>
                </a:solidFill>
              </a:rPr>
              <a:t>出队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72" name="Text Box 92"/>
          <p:cNvSpPr txBox="1">
            <a:spLocks noChangeArrowheads="1"/>
          </p:cNvSpPr>
          <p:nvPr/>
        </p:nvSpPr>
        <p:spPr bwMode="auto">
          <a:xfrm>
            <a:off x="5414963" y="5934076"/>
            <a:ext cx="1135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B</a:t>
            </a:r>
            <a:r>
              <a:rPr lang="zh-CN" altLang="zh-CN">
                <a:solidFill>
                  <a:srgbClr val="000099"/>
                </a:solidFill>
              </a:rPr>
              <a:t>出队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73" name="Oval 93" descr="再生纸"/>
          <p:cNvSpPr>
            <a:spLocks noChangeArrowheads="1"/>
          </p:cNvSpPr>
          <p:nvPr/>
        </p:nvSpPr>
        <p:spPr bwMode="auto">
          <a:xfrm>
            <a:off x="7426325" y="38623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4" name="Line 94"/>
          <p:cNvSpPr>
            <a:spLocks noChangeShapeType="1"/>
          </p:cNvSpPr>
          <p:nvPr/>
        </p:nvSpPr>
        <p:spPr bwMode="auto">
          <a:xfrm>
            <a:off x="8340725" y="38623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5" name="Line 95"/>
          <p:cNvSpPr>
            <a:spLocks noChangeShapeType="1"/>
          </p:cNvSpPr>
          <p:nvPr/>
        </p:nvSpPr>
        <p:spPr bwMode="auto">
          <a:xfrm>
            <a:off x="7426325" y="47767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6" name="Line 96"/>
          <p:cNvSpPr>
            <a:spLocks noChangeShapeType="1"/>
          </p:cNvSpPr>
          <p:nvPr/>
        </p:nvSpPr>
        <p:spPr bwMode="auto">
          <a:xfrm>
            <a:off x="7731125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7" name="Line 97"/>
          <p:cNvSpPr>
            <a:spLocks noChangeShapeType="1"/>
          </p:cNvSpPr>
          <p:nvPr/>
        </p:nvSpPr>
        <p:spPr bwMode="auto">
          <a:xfrm flipH="1">
            <a:off x="7731125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8" name="Oval 98"/>
          <p:cNvSpPr>
            <a:spLocks noChangeArrowheads="1"/>
          </p:cNvSpPr>
          <p:nvPr/>
        </p:nvSpPr>
        <p:spPr bwMode="auto">
          <a:xfrm>
            <a:off x="7883525" y="43195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9" name="Text Box 99"/>
          <p:cNvSpPr txBox="1">
            <a:spLocks noChangeArrowheads="1"/>
          </p:cNvSpPr>
          <p:nvPr/>
        </p:nvSpPr>
        <p:spPr bwMode="auto">
          <a:xfrm>
            <a:off x="9178925" y="4243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80" name="Text Box 100"/>
          <p:cNvSpPr txBox="1">
            <a:spLocks noChangeArrowheads="1"/>
          </p:cNvSpPr>
          <p:nvPr/>
        </p:nvSpPr>
        <p:spPr bwMode="auto">
          <a:xfrm>
            <a:off x="9147175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81" name="Rectangle 101"/>
          <p:cNvSpPr>
            <a:spLocks noChangeArrowheads="1"/>
          </p:cNvSpPr>
          <p:nvPr/>
        </p:nvSpPr>
        <p:spPr bwMode="auto">
          <a:xfrm>
            <a:off x="8537575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82" name="Rectangle 102"/>
          <p:cNvSpPr>
            <a:spLocks noChangeArrowheads="1"/>
          </p:cNvSpPr>
          <p:nvPr/>
        </p:nvSpPr>
        <p:spPr bwMode="auto">
          <a:xfrm>
            <a:off x="7731125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83" name="Rectangle 103"/>
          <p:cNvSpPr>
            <a:spLocks noChangeArrowheads="1"/>
          </p:cNvSpPr>
          <p:nvPr/>
        </p:nvSpPr>
        <p:spPr bwMode="auto">
          <a:xfrm>
            <a:off x="7197725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84" name="Rectangle 104"/>
          <p:cNvSpPr>
            <a:spLocks noChangeArrowheads="1"/>
          </p:cNvSpPr>
          <p:nvPr/>
        </p:nvSpPr>
        <p:spPr bwMode="auto">
          <a:xfrm>
            <a:off x="7197725" y="4090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85" name="Rectangle 105"/>
          <p:cNvSpPr>
            <a:spLocks noChangeArrowheads="1"/>
          </p:cNvSpPr>
          <p:nvPr/>
        </p:nvSpPr>
        <p:spPr bwMode="auto">
          <a:xfrm>
            <a:off x="7731125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86" name="Rectangle 106"/>
          <p:cNvSpPr>
            <a:spLocks noChangeArrowheads="1"/>
          </p:cNvSpPr>
          <p:nvPr/>
        </p:nvSpPr>
        <p:spPr bwMode="auto">
          <a:xfrm>
            <a:off x="8645525" y="3557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87" name="Text Box 107"/>
          <p:cNvSpPr txBox="1">
            <a:spLocks noChangeArrowheads="1"/>
          </p:cNvSpPr>
          <p:nvPr/>
        </p:nvSpPr>
        <p:spPr bwMode="auto">
          <a:xfrm>
            <a:off x="7239000" y="5934076"/>
            <a:ext cx="2744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D,E,F,G,H,I</a:t>
            </a:r>
            <a:r>
              <a:rPr lang="zh-CN" altLang="zh-CN">
                <a:solidFill>
                  <a:srgbClr val="000099"/>
                </a:solidFill>
              </a:rPr>
              <a:t>入队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88" name="Line 108"/>
          <p:cNvSpPr>
            <a:spLocks noChangeShapeType="1"/>
          </p:cNvSpPr>
          <p:nvPr/>
        </p:nvSpPr>
        <p:spPr bwMode="auto">
          <a:xfrm flipH="1" flipV="1">
            <a:off x="4114800" y="5310188"/>
            <a:ext cx="3048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9" name="Text Box 109"/>
          <p:cNvSpPr txBox="1">
            <a:spLocks noChangeArrowheads="1"/>
          </p:cNvSpPr>
          <p:nvPr/>
        </p:nvSpPr>
        <p:spPr bwMode="auto">
          <a:xfrm>
            <a:off x="3962400" y="53863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hlink"/>
                </a:solidFill>
              </a:rPr>
              <a:t>front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790" name="Text Box 110"/>
          <p:cNvSpPr txBox="1">
            <a:spLocks noChangeArrowheads="1"/>
          </p:cNvSpPr>
          <p:nvPr/>
        </p:nvSpPr>
        <p:spPr bwMode="auto">
          <a:xfrm>
            <a:off x="3811588" y="4700589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B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1" name="Text Box 111"/>
          <p:cNvSpPr txBox="1">
            <a:spLocks noChangeArrowheads="1"/>
          </p:cNvSpPr>
          <p:nvPr/>
        </p:nvSpPr>
        <p:spPr bwMode="auto">
          <a:xfrm>
            <a:off x="3408364" y="51117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2" name="Text Box 112"/>
          <p:cNvSpPr txBox="1">
            <a:spLocks noChangeArrowheads="1"/>
          </p:cNvSpPr>
          <p:nvPr/>
        </p:nvSpPr>
        <p:spPr bwMode="auto">
          <a:xfrm>
            <a:off x="2209801" y="56149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3" name="Line 113"/>
          <p:cNvSpPr>
            <a:spLocks noChangeShapeType="1"/>
          </p:cNvSpPr>
          <p:nvPr/>
        </p:nvSpPr>
        <p:spPr bwMode="auto">
          <a:xfrm flipV="1">
            <a:off x="2722563" y="5614988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94" name="Text Box 114"/>
          <p:cNvSpPr txBox="1">
            <a:spLocks noChangeArrowheads="1"/>
          </p:cNvSpPr>
          <p:nvPr/>
        </p:nvSpPr>
        <p:spPr bwMode="auto">
          <a:xfrm>
            <a:off x="3789364" y="4167189"/>
            <a:ext cx="4778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2"/>
                </a:solidFill>
              </a:rPr>
              <a:t>A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5" name="Text Box 115"/>
          <p:cNvSpPr txBox="1">
            <a:spLocks noChangeArrowheads="1"/>
          </p:cNvSpPr>
          <p:nvPr/>
        </p:nvSpPr>
        <p:spPr bwMode="auto">
          <a:xfrm>
            <a:off x="6324600" y="56149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hlink"/>
                </a:solidFill>
              </a:rPr>
              <a:t>front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796" name="Text Box 116"/>
          <p:cNvSpPr txBox="1">
            <a:spLocks noChangeArrowheads="1"/>
          </p:cNvSpPr>
          <p:nvPr/>
        </p:nvSpPr>
        <p:spPr bwMode="auto">
          <a:xfrm>
            <a:off x="6248401" y="4700589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chemeClr val="bg2"/>
                </a:solidFill>
              </a:rPr>
              <a:t>B</a:t>
            </a:r>
            <a:endParaRPr lang="en-US" altLang="zh-CN" sz="2400">
              <a:solidFill>
                <a:schemeClr val="bg2"/>
              </a:solidFill>
            </a:endParaRPr>
          </a:p>
        </p:txBody>
      </p:sp>
      <p:sp>
        <p:nvSpPr>
          <p:cNvPr id="71797" name="Text Box 117"/>
          <p:cNvSpPr txBox="1">
            <a:spLocks noChangeArrowheads="1"/>
          </p:cNvSpPr>
          <p:nvPr/>
        </p:nvSpPr>
        <p:spPr bwMode="auto">
          <a:xfrm>
            <a:off x="5791200" y="51577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8" name="Text Box 118"/>
          <p:cNvSpPr txBox="1">
            <a:spLocks noChangeArrowheads="1"/>
          </p:cNvSpPr>
          <p:nvPr/>
        </p:nvSpPr>
        <p:spPr bwMode="auto">
          <a:xfrm>
            <a:off x="4641851" y="56149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99" name="Line 119"/>
          <p:cNvSpPr>
            <a:spLocks noChangeShapeType="1"/>
          </p:cNvSpPr>
          <p:nvPr/>
        </p:nvSpPr>
        <p:spPr bwMode="auto">
          <a:xfrm flipV="1">
            <a:off x="5154613" y="5614988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0" name="Line 120"/>
          <p:cNvSpPr>
            <a:spLocks noChangeShapeType="1"/>
          </p:cNvSpPr>
          <p:nvPr/>
        </p:nvSpPr>
        <p:spPr bwMode="auto">
          <a:xfrm flipH="1" flipV="1">
            <a:off x="6324600" y="5538788"/>
            <a:ext cx="3810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1" name="Text Box 121"/>
          <p:cNvSpPr txBox="1">
            <a:spLocks noChangeArrowheads="1"/>
          </p:cNvSpPr>
          <p:nvPr/>
        </p:nvSpPr>
        <p:spPr bwMode="auto">
          <a:xfrm>
            <a:off x="8832850" y="56149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2" name="Text Box 122"/>
          <p:cNvSpPr txBox="1">
            <a:spLocks noChangeArrowheads="1"/>
          </p:cNvSpPr>
          <p:nvPr/>
        </p:nvSpPr>
        <p:spPr bwMode="auto">
          <a:xfrm>
            <a:off x="8361364" y="5157789"/>
            <a:ext cx="4778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3" name="Text Box 123"/>
          <p:cNvSpPr txBox="1">
            <a:spLocks noChangeArrowheads="1"/>
          </p:cNvSpPr>
          <p:nvPr/>
        </p:nvSpPr>
        <p:spPr bwMode="auto">
          <a:xfrm>
            <a:off x="9372601" y="45481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4" name="Line 124"/>
          <p:cNvSpPr>
            <a:spLocks noChangeShapeType="1"/>
          </p:cNvSpPr>
          <p:nvPr/>
        </p:nvSpPr>
        <p:spPr bwMode="auto">
          <a:xfrm flipH="1">
            <a:off x="9144000" y="4929188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5" name="Line 125"/>
          <p:cNvSpPr>
            <a:spLocks noChangeShapeType="1"/>
          </p:cNvSpPr>
          <p:nvPr/>
        </p:nvSpPr>
        <p:spPr bwMode="auto">
          <a:xfrm flipH="1" flipV="1">
            <a:off x="8832850" y="5538788"/>
            <a:ext cx="3810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6" name="Text Box 126"/>
          <p:cNvSpPr txBox="1">
            <a:spLocks noChangeArrowheads="1"/>
          </p:cNvSpPr>
          <p:nvPr/>
        </p:nvSpPr>
        <p:spPr bwMode="auto">
          <a:xfrm>
            <a:off x="7904164" y="51879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D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7" name="Text Box 127"/>
          <p:cNvSpPr txBox="1">
            <a:spLocks noChangeArrowheads="1"/>
          </p:cNvSpPr>
          <p:nvPr/>
        </p:nvSpPr>
        <p:spPr bwMode="auto">
          <a:xfrm>
            <a:off x="7467601" y="48069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8" name="Text Box 128"/>
          <p:cNvSpPr txBox="1">
            <a:spLocks noChangeArrowheads="1"/>
          </p:cNvSpPr>
          <p:nvPr/>
        </p:nvSpPr>
        <p:spPr bwMode="auto">
          <a:xfrm>
            <a:off x="7493000" y="4243389"/>
            <a:ext cx="431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F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9" name="Text Box 129"/>
          <p:cNvSpPr txBox="1">
            <a:spLocks noChangeArrowheads="1"/>
          </p:cNvSpPr>
          <p:nvPr/>
        </p:nvSpPr>
        <p:spPr bwMode="auto">
          <a:xfrm>
            <a:off x="7848601" y="3786189"/>
            <a:ext cx="500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G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10" name="Text Box 130"/>
          <p:cNvSpPr txBox="1">
            <a:spLocks noChangeArrowheads="1"/>
          </p:cNvSpPr>
          <p:nvPr/>
        </p:nvSpPr>
        <p:spPr bwMode="auto">
          <a:xfrm>
            <a:off x="8305801" y="381635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H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11" name="Text Box 131"/>
          <p:cNvSpPr txBox="1">
            <a:spLocks noChangeArrowheads="1"/>
          </p:cNvSpPr>
          <p:nvPr/>
        </p:nvSpPr>
        <p:spPr bwMode="auto">
          <a:xfrm>
            <a:off x="8801100" y="4197350"/>
            <a:ext cx="34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I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99844" name="Text Box 132"/>
          <p:cNvSpPr txBox="1">
            <a:spLocks noChangeArrowheads="1"/>
          </p:cNvSpPr>
          <p:nvPr/>
        </p:nvSpPr>
        <p:spPr bwMode="auto">
          <a:xfrm>
            <a:off x="1524000" y="44451"/>
            <a:ext cx="9144000" cy="823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循环队列入队和出队示意图</a:t>
            </a:r>
            <a:endParaRPr lang="zh-CN" altLang="en-US" sz="48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8" grpId="0" animBg="1"/>
      <p:bldP spid="71699" grpId="0" animBg="1"/>
      <p:bldP spid="71700" grpId="0" animBg="1"/>
      <p:bldP spid="71701" grpId="0" animBg="1"/>
      <p:bldP spid="71702" grpId="0"/>
      <p:bldP spid="71703" grpId="0"/>
      <p:bldP spid="71704" grpId="0"/>
      <p:bldP spid="71705" grpId="0"/>
      <p:bldP spid="71706" grpId="0"/>
      <p:bldP spid="71707" grpId="0"/>
      <p:bldP spid="71708" grpId="0"/>
      <p:bldP spid="71709" grpId="0"/>
      <p:bldP spid="71710" grpId="0" animBg="1"/>
      <p:bldP spid="71711" grpId="0"/>
      <p:bldP spid="71712" grpId="0" animBg="1"/>
      <p:bldP spid="71713" grpId="0" animBg="1"/>
      <p:bldP spid="71714" grpId="0" animBg="1"/>
      <p:bldP spid="71715" grpId="0" animBg="1"/>
      <p:bldP spid="71716" grpId="0"/>
      <p:bldP spid="71717" grpId="0"/>
      <p:bldP spid="71718" grpId="0"/>
      <p:bldP spid="71719" grpId="0"/>
      <p:bldP spid="71720" grpId="0"/>
      <p:bldP spid="71721" grpId="0"/>
      <p:bldP spid="71722" grpId="0"/>
      <p:bldP spid="71723" grpId="0"/>
      <p:bldP spid="71724" grpId="0" animBg="1"/>
      <p:bldP spid="71725" grpId="0"/>
      <p:bldP spid="71728" grpId="0" animBg="1"/>
      <p:bldP spid="71729" grpId="0" animBg="1"/>
      <p:bldP spid="71730" grpId="0" animBg="1"/>
      <p:bldP spid="71731" grpId="0" animBg="1"/>
      <p:bldP spid="71732" grpId="0"/>
      <p:bldP spid="71733" grpId="0"/>
      <p:bldP spid="71734" grpId="0"/>
      <p:bldP spid="71735" grpId="0"/>
      <p:bldP spid="71736" grpId="0"/>
      <p:bldP spid="71737" grpId="0" animBg="1"/>
      <p:bldP spid="71738" grpId="0"/>
      <p:bldP spid="71739" grpId="0" animBg="1"/>
      <p:bldP spid="71741" grpId="0"/>
      <p:bldP spid="71742" grpId="0"/>
      <p:bldP spid="71743" grpId="0" animBg="1"/>
      <p:bldP spid="71744" grpId="0" animBg="1"/>
      <p:bldP spid="71745" grpId="0" animBg="1"/>
      <p:bldP spid="71746" grpId="0" animBg="1"/>
      <p:bldP spid="71747" grpId="0" animBg="1"/>
      <p:bldP spid="71748" grpId="0" animBg="1"/>
      <p:bldP spid="71749" grpId="0"/>
      <p:bldP spid="71750" grpId="0"/>
      <p:bldP spid="71751" grpId="0"/>
      <p:bldP spid="71752" grpId="0"/>
      <p:bldP spid="71753" grpId="0"/>
      <p:bldP spid="71754" grpId="0"/>
      <p:bldP spid="71755" grpId="0"/>
      <p:bldP spid="71756" grpId="0"/>
      <p:bldP spid="71757" grpId="0" animBg="1"/>
      <p:bldP spid="71758" grpId="0" animBg="1"/>
      <p:bldP spid="71759" grpId="0" animBg="1"/>
      <p:bldP spid="71760" grpId="0" animBg="1"/>
      <p:bldP spid="71761" grpId="0"/>
      <p:bldP spid="71762" grpId="0"/>
      <p:bldP spid="71763" grpId="0"/>
      <p:bldP spid="71764" grpId="0"/>
      <p:bldP spid="71765" grpId="0"/>
      <p:bldP spid="71766" grpId="0"/>
      <p:bldP spid="71767" grpId="0"/>
      <p:bldP spid="71768" grpId="0"/>
      <p:bldP spid="71769" grpId="0" animBg="1"/>
      <p:bldP spid="71770" grpId="0" animBg="1"/>
      <p:bldP spid="71771" grpId="0"/>
      <p:bldP spid="71772" grpId="0"/>
      <p:bldP spid="71773" grpId="0" animBg="1"/>
      <p:bldP spid="71774" grpId="0" animBg="1"/>
      <p:bldP spid="71775" grpId="0" animBg="1"/>
      <p:bldP spid="71776" grpId="0" animBg="1"/>
      <p:bldP spid="71777" grpId="0" animBg="1"/>
      <p:bldP spid="71778" grpId="0" animBg="1"/>
      <p:bldP spid="71779" grpId="0"/>
      <p:bldP spid="71780" grpId="0"/>
      <p:bldP spid="71781" grpId="0"/>
      <p:bldP spid="71782" grpId="0"/>
      <p:bldP spid="71783" grpId="0"/>
      <p:bldP spid="71784" grpId="0"/>
      <p:bldP spid="71785" grpId="0"/>
      <p:bldP spid="71786" grpId="0"/>
      <p:bldP spid="71787" grpId="0"/>
      <p:bldP spid="71788" grpId="0" animBg="1"/>
      <p:bldP spid="71789" grpId="0"/>
      <p:bldP spid="71790" grpId="0"/>
      <p:bldP spid="71791" grpId="0"/>
      <p:bldP spid="71792" grpId="0"/>
      <p:bldP spid="71793" grpId="0" animBg="1"/>
      <p:bldP spid="71794" grpId="0"/>
      <p:bldP spid="71795" grpId="0"/>
      <p:bldP spid="71796" grpId="0"/>
      <p:bldP spid="71797" grpId="0"/>
      <p:bldP spid="71798" grpId="0"/>
      <p:bldP spid="71799" grpId="0" animBg="1"/>
      <p:bldP spid="71800" grpId="0" animBg="1"/>
      <p:bldP spid="71801" grpId="0"/>
      <p:bldP spid="71802" grpId="0"/>
      <p:bldP spid="71803" grpId="0"/>
      <p:bldP spid="71804" grpId="0" animBg="1"/>
      <p:bldP spid="71805" grpId="0" animBg="1"/>
      <p:bldP spid="71806" grpId="0"/>
      <p:bldP spid="71807" grpId="0"/>
      <p:bldP spid="71808" grpId="0"/>
      <p:bldP spid="71809" grpId="0"/>
      <p:bldP spid="71810" grpId="0"/>
      <p:bldP spid="718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val 2" descr="再生纸"/>
          <p:cNvSpPr>
            <a:spLocks noChangeArrowheads="1"/>
          </p:cNvSpPr>
          <p:nvPr/>
        </p:nvSpPr>
        <p:spPr bwMode="auto">
          <a:xfrm>
            <a:off x="2514600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3" name="Line 3"/>
          <p:cNvSpPr>
            <a:spLocks noChangeShapeType="1"/>
          </p:cNvSpPr>
          <p:nvPr/>
        </p:nvSpPr>
        <p:spPr bwMode="auto">
          <a:xfrm>
            <a:off x="34290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4" name="Line 4"/>
          <p:cNvSpPr>
            <a:spLocks noChangeShapeType="1"/>
          </p:cNvSpPr>
          <p:nvPr/>
        </p:nvSpPr>
        <p:spPr bwMode="auto">
          <a:xfrm>
            <a:off x="2514600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5" name="Line 5"/>
          <p:cNvSpPr>
            <a:spLocks noChangeShapeType="1"/>
          </p:cNvSpPr>
          <p:nvPr/>
        </p:nvSpPr>
        <p:spPr bwMode="auto">
          <a:xfrm>
            <a:off x="2819400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6" name="Line 6"/>
          <p:cNvSpPr>
            <a:spLocks noChangeShapeType="1"/>
          </p:cNvSpPr>
          <p:nvPr/>
        </p:nvSpPr>
        <p:spPr bwMode="auto">
          <a:xfrm flipH="1">
            <a:off x="2819400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Oval 7"/>
          <p:cNvSpPr>
            <a:spLocks noChangeArrowheads="1"/>
          </p:cNvSpPr>
          <p:nvPr/>
        </p:nvSpPr>
        <p:spPr bwMode="auto">
          <a:xfrm>
            <a:off x="2971800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4267200" y="1423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4235450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3625850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2819400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2286000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693" name="Rectangle 13"/>
          <p:cNvSpPr>
            <a:spLocks noChangeArrowheads="1"/>
          </p:cNvSpPr>
          <p:nvPr/>
        </p:nvSpPr>
        <p:spPr bwMode="auto">
          <a:xfrm>
            <a:off x="2286000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694" name="Rectangle 14"/>
          <p:cNvSpPr>
            <a:spLocks noChangeArrowheads="1"/>
          </p:cNvSpPr>
          <p:nvPr/>
        </p:nvSpPr>
        <p:spPr bwMode="auto">
          <a:xfrm>
            <a:off x="2819400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695" name="Rectangle 15"/>
          <p:cNvSpPr>
            <a:spLocks noChangeArrowheads="1"/>
          </p:cNvSpPr>
          <p:nvPr/>
        </p:nvSpPr>
        <p:spPr bwMode="auto">
          <a:xfrm>
            <a:off x="3733800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696" name="Line 16"/>
          <p:cNvSpPr>
            <a:spLocks noChangeShapeType="1"/>
          </p:cNvSpPr>
          <p:nvPr/>
        </p:nvSpPr>
        <p:spPr bwMode="auto">
          <a:xfrm flipH="1">
            <a:off x="4191000" y="1042988"/>
            <a:ext cx="228600" cy="3810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4038600" y="6619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698" name="Oval 18" descr="再生纸"/>
          <p:cNvSpPr>
            <a:spLocks noChangeArrowheads="1"/>
          </p:cNvSpPr>
          <p:nvPr/>
        </p:nvSpPr>
        <p:spPr bwMode="auto">
          <a:xfrm>
            <a:off x="7400925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99" name="Line 19"/>
          <p:cNvSpPr>
            <a:spLocks noChangeShapeType="1"/>
          </p:cNvSpPr>
          <p:nvPr/>
        </p:nvSpPr>
        <p:spPr bwMode="auto">
          <a:xfrm>
            <a:off x="7400925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0" name="Line 20"/>
          <p:cNvSpPr>
            <a:spLocks noChangeShapeType="1"/>
          </p:cNvSpPr>
          <p:nvPr/>
        </p:nvSpPr>
        <p:spPr bwMode="auto">
          <a:xfrm>
            <a:off x="77057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 flipH="1">
            <a:off x="77057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9153525" y="131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03" name="Text Box 23"/>
          <p:cNvSpPr txBox="1">
            <a:spLocks noChangeArrowheads="1"/>
          </p:cNvSpPr>
          <p:nvPr/>
        </p:nvSpPr>
        <p:spPr bwMode="auto">
          <a:xfrm>
            <a:off x="912177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851217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05" name="Rectangle 25"/>
          <p:cNvSpPr>
            <a:spLocks noChangeArrowheads="1"/>
          </p:cNvSpPr>
          <p:nvPr/>
        </p:nvSpPr>
        <p:spPr bwMode="auto">
          <a:xfrm>
            <a:off x="7816850" y="2795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06" name="Rectangle 26"/>
          <p:cNvSpPr>
            <a:spLocks noChangeArrowheads="1"/>
          </p:cNvSpPr>
          <p:nvPr/>
        </p:nvSpPr>
        <p:spPr bwMode="auto">
          <a:xfrm>
            <a:off x="717232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07" name="Rectangle 27"/>
          <p:cNvSpPr>
            <a:spLocks noChangeArrowheads="1"/>
          </p:cNvSpPr>
          <p:nvPr/>
        </p:nvSpPr>
        <p:spPr bwMode="auto">
          <a:xfrm>
            <a:off x="7172325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08" name="Rectangle 28"/>
          <p:cNvSpPr>
            <a:spLocks noChangeArrowheads="1"/>
          </p:cNvSpPr>
          <p:nvPr/>
        </p:nvSpPr>
        <p:spPr bwMode="auto">
          <a:xfrm>
            <a:off x="77057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09" name="Rectangle 29"/>
          <p:cNvSpPr>
            <a:spLocks noChangeArrowheads="1"/>
          </p:cNvSpPr>
          <p:nvPr/>
        </p:nvSpPr>
        <p:spPr bwMode="auto">
          <a:xfrm>
            <a:off x="86201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10" name="Line 30"/>
          <p:cNvSpPr>
            <a:spLocks noChangeShapeType="1"/>
          </p:cNvSpPr>
          <p:nvPr/>
        </p:nvSpPr>
        <p:spPr bwMode="auto">
          <a:xfrm flipH="1">
            <a:off x="9067800" y="1119188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1" name="Text Box 31"/>
          <p:cNvSpPr txBox="1">
            <a:spLocks noChangeArrowheads="1"/>
          </p:cNvSpPr>
          <p:nvPr/>
        </p:nvSpPr>
        <p:spPr bwMode="auto">
          <a:xfrm>
            <a:off x="9067800" y="7381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2" name="Oval 32" descr="再生纸"/>
          <p:cNvSpPr>
            <a:spLocks noChangeArrowheads="1"/>
          </p:cNvSpPr>
          <p:nvPr/>
        </p:nvSpPr>
        <p:spPr bwMode="auto">
          <a:xfrm>
            <a:off x="4962525" y="10429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13" name="Line 33"/>
          <p:cNvSpPr>
            <a:spLocks noChangeShapeType="1"/>
          </p:cNvSpPr>
          <p:nvPr/>
        </p:nvSpPr>
        <p:spPr bwMode="auto">
          <a:xfrm>
            <a:off x="4962525" y="19573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4" name="Line 34"/>
          <p:cNvSpPr>
            <a:spLocks noChangeShapeType="1"/>
          </p:cNvSpPr>
          <p:nvPr/>
        </p:nvSpPr>
        <p:spPr bwMode="auto">
          <a:xfrm>
            <a:off x="52673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5" name="Line 35"/>
          <p:cNvSpPr>
            <a:spLocks noChangeShapeType="1"/>
          </p:cNvSpPr>
          <p:nvPr/>
        </p:nvSpPr>
        <p:spPr bwMode="auto">
          <a:xfrm flipH="1">
            <a:off x="5267325" y="12715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16" name="Text Box 36"/>
          <p:cNvSpPr txBox="1">
            <a:spLocks noChangeArrowheads="1"/>
          </p:cNvSpPr>
          <p:nvPr/>
        </p:nvSpPr>
        <p:spPr bwMode="auto">
          <a:xfrm>
            <a:off x="6715125" y="131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7" name="Text Box 37"/>
          <p:cNvSpPr txBox="1">
            <a:spLocks noChangeArrowheads="1"/>
          </p:cNvSpPr>
          <p:nvPr/>
        </p:nvSpPr>
        <p:spPr bwMode="auto">
          <a:xfrm>
            <a:off x="668337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18" name="Rectangle 38"/>
          <p:cNvSpPr>
            <a:spLocks noChangeArrowheads="1"/>
          </p:cNvSpPr>
          <p:nvPr/>
        </p:nvSpPr>
        <p:spPr bwMode="auto">
          <a:xfrm>
            <a:off x="607377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19" name="Rectangle 39"/>
          <p:cNvSpPr>
            <a:spLocks noChangeArrowheads="1"/>
          </p:cNvSpPr>
          <p:nvPr/>
        </p:nvSpPr>
        <p:spPr bwMode="auto">
          <a:xfrm>
            <a:off x="5267325" y="2719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20" name="Rectangle 40"/>
          <p:cNvSpPr>
            <a:spLocks noChangeArrowheads="1"/>
          </p:cNvSpPr>
          <p:nvPr/>
        </p:nvSpPr>
        <p:spPr bwMode="auto">
          <a:xfrm>
            <a:off x="4733925" y="2185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21" name="Rectangle 41"/>
          <p:cNvSpPr>
            <a:spLocks noChangeArrowheads="1"/>
          </p:cNvSpPr>
          <p:nvPr/>
        </p:nvSpPr>
        <p:spPr bwMode="auto">
          <a:xfrm>
            <a:off x="4733925" y="12715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22" name="Rectangle 42"/>
          <p:cNvSpPr>
            <a:spLocks noChangeArrowheads="1"/>
          </p:cNvSpPr>
          <p:nvPr/>
        </p:nvSpPr>
        <p:spPr bwMode="auto">
          <a:xfrm>
            <a:off x="52673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71723" name="Rectangle 43"/>
          <p:cNvSpPr>
            <a:spLocks noChangeArrowheads="1"/>
          </p:cNvSpPr>
          <p:nvPr/>
        </p:nvSpPr>
        <p:spPr bwMode="auto">
          <a:xfrm>
            <a:off x="6181725" y="7381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71724" name="Line 44"/>
          <p:cNvSpPr>
            <a:spLocks noChangeShapeType="1"/>
          </p:cNvSpPr>
          <p:nvPr/>
        </p:nvSpPr>
        <p:spPr bwMode="auto">
          <a:xfrm flipH="1">
            <a:off x="6629400" y="1119188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5" name="Text Box 45"/>
          <p:cNvSpPr txBox="1">
            <a:spLocks noChangeArrowheads="1"/>
          </p:cNvSpPr>
          <p:nvPr/>
        </p:nvSpPr>
        <p:spPr bwMode="auto">
          <a:xfrm>
            <a:off x="6629400" y="73818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26" name="Text Box 46"/>
          <p:cNvSpPr txBox="1">
            <a:spLocks noChangeArrowheads="1"/>
          </p:cNvSpPr>
          <p:nvPr/>
        </p:nvSpPr>
        <p:spPr bwMode="auto">
          <a:xfrm>
            <a:off x="4337051" y="9667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27" name="Line 47"/>
          <p:cNvSpPr>
            <a:spLocks noChangeShapeType="1"/>
          </p:cNvSpPr>
          <p:nvPr/>
        </p:nvSpPr>
        <p:spPr bwMode="auto">
          <a:xfrm flipH="1">
            <a:off x="4191000" y="1347788"/>
            <a:ext cx="3810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8" name="Line 48"/>
          <p:cNvSpPr>
            <a:spLocks noChangeShapeType="1"/>
          </p:cNvSpPr>
          <p:nvPr/>
        </p:nvSpPr>
        <p:spPr bwMode="auto">
          <a:xfrm>
            <a:off x="58674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9" name="Oval 49"/>
          <p:cNvSpPr>
            <a:spLocks noChangeArrowheads="1"/>
          </p:cNvSpPr>
          <p:nvPr/>
        </p:nvSpPr>
        <p:spPr bwMode="auto">
          <a:xfrm>
            <a:off x="5419725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0" name="Line 50"/>
          <p:cNvSpPr>
            <a:spLocks noChangeShapeType="1"/>
          </p:cNvSpPr>
          <p:nvPr/>
        </p:nvSpPr>
        <p:spPr bwMode="auto">
          <a:xfrm>
            <a:off x="8305800" y="10429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1" name="Oval 51"/>
          <p:cNvSpPr>
            <a:spLocks noChangeArrowheads="1"/>
          </p:cNvSpPr>
          <p:nvPr/>
        </p:nvSpPr>
        <p:spPr bwMode="auto">
          <a:xfrm>
            <a:off x="7858125" y="15001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32" name="Text Box 52"/>
          <p:cNvSpPr txBox="1">
            <a:spLocks noChangeArrowheads="1"/>
          </p:cNvSpPr>
          <p:nvPr/>
        </p:nvSpPr>
        <p:spPr bwMode="auto">
          <a:xfrm>
            <a:off x="6248400" y="13477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A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3" name="Text Box 53"/>
          <p:cNvSpPr txBox="1">
            <a:spLocks noChangeArrowheads="1"/>
          </p:cNvSpPr>
          <p:nvPr/>
        </p:nvSpPr>
        <p:spPr bwMode="auto">
          <a:xfrm>
            <a:off x="8686800" y="13477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99"/>
                </a:solidFill>
              </a:rPr>
              <a:t>A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734" name="Text Box 54"/>
          <p:cNvSpPr txBox="1">
            <a:spLocks noChangeArrowheads="1"/>
          </p:cNvSpPr>
          <p:nvPr/>
        </p:nvSpPr>
        <p:spPr bwMode="auto">
          <a:xfrm>
            <a:off x="8686801" y="19113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99"/>
                </a:solidFill>
              </a:rPr>
              <a:t>B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735" name="Text Box 55"/>
          <p:cNvSpPr txBox="1">
            <a:spLocks noChangeArrowheads="1"/>
          </p:cNvSpPr>
          <p:nvPr/>
        </p:nvSpPr>
        <p:spPr bwMode="auto">
          <a:xfrm>
            <a:off x="8305800" y="2338389"/>
            <a:ext cx="477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6" name="Text Box 56"/>
          <p:cNvSpPr txBox="1">
            <a:spLocks noChangeArrowheads="1"/>
          </p:cNvSpPr>
          <p:nvPr/>
        </p:nvSpPr>
        <p:spPr bwMode="auto">
          <a:xfrm>
            <a:off x="6553201" y="2566988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7" name="Line 57"/>
          <p:cNvSpPr>
            <a:spLocks noChangeShapeType="1"/>
          </p:cNvSpPr>
          <p:nvPr/>
        </p:nvSpPr>
        <p:spPr bwMode="auto">
          <a:xfrm flipH="1" flipV="1">
            <a:off x="6629400" y="2490788"/>
            <a:ext cx="304800" cy="2286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8" name="Text Box 58"/>
          <p:cNvSpPr txBox="1">
            <a:spLocks noChangeArrowheads="1"/>
          </p:cNvSpPr>
          <p:nvPr/>
        </p:nvSpPr>
        <p:spPr bwMode="auto">
          <a:xfrm>
            <a:off x="7107238" y="2795588"/>
            <a:ext cx="741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rear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39" name="Line 59"/>
          <p:cNvSpPr>
            <a:spLocks noChangeShapeType="1"/>
          </p:cNvSpPr>
          <p:nvPr/>
        </p:nvSpPr>
        <p:spPr bwMode="auto">
          <a:xfrm flipV="1">
            <a:off x="7620000" y="2795588"/>
            <a:ext cx="3048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0" name="Text Box 60"/>
          <p:cNvSpPr txBox="1">
            <a:spLocks noChangeArrowheads="1"/>
          </p:cNvSpPr>
          <p:nvPr/>
        </p:nvSpPr>
        <p:spPr bwMode="auto">
          <a:xfrm>
            <a:off x="2803526" y="3024188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</a:rPr>
              <a:t>空队列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41" name="Text Box 61"/>
          <p:cNvSpPr txBox="1">
            <a:spLocks noChangeArrowheads="1"/>
          </p:cNvSpPr>
          <p:nvPr/>
        </p:nvSpPr>
        <p:spPr bwMode="auto">
          <a:xfrm>
            <a:off x="5292725" y="3046413"/>
            <a:ext cx="1155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A</a:t>
            </a:r>
            <a:r>
              <a:rPr lang="zh-CN" altLang="zh-CN">
                <a:solidFill>
                  <a:srgbClr val="000099"/>
                </a:solidFill>
              </a:rPr>
              <a:t>入队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42" name="Text Box 62"/>
          <p:cNvSpPr txBox="1">
            <a:spLocks noChangeArrowheads="1"/>
          </p:cNvSpPr>
          <p:nvPr/>
        </p:nvSpPr>
        <p:spPr bwMode="auto">
          <a:xfrm>
            <a:off x="7832725" y="3038476"/>
            <a:ext cx="1570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99"/>
                </a:solidFill>
              </a:rPr>
              <a:t>B, C</a:t>
            </a:r>
            <a:r>
              <a:rPr lang="zh-CN" altLang="zh-CN">
                <a:solidFill>
                  <a:srgbClr val="000099"/>
                </a:solidFill>
              </a:rPr>
              <a:t>入队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1773" name="Oval 93" descr="再生纸"/>
          <p:cNvSpPr>
            <a:spLocks noChangeArrowheads="1"/>
          </p:cNvSpPr>
          <p:nvPr/>
        </p:nvSpPr>
        <p:spPr bwMode="auto">
          <a:xfrm>
            <a:off x="3300264" y="3862388"/>
            <a:ext cx="1828800" cy="1828800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4" name="Line 94"/>
          <p:cNvSpPr>
            <a:spLocks noChangeShapeType="1"/>
          </p:cNvSpPr>
          <p:nvPr/>
        </p:nvSpPr>
        <p:spPr bwMode="auto">
          <a:xfrm>
            <a:off x="4214664" y="3862388"/>
            <a:ext cx="0" cy="182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5" name="Line 95"/>
          <p:cNvSpPr>
            <a:spLocks noChangeShapeType="1"/>
          </p:cNvSpPr>
          <p:nvPr/>
        </p:nvSpPr>
        <p:spPr bwMode="auto">
          <a:xfrm>
            <a:off x="3300264" y="4776788"/>
            <a:ext cx="1828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6" name="Line 96"/>
          <p:cNvSpPr>
            <a:spLocks noChangeShapeType="1"/>
          </p:cNvSpPr>
          <p:nvPr/>
        </p:nvSpPr>
        <p:spPr bwMode="auto">
          <a:xfrm>
            <a:off x="3605064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7" name="Line 97"/>
          <p:cNvSpPr>
            <a:spLocks noChangeShapeType="1"/>
          </p:cNvSpPr>
          <p:nvPr/>
        </p:nvSpPr>
        <p:spPr bwMode="auto">
          <a:xfrm flipH="1">
            <a:off x="3605064" y="4090988"/>
            <a:ext cx="1219200" cy="1371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8" name="Oval 98"/>
          <p:cNvSpPr>
            <a:spLocks noChangeArrowheads="1"/>
          </p:cNvSpPr>
          <p:nvPr/>
        </p:nvSpPr>
        <p:spPr bwMode="auto">
          <a:xfrm>
            <a:off x="3757464" y="4319588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9" name="Text Box 99"/>
          <p:cNvSpPr txBox="1">
            <a:spLocks noChangeArrowheads="1"/>
          </p:cNvSpPr>
          <p:nvPr/>
        </p:nvSpPr>
        <p:spPr bwMode="auto">
          <a:xfrm>
            <a:off x="5052864" y="4243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0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80" name="Text Box 100"/>
          <p:cNvSpPr txBox="1">
            <a:spLocks noChangeArrowheads="1"/>
          </p:cNvSpPr>
          <p:nvPr/>
        </p:nvSpPr>
        <p:spPr bwMode="auto">
          <a:xfrm>
            <a:off x="5021114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1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781" name="Rectangle 101"/>
          <p:cNvSpPr>
            <a:spLocks noChangeArrowheads="1"/>
          </p:cNvSpPr>
          <p:nvPr/>
        </p:nvSpPr>
        <p:spPr bwMode="auto">
          <a:xfrm>
            <a:off x="4411514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2</a:t>
            </a:r>
          </a:p>
        </p:txBody>
      </p:sp>
      <p:sp>
        <p:nvSpPr>
          <p:cNvPr id="71782" name="Rectangle 102"/>
          <p:cNvSpPr>
            <a:spLocks noChangeArrowheads="1"/>
          </p:cNvSpPr>
          <p:nvPr/>
        </p:nvSpPr>
        <p:spPr bwMode="auto">
          <a:xfrm>
            <a:off x="3605064" y="55387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3</a:t>
            </a:r>
          </a:p>
        </p:txBody>
      </p:sp>
      <p:sp>
        <p:nvSpPr>
          <p:cNvPr id="71783" name="Rectangle 103"/>
          <p:cNvSpPr>
            <a:spLocks noChangeArrowheads="1"/>
          </p:cNvSpPr>
          <p:nvPr/>
        </p:nvSpPr>
        <p:spPr bwMode="auto">
          <a:xfrm>
            <a:off x="3071664" y="50053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4</a:t>
            </a:r>
          </a:p>
        </p:txBody>
      </p:sp>
      <p:sp>
        <p:nvSpPr>
          <p:cNvPr id="71784" name="Rectangle 104"/>
          <p:cNvSpPr>
            <a:spLocks noChangeArrowheads="1"/>
          </p:cNvSpPr>
          <p:nvPr/>
        </p:nvSpPr>
        <p:spPr bwMode="auto">
          <a:xfrm>
            <a:off x="3071664" y="4090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99"/>
                </a:solidFill>
              </a:rPr>
              <a:t>5</a:t>
            </a:r>
          </a:p>
        </p:txBody>
      </p:sp>
      <p:sp>
        <p:nvSpPr>
          <p:cNvPr id="71787" name="Text Box 107"/>
          <p:cNvSpPr txBox="1">
            <a:spLocks noChangeArrowheads="1"/>
          </p:cNvSpPr>
          <p:nvPr/>
        </p:nvSpPr>
        <p:spPr bwMode="auto">
          <a:xfrm>
            <a:off x="3112940" y="5934075"/>
            <a:ext cx="25081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99"/>
                </a:solidFill>
              </a:rPr>
              <a:t>D,E,F,G,H</a:t>
            </a:r>
            <a:r>
              <a:rPr lang="zh-CN" altLang="zh-CN" dirty="0">
                <a:solidFill>
                  <a:srgbClr val="000099"/>
                </a:solidFill>
              </a:rPr>
              <a:t>入队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1802" name="Text Box 122"/>
          <p:cNvSpPr txBox="1">
            <a:spLocks noChangeArrowheads="1"/>
          </p:cNvSpPr>
          <p:nvPr/>
        </p:nvSpPr>
        <p:spPr bwMode="auto">
          <a:xfrm>
            <a:off x="4235303" y="5157789"/>
            <a:ext cx="4778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C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3" name="Text Box 123"/>
          <p:cNvSpPr txBox="1">
            <a:spLocks noChangeArrowheads="1"/>
          </p:cNvSpPr>
          <p:nvPr/>
        </p:nvSpPr>
        <p:spPr bwMode="auto">
          <a:xfrm>
            <a:off x="5484665" y="4110569"/>
            <a:ext cx="13066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hlink"/>
                </a:solidFill>
              </a:rPr>
              <a:t>rear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71804" name="Line 124"/>
          <p:cNvSpPr>
            <a:spLocks noChangeShapeType="1"/>
          </p:cNvSpPr>
          <p:nvPr/>
        </p:nvSpPr>
        <p:spPr bwMode="auto">
          <a:xfrm flipH="1">
            <a:off x="5170720" y="4371976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06" name="Text Box 126"/>
          <p:cNvSpPr txBox="1">
            <a:spLocks noChangeArrowheads="1"/>
          </p:cNvSpPr>
          <p:nvPr/>
        </p:nvSpPr>
        <p:spPr bwMode="auto">
          <a:xfrm>
            <a:off x="3778103" y="51879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D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7" name="Text Box 127"/>
          <p:cNvSpPr txBox="1">
            <a:spLocks noChangeArrowheads="1"/>
          </p:cNvSpPr>
          <p:nvPr/>
        </p:nvSpPr>
        <p:spPr bwMode="auto">
          <a:xfrm>
            <a:off x="3341540" y="480695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8" name="Text Box 128"/>
          <p:cNvSpPr txBox="1">
            <a:spLocks noChangeArrowheads="1"/>
          </p:cNvSpPr>
          <p:nvPr/>
        </p:nvSpPr>
        <p:spPr bwMode="auto">
          <a:xfrm>
            <a:off x="3366939" y="4243389"/>
            <a:ext cx="431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F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09" name="Text Box 129"/>
          <p:cNvSpPr txBox="1">
            <a:spLocks noChangeArrowheads="1"/>
          </p:cNvSpPr>
          <p:nvPr/>
        </p:nvSpPr>
        <p:spPr bwMode="auto">
          <a:xfrm>
            <a:off x="3722540" y="3786189"/>
            <a:ext cx="500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G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10" name="Text Box 130"/>
          <p:cNvSpPr txBox="1">
            <a:spLocks noChangeArrowheads="1"/>
          </p:cNvSpPr>
          <p:nvPr/>
        </p:nvSpPr>
        <p:spPr bwMode="auto">
          <a:xfrm>
            <a:off x="4179740" y="381635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99"/>
                </a:solidFill>
              </a:rPr>
              <a:t>H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1811" name="Text Box 131"/>
          <p:cNvSpPr txBox="1">
            <a:spLocks noChangeArrowheads="1"/>
          </p:cNvSpPr>
          <p:nvPr/>
        </p:nvSpPr>
        <p:spPr bwMode="auto">
          <a:xfrm>
            <a:off x="4675039" y="4197351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99"/>
                </a:solidFill>
              </a:rPr>
              <a:t>A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499844" name="Text Box 132"/>
          <p:cNvSpPr txBox="1">
            <a:spLocks noChangeArrowheads="1"/>
          </p:cNvSpPr>
          <p:nvPr/>
        </p:nvSpPr>
        <p:spPr bwMode="auto">
          <a:xfrm>
            <a:off x="1524000" y="44451"/>
            <a:ext cx="9144000" cy="823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循环队列空队和满队判定</a:t>
            </a:r>
            <a:endParaRPr lang="zh-CN" altLang="en-US" sz="4800" dirty="0"/>
          </a:p>
        </p:txBody>
      </p:sp>
      <p:sp>
        <p:nvSpPr>
          <p:cNvPr id="133" name="Text Box 54"/>
          <p:cNvSpPr txBox="1">
            <a:spLocks noChangeArrowheads="1"/>
          </p:cNvSpPr>
          <p:nvPr/>
        </p:nvSpPr>
        <p:spPr bwMode="auto">
          <a:xfrm>
            <a:off x="4671071" y="4774671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000099"/>
                </a:solidFill>
              </a:rPr>
              <a:t>B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34" name="Line 30"/>
          <p:cNvSpPr>
            <a:spLocks noChangeShapeType="1"/>
          </p:cNvSpPr>
          <p:nvPr/>
        </p:nvSpPr>
        <p:spPr bwMode="auto">
          <a:xfrm flipH="1">
            <a:off x="5021114" y="3946525"/>
            <a:ext cx="304800" cy="3048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Text Box 31"/>
          <p:cNvSpPr txBox="1">
            <a:spLocks noChangeArrowheads="1"/>
          </p:cNvSpPr>
          <p:nvPr/>
        </p:nvSpPr>
        <p:spPr bwMode="auto">
          <a:xfrm>
            <a:off x="5021114" y="356552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front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160" name="Rectangle 105"/>
          <p:cNvSpPr>
            <a:spLocks noChangeArrowheads="1"/>
          </p:cNvSpPr>
          <p:nvPr/>
        </p:nvSpPr>
        <p:spPr bwMode="auto">
          <a:xfrm>
            <a:off x="3683646" y="3473451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161" name="Rectangle 106"/>
          <p:cNvSpPr>
            <a:spLocks noChangeArrowheads="1"/>
          </p:cNvSpPr>
          <p:nvPr/>
        </p:nvSpPr>
        <p:spPr bwMode="auto">
          <a:xfrm>
            <a:off x="4429770" y="34734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99"/>
                </a:solidFill>
              </a:rPr>
              <a:t>7</a:t>
            </a:r>
          </a:p>
        </p:txBody>
      </p:sp>
      <p:sp>
        <p:nvSpPr>
          <p:cNvPr id="2" name="矩形 1"/>
          <p:cNvSpPr/>
          <p:nvPr/>
        </p:nvSpPr>
        <p:spPr>
          <a:xfrm>
            <a:off x="6518276" y="3816350"/>
            <a:ext cx="3988435" cy="15811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 </a:t>
            </a:r>
            <a:r>
              <a:rPr lang="en-US" altLang="zh-CN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==</a:t>
            </a:r>
            <a:r>
              <a:rPr lang="en-US" altLang="zh-CN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rear</a:t>
            </a:r>
          </a:p>
          <a:p>
            <a:pPr lvl="1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队空？</a:t>
            </a:r>
            <a:endParaRPr lang="en-US" altLang="zh-CN" sz="36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lvl="1"/>
            <a:r>
              <a:rPr lang="zh-CN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队满？</a:t>
            </a:r>
            <a:endParaRPr lang="en-US" altLang="zh-CN" sz="360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8" grpId="0" animBg="1"/>
      <p:bldP spid="71699" grpId="0" animBg="1"/>
      <p:bldP spid="71700" grpId="0" animBg="1"/>
      <p:bldP spid="71701" grpId="0" animBg="1"/>
      <p:bldP spid="71702" grpId="0"/>
      <p:bldP spid="71703" grpId="0"/>
      <p:bldP spid="71704" grpId="0"/>
      <p:bldP spid="71705" grpId="0"/>
      <p:bldP spid="71706" grpId="0"/>
      <p:bldP spid="71707" grpId="0"/>
      <p:bldP spid="71708" grpId="0"/>
      <p:bldP spid="71709" grpId="0"/>
      <p:bldP spid="71710" grpId="0" animBg="1"/>
      <p:bldP spid="71711" grpId="0"/>
      <p:bldP spid="71712" grpId="0" animBg="1"/>
      <p:bldP spid="71713" grpId="0" animBg="1"/>
      <p:bldP spid="71714" grpId="0" animBg="1"/>
      <p:bldP spid="71715" grpId="0" animBg="1"/>
      <p:bldP spid="71716" grpId="0"/>
      <p:bldP spid="71717" grpId="0"/>
      <p:bldP spid="71718" grpId="0"/>
      <p:bldP spid="71719" grpId="0"/>
      <p:bldP spid="71720" grpId="0"/>
      <p:bldP spid="71721" grpId="0"/>
      <p:bldP spid="71722" grpId="0"/>
      <p:bldP spid="71723" grpId="0"/>
      <p:bldP spid="71724" grpId="0" animBg="1"/>
      <p:bldP spid="71725" grpId="0"/>
      <p:bldP spid="71728" grpId="0" animBg="1"/>
      <p:bldP spid="71729" grpId="0" animBg="1"/>
      <p:bldP spid="71730" grpId="0" animBg="1"/>
      <p:bldP spid="71731" grpId="0" animBg="1"/>
      <p:bldP spid="71732" grpId="0"/>
      <p:bldP spid="71733" grpId="0"/>
      <p:bldP spid="71734" grpId="0"/>
      <p:bldP spid="71735" grpId="0"/>
      <p:bldP spid="71736" grpId="0"/>
      <p:bldP spid="71737" grpId="0" animBg="1"/>
      <p:bldP spid="71738" grpId="0"/>
      <p:bldP spid="71739" grpId="0" animBg="1"/>
      <p:bldP spid="71741" grpId="0"/>
      <p:bldP spid="71742" grpId="0"/>
      <p:bldP spid="71773" grpId="0" animBg="1"/>
      <p:bldP spid="71774" grpId="0" animBg="1"/>
      <p:bldP spid="71775" grpId="0" animBg="1"/>
      <p:bldP spid="71776" grpId="0" animBg="1"/>
      <p:bldP spid="71777" grpId="0" animBg="1"/>
      <p:bldP spid="71778" grpId="0" animBg="1"/>
      <p:bldP spid="71779" grpId="0"/>
      <p:bldP spid="71780" grpId="0"/>
      <p:bldP spid="71781" grpId="0"/>
      <p:bldP spid="71782" grpId="0"/>
      <p:bldP spid="71783" grpId="0"/>
      <p:bldP spid="71784" grpId="0"/>
      <p:bldP spid="71787" grpId="0"/>
      <p:bldP spid="71802" grpId="0"/>
      <p:bldP spid="71803" grpId="0"/>
      <p:bldP spid="71804" grpId="0" animBg="1"/>
      <p:bldP spid="71806" grpId="0"/>
      <p:bldP spid="71807" grpId="0"/>
      <p:bldP spid="71808" grpId="0"/>
      <p:bldP spid="71809" grpId="0"/>
      <p:bldP spid="71810" grpId="0"/>
      <p:bldP spid="71811" grpId="0"/>
      <p:bldP spid="133" grpId="0"/>
      <p:bldP spid="134" grpId="0" animBg="1"/>
      <p:bldP spid="135" grpId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692696"/>
            <a:ext cx="9068544" cy="475456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endParaRPr lang="zh-CN" altLang="en-US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队空条件：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front </a:t>
            </a:r>
            <a:r>
              <a:rPr lang="en-US" altLang="zh-CN" i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==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 rear 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endParaRPr lang="zh-CN" altLang="en-US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Font typeface="Wingdings" panose="05000000000000000000" pitchFamily="2" charset="2"/>
              <a:buChar char="F"/>
              <a:defRPr/>
            </a:pP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仿宋_GB2312" pitchFamily="49" charset="-122"/>
              </a:rPr>
              <a:t>队满条件：</a:t>
            </a:r>
            <a:endParaRPr lang="en-US" altLang="zh-CN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仿宋_GB2312" pitchFamily="49" charset="-122"/>
            </a:endParaRPr>
          </a:p>
          <a:p>
            <a:pPr lvl="0" algn="just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只凭 </a:t>
            </a:r>
            <a:r>
              <a:rPr lang="en-US" altLang="zh-CN" b="1" dirty="0" smtClean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front==rear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无法判别队列空间是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还是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。可有多种处理方法：</a:t>
            </a:r>
            <a:endParaRPr lang="zh-CN" altLang="en-US" dirty="0"/>
          </a:p>
          <a:p>
            <a:pPr marL="285750" lvl="0" indent="-285750" algn="just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增设一个标志位以区别队列是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还是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en-US" dirty="0"/>
          </a:p>
          <a:p>
            <a:pPr marL="285750" lvl="0" indent="-285750" algn="just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增设一个长度域，空队列的长度为</a:t>
            </a:r>
            <a:r>
              <a:rPr lang="en-US" altLang="zh-CN" b="1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zh-CN" altLang="en-US" dirty="0"/>
          </a:p>
          <a:p>
            <a:pPr marL="285750" lvl="0" indent="-285750" algn="just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少用一个元素空间，约定以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队列头指针在队列尾指针的下一位置（指环状的下一位置）上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作为队列为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满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的状态判据。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05000"/>
              </a:lnSpc>
              <a:spcBef>
                <a:spcPct val="15000"/>
              </a:spcBef>
              <a:buClr>
                <a:srgbClr val="800080"/>
              </a:buClr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46597FF-E7B0-B0CE-5EDF-49C63CD9F3C5}"/>
              </a:ext>
            </a:extLst>
          </p:cNvPr>
          <p:cNvSpPr txBox="1"/>
          <p:nvPr/>
        </p:nvSpPr>
        <p:spPr>
          <a:xfrm>
            <a:off x="300471" y="867990"/>
            <a:ext cx="10807412" cy="594008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*base;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初始化时动态分配元素存储空间的基址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front;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头指针，若队列不空，指向队列头元素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rear;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尾指针，若队列不空，指向队列尾元素的下一个位置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size;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被分配的存储空间元素容量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循环队列指针类型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Status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EnQueue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Q,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入队，插入元素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的新队尾元素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 || (Q-&gt;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rear+1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)%Q-&gt;size == Q-&gt;front)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ERROR;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Q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不存在或满则报错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Q-&gt;base[Q-&gt;rear] = e;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元素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入队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Q-&gt;rear = (Q-&gt;rear + 1) % Q-&gt;size;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尾指针（循环）增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OK;</a:t>
            </a:r>
            <a:endParaRPr kumimoji="0" lang="zh-CN" altLang="zh-CN" sz="28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DeQueue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SqQueue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Q)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退队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若队列存在且不空，则删除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并返回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的队头元素，否则返回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ERROR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!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 || Q-&gt;front==Q-&gt;rear)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若队列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不存在或空</a:t>
            </a:r>
            <a:endParaRPr kumimoji="0" lang="en-US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nellE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则报错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 = Q-&gt;base[Q-&gt;front];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退队元素值赋给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Q-&gt;front = (Q-&gt;front + 1) % Q-&gt;size;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头指针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增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e;                            </a:t>
            </a: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0" lang="zh-CN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返回退队元素值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41AB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D63F36-195A-AEF8-02E1-B8AC75665F34}"/>
              </a:ext>
            </a:extLst>
          </p:cNvPr>
          <p:cNvSpPr/>
          <p:nvPr/>
        </p:nvSpPr>
        <p:spPr>
          <a:xfrm>
            <a:off x="7984509" y="3434069"/>
            <a:ext cx="3953741" cy="30641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115709-B64A-6933-0E44-D2DA7A56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3797" y="640150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0FE0B-717B-41AE-9FA2-CA4BF851D1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ECF353-FCF9-8239-4368-FF2E7178DDC0}"/>
              </a:ext>
            </a:extLst>
          </p:cNvPr>
          <p:cNvSpPr txBox="1"/>
          <p:nvPr/>
        </p:nvSpPr>
        <p:spPr>
          <a:xfrm>
            <a:off x="1349519" y="264739"/>
            <a:ext cx="5482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循环队列类型定义和主要操作的实现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文本框 81922">
            <a:extLst>
              <a:ext uri="{FF2B5EF4-FFF2-40B4-BE49-F238E27FC236}">
                <a16:creationId xmlns:a16="http://schemas.microsoft.com/office/drawing/2014/main" id="{3D90F82A-24F8-B29A-4CFE-40DCC3E94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4509" y="4527348"/>
            <a:ext cx="767331" cy="39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E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front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8E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B8CDD6B7-F0C1-0D18-01D9-B8E2B054FB8A}"/>
              </a:ext>
            </a:extLst>
          </p:cNvPr>
          <p:cNvGrpSpPr/>
          <p:nvPr/>
        </p:nvGrpSpPr>
        <p:grpSpPr>
          <a:xfrm>
            <a:off x="8069206" y="4182164"/>
            <a:ext cx="3747920" cy="1844113"/>
            <a:chOff x="8072070" y="4127286"/>
            <a:chExt cx="3747920" cy="1844113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B312965-C57B-1A4B-6BB3-243F038328D0}"/>
                </a:ext>
              </a:extLst>
            </p:cNvPr>
            <p:cNvGrpSpPr/>
            <p:nvPr/>
          </p:nvGrpSpPr>
          <p:grpSpPr>
            <a:xfrm>
              <a:off x="8072070" y="4127286"/>
              <a:ext cx="3747920" cy="1844113"/>
              <a:chOff x="8072070" y="4127286"/>
              <a:chExt cx="3747920" cy="1844113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FBEC6815-6F15-4470-CE89-B777C2AD4FCC}"/>
                  </a:ext>
                </a:extLst>
              </p:cNvPr>
              <p:cNvSpPr/>
              <p:nvPr/>
            </p:nvSpPr>
            <p:spPr>
              <a:xfrm>
                <a:off x="8705148" y="4469317"/>
                <a:ext cx="274667" cy="3794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8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94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90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92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88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84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870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2198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C21C93A6-D909-2D49-6962-50DA4B7CD87F}"/>
                  </a:ext>
                </a:extLst>
              </p:cNvPr>
              <p:cNvSpPr/>
              <p:nvPr/>
            </p:nvSpPr>
            <p:spPr>
              <a:xfrm>
                <a:off x="8704952" y="4858810"/>
                <a:ext cx="274667" cy="30213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8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94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90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92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88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84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870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2198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7DD2BD0A-3C23-60C0-581D-BC922E32D8A3}"/>
                  </a:ext>
                </a:extLst>
              </p:cNvPr>
              <p:cNvSpPr/>
              <p:nvPr/>
            </p:nvSpPr>
            <p:spPr>
              <a:xfrm>
                <a:off x="8704952" y="5171053"/>
                <a:ext cx="274667" cy="3902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8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94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90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92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88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84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870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2198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C21C93A6-D909-2D49-6962-50DA4B7CD87F}"/>
                  </a:ext>
                </a:extLst>
              </p:cNvPr>
              <p:cNvSpPr/>
              <p:nvPr/>
            </p:nvSpPr>
            <p:spPr>
              <a:xfrm>
                <a:off x="8701337" y="5572678"/>
                <a:ext cx="274667" cy="3987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60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98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94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903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92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88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8470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8705" algn="l" defTabSz="1219835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2198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文本框 20">
                <a:extLst>
                  <a:ext uri="{FF2B5EF4-FFF2-40B4-BE49-F238E27FC236}">
                    <a16:creationId xmlns:a16="http://schemas.microsoft.com/office/drawing/2014/main" id="{F15E74AF-3FB6-236C-93E1-A246EAD7BBB3}"/>
                  </a:ext>
                </a:extLst>
              </p:cNvPr>
              <p:cNvSpPr txBox="1"/>
              <p:nvPr/>
            </p:nvSpPr>
            <p:spPr>
              <a:xfrm>
                <a:off x="9244606" y="4522074"/>
                <a:ext cx="2575384" cy="406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1ABC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0     1     2     3     4     5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FDCFDF18-37BB-AA47-95B8-0461C95F14DA}"/>
                  </a:ext>
                </a:extLst>
              </p:cNvPr>
              <p:cNvGrpSpPr/>
              <p:nvPr/>
            </p:nvGrpSpPr>
            <p:grpSpPr>
              <a:xfrm>
                <a:off x="9261819" y="4853836"/>
                <a:ext cx="2445303" cy="348519"/>
                <a:chOff x="8919289" y="4554430"/>
                <a:chExt cx="2445303" cy="348519"/>
              </a:xfrm>
            </p:grpSpPr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BDC2BD8C-883C-4596-8900-205E0B2DCD25}"/>
                    </a:ext>
                  </a:extLst>
                </p:cNvPr>
                <p:cNvSpPr/>
                <p:nvPr/>
              </p:nvSpPr>
              <p:spPr>
                <a:xfrm>
                  <a:off x="8919289" y="4560073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68A2F4FF-AC77-3B1B-7F9A-2C69FFAE87DC}"/>
                    </a:ext>
                  </a:extLst>
                </p:cNvPr>
                <p:cNvSpPr/>
                <p:nvPr/>
              </p:nvSpPr>
              <p:spPr>
                <a:xfrm>
                  <a:off x="9326694" y="4559367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BDC2BD8C-883C-4596-8900-205E0B2DCD25}"/>
                    </a:ext>
                  </a:extLst>
                </p:cNvPr>
                <p:cNvSpPr/>
                <p:nvPr/>
              </p:nvSpPr>
              <p:spPr>
                <a:xfrm>
                  <a:off x="9729748" y="4555326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DC2BD8C-883C-4596-8900-205E0B2DCD25}"/>
                    </a:ext>
                  </a:extLst>
                </p:cNvPr>
                <p:cNvSpPr/>
                <p:nvPr/>
              </p:nvSpPr>
              <p:spPr>
                <a:xfrm>
                  <a:off x="10547170" y="4554430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BDC2BD8C-883C-4596-8900-205E0B2DCD25}"/>
                    </a:ext>
                  </a:extLst>
                </p:cNvPr>
                <p:cNvSpPr/>
                <p:nvPr/>
              </p:nvSpPr>
              <p:spPr>
                <a:xfrm>
                  <a:off x="10959771" y="4557252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BDC2BD8C-883C-4596-8900-205E0B2DCD25}"/>
                    </a:ext>
                  </a:extLst>
                </p:cNvPr>
                <p:cNvSpPr/>
                <p:nvPr/>
              </p:nvSpPr>
              <p:spPr>
                <a:xfrm>
                  <a:off x="10139764" y="4554430"/>
                  <a:ext cx="404821" cy="342876"/>
                </a:xfrm>
                <a:prstGeom prst="rect">
                  <a:avLst/>
                </a:prstGeom>
                <a:solidFill>
                  <a:srgbClr val="CCFFFF"/>
                </a:solidFill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0960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2198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8294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43903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0492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36588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4268470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4878705" algn="l" defTabSz="1219835" rtl="0" eaLnBrk="1" latinLnBrk="0" hangingPunct="1">
                    <a:defRPr sz="24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21983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9666B012-791B-4ECC-CBCD-7EB9A1FF8F11}"/>
                    </a:ext>
                  </a:extLst>
                </p:cNvPr>
                <p:cNvSpPr/>
                <p:nvPr/>
              </p:nvSpPr>
              <p:spPr>
                <a:xfrm>
                  <a:off x="8919289" y="4560073"/>
                  <a:ext cx="2434512" cy="342876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8" name="文本框 81922">
                <a:extLst>
                  <a:ext uri="{FF2B5EF4-FFF2-40B4-BE49-F238E27FC236}">
                    <a16:creationId xmlns:a16="http://schemas.microsoft.com/office/drawing/2014/main" id="{0A1A78CD-A9AE-1B99-8A72-B9E53E89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94040" y="5165542"/>
                <a:ext cx="663868" cy="394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Char char="–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Monotype Sorts" pitchFamily="2" charset="2"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50000"/>
                      </a:srgbClr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rear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02B93">
                      <a:lumMod val="50000"/>
                    </a:srgbClr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文本框 81922">
                <a:extLst>
                  <a:ext uri="{FF2B5EF4-FFF2-40B4-BE49-F238E27FC236}">
                    <a16:creationId xmlns:a16="http://schemas.microsoft.com/office/drawing/2014/main" id="{40819792-017C-6329-03AB-F4F8047072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11109" y="5546664"/>
                <a:ext cx="623285" cy="394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Char char="–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Monotype Sorts" pitchFamily="2" charset="2"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size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30F6A481-3911-689B-7FA2-EA770F77CB7D}"/>
                  </a:ext>
                </a:extLst>
              </p:cNvPr>
              <p:cNvGrpSpPr/>
              <p:nvPr/>
            </p:nvGrpSpPr>
            <p:grpSpPr>
              <a:xfrm>
                <a:off x="8137200" y="4127286"/>
                <a:ext cx="554518" cy="460187"/>
                <a:chOff x="8947055" y="5064062"/>
                <a:chExt cx="554518" cy="460187"/>
              </a:xfrm>
            </p:grpSpPr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8A01C66D-F45B-AAE4-3544-E06EA7D8B9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8955" y="5334819"/>
                  <a:ext cx="172618" cy="189430"/>
                </a:xfrm>
                <a:prstGeom prst="straightConnector1">
                  <a:avLst/>
                </a:prstGeom>
                <a:ln>
                  <a:solidFill>
                    <a:srgbClr val="8E0000"/>
                  </a:solidFill>
                  <a:headEnd type="oval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文本框 81922">
                  <a:extLst>
                    <a:ext uri="{FF2B5EF4-FFF2-40B4-BE49-F238E27FC236}">
                      <a16:creationId xmlns:a16="http://schemas.microsoft.com/office/drawing/2014/main" id="{9A2ED32B-1872-8B35-0098-35CA9EAB9E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47055" y="5064062"/>
                  <a:ext cx="472887" cy="3947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sz="32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742950" indent="-285750" algn="l" defTabSz="914400" rtl="0" eaLnBrk="1" latinLnBrk="0" hangingPunct="1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sz="28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1143000" indent="-228600" algn="l" defTabSz="914400" rtl="0" eaLnBrk="1" latinLnBrk="0" hangingPunct="1">
                    <a:spcBef>
                      <a:spcPct val="20000"/>
                    </a:spcBef>
                    <a:buChar char="•"/>
                    <a:defRPr sz="24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600200" indent="-228600" algn="l" defTabSz="914400" rtl="0" eaLnBrk="1" latinLnBrk="0" hangingPunct="1">
                    <a:spcBef>
                      <a:spcPct val="20000"/>
                    </a:spcBef>
                    <a:buChar char="–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2057400" indent="-228600" algn="l" defTabSz="914400" rtl="0" eaLnBrk="1" latinLnBrk="0" hangingPunct="1">
                    <a:spcBef>
                      <a:spcPct val="20000"/>
                    </a:spcBef>
                    <a:buChar char="»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5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  <a:cs typeface="+mn-cs"/>
                    </a:rPr>
                    <a:t>Q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46" name="文本框 81922">
                <a:extLst>
                  <a:ext uri="{FF2B5EF4-FFF2-40B4-BE49-F238E27FC236}">
                    <a16:creationId xmlns:a16="http://schemas.microsoft.com/office/drawing/2014/main" id="{880E3027-01CE-9327-9562-D4450BB9A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72070" y="4797672"/>
                <a:ext cx="686835" cy="394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sz="32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Char char="–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5146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9718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4290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886200" indent="-228600" algn="l" defTabSz="914400" rtl="0" eaLnBrk="0" fontAlgn="base" latinLnBrk="0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1ABC"/>
                    </a:solidFill>
                    <a:effectLst/>
                    <a:uLnTx/>
                    <a:uFillTx/>
                    <a:latin typeface="Times New Roman" panose="02020603050405020304"/>
                    <a:ea typeface="宋体" panose="02010600030101010101" pitchFamily="2" charset="-122"/>
                    <a:cs typeface="+mn-cs"/>
                  </a:rPr>
                  <a:t>base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41ABC"/>
                  </a:solidFill>
                  <a:effectLst/>
                  <a:uLnTx/>
                  <a:uFillTx/>
                  <a:latin typeface="Times New Roman" panose="020206030504050203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76BEA695-65D8-E2A3-F856-58AB16582F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30816" y="5030211"/>
                <a:ext cx="436613" cy="0"/>
              </a:xfrm>
              <a:prstGeom prst="straightConnector1">
                <a:avLst/>
              </a:prstGeom>
              <a:ln>
                <a:headEnd type="oval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26">
              <a:extLst>
                <a:ext uri="{FF2B5EF4-FFF2-40B4-BE49-F238E27FC236}">
                  <a16:creationId xmlns:a16="http://schemas.microsoft.com/office/drawing/2014/main" id="{E9B00E1B-E847-7813-0E37-8C1BD49421CB}"/>
                </a:ext>
              </a:extLst>
            </p:cNvPr>
            <p:cNvSpPr txBox="1"/>
            <p:nvPr/>
          </p:nvSpPr>
          <p:spPr>
            <a:xfrm>
              <a:off x="8717520" y="5619238"/>
              <a:ext cx="226591" cy="307777"/>
            </a:xfrm>
            <a:prstGeom prst="rect">
              <a:avLst/>
            </a:prstGeom>
            <a:noFill/>
          </p:spPr>
          <p:txBody>
            <a:bodyPr wrap="none" lIns="36000" tIns="0" rIns="3600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6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64" name="文本框 26">
            <a:extLst>
              <a:ext uri="{FF2B5EF4-FFF2-40B4-BE49-F238E27FC236}">
                <a16:creationId xmlns:a16="http://schemas.microsoft.com/office/drawing/2014/main" id="{38E34CB6-070B-1DCD-2153-E138ABE99818}"/>
              </a:ext>
            </a:extLst>
          </p:cNvPr>
          <p:cNvSpPr txBox="1"/>
          <p:nvPr/>
        </p:nvSpPr>
        <p:spPr>
          <a:xfrm>
            <a:off x="8720776" y="4632606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65" name="文本框 26">
            <a:extLst>
              <a:ext uri="{FF2B5EF4-FFF2-40B4-BE49-F238E27FC236}">
                <a16:creationId xmlns:a16="http://schemas.microsoft.com/office/drawing/2014/main" id="{D342DEF9-2DB2-3E5E-72DD-9FD95314EF6D}"/>
              </a:ext>
            </a:extLst>
          </p:cNvPr>
          <p:cNvSpPr txBox="1"/>
          <p:nvPr/>
        </p:nvSpPr>
        <p:spPr>
          <a:xfrm>
            <a:off x="8719484" y="5207750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901CF08-C840-E6C0-209B-0E78AC0357C5}"/>
              </a:ext>
            </a:extLst>
          </p:cNvPr>
          <p:cNvGrpSpPr/>
          <p:nvPr/>
        </p:nvGrpSpPr>
        <p:grpSpPr>
          <a:xfrm>
            <a:off x="8838224" y="4609709"/>
            <a:ext cx="659069" cy="295651"/>
            <a:chOff x="8843108" y="4705787"/>
            <a:chExt cx="639621" cy="177212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1C97CFC-9130-9C0F-424C-9F87C62C1521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64100D2-EA80-3F29-C87D-111C6D6E7233}"/>
                </a:ext>
              </a:extLst>
            </p:cNvPr>
            <p:cNvCxnSpPr>
              <a:cxnSpLocks/>
            </p:cNvCxnSpPr>
            <p:nvPr/>
          </p:nvCxnSpPr>
          <p:spPr>
            <a:xfrm>
              <a:off x="9482729" y="4712344"/>
              <a:ext cx="0" cy="170655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BA4CC6A-0D15-8A56-2D4D-3404977D7C94}"/>
              </a:ext>
            </a:extLst>
          </p:cNvPr>
          <p:cNvGrpSpPr/>
          <p:nvPr/>
        </p:nvGrpSpPr>
        <p:grpSpPr>
          <a:xfrm>
            <a:off x="8838224" y="5248620"/>
            <a:ext cx="639621" cy="259663"/>
            <a:chOff x="8843108" y="4452681"/>
            <a:chExt cx="639621" cy="259663"/>
          </a:xfrm>
        </p:grpSpPr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41BC869B-5E59-1704-9AA1-E3CC948D9A24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8C9D6D91-9AFC-67B6-EBCD-F4C2E6E95A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0E096B09-526E-8101-9DCF-9AB53A06756D}"/>
              </a:ext>
            </a:extLst>
          </p:cNvPr>
          <p:cNvSpPr txBox="1"/>
          <p:nvPr/>
        </p:nvSpPr>
        <p:spPr>
          <a:xfrm>
            <a:off x="8149497" y="3468702"/>
            <a:ext cx="3268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初始空的循环队列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Q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1A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，容量为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8CF1427-E443-A625-42E8-3626BC873237}"/>
              </a:ext>
            </a:extLst>
          </p:cNvPr>
          <p:cNvGrpSpPr/>
          <p:nvPr/>
        </p:nvGrpSpPr>
        <p:grpSpPr>
          <a:xfrm>
            <a:off x="8844467" y="4608575"/>
            <a:ext cx="1031974" cy="302961"/>
            <a:chOff x="8441172" y="4663824"/>
            <a:chExt cx="1001522" cy="181594"/>
          </a:xfrm>
        </p:grpSpPr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011F699A-4CF4-792D-CB73-3590CBDEEC5E}"/>
                </a:ext>
              </a:extLst>
            </p:cNvPr>
            <p:cNvCxnSpPr>
              <a:cxnSpLocks/>
              <a:stCxn id="64" idx="0"/>
            </p:cNvCxnSpPr>
            <p:nvPr/>
          </p:nvCxnSpPr>
          <p:spPr>
            <a:xfrm flipV="1">
              <a:off x="8441172" y="4663824"/>
              <a:ext cx="1001522" cy="3869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4DB0E79-3C10-D214-F69B-E576DFCFD2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5249" y="4663824"/>
              <a:ext cx="3" cy="18159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0189B00-CF85-C679-2314-031413E1C990}"/>
              </a:ext>
            </a:extLst>
          </p:cNvPr>
          <p:cNvGrpSpPr/>
          <p:nvPr/>
        </p:nvGrpSpPr>
        <p:grpSpPr>
          <a:xfrm>
            <a:off x="8834071" y="5255865"/>
            <a:ext cx="1035567" cy="257930"/>
            <a:chOff x="8843108" y="4452681"/>
            <a:chExt cx="639621" cy="259663"/>
          </a:xfrm>
        </p:grpSpPr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FD2B49D6-59F3-A710-DEE5-2DA065C98C5C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D9EA1359-DD87-CDCB-C550-15471A0477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文本框 26">
            <a:extLst>
              <a:ext uri="{FF2B5EF4-FFF2-40B4-BE49-F238E27FC236}">
                <a16:creationId xmlns:a16="http://schemas.microsoft.com/office/drawing/2014/main" id="{22682B05-3074-F66B-4E1B-E0E3B1AC0834}"/>
              </a:ext>
            </a:extLst>
          </p:cNvPr>
          <p:cNvSpPr txBox="1"/>
          <p:nvPr/>
        </p:nvSpPr>
        <p:spPr>
          <a:xfrm>
            <a:off x="8721050" y="5224954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9CDFF8C-60AB-DDDA-34BB-8AE0ED420FFC}"/>
              </a:ext>
            </a:extLst>
          </p:cNvPr>
          <p:cNvSpPr txBox="1"/>
          <p:nvPr/>
        </p:nvSpPr>
        <p:spPr>
          <a:xfrm>
            <a:off x="8149497" y="3845014"/>
            <a:ext cx="119784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依次入队：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289B4E1-5D02-0F59-698F-4169822E6497}"/>
              </a:ext>
            </a:extLst>
          </p:cNvPr>
          <p:cNvSpPr txBox="1"/>
          <p:nvPr/>
        </p:nvSpPr>
        <p:spPr>
          <a:xfrm>
            <a:off x="9320675" y="3870032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'A'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0DBEB0D-09B6-A042-267C-885B6C1C7AFC}"/>
              </a:ext>
            </a:extLst>
          </p:cNvPr>
          <p:cNvGrpSpPr/>
          <p:nvPr/>
        </p:nvGrpSpPr>
        <p:grpSpPr>
          <a:xfrm>
            <a:off x="8831103" y="5268468"/>
            <a:ext cx="1445506" cy="257930"/>
            <a:chOff x="8843108" y="4452681"/>
            <a:chExt cx="639621" cy="259663"/>
          </a:xfrm>
        </p:grpSpPr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B4D88540-65CB-BE79-1746-277D6CCD097A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E56E3AB4-3FDB-8D92-BD33-9F83F1C8E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E14C28FC-8DAA-DF49-4AFC-6CFBBF2BD69F}"/>
              </a:ext>
            </a:extLst>
          </p:cNvPr>
          <p:cNvSpPr txBox="1"/>
          <p:nvPr/>
        </p:nvSpPr>
        <p:spPr>
          <a:xfrm>
            <a:off x="9713345" y="3872085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'B'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4" name="文本框 26">
            <a:extLst>
              <a:ext uri="{FF2B5EF4-FFF2-40B4-BE49-F238E27FC236}">
                <a16:creationId xmlns:a16="http://schemas.microsoft.com/office/drawing/2014/main" id="{0158AE7B-DA36-C6D9-AB5C-C010E2A23B83}"/>
              </a:ext>
            </a:extLst>
          </p:cNvPr>
          <p:cNvSpPr txBox="1"/>
          <p:nvPr/>
        </p:nvSpPr>
        <p:spPr>
          <a:xfrm>
            <a:off x="8729684" y="5205212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6CCEF8A7-C6F3-B75F-F355-352B047D6642}"/>
              </a:ext>
            </a:extLst>
          </p:cNvPr>
          <p:cNvSpPr txBox="1"/>
          <p:nvPr/>
        </p:nvSpPr>
        <p:spPr>
          <a:xfrm>
            <a:off x="10115781" y="3872347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'C'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386CC15-2A2D-5AD1-45F9-029F3FC1D049}"/>
              </a:ext>
            </a:extLst>
          </p:cNvPr>
          <p:cNvSpPr txBox="1"/>
          <p:nvPr/>
        </p:nvSpPr>
        <p:spPr>
          <a:xfrm>
            <a:off x="10524036" y="3869511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'D'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536319E-BC0E-378E-A9E8-DE915075D641}"/>
              </a:ext>
            </a:extLst>
          </p:cNvPr>
          <p:cNvSpPr txBox="1"/>
          <p:nvPr/>
        </p:nvSpPr>
        <p:spPr>
          <a:xfrm>
            <a:off x="10925988" y="3869511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'E'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0" name="文本框 26">
            <a:extLst>
              <a:ext uri="{FF2B5EF4-FFF2-40B4-BE49-F238E27FC236}">
                <a16:creationId xmlns:a16="http://schemas.microsoft.com/office/drawing/2014/main" id="{A56E5B8F-005E-6338-36D6-2AAA39320108}"/>
              </a:ext>
            </a:extLst>
          </p:cNvPr>
          <p:cNvSpPr txBox="1"/>
          <p:nvPr/>
        </p:nvSpPr>
        <p:spPr>
          <a:xfrm>
            <a:off x="8725422" y="5224365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FDC1DAD-83D4-5D82-7A52-5957F864C204}"/>
              </a:ext>
            </a:extLst>
          </p:cNvPr>
          <p:cNvGrpSpPr/>
          <p:nvPr/>
        </p:nvGrpSpPr>
        <p:grpSpPr>
          <a:xfrm>
            <a:off x="8847844" y="5261172"/>
            <a:ext cx="2665275" cy="257930"/>
            <a:chOff x="8843108" y="4452681"/>
            <a:chExt cx="639621" cy="259663"/>
          </a:xfrm>
        </p:grpSpPr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6EBF8672-6696-E06D-60AD-E00804464711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65C2D48-D06C-F4CD-876B-716DCC93B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5C2109C-B3A1-091C-5C74-94BDC4C0498D}"/>
              </a:ext>
            </a:extLst>
          </p:cNvPr>
          <p:cNvCxnSpPr/>
          <p:nvPr/>
        </p:nvCxnSpPr>
        <p:spPr>
          <a:xfrm>
            <a:off x="416859" y="2904565"/>
            <a:ext cx="5022476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8E3CFC2F-65AE-3A2B-8707-3D8BA4A7645E}"/>
              </a:ext>
            </a:extLst>
          </p:cNvPr>
          <p:cNvSpPr txBox="1"/>
          <p:nvPr/>
        </p:nvSpPr>
        <p:spPr>
          <a:xfrm>
            <a:off x="11395535" y="3869511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'F'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79023157-2FC6-31A6-4B1F-92ADCD6E50ED}"/>
              </a:ext>
            </a:extLst>
          </p:cNvPr>
          <p:cNvCxnSpPr/>
          <p:nvPr/>
        </p:nvCxnSpPr>
        <p:spPr>
          <a:xfrm>
            <a:off x="2104465" y="3180228"/>
            <a:ext cx="424927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5A95F959-73F0-1B88-6975-9689DBE6CC41}"/>
              </a:ext>
            </a:extLst>
          </p:cNvPr>
          <p:cNvCxnSpPr>
            <a:cxnSpLocks/>
          </p:cNvCxnSpPr>
          <p:nvPr/>
        </p:nvCxnSpPr>
        <p:spPr>
          <a:xfrm>
            <a:off x="6527665" y="3180228"/>
            <a:ext cx="1840509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23A0E502-D71E-DFAD-45D1-F49C8F63B1F3}"/>
              </a:ext>
            </a:extLst>
          </p:cNvPr>
          <p:cNvSpPr txBox="1"/>
          <p:nvPr/>
        </p:nvSpPr>
        <p:spPr>
          <a:xfrm>
            <a:off x="8095311" y="6053903"/>
            <a:ext cx="123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依次出队：</a:t>
            </a:r>
          </a:p>
        </p:txBody>
      </p: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1693E45-17DD-0900-DC73-93A29FE469C7}"/>
              </a:ext>
            </a:extLst>
          </p:cNvPr>
          <p:cNvCxnSpPr>
            <a:cxnSpLocks/>
          </p:cNvCxnSpPr>
          <p:nvPr/>
        </p:nvCxnSpPr>
        <p:spPr>
          <a:xfrm flipV="1">
            <a:off x="354106" y="4615299"/>
            <a:ext cx="3787588" cy="109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27FCF48-ECC0-D066-9F31-5F0A80E928DB}"/>
              </a:ext>
            </a:extLst>
          </p:cNvPr>
          <p:cNvGrpSpPr/>
          <p:nvPr/>
        </p:nvGrpSpPr>
        <p:grpSpPr>
          <a:xfrm>
            <a:off x="8848628" y="4601971"/>
            <a:ext cx="1436062" cy="306744"/>
            <a:chOff x="8441172" y="4663824"/>
            <a:chExt cx="1001522" cy="181594"/>
          </a:xfrm>
        </p:grpSpPr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8015D504-B9A3-ED60-5EA8-085DD5742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1172" y="4663824"/>
              <a:ext cx="1001522" cy="3869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3508FEF-081A-8944-7B08-100A677686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5249" y="4663824"/>
              <a:ext cx="3" cy="18159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文本框 26">
            <a:extLst>
              <a:ext uri="{FF2B5EF4-FFF2-40B4-BE49-F238E27FC236}">
                <a16:creationId xmlns:a16="http://schemas.microsoft.com/office/drawing/2014/main" id="{A44FEFEE-8A21-6B2C-6DF5-9E8E3E9AD71B}"/>
              </a:ext>
            </a:extLst>
          </p:cNvPr>
          <p:cNvSpPr txBox="1"/>
          <p:nvPr/>
        </p:nvSpPr>
        <p:spPr>
          <a:xfrm>
            <a:off x="8722010" y="4628119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9" name="文本框 26">
            <a:extLst>
              <a:ext uri="{FF2B5EF4-FFF2-40B4-BE49-F238E27FC236}">
                <a16:creationId xmlns:a16="http://schemas.microsoft.com/office/drawing/2014/main" id="{0CB650E6-6DF6-2AD0-2449-50D38B9C4B9E}"/>
              </a:ext>
            </a:extLst>
          </p:cNvPr>
          <p:cNvSpPr txBox="1"/>
          <p:nvPr/>
        </p:nvSpPr>
        <p:spPr>
          <a:xfrm>
            <a:off x="8723244" y="4617030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0" name="文本框 26">
            <a:extLst>
              <a:ext uri="{FF2B5EF4-FFF2-40B4-BE49-F238E27FC236}">
                <a16:creationId xmlns:a16="http://schemas.microsoft.com/office/drawing/2014/main" id="{32942AE0-5993-475C-B8F8-C07FB4B3C063}"/>
              </a:ext>
            </a:extLst>
          </p:cNvPr>
          <p:cNvSpPr txBox="1"/>
          <p:nvPr/>
        </p:nvSpPr>
        <p:spPr>
          <a:xfrm>
            <a:off x="8717807" y="4623482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10EFA249-46AD-5098-79DE-67293BE7FC3D}"/>
              </a:ext>
            </a:extLst>
          </p:cNvPr>
          <p:cNvGrpSpPr/>
          <p:nvPr/>
        </p:nvGrpSpPr>
        <p:grpSpPr>
          <a:xfrm>
            <a:off x="8853823" y="4613927"/>
            <a:ext cx="1863930" cy="306744"/>
            <a:chOff x="8441172" y="4663824"/>
            <a:chExt cx="1001522" cy="181594"/>
          </a:xfrm>
        </p:grpSpPr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4C3D0549-F82A-92ED-F46A-B233774A0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1172" y="4663824"/>
              <a:ext cx="1001522" cy="3869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E724C565-D431-4BE9-AD2D-72242D4C7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5249" y="4663824"/>
              <a:ext cx="3" cy="181594"/>
            </a:xfrm>
            <a:prstGeom prst="straightConnector1">
              <a:avLst/>
            </a:prstGeom>
            <a:ln>
              <a:solidFill>
                <a:schemeClr val="accent5">
                  <a:lumMod val="50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文本框 26">
            <a:extLst>
              <a:ext uri="{FF2B5EF4-FFF2-40B4-BE49-F238E27FC236}">
                <a16:creationId xmlns:a16="http://schemas.microsoft.com/office/drawing/2014/main" id="{38BB13B6-6DF9-459D-E48D-A7F039679DFB}"/>
              </a:ext>
            </a:extLst>
          </p:cNvPr>
          <p:cNvSpPr txBox="1"/>
          <p:nvPr/>
        </p:nvSpPr>
        <p:spPr>
          <a:xfrm>
            <a:off x="8711704" y="5204532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97F43F2A-EC3A-CAFB-130F-5CED5D86869D}"/>
              </a:ext>
            </a:extLst>
          </p:cNvPr>
          <p:cNvSpPr txBox="1"/>
          <p:nvPr/>
        </p:nvSpPr>
        <p:spPr>
          <a:xfrm>
            <a:off x="9305090" y="4153436"/>
            <a:ext cx="463244" cy="3693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'G'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6" name="文本框 26">
            <a:extLst>
              <a:ext uri="{FF2B5EF4-FFF2-40B4-BE49-F238E27FC236}">
                <a16:creationId xmlns:a16="http://schemas.microsoft.com/office/drawing/2014/main" id="{C256FFED-B846-5889-D796-A74021C6B10A}"/>
              </a:ext>
            </a:extLst>
          </p:cNvPr>
          <p:cNvSpPr txBox="1"/>
          <p:nvPr/>
        </p:nvSpPr>
        <p:spPr>
          <a:xfrm>
            <a:off x="8731869" y="5220035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93931B4-951B-236D-5934-D395416A3F54}"/>
              </a:ext>
            </a:extLst>
          </p:cNvPr>
          <p:cNvGrpSpPr/>
          <p:nvPr/>
        </p:nvGrpSpPr>
        <p:grpSpPr>
          <a:xfrm>
            <a:off x="8865030" y="5232597"/>
            <a:ext cx="1816815" cy="285622"/>
            <a:chOff x="8843108" y="4452681"/>
            <a:chExt cx="639621" cy="259663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EC4EDE37-5463-66E4-F53C-D3F07727B046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631D758F-FF2F-AA60-5AD5-DB08CE6EA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26">
            <a:extLst>
              <a:ext uri="{FF2B5EF4-FFF2-40B4-BE49-F238E27FC236}">
                <a16:creationId xmlns:a16="http://schemas.microsoft.com/office/drawing/2014/main" id="{4706E826-5E53-23A3-15CB-84C9A4C51C10}"/>
              </a:ext>
            </a:extLst>
          </p:cNvPr>
          <p:cNvSpPr txBox="1"/>
          <p:nvPr/>
        </p:nvSpPr>
        <p:spPr>
          <a:xfrm>
            <a:off x="8723181" y="5222723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文本框 26">
            <a:extLst>
              <a:ext uri="{FF2B5EF4-FFF2-40B4-BE49-F238E27FC236}">
                <a16:creationId xmlns:a16="http://schemas.microsoft.com/office/drawing/2014/main" id="{69B9F0DA-D0DA-7E86-C1DB-CC5DE31DEFDA}"/>
              </a:ext>
            </a:extLst>
          </p:cNvPr>
          <p:cNvSpPr txBox="1"/>
          <p:nvPr/>
        </p:nvSpPr>
        <p:spPr>
          <a:xfrm>
            <a:off x="8709354" y="5202851"/>
            <a:ext cx="226591" cy="307777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BAAD51F-3D6B-D5D9-464B-CED9B7436AEC}"/>
              </a:ext>
            </a:extLst>
          </p:cNvPr>
          <p:cNvGrpSpPr/>
          <p:nvPr/>
        </p:nvGrpSpPr>
        <p:grpSpPr>
          <a:xfrm>
            <a:off x="8839168" y="5225325"/>
            <a:ext cx="2275161" cy="285622"/>
            <a:chOff x="8843108" y="4452681"/>
            <a:chExt cx="639621" cy="259663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7015143-713F-B136-51CA-EAEC87B4ABE5}"/>
                </a:ext>
              </a:extLst>
            </p:cNvPr>
            <p:cNvCxnSpPr>
              <a:cxnSpLocks/>
            </p:cNvCxnSpPr>
            <p:nvPr/>
          </p:nvCxnSpPr>
          <p:spPr>
            <a:xfrm>
              <a:off x="8843108" y="4705787"/>
              <a:ext cx="639621" cy="335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oval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2159C34-E7C8-7D5D-3687-23BF84A617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2729" y="4452681"/>
              <a:ext cx="0" cy="259663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000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3.7037E-6 L -0.00442 0.1502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7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81481E-6 L -0.00442 0.15023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7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81481E-6 L -0.00443 0.15023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22222E-6 L -0.00443 0.15023 " pathEditMode="relative" rAng="0" ptsTypes="AA">
                                      <p:cBhvr>
                                        <p:cTn id="15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0"/>
                            </p:stCondLst>
                            <p:childTnLst>
                              <p:par>
                                <p:cTn id="17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442 0.15023 " pathEditMode="relative" rAng="0" ptsTypes="AA">
                                      <p:cBhvr>
                                        <p:cTn id="18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000"/>
                            </p:stCondLst>
                            <p:childTnLst>
                              <p:par>
                                <p:cTn id="19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1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7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34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16667E-6 -2.22222E-6 L 0.00104 0.07477 " pathEditMode="relative" rAng="0" ptsTypes="AA">
                                      <p:cBhvr>
                                        <p:cTn id="220" dur="37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3727"/>
                                    </p:animMotion>
                                    <p:animRot by="1500000">
                                      <p:cBhvr>
                                        <p:cTn id="221" dur="18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2" dur="188" fill="hold">
                                          <p:stCondLst>
                                            <p:cond delay="18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3" dur="188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4" dur="188" fill="hold">
                                          <p:stCondLst>
                                            <p:cond delay="563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400"/>
                            </p:stCondLst>
                            <p:childTnLst>
                              <p:par>
                                <p:cTn id="226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0CBF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"/>
                            </p:stCondLst>
                            <p:childTnLst>
                              <p:par>
                                <p:cTn id="2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000"/>
                            </p:stCondLst>
                            <p:childTnLst>
                              <p:par>
                                <p:cTn id="24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2000"/>
                            </p:stCondLst>
                            <p:childTnLst>
                              <p:par>
                                <p:cTn id="248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42 0.15024 L -0.00312 0.32061 " pathEditMode="relative" rAng="0" ptsTypes="AA">
                                      <p:cBhvr>
                                        <p:cTn id="25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1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2000"/>
                            </p:stCondLst>
                            <p:childTnLst>
                              <p:par>
                                <p:cTn id="274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1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4" dur="7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1500"/>
                            </p:stCondLst>
                            <p:childTnLst>
                              <p:par>
                                <p:cTn id="286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77 0.15115 L -0.00169 0.3199 " pathEditMode="relative" rAng="0" ptsTypes="AA">
                                      <p:cBhvr>
                                        <p:cTn id="295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9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000"/>
                            </p:stCondLst>
                            <p:childTnLst>
                              <p:par>
                                <p:cTn id="30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2000"/>
                            </p:stCondLst>
                            <p:childTnLst>
                              <p:par>
                                <p:cTn id="312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2500"/>
                            </p:stCondLst>
                            <p:childTnLst>
                              <p:par>
                                <p:cTn id="3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1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3" dur="7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500"/>
                            </p:stCondLst>
                            <p:childTnLst>
                              <p:par>
                                <p:cTn id="325" presetID="3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43 0.15023 L -0.00261 0.31875 " pathEditMode="relative" rAng="0" ptsTypes="AA">
                                      <p:cBhvr>
                                        <p:cTn id="33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84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8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1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0"/>
                            </p:stCondLst>
                            <p:childTnLst>
                              <p:par>
                                <p:cTn id="3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500"/>
                            </p:stCondLst>
                            <p:childTnLst>
                              <p:par>
                                <p:cTn id="3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500"/>
                            </p:stCondLst>
                            <p:childTnLst>
                              <p:par>
                                <p:cTn id="364" presetID="3" presetClass="emph" presetSubtype="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6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6 -2.22222E-6 L -0.00821 0.15047 " pathEditMode="relative" rAng="0" ptsTypes="AA">
                                      <p:cBhvr>
                                        <p:cTn id="369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500"/>
                            </p:stCondLst>
                            <p:childTnLst>
                              <p:par>
                                <p:cTn id="3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1000"/>
                            </p:stCondLst>
                            <p:childTnLst>
                              <p:par>
                                <p:cTn id="380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1500"/>
                            </p:stCondLst>
                            <p:childTnLst>
                              <p:par>
                                <p:cTn id="3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1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0" dur="7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4000"/>
                            </p:stCondLst>
                            <p:childTnLst>
                              <p:par>
                                <p:cTn id="39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2.59259E-6 L -0.00312 0.10903 " pathEditMode="relative" rAng="0" ptsTypes="AA">
                                      <p:cBhvr>
                                        <p:cTn id="400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1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1500"/>
                            </p:stCondLst>
                            <p:childTnLst>
                              <p:par>
                                <p:cTn id="4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  <p:bldP spid="64" grpId="0"/>
      <p:bldP spid="64" grpId="1"/>
      <p:bldP spid="65" grpId="0"/>
      <p:bldP spid="65" grpId="1"/>
      <p:bldP spid="68" grpId="0"/>
      <p:bldP spid="76" grpId="0"/>
      <p:bldP spid="76" grpId="1"/>
      <p:bldP spid="77" grpId="0"/>
      <p:bldP spid="78" grpId="0"/>
      <p:bldP spid="78" grpId="1"/>
      <p:bldP spid="78" grpId="2"/>
      <p:bldP spid="78" grpId="3"/>
      <p:bldP spid="83" grpId="0"/>
      <p:bldP spid="83" grpId="1"/>
      <p:bldP spid="83" grpId="2"/>
      <p:bldP spid="83" grpId="3"/>
      <p:bldP spid="84" grpId="0"/>
      <p:bldP spid="84" grpId="1"/>
      <p:bldP spid="85" grpId="0"/>
      <p:bldP spid="85" grpId="1"/>
      <p:bldP spid="85" grpId="2"/>
      <p:bldP spid="85" grpId="3"/>
      <p:bldP spid="87" grpId="0"/>
      <p:bldP spid="87" grpId="1"/>
      <p:bldP spid="89" grpId="0"/>
      <p:bldP spid="89" grpId="1"/>
      <p:bldP spid="90" grpId="0"/>
      <p:bldP spid="90" grpId="1"/>
      <p:bldP spid="96" grpId="0"/>
      <p:bldP spid="96" grpId="1"/>
      <p:bldP spid="96" grpId="2"/>
      <p:bldP spid="96" grpId="3"/>
      <p:bldP spid="96" grpId="4"/>
      <p:bldP spid="102" grpId="0"/>
      <p:bldP spid="108" grpId="0"/>
      <p:bldP spid="108" grpId="1"/>
      <p:bldP spid="109" grpId="0"/>
      <p:bldP spid="109" grpId="1"/>
      <p:bldP spid="110" grpId="0"/>
      <p:bldP spid="114" grpId="0"/>
      <p:bldP spid="114" grpId="1"/>
      <p:bldP spid="115" grpId="0"/>
      <p:bldP spid="115" grpId="1"/>
      <p:bldP spid="116" grpId="0"/>
      <p:bldP spid="10" grpId="0"/>
      <p:bldP spid="10" grpId="1"/>
      <p:bldP spid="14" grpId="0"/>
      <p:bldP spid="14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524000" y="0"/>
            <a:ext cx="9144000" cy="3727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dirty="0">
                <a:sym typeface="+mn-ea"/>
              </a:rPr>
              <a:t> </a:t>
            </a:r>
          </a:p>
          <a:p>
            <a:pPr algn="ctr">
              <a:lnSpc>
                <a:spcPct val="120000"/>
              </a:lnSpc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队列的应用例子</a:t>
            </a:r>
          </a:p>
          <a:p>
            <a:pPr indent="1210310">
              <a:lnSpc>
                <a:spcPct val="120000"/>
              </a:lnSpc>
            </a:pPr>
            <a:endParaRPr lang="zh-CN" altLang="en-US" sz="3600" dirty="0">
              <a:solidFill>
                <a:schemeClr val="tx1"/>
              </a:solidFill>
              <a:sym typeface="+mn-ea"/>
            </a:endParaRPr>
          </a:p>
          <a:p>
            <a:pPr indent="1210310" algn="ctr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  <a:sym typeface="+mn-ea"/>
              </a:rPr>
              <a:t>舞伴问题</a:t>
            </a:r>
          </a:p>
          <a:p>
            <a:pPr algn="ctr">
              <a:lnSpc>
                <a:spcPct val="120000"/>
              </a:lnSpc>
            </a:pPr>
            <a:endParaRPr lang="zh-CN" altLang="en-US" sz="36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subTitle" idx="1"/>
          </p:nvPr>
        </p:nvSpPr>
        <p:spPr>
          <a:xfrm>
            <a:off x="623392" y="1196976"/>
            <a:ext cx="11449272" cy="54006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algn="l" eaLnBrk="1" hangingPunct="1">
              <a:buClrTx/>
              <a:buSzTx/>
              <a:buFontTx/>
            </a:pPr>
            <a:r>
              <a:rPr lang="zh-CN" altLang="en-US" sz="2800" kern="1200" dirty="0">
                <a:ea typeface="楷体_GB2312" pitchFamily="49" charset="-122"/>
              </a:rPr>
              <a:t>舞伴问题：舞会上，男士们和女士们进入舞厅时，各自排成一队。跳舞开始时，依次从男队和女队的队头上各出一人配成舞伴。若两队初始人数不相同，则较长的那一队中未配对者等待下一轮舞曲。</a:t>
            </a:r>
            <a:r>
              <a:rPr lang="zh-CN" altLang="en-US" sz="2800" kern="12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kern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l" eaLnBrk="1" hangingPunct="1">
              <a:buClrTx/>
              <a:buSzTx/>
              <a:buFontTx/>
            </a:pPr>
            <a:endParaRPr lang="zh-CN" altLang="en-US" sz="2800" kern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l" eaLnBrk="1" hangingPunct="1">
              <a:buClrTx/>
              <a:buSzTx/>
              <a:buFontTx/>
            </a:pPr>
            <a:r>
              <a:rPr lang="zh-CN" altLang="en-US" sz="2800" kern="1200" dirty="0">
                <a:solidFill>
                  <a:srgbClr val="FF0000"/>
                </a:solidFill>
                <a:ea typeface="+mn-ea"/>
              </a:rPr>
              <a:t>舞伴问题的类型描述：</a:t>
            </a:r>
          </a:p>
          <a:p>
            <a:pPr lvl="1" algn="l" eaLnBrk="1" hangingPunct="1"/>
            <a:r>
              <a:rPr lang="en-US" altLang="zh-CN" sz="3200" kern="1200" dirty="0">
                <a:ea typeface="楷体_GB2312" pitchFamily="49" charset="-122"/>
                <a:cs typeface="+mn-cs"/>
              </a:rPr>
              <a:t>typedef struct{</a:t>
            </a:r>
          </a:p>
          <a:p>
            <a:pPr lvl="1" algn="l" eaLnBrk="1" hangingPunct="1"/>
            <a:r>
              <a:rPr lang="en-US" altLang="zh-CN" sz="3200" kern="1200" dirty="0">
                <a:ea typeface="楷体_GB2312" pitchFamily="49" charset="-122"/>
                <a:cs typeface="+mn-cs"/>
              </a:rPr>
              <a:t>        char name[20];</a:t>
            </a:r>
          </a:p>
          <a:p>
            <a:pPr lvl="1" algn="l" eaLnBrk="1" hangingPunct="1"/>
            <a:r>
              <a:rPr lang="en-US" altLang="zh-CN" sz="3200" kern="1200" dirty="0">
                <a:ea typeface="楷体_GB2312" pitchFamily="49" charset="-122"/>
                <a:cs typeface="+mn-cs"/>
              </a:rPr>
              <a:t>         char sex;  //</a:t>
            </a:r>
            <a:r>
              <a:rPr lang="zh-CN" altLang="en-US" sz="3200" kern="1200" dirty="0">
                <a:ea typeface="楷体_GB2312" pitchFamily="49" charset="-122"/>
                <a:cs typeface="+mn-cs"/>
              </a:rPr>
              <a:t>性别，</a:t>
            </a:r>
            <a:r>
              <a:rPr lang="en-US" altLang="zh-CN" sz="3200" kern="1200" dirty="0">
                <a:ea typeface="楷体_GB2312" pitchFamily="49" charset="-122"/>
                <a:cs typeface="+mn-cs"/>
              </a:rPr>
              <a:t>'F'</a:t>
            </a:r>
            <a:r>
              <a:rPr lang="zh-CN" altLang="en-US" sz="3200" kern="1200" dirty="0">
                <a:ea typeface="楷体_GB2312" pitchFamily="49" charset="-122"/>
                <a:cs typeface="+mn-cs"/>
              </a:rPr>
              <a:t>表示女性，</a:t>
            </a:r>
            <a:r>
              <a:rPr lang="en-US" altLang="zh-CN" sz="3200" kern="1200" dirty="0">
                <a:ea typeface="楷体_GB2312" pitchFamily="49" charset="-122"/>
                <a:cs typeface="+mn-cs"/>
              </a:rPr>
              <a:t>'M'</a:t>
            </a:r>
            <a:r>
              <a:rPr lang="zh-CN" altLang="en-US" sz="3200" kern="1200" dirty="0">
                <a:ea typeface="楷体_GB2312" pitchFamily="49" charset="-122"/>
                <a:cs typeface="+mn-cs"/>
              </a:rPr>
              <a:t>表示男性</a:t>
            </a:r>
          </a:p>
          <a:p>
            <a:pPr lvl="1" algn="l" eaLnBrk="1" hangingPunct="1"/>
            <a:r>
              <a:rPr lang="zh-CN" altLang="en-US" sz="3200" kern="1200" dirty="0">
                <a:ea typeface="楷体_GB2312" pitchFamily="49" charset="-122"/>
                <a:cs typeface="+mn-cs"/>
              </a:rPr>
              <a:t>    </a:t>
            </a:r>
            <a:r>
              <a:rPr lang="en-US" altLang="zh-CN" sz="3200" kern="1200" dirty="0">
                <a:ea typeface="楷体_GB2312" pitchFamily="49" charset="-122"/>
                <a:cs typeface="+mn-cs"/>
              </a:rPr>
              <a:t>}Person;</a:t>
            </a:r>
          </a:p>
          <a:p>
            <a:pPr lvl="1" algn="l" eaLnBrk="1" hangingPunct="1"/>
            <a:r>
              <a:rPr lang="en-US" altLang="zh-CN" sz="3200" kern="1200" dirty="0">
                <a:ea typeface="楷体_GB2312" pitchFamily="49" charset="-122"/>
                <a:cs typeface="+mn-cs"/>
              </a:rPr>
              <a:t>typedef Person datatype;  </a:t>
            </a:r>
          </a:p>
          <a:p>
            <a:pPr lvl="1" algn="l" eaLnBrk="1" hangingPunct="1"/>
            <a:r>
              <a:rPr lang="en-US" altLang="zh-CN" sz="3200" kern="1200" dirty="0">
                <a:ea typeface="楷体_GB2312" pitchFamily="49" charset="-122"/>
                <a:cs typeface="+mn-cs"/>
              </a:rPr>
              <a:t>//</a:t>
            </a:r>
            <a:r>
              <a:rPr lang="zh-CN" altLang="en-US" sz="3200" kern="1200" dirty="0">
                <a:ea typeface="楷体_GB2312" pitchFamily="49" charset="-122"/>
                <a:cs typeface="+mn-cs"/>
              </a:rPr>
              <a:t>队列中元素的数据类型为</a:t>
            </a:r>
            <a:r>
              <a:rPr lang="en-US" altLang="zh-CN" sz="3200" kern="1200" dirty="0">
                <a:ea typeface="楷体_GB2312" pitchFamily="49" charset="-122"/>
                <a:cs typeface="+mn-cs"/>
              </a:rPr>
              <a:t>Person</a:t>
            </a:r>
          </a:p>
        </p:txBody>
      </p:sp>
      <p:sp>
        <p:nvSpPr>
          <p:cNvPr id="84995" name="Text Box 3"/>
          <p:cNvSpPr txBox="1"/>
          <p:nvPr/>
        </p:nvSpPr>
        <p:spPr>
          <a:xfrm>
            <a:off x="3359151" y="333375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en-US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/>
          </p:cNvSpPr>
          <p:nvPr>
            <p:ph type="subTitle" idx="1"/>
          </p:nvPr>
        </p:nvSpPr>
        <p:spPr>
          <a:xfrm>
            <a:off x="479376" y="188914"/>
            <a:ext cx="11017223" cy="6480175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81000" indent="-381000" eaLnBrk="1" hangingPunct="1">
              <a:lnSpc>
                <a:spcPct val="80000"/>
              </a:lnSpc>
            </a:pPr>
            <a:r>
              <a:rPr lang="zh-CN" altLang="en-US" sz="3200" kern="1200" dirty="0">
                <a:ea typeface="+mn-ea"/>
              </a:rPr>
              <a:t>舞伴问题的算法：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smtClean="0">
                <a:ea typeface="楷体_GB2312" pitchFamily="49" charset="-122"/>
              </a:rPr>
              <a:t>void </a:t>
            </a:r>
            <a:r>
              <a:rPr lang="en-US" altLang="zh-CN" sz="2800" kern="1200" dirty="0">
                <a:ea typeface="楷体_GB2312" pitchFamily="49" charset="-122"/>
              </a:rPr>
              <a:t>DancePartner(Person dancer[],int num)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{//</a:t>
            </a:r>
            <a:r>
              <a:rPr lang="zh-CN" altLang="en-US" sz="2800" kern="1200" dirty="0">
                <a:ea typeface="楷体_GB2312" pitchFamily="49" charset="-122"/>
              </a:rPr>
              <a:t>结构数组</a:t>
            </a:r>
            <a:r>
              <a:rPr lang="en-US" altLang="zh-CN" sz="2800" kern="1200" dirty="0">
                <a:ea typeface="楷体_GB2312" pitchFamily="49" charset="-122"/>
              </a:rPr>
              <a:t>dancer</a:t>
            </a:r>
            <a:r>
              <a:rPr lang="zh-CN" altLang="en-US" sz="2800" kern="1200" dirty="0">
                <a:ea typeface="楷体_GB2312" pitchFamily="49" charset="-122"/>
              </a:rPr>
              <a:t>中存放跳舞的男女，</a:t>
            </a:r>
            <a:r>
              <a:rPr lang="en-US" altLang="zh-CN" sz="2800" kern="1200" dirty="0">
                <a:ea typeface="楷体_GB2312" pitchFamily="49" charset="-122"/>
              </a:rPr>
              <a:t>num</a:t>
            </a:r>
            <a:r>
              <a:rPr lang="zh-CN" altLang="en-US" sz="2800" kern="1200" dirty="0">
                <a:ea typeface="楷体_GB2312" pitchFamily="49" charset="-122"/>
              </a:rPr>
              <a:t>是跳舞的人数。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</a:t>
            </a:r>
            <a:r>
              <a:rPr lang="en-US" altLang="zh-CN" sz="2800" kern="1200" dirty="0">
                <a:ea typeface="楷体_GB2312" pitchFamily="49" charset="-122"/>
              </a:rPr>
              <a:t>int i;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Person p;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SqQueue Mdancers,Fdancers;</a:t>
            </a:r>
          </a:p>
          <a:p>
            <a:pPr marL="859155" lvl="1" indent="-381000" algn="l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</a:t>
            </a:r>
            <a:r>
              <a:rPr lang="en-US" altLang="zh-CN" sz="2800" dirty="0" err="1">
                <a:ea typeface="楷体_GB2312" pitchFamily="49" charset="-122"/>
              </a:rPr>
              <a:t>Mdancers</a:t>
            </a:r>
            <a:r>
              <a:rPr lang="en-US" altLang="zh-CN" sz="2800" dirty="0">
                <a:ea typeface="楷体_GB2312" pitchFamily="49" charset="-122"/>
              </a:rPr>
              <a:t> = </a:t>
            </a:r>
            <a:r>
              <a:rPr lang="en-US" altLang="zh-CN" sz="2800" kern="1200" dirty="0" err="1">
                <a:ea typeface="楷体_GB2312" pitchFamily="49" charset="-122"/>
              </a:rPr>
              <a:t>InitQueue</a:t>
            </a:r>
            <a:r>
              <a:rPr lang="en-US" altLang="zh-CN" sz="2800" kern="1200" dirty="0">
                <a:ea typeface="楷体_GB2312" pitchFamily="49" charset="-122"/>
              </a:rPr>
              <a:t>(</a:t>
            </a:r>
            <a:r>
              <a:rPr lang="en-US" altLang="zh-CN" sz="2800" dirty="0">
                <a:ea typeface="楷体_GB2312" pitchFamily="49" charset="-122"/>
              </a:rPr>
              <a:t>20</a:t>
            </a:r>
            <a:r>
              <a:rPr lang="en-US" altLang="zh-CN" sz="2800" kern="1200" dirty="0">
                <a:ea typeface="楷体_GB2312" pitchFamily="49" charset="-122"/>
              </a:rPr>
              <a:t>);   //</a:t>
            </a:r>
            <a:r>
              <a:rPr lang="zh-CN" altLang="en-US" sz="2800" kern="1200" dirty="0">
                <a:ea typeface="楷体_GB2312" pitchFamily="49" charset="-122"/>
              </a:rPr>
              <a:t>男士队列初始化</a:t>
            </a:r>
          </a:p>
          <a:p>
            <a:pPr marL="859155" lvl="1" indent="-381000" algn="l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</a:t>
            </a:r>
            <a:r>
              <a:rPr lang="en-US" altLang="zh-CN" sz="2800" dirty="0" err="1">
                <a:ea typeface="楷体_GB2312" pitchFamily="49" charset="-122"/>
              </a:rPr>
              <a:t>Fdancers</a:t>
            </a:r>
            <a:r>
              <a:rPr lang="zh-CN" altLang="en-US" sz="2800" kern="1200" dirty="0">
                <a:ea typeface="楷体_GB2312" pitchFamily="49" charset="-122"/>
              </a:rPr>
              <a:t> </a:t>
            </a:r>
            <a:r>
              <a:rPr lang="en-US" altLang="zh-CN" sz="2800" kern="1200" dirty="0">
                <a:ea typeface="楷体_GB2312" pitchFamily="49" charset="-122"/>
              </a:rPr>
              <a:t>=</a:t>
            </a:r>
            <a:r>
              <a:rPr lang="en-US" altLang="zh-CN" sz="2800" kern="1200" dirty="0" err="1">
                <a:ea typeface="楷体_GB2312" pitchFamily="49" charset="-122"/>
              </a:rPr>
              <a:t>InitQueue</a:t>
            </a:r>
            <a:r>
              <a:rPr lang="en-US" altLang="zh-CN" sz="2800" kern="1200" dirty="0">
                <a:ea typeface="楷体_GB2312" pitchFamily="49" charset="-122"/>
              </a:rPr>
              <a:t>(20);    //</a:t>
            </a:r>
            <a:r>
              <a:rPr lang="zh-CN" altLang="en-US" sz="2800" kern="1200" dirty="0">
                <a:ea typeface="楷体_GB2312" pitchFamily="49" charset="-122"/>
              </a:rPr>
              <a:t>女士队列初始化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</a:t>
            </a:r>
            <a:r>
              <a:rPr lang="en-US" altLang="zh-CN" sz="2800" kern="1200" dirty="0">
                <a:ea typeface="楷体_GB2312" pitchFamily="49" charset="-122"/>
              </a:rPr>
              <a:t>for(int i=0; i&lt;num; i++ )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{//</a:t>
            </a:r>
            <a:r>
              <a:rPr lang="zh-CN" altLang="en-US" sz="2800" kern="1200" dirty="0">
                <a:ea typeface="楷体_GB2312" pitchFamily="49" charset="-122"/>
              </a:rPr>
              <a:t>依次将跳舞者依其性别入队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   </a:t>
            </a:r>
            <a:r>
              <a:rPr lang="en-US" altLang="zh-CN" sz="2800" kern="1200" dirty="0">
                <a:ea typeface="楷体_GB2312" pitchFamily="49" charset="-122"/>
              </a:rPr>
              <a:t>p=dancer[i];       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   if(p.sex=='F')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          EnQueue(Fdancers,p);   //</a:t>
            </a:r>
            <a:r>
              <a:rPr lang="zh-CN" altLang="en-US" sz="2800" kern="1200" dirty="0">
                <a:ea typeface="楷体_GB2312" pitchFamily="49" charset="-122"/>
              </a:rPr>
              <a:t>排入女队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   </a:t>
            </a:r>
            <a:r>
              <a:rPr lang="en-US" altLang="zh-CN" sz="2800" kern="1200" dirty="0">
                <a:ea typeface="楷体_GB2312" pitchFamily="49" charset="-122"/>
              </a:rPr>
              <a:t>else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</a:rPr>
              <a:t>                  EnQueue(Mdancers,p);   //</a:t>
            </a:r>
            <a:r>
              <a:rPr lang="zh-CN" altLang="en-US" sz="2800" kern="1200" dirty="0">
                <a:ea typeface="楷体_GB2312" pitchFamily="49" charset="-122"/>
              </a:rPr>
              <a:t>排入男队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800" kern="1200" dirty="0">
                <a:ea typeface="楷体_GB2312" pitchFamily="49" charset="-122"/>
              </a:rPr>
              <a:t>        </a:t>
            </a:r>
            <a:r>
              <a:rPr lang="en-US" altLang="zh-CN" sz="2800" kern="1200" dirty="0"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type="subTitle" idx="1"/>
          </p:nvPr>
        </p:nvSpPr>
        <p:spPr>
          <a:xfrm>
            <a:off x="1128714" y="260350"/>
            <a:ext cx="9215437" cy="6408738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+mn-ea"/>
                <a:cs typeface="+mn-cs"/>
              </a:rPr>
              <a:t>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printf("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将进行跳舞的搭档是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: \n \n");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  while(!QueueEmpty(Fdancers)&amp;&amp;!QueueEmpty(Mdancers))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 {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   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依次输入男女舞伴名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p1= 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DeQueue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(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Fdancers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);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女士出队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printf("%s ,",p1.name);      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打印出队女士名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p2 = 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DeQueue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(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Mdancers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);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男士出队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printf("%s\n",p2.name);   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打印出队男士名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}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   if( !QueueEmpty(Fdancers) )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{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输出女士剩余人数及队头女士的名字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printf("\n %d 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位女士将等待下一轮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.\n",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QueueLeng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(Fdancers));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     p1 = 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GetHead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 (</a:t>
            </a:r>
            <a:r>
              <a:rPr lang="en-US" altLang="zh-CN" sz="2400" kern="1200" dirty="0" err="1">
                <a:ea typeface="楷体_GB2312" pitchFamily="49" charset="-122"/>
                <a:cs typeface="+mn-cs"/>
              </a:rPr>
              <a:t>Fdancers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);      //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取队头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zh-CN" altLang="en-US" sz="2400" kern="1200" dirty="0">
                <a:ea typeface="楷体_GB2312" pitchFamily="49" charset="-122"/>
                <a:cs typeface="+mn-cs"/>
              </a:rPr>
              <a:t>         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printf("%s </a:t>
            </a:r>
            <a:r>
              <a:rPr lang="zh-CN" altLang="en-US" sz="2400" kern="1200" dirty="0">
                <a:ea typeface="楷体_GB2312" pitchFamily="49" charset="-122"/>
                <a:cs typeface="+mn-cs"/>
              </a:rPr>
              <a:t>女士将在下一轮第一个匹配到舞伴</a:t>
            </a:r>
            <a:r>
              <a:rPr lang="en-US" altLang="zh-CN" sz="2400" kern="1200" dirty="0">
                <a:ea typeface="楷体_GB2312" pitchFamily="49" charset="-122"/>
                <a:cs typeface="+mn-cs"/>
              </a:rPr>
              <a:t> \n",p1.name);</a:t>
            </a:r>
          </a:p>
          <a:p>
            <a:pPr marL="859155" lvl="1" indent="-381000" algn="l" eaLnBrk="1" hangingPunct="1">
              <a:lnSpc>
                <a:spcPct val="80000"/>
              </a:lnSpc>
            </a:pPr>
            <a:r>
              <a:rPr lang="en-US" altLang="zh-CN" sz="2400" kern="1200" dirty="0">
                <a:ea typeface="楷体_GB2312" pitchFamily="49" charset="-122"/>
                <a:cs typeface="+mn-cs"/>
              </a:rPr>
              <a:t>    }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/>
          </p:cNvSpPr>
          <p:nvPr>
            <p:ph type="subTitle" idx="1"/>
          </p:nvPr>
        </p:nvSpPr>
        <p:spPr>
          <a:xfrm>
            <a:off x="695400" y="549275"/>
            <a:ext cx="11377264" cy="5759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1011555" lvl="1" indent="-533400" algn="l"/>
            <a:r>
              <a:rPr lang="zh-CN" altLang="en-US" sz="2800" kern="1200" dirty="0">
                <a:ea typeface="+mn-ea"/>
                <a:cs typeface="+mn-cs"/>
              </a:rPr>
              <a:t> </a:t>
            </a:r>
            <a:r>
              <a:rPr lang="en-US" altLang="zh-CN" sz="2800" dirty="0">
                <a:ea typeface="楷体_GB2312" pitchFamily="49" charset="-122"/>
              </a:rPr>
              <a:t> else </a:t>
            </a:r>
            <a:r>
              <a:rPr lang="en-US" altLang="zh-CN" sz="2800" kern="1200" dirty="0">
                <a:ea typeface="楷体_GB2312" pitchFamily="49" charset="-122"/>
                <a:cs typeface="+mn-cs"/>
              </a:rPr>
              <a:t>if(!QueueEmpty(Mdancers))</a:t>
            </a:r>
          </a:p>
          <a:p>
            <a:pPr marL="1011555" lvl="1" indent="-533400" algn="l" eaLnBrk="1" hangingPunct="1"/>
            <a:r>
              <a:rPr lang="en-US" altLang="zh-CN" sz="2800" kern="1200" dirty="0">
                <a:ea typeface="楷体_GB2312" pitchFamily="49" charset="-122"/>
                <a:cs typeface="+mn-cs"/>
              </a:rPr>
              <a:t>     {//</a:t>
            </a:r>
            <a:r>
              <a:rPr lang="zh-CN" altLang="en-US" sz="2800" kern="1200" dirty="0">
                <a:ea typeface="楷体_GB2312" pitchFamily="49" charset="-122"/>
                <a:cs typeface="+mn-cs"/>
              </a:rPr>
              <a:t>输出男队剩余人数及队头者名字</a:t>
            </a:r>
          </a:p>
          <a:p>
            <a:pPr marL="1325880" lvl="1" indent="-374650" algn="l" eaLnBrk="1" hangingPunct="1">
              <a:lnSpc>
                <a:spcPct val="80000"/>
              </a:lnSpc>
            </a:pPr>
            <a:r>
              <a:rPr lang="en-US" altLang="zh-CN" sz="2800" kern="1200" dirty="0">
                <a:ea typeface="楷体_GB2312" pitchFamily="49" charset="-122"/>
                <a:cs typeface="+mn-cs"/>
                <a:sym typeface="+mn-ea"/>
              </a:rPr>
              <a:t>printf("\n %d </a:t>
            </a:r>
            <a:r>
              <a:rPr lang="zh-CN" altLang="en-US" sz="2800" kern="1200" dirty="0">
                <a:ea typeface="楷体_GB2312" pitchFamily="49" charset="-122"/>
                <a:cs typeface="+mn-cs"/>
                <a:sym typeface="+mn-ea"/>
              </a:rPr>
              <a:t>位男士将等待下一轮</a:t>
            </a:r>
            <a:r>
              <a:rPr lang="en-US" altLang="zh-CN" sz="2800" kern="1200" dirty="0">
                <a:ea typeface="楷体_GB2312" pitchFamily="49" charset="-122"/>
                <a:cs typeface="+mn-cs"/>
                <a:sym typeface="+mn-ea"/>
              </a:rPr>
              <a:t>.\n",</a:t>
            </a:r>
            <a:r>
              <a:rPr lang="zh-CN" altLang="en-US" sz="2800" kern="1200" dirty="0">
                <a:ea typeface="楷体_GB2312" pitchFamily="49" charset="-122"/>
                <a:cs typeface="+mn-cs"/>
                <a:sym typeface="+mn-ea"/>
              </a:rPr>
              <a:t>、</a:t>
            </a:r>
            <a:r>
              <a:rPr lang="en-US" altLang="zh-CN" sz="2800" kern="1200" dirty="0">
                <a:ea typeface="楷体_GB2312" pitchFamily="49" charset="-122"/>
                <a:cs typeface="+mn-cs"/>
                <a:sym typeface="+mn-ea"/>
              </a:rPr>
              <a:t>   </a:t>
            </a:r>
            <a:r>
              <a:rPr lang="en-US" altLang="zh-CN" sz="2800" kern="1200" dirty="0" err="1">
                <a:ea typeface="楷体_GB2312" pitchFamily="49" charset="-122"/>
                <a:cs typeface="+mn-cs"/>
                <a:sym typeface="+mn-ea"/>
              </a:rPr>
              <a:t>QueueLen</a:t>
            </a:r>
            <a:r>
              <a:rPr lang="en-US" altLang="zh-CN" sz="2800" kern="1200" dirty="0">
                <a:ea typeface="楷体_GB2312" pitchFamily="49" charset="-122"/>
                <a:cs typeface="+mn-cs"/>
                <a:sym typeface="+mn-ea"/>
              </a:rPr>
              <a:t>(Mdancers));</a:t>
            </a:r>
            <a:endParaRPr lang="en-US" altLang="zh-CN" sz="2800" kern="1200" dirty="0">
              <a:ea typeface="楷体_GB2312" pitchFamily="49" charset="-122"/>
              <a:cs typeface="+mn-cs"/>
            </a:endParaRPr>
          </a:p>
          <a:p>
            <a:pPr marL="1011555" lvl="1" indent="-533400" algn="l" eaLnBrk="1" hangingPunct="1"/>
            <a:r>
              <a:rPr lang="en-US" altLang="zh-CN" sz="2800" kern="1200" dirty="0">
                <a:ea typeface="楷体_GB2312" pitchFamily="49" charset="-122"/>
                <a:cs typeface="+mn-cs"/>
              </a:rPr>
              <a:t>           p1 = </a:t>
            </a:r>
            <a:r>
              <a:rPr lang="en-US" altLang="zh-CN" sz="2800" kern="1200" dirty="0" err="1">
                <a:ea typeface="楷体_GB2312" pitchFamily="49" charset="-122"/>
                <a:cs typeface="+mn-cs"/>
              </a:rPr>
              <a:t>GetHead</a:t>
            </a:r>
            <a:r>
              <a:rPr lang="en-US" altLang="zh-CN" sz="2800" kern="1200" dirty="0">
                <a:ea typeface="楷体_GB2312" pitchFamily="49" charset="-122"/>
                <a:cs typeface="+mn-cs"/>
              </a:rPr>
              <a:t>(</a:t>
            </a:r>
            <a:r>
              <a:rPr lang="en-US" altLang="zh-CN" sz="2800" kern="1200" dirty="0" err="1">
                <a:ea typeface="楷体_GB2312" pitchFamily="49" charset="-122"/>
                <a:cs typeface="+mn-cs"/>
              </a:rPr>
              <a:t>Mdancers</a:t>
            </a:r>
            <a:r>
              <a:rPr lang="en-US" altLang="zh-CN" sz="2800" kern="1200" dirty="0">
                <a:ea typeface="楷体_GB2312" pitchFamily="49" charset="-122"/>
                <a:cs typeface="+mn-cs"/>
              </a:rPr>
              <a:t>);</a:t>
            </a:r>
          </a:p>
          <a:p>
            <a:pPr marL="1011555" lvl="1" indent="-533400" algn="l" eaLnBrk="1" hangingPunct="1"/>
            <a:r>
              <a:rPr lang="en-US" altLang="zh-CN" sz="2800" kern="1200" dirty="0">
                <a:ea typeface="楷体_GB2312" pitchFamily="49" charset="-122"/>
                <a:cs typeface="+mn-cs"/>
              </a:rPr>
              <a:t>           </a:t>
            </a:r>
            <a:r>
              <a:rPr lang="en-US" altLang="zh-CN" sz="2800" kern="1200" dirty="0" err="1">
                <a:ea typeface="楷体_GB2312" pitchFamily="49" charset="-122"/>
                <a:cs typeface="+mn-cs"/>
              </a:rPr>
              <a:t>printf</a:t>
            </a:r>
            <a:r>
              <a:rPr lang="en-US" altLang="zh-CN" sz="2800" kern="1200" dirty="0">
                <a:ea typeface="楷体_GB2312" pitchFamily="49" charset="-122"/>
                <a:cs typeface="+mn-cs"/>
              </a:rPr>
              <a:t>("%s </a:t>
            </a:r>
            <a:r>
              <a:rPr lang="zh-CN" altLang="en-US" sz="2800" kern="1200" dirty="0">
                <a:ea typeface="楷体_GB2312" pitchFamily="49" charset="-122"/>
                <a:cs typeface="+mn-cs"/>
              </a:rPr>
              <a:t>先生</a:t>
            </a:r>
            <a:r>
              <a:rPr lang="zh-CN" altLang="en-US" sz="2800" kern="1200" dirty="0">
                <a:ea typeface="楷体_GB2312" pitchFamily="49" charset="-122"/>
                <a:cs typeface="+mn-cs"/>
                <a:sym typeface="+mn-ea"/>
              </a:rPr>
              <a:t>将在下一轮第一个匹配到舞伴</a:t>
            </a:r>
            <a:r>
              <a:rPr lang="en-US" altLang="zh-CN" sz="2800" kern="1200" dirty="0">
                <a:ea typeface="楷体_GB2312" pitchFamily="49" charset="-122"/>
                <a:cs typeface="+mn-cs"/>
                <a:sym typeface="+mn-ea"/>
              </a:rPr>
              <a:t> \n</a:t>
            </a:r>
            <a:r>
              <a:rPr lang="en-US" altLang="zh-CN" sz="2800" kern="1200" dirty="0">
                <a:ea typeface="楷体_GB2312" pitchFamily="49" charset="-122"/>
                <a:cs typeface="+mn-cs"/>
              </a:rPr>
              <a:t>.",p1.name);</a:t>
            </a:r>
          </a:p>
          <a:p>
            <a:pPr marL="1011555" lvl="1" indent="-533400" algn="l" eaLnBrk="1" hangingPunct="1"/>
            <a:r>
              <a:rPr lang="en-US" altLang="zh-CN" sz="2800" kern="1200" dirty="0">
                <a:ea typeface="楷体_GB2312" pitchFamily="49" charset="-122"/>
                <a:cs typeface="+mn-cs"/>
              </a:rPr>
              <a:t>      }</a:t>
            </a:r>
          </a:p>
          <a:p>
            <a:pPr marL="1011555" lvl="1" indent="-533400" algn="l" eaLnBrk="1" hangingPunct="1"/>
            <a:r>
              <a:rPr lang="en-US" altLang="zh-CN" sz="2800" kern="1200" dirty="0">
                <a:ea typeface="楷体_GB2312" pitchFamily="49" charset="-122"/>
                <a:cs typeface="+mn-cs"/>
              </a:rPr>
              <a:t>   }</a:t>
            </a:r>
          </a:p>
        </p:txBody>
      </p:sp>
    </p:spTree>
  </p:cSld>
  <p:clrMapOvr>
    <a:masterClrMapping/>
  </p:clrMapOvr>
  <p:transition>
    <p:pull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/>
              <a:t>小结</a:t>
            </a:r>
            <a:endParaRPr lang="en-US" altLang="zh-CN" sz="4800" b="1" dirty="0"/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ea typeface="楷体_GB2312" pitchFamily="49" charset="-122"/>
              </a:rPr>
              <a:t>掌握栈与队列的特点</a:t>
            </a:r>
            <a:endParaRPr lang="en-US" altLang="zh-CN" sz="3600" dirty="0"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ea typeface="楷体_GB2312" pitchFamily="49" charset="-122"/>
              </a:rPr>
              <a:t>掌握栈与队列的顺序存储与链式存储的实现</a:t>
            </a:r>
            <a:endParaRPr lang="en-US" altLang="zh-CN" sz="3600" dirty="0"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ea typeface="楷体_GB2312" pitchFamily="49" charset="-122"/>
              </a:rPr>
              <a:t>能利用栈与队列解决实际问题</a:t>
            </a:r>
          </a:p>
        </p:txBody>
      </p:sp>
    </p:spTree>
  </p:cSld>
  <p:clrMapOvr>
    <a:masterClrMapping/>
  </p:clrMapOvr>
  <p:transition>
    <p:strips dir="rd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232</TotalTime>
  <Words>6829</Words>
  <Application>Microsoft Office PowerPoint</Application>
  <PresentationFormat>宽屏</PresentationFormat>
  <Paragraphs>1246</Paragraphs>
  <Slides>70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99" baseType="lpstr">
      <vt:lpstr>Arial Rounded MT Bold</vt:lpstr>
      <vt:lpstr>Arial Unicode MS</vt:lpstr>
      <vt:lpstr>Monotype Sorts</vt:lpstr>
      <vt:lpstr>等线</vt:lpstr>
      <vt:lpstr>等线 Light</vt:lpstr>
      <vt:lpstr>仿宋_GB2312</vt:lpstr>
      <vt:lpstr>黑体</vt:lpstr>
      <vt:lpstr>华文楷体</vt:lpstr>
      <vt:lpstr>华文中宋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Calibri Light</vt:lpstr>
      <vt:lpstr>Courier New</vt:lpstr>
      <vt:lpstr>Symbol</vt:lpstr>
      <vt:lpstr>Times New Roman</vt:lpstr>
      <vt:lpstr>Verdana</vt:lpstr>
      <vt:lpstr>Wingdings</vt:lpstr>
      <vt:lpstr>Office 主题​​</vt:lpstr>
      <vt:lpstr>1_Office 主题​​</vt:lpstr>
      <vt:lpstr>2_Office 主题​​</vt:lpstr>
      <vt:lpstr>3_Office 主题​​</vt:lpstr>
      <vt:lpstr>4_Office 主题​​</vt:lpstr>
      <vt:lpstr>5_Office 主题​​</vt:lpstr>
      <vt:lpstr>Visio</vt:lpstr>
      <vt:lpstr>PowerPoint 演示文稿</vt:lpstr>
      <vt:lpstr>outline</vt:lpstr>
      <vt:lpstr>PowerPoint 演示文稿</vt:lpstr>
      <vt:lpstr>3.1 栈(stack)</vt:lpstr>
      <vt:lpstr>栈 的概念与特点</vt:lpstr>
      <vt:lpstr>PowerPoint 演示文稿</vt:lpstr>
      <vt:lpstr>进栈出栈的变化形式</vt:lpstr>
      <vt:lpstr>栈的抽象数据类型定义</vt:lpstr>
      <vt:lpstr>（1）InitStack(size)     操作结果：构造并返回一个空栈 S，容量为size。  （2）FreeStack(S) 初始条件：栈已存在。 操作结果：回收栈S占用的存储空间，S不在可用，返回NULL  （3）ClearStack(S) 初始条件：栈已存在。 操作结果：将栈S清为空栈。</vt:lpstr>
      <vt:lpstr> （4）StackEmpty(S)  初始条件：栈已存在。 操作结果：如栈为空，则返回true，否则返回false  （5）StackLen(S) 初始条件：栈已存在。 操作结果：返回栈元素个数，即栈的长度。  </vt:lpstr>
      <vt:lpstr>（6）GetTop(S) 初始条件：栈已存在且非空。 操作结果：返回栈顶元素。 </vt:lpstr>
      <vt:lpstr>（8）StackTrav (S,visit())  初始条件：栈已存在。 操作结果：从栈底到栈顶依次对栈的每个元素调用函数visit()。  （9）Push(S, e) 初始条件：栈已存在。 操作结果：插入元素e为新的栈顶元素。 </vt:lpstr>
      <vt:lpstr>栈的存储结构 </vt:lpstr>
      <vt:lpstr>栈的数组表示- 顺序栈</vt:lpstr>
      <vt:lpstr>动态顺序栈</vt:lpstr>
      <vt:lpstr>PowerPoint 演示文稿</vt:lpstr>
      <vt:lpstr>PowerPoint 演示文稿</vt:lpstr>
      <vt:lpstr>PowerPoint 演示文稿</vt:lpstr>
      <vt:lpstr>链式栈</vt:lpstr>
      <vt:lpstr>链式栈</vt:lpstr>
      <vt:lpstr>PowerPoint 演示文稿</vt:lpstr>
      <vt:lpstr>PowerPoint 演示文稿</vt:lpstr>
      <vt:lpstr>PowerPoint 演示文稿</vt:lpstr>
      <vt:lpstr>分析可能出现的不匹配的情况: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队列</vt:lpstr>
      <vt:lpstr>队列的概念和特点</vt:lpstr>
      <vt:lpstr>PowerPoint 演示文稿</vt:lpstr>
      <vt:lpstr>队列的抽象数据类型</vt:lpstr>
      <vt:lpstr>（1） InitQueue(Q) 操作结果：构造一个空队列Q。      （2） FreeQueue(Q) 初始条件：队列Q已存在。 操作结果：队列Q被销毁，不再存在。  （3）ClearQueue(Q) 初始条件：队列Q已存在。  操作结果：将Q清为空队列。</vt:lpstr>
      <vt:lpstr>  （4）QueueEmpty(Q) 初始条件：队列Q已存在。 操作结果：若Q为空队列，则返回TRUE，否则返回FALSE。   （5）QueueLength (Q) 初始条件：队列Q已存在。 操作结果：返回Q的元素个数，即队列的长度     </vt:lpstr>
      <vt:lpstr>    （6）DeQueue(Q) 初始条件：队列非空。 操作结果：删除队头元素，并返回其值。 </vt:lpstr>
      <vt:lpstr>  （7）GetHead(Q)   初始条件：Q为非空队列。   操作结果：返回Q的队头元素。 </vt:lpstr>
      <vt:lpstr>（8） EnQueue(Q, e)   初始条件：队列Q已存在。   操作结果：插入元素e为Q的新的队尾元素。</vt:lpstr>
      <vt:lpstr>队列的存储结构</vt:lpstr>
      <vt:lpstr>链队列</vt:lpstr>
      <vt:lpstr>PowerPoint 演示文稿</vt:lpstr>
      <vt:lpstr>PowerPoint 演示文稿</vt:lpstr>
      <vt:lpstr>链队列的实现</vt:lpstr>
      <vt:lpstr>PowerPoint 演示文稿</vt:lpstr>
      <vt:lpstr>1. 链队列的基本概念</vt:lpstr>
      <vt:lpstr>PowerPoint 演示文稿</vt:lpstr>
      <vt:lpstr>入队操作</vt:lpstr>
      <vt:lpstr>PowerPoint 演示文稿</vt:lpstr>
      <vt:lpstr>出队操作</vt:lpstr>
      <vt:lpstr>PowerPoint 演示文稿</vt:lpstr>
      <vt:lpstr>循环队列——队列的顺序存储结构</vt:lpstr>
      <vt:lpstr>顺序队列</vt:lpstr>
      <vt:lpstr>PowerPoint 演示文稿</vt:lpstr>
      <vt:lpstr>顺序队列入队</vt:lpstr>
      <vt:lpstr>顺序队列出队</vt:lpstr>
      <vt:lpstr>假溢出</vt:lpstr>
      <vt:lpstr>循环队列 (Circular Queue)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djzx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djzx</dc:creator>
  <cp:lastModifiedBy>407</cp:lastModifiedBy>
  <cp:revision>224</cp:revision>
  <dcterms:created xsi:type="dcterms:W3CDTF">2000-01-30T08:24:00Z</dcterms:created>
  <dcterms:modified xsi:type="dcterms:W3CDTF">2026-09-29T02:25:39Z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A678971A0133472C9BC9E9EBDA5E5ADA_12</vt:lpwstr>
  </property>
</Properties>
</file>