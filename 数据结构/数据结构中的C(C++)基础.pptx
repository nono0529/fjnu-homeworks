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5"/>
  </p:notesMasterIdLst>
  <p:sldIdLst>
    <p:sldId id="256" r:id="rId3"/>
    <p:sldId id="257" r:id="rId4"/>
    <p:sldId id="265" r:id="rId5"/>
    <p:sldId id="266" r:id="rId6"/>
    <p:sldId id="278" r:id="rId7"/>
    <p:sldId id="324" r:id="rId8"/>
    <p:sldId id="325" r:id="rId9"/>
    <p:sldId id="326" r:id="rId10"/>
    <p:sldId id="327" r:id="rId11"/>
    <p:sldId id="258" r:id="rId12"/>
    <p:sldId id="260" r:id="rId13"/>
    <p:sldId id="262" r:id="rId14"/>
    <p:sldId id="263" r:id="rId15"/>
    <p:sldId id="264" r:id="rId16"/>
    <p:sldId id="268" r:id="rId17"/>
    <p:sldId id="269" r:id="rId18"/>
    <p:sldId id="306" r:id="rId19"/>
    <p:sldId id="307" r:id="rId20"/>
    <p:sldId id="308" r:id="rId21"/>
    <p:sldId id="270" r:id="rId22"/>
    <p:sldId id="271" r:id="rId23"/>
    <p:sldId id="272" r:id="rId24"/>
    <p:sldId id="273" r:id="rId25"/>
    <p:sldId id="274" r:id="rId26"/>
    <p:sldId id="294" r:id="rId27"/>
    <p:sldId id="295" r:id="rId28"/>
    <p:sldId id="296" r:id="rId29"/>
    <p:sldId id="300" r:id="rId30"/>
    <p:sldId id="301" r:id="rId31"/>
    <p:sldId id="275" r:id="rId32"/>
    <p:sldId id="276" r:id="rId33"/>
    <p:sldId id="277" r:id="rId34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6" d="100"/>
          <a:sy n="66" d="100"/>
        </p:scale>
        <p:origin x="6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82AB-9ECD-4B4F-B963-5275438FFB03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3134C-0B0F-4F05-9B8F-17511B3EB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151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307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/>
          <a:p>
            <a:pPr defTabSz="914400">
              <a:buClrTx/>
              <a:buSzTx/>
              <a:buFontTx/>
              <a:buNone/>
            </a:pPr>
            <a:r>
              <a:rPr lang="zh-CN" sz="4400" kern="1200" baseline="0" dirty="0">
                <a:latin typeface="Arial" panose="020B0604020202020204" pitchFamily="34" charset="0"/>
                <a:ea typeface="宋体" panose="02010600030101010101" pitchFamily="2" charset="-122"/>
              </a:rPr>
              <a:t>数据结构中的</a:t>
            </a:r>
            <a:r>
              <a:rPr lang="en-US" altLang="zh-CN" sz="4400" kern="1200" baseline="0" dirty="0">
                <a:latin typeface="Arial" panose="020B0604020202020204" pitchFamily="34" charset="0"/>
                <a:ea typeface="宋体" panose="02010600030101010101" pitchFamily="2" charset="-122"/>
              </a:rPr>
              <a:t>C/C++</a:t>
            </a:r>
            <a:r>
              <a:rPr lang="zh-CN" altLang="en-US" sz="4400" kern="1200" baseline="0" dirty="0">
                <a:latin typeface="Arial" panose="020B0604020202020204" pitchFamily="34" charset="0"/>
                <a:ea typeface="宋体" panose="02010600030101010101" pitchFamily="2" charset="-122"/>
              </a:rPr>
              <a:t>基础</a:t>
            </a:r>
          </a:p>
        </p:txBody>
      </p:sp>
      <p:sp>
        <p:nvSpPr>
          <p:cNvPr id="3075" name="副标题 307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defTabSz="914400">
              <a:buClrTx/>
              <a:buSzTx/>
              <a:buFontTx/>
            </a:pPr>
            <a:endParaRPr sz="3200" kern="1200" baseline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>
                <a:sym typeface="+mn-ea"/>
              </a:rPr>
              <a:t>指针</a:t>
            </a:r>
            <a:endParaRPr lang="zh-CN" altLang="en-US" sz="28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/>
              <a:t>结构体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/>
              <a:t>宏定义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/>
              <a:t>动态内存管理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800"/>
              <a:t>C++</a:t>
            </a:r>
            <a:r>
              <a:rPr lang="zh-CN" altLang="en-US" sz="2800"/>
              <a:t>函数参数引用传递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/>
              <a:t>多文件程序组织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24560"/>
          </a:xfrm>
        </p:spPr>
        <p:txBody>
          <a:bodyPr/>
          <a:lstStyle/>
          <a:p>
            <a:r>
              <a:rPr lang="zh-CN" altLang="en-US"/>
              <a:t>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0645"/>
            <a:ext cx="4102735" cy="507174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内存中是可以被</a:t>
            </a:r>
            <a:r>
              <a:rPr lang="en-US" altLang="zh-CN" sz="2000"/>
              <a:t>CPU</a:t>
            </a:r>
            <a:r>
              <a:rPr lang="zh-CN" altLang="en-US" sz="2000"/>
              <a:t>直接访问的，硬盘则不行。内存被分为很多个单元，每个单元有个编号，也就是内存的地址。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endParaRPr lang="zh-CN" altLang="en-US" sz="20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endParaRPr lang="en-US" altLang="zh-CN" sz="1800"/>
          </a:p>
        </p:txBody>
      </p:sp>
      <p:sp>
        <p:nvSpPr>
          <p:cNvPr id="4" name="文本框 3"/>
          <p:cNvSpPr txBox="1"/>
          <p:nvPr/>
        </p:nvSpPr>
        <p:spPr>
          <a:xfrm>
            <a:off x="4716145" y="1557020"/>
            <a:ext cx="4156710" cy="4794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/>
              <a:t>手机的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RAM</a:t>
            </a:r>
            <a:r>
              <a:rPr lang="zh-CN" altLang="en-US" sz="2000"/>
              <a:t>（</a:t>
            </a:r>
            <a:r>
              <a:rPr lang="en-US" altLang="zh-CN" sz="2000"/>
              <a:t>Random Access Memory, </a:t>
            </a:r>
            <a:r>
              <a:rPr lang="zh-CN" altLang="en-US" sz="2000"/>
              <a:t>随机存取存储器）相当于电脑的内存（主存储器）。它用于临时存储正在运行的应用程序、数据和操作系统，以供CPU快速访问。</a:t>
            </a:r>
          </a:p>
          <a:p>
            <a:endParaRPr lang="zh-CN" altLang="en-US" sz="2000"/>
          </a:p>
          <a:p>
            <a:r>
              <a:rPr lang="zh-CN" altLang="en-US" sz="2000"/>
              <a:t>手机的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ROM</a:t>
            </a:r>
            <a:r>
              <a:rPr lang="zh-CN" altLang="en-US" sz="2000"/>
              <a:t>（</a:t>
            </a:r>
            <a:r>
              <a:rPr lang="en-US" altLang="zh-CN" sz="2000"/>
              <a:t>Read Only Memory,</a:t>
            </a:r>
            <a:r>
              <a:rPr lang="zh-CN" altLang="en-US" sz="2000"/>
              <a:t>只读存储器）相当于电脑的固态硬盘（SSD）或者电脑的固定存储器（如硬盘驱动器）。ROM用于存储操作系统、预装的应用程序和用户数据，与RAM不同的是，ROM中的数据通常是只读的，用户无法直接修改其中的内容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3213100"/>
            <a:ext cx="3342640" cy="3627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24560"/>
          </a:xfrm>
        </p:spPr>
        <p:txBody>
          <a:bodyPr/>
          <a:lstStyle/>
          <a:p>
            <a:r>
              <a:rPr lang="zh-CN" altLang="en-US"/>
              <a:t>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14425"/>
            <a:ext cx="4835525" cy="530796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/>
              <a:t>int *p;   //p</a:t>
            </a:r>
            <a:r>
              <a:rPr lang="zh-CN" altLang="en-US" sz="2000"/>
              <a:t>是一个指向</a:t>
            </a:r>
            <a:r>
              <a:rPr lang="en-US" altLang="zh-CN" sz="2000"/>
              <a:t>int</a:t>
            </a:r>
            <a:r>
              <a:rPr lang="zh-CN" altLang="en-US" sz="2000"/>
              <a:t>类型的指针变量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int i = 2025;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p = &amp;i;  //</a:t>
            </a:r>
            <a:r>
              <a:rPr lang="zh-CN" altLang="en-US" sz="2000"/>
              <a:t>将变量</a:t>
            </a:r>
            <a:r>
              <a:rPr lang="en-US" altLang="zh-CN" sz="2000"/>
              <a:t>i</a:t>
            </a:r>
            <a:r>
              <a:rPr lang="zh-CN" altLang="en-US" sz="2000"/>
              <a:t>的地址放入</a:t>
            </a:r>
            <a:r>
              <a:rPr lang="en-US" altLang="zh-CN" sz="2000"/>
              <a:t>p</a:t>
            </a:r>
            <a:r>
              <a:rPr lang="zh-CN" altLang="en-US" sz="2000"/>
              <a:t>中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            </a:t>
            </a: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2781300"/>
            <a:ext cx="3280410" cy="36582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5316855" y="2421255"/>
            <a:ext cx="3369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//</a:t>
            </a:r>
            <a:r>
              <a:rPr lang="zh-CN" altLang="en-US">
                <a:sym typeface="+mn-ea"/>
              </a:rPr>
              <a:t>将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中存档地址的值改成</a:t>
            </a:r>
            <a:r>
              <a:rPr lang="en-US" altLang="zh-CN">
                <a:sym typeface="+mn-ea"/>
              </a:rPr>
              <a:t>2024</a:t>
            </a:r>
          </a:p>
          <a:p>
            <a:r>
              <a:rPr lang="en-US" altLang="zh-CN">
                <a:sym typeface="+mn-ea"/>
              </a:rPr>
              <a:t>*p = 2024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80" y="3343275"/>
            <a:ext cx="311404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2456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14425"/>
            <a:ext cx="8285480" cy="530796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指针和一维数组的关系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一维数组名是一个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指针常量</a:t>
            </a:r>
            <a:r>
              <a:rPr lang="zh-CN" altLang="en-US" sz="2000"/>
              <a:t>，它存放的是一维数组中第一个元素的地址</a:t>
            </a:r>
            <a:r>
              <a:rPr lang="en-US" altLang="zh-CN" sz="2000"/>
              <a:t> </a:t>
            </a:r>
            <a:r>
              <a:rPr lang="zh-CN" altLang="en-US" sz="2000"/>
              <a:t>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它的值不能改变。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int a[10]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/>
              <a:t>则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a = &amp;a[0] ;    //  </a:t>
            </a:r>
            <a:r>
              <a:rPr lang="zh-CN" altLang="en-US" sz="2000"/>
              <a:t>但</a:t>
            </a:r>
            <a:r>
              <a:rPr lang="en-US" altLang="zh-CN" sz="2000"/>
              <a:t>a</a:t>
            </a:r>
            <a:r>
              <a:rPr lang="zh-CN" altLang="en-US" sz="2000"/>
              <a:t>不能变，是常量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                    //  a+i</a:t>
            </a:r>
            <a:r>
              <a:rPr lang="zh-CN" altLang="en-US" sz="2000"/>
              <a:t>表示用当前地址往后移动</a:t>
            </a:r>
            <a:r>
              <a:rPr lang="en-US" altLang="zh-CN" sz="2000"/>
              <a:t>i</a:t>
            </a:r>
            <a:r>
              <a:rPr lang="zh-CN" altLang="en-US" sz="2000"/>
              <a:t>个单元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/>
              <a:t> a[i]   &lt;&lt;==&gt;&gt; *(a+i)           </a:t>
            </a: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函数指针</a:t>
            </a:r>
          </a:p>
          <a:p>
            <a:pPr marL="0" indent="0">
              <a:buNone/>
            </a:pPr>
            <a:r>
              <a:rPr lang="en-US" altLang="zh-CN"/>
              <a:t>C</a:t>
            </a:r>
            <a:r>
              <a:rPr lang="zh-CN" altLang="en-US"/>
              <a:t>语言中每个函数都有地址，因此利用指针来存储这些地址，并且指向这些函数。</a:t>
            </a: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 sz="2800"/>
              <a:t>语法：返回值</a:t>
            </a:r>
            <a:r>
              <a:rPr lang="en-US" altLang="zh-CN" sz="2800"/>
              <a:t> (*</a:t>
            </a:r>
            <a:r>
              <a:rPr lang="zh-CN" altLang="en-US" sz="2800"/>
              <a:t>指针名</a:t>
            </a:r>
            <a:r>
              <a:rPr lang="en-US" altLang="zh-CN" sz="2800"/>
              <a:t>)(</a:t>
            </a:r>
            <a:r>
              <a:rPr lang="zh-CN" altLang="en-US" sz="2800"/>
              <a:t>参数</a:t>
            </a:r>
            <a:r>
              <a:rPr lang="en-US" altLang="zh-CN" sz="2800"/>
              <a:t>1</a:t>
            </a:r>
            <a:r>
              <a:rPr lang="zh-CN" altLang="en-US" sz="2800"/>
              <a:t>类型，参数</a:t>
            </a:r>
            <a:r>
              <a:rPr lang="en-US" altLang="zh-CN" sz="2800"/>
              <a:t>2</a:t>
            </a:r>
            <a:r>
              <a:rPr lang="zh-CN" altLang="en-US" sz="2800"/>
              <a:t>类型）</a:t>
            </a:r>
          </a:p>
          <a:p>
            <a:pPr marL="0" indent="0">
              <a:buNone/>
            </a:pPr>
            <a:r>
              <a:rPr lang="zh-CN" altLang="en-US" sz="2800"/>
              <a:t>如</a:t>
            </a:r>
          </a:p>
          <a:p>
            <a:pPr marL="0" indent="0">
              <a:buNone/>
            </a:pPr>
            <a:r>
              <a:rPr lang="en-US" altLang="zh-CN" sz="2800"/>
              <a:t>int (*pointer)(int,int);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08660"/>
            <a:ext cx="8229600" cy="541782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/>
              <a:t>例如：</a:t>
            </a:r>
          </a:p>
          <a:p>
            <a:pPr marL="0" indent="0">
              <a:buNone/>
            </a:pPr>
            <a:r>
              <a:rPr lang="zh-CN" altLang="en-US" sz="1800"/>
              <a:t>int max(int a,int b){</a:t>
            </a:r>
          </a:p>
          <a:p>
            <a:pPr marL="0" indent="0">
              <a:buNone/>
            </a:pPr>
            <a:r>
              <a:rPr lang="zh-CN" altLang="en-US" sz="1800"/>
              <a:t>	if(a&gt;b)</a:t>
            </a:r>
          </a:p>
          <a:p>
            <a:pPr marL="0" indent="0">
              <a:buNone/>
            </a:pPr>
            <a:r>
              <a:rPr lang="zh-CN" altLang="en-US" sz="1800"/>
              <a:t>		return a;</a:t>
            </a:r>
          </a:p>
          <a:p>
            <a:pPr marL="0" indent="0">
              <a:buNone/>
            </a:pPr>
            <a:r>
              <a:rPr lang="zh-CN" altLang="en-US" sz="1800"/>
              <a:t>	return b; </a:t>
            </a:r>
          </a:p>
          <a:p>
            <a:pPr marL="0" indent="0">
              <a:buNone/>
            </a:pPr>
            <a:r>
              <a:rPr lang="zh-CN" altLang="en-US" sz="1800"/>
              <a:t>}</a:t>
            </a:r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int main() {</a:t>
            </a:r>
          </a:p>
          <a:p>
            <a:pPr marL="0" indent="0">
              <a:buNone/>
            </a:pPr>
            <a:r>
              <a:rPr lang="zh-CN" altLang="en-US" sz="1800"/>
              <a:t>	int (*p)(int ,int);</a:t>
            </a:r>
          </a:p>
          <a:p>
            <a:pPr marL="0" indent="0">
              <a:buNone/>
            </a:pPr>
            <a:r>
              <a:rPr lang="zh-CN" altLang="en-US" sz="1800"/>
              <a:t>	int a,b;</a:t>
            </a:r>
          </a:p>
          <a:p>
            <a:pPr marL="0" indent="0">
              <a:buNone/>
            </a:pPr>
            <a:r>
              <a:rPr lang="zh-CN" altLang="en-US" sz="1800"/>
              <a:t>	a = 10;</a:t>
            </a:r>
          </a:p>
          <a:p>
            <a:pPr marL="0" indent="0">
              <a:buNone/>
            </a:pPr>
            <a:r>
              <a:rPr lang="zh-CN" altLang="en-US" sz="1800"/>
              <a:t>	b = 20;</a:t>
            </a:r>
          </a:p>
          <a:p>
            <a:pPr marL="0" indent="0">
              <a:buNone/>
            </a:pPr>
            <a:r>
              <a:rPr lang="zh-CN" altLang="en-US" sz="1800"/>
              <a:t>	p = max;</a:t>
            </a:r>
            <a:r>
              <a:rPr lang="en-US" altLang="zh-CN" sz="1800"/>
              <a:t>   //</a:t>
            </a:r>
            <a:r>
              <a:rPr lang="zh-CN" altLang="en-US" sz="1800"/>
              <a:t>定义函数指针指向</a:t>
            </a:r>
            <a:r>
              <a:rPr lang="en-US" altLang="zh-CN" sz="1800"/>
              <a:t>max</a:t>
            </a:r>
            <a:r>
              <a:rPr lang="zh-CN" altLang="en-US" sz="1800"/>
              <a:t>函数</a:t>
            </a:r>
          </a:p>
          <a:p>
            <a:pPr marL="0" indent="0">
              <a:buNone/>
            </a:pPr>
            <a:r>
              <a:rPr lang="zh-CN" altLang="en-US" sz="1800"/>
              <a:t>	printf("%d\n",(*p)(a,b));</a:t>
            </a:r>
          </a:p>
          <a:p>
            <a:pPr marL="0" indent="0">
              <a:buNone/>
            </a:pPr>
            <a:r>
              <a:rPr lang="zh-CN" altLang="en-US" sz="1800"/>
              <a:t>	return 0;</a:t>
            </a:r>
          </a:p>
          <a:p>
            <a:pPr marL="0" indent="0">
              <a:buNone/>
            </a:pPr>
            <a:r>
              <a:rPr lang="zh-CN" altLang="en-US" sz="18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1361440" cy="452628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/>
              <a:t>也可以将一个函数指针类型作为函数的参数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79930" y="405130"/>
            <a:ext cx="6488430" cy="6083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11505" y="621030"/>
            <a:ext cx="7651115" cy="445389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24560"/>
          </a:xfrm>
        </p:spPr>
        <p:txBody>
          <a:bodyPr/>
          <a:lstStyle/>
          <a:p>
            <a:r>
              <a:rPr lang="zh-CN" altLang="en-US"/>
              <a:t>结构体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0645"/>
            <a:ext cx="8229600" cy="50717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/>
              <a:t>在C语言中，基本数据类型包括：</a:t>
            </a:r>
          </a:p>
          <a:p>
            <a:pPr marL="0" indent="0">
              <a:buNone/>
            </a:pPr>
            <a:r>
              <a:rPr lang="zh-CN" altLang="en-US" sz="1800">
                <a:solidFill>
                  <a:srgbClr val="FF0000"/>
                </a:solidFill>
                <a:highlight>
                  <a:srgbClr val="FFFF00"/>
                </a:highlight>
              </a:rPr>
              <a:t>整型</a:t>
            </a:r>
            <a:r>
              <a:rPr lang="zh-CN" altLang="en-US" sz="1800"/>
              <a:t>（Integer）：</a:t>
            </a:r>
          </a:p>
          <a:p>
            <a:pPr>
              <a:buFont typeface="Wingdings" panose="05000000000000000000" charset="0"/>
              <a:buChar char="l"/>
            </a:pPr>
            <a:r>
              <a:rPr lang="zh-CN" altLang="en-US" sz="1800"/>
              <a:t>int：整数，通常为机器字长大小（32位或64位）。</a:t>
            </a:r>
          </a:p>
          <a:p>
            <a:pPr>
              <a:buFont typeface="Wingdings" panose="05000000000000000000" charset="0"/>
              <a:buChar char="l"/>
            </a:pPr>
            <a:r>
              <a:rPr lang="zh-CN" altLang="en-US" sz="1800"/>
              <a:t>short：短整数，通常为16位。</a:t>
            </a:r>
          </a:p>
          <a:p>
            <a:pPr>
              <a:buFont typeface="Wingdings" panose="05000000000000000000" charset="0"/>
              <a:buChar char="l"/>
            </a:pPr>
            <a:r>
              <a:rPr lang="zh-CN" altLang="en-US" sz="1800"/>
              <a:t>long：长整数，通常为32位。</a:t>
            </a:r>
          </a:p>
          <a:p>
            <a:pPr>
              <a:buFont typeface="Wingdings" panose="05000000000000000000" charset="0"/>
              <a:buChar char="l"/>
            </a:pPr>
            <a:r>
              <a:rPr lang="zh-CN" altLang="en-US" sz="1800"/>
              <a:t>long long：长长整数，通常为64位。</a:t>
            </a:r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>
                <a:solidFill>
                  <a:srgbClr val="FF0000"/>
                </a:solidFill>
                <a:highlight>
                  <a:srgbClr val="FFFF00"/>
                </a:highlight>
              </a:rPr>
              <a:t>浮点型</a:t>
            </a:r>
            <a:r>
              <a:rPr lang="zh-CN" altLang="en-US" sz="1800"/>
              <a:t>（Floating-point）：</a:t>
            </a:r>
          </a:p>
          <a:p>
            <a:pPr>
              <a:buFont typeface="Wingdings" panose="05000000000000000000" charset="0"/>
              <a:buChar char="l"/>
            </a:pPr>
            <a:r>
              <a:rPr lang="zh-CN" altLang="en-US" sz="1800"/>
              <a:t>float：单精度浮点数，通常为32位。</a:t>
            </a:r>
          </a:p>
          <a:p>
            <a:pPr>
              <a:buFont typeface="Wingdings" panose="05000000000000000000" charset="0"/>
              <a:buChar char="l"/>
            </a:pPr>
            <a:r>
              <a:rPr lang="zh-CN" altLang="en-US" sz="1800"/>
              <a:t>double：双精度浮点数，通常为64位。</a:t>
            </a:r>
          </a:p>
          <a:p>
            <a:pPr>
              <a:buFont typeface="Wingdings" panose="05000000000000000000" charset="0"/>
              <a:buChar char="l"/>
            </a:pPr>
            <a:r>
              <a:rPr lang="zh-CN" altLang="en-US" sz="1800"/>
              <a:t>long double：扩展精度浮点数。</a:t>
            </a:r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>
                <a:solidFill>
                  <a:srgbClr val="FF0000"/>
                </a:solidFill>
                <a:highlight>
                  <a:srgbClr val="FFFF00"/>
                </a:highlight>
              </a:rPr>
              <a:t>字符型</a:t>
            </a:r>
            <a:r>
              <a:rPr lang="zh-CN" altLang="en-US" sz="1800"/>
              <a:t>（Character）：</a:t>
            </a:r>
          </a:p>
          <a:p>
            <a:pPr>
              <a:buFont typeface="Wingdings" panose="05000000000000000000" charset="0"/>
              <a:buChar char="l"/>
            </a:pPr>
            <a:r>
              <a:rPr lang="zh-CN" altLang="en-US" sz="1800"/>
              <a:t>char：通常是一个字节大小的整数类型，表示字符数据。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2456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0645"/>
            <a:ext cx="8229600" cy="5071745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字符数组和字符串</a:t>
            </a:r>
          </a:p>
          <a:p>
            <a:pPr marL="0" indent="0">
              <a:buNone/>
            </a:pPr>
            <a:r>
              <a:rPr lang="zh-CN" altLang="en-US" sz="2400"/>
              <a:t>C语言中</a:t>
            </a:r>
            <a:r>
              <a:rPr lang="zh-CN" altLang="en-US" sz="2400">
                <a:solidFill>
                  <a:srgbClr val="FF0000"/>
                </a:solidFill>
                <a:highlight>
                  <a:srgbClr val="FFFF00"/>
                </a:highlight>
              </a:rPr>
              <a:t>没有</a:t>
            </a:r>
            <a:r>
              <a:rPr lang="zh-CN" altLang="en-US" sz="2400"/>
              <a:t>字符串这种基本数据类型，可以通过</a:t>
            </a:r>
            <a:r>
              <a:rPr lang="en-US" altLang="zh-CN" sz="2400">
                <a:solidFill>
                  <a:srgbClr val="FF0000"/>
                </a:solidFill>
                <a:highlight>
                  <a:srgbClr val="FFFF00"/>
                </a:highlight>
              </a:rPr>
              <a:t>char</a:t>
            </a:r>
            <a:r>
              <a:rPr lang="zh-CN" altLang="en-US" sz="2400">
                <a:solidFill>
                  <a:srgbClr val="FF0000"/>
                </a:solidFill>
                <a:highlight>
                  <a:srgbClr val="FFFF00"/>
                </a:highlight>
              </a:rPr>
              <a:t>型数组</a:t>
            </a:r>
            <a:r>
              <a:rPr lang="zh-CN" altLang="en-US" sz="2400"/>
              <a:t>来代替。</a:t>
            </a:r>
          </a:p>
          <a:p>
            <a:pPr marL="0" indent="0">
              <a:buNone/>
            </a:pPr>
            <a:r>
              <a:rPr lang="zh-CN" altLang="en-US" sz="2400"/>
              <a:t>字符串一定是</a:t>
            </a:r>
            <a:r>
              <a:rPr lang="en-US" altLang="zh-CN" sz="2400"/>
              <a:t>char</a:t>
            </a:r>
            <a:r>
              <a:rPr lang="zh-CN" altLang="en-US" sz="2400"/>
              <a:t>型数组，但</a:t>
            </a:r>
            <a:r>
              <a:rPr lang="en-US" altLang="zh-CN" sz="2400"/>
              <a:t>char</a:t>
            </a:r>
            <a:r>
              <a:rPr lang="zh-CN" altLang="en-US" sz="2400"/>
              <a:t>型数组未必是字符串。</a:t>
            </a:r>
          </a:p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普通</a:t>
            </a:r>
            <a:r>
              <a:rPr lang="en-US" altLang="zh-CN" sz="2400"/>
              <a:t>char</a:t>
            </a:r>
            <a:r>
              <a:rPr lang="zh-CN" altLang="en-US" sz="2400"/>
              <a:t>型数组和字符串的区别：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>
                <a:sym typeface="+mn-ea"/>
              </a:rPr>
              <a:t>字符串是以字符</a:t>
            </a:r>
            <a:r>
              <a:rPr lang="en-US" altLang="zh-CN" sz="24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‘\0’</a:t>
            </a:r>
            <a:r>
              <a:rPr lang="zh-CN" altLang="en-US" sz="2400">
                <a:sym typeface="+mn-ea"/>
              </a:rPr>
              <a:t>结尾的字符数组，而普通数组并不以字符</a:t>
            </a:r>
            <a:r>
              <a:rPr lang="en-US" altLang="zh-CN" sz="2400">
                <a:sym typeface="+mn-ea"/>
              </a:rPr>
              <a:t>‘\0’</a:t>
            </a:r>
            <a:r>
              <a:rPr lang="zh-CN" altLang="en-US" sz="2400">
                <a:sym typeface="+mn-ea"/>
              </a:rPr>
              <a:t>结尾。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24560"/>
          </a:xfrm>
        </p:spPr>
        <p:txBody>
          <a:bodyPr/>
          <a:lstStyle/>
          <a:p>
            <a:r>
              <a:rPr lang="zh-CN" altLang="en-US"/>
              <a:t>结构体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0645"/>
            <a:ext cx="8229600" cy="5071745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char c1[] ={‘f’,’j’,’n’,’u’};      //</a:t>
            </a:r>
            <a:r>
              <a:rPr lang="zh-CN" altLang="en-US"/>
              <a:t>普通字符数组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print(“c1 = %s\n”,c1};     //</a:t>
            </a:r>
            <a:r>
              <a:rPr lang="zh-CN" altLang="en-US"/>
              <a:t>乱码，没有</a:t>
            </a:r>
            <a:r>
              <a:rPr lang="en-US" altLang="zh-CN"/>
              <a:t>‘\0’</a:t>
            </a:r>
            <a:r>
              <a:rPr lang="zh-CN" altLang="en-US"/>
              <a:t>结束</a:t>
            </a: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>
                <a:sym typeface="+mn-ea"/>
              </a:rPr>
              <a:t>char c2[] ={‘f’,’j’,’n’,’u’,’\0’};      //</a:t>
            </a:r>
            <a:r>
              <a:rPr lang="zh-CN" altLang="en-US">
                <a:sym typeface="+mn-ea"/>
              </a:rPr>
              <a:t>字符串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print(“c2 = %s\n”,c2};     //</a:t>
            </a:r>
            <a:r>
              <a:rPr lang="zh-CN" altLang="en-US">
                <a:sym typeface="+mn-ea"/>
              </a:rPr>
              <a:t>输出</a:t>
            </a:r>
            <a:r>
              <a:rPr lang="en-US" altLang="zh-CN">
                <a:sym typeface="+mn-ea"/>
              </a:rPr>
              <a:t>fjnu</a:t>
            </a:r>
          </a:p>
          <a:p>
            <a:pPr marL="0" indent="0">
              <a:buNone/>
            </a:pP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char c3[] ={‘f’,’j’,’n’,’u’,’\0’,’c’,’c’,’s’,’\0’};  </a:t>
            </a:r>
          </a:p>
          <a:p>
            <a:pPr marL="0" indent="0">
              <a:buNone/>
            </a:pPr>
            <a:r>
              <a:rPr lang="en-US" altLang="zh-CN">
                <a:sym typeface="+mn-ea"/>
              </a:rPr>
              <a:t>print(“c3 = %s\n”,c3};   </a:t>
            </a:r>
            <a:r>
              <a:rPr lang="en-US" altLang="zh-CN" sz="2800">
                <a:sym typeface="+mn-ea"/>
              </a:rPr>
              <a:t>//</a:t>
            </a:r>
            <a:r>
              <a:rPr lang="zh-CN" altLang="en-US" sz="2800">
                <a:sym typeface="+mn-ea"/>
              </a:rPr>
              <a:t>输出</a:t>
            </a:r>
            <a:r>
              <a:rPr lang="en-US" altLang="zh-CN" sz="2800">
                <a:sym typeface="+mn-ea"/>
              </a:rPr>
              <a:t>fjnu,</a:t>
            </a:r>
            <a:r>
              <a:rPr lang="zh-CN" altLang="en-US" sz="2800">
                <a:sym typeface="+mn-ea"/>
              </a:rPr>
              <a:t>第一个</a:t>
            </a:r>
            <a:r>
              <a:rPr lang="en-US" altLang="zh-CN" sz="2800">
                <a:sym typeface="+mn-ea"/>
              </a:rPr>
              <a:t>\0</a:t>
            </a:r>
            <a:r>
              <a:rPr lang="zh-CN" altLang="en-US" sz="2800">
                <a:sym typeface="+mn-ea"/>
              </a:rPr>
              <a:t>结束</a:t>
            </a:r>
            <a:endParaRPr lang="en-US" altLang="zh-CN" sz="2800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   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800"/>
              <a:t>基本数据类型在表示简单信息时够用，比如一个学生的姓名用字符串，年龄用整型数，性别用字符。但是在表示复杂的数据，比如一个学生的完整信息时，基本数据类型无法满足要求。</a:t>
            </a:r>
          </a:p>
          <a:p>
            <a:pPr marL="0" indent="0">
              <a:buNone/>
            </a:pPr>
            <a:endParaRPr lang="zh-CN" altLang="en-US" sz="2800"/>
          </a:p>
          <a:p>
            <a:pPr marL="0" indent="0">
              <a:buNone/>
            </a:pPr>
            <a:r>
              <a:rPr lang="zh-CN" altLang="en-US" sz="2800">
                <a:solidFill>
                  <a:srgbClr val="FF0000"/>
                </a:solidFill>
                <a:highlight>
                  <a:srgbClr val="FFFF00"/>
                </a:highlight>
              </a:rPr>
              <a:t>结构体</a:t>
            </a:r>
            <a:r>
              <a:rPr lang="zh-CN" altLang="en-US" sz="2800"/>
              <a:t>就是用户根据实际需要自定义的复杂数据类型。它相当于</a:t>
            </a:r>
            <a:r>
              <a:rPr lang="en-US" altLang="zh-CN" sz="2800"/>
              <a:t>java</a:t>
            </a:r>
            <a:r>
              <a:rPr lang="zh-CN" altLang="en-US" sz="2800"/>
              <a:t>中的类，但是没有里面的方法。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85105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定义结构体的关键字是</a:t>
            </a:r>
            <a:r>
              <a:rPr lang="en-US" altLang="zh-CN"/>
              <a:t>struct</a:t>
            </a:r>
            <a:r>
              <a:rPr lang="zh-CN" altLang="en-US"/>
              <a:t>。</a:t>
            </a:r>
          </a:p>
          <a:p>
            <a:pPr marL="0" indent="0">
              <a:buNone/>
            </a:pPr>
            <a:r>
              <a:rPr lang="zh-CN" altLang="en-US" sz="2000"/>
              <a:t>如</a:t>
            </a:r>
            <a:r>
              <a:rPr lang="en-US" altLang="zh-CN" sz="2000"/>
              <a:t>struct Student{</a:t>
            </a:r>
          </a:p>
          <a:p>
            <a:pPr marL="0" indent="0">
              <a:buNone/>
            </a:pPr>
            <a:r>
              <a:rPr lang="en-US" altLang="zh-CN" sz="2000"/>
              <a:t>  char name[20];     //</a:t>
            </a:r>
            <a:r>
              <a:rPr lang="zh-CN" altLang="en-US" sz="2000"/>
              <a:t>姓名用字符串表示</a:t>
            </a:r>
          </a:p>
          <a:p>
            <a:pPr marL="0" indent="0">
              <a:buNone/>
            </a:pPr>
            <a:r>
              <a:rPr lang="zh-CN" altLang="en-US" sz="2000"/>
              <a:t> </a:t>
            </a:r>
            <a:r>
              <a:rPr lang="en-US" altLang="zh-CN" sz="2000"/>
              <a:t> int age;                  //</a:t>
            </a:r>
            <a:r>
              <a:rPr lang="zh-CN" altLang="en-US" sz="2000"/>
              <a:t>年龄用</a:t>
            </a:r>
            <a:r>
              <a:rPr lang="en-US" altLang="zh-CN" sz="2000"/>
              <a:t>int</a:t>
            </a:r>
            <a:r>
              <a:rPr lang="zh-CN" altLang="en-US" sz="2000"/>
              <a:t>表示</a:t>
            </a:r>
          </a:p>
          <a:p>
            <a:pPr marL="0" indent="0">
              <a:buNone/>
            </a:pPr>
            <a:r>
              <a:rPr lang="zh-CN" altLang="en-US" sz="2000"/>
              <a:t> </a:t>
            </a:r>
            <a:r>
              <a:rPr lang="en-US" altLang="zh-CN" sz="2000"/>
              <a:t> char gender;          //</a:t>
            </a:r>
            <a:r>
              <a:rPr lang="zh-CN" altLang="en-US" sz="2000"/>
              <a:t>性别用</a:t>
            </a:r>
            <a:r>
              <a:rPr lang="en-US" altLang="zh-CN" sz="2000"/>
              <a:t>char</a:t>
            </a:r>
            <a:r>
              <a:rPr lang="zh-CN" altLang="en-US" sz="2000"/>
              <a:t>表示</a:t>
            </a:r>
            <a:endParaRPr lang="en-US" altLang="zh-CN" sz="2000"/>
          </a:p>
          <a:p>
            <a:pPr marL="0" indent="0">
              <a:buNone/>
            </a:pPr>
            <a:r>
              <a:rPr lang="en-US" altLang="zh-CN" sz="2000"/>
              <a:t>}</a:t>
            </a:r>
          </a:p>
          <a:p>
            <a:pPr marL="0" indent="0">
              <a:buNone/>
            </a:pPr>
            <a:endParaRPr lang="en-US" altLang="zh-CN" sz="2000"/>
          </a:p>
          <a:p>
            <a:pPr marL="0" indent="0">
              <a:buNone/>
            </a:pPr>
            <a:r>
              <a:rPr lang="en-US" altLang="zh-CN" sz="2000"/>
              <a:t>struct Student st1 = {“zhangsan”,21,’M’};</a:t>
            </a:r>
          </a:p>
          <a:p>
            <a:pPr marL="0" indent="0">
              <a:buNone/>
            </a:pPr>
            <a:r>
              <a:rPr lang="en-US" altLang="zh-CN" sz="2000">
                <a:sym typeface="+mn-ea"/>
              </a:rPr>
              <a:t>struct Student st2;</a:t>
            </a:r>
          </a:p>
          <a:p>
            <a:pPr marL="0" indent="0">
              <a:buNone/>
            </a:pPr>
            <a:r>
              <a:rPr lang="en-US" altLang="zh-CN" sz="2000"/>
              <a:t># </a:t>
            </a:r>
            <a:r>
              <a:rPr lang="zh-CN" altLang="en-US" sz="2000"/>
              <a:t>不能用</a:t>
            </a:r>
            <a:r>
              <a:rPr lang="en-US" altLang="zh-CN" sz="2000"/>
              <a:t>st2.name = ”lisi”</a:t>
            </a:r>
          </a:p>
          <a:p>
            <a:pPr marL="0" indent="0">
              <a:buNone/>
            </a:pPr>
            <a:r>
              <a:rPr lang="en-US" altLang="zh-CN" sz="2000"/>
              <a:t>strcpy(st2.name,”lisi”);</a:t>
            </a:r>
          </a:p>
          <a:p>
            <a:pPr marL="0" indent="0">
              <a:buNone/>
            </a:pPr>
            <a:r>
              <a:rPr lang="en-US" altLang="zh-CN" sz="2000"/>
              <a:t>st2.age = 21;</a:t>
            </a:r>
          </a:p>
          <a:p>
            <a:pPr marL="0" indent="0">
              <a:buNone/>
            </a:pPr>
            <a:r>
              <a:rPr lang="en-US" altLang="zh-CN" sz="2000"/>
              <a:t>st2.gender = ‘F’;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C</a:t>
            </a:r>
            <a:r>
              <a:rPr lang="zh-CN" altLang="en-US"/>
              <a:t>语言中的</a:t>
            </a:r>
            <a:r>
              <a:rPr lang="en-US" altLang="zh-CN"/>
              <a:t>typedef</a:t>
            </a:r>
            <a:r>
              <a:rPr lang="zh-CN" altLang="en-US"/>
              <a:t>可以给一个已经存在的类型起别名。</a:t>
            </a:r>
          </a:p>
          <a:p>
            <a:pPr marL="0" indent="0">
              <a:buNone/>
            </a:pPr>
            <a:r>
              <a:rPr lang="en-US" altLang="zh-CN"/>
              <a:t>typedef struct  Student{</a:t>
            </a:r>
          </a:p>
          <a:p>
            <a:pPr marL="0" indent="0">
              <a:buNone/>
            </a:pPr>
            <a:r>
              <a:rPr lang="en-US" altLang="zh-CN"/>
              <a:t>  char name[20];     //姓名用字符串表示</a:t>
            </a:r>
          </a:p>
          <a:p>
            <a:pPr marL="0" indent="0">
              <a:buNone/>
            </a:pPr>
            <a:r>
              <a:rPr lang="en-US" altLang="zh-CN"/>
              <a:t>  int age;                  //年龄用int表示</a:t>
            </a:r>
          </a:p>
          <a:p>
            <a:pPr marL="0" indent="0">
              <a:buNone/>
            </a:pPr>
            <a:r>
              <a:rPr lang="en-US" altLang="zh-CN"/>
              <a:t>  char gender;          //性别用char表示</a:t>
            </a:r>
          </a:p>
          <a:p>
            <a:pPr marL="0" indent="0">
              <a:buNone/>
            </a:pPr>
            <a:r>
              <a:rPr lang="en-US" altLang="zh-CN"/>
              <a:t>} Student,*StudentLink;</a:t>
            </a: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/>
              <a:t>int main(){</a:t>
            </a:r>
            <a:endParaRPr sz="1800"/>
          </a:p>
          <a:p>
            <a:pPr marL="457200" lvl="1" indent="0">
              <a:lnSpc>
                <a:spcPct val="100000"/>
              </a:lnSpc>
              <a:buNone/>
            </a:pPr>
            <a:r>
              <a:rPr sz="1800"/>
              <a:t>Student st3;</a:t>
            </a:r>
            <a:r>
              <a:rPr lang="en-US" sz="1800"/>
              <a:t>         //</a:t>
            </a:r>
            <a:r>
              <a:rPr lang="zh-CN" altLang="en-US" sz="1800"/>
              <a:t>直接使用自定义的类型</a:t>
            </a:r>
            <a:r>
              <a:rPr lang="en-US" altLang="zh-CN" sz="1800"/>
              <a:t>Student</a:t>
            </a:r>
            <a:endParaRPr sz="1800"/>
          </a:p>
          <a:p>
            <a:pPr marL="457200" lvl="1" indent="0">
              <a:lnSpc>
                <a:spcPct val="100000"/>
              </a:lnSpc>
              <a:buNone/>
            </a:pPr>
            <a:r>
              <a:rPr sz="1800"/>
              <a:t>StudentLink link;</a:t>
            </a:r>
            <a:r>
              <a:rPr lang="en-US" sz="1800"/>
              <a:t>    //StudentLink</a:t>
            </a:r>
            <a:r>
              <a:rPr lang="zh-CN" altLang="en-US" sz="1800"/>
              <a:t>是自定义的指向</a:t>
            </a:r>
            <a:r>
              <a:rPr lang="en-US" altLang="zh-CN" sz="1800"/>
              <a:t>Student</a:t>
            </a:r>
            <a:r>
              <a:rPr lang="zh-CN" altLang="en-US" sz="1800"/>
              <a:t>类型的指针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sz="1800"/>
              <a:t> </a:t>
            </a:r>
            <a:r>
              <a:rPr lang="en-US" altLang="zh-CN" sz="1800"/>
              <a:t>                            //</a:t>
            </a:r>
            <a:r>
              <a:rPr lang="zh-CN" altLang="en-US" sz="1800"/>
              <a:t>等同于</a:t>
            </a:r>
            <a:r>
              <a:rPr lang="en-US" altLang="zh-CN" sz="1800"/>
              <a:t>  Student * link</a:t>
            </a:r>
            <a:r>
              <a:rPr lang="zh-CN" altLang="en-US" sz="1800"/>
              <a:t>；</a:t>
            </a:r>
            <a:endParaRPr sz="1800"/>
          </a:p>
          <a:p>
            <a:pPr marL="457200" lvl="1" indent="0">
              <a:lnSpc>
                <a:spcPct val="100000"/>
              </a:lnSpc>
              <a:buNone/>
            </a:pPr>
            <a:r>
              <a:rPr sz="1800"/>
              <a:t>	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sz="1800"/>
              <a:t>strcpy(st3.name,"王五");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sz="1800"/>
              <a:t>st3.age = 20;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sz="1800"/>
              <a:t>st3.gender = 'm';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sz="1800"/>
              <a:t>	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sz="1800"/>
              <a:t>link = &amp;st3;</a:t>
            </a:r>
            <a:r>
              <a:rPr lang="en-US" sz="1800"/>
              <a:t>                       //link</a:t>
            </a:r>
            <a:r>
              <a:rPr lang="zh-CN" altLang="en-US" sz="1800"/>
              <a:t>指向</a:t>
            </a:r>
            <a:r>
              <a:rPr lang="en-US" altLang="zh-CN" sz="1800"/>
              <a:t>st3</a:t>
            </a:r>
            <a:endParaRPr sz="1800"/>
          </a:p>
          <a:p>
            <a:pPr marL="457200" lvl="1" indent="0">
              <a:lnSpc>
                <a:spcPct val="100000"/>
              </a:lnSpc>
              <a:buNone/>
            </a:pPr>
            <a:r>
              <a:rPr sz="1800"/>
              <a:t>(*link).age = 21;</a:t>
            </a:r>
            <a:r>
              <a:rPr lang="en-US" sz="1800"/>
              <a:t>               //</a:t>
            </a:r>
            <a:r>
              <a:rPr lang="zh-CN" altLang="en-US" sz="1800"/>
              <a:t>修改</a:t>
            </a:r>
            <a:r>
              <a:rPr lang="en-US" altLang="zh-CN" sz="1800"/>
              <a:t>link</a:t>
            </a:r>
            <a:r>
              <a:rPr lang="zh-CN" altLang="en-US" sz="1800"/>
              <a:t>指向地址中的内容</a:t>
            </a:r>
            <a:endParaRPr sz="1800"/>
          </a:p>
          <a:p>
            <a:pPr marL="457200" lvl="1" indent="0">
              <a:lnSpc>
                <a:spcPct val="100000"/>
              </a:lnSpc>
              <a:buNone/>
            </a:pPr>
            <a:r>
              <a:rPr sz="1800"/>
              <a:t>printf("%d",link</a:t>
            </a:r>
            <a:r>
              <a:rPr lang="en-US" sz="1800"/>
              <a:t>-&gt;</a:t>
            </a:r>
            <a:r>
              <a:rPr sz="1800"/>
              <a:t>age);</a:t>
            </a:r>
            <a:r>
              <a:rPr lang="en-US" sz="1800"/>
              <a:t>     //</a:t>
            </a:r>
            <a:r>
              <a:rPr lang="zh-CN" altLang="en-US" sz="1800"/>
              <a:t>更推荐用</a:t>
            </a:r>
            <a:r>
              <a:rPr lang="en-US" altLang="zh-CN" sz="1800"/>
              <a:t>“-&gt;”</a:t>
            </a:r>
            <a:r>
              <a:rPr lang="zh-CN" altLang="en-US" sz="1800"/>
              <a:t>运算符来代替</a:t>
            </a:r>
            <a:r>
              <a:rPr lang="en-US" altLang="zh-CN" sz="1800"/>
              <a:t>”(*).”</a:t>
            </a:r>
            <a:endParaRPr sz="1800"/>
          </a:p>
          <a:p>
            <a:pPr marL="457200" lvl="1" indent="0">
              <a:lnSpc>
                <a:spcPct val="100000"/>
              </a:lnSpc>
              <a:buNone/>
            </a:pPr>
            <a:r>
              <a:rPr sz="1800"/>
              <a:t>getchar();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sz="1800"/>
              <a:t>return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宏定义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/>
              <a:t>宏定义</a:t>
            </a:r>
          </a:p>
          <a:p>
            <a:pPr marL="0" indent="0">
              <a:buNone/>
            </a:pPr>
            <a:r>
              <a:rPr lang="en-US" sz="2800"/>
              <a:t>宏定义又称为宏代换、宏替换，简称为宏。是 C 语言中最为常用的预处理指令。</a:t>
            </a:r>
          </a:p>
          <a:p>
            <a:pPr marL="0" indent="0">
              <a:buNone/>
            </a:pPr>
            <a:endParaRPr lang="en-US" sz="2800"/>
          </a:p>
          <a:p>
            <a:pPr marL="0" indent="0">
              <a:buNone/>
            </a:pPr>
            <a:r>
              <a:rPr lang="en-US" sz="2800"/>
              <a:t>宏定义指令，是由 # 和关键字 define 组合而成的。它的作用是文本替换，使用标识符来代替替换列表中的内容。使用宏定义可以提高程序的通用性、易读性，减少因为输入错误产生的各种问题，同时还便于修改。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例如：</a:t>
            </a:r>
          </a:p>
          <a:p>
            <a:pPr marL="0" indent="0">
              <a:buNone/>
            </a:pPr>
            <a:r>
              <a:rPr lang="en-US" altLang="zh-CN"/>
              <a:t>#define PI 3.1415926</a:t>
            </a: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r = PI*5*5;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/>
              <a:t>本课程中将常用状态通过宏和起别名的方式预定义了常量和类型</a:t>
            </a:r>
          </a:p>
          <a:p>
            <a:pPr marL="0" indent="0">
              <a:buNone/>
            </a:pPr>
            <a:r>
              <a:rPr lang="en-US" altLang="zh-CN" sz="2400"/>
              <a:t>#define TRUE 1</a:t>
            </a:r>
          </a:p>
          <a:p>
            <a:pPr marL="0" indent="0">
              <a:buNone/>
            </a:pPr>
            <a:r>
              <a:rPr lang="en-US" altLang="zh-CN" sz="2400"/>
              <a:t>#define FALSE 0</a:t>
            </a:r>
          </a:p>
          <a:p>
            <a:pPr marL="0" indent="0">
              <a:buNone/>
            </a:pPr>
            <a:r>
              <a:rPr lang="en-US" altLang="zh-CN" sz="2400"/>
              <a:t>#define OK 1</a:t>
            </a:r>
          </a:p>
          <a:p>
            <a:pPr marL="0" indent="0">
              <a:buNone/>
            </a:pPr>
            <a:r>
              <a:rPr lang="en-US" altLang="zh-CN" sz="2400"/>
              <a:t>#define ERROR 0</a:t>
            </a:r>
          </a:p>
          <a:p>
            <a:pPr marL="0" indent="0">
              <a:buNone/>
            </a:pPr>
            <a:r>
              <a:rPr lang="en-US" altLang="zh-CN" sz="2400"/>
              <a:t>#define INFEASIBLE -1</a:t>
            </a:r>
          </a:p>
          <a:p>
            <a:pPr marL="0" indent="0">
              <a:buNone/>
            </a:pPr>
            <a:r>
              <a:rPr lang="en-US" altLang="zh-CN" sz="2400"/>
              <a:t>#define OVERFLOW -2</a:t>
            </a:r>
          </a:p>
          <a:p>
            <a:pPr marL="0" indent="0">
              <a:buNone/>
            </a:pPr>
            <a:r>
              <a:rPr lang="en-US" altLang="zh-CN" sz="2400"/>
              <a:t>//Status</a:t>
            </a:r>
            <a:r>
              <a:rPr lang="zh-CN" altLang="en-US" sz="2400"/>
              <a:t>是函数的类型，其值是函数结果的状态码</a:t>
            </a:r>
          </a:p>
          <a:p>
            <a:pPr marL="0" indent="0">
              <a:buNone/>
            </a:pPr>
            <a:r>
              <a:rPr lang="en-US" altLang="zh-CN" sz="2400"/>
              <a:t>typedef int Status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动态内存管理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432175" cy="452628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/>
              <a:t>C</a:t>
            </a:r>
            <a:r>
              <a:rPr lang="zh-CN" altLang="en-US" sz="2800"/>
              <a:t>语言中，将内存分为</a:t>
            </a:r>
            <a:r>
              <a:rPr lang="zh-CN" altLang="en-US" sz="2800">
                <a:solidFill>
                  <a:srgbClr val="FF0000"/>
                </a:solidFill>
                <a:highlight>
                  <a:srgbClr val="FFFF00"/>
                </a:highlight>
              </a:rPr>
              <a:t>栈区</a:t>
            </a:r>
            <a:r>
              <a:rPr lang="zh-CN" altLang="en-US" sz="2800"/>
              <a:t>、</a:t>
            </a:r>
            <a:r>
              <a:rPr lang="zh-CN" altLang="en-US" sz="2800">
                <a:highlight>
                  <a:srgbClr val="FFFF00"/>
                </a:highlight>
              </a:rPr>
              <a:t>堆区</a:t>
            </a:r>
            <a:r>
              <a:rPr lang="zh-CN" altLang="en-US" sz="2800"/>
              <a:t>、</a:t>
            </a:r>
            <a:r>
              <a:rPr lang="en-US" altLang="zh-CN" sz="2800"/>
              <a:t>(</a:t>
            </a:r>
            <a:r>
              <a:rPr lang="zh-CN" altLang="en-US" sz="2800"/>
              <a:t>全局</a:t>
            </a:r>
            <a:r>
              <a:rPr lang="en-US" altLang="zh-CN" sz="2800"/>
              <a:t>)</a:t>
            </a:r>
            <a:r>
              <a:rPr lang="zh-CN" altLang="en-US" sz="2800"/>
              <a:t>静态变量区、常量区和代码区。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800"/>
              <a:t>不同内容存放在内存中的不同区域，程序员对</a:t>
            </a:r>
            <a:r>
              <a:rPr lang="zh-CN" altLang="en-US" sz="2800">
                <a:sym typeface="+mn-ea"/>
              </a:rPr>
              <a:t>栈区、堆区、</a:t>
            </a:r>
            <a:r>
              <a:rPr lang="en-US" altLang="zh-CN" sz="2800">
                <a:sym typeface="+mn-ea"/>
              </a:rPr>
              <a:t>(</a:t>
            </a:r>
            <a:r>
              <a:rPr lang="zh-CN" altLang="en-US" sz="2800">
                <a:sym typeface="+mn-ea"/>
              </a:rPr>
              <a:t>全局</a:t>
            </a:r>
            <a:r>
              <a:rPr lang="en-US" altLang="zh-CN" sz="2800">
                <a:sym typeface="+mn-ea"/>
              </a:rPr>
              <a:t>)</a:t>
            </a:r>
            <a:r>
              <a:rPr lang="zh-CN" altLang="en-US" sz="2800">
                <a:sym typeface="+mn-ea"/>
              </a:rPr>
              <a:t>静态变量区的内容具有</a:t>
            </a:r>
            <a:r>
              <a:rPr lang="zh-CN" altLang="en-US" sz="28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读写权限</a:t>
            </a:r>
            <a:r>
              <a:rPr lang="zh-CN" altLang="en-US" sz="2800">
                <a:sym typeface="+mn-ea"/>
              </a:rPr>
              <a:t>，对常量区和代码区的内容有</a:t>
            </a:r>
            <a:r>
              <a:rPr lang="zh-CN" altLang="en-US" sz="28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只读权限</a:t>
            </a:r>
            <a:r>
              <a:rPr lang="zh-CN" altLang="en-US" sz="2800">
                <a:sym typeface="+mn-ea"/>
              </a:rPr>
              <a:t>。</a:t>
            </a:r>
          </a:p>
        </p:txBody>
      </p:sp>
      <p:pic>
        <p:nvPicPr>
          <p:cNvPr id="4" name="图片 3" descr="内存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055" y="1125220"/>
            <a:ext cx="5018405" cy="5732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8575"/>
            <a:ext cx="8229600" cy="482790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200"/>
              <a:t>#include &lt;stdio.h&gt;</a:t>
            </a:r>
          </a:p>
          <a:p>
            <a:pPr marL="0" indent="0">
              <a:buNone/>
            </a:pPr>
            <a:r>
              <a:rPr lang="zh-CN" altLang="en-US" sz="1200"/>
              <a:t>#include &lt;stdlib.h&gt;</a:t>
            </a:r>
          </a:p>
          <a:p>
            <a:pPr marL="0" indent="0">
              <a:buNone/>
            </a:pP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int global = 1;       //全局变量，在全局(静态)区</a:t>
            </a:r>
          </a:p>
          <a:p>
            <a:pPr marL="0" indent="0">
              <a:buNone/>
            </a:pP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int main(){</a:t>
            </a:r>
          </a:p>
          <a:p>
            <a:pPr marL="0" indent="457200">
              <a:buNone/>
            </a:pPr>
            <a:r>
              <a:rPr lang="zh-CN" altLang="en-US" sz="1200"/>
              <a:t>int a = 2;             //局部变量，在栈区</a:t>
            </a:r>
          </a:p>
          <a:p>
            <a:pPr marL="0" indent="457200">
              <a:buNone/>
            </a:pPr>
            <a:r>
              <a:rPr lang="zh-CN" altLang="en-US" sz="1200"/>
              <a:t>int b[10];             //局部变量，在栈区</a:t>
            </a:r>
          </a:p>
          <a:p>
            <a:pPr marL="0" indent="457200">
              <a:buNone/>
            </a:pPr>
            <a:r>
              <a:rPr lang="zh-CN" altLang="en-US" sz="1200"/>
              <a:t>static int c = 2024;   //静态变量，在全局(静态)区</a:t>
            </a:r>
          </a:p>
          <a:p>
            <a:pPr marL="0" indent="457200">
              <a:buNone/>
            </a:pPr>
            <a:r>
              <a:rPr lang="zh-CN" altLang="en-US" sz="1200"/>
              <a:t>char *n = "hello";     //字符串常量，在常量区</a:t>
            </a:r>
          </a:p>
          <a:p>
            <a:pPr marL="0" indent="457200">
              <a:buNone/>
            </a:pPr>
            <a:r>
              <a:rPr lang="zh-CN" altLang="en-US" sz="1200"/>
              <a:t>char *tmp = (char *)malloc(2);   //动态申请内存，在堆区</a:t>
            </a:r>
          </a:p>
          <a:p>
            <a:pPr marL="0" indent="457200">
              <a:buNone/>
            </a:pPr>
            <a:endParaRPr lang="zh-CN" altLang="en-US" sz="1200"/>
          </a:p>
          <a:p>
            <a:pPr marL="0" indent="457200">
              <a:buNone/>
            </a:pPr>
            <a:r>
              <a:rPr lang="zh-CN" altLang="en-US" sz="1200"/>
              <a:t>printf("全局区地址为：0X%x\n",&amp;global);</a:t>
            </a:r>
          </a:p>
          <a:p>
            <a:pPr marL="0" indent="457200">
              <a:buNone/>
            </a:pPr>
            <a:r>
              <a:rPr lang="zh-CN" altLang="en-US" sz="1200"/>
              <a:t>printf("栈区地址为：0X%x\n",&amp;a);</a:t>
            </a:r>
          </a:p>
          <a:p>
            <a:pPr marL="0" indent="457200">
              <a:buNone/>
            </a:pPr>
            <a:r>
              <a:rPr lang="zh-CN" altLang="en-US" sz="1200"/>
              <a:t>printf("静态区地址为：0X%x\n",&amp;c);</a:t>
            </a:r>
          </a:p>
          <a:p>
            <a:pPr marL="0" indent="457200">
              <a:buNone/>
            </a:pPr>
            <a:r>
              <a:rPr lang="zh-CN" altLang="en-US" sz="1200"/>
              <a:t>printf("文字常量区地址为：0X%x\n",n);</a:t>
            </a:r>
          </a:p>
          <a:p>
            <a:pPr marL="0" indent="457200">
              <a:buNone/>
            </a:pPr>
            <a:r>
              <a:rPr lang="zh-CN" altLang="en-US" sz="1200"/>
              <a:t>printf("堆区地址为：0X%x\n",&amp;tmp);</a:t>
            </a:r>
          </a:p>
          <a:p>
            <a:pPr marL="0" indent="457200">
              <a:buNone/>
            </a:pPr>
            <a:r>
              <a:rPr lang="zh-CN" altLang="en-US" sz="1200"/>
              <a:t>printf("代码区地址为：0X%x\n",&amp;main);</a:t>
            </a:r>
          </a:p>
          <a:p>
            <a:pPr marL="0" indent="457200">
              <a:buNone/>
            </a:pPr>
            <a:r>
              <a:rPr lang="en-US" altLang="zh-CN" sz="1200"/>
              <a:t>//</a:t>
            </a:r>
            <a:r>
              <a:rPr lang="zh-CN" altLang="en-US" sz="1200"/>
              <a:t>堆区的内存需要手动释放</a:t>
            </a:r>
          </a:p>
          <a:p>
            <a:pPr marL="0" indent="457200">
              <a:buNone/>
            </a:pPr>
            <a:r>
              <a:rPr lang="zh-CN" altLang="en-US" sz="1200"/>
              <a:t>free(tmp);</a:t>
            </a:r>
          </a:p>
          <a:p>
            <a:pPr marL="0" indent="457200">
              <a:buNone/>
            </a:pPr>
            <a:r>
              <a:rPr lang="zh-CN" altLang="en-US" sz="1200"/>
              <a:t>getchar();</a:t>
            </a:r>
          </a:p>
          <a:p>
            <a:pPr marL="0" indent="457200">
              <a:buNone/>
            </a:pPr>
            <a:r>
              <a:rPr lang="zh-CN" altLang="en-US" sz="1200"/>
              <a:t>return 0;</a:t>
            </a:r>
          </a:p>
          <a:p>
            <a:pPr marL="0" indent="0">
              <a:buNone/>
            </a:pPr>
            <a:r>
              <a:rPr lang="zh-CN" altLang="en-US" sz="12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38605"/>
            <a:ext cx="8229600" cy="45878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/>
              <a:t>局部变量存放在栈区</a:t>
            </a:r>
          </a:p>
          <a:p>
            <a:pPr marL="0" indent="0">
              <a:buNone/>
            </a:pPr>
            <a:r>
              <a:rPr lang="zh-CN" altLang="en-US" sz="2400"/>
              <a:t>int a = 2;             //在栈区开辟</a:t>
            </a:r>
            <a:r>
              <a:rPr lang="en-US" altLang="zh-CN" sz="2400"/>
              <a:t>4</a:t>
            </a:r>
            <a:r>
              <a:rPr lang="zh-CN" altLang="en-US" sz="2400"/>
              <a:t>个字节，存放</a:t>
            </a:r>
            <a:r>
              <a:rPr lang="en-US" altLang="zh-CN" sz="2400"/>
              <a:t>2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int b[10];             //在栈区开辟</a:t>
            </a:r>
            <a:r>
              <a:rPr lang="en-US" altLang="zh-CN" sz="2400"/>
              <a:t>40</a:t>
            </a:r>
            <a:r>
              <a:rPr lang="zh-CN" altLang="en-US" sz="2400"/>
              <a:t>个连续的字节</a:t>
            </a:r>
          </a:p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在栈区存放变量的特点：</a:t>
            </a:r>
          </a:p>
          <a:p>
            <a:pPr marL="0" algn="l">
              <a:buClrTx/>
              <a:buSzTx/>
              <a:buFontTx/>
              <a:buNone/>
            </a:pPr>
            <a:r>
              <a:rPr lang="zh-CN" altLang="en-US" sz="2400"/>
              <a:t>1、空间开辟大小的固定的</a:t>
            </a:r>
          </a:p>
          <a:p>
            <a:pPr marL="0" algn="l">
              <a:buClrTx/>
              <a:buSzTx/>
              <a:buFontTx/>
              <a:buNone/>
            </a:pPr>
            <a:r>
              <a:rPr lang="en-US" altLang="zh-CN" sz="2400"/>
              <a:t>2</a:t>
            </a:r>
            <a:r>
              <a:rPr lang="zh-CN" altLang="en-US" sz="2400"/>
              <a:t>、数组在申明的时候必须指定数组的长度，它所需要的内存在编译器分配</a:t>
            </a:r>
          </a:p>
          <a:p>
            <a:pPr marL="0" algn="l">
              <a:buClrTx/>
              <a:buSzTx/>
              <a:buFontTx/>
              <a:buNone/>
            </a:pPr>
            <a:endParaRPr lang="zh-CN" altLang="en-US" sz="2400"/>
          </a:p>
          <a:p>
            <a:pPr marL="0" algn="l">
              <a:buClrTx/>
              <a:buSzTx/>
              <a:buFontTx/>
              <a:buNone/>
            </a:pPr>
            <a:r>
              <a:rPr lang="zh-CN" altLang="en-US" sz="2400"/>
              <a:t>如果所需空间的大小需要在程序运行时才知道，哪应该怎么处理呢？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38605"/>
            <a:ext cx="8229600" cy="45878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200"/>
              <a:t>C</a:t>
            </a:r>
            <a:r>
              <a:rPr lang="zh-CN" altLang="en-US" sz="2200"/>
              <a:t>语言中，我们可以使用</a:t>
            </a:r>
            <a:r>
              <a:rPr lang="en-US" altLang="zh-CN" sz="2200">
                <a:solidFill>
                  <a:srgbClr val="FF0000"/>
                </a:solidFill>
                <a:highlight>
                  <a:srgbClr val="FFFF00"/>
                </a:highlight>
              </a:rPr>
              <a:t>malloc</a:t>
            </a:r>
            <a:r>
              <a:rPr lang="zh-CN" altLang="en-US" sz="2200">
                <a:solidFill>
                  <a:srgbClr val="FF0000"/>
                </a:solidFill>
                <a:highlight>
                  <a:srgbClr val="FFFF00"/>
                </a:highlight>
              </a:rPr>
              <a:t>函数</a:t>
            </a:r>
            <a:r>
              <a:rPr lang="zh-CN" altLang="en-US" sz="2200"/>
              <a:t>和</a:t>
            </a:r>
            <a:r>
              <a:rPr lang="en-US" altLang="zh-CN" sz="2200">
                <a:solidFill>
                  <a:srgbClr val="FF0000"/>
                </a:solidFill>
                <a:highlight>
                  <a:srgbClr val="FFFF00"/>
                </a:highlight>
              </a:rPr>
              <a:t>free</a:t>
            </a:r>
            <a:r>
              <a:rPr lang="zh-CN" altLang="en-US" sz="2200">
                <a:solidFill>
                  <a:srgbClr val="FF0000"/>
                </a:solidFill>
                <a:highlight>
                  <a:srgbClr val="FFFF00"/>
                </a:highlight>
              </a:rPr>
              <a:t>函数</a:t>
            </a:r>
            <a:r>
              <a:rPr lang="zh-CN" altLang="en-US" sz="2200"/>
              <a:t>进行动态内存管理。</a:t>
            </a:r>
          </a:p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r>
              <a:rPr lang="en-US" altLang="zh-CN" sz="2200"/>
              <a:t>void* malloc</a:t>
            </a:r>
            <a:r>
              <a:rPr lang="zh-CN" altLang="en-US" sz="2200"/>
              <a:t>（</a:t>
            </a:r>
            <a:r>
              <a:rPr lang="en-US" altLang="zh-CN" sz="2200"/>
              <a:t>size_t size) </a:t>
            </a:r>
          </a:p>
          <a:p>
            <a:pPr marL="0" indent="0">
              <a:buNone/>
            </a:pPr>
            <a:r>
              <a:rPr lang="en-US" altLang="zh-CN" sz="2200"/>
              <a:t>malloc</a:t>
            </a:r>
            <a:r>
              <a:rPr lang="zh-CN" altLang="en-US" sz="2200"/>
              <a:t>函数在堆区中申请一个连续的空间，参数</a:t>
            </a:r>
            <a:r>
              <a:rPr lang="en-US" altLang="zh-CN" sz="2200"/>
              <a:t>size</a:t>
            </a:r>
            <a:r>
              <a:rPr lang="zh-CN" altLang="en-US" sz="2200"/>
              <a:t>是申请空间大小。</a:t>
            </a:r>
          </a:p>
          <a:p>
            <a:pPr>
              <a:buFont typeface="Wingdings" panose="05000000000000000000" charset="0"/>
              <a:buChar char="Ø"/>
            </a:pPr>
            <a:r>
              <a:rPr lang="zh-CN" altLang="en-US" sz="2200"/>
              <a:t>如果开辟失败则返回</a:t>
            </a:r>
            <a:r>
              <a:rPr lang="en-US" altLang="zh-CN" sz="2200"/>
              <a:t>NULL</a:t>
            </a:r>
            <a:r>
              <a:rPr lang="zh-CN" altLang="en-US" sz="2200"/>
              <a:t>指针</a:t>
            </a:r>
          </a:p>
          <a:p>
            <a:pPr>
              <a:buFont typeface="Wingdings" panose="05000000000000000000" charset="0"/>
              <a:buChar char="Ø"/>
            </a:pPr>
            <a:r>
              <a:rPr lang="zh-CN" altLang="en-US" sz="2200"/>
              <a:t>开辟成功，则返回申请到内存的地址，返回值类型是</a:t>
            </a:r>
            <a:r>
              <a:rPr lang="en-US" altLang="zh-CN" sz="2200"/>
              <a:t>void *</a:t>
            </a:r>
          </a:p>
          <a:p>
            <a:pPr>
              <a:buFont typeface="Wingdings" panose="05000000000000000000" charset="0"/>
              <a:buChar char="Ø"/>
            </a:pPr>
            <a:endParaRPr lang="en-US" altLang="zh-CN" sz="2200"/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200"/>
              <a:t>void * free(void *ptr)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200"/>
              <a:t>free</a:t>
            </a:r>
            <a:r>
              <a:rPr lang="zh-CN" altLang="en-US" sz="2200"/>
              <a:t>函数用来释放动态开辟的内存，</a:t>
            </a:r>
            <a:r>
              <a:rPr lang="zh-CN" altLang="en-US" sz="2200">
                <a:sym typeface="+mn-ea"/>
              </a:rPr>
              <a:t>参数</a:t>
            </a:r>
            <a:r>
              <a:rPr lang="en-US" altLang="zh-CN" sz="2200">
                <a:sym typeface="+mn-ea"/>
              </a:rPr>
              <a:t>ptr</a:t>
            </a:r>
            <a:r>
              <a:rPr lang="zh-CN" altLang="en-US" sz="2200">
                <a:sym typeface="+mn-ea"/>
              </a:rPr>
              <a:t>是释放空间的地址。</a:t>
            </a:r>
            <a:endParaRPr lang="zh-CN" altLang="en-US" sz="2200"/>
          </a:p>
          <a:p>
            <a:pPr marL="0" indent="0">
              <a:buFont typeface="Wingdings" panose="05000000000000000000" charset="0"/>
              <a:buNone/>
            </a:pPr>
            <a:endParaRPr lang="zh-CN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38605"/>
            <a:ext cx="8552815" cy="45878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>
                <a:sym typeface="+mn-ea"/>
              </a:rPr>
              <a:t>#include &lt;stdio.h&gt;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#include &lt;stdlib.h&gt;</a:t>
            </a: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int main(){</a:t>
            </a:r>
          </a:p>
          <a:p>
            <a:pPr marL="0" indent="0">
              <a:buNone/>
            </a:pPr>
            <a:r>
              <a:rPr lang="en-US" altLang="zh-CN" sz="2000">
                <a:sym typeface="+mn-ea"/>
              </a:rPr>
              <a:t>        </a:t>
            </a:r>
            <a:r>
              <a:rPr lang="zh-CN" altLang="en-US" sz="2000">
                <a:sym typeface="+mn-ea"/>
              </a:rPr>
              <a:t>//动态申请内存</a:t>
            </a:r>
            <a:endParaRPr lang="zh-CN" altLang="en-US" sz="2000"/>
          </a:p>
          <a:p>
            <a:pPr marL="0" indent="457200">
              <a:buNone/>
            </a:pPr>
            <a:r>
              <a:rPr lang="zh-CN" altLang="en-US" sz="2000">
                <a:sym typeface="+mn-ea"/>
              </a:rPr>
              <a:t>char *tmp = (char *)malloc(</a:t>
            </a:r>
            <a:r>
              <a:rPr lang="en-US" altLang="zh-CN" sz="2000">
                <a:sym typeface="+mn-ea"/>
              </a:rPr>
              <a:t>2*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sizeof</a:t>
            </a:r>
            <a:r>
              <a:rPr lang="en-US" altLang="zh-CN" sz="2000">
                <a:sym typeface="+mn-ea"/>
              </a:rPr>
              <a:t>(char</a:t>
            </a:r>
            <a:r>
              <a:rPr lang="zh-CN" altLang="en-US" sz="2000">
                <a:sym typeface="+mn-ea"/>
              </a:rPr>
              <a:t>)</a:t>
            </a:r>
            <a:r>
              <a:rPr lang="en-US" altLang="zh-CN" sz="2000">
                <a:sym typeface="+mn-ea"/>
              </a:rPr>
              <a:t>)</a:t>
            </a:r>
            <a:r>
              <a:rPr lang="zh-CN" altLang="en-US" sz="2000">
                <a:sym typeface="+mn-ea"/>
              </a:rPr>
              <a:t>;   //建议用</a:t>
            </a:r>
            <a:r>
              <a:rPr lang="en-US" altLang="zh-CN" sz="2000">
                <a:sym typeface="+mn-ea"/>
              </a:rPr>
              <a:t>sizeof</a:t>
            </a:r>
            <a:r>
              <a:rPr lang="zh-CN" altLang="en-US" sz="2000">
                <a:sym typeface="+mn-ea"/>
              </a:rPr>
              <a:t>计算单个存储的大小</a:t>
            </a:r>
            <a:r>
              <a:rPr lang="en-US" altLang="zh-CN" sz="2000">
                <a:sym typeface="+mn-ea"/>
              </a:rPr>
              <a:t>                                                                    </a:t>
            </a:r>
            <a:endParaRPr lang="zh-CN" altLang="en-US" sz="2000">
              <a:sym typeface="+mn-ea"/>
            </a:endParaRPr>
          </a:p>
          <a:p>
            <a:pPr marL="0" indent="457200">
              <a:buNone/>
            </a:pPr>
            <a:r>
              <a:rPr lang="zh-CN" altLang="en-US" sz="2000">
                <a:sym typeface="+mn-ea"/>
              </a:rPr>
              <a:t>printf("堆区地址为：0X%x\n",&amp;tmp);</a:t>
            </a:r>
            <a:endParaRPr lang="zh-CN" altLang="en-US" sz="2000"/>
          </a:p>
          <a:p>
            <a:pPr marL="0" indent="457200">
              <a:buNone/>
            </a:pPr>
            <a:r>
              <a:rPr lang="en-US" altLang="zh-CN" sz="2000">
                <a:sym typeface="+mn-ea"/>
              </a:rPr>
              <a:t>//</a:t>
            </a:r>
            <a:r>
              <a:rPr lang="zh-CN" altLang="en-US" sz="2000">
                <a:sym typeface="+mn-ea"/>
              </a:rPr>
              <a:t>堆区的内存需要手动释放</a:t>
            </a:r>
            <a:endParaRPr lang="zh-CN" altLang="en-US" sz="2000"/>
          </a:p>
          <a:p>
            <a:pPr marL="0" indent="457200">
              <a:buNone/>
            </a:pPr>
            <a:r>
              <a:rPr lang="zh-CN" altLang="en-US" sz="2000">
                <a:sym typeface="+mn-ea"/>
              </a:rPr>
              <a:t>free(tmp);</a:t>
            </a:r>
            <a:endParaRPr lang="zh-CN" altLang="en-US" sz="2000"/>
          </a:p>
          <a:p>
            <a:pPr marL="0" indent="457200">
              <a:buNone/>
            </a:pPr>
            <a:r>
              <a:rPr lang="zh-CN" altLang="en-US" sz="2000">
                <a:sym typeface="+mn-ea"/>
              </a:rPr>
              <a:t>getchar();</a:t>
            </a:r>
            <a:endParaRPr lang="zh-CN" altLang="en-US" sz="2000"/>
          </a:p>
          <a:p>
            <a:pPr marL="0" indent="457200">
              <a:buNone/>
            </a:pPr>
            <a:r>
              <a:rPr lang="zh-CN" altLang="en-US" sz="2000">
                <a:sym typeface="+mn-ea"/>
              </a:rPr>
              <a:t>return 0;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}</a:t>
            </a:r>
            <a:endParaRPr lang="zh-CN" altLang="en-US" sz="2000"/>
          </a:p>
          <a:p>
            <a:pPr>
              <a:buFont typeface="Wingdings" panose="05000000000000000000" charset="0"/>
              <a:buChar char="Ø"/>
            </a:pPr>
            <a:endParaRPr lang="en-US" altLang="zh-CN" sz="2200"/>
          </a:p>
          <a:p>
            <a:pPr marL="0" indent="0">
              <a:buFont typeface="Wingdings" panose="05000000000000000000" charset="0"/>
              <a:buNone/>
            </a:pPr>
            <a:endParaRPr lang="zh-CN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>
                <a:highlight>
                  <a:srgbClr val="FFFF00"/>
                </a:highlight>
              </a:rPr>
              <a:t>r</a:t>
            </a:r>
            <a:r>
              <a:rPr lang="zh-CN" altLang="en-US" sz="2400">
                <a:highlight>
                  <a:srgbClr val="FFFF00"/>
                </a:highlight>
              </a:rPr>
              <a:t>ealloc()</a:t>
            </a:r>
            <a:r>
              <a:rPr lang="zh-CN" altLang="en-US" sz="2400"/>
              <a:t>函数是C语言中的一种用于动态内存分配的函数，它能够重新分配一块指定大小的内存，并返回一个指向新分配的内存空间的指针。它可以改变已经分配的内存的大小，但是不能改变已经分配的内存的地址。</a:t>
            </a:r>
          </a:p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使用方法：</a:t>
            </a:r>
          </a:p>
          <a:p>
            <a:pPr marL="0" indent="0">
              <a:buNone/>
            </a:pPr>
            <a:r>
              <a:rPr lang="zh-CN" altLang="en-US" sz="2400"/>
              <a:t>void *realloc(void *ptr, size_t size);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/>
              <a:t>realloc()函数的第一个参数是一个指向原来分配的内存空间的指针，第二个参数是指定新分配的内存空间的大小，如果第二个参数的值小于第一个参数指向的内存空间的大小，则会截取原来分配的内存空间，如果第二个参数的值大于第一个参数指向的内存空间的大小，则会在原来分配的内存空间后面重新分配一块新的内存空间。</a:t>
            </a:r>
          </a:p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realloc()函数的返回值是一个指向新分配的内存空间的指针，如果重新分配内存空间成功，则返回新分配的内存空间的指针，如果重新分配内存空间失败，则返回NULL。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74395"/>
            <a:ext cx="8229600" cy="56559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/>
              <a:t>#include &lt;stdio.h&gt;</a:t>
            </a:r>
          </a:p>
          <a:p>
            <a:pPr marL="0" indent="0">
              <a:buNone/>
            </a:pPr>
            <a:r>
              <a:rPr lang="zh-CN" altLang="en-US" sz="1800"/>
              <a:t>#include &lt;stdlib.h&gt;</a:t>
            </a:r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int main()</a:t>
            </a:r>
          </a:p>
          <a:p>
            <a:pPr marL="0" indent="0">
              <a:buNone/>
            </a:pPr>
            <a:r>
              <a:rPr lang="zh-CN" altLang="en-US" sz="1800"/>
              <a:t>{</a:t>
            </a:r>
          </a:p>
          <a:p>
            <a:pPr marL="0" indent="0">
              <a:buNone/>
            </a:pPr>
            <a:r>
              <a:rPr lang="zh-CN" altLang="en-US" sz="1800"/>
              <a:t>    int *ptr, i , n1, n2;</a:t>
            </a:r>
          </a:p>
          <a:p>
            <a:pPr marL="0" indent="0">
              <a:buNone/>
            </a:pPr>
            <a:r>
              <a:rPr lang="zh-CN" altLang="en-US" sz="1800"/>
              <a:t>    printf("输入原来分配的内存空间的大小：");</a:t>
            </a:r>
          </a:p>
          <a:p>
            <a:pPr marL="0" indent="0">
              <a:buNone/>
            </a:pPr>
            <a:r>
              <a:rPr lang="zh-CN" altLang="en-US" sz="1800"/>
              <a:t>    scanf("%d", &amp;n1);</a:t>
            </a:r>
          </a:p>
          <a:p>
            <a:pPr marL="0" indent="0">
              <a:buNone/>
            </a:pPr>
            <a:r>
              <a:rPr lang="zh-CN" altLang="en-US" sz="1800"/>
              <a:t>    printf("输入新分配的内存空间的大小：");</a:t>
            </a:r>
          </a:p>
          <a:p>
            <a:pPr marL="0" indent="0">
              <a:buNone/>
            </a:pPr>
            <a:r>
              <a:rPr lang="zh-CN" altLang="en-US" sz="1800"/>
              <a:t>    scanf("%d", &amp;n2);</a:t>
            </a:r>
          </a:p>
          <a:p>
            <a:pPr marL="0" indent="0">
              <a:buNone/>
            </a:pPr>
            <a:r>
              <a:rPr lang="zh-CN" altLang="en-US" sz="1800"/>
              <a:t>    ptr = (int*)malloc(n1 * sizeof(int));</a:t>
            </a:r>
          </a:p>
          <a:p>
            <a:pPr marL="0" indent="0">
              <a:buNone/>
            </a:pPr>
            <a:r>
              <a:rPr lang="zh-CN" altLang="en-US" sz="1800"/>
              <a:t>    printf("原来分配的内存空间的地址：%p\n", ptr);</a:t>
            </a:r>
          </a:p>
          <a:p>
            <a:pPr marL="0" indent="0">
              <a:buNone/>
            </a:pPr>
            <a:r>
              <a:rPr lang="zh-CN" altLang="en-US" sz="1800"/>
              <a:t>    ptr = (int*)realloc(ptr, n2 * sizeof(int));</a:t>
            </a:r>
          </a:p>
          <a:p>
            <a:pPr marL="0" indent="0">
              <a:buNone/>
            </a:pPr>
            <a:r>
              <a:rPr lang="zh-CN" altLang="en-US" sz="1800"/>
              <a:t>    printf("新分配的内存空间的地址：%p\n", ptr);</a:t>
            </a:r>
          </a:p>
          <a:p>
            <a:pPr marL="0" indent="0">
              <a:buNone/>
            </a:pPr>
            <a:r>
              <a:rPr lang="zh-CN" altLang="en-US" sz="1800"/>
              <a:t>    free(ptr);</a:t>
            </a:r>
          </a:p>
          <a:p>
            <a:pPr marL="0" indent="0">
              <a:buNone/>
            </a:pPr>
            <a:r>
              <a:rPr lang="zh-CN" altLang="en-US" sz="1800"/>
              <a:t>    return 0;</a:t>
            </a:r>
          </a:p>
          <a:p>
            <a:pPr marL="0" indent="0">
              <a:buNone/>
            </a:pPr>
            <a:r>
              <a:rPr lang="zh-CN" altLang="en-US" sz="18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C++</a:t>
            </a:r>
            <a:r>
              <a:rPr lang="zh-CN" altLang="en-US"/>
              <a:t>中函数参数传递有三种方式：</a:t>
            </a:r>
          </a:p>
          <a:p>
            <a:r>
              <a:rPr lang="zh-CN" altLang="en-US"/>
              <a:t>值传递（在栈区开辟一块新的空间，形参的改变不会影响实参的值）</a:t>
            </a:r>
          </a:p>
          <a:p>
            <a:r>
              <a:rPr lang="zh-CN" altLang="en-US"/>
              <a:t>地址传递（函数的形参指向原来变量的指针，也就是实参的地址，两者存储同一块空间）</a:t>
            </a:r>
          </a:p>
          <a:p>
            <a:r>
              <a:rPr lang="zh-CN" altLang="en-US"/>
              <a:t>引用传递（给变量起别名，简化执行修改形参）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void swap(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smtClean="0"/>
              <a:t>&amp;</a:t>
            </a:r>
            <a:r>
              <a:rPr lang="en-US" sz="2000" dirty="0" err="1" smtClean="0"/>
              <a:t>a,int</a:t>
            </a:r>
            <a:r>
              <a:rPr lang="en-US" sz="2000" smtClean="0"/>
              <a:t> &amp;b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err="1"/>
              <a:t>int</a:t>
            </a:r>
            <a:r>
              <a:rPr lang="en-US" sz="2000" dirty="0"/>
              <a:t> temp = b;</a:t>
            </a:r>
          </a:p>
          <a:p>
            <a:pPr marL="0" indent="0">
              <a:buNone/>
            </a:pPr>
            <a:r>
              <a:rPr lang="en-US" sz="2000" dirty="0"/>
              <a:t>  b=a;</a:t>
            </a:r>
          </a:p>
          <a:p>
            <a:pPr marL="0" indent="0">
              <a:buNone/>
            </a:pPr>
            <a:r>
              <a:rPr lang="en-US" sz="2000" dirty="0" smtClean="0"/>
              <a:t>  a = temp;</a:t>
            </a:r>
          </a:p>
          <a:p>
            <a:pPr marL="0" indent="0">
              <a:buNone/>
            </a:pPr>
            <a:r>
              <a:rPr lang="en-US" sz="2000" dirty="0" smtClean="0"/>
              <a:t>}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int</a:t>
            </a:r>
            <a:r>
              <a:rPr lang="en-US" sz="2000" dirty="0"/>
              <a:t> main(){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err="1"/>
              <a:t>int</a:t>
            </a:r>
            <a:r>
              <a:rPr lang="en-US" sz="2000" dirty="0"/>
              <a:t> a=10,b=20;</a:t>
            </a:r>
          </a:p>
          <a:p>
            <a:pPr marL="0" indent="0">
              <a:buNone/>
            </a:pPr>
            <a:r>
              <a:rPr lang="en-US" sz="2000" dirty="0"/>
              <a:t> swap(</a:t>
            </a:r>
            <a:r>
              <a:rPr lang="en-US" sz="2000" dirty="0" err="1"/>
              <a:t>a,b</a:t>
            </a:r>
            <a:r>
              <a:rPr lang="en-US" sz="2000" dirty="0"/>
              <a:t>);</a:t>
            </a:r>
          </a:p>
          <a:p>
            <a:pPr marL="0" indent="0">
              <a:buNone/>
            </a:pPr>
            <a:r>
              <a:rPr lang="en-US" sz="2000" dirty="0"/>
              <a:t> count&lt;&lt;”a=”&lt;&lt;a&lt;&lt;</a:t>
            </a:r>
            <a:r>
              <a:rPr lang="en-US" sz="2000" dirty="0" err="1"/>
              <a:t>endl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>
                <a:sym typeface="+mn-ea"/>
              </a:rPr>
              <a:t>count&lt;&lt;”b=”&lt;&lt;b&lt;&lt;</a:t>
            </a:r>
            <a:r>
              <a:rPr lang="en-US" sz="2000" dirty="0" err="1">
                <a:sym typeface="+mn-ea"/>
              </a:rPr>
              <a:t>endl</a:t>
            </a:r>
            <a:r>
              <a:rPr lang="en-US" sz="2000" dirty="0">
                <a:sym typeface="+mn-ea"/>
              </a:rPr>
              <a:t>;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多文件程序组织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38605"/>
            <a:ext cx="8552815" cy="45878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多文件程序组织</a:t>
            </a:r>
            <a:r>
              <a:rPr lang="zh-CN" altLang="en-US" sz="2000">
                <a:sym typeface="+mn-ea"/>
              </a:rPr>
              <a:t>是指将一个大型程序划分为多个源文件，每个源文件分别包含一个或多个函数的定义和声明。通过这种方式，可以将程序的不同部分独立开发和维护，提高代码的可读性和可维护性。</a:t>
            </a:r>
          </a:p>
          <a:p>
            <a:pPr marL="0" indent="0">
              <a:buNone/>
            </a:pPr>
            <a:endParaRPr lang="zh-CN" altLang="en-US" sz="2000">
              <a:sym typeface="+mn-ea"/>
            </a:endParaRPr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多文件程序组织的优点：</a:t>
            </a:r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1.提高代码的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可读性</a:t>
            </a:r>
            <a:r>
              <a:rPr lang="zh-CN" altLang="en-US" sz="2000">
                <a:sym typeface="+mn-ea"/>
              </a:rPr>
              <a:t>:将一个大型程序划分为多个源文件，每个文件只包含特定功能模块的代码,使得代码结构更加清晰，易于理解和阅读。</a:t>
            </a:r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⒉.提高代码的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可维护性</a:t>
            </a:r>
            <a:r>
              <a:rPr lang="zh-CN" altLang="en-US" sz="2000">
                <a:sym typeface="+mn-ea"/>
              </a:rPr>
              <a:t>:每个源文件包含特定功能模块的代码，当需要修改或更新某个功能时，只需修改对应的源文件，而不会影响其他部分的代码。</a:t>
            </a:r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3.便于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团队协作</a:t>
            </a:r>
            <a:r>
              <a:rPr lang="zh-CN" altLang="en-US" sz="2000">
                <a:sym typeface="+mn-ea"/>
              </a:rPr>
              <a:t>:多文件程序组织支持团队成员并行开发不同的功能模块，各自独立编写和维护自己负责的源文件，提高团队的工作效率。</a:t>
            </a:r>
          </a:p>
          <a:p>
            <a:pPr marL="0" indent="0">
              <a:buFont typeface="Wingdings" panose="05000000000000000000" charset="0"/>
              <a:buNone/>
            </a:pPr>
            <a:endParaRPr lang="zh-CN" altLang="en-US" sz="20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38605"/>
            <a:ext cx="8552815" cy="4587875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sym typeface="+mn-ea"/>
              </a:rPr>
              <a:t>组织和管理多个文件的方法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sym typeface="+mn-ea"/>
              </a:rPr>
              <a:t> 1.</a:t>
            </a:r>
            <a:r>
              <a:rPr lang="zh-CN" altLang="en-US" sz="24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拆分功能模块</a:t>
            </a:r>
            <a:r>
              <a:rPr lang="zh-CN" altLang="en-US" sz="2400">
                <a:sym typeface="+mn-ea"/>
              </a:rPr>
              <a:t>:将程序中不同的功能模块拆分成独立的源文件，每个源文件中只包含一个模块的相关代码。例如，可以将数据处理功能、界面显示功能、文件操作功能等分别放置在不同的源文件中。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sym typeface="+mn-ea"/>
              </a:rPr>
              <a:t>2.</a:t>
            </a:r>
            <a:r>
              <a:rPr lang="zh-CN" altLang="en-US" sz="24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使用头文件</a:t>
            </a:r>
            <a:r>
              <a:rPr lang="zh-CN" altLang="en-US" sz="2400">
                <a:sym typeface="+mn-ea"/>
              </a:rPr>
              <a:t>:为了实现不同源文件之间的函数调用和变量共享，可以使用头文件进行函数声明和变量定义的共享。头文件中应该包含函数的声明和常量的定义，不应该包含具体的函数实现和变量的初始化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/>
              <a:t>common.h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7950" y="1975485"/>
            <a:ext cx="1953895" cy="17532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200"/>
              <a:t>#include &lt;stdio.h&gt;</a:t>
            </a:r>
          </a:p>
          <a:p>
            <a:r>
              <a:rPr lang="zh-CN" altLang="en-US" sz="1200"/>
              <a:t>#include &lt;string.h&gt;</a:t>
            </a:r>
          </a:p>
          <a:p>
            <a:endParaRPr lang="zh-CN" altLang="en-US" sz="1200"/>
          </a:p>
          <a:p>
            <a:r>
              <a:rPr lang="zh-CN" altLang="en-US" sz="1200"/>
              <a:t>#define TRUE 1</a:t>
            </a:r>
          </a:p>
          <a:p>
            <a:r>
              <a:rPr lang="zh-CN" altLang="en-US" sz="1200"/>
              <a:t>#define FALSE 0</a:t>
            </a:r>
          </a:p>
          <a:p>
            <a:r>
              <a:rPr lang="zh-CN" altLang="en-US" sz="1200"/>
              <a:t>#define OK 1</a:t>
            </a:r>
          </a:p>
          <a:p>
            <a:r>
              <a:rPr lang="zh-CN" altLang="en-US" sz="1200"/>
              <a:t>#define ERROR 0</a:t>
            </a:r>
          </a:p>
          <a:p>
            <a:r>
              <a:rPr lang="en-US" altLang="zh-CN" sz="1200"/>
              <a:t>#define ElemType char</a:t>
            </a:r>
            <a:endParaRPr lang="zh-CN" altLang="en-US" sz="1200"/>
          </a:p>
          <a:p>
            <a:r>
              <a:rPr lang="zh-CN" altLang="en-US" sz="1200"/>
              <a:t>typedef int Status;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24075" y="1988820"/>
            <a:ext cx="2780030" cy="23069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/>
              <a:t>#include “common.h”</a:t>
            </a:r>
            <a:endParaRPr lang="zh-CN" altLang="en-US" sz="1200"/>
          </a:p>
          <a:p>
            <a:r>
              <a:rPr lang="zh-CN" altLang="en-US" sz="1200"/>
              <a:t>struct Sqlist{</a:t>
            </a:r>
          </a:p>
          <a:p>
            <a:r>
              <a:rPr lang="zh-CN" altLang="en-US" sz="1200"/>
              <a:t>ElemType *elem;  //存储空间基址</a:t>
            </a:r>
          </a:p>
          <a:p>
            <a:r>
              <a:rPr lang="zh-CN" altLang="en-US" sz="1200"/>
              <a:t>int length;    // 当前长度</a:t>
            </a:r>
          </a:p>
          <a:p>
            <a:r>
              <a:rPr lang="zh-CN" altLang="en-US" sz="1200"/>
              <a:t>int listsize;  //当前分配的存储容量</a:t>
            </a:r>
          </a:p>
          <a:p>
            <a:r>
              <a:rPr lang="zh-CN" altLang="en-US" sz="1200"/>
              <a:t>};</a:t>
            </a:r>
          </a:p>
          <a:p>
            <a:endParaRPr lang="zh-CN" altLang="en-US" sz="1200"/>
          </a:p>
          <a:p>
            <a:r>
              <a:rPr lang="zh-CN" altLang="en-US" sz="1200"/>
              <a:t>Status InitList_Sq(struct Sqlist &amp;L);</a:t>
            </a:r>
          </a:p>
          <a:p>
            <a:r>
              <a:rPr lang="zh-CN" altLang="en-US" sz="1200"/>
              <a:t>void DestoryList_Sq(struct Sqlist &amp;L);</a:t>
            </a:r>
          </a:p>
          <a:p>
            <a:r>
              <a:rPr lang="zh-CN" altLang="en-US" sz="1200"/>
              <a:t>void ClearList_Sq(struct Sqlist &amp;L);</a:t>
            </a:r>
          </a:p>
          <a:p>
            <a:r>
              <a:rPr lang="zh-CN" altLang="en-US" sz="1200"/>
              <a:t>Status ListEmpyt_Sq(struct Sqlist L);</a:t>
            </a:r>
          </a:p>
          <a:p>
            <a:r>
              <a:rPr lang="zh-CN" altLang="en-US" sz="1200"/>
              <a:t>Status ListLength_Sq(struct Sqlist L);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048000" y="1572810"/>
            <a:ext cx="3048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Sqlist.h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66335" y="1975485"/>
            <a:ext cx="4128770" cy="34150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/>
              <a:t>#include &lt;stdio.h&gt;</a:t>
            </a:r>
          </a:p>
          <a:p>
            <a:r>
              <a:rPr lang="en-US" altLang="zh-CN" sz="1200"/>
              <a:t>#include &lt;stdlib.h&gt;</a:t>
            </a:r>
          </a:p>
          <a:p>
            <a:endParaRPr lang="en-US" altLang="zh-CN" sz="1200"/>
          </a:p>
          <a:p>
            <a:r>
              <a:rPr lang="en-US" altLang="zh-CN" sz="1200"/>
              <a:t>#include "Sqlist.h"</a:t>
            </a:r>
          </a:p>
          <a:p>
            <a:endParaRPr lang="en-US" altLang="zh-CN" sz="1200"/>
          </a:p>
          <a:p>
            <a:r>
              <a:rPr lang="en-US" altLang="zh-CN" sz="1200"/>
              <a:t>Status InitList_Sq(struct Sqlist &amp;L)</a:t>
            </a:r>
          </a:p>
          <a:p>
            <a:r>
              <a:rPr lang="en-US" altLang="zh-CN" sz="1200"/>
              <a:t>{ </a:t>
            </a:r>
          </a:p>
          <a:p>
            <a:r>
              <a:rPr lang="en-US" altLang="zh-CN" sz="1200"/>
              <a:t>	//构造一个空的线性表L</a:t>
            </a:r>
          </a:p>
          <a:p>
            <a:r>
              <a:rPr lang="en-US" altLang="zh-CN" sz="1200"/>
              <a:t>L.elem = (ElemType*)malloc(LIST_INIT_SIZE*sizeof(struct Sqlist));</a:t>
            </a:r>
          </a:p>
          <a:p>
            <a:r>
              <a:rPr lang="en-US" altLang="zh-CN" sz="1200"/>
              <a:t>	if(!L.elem)</a:t>
            </a:r>
          </a:p>
          <a:p>
            <a:r>
              <a:rPr lang="en-US" altLang="zh-CN" sz="1200"/>
              <a:t>		return (OVERFLOW);			//存储分配失败</a:t>
            </a:r>
          </a:p>
          <a:p>
            <a:r>
              <a:rPr lang="en-US" altLang="zh-CN" sz="1200"/>
              <a:t>	L.length = 0;					// 空表长度为0</a:t>
            </a:r>
          </a:p>
          <a:p>
            <a:r>
              <a:rPr lang="en-US" altLang="zh-CN" sz="1200"/>
              <a:t>	L.listsize = LIST_INIT_SIZE;// 初始存储容量</a:t>
            </a:r>
          </a:p>
          <a:p>
            <a:r>
              <a:rPr lang="en-US" altLang="zh-CN" sz="1200"/>
              <a:t>	return OK;</a:t>
            </a:r>
          </a:p>
          <a:p>
            <a:r>
              <a:rPr lang="en-US" altLang="zh-CN" sz="1200"/>
              <a:t>} // InitList_Sq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244590" y="1607185"/>
            <a:ext cx="1711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Sqlist.cpp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23850" y="4866640"/>
            <a:ext cx="3392805" cy="1938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/>
              <a:t>#include &lt;stdio.h&gt;</a:t>
            </a:r>
          </a:p>
          <a:p>
            <a:r>
              <a:rPr lang="en-US" altLang="zh-CN" sz="1200"/>
              <a:t>#include &lt;stdlib.h&gt;</a:t>
            </a:r>
          </a:p>
          <a:p>
            <a:endParaRPr lang="en-US" altLang="zh-CN" sz="1200"/>
          </a:p>
          <a:p>
            <a:r>
              <a:rPr lang="en-US" altLang="zh-CN" sz="1200"/>
              <a:t>#include "sqlist.h"</a:t>
            </a:r>
          </a:p>
          <a:p>
            <a:endParaRPr lang="en-US" altLang="zh-CN" sz="1200"/>
          </a:p>
          <a:p>
            <a:r>
              <a:rPr lang="en-US" altLang="zh-CN" sz="1200"/>
              <a:t>int main()</a:t>
            </a:r>
          </a:p>
          <a:p>
            <a:r>
              <a:rPr lang="en-US" altLang="zh-CN" sz="1200"/>
              <a:t>{</a:t>
            </a:r>
          </a:p>
          <a:p>
            <a:r>
              <a:rPr lang="en-US" altLang="zh-CN" sz="1200"/>
              <a:t>	struct LNode *La;</a:t>
            </a:r>
          </a:p>
          <a:p>
            <a:r>
              <a:rPr lang="en-US" altLang="zh-CN" sz="1200"/>
              <a:t>	InitList_L(La);</a:t>
            </a:r>
          </a:p>
          <a:p>
            <a:r>
              <a:rPr lang="en-US" altLang="zh-CN" sz="1200"/>
              <a:t>}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71550" y="4437295"/>
            <a:ext cx="3048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main.cpp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2467</Words>
  <Application>Microsoft Office PowerPoint</Application>
  <PresentationFormat>全屏显示(4:3)</PresentationFormat>
  <Paragraphs>297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39" baseType="lpstr">
      <vt:lpstr>等线</vt:lpstr>
      <vt:lpstr>宋体</vt:lpstr>
      <vt:lpstr>微软雅黑</vt:lpstr>
      <vt:lpstr>Arial</vt:lpstr>
      <vt:lpstr>Wingdings</vt:lpstr>
      <vt:lpstr>默认设计模板</vt:lpstr>
      <vt:lpstr>1_默认设计模板</vt:lpstr>
      <vt:lpstr>数据结构中的C/C++基础</vt:lpstr>
      <vt:lpstr>PowerPoint 演示文稿</vt:lpstr>
      <vt:lpstr>指针</vt:lpstr>
      <vt:lpstr>指针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结构体</vt:lpstr>
      <vt:lpstr>PowerPoint 演示文稿</vt:lpstr>
      <vt:lpstr>结构体</vt:lpstr>
      <vt:lpstr>PowerPoint 演示文稿</vt:lpstr>
      <vt:lpstr>PowerPoint 演示文稿</vt:lpstr>
      <vt:lpstr>PowerPoint 演示文稿</vt:lpstr>
      <vt:lpstr>PowerPoint 演示文稿</vt:lpstr>
      <vt:lpstr>宏定义</vt:lpstr>
      <vt:lpstr>PowerPoint 演示文稿</vt:lpstr>
      <vt:lpstr>PowerPoint 演示文稿</vt:lpstr>
      <vt:lpstr>动态内存管理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多文件程序组织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数据结构中的C语言基础</dc:title>
  <dc:creator>l</dc:creator>
  <cp:lastModifiedBy>407</cp:lastModifiedBy>
  <cp:revision>12</cp:revision>
  <dcterms:created xsi:type="dcterms:W3CDTF">2024-04-19T08:43:00Z</dcterms:created>
  <dcterms:modified xsi:type="dcterms:W3CDTF">2026-09-08T03:01:17Z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2052-10.1.0.7106</vt:lpwstr>
  </property>
  <property fmtid="{D5CDD505-2E9C-101B-9397-08002B2CF9AE}" pid="3" name="ICV">
    <vt:lpwstr>E02AE2CE09654FB09423D4CA6EA63FA1_12</vt:lpwstr>
  </property>
</Properties>
</file>