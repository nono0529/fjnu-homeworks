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4" r:id="rId1"/>
    <p:sldMasterId id="2147483677" r:id="rId2"/>
    <p:sldMasterId id="2147483689" r:id="rId3"/>
    <p:sldMasterId id="2147483701" r:id="rId4"/>
  </p:sldMasterIdLst>
  <p:notesMasterIdLst>
    <p:notesMasterId r:id="rId54"/>
  </p:notesMasterIdLst>
  <p:sldIdLst>
    <p:sldId id="590" r:id="rId5"/>
    <p:sldId id="602" r:id="rId6"/>
    <p:sldId id="603" r:id="rId7"/>
    <p:sldId id="604" r:id="rId8"/>
    <p:sldId id="423" r:id="rId9"/>
    <p:sldId id="606" r:id="rId10"/>
    <p:sldId id="259" r:id="rId11"/>
    <p:sldId id="698" r:id="rId12"/>
    <p:sldId id="697" r:id="rId13"/>
    <p:sldId id="699" r:id="rId14"/>
    <p:sldId id="700" r:id="rId15"/>
    <p:sldId id="303" r:id="rId16"/>
    <p:sldId id="305" r:id="rId17"/>
    <p:sldId id="701" r:id="rId18"/>
    <p:sldId id="306" r:id="rId19"/>
    <p:sldId id="702" r:id="rId20"/>
    <p:sldId id="272" r:id="rId21"/>
    <p:sldId id="308" r:id="rId22"/>
    <p:sldId id="275" r:id="rId23"/>
    <p:sldId id="276" r:id="rId24"/>
    <p:sldId id="274" r:id="rId25"/>
    <p:sldId id="304" r:id="rId26"/>
    <p:sldId id="277" r:id="rId27"/>
    <p:sldId id="692" r:id="rId28"/>
    <p:sldId id="703" r:id="rId29"/>
    <p:sldId id="704" r:id="rId30"/>
    <p:sldId id="278" r:id="rId31"/>
    <p:sldId id="693" r:id="rId32"/>
    <p:sldId id="279" r:id="rId33"/>
    <p:sldId id="694" r:id="rId34"/>
    <p:sldId id="706" r:id="rId35"/>
    <p:sldId id="264" r:id="rId36"/>
    <p:sldId id="265" r:id="rId37"/>
    <p:sldId id="281" r:id="rId38"/>
    <p:sldId id="266" r:id="rId39"/>
    <p:sldId id="707" r:id="rId40"/>
    <p:sldId id="285" r:id="rId41"/>
    <p:sldId id="689" r:id="rId42"/>
    <p:sldId id="690" r:id="rId43"/>
    <p:sldId id="314" r:id="rId44"/>
    <p:sldId id="286" r:id="rId45"/>
    <p:sldId id="594" r:id="rId46"/>
    <p:sldId id="611" r:id="rId47"/>
    <p:sldId id="522" r:id="rId48"/>
    <p:sldId id="612" r:id="rId49"/>
    <p:sldId id="523" r:id="rId50"/>
    <p:sldId id="524" r:id="rId51"/>
    <p:sldId id="653" r:id="rId52"/>
    <p:sldId id="645" r:id="rId53"/>
  </p:sldIdLst>
  <p:sldSz cx="12192000" cy="6858000"/>
  <p:notesSz cx="6858000" cy="9144000"/>
  <p:custDataLst>
    <p:tags r:id="rId5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1" userDrawn="1">
          <p15:clr>
            <a:srgbClr val="A4A3A4"/>
          </p15:clr>
        </p15:guide>
        <p15:guide id="2" pos="387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42753007" name="WPS_1475071845" initials="W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006600"/>
    <a:srgbClr val="000099"/>
    <a:srgbClr val="008000"/>
    <a:srgbClr val="A50021"/>
    <a:srgbClr val="FF9900"/>
    <a:srgbClr val="FFFF66"/>
    <a:srgbClr val="800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6993"/>
  </p:normalViewPr>
  <p:slideViewPr>
    <p:cSldViewPr showGuides="1">
      <p:cViewPr varScale="1">
        <p:scale>
          <a:sx n="56" d="100"/>
          <a:sy n="56" d="100"/>
        </p:scale>
        <p:origin x="408" y="66"/>
      </p:cViewPr>
      <p:guideLst>
        <p:guide orient="horz" pos="2151"/>
        <p:guide pos="387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tags" Target="tags/tag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viewProps" Target="viewProp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commentAuthors" Target="commentAuthor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presProps" Target="pres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Tx/>
              <a:buNone/>
              <a:defRPr kumimoji="1" sz="1200" b="0">
                <a:effectLst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6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Tx/>
              <a:buNone/>
              <a:defRPr kumimoji="1" sz="1200" b="0">
                <a:effectLst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96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396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Tx/>
              <a:buNone/>
              <a:defRPr kumimoji="1" sz="1200" b="0">
                <a:effectLst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6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/>
            <a:fld id="{9A0DB2DC-4C9A-4742-B13C-FB6460FD3503}" type="slidenum">
              <a:rPr lang="en-US" altLang="zh-CN" sz="1200" b="0" dirty="0">
                <a:ea typeface="宋体" panose="02010600030101010101" pitchFamily="2" charset="-122"/>
              </a:rPr>
              <a:t>‹#›</a:t>
            </a:fld>
            <a:endParaRPr lang="en-US" altLang="zh-CN" sz="1200" b="0" dirty="0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6147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r>
              <a:rPr lang="zh-CN" altLang="en-US" b="1" dirty="0"/>
              <a:t>在非数值处理、事务处理等问题常涉及到一系列的字符操作。计算机的硬件结构主要是反映数值计算的要求，因此，字符串的处理比具体数值处理复杂。</a:t>
            </a:r>
            <a:endParaRPr lang="zh-CN" altLang="en-US" dirty="0"/>
          </a:p>
        </p:txBody>
      </p:sp>
      <p:sp>
        <p:nvSpPr>
          <p:cNvPr id="61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0" dirty="0"/>
              <a:t>2</a:t>
            </a:fld>
            <a:endParaRPr lang="en-US" altLang="zh-CN" sz="1200" b="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0243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r>
              <a:rPr lang="zh-CN" altLang="en-US" b="1" dirty="0">
                <a:latin typeface="宋体" panose="02010600030101010101" pitchFamily="2" charset="-122"/>
              </a:rPr>
              <a:t>如果两个串的串值相等</a:t>
            </a:r>
            <a:r>
              <a:rPr lang="en-US" altLang="zh-CN" b="1" dirty="0">
                <a:latin typeface="宋体" panose="02010600030101010101" pitchFamily="2" charset="-122"/>
              </a:rPr>
              <a:t>(</a:t>
            </a:r>
            <a:r>
              <a:rPr lang="zh-CN" altLang="en-US" b="1" dirty="0">
                <a:latin typeface="宋体" panose="02010600030101010101" pitchFamily="2" charset="-122"/>
              </a:rPr>
              <a:t>相同</a:t>
            </a:r>
            <a:r>
              <a:rPr lang="en-US" altLang="zh-CN" b="1" dirty="0">
                <a:latin typeface="宋体" panose="02010600030101010101" pitchFamily="2" charset="-122"/>
              </a:rPr>
              <a:t>)</a:t>
            </a:r>
            <a:r>
              <a:rPr lang="zh-CN" altLang="en-US" b="1" dirty="0">
                <a:latin typeface="宋体" panose="02010600030101010101" pitchFamily="2" charset="-122"/>
              </a:rPr>
              <a:t>，称这两个串相等。换言之，只有当两个串的长度相等，且各个对应位置的字符都相同时才相等。</a:t>
            </a:r>
            <a:endParaRPr lang="zh-CN" altLang="en-US" dirty="0"/>
          </a:p>
        </p:txBody>
      </p:sp>
      <p:sp>
        <p:nvSpPr>
          <p:cNvPr id="1024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0" dirty="0"/>
              <a:t>5</a:t>
            </a:fld>
            <a:endParaRPr lang="en-US" altLang="zh-CN" sz="1200" b="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53251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/>
            <a:r>
              <a:rPr lang="zh-CN" altLang="en-US" dirty="0">
                <a:latin typeface="宋体" panose="02010600030101010101" pitchFamily="2" charset="-122"/>
              </a:rPr>
              <a:t>。显然，解此问题的有效算法能极大地提高文本编辑程序的响应性能。</a:t>
            </a:r>
          </a:p>
          <a:p>
            <a:pPr lvl="0"/>
            <a:endParaRPr lang="zh-CN" altLang="en-US" dirty="0"/>
          </a:p>
        </p:txBody>
      </p:sp>
      <p:sp>
        <p:nvSpPr>
          <p:cNvPr id="5325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0" dirty="0"/>
              <a:t>43</a:t>
            </a:fld>
            <a:endParaRPr lang="en-US" altLang="zh-CN" sz="1200" b="0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8803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emf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emf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emf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emf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emf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emf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emf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emf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emf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emf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emf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60681"/>
      </p:ext>
    </p:extLst>
  </p:cSld>
  <p:clrMapOvr>
    <a:masterClrMapping/>
  </p:clrMapOvr>
  <p:transition>
    <p:strips dir="r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729308"/>
      </p:ext>
    </p:extLst>
  </p:cSld>
  <p:clrMapOvr>
    <a:masterClrMapping/>
  </p:clrMapOvr>
  <p:transition>
    <p:strips dir="r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427367"/>
      </p:ext>
    </p:extLst>
  </p:cSld>
  <p:clrMapOvr>
    <a:masterClrMapping/>
  </p:clrMapOvr>
  <p:transition>
    <p:strips dir="r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500883"/>
      </p:ext>
    </p:extLst>
  </p:cSld>
  <p:clrMapOvr>
    <a:masterClrMapping/>
  </p:clrMapOvr>
  <p:transition>
    <p:strips dir="r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38671"/>
      </p:ext>
    </p:extLst>
  </p:cSld>
  <p:clrMapOvr>
    <a:masterClrMapping/>
  </p:clrMapOvr>
  <p:transition>
    <p:strips dir="r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981272"/>
      </p:ext>
    </p:extLst>
  </p:cSld>
  <p:clrMapOvr>
    <a:masterClrMapping/>
  </p:clrMapOvr>
  <p:transition>
    <p:strips dir="r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28308"/>
      </p:ext>
    </p:extLst>
  </p:cSld>
  <p:clrMapOvr>
    <a:masterClrMapping/>
  </p:clrMapOvr>
  <p:transition>
    <p:strips dir="r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0719844"/>
      </p:ext>
    </p:extLst>
  </p:cSld>
  <p:clrMapOvr>
    <a:masterClrMapping/>
  </p:clrMapOvr>
  <p:transition>
    <p:strips dir="r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639941"/>
      </p:ext>
    </p:extLst>
  </p:cSld>
  <p:clrMapOvr>
    <a:masterClrMapping/>
  </p:clrMapOvr>
  <p:transition>
    <p:strips dir="r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65985"/>
      </p:ext>
    </p:extLst>
  </p:cSld>
  <p:clrMapOvr>
    <a:masterClrMapping/>
  </p:clrMapOvr>
  <p:transition>
    <p:strips dir="r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908995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914400" y="609600"/>
            <a:ext cx="10363200" cy="5486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234677262"/>
      </p:ext>
    </p:extLst>
  </p:cSld>
  <p:clrMapOvr>
    <a:masterClrMapping/>
  </p:clrMapOvr>
  <p:transition>
    <p:strips dir="rd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A2CC41-53EF-D792-C3D8-24D005077F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5291" y="48936"/>
            <a:ext cx="6629400" cy="71211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AD09386-D71F-8627-81AE-8E5A2E01CA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559" y="1036535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4E5187-DE92-993A-0100-7ABE595C3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239B5-A6DD-477D-BE99-5AD4CA2F58EE}" type="datetime1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AAA60E-7CCA-E8F0-796A-1C44334A6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E3B1BE-AB2D-5A23-7D3C-F521ED3F0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F8BBDDF8-8219-CDF6-F368-5129B2EA6B6E}"/>
              </a:ext>
            </a:extLst>
          </p:cNvPr>
          <p:cNvGrpSpPr/>
          <p:nvPr userDrawn="1"/>
        </p:nvGrpSpPr>
        <p:grpSpPr>
          <a:xfrm>
            <a:off x="554559" y="179743"/>
            <a:ext cx="700611" cy="581310"/>
            <a:chOff x="527657" y="117426"/>
            <a:chExt cx="1016528" cy="825488"/>
          </a:xfrm>
        </p:grpSpPr>
        <p:pic>
          <p:nvPicPr>
            <p:cNvPr id="8" name="Picture 3" descr="C:\Users\Administrator\Desktop\微立体创业计划\005.png">
              <a:extLst>
                <a:ext uri="{FF2B5EF4-FFF2-40B4-BE49-F238E27FC236}">
                  <a16:creationId xmlns:a16="http://schemas.microsoft.com/office/drawing/2014/main" id="{2D6E2D9A-736C-BCF5-C14E-2042A766D87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duotone>
                <a:srgbClr val="0070C0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657" y="117426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4" descr="C:\Users\Administrator\Desktop\微立体创业计划\004.png">
              <a:extLst>
                <a:ext uri="{FF2B5EF4-FFF2-40B4-BE49-F238E27FC236}">
                  <a16:creationId xmlns:a16="http://schemas.microsoft.com/office/drawing/2014/main" id="{767DD840-4505-AB20-3FC2-865F6AC9F32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0961" y="129925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273630AC-98EC-3F36-AD9C-4C33F9507C7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081117" y="87288"/>
            <a:ext cx="1988226" cy="47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9597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38577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77D3EA5-F01E-27E8-6382-8E4698BF5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9C41B-B701-4ED6-8A9D-BB3EBE32AEBB}" type="datetime1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41F90EF-624C-D401-6E5E-B0149181C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1481C52-AE99-DAB9-C87E-25AC2D770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73630AC-98EC-3F36-AD9C-4C33F9507C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46910" y="123768"/>
            <a:ext cx="1988226" cy="47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0933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6426EC-8608-7076-4E2F-201ECC9F6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866" y="120217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5130B0-2B94-A4AE-6E98-7824EEE57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FFFF7-CCAC-4C16-B3DF-A74AC1DA0111}" type="datetime1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658B41-817B-123A-14E0-BC57DFD32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164C95-0EF9-F0F6-ED9A-520DF0252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41A2CC41-53EF-D792-C3D8-24D005077F38}"/>
              </a:ext>
            </a:extLst>
          </p:cNvPr>
          <p:cNvSpPr>
            <a:spLocks noGrp="1"/>
          </p:cNvSpPr>
          <p:nvPr userDrawn="1"/>
        </p:nvSpPr>
        <p:spPr>
          <a:xfrm>
            <a:off x="1332687" y="43283"/>
            <a:ext cx="6629400" cy="7121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F8BBDDF8-8219-CDF6-F368-5129B2EA6B6E}"/>
              </a:ext>
            </a:extLst>
          </p:cNvPr>
          <p:cNvGrpSpPr/>
          <p:nvPr userDrawn="1"/>
        </p:nvGrpSpPr>
        <p:grpSpPr>
          <a:xfrm>
            <a:off x="491955" y="174090"/>
            <a:ext cx="700611" cy="581310"/>
            <a:chOff x="527657" y="117426"/>
            <a:chExt cx="1016528" cy="825488"/>
          </a:xfrm>
        </p:grpSpPr>
        <p:pic>
          <p:nvPicPr>
            <p:cNvPr id="11" name="Picture 3">
              <a:extLst>
                <a:ext uri="{FF2B5EF4-FFF2-40B4-BE49-F238E27FC236}">
                  <a16:creationId xmlns:a16="http://schemas.microsoft.com/office/drawing/2014/main" id="{2D6E2D9A-736C-BCF5-C14E-2042A766D87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duotone>
                <a:srgbClr val="0070C0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657" y="117426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4">
              <a:extLst>
                <a:ext uri="{FF2B5EF4-FFF2-40B4-BE49-F238E27FC236}">
                  <a16:creationId xmlns:a16="http://schemas.microsoft.com/office/drawing/2014/main" id="{767DD840-4505-AB20-3FC2-865F6AC9F32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0961" y="129925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273630AC-98EC-3F36-AD9C-4C33F9507C7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018513" y="81635"/>
            <a:ext cx="1988226" cy="47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1925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E84307-8A37-88A5-276E-382ECA8F1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1DCE2CA-F9CF-29DC-C270-D8E9191A0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7F53C-D319-4379-BE9D-C0775F1AC39A}" type="datetime1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687EF2-F446-A5B5-9052-AA7F0AEF3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39F2C10-0228-7893-C916-BD1FC13AA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2098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F5CDC8-B89E-CC89-6D8D-B5FA69CE2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983" y="347448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1E6074-4C08-E5A5-1BC3-6414E2E57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D58D588-0735-993F-FDD0-115837A687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5983" y="216531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422D629-DE6B-9EAE-BC43-029A92A4E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18CB3-EBC9-4CC4-A374-8AE54067A303}" type="datetime1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231E168-CA51-40B5-0F51-F557A9BE0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B9A110E-96BC-7564-341B-681A25B83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73630AC-98EC-3F36-AD9C-4C33F9507C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41231" y="112409"/>
            <a:ext cx="1988226" cy="47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122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177F47-4C85-D788-3D9F-55EA08C5B0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C93787-4F60-8859-2F67-4D12166675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B72D604-5A9A-6C30-39E7-4F12BBC6E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461EE-7E93-465D-B757-DAE1CB93E92C}" type="datetime1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1C49BAC-6CED-D1F9-DF9F-F24A800B2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11781E8-C2CC-E8D8-DBC6-2169704AB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41A2CC41-53EF-D792-C3D8-24D005077F38}"/>
              </a:ext>
            </a:extLst>
          </p:cNvPr>
          <p:cNvSpPr>
            <a:spLocks noGrp="1"/>
          </p:cNvSpPr>
          <p:nvPr userDrawn="1"/>
        </p:nvSpPr>
        <p:spPr>
          <a:xfrm>
            <a:off x="1349725" y="136525"/>
            <a:ext cx="6629400" cy="7121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F8BBDDF8-8219-CDF6-F368-5129B2EA6B6E}"/>
              </a:ext>
            </a:extLst>
          </p:cNvPr>
          <p:cNvGrpSpPr/>
          <p:nvPr userDrawn="1"/>
        </p:nvGrpSpPr>
        <p:grpSpPr>
          <a:xfrm>
            <a:off x="508993" y="267332"/>
            <a:ext cx="700611" cy="581310"/>
            <a:chOff x="527657" y="117426"/>
            <a:chExt cx="1016528" cy="825488"/>
          </a:xfrm>
        </p:grpSpPr>
        <p:pic>
          <p:nvPicPr>
            <p:cNvPr id="12" name="Picture 3">
              <a:extLst>
                <a:ext uri="{FF2B5EF4-FFF2-40B4-BE49-F238E27FC236}">
                  <a16:creationId xmlns:a16="http://schemas.microsoft.com/office/drawing/2014/main" id="{2D6E2D9A-736C-BCF5-C14E-2042A766D87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duotone>
                <a:srgbClr val="0070C0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657" y="117426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4">
              <a:extLst>
                <a:ext uri="{FF2B5EF4-FFF2-40B4-BE49-F238E27FC236}">
                  <a16:creationId xmlns:a16="http://schemas.microsoft.com/office/drawing/2014/main" id="{767DD840-4505-AB20-3FC2-865F6AC9F32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0961" y="129925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273630AC-98EC-3F36-AD9C-4C33F9507C7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035551" y="174877"/>
            <a:ext cx="1988226" cy="47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7535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791E652-24E5-5D4B-50DE-DB568C82C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2F1FC26-7D40-3607-CBAD-6EF57B67E3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4C3179B-0F08-A1E3-33A4-C538C69CFE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F63DB1D-3969-492C-022F-B513F87E73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C9C453B-EC09-DE45-A706-9278FDDB0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18CFF-37F7-4C20-841D-A3532578AC89}" type="datetime1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908686C-7D94-AA63-89D7-45C32CBE4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A4B4EC2-B11A-C364-C14B-1E762B00D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41A2CC41-53EF-D792-C3D8-24D005077F38}"/>
              </a:ext>
            </a:extLst>
          </p:cNvPr>
          <p:cNvSpPr>
            <a:spLocks noGrp="1"/>
          </p:cNvSpPr>
          <p:nvPr userDrawn="1"/>
        </p:nvSpPr>
        <p:spPr>
          <a:xfrm>
            <a:off x="1264533" y="250688"/>
            <a:ext cx="6629400" cy="7121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1" name="副标题 2">
            <a:extLst>
              <a:ext uri="{FF2B5EF4-FFF2-40B4-BE49-F238E27FC236}">
                <a16:creationId xmlns:a16="http://schemas.microsoft.com/office/drawing/2014/main" id="{DAD09386-D71F-8627-81AE-8E5A2E01CA18}"/>
              </a:ext>
            </a:extLst>
          </p:cNvPr>
          <p:cNvSpPr>
            <a:spLocks noGrp="1"/>
          </p:cNvSpPr>
          <p:nvPr userDrawn="1"/>
        </p:nvSpPr>
        <p:spPr>
          <a:xfrm>
            <a:off x="446519" y="1129492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F8BBDDF8-8219-CDF6-F368-5129B2EA6B6E}"/>
              </a:ext>
            </a:extLst>
          </p:cNvPr>
          <p:cNvGrpSpPr/>
          <p:nvPr userDrawn="1"/>
        </p:nvGrpSpPr>
        <p:grpSpPr>
          <a:xfrm>
            <a:off x="487894" y="350630"/>
            <a:ext cx="700611" cy="581310"/>
            <a:chOff x="527657" y="117426"/>
            <a:chExt cx="1016528" cy="825488"/>
          </a:xfrm>
        </p:grpSpPr>
        <p:pic>
          <p:nvPicPr>
            <p:cNvPr id="14" name="Picture 3">
              <a:extLst>
                <a:ext uri="{FF2B5EF4-FFF2-40B4-BE49-F238E27FC236}">
                  <a16:creationId xmlns:a16="http://schemas.microsoft.com/office/drawing/2014/main" id="{2D6E2D9A-736C-BCF5-C14E-2042A766D87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duotone>
                <a:srgbClr val="0070C0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657" y="117426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4">
              <a:extLst>
                <a:ext uri="{FF2B5EF4-FFF2-40B4-BE49-F238E27FC236}">
                  <a16:creationId xmlns:a16="http://schemas.microsoft.com/office/drawing/2014/main" id="{767DD840-4505-AB20-3FC2-865F6AC9F32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0961" y="129925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3" name="图片 12">
            <a:extLst>
              <a:ext uri="{FF2B5EF4-FFF2-40B4-BE49-F238E27FC236}">
                <a16:creationId xmlns:a16="http://schemas.microsoft.com/office/drawing/2014/main" id="{273630AC-98EC-3F36-AD9C-4C33F9507C7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973077" y="350630"/>
            <a:ext cx="1988226" cy="47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7308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81A1DB-9ED0-9B4E-C770-E5694309E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6A23B31-EAB2-1391-7820-A080360E16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B9B3C80-CF0B-F0C0-A442-A088B0EB64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29CF473-C6CC-BAD8-5383-26E8D2531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EC3D5-687C-416C-9B5D-3A75D8F7BA6C}" type="datetime1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3F54AA7-A8F7-371E-233F-C3786BFF7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4ABCE91-07DB-6B5D-5B09-850806046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38177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886F22-E5CE-D1A8-570E-9AE797FDA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41128B0-4299-ED4A-92C5-0E762E6AB3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52EB65-E6EF-E56C-9D82-1C732D02E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0BE0C-1EAE-4AE0-9369-5238A76AA9AE}" type="datetime1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0A3098-73E5-D15B-F904-31354377F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C31172-595F-7FBE-C4C5-0D45BFF78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186026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7A9512A-F429-E9F6-1E9D-E8FDB32698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5BF6BB3-16C3-74FB-3BD9-3D2AA5B3DA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59AC9E-B020-DA3A-3784-05E3CA262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ED7F1-ED4F-4A57-9629-8DACBCF4E104}" type="datetime1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5E3113-5A22-4324-B7BE-2653A893C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A4F435-9CA7-A80C-F717-58D1A5790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918547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A2CC41-53EF-D792-C3D8-24D005077F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5291" y="48936"/>
            <a:ext cx="6629400" cy="71211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AD09386-D71F-8627-81AE-8E5A2E01CA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559" y="1036535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4E5187-DE92-993A-0100-7ABE595C3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239B5-A6DD-477D-BE99-5AD4CA2F58EE}" type="datetime1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AAA60E-7CCA-E8F0-796A-1C44334A6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E3B1BE-AB2D-5A23-7D3C-F521ED3F0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F8BBDDF8-8219-CDF6-F368-5129B2EA6B6E}"/>
              </a:ext>
            </a:extLst>
          </p:cNvPr>
          <p:cNvGrpSpPr/>
          <p:nvPr userDrawn="1"/>
        </p:nvGrpSpPr>
        <p:grpSpPr>
          <a:xfrm>
            <a:off x="554559" y="179743"/>
            <a:ext cx="700611" cy="581310"/>
            <a:chOff x="527657" y="117426"/>
            <a:chExt cx="1016528" cy="825488"/>
          </a:xfrm>
        </p:grpSpPr>
        <p:pic>
          <p:nvPicPr>
            <p:cNvPr id="8" name="Picture 3" descr="C:\Users\Administrator\Desktop\微立体创业计划\005.png">
              <a:extLst>
                <a:ext uri="{FF2B5EF4-FFF2-40B4-BE49-F238E27FC236}">
                  <a16:creationId xmlns:a16="http://schemas.microsoft.com/office/drawing/2014/main" id="{2D6E2D9A-736C-BCF5-C14E-2042A766D87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duotone>
                <a:srgbClr val="0070C0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657" y="117426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4" descr="C:\Users\Administrator\Desktop\微立体创业计划\004.png">
              <a:extLst>
                <a:ext uri="{FF2B5EF4-FFF2-40B4-BE49-F238E27FC236}">
                  <a16:creationId xmlns:a16="http://schemas.microsoft.com/office/drawing/2014/main" id="{767DD840-4505-AB20-3FC2-865F6AC9F32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0961" y="129925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273630AC-98EC-3F36-AD9C-4C33F9507C7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081117" y="87288"/>
            <a:ext cx="1988226" cy="47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2043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91998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77D3EA5-F01E-27E8-6382-8E4698BF5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9C41B-B701-4ED6-8A9D-BB3EBE32AEBB}" type="datetime1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41F90EF-624C-D401-6E5E-B0149181C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1481C52-AE99-DAB9-C87E-25AC2D770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73630AC-98EC-3F36-AD9C-4C33F9507C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46910" y="123768"/>
            <a:ext cx="1988226" cy="47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8703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6426EC-8608-7076-4E2F-201ECC9F6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866" y="120217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5130B0-2B94-A4AE-6E98-7824EEE57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FFFF7-CCAC-4C16-B3DF-A74AC1DA0111}" type="datetime1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658B41-817B-123A-14E0-BC57DFD32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164C95-0EF9-F0F6-ED9A-520DF0252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41A2CC41-53EF-D792-C3D8-24D005077F38}"/>
              </a:ext>
            </a:extLst>
          </p:cNvPr>
          <p:cNvSpPr>
            <a:spLocks noGrp="1"/>
          </p:cNvSpPr>
          <p:nvPr userDrawn="1"/>
        </p:nvSpPr>
        <p:spPr>
          <a:xfrm>
            <a:off x="1332687" y="43283"/>
            <a:ext cx="6629400" cy="7121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F8BBDDF8-8219-CDF6-F368-5129B2EA6B6E}"/>
              </a:ext>
            </a:extLst>
          </p:cNvPr>
          <p:cNvGrpSpPr/>
          <p:nvPr userDrawn="1"/>
        </p:nvGrpSpPr>
        <p:grpSpPr>
          <a:xfrm>
            <a:off x="491955" y="174090"/>
            <a:ext cx="700611" cy="581310"/>
            <a:chOff x="527657" y="117426"/>
            <a:chExt cx="1016528" cy="825488"/>
          </a:xfrm>
        </p:grpSpPr>
        <p:pic>
          <p:nvPicPr>
            <p:cNvPr id="11" name="Picture 3">
              <a:extLst>
                <a:ext uri="{FF2B5EF4-FFF2-40B4-BE49-F238E27FC236}">
                  <a16:creationId xmlns:a16="http://schemas.microsoft.com/office/drawing/2014/main" id="{2D6E2D9A-736C-BCF5-C14E-2042A766D87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duotone>
                <a:srgbClr val="0070C0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657" y="117426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4">
              <a:extLst>
                <a:ext uri="{FF2B5EF4-FFF2-40B4-BE49-F238E27FC236}">
                  <a16:creationId xmlns:a16="http://schemas.microsoft.com/office/drawing/2014/main" id="{767DD840-4505-AB20-3FC2-865F6AC9F32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0961" y="129925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273630AC-98EC-3F36-AD9C-4C33F9507C7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018513" y="81635"/>
            <a:ext cx="1988226" cy="47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3717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E84307-8A37-88A5-276E-382ECA8F1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1DCE2CA-F9CF-29DC-C270-D8E9191A0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7F53C-D319-4379-BE9D-C0775F1AC39A}" type="datetime1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687EF2-F446-A5B5-9052-AA7F0AEF3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39F2C10-0228-7893-C916-BD1FC13AA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573603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F5CDC8-B89E-CC89-6D8D-B5FA69CE2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983" y="347448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1E6074-4C08-E5A5-1BC3-6414E2E57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D58D588-0735-993F-FDD0-115837A687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5983" y="216531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422D629-DE6B-9EAE-BC43-029A92A4E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18CB3-EBC9-4CC4-A374-8AE54067A303}" type="datetime1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231E168-CA51-40B5-0F51-F557A9BE0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B9A110E-96BC-7564-341B-681A25B83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73630AC-98EC-3F36-AD9C-4C33F9507C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41231" y="112409"/>
            <a:ext cx="1988226" cy="47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90434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177F47-4C85-D788-3D9F-55EA08C5B0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C93787-4F60-8859-2F67-4D12166675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B72D604-5A9A-6C30-39E7-4F12BBC6E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461EE-7E93-465D-B757-DAE1CB93E92C}" type="datetime1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1C49BAC-6CED-D1F9-DF9F-F24A800B2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11781E8-C2CC-E8D8-DBC6-2169704AB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41A2CC41-53EF-D792-C3D8-24D005077F38}"/>
              </a:ext>
            </a:extLst>
          </p:cNvPr>
          <p:cNvSpPr>
            <a:spLocks noGrp="1"/>
          </p:cNvSpPr>
          <p:nvPr userDrawn="1"/>
        </p:nvSpPr>
        <p:spPr>
          <a:xfrm>
            <a:off x="1349725" y="136525"/>
            <a:ext cx="6629400" cy="7121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F8BBDDF8-8219-CDF6-F368-5129B2EA6B6E}"/>
              </a:ext>
            </a:extLst>
          </p:cNvPr>
          <p:cNvGrpSpPr/>
          <p:nvPr userDrawn="1"/>
        </p:nvGrpSpPr>
        <p:grpSpPr>
          <a:xfrm>
            <a:off x="508993" y="267332"/>
            <a:ext cx="700611" cy="581310"/>
            <a:chOff x="527657" y="117426"/>
            <a:chExt cx="1016528" cy="825488"/>
          </a:xfrm>
        </p:grpSpPr>
        <p:pic>
          <p:nvPicPr>
            <p:cNvPr id="12" name="Picture 3">
              <a:extLst>
                <a:ext uri="{FF2B5EF4-FFF2-40B4-BE49-F238E27FC236}">
                  <a16:creationId xmlns:a16="http://schemas.microsoft.com/office/drawing/2014/main" id="{2D6E2D9A-736C-BCF5-C14E-2042A766D87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duotone>
                <a:srgbClr val="0070C0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657" y="117426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4">
              <a:extLst>
                <a:ext uri="{FF2B5EF4-FFF2-40B4-BE49-F238E27FC236}">
                  <a16:creationId xmlns:a16="http://schemas.microsoft.com/office/drawing/2014/main" id="{767DD840-4505-AB20-3FC2-865F6AC9F32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0961" y="129925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273630AC-98EC-3F36-AD9C-4C33F9507C7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035551" y="174877"/>
            <a:ext cx="1988226" cy="47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20946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791E652-24E5-5D4B-50DE-DB568C82C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2F1FC26-7D40-3607-CBAD-6EF57B67E3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4C3179B-0F08-A1E3-33A4-C538C69CFE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F63DB1D-3969-492C-022F-B513F87E73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C9C453B-EC09-DE45-A706-9278FDDB0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18CFF-37F7-4C20-841D-A3532578AC89}" type="datetime1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908686C-7D94-AA63-89D7-45C32CBE4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A4B4EC2-B11A-C364-C14B-1E762B00D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41A2CC41-53EF-D792-C3D8-24D005077F38}"/>
              </a:ext>
            </a:extLst>
          </p:cNvPr>
          <p:cNvSpPr>
            <a:spLocks noGrp="1"/>
          </p:cNvSpPr>
          <p:nvPr userDrawn="1"/>
        </p:nvSpPr>
        <p:spPr>
          <a:xfrm>
            <a:off x="1264533" y="250688"/>
            <a:ext cx="6629400" cy="7121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1" name="副标题 2">
            <a:extLst>
              <a:ext uri="{FF2B5EF4-FFF2-40B4-BE49-F238E27FC236}">
                <a16:creationId xmlns:a16="http://schemas.microsoft.com/office/drawing/2014/main" id="{DAD09386-D71F-8627-81AE-8E5A2E01CA18}"/>
              </a:ext>
            </a:extLst>
          </p:cNvPr>
          <p:cNvSpPr>
            <a:spLocks noGrp="1"/>
          </p:cNvSpPr>
          <p:nvPr userDrawn="1"/>
        </p:nvSpPr>
        <p:spPr>
          <a:xfrm>
            <a:off x="446519" y="1129492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F8BBDDF8-8219-CDF6-F368-5129B2EA6B6E}"/>
              </a:ext>
            </a:extLst>
          </p:cNvPr>
          <p:cNvGrpSpPr/>
          <p:nvPr userDrawn="1"/>
        </p:nvGrpSpPr>
        <p:grpSpPr>
          <a:xfrm>
            <a:off x="487894" y="350630"/>
            <a:ext cx="700611" cy="581310"/>
            <a:chOff x="527657" y="117426"/>
            <a:chExt cx="1016528" cy="825488"/>
          </a:xfrm>
        </p:grpSpPr>
        <p:pic>
          <p:nvPicPr>
            <p:cNvPr id="14" name="Picture 3">
              <a:extLst>
                <a:ext uri="{FF2B5EF4-FFF2-40B4-BE49-F238E27FC236}">
                  <a16:creationId xmlns:a16="http://schemas.microsoft.com/office/drawing/2014/main" id="{2D6E2D9A-736C-BCF5-C14E-2042A766D87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duotone>
                <a:srgbClr val="0070C0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657" y="117426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4">
              <a:extLst>
                <a:ext uri="{FF2B5EF4-FFF2-40B4-BE49-F238E27FC236}">
                  <a16:creationId xmlns:a16="http://schemas.microsoft.com/office/drawing/2014/main" id="{767DD840-4505-AB20-3FC2-865F6AC9F32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0961" y="129925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3" name="图片 12">
            <a:extLst>
              <a:ext uri="{FF2B5EF4-FFF2-40B4-BE49-F238E27FC236}">
                <a16:creationId xmlns:a16="http://schemas.microsoft.com/office/drawing/2014/main" id="{273630AC-98EC-3F36-AD9C-4C33F9507C7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973077" y="350630"/>
            <a:ext cx="1988226" cy="47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95158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81A1DB-9ED0-9B4E-C770-E5694309E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6A23B31-EAB2-1391-7820-A080360E16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B9B3C80-CF0B-F0C0-A442-A088B0EB64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29CF473-C6CC-BAD8-5383-26E8D2531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EC3D5-687C-416C-9B5D-3A75D8F7BA6C}" type="datetime1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3F54AA7-A8F7-371E-233F-C3786BFF7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4ABCE91-07DB-6B5D-5B09-850806046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016695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886F22-E5CE-D1A8-570E-9AE797FDA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41128B0-4299-ED4A-92C5-0E762E6AB3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52EB65-E6EF-E56C-9D82-1C732D02E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0BE0C-1EAE-4AE0-9369-5238A76AA9AE}" type="datetime1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0A3098-73E5-D15B-F904-31354377F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C31172-595F-7FBE-C4C5-0D45BFF78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359246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7A9512A-F429-E9F6-1E9D-E8FDB32698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5BF6BB3-16C3-74FB-3BD9-3D2AA5B3DA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59AC9E-B020-DA3A-3784-05E3CA262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ED7F1-ED4F-4A57-9629-8DACBCF4E104}" type="datetime1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5E3113-5A22-4324-B7BE-2653A893C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A4F435-9CA7-A80C-F717-58D1A5790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544448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A2CC41-53EF-D792-C3D8-24D005077F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5291" y="48936"/>
            <a:ext cx="6629400" cy="71211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AD09386-D71F-8627-81AE-8E5A2E01CA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559" y="1036535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4E5187-DE92-993A-0100-7ABE595C3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239B5-A6DD-477D-BE99-5AD4CA2F58EE}" type="datetime1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AAA60E-7CCA-E8F0-796A-1C44334A6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E3B1BE-AB2D-5A23-7D3C-F521ED3F0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F8BBDDF8-8219-CDF6-F368-5129B2EA6B6E}"/>
              </a:ext>
            </a:extLst>
          </p:cNvPr>
          <p:cNvGrpSpPr/>
          <p:nvPr userDrawn="1"/>
        </p:nvGrpSpPr>
        <p:grpSpPr>
          <a:xfrm>
            <a:off x="554559" y="179743"/>
            <a:ext cx="700611" cy="581310"/>
            <a:chOff x="527657" y="117426"/>
            <a:chExt cx="1016528" cy="825488"/>
          </a:xfrm>
        </p:grpSpPr>
        <p:pic>
          <p:nvPicPr>
            <p:cNvPr id="8" name="Picture 3" descr="C:\Users\Administrator\Desktop\微立体创业计划\005.png">
              <a:extLst>
                <a:ext uri="{FF2B5EF4-FFF2-40B4-BE49-F238E27FC236}">
                  <a16:creationId xmlns:a16="http://schemas.microsoft.com/office/drawing/2014/main" id="{2D6E2D9A-736C-BCF5-C14E-2042A766D87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duotone>
                <a:srgbClr val="0070C0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657" y="117426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4" descr="C:\Users\Administrator\Desktop\微立体创业计划\004.png">
              <a:extLst>
                <a:ext uri="{FF2B5EF4-FFF2-40B4-BE49-F238E27FC236}">
                  <a16:creationId xmlns:a16="http://schemas.microsoft.com/office/drawing/2014/main" id="{767DD840-4505-AB20-3FC2-865F6AC9F32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0961" y="129925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273630AC-98EC-3F36-AD9C-4C33F9507C7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081117" y="87288"/>
            <a:ext cx="1988226" cy="47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51812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4E304D-4302-9926-B9E4-A4F22949F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BE773-4813-48BD-A50D-5974BFBD6D74}" type="datetime1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4BA000-FB47-BDF4-4935-328024882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CFA3F2-32A8-6E83-CD3C-B6BFA5A1C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F8BBDDF8-8219-CDF6-F368-5129B2EA6B6E}"/>
              </a:ext>
            </a:extLst>
          </p:cNvPr>
          <p:cNvGrpSpPr/>
          <p:nvPr userDrawn="1"/>
        </p:nvGrpSpPr>
        <p:grpSpPr>
          <a:xfrm>
            <a:off x="531711" y="187040"/>
            <a:ext cx="700611" cy="581310"/>
            <a:chOff x="527657" y="117426"/>
            <a:chExt cx="1016528" cy="825488"/>
          </a:xfrm>
        </p:grpSpPr>
        <p:pic>
          <p:nvPicPr>
            <p:cNvPr id="11" name="Picture 3">
              <a:extLst>
                <a:ext uri="{FF2B5EF4-FFF2-40B4-BE49-F238E27FC236}">
                  <a16:creationId xmlns:a16="http://schemas.microsoft.com/office/drawing/2014/main" id="{2D6E2D9A-736C-BCF5-C14E-2042A766D87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duotone>
                <a:srgbClr val="0070C0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657" y="117426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4">
              <a:extLst>
                <a:ext uri="{FF2B5EF4-FFF2-40B4-BE49-F238E27FC236}">
                  <a16:creationId xmlns:a16="http://schemas.microsoft.com/office/drawing/2014/main" id="{767DD840-4505-AB20-3FC2-865F6AC9F32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0961" y="129925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273630AC-98EC-3F36-AD9C-4C33F9507C7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058269" y="94585"/>
            <a:ext cx="1988226" cy="47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35076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77D3EA5-F01E-27E8-6382-8E4698BF5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9C41B-B701-4ED6-8A9D-BB3EBE32AEBB}" type="datetime1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41F90EF-624C-D401-6E5E-B0149181C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1481C52-AE99-DAB9-C87E-25AC2D770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73630AC-98EC-3F36-AD9C-4C33F9507C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46910" y="123768"/>
            <a:ext cx="1988226" cy="47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2781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6426EC-8608-7076-4E2F-201ECC9F6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866" y="120217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5130B0-2B94-A4AE-6E98-7824EEE57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FFFF7-CCAC-4C16-B3DF-A74AC1DA0111}" type="datetime1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658B41-817B-123A-14E0-BC57DFD32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164C95-0EF9-F0F6-ED9A-520DF0252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41A2CC41-53EF-D792-C3D8-24D005077F38}"/>
              </a:ext>
            </a:extLst>
          </p:cNvPr>
          <p:cNvSpPr>
            <a:spLocks noGrp="1"/>
          </p:cNvSpPr>
          <p:nvPr userDrawn="1"/>
        </p:nvSpPr>
        <p:spPr>
          <a:xfrm>
            <a:off x="1332687" y="43283"/>
            <a:ext cx="6629400" cy="7121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F8BBDDF8-8219-CDF6-F368-5129B2EA6B6E}"/>
              </a:ext>
            </a:extLst>
          </p:cNvPr>
          <p:cNvGrpSpPr/>
          <p:nvPr userDrawn="1"/>
        </p:nvGrpSpPr>
        <p:grpSpPr>
          <a:xfrm>
            <a:off x="491955" y="174090"/>
            <a:ext cx="700611" cy="581310"/>
            <a:chOff x="527657" y="117426"/>
            <a:chExt cx="1016528" cy="825488"/>
          </a:xfrm>
        </p:grpSpPr>
        <p:pic>
          <p:nvPicPr>
            <p:cNvPr id="11" name="Picture 3">
              <a:extLst>
                <a:ext uri="{FF2B5EF4-FFF2-40B4-BE49-F238E27FC236}">
                  <a16:creationId xmlns:a16="http://schemas.microsoft.com/office/drawing/2014/main" id="{2D6E2D9A-736C-BCF5-C14E-2042A766D87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duotone>
                <a:srgbClr val="0070C0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657" y="117426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4">
              <a:extLst>
                <a:ext uri="{FF2B5EF4-FFF2-40B4-BE49-F238E27FC236}">
                  <a16:creationId xmlns:a16="http://schemas.microsoft.com/office/drawing/2014/main" id="{767DD840-4505-AB20-3FC2-865F6AC9F32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0961" y="129925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273630AC-98EC-3F36-AD9C-4C33F9507C7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018513" y="81635"/>
            <a:ext cx="1988226" cy="47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61389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E84307-8A37-88A5-276E-382ECA8F1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1DCE2CA-F9CF-29DC-C270-D8E9191A0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7F53C-D319-4379-BE9D-C0775F1AC39A}" type="datetime1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687EF2-F446-A5B5-9052-AA7F0AEF3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39F2C10-0228-7893-C916-BD1FC13AA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564561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F5CDC8-B89E-CC89-6D8D-B5FA69CE2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983" y="347448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1E6074-4C08-E5A5-1BC3-6414E2E57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D58D588-0735-993F-FDD0-115837A687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5983" y="216531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422D629-DE6B-9EAE-BC43-029A92A4E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18CB3-EBC9-4CC4-A374-8AE54067A303}" type="datetime1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231E168-CA51-40B5-0F51-F557A9BE0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B9A110E-96BC-7564-341B-681A25B83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73630AC-98EC-3F36-AD9C-4C33F9507C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41231" y="112409"/>
            <a:ext cx="1988226" cy="47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76826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177F47-4C85-D788-3D9F-55EA08C5B0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C93787-4F60-8859-2F67-4D12166675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B72D604-5A9A-6C30-39E7-4F12BBC6E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461EE-7E93-465D-B757-DAE1CB93E92C}" type="datetime1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1C49BAC-6CED-D1F9-DF9F-F24A800B2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11781E8-C2CC-E8D8-DBC6-2169704AB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41A2CC41-53EF-D792-C3D8-24D005077F38}"/>
              </a:ext>
            </a:extLst>
          </p:cNvPr>
          <p:cNvSpPr>
            <a:spLocks noGrp="1"/>
          </p:cNvSpPr>
          <p:nvPr userDrawn="1"/>
        </p:nvSpPr>
        <p:spPr>
          <a:xfrm>
            <a:off x="1349725" y="136525"/>
            <a:ext cx="6629400" cy="7121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F8BBDDF8-8219-CDF6-F368-5129B2EA6B6E}"/>
              </a:ext>
            </a:extLst>
          </p:cNvPr>
          <p:cNvGrpSpPr/>
          <p:nvPr userDrawn="1"/>
        </p:nvGrpSpPr>
        <p:grpSpPr>
          <a:xfrm>
            <a:off x="508993" y="267332"/>
            <a:ext cx="700611" cy="581310"/>
            <a:chOff x="527657" y="117426"/>
            <a:chExt cx="1016528" cy="825488"/>
          </a:xfrm>
        </p:grpSpPr>
        <p:pic>
          <p:nvPicPr>
            <p:cNvPr id="12" name="Picture 3">
              <a:extLst>
                <a:ext uri="{FF2B5EF4-FFF2-40B4-BE49-F238E27FC236}">
                  <a16:creationId xmlns:a16="http://schemas.microsoft.com/office/drawing/2014/main" id="{2D6E2D9A-736C-BCF5-C14E-2042A766D87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duotone>
                <a:srgbClr val="0070C0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657" y="117426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4">
              <a:extLst>
                <a:ext uri="{FF2B5EF4-FFF2-40B4-BE49-F238E27FC236}">
                  <a16:creationId xmlns:a16="http://schemas.microsoft.com/office/drawing/2014/main" id="{767DD840-4505-AB20-3FC2-865F6AC9F32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0961" y="129925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273630AC-98EC-3F36-AD9C-4C33F9507C7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035551" y="174877"/>
            <a:ext cx="1988226" cy="47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104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791E652-24E5-5D4B-50DE-DB568C82C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2F1FC26-7D40-3607-CBAD-6EF57B67E3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4C3179B-0F08-A1E3-33A4-C538C69CFE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F63DB1D-3969-492C-022F-B513F87E73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C9C453B-EC09-DE45-A706-9278FDDB0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18CFF-37F7-4C20-841D-A3532578AC89}" type="datetime1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908686C-7D94-AA63-89D7-45C32CBE4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A4B4EC2-B11A-C364-C14B-1E762B00D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41A2CC41-53EF-D792-C3D8-24D005077F38}"/>
              </a:ext>
            </a:extLst>
          </p:cNvPr>
          <p:cNvSpPr>
            <a:spLocks noGrp="1"/>
          </p:cNvSpPr>
          <p:nvPr userDrawn="1"/>
        </p:nvSpPr>
        <p:spPr>
          <a:xfrm>
            <a:off x="1264533" y="250688"/>
            <a:ext cx="6629400" cy="7121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1" name="副标题 2">
            <a:extLst>
              <a:ext uri="{FF2B5EF4-FFF2-40B4-BE49-F238E27FC236}">
                <a16:creationId xmlns:a16="http://schemas.microsoft.com/office/drawing/2014/main" id="{DAD09386-D71F-8627-81AE-8E5A2E01CA18}"/>
              </a:ext>
            </a:extLst>
          </p:cNvPr>
          <p:cNvSpPr>
            <a:spLocks noGrp="1"/>
          </p:cNvSpPr>
          <p:nvPr userDrawn="1"/>
        </p:nvSpPr>
        <p:spPr>
          <a:xfrm>
            <a:off x="446519" y="1129492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F8BBDDF8-8219-CDF6-F368-5129B2EA6B6E}"/>
              </a:ext>
            </a:extLst>
          </p:cNvPr>
          <p:cNvGrpSpPr/>
          <p:nvPr userDrawn="1"/>
        </p:nvGrpSpPr>
        <p:grpSpPr>
          <a:xfrm>
            <a:off x="487894" y="350630"/>
            <a:ext cx="700611" cy="581310"/>
            <a:chOff x="527657" y="117426"/>
            <a:chExt cx="1016528" cy="825488"/>
          </a:xfrm>
        </p:grpSpPr>
        <p:pic>
          <p:nvPicPr>
            <p:cNvPr id="14" name="Picture 3">
              <a:extLst>
                <a:ext uri="{FF2B5EF4-FFF2-40B4-BE49-F238E27FC236}">
                  <a16:creationId xmlns:a16="http://schemas.microsoft.com/office/drawing/2014/main" id="{2D6E2D9A-736C-BCF5-C14E-2042A766D87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duotone>
                <a:srgbClr val="0070C0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657" y="117426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4">
              <a:extLst>
                <a:ext uri="{FF2B5EF4-FFF2-40B4-BE49-F238E27FC236}">
                  <a16:creationId xmlns:a16="http://schemas.microsoft.com/office/drawing/2014/main" id="{767DD840-4505-AB20-3FC2-865F6AC9F32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0961" y="129925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3" name="图片 12">
            <a:extLst>
              <a:ext uri="{FF2B5EF4-FFF2-40B4-BE49-F238E27FC236}">
                <a16:creationId xmlns:a16="http://schemas.microsoft.com/office/drawing/2014/main" id="{273630AC-98EC-3F36-AD9C-4C33F9507C7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973077" y="350630"/>
            <a:ext cx="1988226" cy="47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55630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81A1DB-9ED0-9B4E-C770-E5694309E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6A23B31-EAB2-1391-7820-A080360E16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B9B3C80-CF0B-F0C0-A442-A088B0EB64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29CF473-C6CC-BAD8-5383-26E8D2531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EC3D5-687C-416C-9B5D-3A75D8F7BA6C}" type="datetime1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3F54AA7-A8F7-371E-233F-C3786BFF7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4ABCE91-07DB-6B5D-5B09-850806046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319322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886F22-E5CE-D1A8-570E-9AE797FDA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41128B0-4299-ED4A-92C5-0E762E6AB3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52EB65-E6EF-E56C-9D82-1C732D02E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0BE0C-1EAE-4AE0-9369-5238A76AA9AE}" type="datetime1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0A3098-73E5-D15B-F904-31354377F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C31172-595F-7FBE-C4C5-0D45BFF78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708174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7A9512A-F429-E9F6-1E9D-E8FDB32698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5BF6BB3-16C3-74FB-3BD9-3D2AA5B3DA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59AC9E-B020-DA3A-3784-05E3CA262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ED7F1-ED4F-4A57-9629-8DACBCF4E104}" type="datetime1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5E3113-5A22-4324-B7BE-2653A893C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A4F435-9CA7-A80C-F717-58D1A5790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0410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784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</p:sldLayoutIdLst>
  <p:transition>
    <p:strips dir="rd"/>
  </p:transition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89AE7EF-F87D-9C21-C4BB-171C8D9B5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F3D3E9-FE54-B7B5-61E8-7471036E4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A6B583-F9AA-8EDA-E541-C152443147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801001-B58D-4742-9CFA-41515D63C199}" type="datetime1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8A588B-8EE2-28BC-48EA-8B9B0CBDDE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B4F34A-A39E-23CC-FAEC-C3E874B5CD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5808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89AE7EF-F87D-9C21-C4BB-171C8D9B5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F3D3E9-FE54-B7B5-61E8-7471036E4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A6B583-F9AA-8EDA-E541-C152443147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801001-B58D-4742-9CFA-41515D63C199}" type="datetime1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8A588B-8EE2-28BC-48EA-8B9B0CBDDE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B4F34A-A39E-23CC-FAEC-C3E874B5CD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8302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89AE7EF-F87D-9C21-C4BB-171C8D9B5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F3D3E9-FE54-B7B5-61E8-7471036E4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A6B583-F9AA-8EDA-E541-C152443147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801001-B58D-4742-9CFA-41515D63C199}" type="datetime1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8A588B-8EE2-28BC-48EA-8B9B0CBDDE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B4F34A-A39E-23CC-FAEC-C3E874B5CD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2563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slide" Target="slide8.xml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w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slide" Target="slide27.xml"/><Relationship Id="rId1" Type="http://schemas.openxmlformats.org/officeDocument/2006/relationships/slideLayout" Target="../slideLayouts/slideLayout7.xml"/><Relationship Id="rId4" Type="http://schemas.openxmlformats.org/officeDocument/2006/relationships/slide" Target="slide3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0.emf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endParaRPr lang="zh-CN" altLang="en-US" dirty="0">
              <a:latin typeface="+mj-lt"/>
              <a:ea typeface="+mj-ea"/>
              <a:cs typeface="+mj-cs"/>
            </a:endParaRPr>
          </a:p>
        </p:txBody>
      </p:sp>
      <p:sp>
        <p:nvSpPr>
          <p:cNvPr id="517122" name="Rectangle 2"/>
          <p:cNvSpPr>
            <a:spLocks noGrp="1" noChangeArrowheads="1"/>
          </p:cNvSpPr>
          <p:nvPr>
            <p:ph idx="1"/>
          </p:nvPr>
        </p:nvSpPr>
        <p:spPr>
          <a:xfrm>
            <a:off x="2279650" y="2924176"/>
            <a:ext cx="7772400" cy="2735263"/>
          </a:xfr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algn="ctr" eaLnBrk="1" hangingPunct="1">
              <a:spcBef>
                <a:spcPct val="0"/>
              </a:spcBef>
              <a:buNone/>
              <a:defRPr/>
            </a:pPr>
            <a:r>
              <a:rPr kumimoji="1" lang="zh-CN" altLang="en-US" sz="8000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第</a:t>
            </a:r>
            <a:r>
              <a:rPr kumimoji="1" lang="en-US" altLang="zh-CN" sz="8000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4</a:t>
            </a:r>
            <a:r>
              <a:rPr kumimoji="1" lang="zh-CN" altLang="en-US" sz="8000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章 串</a:t>
            </a: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>
            <a:normAutofit/>
          </a:bodyPr>
          <a:lstStyle/>
          <a:p>
            <a:pPr eaLnBrk="1" hangingPunct="1"/>
            <a:r>
              <a:rPr lang="en-US" altLang="zh-CN" sz="6000" dirty="0">
                <a:latin typeface="+mj-lt"/>
                <a:ea typeface="+mj-ea"/>
                <a:cs typeface="+mj-cs"/>
              </a:rPr>
              <a:t>outline</a:t>
            </a:r>
            <a:endParaRPr lang="zh-CN" altLang="en-US" sz="6000" dirty="0">
              <a:latin typeface="+mj-lt"/>
              <a:ea typeface="+mj-ea"/>
              <a:cs typeface="+mj-cs"/>
            </a:endParaRPr>
          </a:p>
        </p:txBody>
      </p:sp>
      <p:sp>
        <p:nvSpPr>
          <p:cNvPr id="5123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>
            <a:normAutofit/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 sz="4400" dirty="0"/>
              <a:t>串的定义与实现</a:t>
            </a:r>
            <a:endParaRPr lang="en-US" altLang="zh-CN" sz="4400" dirty="0"/>
          </a:p>
          <a:p>
            <a:pPr eaLnBrk="1" hangingPunct="1">
              <a:lnSpc>
                <a:spcPct val="150000"/>
              </a:lnSpc>
            </a:pPr>
            <a:r>
              <a:rPr lang="zh-CN" altLang="en-US" sz="4400" dirty="0"/>
              <a:t>字符串模式匹配算法</a:t>
            </a: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/>
          <p:cNvSpPr>
            <a:spLocks noGrp="1"/>
          </p:cNvSpPr>
          <p:nvPr>
            <p:ph type="title"/>
          </p:nvPr>
        </p:nvSpPr>
        <p:spPr>
          <a:xfrm>
            <a:off x="838200" y="99216"/>
            <a:ext cx="10515600" cy="1325563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dirty="0">
                <a:latin typeface="+mj-lt"/>
                <a:ea typeface="+mj-ea"/>
                <a:cs typeface="+mj-cs"/>
              </a:rPr>
              <a:t>串的基本概念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5400" y="1449928"/>
            <a:ext cx="11233248" cy="4970463"/>
          </a:xfrm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eaLnBrk="1" hangingPunct="1">
              <a:spcBef>
                <a:spcPts val="0"/>
              </a:spcBef>
              <a:defRPr/>
            </a:pPr>
            <a:r>
              <a:rPr kumimoji="1" lang="zh-CN" altLang="en-US" sz="3200" dirty="0"/>
              <a:t>描述各种信息的文字符号序列，称为字符串，简称串</a:t>
            </a:r>
            <a:endParaRPr kumimoji="1" lang="en-US" altLang="zh-CN" sz="3200" dirty="0"/>
          </a:p>
          <a:p>
            <a:pPr eaLnBrk="1" hangingPunct="1">
              <a:spcBef>
                <a:spcPts val="0"/>
              </a:spcBef>
              <a:defRPr/>
            </a:pPr>
            <a:endParaRPr kumimoji="1" lang="en-US" altLang="zh-CN" sz="3200" dirty="0"/>
          </a:p>
          <a:p>
            <a:pPr marL="0" indent="0" eaLnBrk="1" hangingPunct="1">
              <a:lnSpc>
                <a:spcPct val="110000"/>
              </a:lnSpc>
              <a:spcBef>
                <a:spcPts val="0"/>
              </a:spcBef>
              <a:defRPr/>
            </a:pPr>
            <a:r>
              <a:rPr kumimoji="1" lang="zh-CN" altLang="en-US" sz="3200" dirty="0">
                <a:solidFill>
                  <a:srgbClr val="FF0000"/>
                </a:solidFill>
                <a:latin typeface="宋体" panose="02010600030101010101" pitchFamily="2" charset="-122"/>
              </a:rPr>
              <a:t>串</a:t>
            </a:r>
            <a:r>
              <a:rPr kumimoji="1" lang="en-US" altLang="zh-CN" sz="3200" dirty="0">
                <a:solidFill>
                  <a:srgbClr val="FF0000"/>
                </a:solidFill>
                <a:latin typeface="宋体" panose="02010600030101010101" pitchFamily="2" charset="-122"/>
              </a:rPr>
              <a:t>(</a:t>
            </a:r>
            <a:r>
              <a:rPr kumimoji="1" lang="zh-CN" altLang="en-US" sz="3200" dirty="0">
                <a:solidFill>
                  <a:srgbClr val="FF0000"/>
                </a:solidFill>
                <a:latin typeface="宋体" panose="02010600030101010101" pitchFamily="2" charset="-122"/>
              </a:rPr>
              <a:t>字符串</a:t>
            </a:r>
            <a:r>
              <a:rPr kumimoji="1" lang="en-US" altLang="zh-CN" sz="3200" dirty="0">
                <a:solidFill>
                  <a:srgbClr val="FF0000"/>
                </a:solidFill>
                <a:latin typeface="宋体" panose="02010600030101010101" pitchFamily="2" charset="-122"/>
              </a:rPr>
              <a:t>)</a:t>
            </a:r>
            <a:r>
              <a:rPr kumimoji="1" lang="zh-CN" altLang="en-US" sz="3200" dirty="0">
                <a:latin typeface="宋体" panose="02010600030101010101" pitchFamily="2" charset="-122"/>
              </a:rPr>
              <a:t>：是零个或多个字符组成的有限序列。记作： </a:t>
            </a:r>
            <a:r>
              <a:rPr kumimoji="1" lang="en-US" altLang="zh-CN" sz="3200" dirty="0"/>
              <a:t>S=</a:t>
            </a:r>
            <a:r>
              <a:rPr kumimoji="1" lang="en-US" altLang="zh-CN" sz="3200" dirty="0">
                <a:latin typeface="Arial" panose="020B0604020202020204"/>
              </a:rPr>
              <a:t>‘</a:t>
            </a:r>
            <a:r>
              <a:rPr kumimoji="1" lang="en-US" altLang="zh-CN" sz="3200" dirty="0"/>
              <a:t>a</a:t>
            </a:r>
            <a:r>
              <a:rPr kumimoji="1" lang="en-US" altLang="zh-CN" sz="3200" baseline="-20000" dirty="0"/>
              <a:t>1</a:t>
            </a:r>
            <a:r>
              <a:rPr kumimoji="1" lang="en-US" altLang="zh-CN" sz="3200" dirty="0"/>
              <a:t>a</a:t>
            </a:r>
            <a:r>
              <a:rPr kumimoji="1" lang="en-US" altLang="zh-CN" sz="3200" baseline="-20000" dirty="0"/>
              <a:t>2</a:t>
            </a:r>
            <a:r>
              <a:rPr kumimoji="1" lang="en-US" altLang="zh-CN" sz="3200" dirty="0">
                <a:latin typeface="Arial" panose="020B0604020202020204"/>
              </a:rPr>
              <a:t>…</a:t>
            </a:r>
            <a:r>
              <a:rPr kumimoji="1" lang="en-US" altLang="zh-CN" sz="3200" noProof="0" dirty="0">
                <a:ln>
                  <a:noFill/>
                </a:ln>
                <a:effectLst/>
                <a:uLnTx/>
                <a:uFillTx/>
                <a:sym typeface="+mn-ea"/>
              </a:rPr>
              <a:t>a</a:t>
            </a:r>
            <a:r>
              <a:rPr kumimoji="1" lang="en-US" altLang="zh-CN" sz="3200" baseline="-25000" noProof="0" dirty="0">
                <a:ln>
                  <a:noFill/>
                </a:ln>
                <a:effectLst/>
                <a:uLnTx/>
                <a:uFillTx/>
                <a:sym typeface="+mn-ea"/>
              </a:rPr>
              <a:t>n</a:t>
            </a:r>
            <a:r>
              <a:rPr kumimoji="1" lang="en-US" altLang="zh-CN" sz="3200" dirty="0">
                <a:latin typeface="Arial" panose="020B0604020202020204"/>
              </a:rPr>
              <a:t>’</a:t>
            </a:r>
            <a:r>
              <a:rPr kumimoji="1" lang="zh-CN" altLang="en-US" sz="3200" dirty="0">
                <a:latin typeface="宋体" panose="02010600030101010101" pitchFamily="2" charset="-122"/>
              </a:rPr>
              <a:t>，其中</a:t>
            </a:r>
            <a:r>
              <a:rPr kumimoji="1" lang="en-US" altLang="zh-CN" sz="3200" dirty="0"/>
              <a:t>S</a:t>
            </a:r>
            <a:r>
              <a:rPr kumimoji="1" lang="zh-CN" altLang="en-US" sz="3200" dirty="0">
                <a:latin typeface="宋体" panose="02010600030101010101" pitchFamily="2" charset="-122"/>
              </a:rPr>
              <a:t>是串名，</a:t>
            </a:r>
            <a:r>
              <a:rPr kumimoji="1" lang="en-US" altLang="zh-CN" sz="3200" dirty="0" err="1"/>
              <a:t>a</a:t>
            </a:r>
            <a:r>
              <a:rPr kumimoji="1" lang="en-US" altLang="zh-CN" sz="3200" baseline="-20000" dirty="0" err="1"/>
              <a:t>i</a:t>
            </a:r>
            <a:r>
              <a:rPr kumimoji="1" lang="en-US" altLang="zh-CN" sz="3200" dirty="0"/>
              <a:t>(1≦i≦n)</a:t>
            </a:r>
            <a:r>
              <a:rPr kumimoji="1" lang="zh-CN" altLang="en-US" sz="3200" dirty="0"/>
              <a:t>是单个字符，</a:t>
            </a:r>
            <a:r>
              <a:rPr kumimoji="1" lang="zh-CN" altLang="en-US" sz="3200" dirty="0">
                <a:latin typeface="宋体" panose="02010600030101010101" pitchFamily="2" charset="-122"/>
              </a:rPr>
              <a:t>可以是字母、数字或其它字符。</a:t>
            </a:r>
          </a:p>
          <a:p>
            <a:pPr marL="400050" lvl="1" indent="0" eaLnBrk="1" hangingPunct="1">
              <a:lnSpc>
                <a:spcPct val="110000"/>
              </a:lnSpc>
              <a:spcBef>
                <a:spcPts val="0"/>
              </a:spcBef>
              <a:defRPr/>
            </a:pPr>
            <a:r>
              <a:rPr kumimoji="1" lang="zh-CN" altLang="en-US" sz="2800" dirty="0">
                <a:solidFill>
                  <a:srgbClr val="FF0000"/>
                </a:solidFill>
                <a:latin typeface="宋体" panose="02010600030101010101" pitchFamily="2" charset="-122"/>
              </a:rPr>
              <a:t>串值</a:t>
            </a:r>
            <a:r>
              <a:rPr kumimoji="1" lang="zh-CN" altLang="en-US" sz="2800" dirty="0">
                <a:latin typeface="宋体" panose="02010600030101010101" pitchFamily="2" charset="-122"/>
              </a:rPr>
              <a:t>：引号括起来的字符序列是串值。</a:t>
            </a:r>
          </a:p>
          <a:p>
            <a:pPr marL="400050" lvl="1" indent="0" eaLnBrk="1" hangingPunct="1">
              <a:lnSpc>
                <a:spcPct val="110000"/>
              </a:lnSpc>
              <a:spcBef>
                <a:spcPts val="0"/>
              </a:spcBef>
              <a:defRPr/>
            </a:pPr>
            <a:r>
              <a:rPr kumimoji="1" lang="zh-CN" altLang="en-US" sz="2800" dirty="0">
                <a:solidFill>
                  <a:srgbClr val="FF0000"/>
                </a:solidFill>
                <a:latin typeface="宋体" panose="02010600030101010101" pitchFamily="2" charset="-122"/>
              </a:rPr>
              <a:t>串长</a:t>
            </a:r>
            <a:r>
              <a:rPr kumimoji="1" lang="zh-CN" altLang="en-US" sz="2800" dirty="0">
                <a:latin typeface="宋体" panose="02010600030101010101" pitchFamily="2" charset="-122"/>
              </a:rPr>
              <a:t>：串中所包含的字符个数称为该串的长度。</a:t>
            </a:r>
          </a:p>
          <a:p>
            <a:pPr marL="400050" lvl="1" indent="0" eaLnBrk="1" hangingPunct="1">
              <a:lnSpc>
                <a:spcPct val="110000"/>
              </a:lnSpc>
              <a:spcBef>
                <a:spcPts val="0"/>
              </a:spcBef>
              <a:defRPr/>
            </a:pPr>
            <a:r>
              <a:rPr kumimoji="1" lang="zh-CN" altLang="en-US" sz="2800" dirty="0">
                <a:solidFill>
                  <a:srgbClr val="FF0000"/>
                </a:solidFill>
                <a:latin typeface="宋体" panose="02010600030101010101" pitchFamily="2" charset="-122"/>
              </a:rPr>
              <a:t>空串</a:t>
            </a:r>
            <a:r>
              <a:rPr kumimoji="1" lang="en-US" altLang="zh-CN" sz="2800" dirty="0">
                <a:solidFill>
                  <a:srgbClr val="FF0000"/>
                </a:solidFill>
                <a:latin typeface="宋体" panose="02010600030101010101" pitchFamily="2" charset="-122"/>
              </a:rPr>
              <a:t>(</a:t>
            </a:r>
            <a:r>
              <a:rPr kumimoji="1" lang="zh-CN" altLang="en-US" sz="2800" dirty="0">
                <a:solidFill>
                  <a:srgbClr val="FF0000"/>
                </a:solidFill>
                <a:latin typeface="宋体" panose="02010600030101010101" pitchFamily="2" charset="-122"/>
              </a:rPr>
              <a:t>空的字符串</a:t>
            </a:r>
            <a:r>
              <a:rPr kumimoji="1" lang="en-US" altLang="zh-CN" sz="2800" dirty="0">
                <a:solidFill>
                  <a:srgbClr val="FF0000"/>
                </a:solidFill>
                <a:latin typeface="宋体" panose="02010600030101010101" pitchFamily="2" charset="-122"/>
              </a:rPr>
              <a:t>)</a:t>
            </a:r>
            <a:r>
              <a:rPr kumimoji="1" lang="zh-CN" altLang="en-US" sz="2800" dirty="0">
                <a:latin typeface="宋体" panose="02010600030101010101" pitchFamily="2" charset="-122"/>
              </a:rPr>
              <a:t>：长度为零的串称为空串，它不包含任何字符。</a:t>
            </a:r>
          </a:p>
          <a:p>
            <a:pPr marL="400050" lvl="1" indent="0" eaLnBrk="1" hangingPunct="1">
              <a:lnSpc>
                <a:spcPct val="110000"/>
              </a:lnSpc>
              <a:spcBef>
                <a:spcPts val="0"/>
              </a:spcBef>
              <a:defRPr/>
            </a:pPr>
            <a:r>
              <a:rPr kumimoji="1" lang="zh-CN" altLang="en-US" sz="2800" dirty="0">
                <a:solidFill>
                  <a:srgbClr val="FF0000"/>
                </a:solidFill>
                <a:latin typeface="宋体" panose="02010600030101010101" pitchFamily="2" charset="-122"/>
              </a:rPr>
              <a:t>空格串</a:t>
            </a:r>
            <a:r>
              <a:rPr kumimoji="1" lang="en-US" altLang="zh-CN" sz="2800" dirty="0">
                <a:solidFill>
                  <a:srgbClr val="FF0000"/>
                </a:solidFill>
                <a:latin typeface="宋体" panose="02010600030101010101" pitchFamily="2" charset="-122"/>
              </a:rPr>
              <a:t>(</a:t>
            </a:r>
            <a:r>
              <a:rPr kumimoji="1" lang="zh-CN" altLang="en-US" sz="2800" dirty="0">
                <a:solidFill>
                  <a:srgbClr val="FF0000"/>
                </a:solidFill>
                <a:latin typeface="宋体" panose="02010600030101010101" pitchFamily="2" charset="-122"/>
              </a:rPr>
              <a:t>空白串</a:t>
            </a:r>
            <a:r>
              <a:rPr kumimoji="1" lang="en-US" altLang="zh-CN" sz="2800" dirty="0">
                <a:solidFill>
                  <a:srgbClr val="FF0000"/>
                </a:solidFill>
                <a:latin typeface="宋体" panose="02010600030101010101" pitchFamily="2" charset="-122"/>
              </a:rPr>
              <a:t>)</a:t>
            </a:r>
            <a:r>
              <a:rPr kumimoji="1" lang="zh-CN" altLang="en-US" sz="2800" dirty="0">
                <a:latin typeface="宋体" panose="02010600030101010101" pitchFamily="2" charset="-122"/>
              </a:rPr>
              <a:t>：构成串的所有字符都是空格的串称为空白串。</a:t>
            </a:r>
            <a:r>
              <a:rPr kumimoji="1" lang="en-US" altLang="zh-CN" sz="2800" dirty="0">
                <a:latin typeface="楷体_GB2312" pitchFamily="49" charset="-122"/>
                <a:ea typeface="楷体_GB2312" pitchFamily="49" charset="-122"/>
              </a:rPr>
              <a:t> (n</a:t>
            </a:r>
            <a:r>
              <a:rPr kumimoji="1" lang="zh-CN" altLang="en-US" sz="2800" dirty="0">
                <a:latin typeface="楷体_GB2312" pitchFamily="49" charset="-122"/>
                <a:ea typeface="楷体_GB2312" pitchFamily="49" charset="-122"/>
              </a:rPr>
              <a:t>不为</a:t>
            </a:r>
            <a:r>
              <a:rPr kumimoji="1" lang="en-US" altLang="zh-CN" sz="2800" dirty="0">
                <a:latin typeface="楷体_GB2312" pitchFamily="49" charset="-122"/>
                <a:ea typeface="楷体_GB2312" pitchFamily="49" charset="-122"/>
              </a:rPr>
              <a:t>0)</a:t>
            </a:r>
            <a:endParaRPr kumimoji="1" lang="en-US" altLang="zh-CN" sz="2800" dirty="0">
              <a:latin typeface="宋体" panose="02010600030101010101" pitchFamily="2" charset="-122"/>
            </a:endParaRPr>
          </a:p>
          <a:p>
            <a:pPr marL="400050" lvl="1" indent="0" eaLnBrk="1" hangingPunct="1">
              <a:lnSpc>
                <a:spcPct val="110000"/>
              </a:lnSpc>
              <a:spcBef>
                <a:spcPts val="0"/>
              </a:spcBef>
              <a:defRPr/>
            </a:pPr>
            <a:r>
              <a:rPr kumimoji="1" lang="zh-CN" altLang="en-US" sz="2800" dirty="0">
                <a:solidFill>
                  <a:srgbClr val="008000"/>
                </a:solidFill>
                <a:latin typeface="宋体" panose="02010600030101010101" pitchFamily="2" charset="-122"/>
              </a:rPr>
              <a:t>空串</a:t>
            </a:r>
            <a:r>
              <a:rPr kumimoji="1" lang="en-US" altLang="zh-CN" sz="2800" dirty="0">
                <a:solidFill>
                  <a:srgbClr val="008000"/>
                </a:solidFill>
                <a:latin typeface="宋体" panose="02010600030101010101" pitchFamily="2" charset="-122"/>
              </a:rPr>
              <a:t>=</a:t>
            </a:r>
            <a:r>
              <a:rPr kumimoji="1" lang="zh-CN" altLang="en-US" sz="2800" dirty="0">
                <a:solidFill>
                  <a:srgbClr val="008000"/>
                </a:solidFill>
                <a:latin typeface="宋体" panose="02010600030101010101" pitchFamily="2" charset="-122"/>
              </a:rPr>
              <a:t>？空格串</a:t>
            </a:r>
          </a:p>
          <a:p>
            <a:pPr eaLnBrk="1" hangingPunct="1">
              <a:spcBef>
                <a:spcPts val="0"/>
              </a:spcBef>
              <a:defRPr/>
            </a:pPr>
            <a:endParaRPr kumimoji="1" lang="en-US" altLang="zh-CN" sz="3200" dirty="0"/>
          </a:p>
          <a:p>
            <a:pPr eaLnBrk="1" hangingPunct="1">
              <a:spcBef>
                <a:spcPts val="0"/>
              </a:spcBef>
              <a:defRPr/>
            </a:pPr>
            <a:endParaRPr kumimoji="1" lang="en-US" altLang="zh-CN" sz="3200" dirty="0"/>
          </a:p>
          <a:p>
            <a:pPr eaLnBrk="1" hangingPunct="1">
              <a:spcBef>
                <a:spcPts val="0"/>
              </a:spcBef>
              <a:defRPr/>
            </a:pPr>
            <a:endParaRPr kumimoji="1" lang="zh-CN" altLang="en-US" sz="3200" dirty="0"/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01" end="1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20" end="1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42" end="1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73" end="2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10" end="2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549276"/>
            <a:ext cx="11521280" cy="5546725"/>
          </a:xfrm>
        </p:spPr>
        <p:txBody>
          <a:bodyPr vert="horz" wrap="square" lIns="91440" tIns="45720" rIns="91440" bIns="45720" anchor="t" anchorCtr="0">
            <a:normAutofit/>
          </a:bodyPr>
          <a:lstStyle/>
          <a:p>
            <a:pPr marL="0" indent="0" eaLnBrk="1" hangingPunct="1">
              <a:lnSpc>
                <a:spcPct val="110000"/>
              </a:lnSpc>
            </a:pPr>
            <a:r>
              <a:rPr lang="zh-CN" altLang="en-US" dirty="0">
                <a:solidFill>
                  <a:srgbClr val="008000"/>
                </a:solidFill>
                <a:latin typeface="宋体" panose="02010600030101010101" pitchFamily="2" charset="-122"/>
              </a:rPr>
              <a:t>子串</a:t>
            </a:r>
            <a:r>
              <a:rPr lang="en-US" altLang="zh-CN" dirty="0">
                <a:latin typeface="宋体" panose="02010600030101010101" pitchFamily="2" charset="-122"/>
              </a:rPr>
              <a:t>(</a:t>
            </a:r>
            <a:r>
              <a:rPr lang="en-US" altLang="zh-CN" dirty="0">
                <a:solidFill>
                  <a:srgbClr val="008000"/>
                </a:solidFill>
              </a:rPr>
              <a:t>substring</a:t>
            </a:r>
            <a:r>
              <a:rPr lang="en-US" altLang="zh-CN" dirty="0">
                <a:latin typeface="宋体" panose="02010600030101010101" pitchFamily="2" charset="-122"/>
              </a:rPr>
              <a:t>)</a:t>
            </a:r>
            <a:r>
              <a:rPr lang="zh-CN" altLang="en-US" dirty="0">
                <a:latin typeface="宋体" panose="02010600030101010101" pitchFamily="2" charset="-122"/>
              </a:rPr>
              <a:t>：串中任意个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连续字符</a:t>
            </a:r>
            <a:r>
              <a:rPr lang="zh-CN" altLang="en-US" dirty="0">
                <a:latin typeface="宋体" panose="02010600030101010101" pitchFamily="2" charset="-122"/>
              </a:rPr>
              <a:t>组成的子序列称为该串的子串，包含子串的串相应地称为</a:t>
            </a:r>
            <a:r>
              <a:rPr lang="zh-CN" altLang="en-US" dirty="0">
                <a:solidFill>
                  <a:srgbClr val="008000"/>
                </a:solidFill>
                <a:latin typeface="宋体" panose="02010600030101010101" pitchFamily="2" charset="-122"/>
              </a:rPr>
              <a:t>主串</a:t>
            </a:r>
            <a:endParaRPr lang="en-US" altLang="zh-CN" dirty="0">
              <a:solidFill>
                <a:srgbClr val="008000"/>
              </a:solidFill>
              <a:latin typeface="宋体" panose="02010600030101010101" pitchFamily="2" charset="-122"/>
            </a:endParaRPr>
          </a:p>
          <a:p>
            <a:pPr marL="400050" lvl="1" indent="0" eaLnBrk="1" hangingPunct="1">
              <a:lnSpc>
                <a:spcPct val="110000"/>
              </a:lnSpc>
            </a:pPr>
            <a:r>
              <a:rPr lang="zh-CN" altLang="en-US" dirty="0">
                <a:latin typeface="宋体" panose="02010600030101010101" pitchFamily="2" charset="-122"/>
              </a:rPr>
              <a:t>空串是任意串的子串，任意串是其自身的子串。</a:t>
            </a:r>
          </a:p>
          <a:p>
            <a:pPr marL="0" indent="0" eaLnBrk="1" hangingPunct="1">
              <a:lnSpc>
                <a:spcPct val="110000"/>
              </a:lnSpc>
            </a:pPr>
            <a:r>
              <a:rPr lang="zh-CN" altLang="en-US" dirty="0">
                <a:solidFill>
                  <a:srgbClr val="008000"/>
                </a:solidFill>
                <a:latin typeface="宋体" panose="02010600030101010101" pitchFamily="2" charset="-122"/>
              </a:rPr>
              <a:t>子串的序号</a:t>
            </a:r>
            <a:r>
              <a:rPr lang="zh-CN" altLang="en-US" dirty="0">
                <a:latin typeface="宋体" panose="02010600030101010101" pitchFamily="2" charset="-122"/>
              </a:rPr>
              <a:t>：将子串在主串中首次出现时的该子串的首字符对应在主串中的序号，称为子串在主串中的序号（或位置）</a:t>
            </a:r>
            <a:endParaRPr lang="en-US" altLang="zh-CN" dirty="0">
              <a:latin typeface="宋体" panose="02010600030101010101" pitchFamily="2" charset="-122"/>
            </a:endParaRPr>
          </a:p>
          <a:p>
            <a:pPr marL="0" indent="0" eaLnBrk="1" hangingPunct="1">
              <a:lnSpc>
                <a:spcPct val="110000"/>
              </a:lnSpc>
              <a:buNone/>
            </a:pPr>
            <a:endParaRPr lang="en-US" altLang="zh-CN" dirty="0">
              <a:latin typeface="宋体" panose="02010600030101010101" pitchFamily="2" charset="-122"/>
            </a:endParaRPr>
          </a:p>
          <a:p>
            <a:pPr marL="0" indent="0" eaLnBrk="1" hangingPunct="1">
              <a:lnSpc>
                <a:spcPct val="110000"/>
              </a:lnSpc>
              <a:buNone/>
            </a:pPr>
            <a:r>
              <a:rPr lang="zh-CN" altLang="en-US" dirty="0"/>
              <a:t>设有串</a:t>
            </a:r>
            <a:r>
              <a:rPr lang="en-US" altLang="zh-CN" dirty="0"/>
              <a:t>A</a:t>
            </a:r>
            <a:r>
              <a:rPr lang="zh-CN" altLang="en-US" dirty="0"/>
              <a:t>和</a:t>
            </a:r>
            <a:r>
              <a:rPr lang="en-US" altLang="zh-CN" dirty="0"/>
              <a:t>B</a:t>
            </a:r>
            <a:r>
              <a:rPr lang="zh-CN" altLang="en-US" dirty="0"/>
              <a:t>分别是：</a:t>
            </a:r>
          </a:p>
          <a:p>
            <a:pPr marL="0" indent="0" eaLnBrk="1" hangingPunct="1">
              <a:lnSpc>
                <a:spcPct val="110000"/>
              </a:lnSpc>
              <a:buNone/>
            </a:pPr>
            <a:r>
              <a:rPr lang="zh-CN" altLang="en-US" dirty="0"/>
              <a:t>     </a:t>
            </a:r>
            <a:r>
              <a:rPr lang="en-US" altLang="zh-CN" dirty="0"/>
              <a:t>A=</a:t>
            </a:r>
            <a:r>
              <a:rPr lang="en-US" altLang="zh-CN" dirty="0">
                <a:latin typeface="Arial" panose="020B0604020202020204" pitchFamily="34" charset="0"/>
              </a:rPr>
              <a:t>“</a:t>
            </a:r>
            <a:r>
              <a:rPr lang="zh-CN" altLang="en-US" dirty="0">
                <a:latin typeface="Arial" panose="020B0604020202020204" pitchFamily="34" charset="0"/>
              </a:rPr>
              <a:t>福建师范大学”</a:t>
            </a:r>
            <a:r>
              <a:rPr lang="zh-CN" altLang="en-US" dirty="0"/>
              <a:t>，</a:t>
            </a:r>
            <a:r>
              <a:rPr lang="en-US" altLang="zh-CN" dirty="0"/>
              <a:t>B=</a:t>
            </a:r>
            <a:r>
              <a:rPr lang="en-US" altLang="zh-CN" dirty="0">
                <a:latin typeface="Arial" panose="020B0604020202020204" pitchFamily="34" charset="0"/>
              </a:rPr>
              <a:t>“</a:t>
            </a:r>
            <a:r>
              <a:rPr lang="zh-CN" altLang="en-US" dirty="0">
                <a:latin typeface="Arial" panose="020B0604020202020204" pitchFamily="34" charset="0"/>
              </a:rPr>
              <a:t>大学”</a:t>
            </a:r>
            <a:endParaRPr lang="zh-CN" altLang="en-US" dirty="0"/>
          </a:p>
          <a:p>
            <a:pPr marL="0" indent="0" eaLnBrk="1" hangingPunct="1">
              <a:lnSpc>
                <a:spcPct val="110000"/>
              </a:lnSpc>
              <a:buNone/>
            </a:pPr>
            <a:r>
              <a:rPr lang="zh-CN" altLang="en-US" dirty="0"/>
              <a:t>则</a:t>
            </a:r>
            <a:r>
              <a:rPr lang="en-US" altLang="zh-CN" dirty="0"/>
              <a:t>B</a:t>
            </a:r>
            <a:r>
              <a:rPr lang="zh-CN" altLang="en-US" dirty="0"/>
              <a:t>是</a:t>
            </a:r>
            <a:r>
              <a:rPr lang="en-US" altLang="zh-CN" dirty="0"/>
              <a:t>A</a:t>
            </a:r>
            <a:r>
              <a:rPr lang="zh-CN" altLang="en-US" dirty="0"/>
              <a:t>的子串，</a:t>
            </a:r>
            <a:r>
              <a:rPr lang="en-US" altLang="zh-CN" dirty="0"/>
              <a:t>A</a:t>
            </a:r>
            <a:r>
              <a:rPr lang="zh-CN" altLang="en-US" dirty="0"/>
              <a:t>为主串。</a:t>
            </a:r>
            <a:endParaRPr lang="en-US" altLang="zh-CN" dirty="0"/>
          </a:p>
          <a:p>
            <a:pPr marL="0" indent="0" eaLnBrk="1" hangingPunct="1">
              <a:lnSpc>
                <a:spcPct val="110000"/>
              </a:lnSpc>
              <a:buNone/>
            </a:pPr>
            <a:r>
              <a:rPr lang="en-US" altLang="zh-CN" dirty="0"/>
              <a:t>B</a:t>
            </a:r>
            <a:r>
              <a:rPr lang="zh-CN" altLang="en-US" dirty="0"/>
              <a:t>在</a:t>
            </a:r>
            <a:r>
              <a:rPr lang="en-US" altLang="zh-CN" dirty="0"/>
              <a:t>A</a:t>
            </a:r>
            <a:r>
              <a:rPr lang="zh-CN" altLang="en-US" dirty="0"/>
              <a:t>中首次出现所对应的主串位置是</a:t>
            </a:r>
            <a:r>
              <a:rPr lang="en-US" altLang="zh-CN" dirty="0"/>
              <a:t>5</a:t>
            </a:r>
            <a:r>
              <a:rPr lang="zh-CN" altLang="en-US" dirty="0"/>
              <a:t>。因此，称</a:t>
            </a:r>
            <a:r>
              <a:rPr lang="en-US" altLang="zh-CN" dirty="0"/>
              <a:t>B</a:t>
            </a:r>
            <a:r>
              <a:rPr lang="zh-CN" altLang="en-US" dirty="0"/>
              <a:t>在</a:t>
            </a:r>
            <a:r>
              <a:rPr lang="en-US" altLang="zh-CN" dirty="0"/>
              <a:t>A</a:t>
            </a:r>
            <a:r>
              <a:rPr lang="zh-CN" altLang="en-US" dirty="0"/>
              <a:t>中的序号为</a:t>
            </a:r>
            <a:r>
              <a:rPr lang="en-US" altLang="zh-CN" dirty="0"/>
              <a:t>5</a:t>
            </a:r>
            <a:endParaRPr lang="zh-CN" altLang="en-US" dirty="0"/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38" end="1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59" end="1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charRg st="159" end="17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charRg st="159" end="17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73" end="2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charRg st="173" end="20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charRg st="173" end="20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endParaRPr lang="zh-CN" altLang="en-US" dirty="0">
              <a:latin typeface="+mj-lt"/>
              <a:ea typeface="+mj-ea"/>
              <a:cs typeface="+mj-cs"/>
            </a:endParaRPr>
          </a:p>
        </p:txBody>
      </p:sp>
      <p:sp>
        <p:nvSpPr>
          <p:cNvPr id="297987" name="Rectangle 3"/>
          <p:cNvSpPr>
            <a:spLocks noGrp="1"/>
          </p:cNvSpPr>
          <p:nvPr>
            <p:ph idx="1"/>
          </p:nvPr>
        </p:nvSpPr>
        <p:spPr>
          <a:xfrm>
            <a:off x="551384" y="1196976"/>
            <a:ext cx="10945216" cy="4824413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80000"/>
              </a:lnSpc>
              <a:buNone/>
            </a:pPr>
            <a:r>
              <a:rPr lang="zh-CN" altLang="en-US" sz="3200" dirty="0">
                <a:solidFill>
                  <a:schemeClr val="tx2"/>
                </a:solidFill>
                <a:latin typeface="楷体_GB2312" pitchFamily="49" charset="-122"/>
              </a:rPr>
              <a:t>串相等</a:t>
            </a:r>
            <a:endParaRPr lang="en-US" altLang="zh-CN" sz="3200" dirty="0">
              <a:solidFill>
                <a:schemeClr val="tx2"/>
              </a:solidFill>
              <a:latin typeface="楷体_GB2312" pitchFamily="49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endParaRPr lang="en-US" altLang="zh-CN" sz="3200" dirty="0">
              <a:solidFill>
                <a:schemeClr val="tx2"/>
              </a:solidFill>
              <a:latin typeface="楷体_GB2312" pitchFamily="49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3200" dirty="0">
                <a:latin typeface="楷体_GB2312" pitchFamily="49" charset="-122"/>
              </a:rPr>
              <a:t>设     </a:t>
            </a:r>
            <a:r>
              <a:rPr lang="en-US" altLang="zh-CN" sz="3200" dirty="0">
                <a:latin typeface="楷体_GB2312" pitchFamily="49" charset="-122"/>
              </a:rPr>
              <a:t>S</a:t>
            </a:r>
            <a:r>
              <a:rPr lang="en-US" altLang="zh-CN" sz="3200" baseline="-25000" dirty="0">
                <a:latin typeface="楷体_GB2312" pitchFamily="49" charset="-122"/>
              </a:rPr>
              <a:t>1</a:t>
            </a:r>
            <a:r>
              <a:rPr lang="en-US" altLang="zh-CN" sz="3200" dirty="0">
                <a:latin typeface="楷体_GB2312" pitchFamily="49" charset="-122"/>
              </a:rPr>
              <a:t>=</a:t>
            </a:r>
            <a:r>
              <a:rPr lang="en-US" altLang="zh-CN" sz="2400" dirty="0"/>
              <a:t>"</a:t>
            </a:r>
            <a:r>
              <a:rPr lang="en-US" altLang="zh-CN" sz="3200" dirty="0">
                <a:latin typeface="楷体_GB2312" pitchFamily="49" charset="-122"/>
              </a:rPr>
              <a:t>a</a:t>
            </a:r>
            <a:r>
              <a:rPr lang="en-US" altLang="zh-CN" sz="3200" baseline="-25000" dirty="0">
                <a:latin typeface="楷体_GB2312" pitchFamily="49" charset="-122"/>
              </a:rPr>
              <a:t>11</a:t>
            </a:r>
            <a:r>
              <a:rPr lang="en-US" altLang="zh-CN" sz="3200" dirty="0">
                <a:latin typeface="楷体_GB2312" pitchFamily="49" charset="-122"/>
              </a:rPr>
              <a:t>,</a:t>
            </a:r>
            <a:r>
              <a:rPr lang="en-US" altLang="zh-CN" sz="3200" dirty="0"/>
              <a:t>…</a:t>
            </a:r>
            <a:r>
              <a:rPr lang="en-US" altLang="zh-CN" sz="3200" dirty="0">
                <a:latin typeface="楷体_GB2312" pitchFamily="49" charset="-122"/>
              </a:rPr>
              <a:t>,a</a:t>
            </a:r>
            <a:r>
              <a:rPr lang="en-US" altLang="zh-CN" sz="3200" baseline="-25000" dirty="0">
                <a:latin typeface="楷体_GB2312" pitchFamily="49" charset="-122"/>
              </a:rPr>
              <a:t>1n</a:t>
            </a:r>
            <a:r>
              <a:rPr lang="en-US" altLang="zh-CN" sz="2400" dirty="0"/>
              <a:t>"</a:t>
            </a:r>
            <a:endParaRPr lang="en-US" altLang="zh-CN" sz="3200" dirty="0">
              <a:latin typeface="楷体_GB2312" pitchFamily="49" charset="-122"/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zh-CN" sz="3200" dirty="0">
                <a:latin typeface="楷体_GB2312" pitchFamily="49" charset="-122"/>
              </a:rPr>
              <a:t>        S</a:t>
            </a:r>
            <a:r>
              <a:rPr lang="en-US" altLang="zh-CN" sz="3200" baseline="-25000" dirty="0">
                <a:latin typeface="楷体_GB2312" pitchFamily="49" charset="-122"/>
              </a:rPr>
              <a:t>2</a:t>
            </a:r>
            <a:r>
              <a:rPr lang="en-US" altLang="zh-CN" sz="3200" dirty="0">
                <a:latin typeface="楷体_GB2312" pitchFamily="49" charset="-122"/>
              </a:rPr>
              <a:t>=</a:t>
            </a:r>
            <a:r>
              <a:rPr lang="en-US" altLang="zh-CN" sz="2400" dirty="0"/>
              <a:t>"</a:t>
            </a:r>
            <a:r>
              <a:rPr lang="en-US" altLang="zh-CN" sz="3200" dirty="0">
                <a:latin typeface="楷体_GB2312" pitchFamily="49" charset="-122"/>
              </a:rPr>
              <a:t>a</a:t>
            </a:r>
            <a:r>
              <a:rPr lang="en-US" altLang="zh-CN" sz="3200" baseline="-25000" dirty="0">
                <a:latin typeface="楷体_GB2312" pitchFamily="49" charset="-122"/>
              </a:rPr>
              <a:t>21</a:t>
            </a:r>
            <a:r>
              <a:rPr lang="en-US" altLang="zh-CN" sz="3200" dirty="0">
                <a:latin typeface="楷体_GB2312" pitchFamily="49" charset="-122"/>
              </a:rPr>
              <a:t>,</a:t>
            </a:r>
            <a:r>
              <a:rPr lang="en-US" altLang="zh-CN" sz="3200" dirty="0"/>
              <a:t>…</a:t>
            </a:r>
            <a:r>
              <a:rPr lang="en-US" altLang="zh-CN" sz="3200" dirty="0">
                <a:latin typeface="楷体_GB2312" pitchFamily="49" charset="-122"/>
              </a:rPr>
              <a:t>,a</a:t>
            </a:r>
            <a:r>
              <a:rPr lang="en-US" altLang="zh-CN" sz="3200" baseline="-25000" dirty="0">
                <a:latin typeface="楷体_GB2312" pitchFamily="49" charset="-122"/>
              </a:rPr>
              <a:t>2n</a:t>
            </a:r>
            <a:r>
              <a:rPr lang="en-US" altLang="zh-CN" sz="2400" dirty="0"/>
              <a:t> "</a:t>
            </a:r>
          </a:p>
          <a:p>
            <a:pPr eaLnBrk="1" hangingPunct="1">
              <a:lnSpc>
                <a:spcPct val="80000"/>
              </a:lnSpc>
              <a:buNone/>
            </a:pPr>
            <a:endParaRPr lang="en-US" altLang="zh-CN" sz="3200" dirty="0">
              <a:latin typeface="楷体_GB2312" pitchFamily="49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3200" dirty="0">
                <a:latin typeface="楷体_GB2312" pitchFamily="49" charset="-122"/>
              </a:rPr>
              <a:t>      </a:t>
            </a:r>
            <a:r>
              <a:rPr lang="zh-CN" altLang="en-US" sz="3200" dirty="0">
                <a:latin typeface="楷体_GB2312" pitchFamily="49" charset="-122"/>
              </a:rPr>
              <a:t>若 </a:t>
            </a:r>
            <a:r>
              <a:rPr lang="en-US" altLang="zh-CN" sz="3200" dirty="0">
                <a:latin typeface="楷体_GB2312" pitchFamily="49" charset="-122"/>
              </a:rPr>
              <a:t>1n=2n</a:t>
            </a:r>
            <a:r>
              <a:rPr lang="zh-CN" altLang="en-US" sz="3200" dirty="0">
                <a:latin typeface="楷体_GB2312" pitchFamily="49" charset="-122"/>
              </a:rPr>
              <a:t>且</a:t>
            </a:r>
            <a:r>
              <a:rPr lang="en-US" altLang="zh-CN" sz="3200" dirty="0">
                <a:latin typeface="楷体_GB2312" pitchFamily="49" charset="-122"/>
              </a:rPr>
              <a:t>a</a:t>
            </a:r>
            <a:r>
              <a:rPr lang="en-US" altLang="zh-CN" sz="3200" baseline="-25000" dirty="0">
                <a:latin typeface="楷体_GB2312" pitchFamily="49" charset="-122"/>
              </a:rPr>
              <a:t>1i</a:t>
            </a:r>
            <a:r>
              <a:rPr lang="en-US" altLang="zh-CN" sz="3200" dirty="0">
                <a:latin typeface="楷体_GB2312" pitchFamily="49" charset="-122"/>
              </a:rPr>
              <a:t>=a</a:t>
            </a:r>
            <a:r>
              <a:rPr lang="en-US" altLang="zh-CN" sz="3200" baseline="-25000" dirty="0">
                <a:latin typeface="楷体_GB2312" pitchFamily="49" charset="-122"/>
              </a:rPr>
              <a:t>2i</a:t>
            </a:r>
            <a:r>
              <a:rPr lang="zh-CN" altLang="en-US" sz="3200" dirty="0">
                <a:latin typeface="楷体_GB2312" pitchFamily="49" charset="-122"/>
              </a:rPr>
              <a:t>（</a:t>
            </a:r>
            <a:r>
              <a:rPr lang="en-US" altLang="zh-CN" sz="3200" dirty="0">
                <a:latin typeface="楷体_GB2312" pitchFamily="49" charset="-122"/>
              </a:rPr>
              <a:t>1</a:t>
            </a:r>
            <a:r>
              <a:rPr lang="en-US" altLang="zh-CN" sz="3600" dirty="0">
                <a:latin typeface="楷体_GB2312" pitchFamily="49" charset="-122"/>
              </a:rPr>
              <a:t>≤</a:t>
            </a:r>
            <a:r>
              <a:rPr lang="en-US" altLang="zh-CN" sz="3200" dirty="0">
                <a:latin typeface="楷体_GB2312" pitchFamily="49" charset="-122"/>
              </a:rPr>
              <a:t>i</a:t>
            </a:r>
            <a:r>
              <a:rPr lang="en-US" altLang="zh-CN" sz="3600" dirty="0">
                <a:latin typeface="楷体_GB2312" pitchFamily="49" charset="-122"/>
              </a:rPr>
              <a:t>≤1n</a:t>
            </a:r>
            <a:r>
              <a:rPr lang="en-US" altLang="zh-CN" sz="3200" dirty="0">
                <a:latin typeface="楷体_GB2312" pitchFamily="49" charset="-122"/>
              </a:rPr>
              <a:t>)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3200" dirty="0">
                <a:latin typeface="楷体_GB2312" pitchFamily="49" charset="-122"/>
              </a:rPr>
              <a:t>      </a:t>
            </a:r>
            <a:r>
              <a:rPr lang="zh-CN" altLang="en-US" sz="3200" dirty="0">
                <a:latin typeface="楷体_GB2312" pitchFamily="49" charset="-122"/>
              </a:rPr>
              <a:t>则       </a:t>
            </a:r>
            <a:r>
              <a:rPr lang="en-US" altLang="zh-CN" sz="3200" dirty="0">
                <a:latin typeface="楷体_GB2312" pitchFamily="49" charset="-122"/>
              </a:rPr>
              <a:t>S</a:t>
            </a:r>
            <a:r>
              <a:rPr lang="en-US" altLang="zh-CN" sz="3200" baseline="-25000" dirty="0">
                <a:latin typeface="楷体_GB2312" pitchFamily="49" charset="-122"/>
              </a:rPr>
              <a:t>1</a:t>
            </a:r>
            <a:r>
              <a:rPr lang="en-US" altLang="zh-CN" sz="3200" dirty="0">
                <a:latin typeface="楷体_GB2312" pitchFamily="49" charset="-122"/>
              </a:rPr>
              <a:t>=S</a:t>
            </a:r>
            <a:r>
              <a:rPr lang="en-US" altLang="zh-CN" sz="3200" baseline="-25000" dirty="0">
                <a:latin typeface="楷体_GB2312" pitchFamily="49" charset="-122"/>
              </a:rPr>
              <a:t>2</a:t>
            </a: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7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7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7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7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/>
          </p:cNvSpPr>
          <p:nvPr>
            <p:ph type="title" idx="4294967295"/>
          </p:nvPr>
        </p:nvSpPr>
        <p:spPr>
          <a:xfrm>
            <a:off x="695400" y="548680"/>
            <a:ext cx="7696200" cy="8382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dirty="0">
                <a:ea typeface="楷体_GB2312" pitchFamily="49" charset="-122"/>
              </a:rPr>
              <a:t>串的抽象数据类型定义</a:t>
            </a:r>
            <a:r>
              <a:rPr lang="zh-CN" altLang="en-US" dirty="0"/>
              <a:t> </a:t>
            </a:r>
            <a:endParaRPr lang="zh-CN" altLang="en-US" sz="2800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11267" name="Rectangle 3"/>
          <p:cNvSpPr/>
          <p:nvPr/>
        </p:nvSpPr>
        <p:spPr>
          <a:xfrm>
            <a:off x="551384" y="1988840"/>
            <a:ext cx="10441160" cy="4448655"/>
          </a:xfrm>
          <a:prstGeom prst="rect">
            <a:avLst/>
          </a:prstGeom>
          <a:noFill/>
          <a:ln w="9525">
            <a:noFill/>
          </a:ln>
        </p:spPr>
        <p:txBody>
          <a:bodyPr wrap="square" lIns="92075" tIns="46038" rIns="92075" bIns="46038">
            <a:spAutoFit/>
          </a:bodyPr>
          <a:lstStyle/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r>
              <a:rPr lang="en-US" altLang="zh-CN" sz="3200" dirty="0">
                <a:solidFill>
                  <a:srgbClr val="000099"/>
                </a:solidFill>
              </a:rPr>
              <a:t>ADT String{</a:t>
            </a:r>
          </a:p>
          <a:p>
            <a:pPr lvl="1" eaLnBrk="1" hangingPunct="1">
              <a:lnSpc>
                <a:spcPct val="110000"/>
              </a:lnSpc>
              <a:spcBef>
                <a:spcPct val="20000"/>
              </a:spcBef>
            </a:pPr>
            <a:r>
              <a:rPr lang="zh-CN" altLang="en-US" sz="3200" dirty="0">
                <a:solidFill>
                  <a:srgbClr val="000099"/>
                </a:solidFill>
              </a:rPr>
              <a:t>数据对象：</a:t>
            </a:r>
            <a:r>
              <a:rPr lang="en-US" altLang="zh-CN" sz="3200" dirty="0">
                <a:solidFill>
                  <a:srgbClr val="000099"/>
                </a:solidFill>
              </a:rPr>
              <a:t>D = { a</a:t>
            </a:r>
            <a:r>
              <a:rPr lang="en-US" altLang="zh-CN" sz="3200" baseline="-20000" dirty="0">
                <a:solidFill>
                  <a:srgbClr val="000099"/>
                </a:solidFill>
              </a:rPr>
              <a:t>i</a:t>
            </a:r>
            <a:r>
              <a:rPr lang="en-US" altLang="zh-CN" sz="3200" dirty="0">
                <a:solidFill>
                  <a:srgbClr val="000099"/>
                </a:solidFill>
              </a:rPr>
              <a:t>|a</a:t>
            </a:r>
            <a:r>
              <a:rPr lang="en-US" altLang="zh-CN" sz="3200" baseline="-20000" dirty="0">
                <a:solidFill>
                  <a:srgbClr val="000099"/>
                </a:solidFill>
              </a:rPr>
              <a:t>i</a:t>
            </a:r>
            <a:r>
              <a:rPr lang="en-US" altLang="zh-CN" sz="3200" dirty="0">
                <a:solidFill>
                  <a:srgbClr val="000099"/>
                </a:solidFill>
              </a:rPr>
              <a:t>∈CharacterSet,  i=1,2,…,n, n ≥0 }</a:t>
            </a:r>
          </a:p>
          <a:p>
            <a:pPr lvl="1" eaLnBrk="1" hangingPunct="1">
              <a:lnSpc>
                <a:spcPct val="110000"/>
              </a:lnSpc>
              <a:spcBef>
                <a:spcPct val="20000"/>
              </a:spcBef>
            </a:pPr>
            <a:r>
              <a:rPr lang="zh-CN" altLang="en-US" sz="3200" dirty="0">
                <a:solidFill>
                  <a:srgbClr val="000099"/>
                </a:solidFill>
              </a:rPr>
              <a:t>数据关系：</a:t>
            </a:r>
            <a:r>
              <a:rPr lang="en-US" altLang="zh-CN" sz="3200" dirty="0">
                <a:solidFill>
                  <a:srgbClr val="000099"/>
                </a:solidFill>
              </a:rPr>
              <a:t>R = {&lt;a</a:t>
            </a:r>
            <a:r>
              <a:rPr lang="en-US" altLang="zh-CN" sz="3200" baseline="-20000" dirty="0">
                <a:solidFill>
                  <a:srgbClr val="000099"/>
                </a:solidFill>
              </a:rPr>
              <a:t>i-1</a:t>
            </a:r>
            <a:r>
              <a:rPr lang="en-US" altLang="zh-CN" sz="3200" dirty="0">
                <a:solidFill>
                  <a:srgbClr val="000099"/>
                </a:solidFill>
              </a:rPr>
              <a:t>, a</a:t>
            </a:r>
            <a:r>
              <a:rPr lang="en-US" altLang="zh-CN" sz="3200" baseline="-20000" dirty="0">
                <a:solidFill>
                  <a:srgbClr val="000099"/>
                </a:solidFill>
              </a:rPr>
              <a:t>i</a:t>
            </a:r>
            <a:r>
              <a:rPr lang="en-US" altLang="zh-CN" sz="3200" dirty="0">
                <a:solidFill>
                  <a:srgbClr val="000099"/>
                </a:solidFill>
              </a:rPr>
              <a:t>&gt;| a</a:t>
            </a:r>
            <a:r>
              <a:rPr lang="en-US" altLang="zh-CN" sz="3200" baseline="-20000" dirty="0">
                <a:solidFill>
                  <a:srgbClr val="000099"/>
                </a:solidFill>
              </a:rPr>
              <a:t>i-1</a:t>
            </a:r>
            <a:r>
              <a:rPr lang="en-US" altLang="zh-CN" sz="3200" dirty="0">
                <a:solidFill>
                  <a:srgbClr val="000099"/>
                </a:solidFill>
              </a:rPr>
              <a:t>, a</a:t>
            </a:r>
            <a:r>
              <a:rPr lang="en-US" altLang="zh-CN" sz="3200" baseline="-20000" dirty="0">
                <a:solidFill>
                  <a:srgbClr val="000099"/>
                </a:solidFill>
              </a:rPr>
              <a:t>i</a:t>
            </a:r>
            <a:r>
              <a:rPr lang="en-US" altLang="zh-CN" sz="3200" dirty="0">
                <a:solidFill>
                  <a:srgbClr val="000099"/>
                </a:solidFill>
              </a:rPr>
              <a:t>∈D,  i=2,3,…,n }</a:t>
            </a:r>
          </a:p>
          <a:p>
            <a:pPr lvl="1" eaLnBrk="1" hangingPunct="1">
              <a:lnSpc>
                <a:spcPct val="110000"/>
              </a:lnSpc>
              <a:spcBef>
                <a:spcPct val="20000"/>
              </a:spcBef>
            </a:pPr>
            <a:r>
              <a:rPr lang="zh-CN" altLang="en-US" sz="3200" dirty="0">
                <a:solidFill>
                  <a:srgbClr val="000099"/>
                </a:solidFill>
              </a:rPr>
              <a:t>基本操作：</a:t>
            </a:r>
            <a:r>
              <a:rPr lang="en-US" altLang="zh-CN" sz="3200" dirty="0">
                <a:solidFill>
                  <a:srgbClr val="000099"/>
                </a:solidFill>
              </a:rPr>
              <a:t>……</a:t>
            </a:r>
          </a:p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r>
              <a:rPr lang="en-US" altLang="zh-CN" sz="3200" dirty="0">
                <a:solidFill>
                  <a:srgbClr val="000099"/>
                </a:solidFill>
              </a:rPr>
              <a:t>} ADT  String</a:t>
            </a:r>
          </a:p>
          <a:p>
            <a:pPr lvl="1" eaLnBrk="1" hangingPunct="1">
              <a:lnSpc>
                <a:spcPct val="110000"/>
              </a:lnSpc>
              <a:spcBef>
                <a:spcPct val="20000"/>
              </a:spcBef>
            </a:pPr>
            <a:endParaRPr lang="zh-CN" altLang="en-US" sz="3200" dirty="0">
              <a:solidFill>
                <a:srgbClr val="000099"/>
              </a:solidFill>
            </a:endParaRPr>
          </a:p>
          <a:p>
            <a:pPr lvl="1" eaLnBrk="1" hangingPunct="1">
              <a:lnSpc>
                <a:spcPct val="110000"/>
              </a:lnSpc>
              <a:spcBef>
                <a:spcPct val="20000"/>
              </a:spcBef>
            </a:pPr>
            <a:endParaRPr lang="zh-CN" altLang="en-US" sz="3200" dirty="0">
              <a:solidFill>
                <a:srgbClr val="000099"/>
              </a:solidFill>
            </a:endParaRP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/>
          <p:nvPr/>
        </p:nvSpPr>
        <p:spPr>
          <a:xfrm>
            <a:off x="1775520" y="370641"/>
            <a:ext cx="4133850" cy="10160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3200" dirty="0"/>
              <a:t> </a:t>
            </a:r>
            <a:r>
              <a:rPr lang="zh-CN" altLang="en-US" sz="6000" u="sng" dirty="0">
                <a:solidFill>
                  <a:srgbClr val="FF0000"/>
                </a:solidFill>
              </a:rPr>
              <a:t>基本操作</a:t>
            </a:r>
            <a:r>
              <a:rPr lang="zh-CN" altLang="en-US" sz="6000" dirty="0">
                <a:solidFill>
                  <a:srgbClr val="FF0000"/>
                </a:solidFill>
              </a:rPr>
              <a:t>：</a:t>
            </a:r>
            <a:endParaRPr lang="zh-CN" altLang="en-US" sz="3200" dirty="0"/>
          </a:p>
        </p:txBody>
      </p:sp>
      <p:sp>
        <p:nvSpPr>
          <p:cNvPr id="12291" name="Text Box 3"/>
          <p:cNvSpPr txBox="1"/>
          <p:nvPr/>
        </p:nvSpPr>
        <p:spPr>
          <a:xfrm>
            <a:off x="3260725" y="2403475"/>
            <a:ext cx="287338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3200" dirty="0"/>
              <a:t>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4C8BC10-AF31-E4EB-14CF-23AB8041F4F2}"/>
              </a:ext>
            </a:extLst>
          </p:cNvPr>
          <p:cNvSpPr txBox="1"/>
          <p:nvPr/>
        </p:nvSpPr>
        <p:spPr>
          <a:xfrm>
            <a:off x="695400" y="1484785"/>
            <a:ext cx="10729192" cy="4972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</a:pP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200" b="1" kern="100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StrNew</a:t>
            </a:r>
            <a:r>
              <a:rPr lang="en-US" altLang="zh-CN" sz="3200" b="1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(cs)</a:t>
            </a:r>
            <a:endParaRPr lang="zh-CN" altLang="zh-CN" sz="3200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zh-CN" altLang="zh-CN" sz="3200" b="1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初始条件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：</a:t>
            </a: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cs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是</a:t>
            </a: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语言的字符串（可简称</a:t>
            </a: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串）。</a:t>
            </a:r>
            <a:endParaRPr lang="zh-CN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zh-CN" altLang="zh-CN" sz="3200" b="1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操作结果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：构造并返回一个值由</a:t>
            </a: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串</a:t>
            </a: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cs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复制的串。</a:t>
            </a:r>
            <a:endParaRPr lang="en-US" altLang="zh-CN" sz="3200" kern="100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algn="just">
              <a:lnSpc>
                <a:spcPct val="90000"/>
              </a:lnSpc>
            </a:pPr>
            <a:endParaRPr lang="zh-CN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200" b="1" kern="100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StrFree</a:t>
            </a:r>
            <a:r>
              <a:rPr lang="en-US" altLang="zh-CN" sz="3200" b="1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(S)</a:t>
            </a:r>
            <a:endParaRPr lang="zh-CN" altLang="zh-CN" sz="3200" b="1" kern="100" dirty="0"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zh-CN" altLang="zh-CN" sz="3200" b="1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初始条件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：串</a:t>
            </a: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存在。</a:t>
            </a:r>
            <a:endParaRPr lang="zh-CN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zh-CN" altLang="zh-CN" sz="3200" b="1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操作结果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：回收串</a:t>
            </a: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。</a:t>
            </a:r>
            <a:endParaRPr lang="en-US" altLang="zh-CN" sz="3200" kern="100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algn="just">
              <a:lnSpc>
                <a:spcPct val="90000"/>
              </a:lnSpc>
            </a:pPr>
            <a:endParaRPr lang="zh-CN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200" b="1" kern="100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StrClear</a:t>
            </a:r>
            <a:r>
              <a:rPr lang="en-US" altLang="zh-CN" sz="3200" b="1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(S)</a:t>
            </a:r>
            <a:endParaRPr lang="zh-CN" altLang="zh-CN" sz="3200" b="1" kern="100" dirty="0"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zh-CN" altLang="zh-CN" sz="3200" b="1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初始条件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：串</a:t>
            </a: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存在。</a:t>
            </a:r>
            <a:endParaRPr lang="zh-CN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zh-CN" altLang="zh-CN" sz="3200" b="1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操作结果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：将</a:t>
            </a: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清为空串</a:t>
            </a:r>
            <a:endParaRPr lang="zh-CN" altLang="en-US" sz="3200" dirty="0"/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F1C0A-F62D-B7B9-917D-B1908FB5F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Text Box 3">
            <a:extLst>
              <a:ext uri="{FF2B5EF4-FFF2-40B4-BE49-F238E27FC236}">
                <a16:creationId xmlns:a16="http://schemas.microsoft.com/office/drawing/2014/main" id="{F2C3067E-7D4B-2E2A-0AA0-B3455A5BEFEE}"/>
              </a:ext>
            </a:extLst>
          </p:cNvPr>
          <p:cNvSpPr txBox="1"/>
          <p:nvPr/>
        </p:nvSpPr>
        <p:spPr>
          <a:xfrm>
            <a:off x="3260725" y="2403475"/>
            <a:ext cx="287338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3200" dirty="0"/>
              <a:t>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5823FBB-1E2B-E2F0-21B5-F8E0FF768E80}"/>
              </a:ext>
            </a:extLst>
          </p:cNvPr>
          <p:cNvSpPr txBox="1"/>
          <p:nvPr/>
        </p:nvSpPr>
        <p:spPr>
          <a:xfrm>
            <a:off x="335360" y="1609252"/>
            <a:ext cx="11665296" cy="3643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buNone/>
            </a:pP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200" b="1" kern="100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StrEmpty</a:t>
            </a:r>
            <a:r>
              <a:rPr lang="en-US" altLang="zh-CN" sz="3200" b="1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(S)</a:t>
            </a:r>
            <a:endParaRPr lang="zh-CN" altLang="zh-CN" sz="3200" b="1" kern="100" dirty="0"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zh-CN" altLang="zh-CN" sz="3200" b="1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初始条件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：串</a:t>
            </a: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存在。</a:t>
            </a:r>
            <a:endParaRPr lang="zh-CN" altLang="zh-CN" sz="32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zh-CN" altLang="zh-CN" sz="3200" b="1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操作结果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：若</a:t>
            </a: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为空串，则返回</a:t>
            </a: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TRUE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，否则返回</a:t>
            </a: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FALSE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。</a:t>
            </a:r>
            <a:endParaRPr lang="en-US" altLang="zh-CN" sz="3200" kern="100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algn="just">
              <a:lnSpc>
                <a:spcPct val="90000"/>
              </a:lnSpc>
              <a:buNone/>
            </a:pPr>
            <a:endParaRPr lang="en-US" altLang="zh-CN" sz="3200" kern="100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algn="just">
              <a:lnSpc>
                <a:spcPct val="90000"/>
              </a:lnSpc>
              <a:buNone/>
            </a:pPr>
            <a:endParaRPr lang="zh-CN" altLang="zh-CN" sz="32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200" b="1" kern="100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StrLen</a:t>
            </a:r>
            <a:r>
              <a:rPr lang="en-US" altLang="zh-CN" sz="3200" b="1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(S)</a:t>
            </a:r>
            <a:endParaRPr lang="zh-CN" altLang="zh-CN" sz="3200" b="1" kern="100" dirty="0"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zh-CN" altLang="zh-CN" sz="3200" b="1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初始条件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：串</a:t>
            </a: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存在。</a:t>
            </a:r>
            <a:endParaRPr lang="zh-CN" altLang="zh-CN" sz="32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zh-CN" altLang="zh-CN" sz="3200" b="1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操作结果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：返回</a:t>
            </a: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的元素个数，称为串的长度。</a:t>
            </a:r>
            <a:endParaRPr lang="zh-CN" altLang="zh-CN" sz="32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4989218"/>
      </p:ext>
    </p:extLst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5E191-48DF-3585-ED65-B34D32E37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Text Box 3">
            <a:extLst>
              <a:ext uri="{FF2B5EF4-FFF2-40B4-BE49-F238E27FC236}">
                <a16:creationId xmlns:a16="http://schemas.microsoft.com/office/drawing/2014/main" id="{FB4F744A-5817-96C7-143D-D4D1009EC51A}"/>
              </a:ext>
            </a:extLst>
          </p:cNvPr>
          <p:cNvSpPr txBox="1"/>
          <p:nvPr/>
        </p:nvSpPr>
        <p:spPr>
          <a:xfrm>
            <a:off x="3260725" y="2403475"/>
            <a:ext cx="287338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3200" dirty="0"/>
              <a:t>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13CD1DB-0702-5A98-FB9E-3C82175191C8}"/>
              </a:ext>
            </a:extLst>
          </p:cNvPr>
          <p:cNvSpPr txBox="1"/>
          <p:nvPr/>
        </p:nvSpPr>
        <p:spPr>
          <a:xfrm>
            <a:off x="767408" y="1268760"/>
            <a:ext cx="11424592" cy="3200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buNone/>
            </a:pPr>
            <a:r>
              <a:rPr lang="en-US" altLang="zh-CN" sz="3200" b="1" kern="100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StrCmp</a:t>
            </a:r>
            <a:r>
              <a:rPr lang="en-US" altLang="zh-CN" sz="3200" b="1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(S, T)</a:t>
            </a:r>
            <a:endParaRPr lang="zh-CN" altLang="zh-CN" sz="3200" b="1" kern="100" dirty="0"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初始条件：串</a:t>
            </a: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和</a:t>
            </a: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存在。</a:t>
            </a:r>
            <a:endParaRPr lang="zh-CN" altLang="zh-CN" sz="32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操作结果：若</a:t>
            </a: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S&gt;T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，则返回值＞</a:t>
            </a: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；若</a:t>
            </a: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S=T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，则返回值＝</a:t>
            </a: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；</a:t>
            </a:r>
            <a:endParaRPr lang="en-US" altLang="zh-CN" sz="3200" kern="100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       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若</a:t>
            </a: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S&lt;T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，则返回值＜</a:t>
            </a: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。</a:t>
            </a:r>
            <a:endParaRPr lang="zh-CN" altLang="zh-CN" sz="32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en-US" altLang="zh-CN" sz="3200" b="1" kern="100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StrCopy</a:t>
            </a:r>
            <a:r>
              <a:rPr lang="en-US" altLang="zh-CN" sz="3200" b="1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(S)</a:t>
            </a:r>
            <a:endParaRPr lang="zh-CN" altLang="zh-CN" sz="3200" b="1" kern="100" dirty="0"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初始条件：串</a:t>
            </a: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存在。</a:t>
            </a:r>
            <a:endParaRPr lang="zh-CN" altLang="zh-CN" sz="32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操作结果：由串</a:t>
            </a: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复制并返回新串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614296303"/>
      </p:ext>
    </p:extLst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C1A64-FCCA-D169-CD86-763425258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Text Box 3">
            <a:extLst>
              <a:ext uri="{FF2B5EF4-FFF2-40B4-BE49-F238E27FC236}">
                <a16:creationId xmlns:a16="http://schemas.microsoft.com/office/drawing/2014/main" id="{E2A70325-9D7B-C72E-4307-B85065861D51}"/>
              </a:ext>
            </a:extLst>
          </p:cNvPr>
          <p:cNvSpPr txBox="1"/>
          <p:nvPr/>
        </p:nvSpPr>
        <p:spPr>
          <a:xfrm>
            <a:off x="3260725" y="2403475"/>
            <a:ext cx="287338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3200" dirty="0"/>
              <a:t>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28007CD-7757-A22B-F10F-8F7738F42C54}"/>
              </a:ext>
            </a:extLst>
          </p:cNvPr>
          <p:cNvSpPr txBox="1"/>
          <p:nvPr/>
        </p:nvSpPr>
        <p:spPr>
          <a:xfrm>
            <a:off x="767408" y="1268760"/>
            <a:ext cx="1142459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3200" b="1" kern="100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StrConcat</a:t>
            </a:r>
            <a:r>
              <a:rPr lang="en-US" altLang="zh-CN" sz="3200" b="1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(S1, S2);</a:t>
            </a:r>
            <a:endParaRPr lang="zh-CN" altLang="zh-CN" sz="3200" b="1" kern="100" dirty="0"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zh-CN" sz="3200" b="1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初始条件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：串</a:t>
            </a: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S1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和</a:t>
            </a: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S2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存在。</a:t>
            </a:r>
            <a:endParaRPr lang="zh-CN" altLang="zh-CN" sz="32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zh-CN" sz="3200" b="1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操作结果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：返回由</a:t>
            </a: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S1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和</a:t>
            </a: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S2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联接而成的新串</a:t>
            </a:r>
            <a:endParaRPr lang="en-US" altLang="zh-CN" sz="3200" kern="100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zh-CN" sz="3200" kern="100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如：</a:t>
            </a: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S1=“ABCDEF”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S2 = “12345”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则</a:t>
            </a:r>
            <a:r>
              <a:rPr lang="en-US" altLang="zh-CN" sz="3200" b="1" kern="100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StrConcat</a:t>
            </a:r>
            <a:r>
              <a:rPr lang="en-US" altLang="zh-CN" sz="3200" b="1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(S1,S2)</a:t>
            </a:r>
            <a:r>
              <a:rPr lang="zh-CN" altLang="en-US" sz="3200" b="1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的返回值是</a:t>
            </a:r>
            <a:r>
              <a:rPr lang="en-US" altLang="zh-CN" sz="3200" b="1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”ABCDEF12345”</a:t>
            </a:r>
            <a:endParaRPr lang="zh-CN" altLang="zh-CN" sz="32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8610189"/>
      </p:ext>
    </p:extLst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CE127-D3C1-EFF7-F878-0F2B56C44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Text Box 3">
            <a:extLst>
              <a:ext uri="{FF2B5EF4-FFF2-40B4-BE49-F238E27FC236}">
                <a16:creationId xmlns:a16="http://schemas.microsoft.com/office/drawing/2014/main" id="{ED1E8197-FFF6-BE62-E3C2-FA7B0E857FA5}"/>
              </a:ext>
            </a:extLst>
          </p:cNvPr>
          <p:cNvSpPr txBox="1"/>
          <p:nvPr/>
        </p:nvSpPr>
        <p:spPr>
          <a:xfrm>
            <a:off x="3260725" y="2403475"/>
            <a:ext cx="287338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3200" dirty="0"/>
              <a:t>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3BE8F00-52B7-10C2-0695-FFCE7A9EF237}"/>
              </a:ext>
            </a:extLst>
          </p:cNvPr>
          <p:cNvSpPr txBox="1"/>
          <p:nvPr/>
        </p:nvSpPr>
        <p:spPr>
          <a:xfrm>
            <a:off x="767408" y="1268760"/>
            <a:ext cx="11424592" cy="2978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3200" b="1" kern="100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StrSub</a:t>
            </a:r>
            <a:r>
              <a:rPr lang="en-US" altLang="zh-CN" sz="3200" b="1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(S, pos, </a:t>
            </a:r>
            <a:r>
              <a:rPr lang="en-US" altLang="zh-CN" sz="3200" b="1" kern="100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lang="en-US" altLang="zh-CN" sz="3200" b="1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3200" b="1" kern="100" dirty="0"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zh-CN" sz="3200" b="1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初始条件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：串</a:t>
            </a: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存在，</a:t>
            </a: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3200" kern="100" dirty="0">
                <a:latin typeface="等线" panose="02010600030101010101" pitchFamily="2" charset="-122"/>
                <a:ea typeface="等线 Light" panose="02010600030101010101" pitchFamily="2" charset="-122"/>
                <a:cs typeface="Courier New" panose="02070309020205020404" pitchFamily="49" charset="0"/>
              </a:rPr>
              <a:t>≤</a:t>
            </a: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pos</a:t>
            </a:r>
            <a:r>
              <a:rPr lang="zh-CN" altLang="zh-CN" sz="3200" kern="100" dirty="0">
                <a:latin typeface="等线" panose="02010600030101010101" pitchFamily="2" charset="-122"/>
                <a:ea typeface="等线 Light" panose="02010600030101010101" pitchFamily="2" charset="-122"/>
                <a:cs typeface="Courier New" panose="02070309020205020404" pitchFamily="49" charset="0"/>
              </a:rPr>
              <a:t>≤</a:t>
            </a:r>
            <a:r>
              <a:rPr lang="en-US" altLang="zh-CN" sz="3200" kern="100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StrLen</a:t>
            </a: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(S)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且</a:t>
            </a: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           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       </a:t>
            </a: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0&lt;</a:t>
            </a:r>
            <a:r>
              <a:rPr lang="en-US" altLang="zh-CN" sz="3200" kern="100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lang="zh-CN" altLang="zh-CN" sz="3200" kern="100" dirty="0">
                <a:latin typeface="等线" panose="02010600030101010101" pitchFamily="2" charset="-122"/>
                <a:ea typeface="等线 Light" panose="02010600030101010101" pitchFamily="2" charset="-122"/>
                <a:cs typeface="Courier New" panose="02070309020205020404" pitchFamily="49" charset="0"/>
              </a:rPr>
              <a:t>≤</a:t>
            </a:r>
            <a:r>
              <a:rPr lang="en-US" altLang="zh-CN" sz="3200" kern="100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StrLen</a:t>
            </a: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(S)-pos+1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。</a:t>
            </a:r>
            <a:endParaRPr lang="zh-CN" altLang="zh-CN" sz="32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zh-CN" sz="3200" b="1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操作结果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：返回串</a:t>
            </a: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的第</a:t>
            </a: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pos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个字符起长度为</a:t>
            </a:r>
            <a:r>
              <a:rPr lang="en-US" altLang="zh-CN" sz="3200" kern="100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的子串。</a:t>
            </a:r>
            <a:endParaRPr lang="zh-CN" altLang="zh-CN" sz="32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8989161"/>
      </p:ext>
    </p:extLst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/>
          <p:cNvSpPr txBox="1"/>
          <p:nvPr/>
        </p:nvSpPr>
        <p:spPr>
          <a:xfrm>
            <a:off x="623392" y="1050925"/>
            <a:ext cx="10729192" cy="388260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4000" dirty="0">
                <a:solidFill>
                  <a:srgbClr val="1560AB"/>
                </a:solidFill>
              </a:rPr>
              <a:t>例如</a:t>
            </a:r>
            <a:r>
              <a:rPr lang="en-US" altLang="zh-CN" sz="4000" dirty="0">
                <a:solidFill>
                  <a:srgbClr val="1560AB"/>
                </a:solidFill>
              </a:rPr>
              <a:t>,S</a:t>
            </a:r>
            <a:r>
              <a:rPr lang="zh-CN" altLang="en-US" sz="4000" dirty="0">
                <a:solidFill>
                  <a:srgbClr val="1560AB"/>
                </a:solidFill>
              </a:rPr>
              <a:t> </a:t>
            </a:r>
            <a:r>
              <a:rPr lang="en-US" altLang="zh-CN" sz="4000" dirty="0">
                <a:solidFill>
                  <a:srgbClr val="1560AB"/>
                </a:solidFill>
              </a:rPr>
              <a:t>=</a:t>
            </a:r>
            <a:r>
              <a:rPr lang="zh-CN" altLang="en-US" sz="4000" dirty="0">
                <a:solidFill>
                  <a:srgbClr val="1560AB"/>
                </a:solidFill>
              </a:rPr>
              <a:t> </a:t>
            </a:r>
            <a:r>
              <a:rPr lang="en-US" altLang="zh-CN" sz="4000" dirty="0">
                <a:solidFill>
                  <a:srgbClr val="1560AB"/>
                </a:solidFill>
              </a:rPr>
              <a:t>“</a:t>
            </a:r>
            <a:r>
              <a:rPr lang="en-US" altLang="zh-CN" sz="4000" dirty="0">
                <a:solidFill>
                  <a:srgbClr val="1560AB"/>
                </a:solidFill>
                <a:sym typeface="Symbol" panose="05050102010706020507" pitchFamily="18" charset="2"/>
              </a:rPr>
              <a:t>commander</a:t>
            </a:r>
            <a:r>
              <a:rPr lang="en-US" altLang="zh-CN" sz="4000" dirty="0">
                <a:solidFill>
                  <a:srgbClr val="1560AB"/>
                </a:solidFill>
              </a:rPr>
              <a:t>”</a:t>
            </a:r>
            <a:endParaRPr lang="zh-CN" altLang="en-US" sz="4000" dirty="0">
              <a:solidFill>
                <a:srgbClr val="1560AB"/>
              </a:solidFill>
            </a:endParaRPr>
          </a:p>
          <a:p>
            <a:pPr>
              <a:lnSpc>
                <a:spcPct val="125000"/>
              </a:lnSpc>
            </a:pPr>
            <a:endParaRPr lang="zh-CN" altLang="en-US" sz="4000" dirty="0">
              <a:solidFill>
                <a:srgbClr val="000099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125000"/>
              </a:lnSpc>
            </a:pPr>
            <a:r>
              <a:rPr lang="zh-CN" altLang="en-US" sz="4000" dirty="0">
                <a:solidFill>
                  <a:srgbClr val="000099"/>
                </a:solidFill>
                <a:sym typeface="Symbol" panose="05050102010706020507" pitchFamily="18" charset="2"/>
              </a:rPr>
              <a:t>     </a:t>
            </a:r>
            <a:endParaRPr lang="en-US" altLang="zh-CN" sz="4000" dirty="0">
              <a:solidFill>
                <a:srgbClr val="000099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125000"/>
              </a:lnSpc>
            </a:pPr>
            <a:endParaRPr lang="en-US" altLang="zh-CN" sz="4000" dirty="0">
              <a:solidFill>
                <a:srgbClr val="000099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125000"/>
              </a:lnSpc>
            </a:pPr>
            <a:endParaRPr lang="zh-CN" altLang="en-US" sz="4000" dirty="0">
              <a:solidFill>
                <a:srgbClr val="000099"/>
              </a:solidFill>
              <a:sym typeface="Symbol" panose="05050102010706020507" pitchFamily="18" charset="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2E9B869-4BD6-D4CE-FCDA-3D6CDF79760F}"/>
              </a:ext>
            </a:extLst>
          </p:cNvPr>
          <p:cNvSpPr txBox="1"/>
          <p:nvPr/>
        </p:nvSpPr>
        <p:spPr>
          <a:xfrm>
            <a:off x="1505334" y="1916832"/>
            <a:ext cx="413153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>
                <a:solidFill>
                  <a:srgbClr val="1560AB"/>
                </a:solidFill>
              </a:rPr>
              <a:t> </a:t>
            </a:r>
            <a:r>
              <a:rPr lang="en-US" altLang="zh-CN" sz="4000" dirty="0" err="1">
                <a:solidFill>
                  <a:srgbClr val="1560AB"/>
                </a:solidFill>
              </a:rPr>
              <a:t>StrSub</a:t>
            </a:r>
            <a:r>
              <a:rPr lang="en-US" altLang="zh-CN" sz="4400" dirty="0">
                <a:solidFill>
                  <a:srgbClr val="1560AB"/>
                </a:solidFill>
              </a:rPr>
              <a:t>( S, </a:t>
            </a:r>
            <a:r>
              <a:rPr lang="en-US" altLang="zh-CN" sz="4400" dirty="0">
                <a:solidFill>
                  <a:srgbClr val="1560AB"/>
                </a:solidFill>
                <a:sym typeface="Symbol" panose="05050102010706020507" pitchFamily="18" charset="2"/>
              </a:rPr>
              <a:t>4, 3)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99C7DFA-5218-B582-F885-FD1438CDC72E}"/>
              </a:ext>
            </a:extLst>
          </p:cNvPr>
          <p:cNvSpPr txBox="1"/>
          <p:nvPr/>
        </p:nvSpPr>
        <p:spPr>
          <a:xfrm>
            <a:off x="6240016" y="1885112"/>
            <a:ext cx="413153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>
                <a:solidFill>
                  <a:srgbClr val="1560AB"/>
                </a:solidFill>
              </a:rPr>
              <a:t>返回值是“</a:t>
            </a:r>
            <a:r>
              <a:rPr lang="en-US" altLang="zh-CN" sz="4400" dirty="0">
                <a:solidFill>
                  <a:srgbClr val="1560AB"/>
                </a:solidFill>
              </a:rPr>
              <a:t>man</a:t>
            </a:r>
            <a:r>
              <a:rPr lang="zh-CN" altLang="en-US" sz="4400" dirty="0">
                <a:solidFill>
                  <a:srgbClr val="1560AB"/>
                </a:solidFill>
              </a:rPr>
              <a:t>”</a:t>
            </a:r>
            <a:endParaRPr lang="en-US" altLang="zh-CN" sz="4400" dirty="0">
              <a:solidFill>
                <a:srgbClr val="000099"/>
              </a:solidFill>
              <a:sym typeface="Symbol" panose="05050102010706020507" pitchFamily="18" charset="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47F464C-D8B4-09FF-ABB1-9596F56F5FEF}"/>
              </a:ext>
            </a:extLst>
          </p:cNvPr>
          <p:cNvSpPr txBox="1"/>
          <p:nvPr/>
        </p:nvSpPr>
        <p:spPr>
          <a:xfrm>
            <a:off x="1481107" y="3119652"/>
            <a:ext cx="413153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>
                <a:solidFill>
                  <a:srgbClr val="1560AB"/>
                </a:solidFill>
              </a:rPr>
              <a:t> </a:t>
            </a:r>
            <a:r>
              <a:rPr lang="en-US" altLang="zh-CN" sz="4400" dirty="0" err="1">
                <a:solidFill>
                  <a:srgbClr val="1560AB"/>
                </a:solidFill>
              </a:rPr>
              <a:t>StrSub</a:t>
            </a:r>
            <a:r>
              <a:rPr lang="en-US" altLang="zh-CN" sz="4400" dirty="0">
                <a:solidFill>
                  <a:srgbClr val="1560AB"/>
                </a:solidFill>
              </a:rPr>
              <a:t>( S, </a:t>
            </a:r>
            <a:r>
              <a:rPr lang="en-US" altLang="zh-CN" sz="4400" dirty="0">
                <a:solidFill>
                  <a:srgbClr val="1560AB"/>
                </a:solidFill>
                <a:sym typeface="Symbol" panose="05050102010706020507" pitchFamily="18" charset="2"/>
              </a:rPr>
              <a:t>1, 9)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C2A4507-C12C-CE51-5D27-641650BAAE48}"/>
              </a:ext>
            </a:extLst>
          </p:cNvPr>
          <p:cNvSpPr txBox="1"/>
          <p:nvPr/>
        </p:nvSpPr>
        <p:spPr>
          <a:xfrm>
            <a:off x="6240016" y="3119652"/>
            <a:ext cx="55446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>
                <a:solidFill>
                  <a:srgbClr val="1560AB"/>
                </a:solidFill>
              </a:rPr>
              <a:t>返回值是“</a:t>
            </a:r>
            <a:r>
              <a:rPr lang="en-US" altLang="zh-CN" sz="4400" dirty="0">
                <a:solidFill>
                  <a:srgbClr val="1560AB"/>
                </a:solidFill>
                <a:sym typeface="Symbol" panose="05050102010706020507" pitchFamily="18" charset="2"/>
              </a:rPr>
              <a:t>commander</a:t>
            </a:r>
            <a:r>
              <a:rPr lang="zh-CN" altLang="en-US" sz="4400" dirty="0">
                <a:solidFill>
                  <a:srgbClr val="1560AB"/>
                </a:solidFill>
              </a:rPr>
              <a:t>”</a:t>
            </a:r>
            <a:endParaRPr lang="en-US" altLang="zh-CN" sz="4400" dirty="0">
              <a:solidFill>
                <a:srgbClr val="000099"/>
              </a:solidFill>
              <a:sym typeface="Symbol" panose="05050102010706020507" pitchFamily="18" charset="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8F0B045-0749-7F23-649B-58C0A44C82D1}"/>
              </a:ext>
            </a:extLst>
          </p:cNvPr>
          <p:cNvSpPr txBox="1"/>
          <p:nvPr/>
        </p:nvSpPr>
        <p:spPr>
          <a:xfrm>
            <a:off x="1481106" y="4350247"/>
            <a:ext cx="413153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>
                <a:solidFill>
                  <a:srgbClr val="1560AB"/>
                </a:solidFill>
              </a:rPr>
              <a:t> </a:t>
            </a:r>
            <a:r>
              <a:rPr lang="en-US" altLang="zh-CN" sz="4400" dirty="0" err="1">
                <a:solidFill>
                  <a:srgbClr val="1560AB"/>
                </a:solidFill>
              </a:rPr>
              <a:t>StrSub</a:t>
            </a:r>
            <a:r>
              <a:rPr lang="en-US" altLang="zh-CN" sz="4400" dirty="0">
                <a:solidFill>
                  <a:srgbClr val="1560AB"/>
                </a:solidFill>
              </a:rPr>
              <a:t>( S, </a:t>
            </a:r>
            <a:r>
              <a:rPr lang="en-US" altLang="zh-CN" sz="4400" dirty="0">
                <a:solidFill>
                  <a:srgbClr val="1560AB"/>
                </a:solidFill>
                <a:sym typeface="Symbol" panose="05050102010706020507" pitchFamily="18" charset="2"/>
              </a:rPr>
              <a:t>9, 1)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F62D2E9-7626-F4F2-F8C4-D39335A14C93}"/>
              </a:ext>
            </a:extLst>
          </p:cNvPr>
          <p:cNvSpPr txBox="1"/>
          <p:nvPr/>
        </p:nvSpPr>
        <p:spPr>
          <a:xfrm>
            <a:off x="6154738" y="4338559"/>
            <a:ext cx="55446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>
                <a:solidFill>
                  <a:srgbClr val="1560AB"/>
                </a:solidFill>
              </a:rPr>
              <a:t>返回值是“</a:t>
            </a:r>
            <a:r>
              <a:rPr lang="en-US" altLang="zh-CN" sz="4400" dirty="0">
                <a:solidFill>
                  <a:srgbClr val="1560AB"/>
                </a:solidFill>
                <a:sym typeface="Symbol" panose="05050102010706020507" pitchFamily="18" charset="2"/>
              </a:rPr>
              <a:t>r</a:t>
            </a:r>
            <a:r>
              <a:rPr lang="zh-CN" altLang="en-US" sz="4400" dirty="0">
                <a:solidFill>
                  <a:srgbClr val="1560AB"/>
                </a:solidFill>
              </a:rPr>
              <a:t>”</a:t>
            </a:r>
            <a:endParaRPr lang="en-US" altLang="zh-CN" sz="4400" dirty="0">
              <a:solidFill>
                <a:srgbClr val="1560AB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7" grpId="0"/>
      <p:bldP spid="9" grpId="0"/>
      <p:bldP spid="13" grpId="0"/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Text Box 1027"/>
          <p:cNvSpPr txBox="1"/>
          <p:nvPr/>
        </p:nvSpPr>
        <p:spPr>
          <a:xfrm>
            <a:off x="2351584" y="1353150"/>
            <a:ext cx="6988175" cy="71282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600" dirty="0" err="1">
                <a:solidFill>
                  <a:srgbClr val="1560AB"/>
                </a:solidFill>
              </a:rPr>
              <a:t>StrSub</a:t>
            </a:r>
            <a:r>
              <a:rPr lang="en-US" altLang="zh-CN" sz="3600" dirty="0">
                <a:solidFill>
                  <a:srgbClr val="1560AB"/>
                </a:solidFill>
              </a:rPr>
              <a:t>(S</a:t>
            </a:r>
            <a:r>
              <a:rPr lang="en-US" altLang="zh-CN" sz="3600" dirty="0">
                <a:solidFill>
                  <a:srgbClr val="1560AB"/>
                </a:solidFill>
                <a:sym typeface="Symbol" panose="05050102010706020507" pitchFamily="18" charset="2"/>
              </a:rPr>
              <a:t>, 4, 7)              </a:t>
            </a:r>
            <a:r>
              <a:rPr lang="zh-CN" altLang="en-US" sz="3600" dirty="0">
                <a:solidFill>
                  <a:srgbClr val="1560AB"/>
                </a:solidFill>
                <a:sym typeface="Symbol" panose="05050102010706020507" pitchFamily="18" charset="2"/>
              </a:rPr>
              <a:t>返回值</a:t>
            </a:r>
            <a:r>
              <a:rPr lang="en-US" altLang="zh-CN" sz="3600" dirty="0">
                <a:solidFill>
                  <a:srgbClr val="1560AB"/>
                </a:solidFill>
                <a:sym typeface="Symbol" panose="05050102010706020507" pitchFamily="18" charset="2"/>
              </a:rPr>
              <a:t> = ? </a:t>
            </a:r>
            <a:endParaRPr lang="en-US" altLang="zh-CN" sz="3600" dirty="0"/>
          </a:p>
        </p:txBody>
      </p:sp>
      <p:sp>
        <p:nvSpPr>
          <p:cNvPr id="57348" name="Text Box 1028"/>
          <p:cNvSpPr txBox="1"/>
          <p:nvPr/>
        </p:nvSpPr>
        <p:spPr>
          <a:xfrm>
            <a:off x="2351584" y="2142175"/>
            <a:ext cx="6977549" cy="71282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600" dirty="0" err="1">
                <a:solidFill>
                  <a:srgbClr val="1560AB"/>
                </a:solidFill>
              </a:rPr>
              <a:t>StrSub</a:t>
            </a:r>
            <a:r>
              <a:rPr lang="en-US" altLang="zh-CN" sz="3600" dirty="0">
                <a:solidFill>
                  <a:srgbClr val="1560AB"/>
                </a:solidFill>
              </a:rPr>
              <a:t>(S,</a:t>
            </a:r>
            <a:r>
              <a:rPr lang="en-US" altLang="zh-CN" sz="3600" dirty="0">
                <a:solidFill>
                  <a:srgbClr val="1560AB"/>
                </a:solidFill>
                <a:sym typeface="Symbol" panose="05050102010706020507" pitchFamily="18" charset="2"/>
              </a:rPr>
              <a:t>5, 6)               </a:t>
            </a:r>
            <a:r>
              <a:rPr lang="zh-CN" altLang="en-US" sz="3600" dirty="0">
                <a:solidFill>
                  <a:srgbClr val="1560AB"/>
                </a:solidFill>
                <a:sym typeface="Symbol" panose="05050102010706020507" pitchFamily="18" charset="2"/>
              </a:rPr>
              <a:t>返回值 </a:t>
            </a:r>
            <a:r>
              <a:rPr lang="en-US" altLang="zh-CN" sz="3600" dirty="0">
                <a:solidFill>
                  <a:srgbClr val="1560AB"/>
                </a:solidFill>
                <a:sym typeface="Symbol" panose="05050102010706020507" pitchFamily="18" charset="2"/>
              </a:rPr>
              <a:t>= ?</a:t>
            </a:r>
            <a:endParaRPr lang="en-US" altLang="zh-CN" sz="3600" dirty="0">
              <a:sym typeface="Symbol" panose="05050102010706020507" pitchFamily="18" charset="2"/>
            </a:endParaRPr>
          </a:p>
        </p:txBody>
      </p:sp>
      <p:sp>
        <p:nvSpPr>
          <p:cNvPr id="57349" name="Text Box 1029"/>
          <p:cNvSpPr txBox="1"/>
          <p:nvPr/>
        </p:nvSpPr>
        <p:spPr>
          <a:xfrm>
            <a:off x="2358371" y="4489701"/>
            <a:ext cx="6630341" cy="707886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4000" dirty="0" err="1">
                <a:solidFill>
                  <a:srgbClr val="1560AB"/>
                </a:solidFill>
              </a:rPr>
              <a:t>StrSub</a:t>
            </a:r>
            <a:r>
              <a:rPr lang="en-US" altLang="zh-CN" sz="4000" dirty="0">
                <a:solidFill>
                  <a:srgbClr val="1560AB"/>
                </a:solidFill>
              </a:rPr>
              <a:t>(S</a:t>
            </a:r>
            <a:r>
              <a:rPr lang="en-US" altLang="zh-CN" sz="4000" dirty="0">
                <a:solidFill>
                  <a:srgbClr val="1560AB"/>
                </a:solidFill>
                <a:sym typeface="Symbol" panose="05050102010706020507" pitchFamily="18" charset="2"/>
              </a:rPr>
              <a:t>, 5, 0)         </a:t>
            </a:r>
            <a:r>
              <a:rPr lang="zh-CN" altLang="en-US" sz="4000" dirty="0">
                <a:solidFill>
                  <a:srgbClr val="1560AB"/>
                </a:solidFill>
                <a:sym typeface="Symbol" panose="05050102010706020507" pitchFamily="18" charset="2"/>
              </a:rPr>
              <a:t>返回值</a:t>
            </a:r>
            <a:r>
              <a:rPr lang="en-US" altLang="zh-CN" sz="4000" dirty="0">
                <a:solidFill>
                  <a:srgbClr val="1560AB"/>
                </a:solidFill>
                <a:sym typeface="Symbol" panose="05050102010706020507" pitchFamily="18" charset="2"/>
              </a:rPr>
              <a:t> = ? </a:t>
            </a:r>
            <a:endParaRPr lang="en-US" altLang="zh-CN" sz="4000" dirty="0">
              <a:sym typeface="Symbol" panose="05050102010706020507" pitchFamily="18" charset="2"/>
            </a:endParaRPr>
          </a:p>
        </p:txBody>
      </p:sp>
      <p:sp>
        <p:nvSpPr>
          <p:cNvPr id="57350" name="Text Box 1030"/>
          <p:cNvSpPr txBox="1"/>
          <p:nvPr/>
        </p:nvSpPr>
        <p:spPr>
          <a:xfrm>
            <a:off x="2219380" y="2779229"/>
            <a:ext cx="8032968" cy="16695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 sz="3600" dirty="0">
                <a:solidFill>
                  <a:srgbClr val="406649"/>
                </a:solidFill>
              </a:rPr>
              <a:t>起始位置和子串长度之间存在约束关系</a:t>
            </a:r>
            <a:endParaRPr lang="en-US" altLang="zh-CN" sz="3600" dirty="0">
              <a:solidFill>
                <a:srgbClr val="406649"/>
              </a:solidFill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3600" dirty="0">
                <a:solidFill>
                  <a:srgbClr val="406649"/>
                </a:solidFill>
              </a:rPr>
              <a:t>开始位置</a:t>
            </a:r>
            <a:r>
              <a:rPr lang="en-US" altLang="zh-CN" sz="3600" dirty="0">
                <a:solidFill>
                  <a:srgbClr val="406649"/>
                </a:solidFill>
              </a:rPr>
              <a:t>+</a:t>
            </a:r>
            <a:r>
              <a:rPr lang="zh-CN" altLang="en-US" sz="3600" dirty="0">
                <a:solidFill>
                  <a:srgbClr val="406649"/>
                </a:solidFill>
              </a:rPr>
              <a:t>字串长度</a:t>
            </a:r>
            <a:r>
              <a:rPr lang="en-US" altLang="zh-CN" sz="3600" dirty="0">
                <a:solidFill>
                  <a:srgbClr val="406649"/>
                </a:solidFill>
              </a:rPr>
              <a:t>&lt;= </a:t>
            </a:r>
            <a:r>
              <a:rPr lang="zh-CN" altLang="en-US" sz="3600" dirty="0">
                <a:solidFill>
                  <a:srgbClr val="406649"/>
                </a:solidFill>
              </a:rPr>
              <a:t>主串长度</a:t>
            </a:r>
            <a:r>
              <a:rPr lang="en-US" altLang="zh-CN" sz="3600" dirty="0">
                <a:solidFill>
                  <a:srgbClr val="406649"/>
                </a:solidFill>
              </a:rPr>
              <a:t>+1</a:t>
            </a:r>
            <a:endParaRPr lang="zh-CN" altLang="en-US" dirty="0"/>
          </a:p>
        </p:txBody>
      </p:sp>
      <p:sp>
        <p:nvSpPr>
          <p:cNvPr id="57351" name="Text Box 1031"/>
          <p:cNvSpPr txBox="1"/>
          <p:nvPr/>
        </p:nvSpPr>
        <p:spPr>
          <a:xfrm>
            <a:off x="2286001" y="5410201"/>
            <a:ext cx="4112023" cy="646331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l" eaLnBrk="1" hangingPunct="1"/>
            <a:r>
              <a:rPr lang="zh-CN" altLang="en-US" sz="3600" dirty="0">
                <a:solidFill>
                  <a:srgbClr val="406649"/>
                </a:solidFill>
              </a:rPr>
              <a:t>子串长度需要大于</a:t>
            </a:r>
            <a:r>
              <a:rPr lang="en-US" altLang="zh-CN" sz="3600" dirty="0">
                <a:solidFill>
                  <a:srgbClr val="406649"/>
                </a:solidFill>
              </a:rPr>
              <a:t>0</a:t>
            </a:r>
            <a:endParaRPr lang="zh-CN" altLang="en-US" dirty="0"/>
          </a:p>
        </p:txBody>
      </p:sp>
      <p:graphicFrame>
        <p:nvGraphicFramePr>
          <p:cNvPr id="57352" name="Object 1032"/>
          <p:cNvGraphicFramePr>
            <a:graphicFrameLocks noChangeAspect="1"/>
          </p:cNvGraphicFramePr>
          <p:nvPr/>
        </p:nvGraphicFramePr>
        <p:xfrm>
          <a:off x="2057400" y="3276600"/>
          <a:ext cx="198438" cy="185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r:id="rId3" imgW="4816475" imgH="4816475" progId="MS_ClipArt_Gallery.2">
                  <p:embed/>
                </p:oleObj>
              </mc:Choice>
              <mc:Fallback>
                <p:oleObj r:id="rId3" imgW="4816475" imgH="4816475" progId="MS_ClipArt_Gallery.2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57400" y="3276600"/>
                        <a:ext cx="198438" cy="185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3" name="Object 1033"/>
          <p:cNvGraphicFramePr>
            <a:graphicFrameLocks noChangeAspect="1"/>
          </p:cNvGraphicFramePr>
          <p:nvPr/>
        </p:nvGraphicFramePr>
        <p:xfrm>
          <a:off x="2087564" y="5334000"/>
          <a:ext cx="198437" cy="185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r:id="rId5" imgW="4816475" imgH="4816475" progId="MS_ClipArt_Gallery.2">
                  <p:embed/>
                </p:oleObj>
              </mc:Choice>
              <mc:Fallback>
                <p:oleObj r:id="rId5" imgW="4816475" imgH="4816475" progId="MS_ClipArt_Gallery.2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87564" y="5334000"/>
                        <a:ext cx="198437" cy="185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5" name="AutoShape 1035">
            <a:hlinkClick r:id="rId6" action="ppaction://hlinksldjump"/>
          </p:cNvPr>
          <p:cNvSpPr/>
          <p:nvPr/>
        </p:nvSpPr>
        <p:spPr>
          <a:xfrm>
            <a:off x="10058400" y="6248400"/>
            <a:ext cx="381000" cy="381000"/>
          </a:xfrm>
          <a:prstGeom prst="actionButtonBackPrevious">
            <a:avLst/>
          </a:prstGeom>
          <a:solidFill>
            <a:schemeClr val="bg2"/>
          </a:solidFill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5167A8-0368-E84D-2EB1-925CCE6012D0}"/>
              </a:ext>
            </a:extLst>
          </p:cNvPr>
          <p:cNvSpPr txBox="1"/>
          <p:nvPr/>
        </p:nvSpPr>
        <p:spPr>
          <a:xfrm>
            <a:off x="2358371" y="386572"/>
            <a:ext cx="3960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rgbClr val="1560AB"/>
                </a:solidFill>
              </a:rPr>
              <a:t>S</a:t>
            </a:r>
            <a:r>
              <a:rPr lang="zh-CN" altLang="en-US" sz="3600" dirty="0">
                <a:solidFill>
                  <a:srgbClr val="1560AB"/>
                </a:solidFill>
              </a:rPr>
              <a:t> </a:t>
            </a:r>
            <a:r>
              <a:rPr lang="en-US" altLang="zh-CN" sz="3600" dirty="0">
                <a:solidFill>
                  <a:srgbClr val="1560AB"/>
                </a:solidFill>
              </a:rPr>
              <a:t>=</a:t>
            </a:r>
            <a:r>
              <a:rPr lang="zh-CN" altLang="en-US" sz="3600" dirty="0">
                <a:solidFill>
                  <a:srgbClr val="1560AB"/>
                </a:solidFill>
              </a:rPr>
              <a:t> </a:t>
            </a:r>
            <a:r>
              <a:rPr lang="en-US" altLang="zh-CN" sz="3600" dirty="0">
                <a:solidFill>
                  <a:srgbClr val="1560AB"/>
                </a:solidFill>
              </a:rPr>
              <a:t>“</a:t>
            </a:r>
            <a:r>
              <a:rPr lang="en-US" altLang="zh-CN" sz="3600" dirty="0">
                <a:solidFill>
                  <a:srgbClr val="1560AB"/>
                </a:solidFill>
                <a:sym typeface="Symbol" panose="05050102010706020507" pitchFamily="18" charset="2"/>
              </a:rPr>
              <a:t>commander</a:t>
            </a:r>
            <a:r>
              <a:rPr lang="en-US" altLang="zh-CN" sz="3600" dirty="0">
                <a:solidFill>
                  <a:srgbClr val="1560AB"/>
                </a:solidFill>
              </a:rPr>
              <a:t>”</a:t>
            </a:r>
            <a:endParaRPr lang="zh-CN" altLang="en-US" sz="3600" dirty="0">
              <a:solidFill>
                <a:srgbClr val="1560AB"/>
              </a:solidFill>
            </a:endParaRP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57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57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73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73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73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73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57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73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7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73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73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7" grpId="0"/>
      <p:bldP spid="57348" grpId="0"/>
      <p:bldP spid="57349" grpId="0"/>
      <p:bldP spid="57350" grpId="0"/>
      <p:bldP spid="5735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7CCA9-4236-6733-20AA-CF991C6EE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Text Box 3">
            <a:extLst>
              <a:ext uri="{FF2B5EF4-FFF2-40B4-BE49-F238E27FC236}">
                <a16:creationId xmlns:a16="http://schemas.microsoft.com/office/drawing/2014/main" id="{54CB5F07-CE81-2BD2-4E0A-F457DC73CCC0}"/>
              </a:ext>
            </a:extLst>
          </p:cNvPr>
          <p:cNvSpPr txBox="1"/>
          <p:nvPr/>
        </p:nvSpPr>
        <p:spPr>
          <a:xfrm>
            <a:off x="3260725" y="2403475"/>
            <a:ext cx="287338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3200" dirty="0"/>
              <a:t>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7836510-BB6A-4C80-B2C2-E997678CC682}"/>
              </a:ext>
            </a:extLst>
          </p:cNvPr>
          <p:cNvSpPr txBox="1"/>
          <p:nvPr/>
        </p:nvSpPr>
        <p:spPr>
          <a:xfrm>
            <a:off x="311696" y="416125"/>
            <a:ext cx="11424592" cy="1833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3200" b="1" kern="100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SStrRange</a:t>
            </a:r>
            <a:r>
              <a:rPr lang="en-US" altLang="zh-CN" sz="3200" b="1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(S, a, b);</a:t>
            </a:r>
            <a:endParaRPr lang="zh-CN" altLang="zh-CN" sz="3200" b="1" kern="100" dirty="0"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buNone/>
            </a:pPr>
            <a:r>
              <a:rPr lang="zh-CN" altLang="zh-CN" sz="3200" b="1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初始条件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：串</a:t>
            </a: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存在，</a:t>
            </a: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3200" kern="100" dirty="0">
                <a:latin typeface="等线" panose="02010600030101010101" pitchFamily="2" charset="-122"/>
                <a:ea typeface="等线 Light" panose="02010600030101010101" pitchFamily="2" charset="-122"/>
                <a:cs typeface="Courier New" panose="02070309020205020404" pitchFamily="49" charset="0"/>
              </a:rPr>
              <a:t>≤</a:t>
            </a: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sz="3200" kern="100" dirty="0">
                <a:latin typeface="等线" panose="02010600030101010101" pitchFamily="2" charset="-122"/>
                <a:ea typeface="等线 Light" panose="02010600030101010101" pitchFamily="2" charset="-122"/>
                <a:cs typeface="Courier New" panose="02070309020205020404" pitchFamily="49" charset="0"/>
              </a:rPr>
              <a:t>≤</a:t>
            </a: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sz="3200" kern="100" dirty="0">
                <a:latin typeface="等线" panose="02010600030101010101" pitchFamily="2" charset="-122"/>
                <a:ea typeface="等线 Light" panose="02010600030101010101" pitchFamily="2" charset="-122"/>
                <a:cs typeface="Courier New" panose="02070309020205020404" pitchFamily="49" charset="0"/>
              </a:rPr>
              <a:t>≤</a:t>
            </a:r>
            <a:r>
              <a:rPr lang="en-US" altLang="zh-CN" sz="3200" kern="100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StrLen</a:t>
            </a: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(S)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。</a:t>
            </a:r>
            <a:endParaRPr lang="zh-CN" altLang="zh-CN" sz="32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buNone/>
            </a:pPr>
            <a:r>
              <a:rPr lang="zh-CN" altLang="zh-CN" sz="3200" b="1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操作结果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：保留</a:t>
            </a: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在区间</a:t>
            </a: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sz="3200" kern="100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a..b</a:t>
            </a: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内的串值，其余被覆盖或清除。</a:t>
            </a:r>
            <a:endParaRPr lang="en-US" altLang="zh-CN" sz="3200" kern="100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8776EE0-57FC-49E0-CAC2-3BCB99539609}"/>
              </a:ext>
            </a:extLst>
          </p:cNvPr>
          <p:cNvSpPr txBox="1"/>
          <p:nvPr/>
        </p:nvSpPr>
        <p:spPr>
          <a:xfrm>
            <a:off x="311696" y="4320717"/>
            <a:ext cx="11544944" cy="2132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2800" b="1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Index(S, T, pos);</a:t>
            </a:r>
            <a:endParaRPr lang="zh-CN" altLang="zh-CN" sz="2800" b="1" kern="100" dirty="0"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buNone/>
            </a:pPr>
            <a:r>
              <a:rPr lang="zh-CN" altLang="zh-CN" sz="2800" b="1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初始条件：</a:t>
            </a:r>
            <a:r>
              <a:rPr lang="zh-CN" altLang="zh-CN" sz="28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串</a:t>
            </a:r>
            <a:r>
              <a:rPr lang="en-US" altLang="zh-CN" sz="28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</a:t>
            </a:r>
            <a:r>
              <a:rPr lang="zh-CN" altLang="zh-CN" sz="28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和</a:t>
            </a:r>
            <a:r>
              <a:rPr lang="en-US" altLang="zh-CN" sz="28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T</a:t>
            </a:r>
            <a:r>
              <a:rPr lang="zh-CN" altLang="zh-CN" sz="28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存在，</a:t>
            </a:r>
            <a:r>
              <a:rPr lang="en-US" altLang="zh-CN" sz="28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T</a:t>
            </a:r>
            <a:r>
              <a:rPr lang="zh-CN" altLang="zh-CN" sz="28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是非空串，</a:t>
            </a:r>
            <a:r>
              <a:rPr lang="en-US" altLang="zh-CN" sz="28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</a:t>
            </a:r>
            <a:r>
              <a:rPr lang="zh-CN" altLang="zh-CN" sz="28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≤</a:t>
            </a:r>
            <a:r>
              <a:rPr lang="en-US" altLang="zh-CN" sz="28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pos</a:t>
            </a:r>
            <a:r>
              <a:rPr lang="zh-CN" altLang="zh-CN" sz="28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≤</a:t>
            </a:r>
            <a:r>
              <a:rPr lang="en-US" altLang="zh-CN" sz="2800" kern="1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StrLen</a:t>
            </a:r>
            <a:r>
              <a:rPr lang="en-US" altLang="zh-CN" sz="28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(S)</a:t>
            </a:r>
            <a:r>
              <a:rPr lang="zh-CN" altLang="zh-CN" sz="28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。</a:t>
            </a:r>
            <a:r>
              <a:rPr lang="en-US" altLang="zh-CN" sz="28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</a:p>
          <a:p>
            <a:pPr>
              <a:lnSpc>
                <a:spcPct val="120000"/>
              </a:lnSpc>
              <a:buNone/>
            </a:pPr>
            <a:r>
              <a:rPr lang="zh-CN" altLang="en-US" sz="2800" b="1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操</a:t>
            </a:r>
            <a:r>
              <a:rPr lang="zh-CN" altLang="zh-CN" sz="2800" b="1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作结果：</a:t>
            </a:r>
            <a:r>
              <a:rPr lang="zh-CN" altLang="zh-CN" sz="28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若主串</a:t>
            </a:r>
            <a:r>
              <a:rPr lang="en-US" altLang="zh-CN" sz="28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</a:t>
            </a:r>
            <a:r>
              <a:rPr lang="zh-CN" altLang="zh-CN" sz="28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中存在和串</a:t>
            </a:r>
            <a:r>
              <a:rPr lang="en-US" altLang="zh-CN" sz="28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T</a:t>
            </a:r>
            <a:r>
              <a:rPr lang="zh-CN" altLang="zh-CN" sz="28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值相同的子串，则返回它在主串</a:t>
            </a:r>
            <a:r>
              <a:rPr lang="en-US" altLang="zh-CN" sz="28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</a:t>
            </a:r>
            <a:r>
              <a:rPr lang="zh-CN" altLang="zh-CN" sz="28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中第</a:t>
            </a:r>
            <a:r>
              <a:rPr lang="en-US" altLang="zh-CN" sz="28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pos</a:t>
            </a:r>
            <a:r>
              <a:rPr lang="zh-CN" altLang="zh-CN" sz="28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个字符起第一次出现的位置；否则函数值为</a:t>
            </a:r>
            <a:r>
              <a:rPr lang="en-US" altLang="zh-CN" sz="28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0</a:t>
            </a:r>
            <a:endParaRPr lang="zh-CN" altLang="en-US" sz="28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8B89F30-5BF6-540F-C94B-A2AD8196C099}"/>
              </a:ext>
            </a:extLst>
          </p:cNvPr>
          <p:cNvSpPr txBox="1"/>
          <p:nvPr/>
        </p:nvSpPr>
        <p:spPr>
          <a:xfrm>
            <a:off x="311696" y="2695575"/>
            <a:ext cx="98887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如：</a:t>
            </a:r>
            <a:r>
              <a:rPr lang="en-US" altLang="zh-CN" sz="3600" dirty="0"/>
              <a:t>S = ‘c</a:t>
            </a:r>
            <a:r>
              <a:rPr lang="en-US" altLang="zh-CN" sz="3600" dirty="0">
                <a:solidFill>
                  <a:srgbClr val="FF0000"/>
                </a:solidFill>
              </a:rPr>
              <a:t>omman</a:t>
            </a:r>
            <a:r>
              <a:rPr lang="en-US" altLang="zh-CN" sz="3600" dirty="0"/>
              <a:t>der’</a:t>
            </a:r>
          </a:p>
          <a:p>
            <a:r>
              <a:rPr lang="zh-CN" altLang="en-US" sz="3600" dirty="0"/>
              <a:t>经过</a:t>
            </a:r>
            <a:r>
              <a:rPr lang="en-US" altLang="zh-CN" sz="3600" dirty="0" err="1"/>
              <a:t>SStrRange</a:t>
            </a:r>
            <a:r>
              <a:rPr lang="en-US" altLang="zh-CN" sz="3600" dirty="0"/>
              <a:t>(s,2,5)</a:t>
            </a:r>
            <a:r>
              <a:rPr lang="zh-CN" altLang="en-US" sz="3600" dirty="0"/>
              <a:t>操作后，</a:t>
            </a:r>
            <a:r>
              <a:rPr lang="en-US" altLang="zh-CN" sz="3600" dirty="0"/>
              <a:t>s</a:t>
            </a:r>
            <a:r>
              <a:rPr lang="zh-CN" altLang="en-US" sz="3600" dirty="0"/>
              <a:t>是</a:t>
            </a:r>
            <a:r>
              <a:rPr lang="en-US" altLang="zh-CN" sz="3600" dirty="0" err="1"/>
              <a:t>omman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76116785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 Box 1026"/>
          <p:cNvSpPr txBox="1"/>
          <p:nvPr/>
        </p:nvSpPr>
        <p:spPr>
          <a:xfrm>
            <a:off x="2209800" y="2422526"/>
            <a:ext cx="7137400" cy="646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600" dirty="0">
                <a:solidFill>
                  <a:srgbClr val="1560AB"/>
                </a:solidFill>
              </a:rPr>
              <a:t>假设 </a:t>
            </a:r>
            <a:r>
              <a:rPr lang="en-US" altLang="zh-CN" sz="3600" dirty="0">
                <a:solidFill>
                  <a:srgbClr val="1560AB"/>
                </a:solidFill>
              </a:rPr>
              <a:t>S = </a:t>
            </a:r>
            <a:r>
              <a:rPr lang="en-US" altLang="zh-CN" sz="3600" dirty="0">
                <a:solidFill>
                  <a:srgbClr val="1560AB"/>
                </a:solidFill>
                <a:sym typeface="Symbol" panose="05050102010706020507" pitchFamily="18" charset="2"/>
              </a:rPr>
              <a:t>abcaabcaaabc,  T = bca</a:t>
            </a:r>
            <a:r>
              <a:rPr lang="en-US" altLang="zh-CN" sz="3600" dirty="0"/>
              <a:t> </a:t>
            </a:r>
          </a:p>
        </p:txBody>
      </p:sp>
      <p:sp>
        <p:nvSpPr>
          <p:cNvPr id="58372" name="Text Box 1028"/>
          <p:cNvSpPr txBox="1"/>
          <p:nvPr/>
        </p:nvSpPr>
        <p:spPr>
          <a:xfrm>
            <a:off x="3222625" y="3413126"/>
            <a:ext cx="4021138" cy="646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3600" dirty="0">
                <a:solidFill>
                  <a:srgbClr val="1560AB"/>
                </a:solidFill>
              </a:rPr>
              <a:t>Index(S, T, </a:t>
            </a:r>
            <a:r>
              <a:rPr lang="en-US" altLang="zh-CN" sz="3600" dirty="0">
                <a:solidFill>
                  <a:srgbClr val="FF0000"/>
                </a:solidFill>
              </a:rPr>
              <a:t>1</a:t>
            </a:r>
            <a:r>
              <a:rPr lang="en-US" altLang="zh-CN" sz="3600" dirty="0">
                <a:solidFill>
                  <a:srgbClr val="1560AB"/>
                </a:solidFill>
              </a:rPr>
              <a:t>) = 2</a:t>
            </a:r>
            <a:r>
              <a:rPr lang="zh-CN" altLang="en-US" sz="3600" dirty="0">
                <a:solidFill>
                  <a:srgbClr val="1560AB"/>
                </a:solidFill>
              </a:rPr>
              <a:t>；</a:t>
            </a:r>
            <a:endParaRPr lang="zh-CN" altLang="en-US" sz="3600" dirty="0"/>
          </a:p>
        </p:txBody>
      </p:sp>
      <p:sp>
        <p:nvSpPr>
          <p:cNvPr id="58373" name="Text Box 1029"/>
          <p:cNvSpPr txBox="1"/>
          <p:nvPr/>
        </p:nvSpPr>
        <p:spPr>
          <a:xfrm>
            <a:off x="3222625" y="4327526"/>
            <a:ext cx="4021138" cy="646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3600" dirty="0">
                <a:solidFill>
                  <a:srgbClr val="1560AB"/>
                </a:solidFill>
              </a:rPr>
              <a:t>Index(S, T, </a:t>
            </a:r>
            <a:r>
              <a:rPr lang="en-US" altLang="zh-CN" sz="3600" dirty="0">
                <a:solidFill>
                  <a:srgbClr val="FF0000"/>
                </a:solidFill>
              </a:rPr>
              <a:t>3</a:t>
            </a:r>
            <a:r>
              <a:rPr lang="en-US" altLang="zh-CN" sz="3600" dirty="0">
                <a:solidFill>
                  <a:srgbClr val="1560AB"/>
                </a:solidFill>
              </a:rPr>
              <a:t>) = 6</a:t>
            </a:r>
            <a:r>
              <a:rPr lang="zh-CN" altLang="en-US" sz="3600" dirty="0">
                <a:solidFill>
                  <a:srgbClr val="1560AB"/>
                </a:solidFill>
              </a:rPr>
              <a:t>；</a:t>
            </a:r>
            <a:endParaRPr lang="zh-CN" altLang="en-US" sz="3600" dirty="0"/>
          </a:p>
        </p:txBody>
      </p:sp>
      <p:sp>
        <p:nvSpPr>
          <p:cNvPr id="58374" name="Text Box 1030"/>
          <p:cNvSpPr txBox="1"/>
          <p:nvPr/>
        </p:nvSpPr>
        <p:spPr>
          <a:xfrm>
            <a:off x="3230564" y="5241926"/>
            <a:ext cx="4021137" cy="646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3600" dirty="0">
                <a:solidFill>
                  <a:srgbClr val="1560AB"/>
                </a:solidFill>
              </a:rPr>
              <a:t>Index(S, T, </a:t>
            </a:r>
            <a:r>
              <a:rPr lang="en-US" altLang="zh-CN" sz="3600" dirty="0">
                <a:solidFill>
                  <a:srgbClr val="FF0000"/>
                </a:solidFill>
              </a:rPr>
              <a:t>8</a:t>
            </a:r>
            <a:r>
              <a:rPr lang="en-US" altLang="zh-CN" sz="3600" dirty="0">
                <a:solidFill>
                  <a:srgbClr val="1560AB"/>
                </a:solidFill>
              </a:rPr>
              <a:t>) = 0</a:t>
            </a:r>
            <a:r>
              <a:rPr lang="zh-CN" altLang="en-US" sz="3600" dirty="0">
                <a:solidFill>
                  <a:srgbClr val="1560AB"/>
                </a:solidFill>
              </a:rPr>
              <a:t>；</a:t>
            </a:r>
            <a:endParaRPr lang="zh-CN" altLang="en-US" sz="3600" dirty="0"/>
          </a:p>
        </p:txBody>
      </p:sp>
      <p:sp>
        <p:nvSpPr>
          <p:cNvPr id="25606" name="Text Box 1031"/>
          <p:cNvSpPr txBox="1"/>
          <p:nvPr/>
        </p:nvSpPr>
        <p:spPr>
          <a:xfrm>
            <a:off x="1905000" y="441326"/>
            <a:ext cx="8763000" cy="14144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en-US" altLang="zh-CN" sz="3600" dirty="0">
                <a:solidFill>
                  <a:schemeClr val="tx2"/>
                </a:solidFill>
              </a:rPr>
              <a:t>   “</a:t>
            </a:r>
            <a:r>
              <a:rPr lang="zh-CN" altLang="en-US" sz="3600" dirty="0">
                <a:solidFill>
                  <a:schemeClr val="tx2"/>
                </a:solidFill>
              </a:rPr>
              <a:t>子串在主串中的位置”意指子串中的第一个字符在主串中的位序。</a:t>
            </a:r>
            <a:endParaRPr lang="zh-CN" altLang="en-US" sz="3600" dirty="0"/>
          </a:p>
        </p:txBody>
      </p:sp>
      <p:sp>
        <p:nvSpPr>
          <p:cNvPr id="58376" name="AutoShape 1032">
            <a:hlinkClick r:id="rId2" action="ppaction://hlinksldjump"/>
          </p:cNvPr>
          <p:cNvSpPr/>
          <p:nvPr/>
        </p:nvSpPr>
        <p:spPr>
          <a:xfrm>
            <a:off x="10058400" y="6248400"/>
            <a:ext cx="381000" cy="381000"/>
          </a:xfrm>
          <a:prstGeom prst="actionButtonBackPrevious">
            <a:avLst/>
          </a:prstGeom>
          <a:solidFill>
            <a:schemeClr val="bg2"/>
          </a:solidFill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58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58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583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58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583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58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83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83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0" grpId="0"/>
      <p:bldP spid="58372" grpId="0"/>
      <p:bldP spid="58373" grpId="0"/>
      <p:bldP spid="5837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7A1CE-6AFF-DE27-3FBE-1480FD8DA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Text Box 3">
            <a:extLst>
              <a:ext uri="{FF2B5EF4-FFF2-40B4-BE49-F238E27FC236}">
                <a16:creationId xmlns:a16="http://schemas.microsoft.com/office/drawing/2014/main" id="{523358B9-E512-85F5-CEF9-4B99EB0AC45B}"/>
              </a:ext>
            </a:extLst>
          </p:cNvPr>
          <p:cNvSpPr txBox="1"/>
          <p:nvPr/>
        </p:nvSpPr>
        <p:spPr>
          <a:xfrm>
            <a:off x="3260725" y="2403475"/>
            <a:ext cx="287338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3200" dirty="0"/>
              <a:t>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4970DB1-2DCD-2D3B-B28A-538D9B2AC40E}"/>
              </a:ext>
            </a:extLst>
          </p:cNvPr>
          <p:cNvSpPr txBox="1"/>
          <p:nvPr/>
        </p:nvSpPr>
        <p:spPr>
          <a:xfrm>
            <a:off x="491716" y="255515"/>
            <a:ext cx="11208568" cy="4880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sz="3200" b="1" kern="100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StrAssign</a:t>
            </a:r>
            <a:r>
              <a:rPr lang="en-US" altLang="zh-CN" sz="3200" b="1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(S, pos, cs)</a:t>
            </a:r>
            <a:endParaRPr lang="zh-CN" altLang="zh-CN" sz="3200" b="1" kern="100" dirty="0"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buNone/>
            </a:pPr>
            <a:r>
              <a:rPr lang="zh-CN" altLang="zh-CN" sz="3200" b="1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初始条件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：</a:t>
            </a: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cs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是</a:t>
            </a: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字符串。</a:t>
            </a:r>
            <a:endParaRPr lang="zh-CN" altLang="zh-CN" sz="32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buNone/>
            </a:pPr>
            <a:r>
              <a:rPr lang="zh-CN" altLang="zh-CN" sz="3200" b="1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操作结果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：用</a:t>
            </a: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串</a:t>
            </a: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cs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复盖</a:t>
            </a: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中第</a:t>
            </a: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pos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个字符起的串值。</a:t>
            </a:r>
            <a:endParaRPr lang="zh-CN" altLang="zh-CN" sz="32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buNone/>
            </a:pPr>
            <a:endParaRPr lang="en-US" altLang="zh-CN" sz="3200" kern="100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zh-CN" sz="3200" b="1" kern="100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StrInsert</a:t>
            </a:r>
            <a:r>
              <a:rPr lang="en-US" altLang="zh-CN" sz="3200" b="1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(S, pos, cs)</a:t>
            </a:r>
            <a:endParaRPr lang="zh-CN" altLang="zh-CN" sz="3200" b="1" kern="100" dirty="0"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zh-CN" altLang="zh-CN" sz="3200" b="1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初始条件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：串</a:t>
            </a: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和</a:t>
            </a: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T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存在，</a:t>
            </a: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l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≤</a:t>
            </a: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pos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≤</a:t>
            </a:r>
            <a:r>
              <a:rPr lang="en-US" altLang="zh-CN" sz="3200" kern="1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StrLen</a:t>
            </a: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(S)+1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，</a:t>
            </a: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cs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是</a:t>
            </a: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C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串。</a:t>
            </a:r>
          </a:p>
          <a:p>
            <a:pPr>
              <a:lnSpc>
                <a:spcPct val="130000"/>
              </a:lnSpc>
            </a:pPr>
            <a:r>
              <a:rPr lang="zh-CN" altLang="zh-CN" sz="3200" b="1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操作结果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：在串</a:t>
            </a: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的第</a:t>
            </a: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pos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个字符之前插入</a:t>
            </a: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C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串</a:t>
            </a: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cs</a:t>
            </a:r>
            <a:r>
              <a:rPr lang="zh-CN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。</a:t>
            </a:r>
          </a:p>
          <a:p>
            <a:pPr>
              <a:lnSpc>
                <a:spcPct val="120000"/>
              </a:lnSpc>
              <a:buNone/>
            </a:pPr>
            <a:endParaRPr lang="zh-CN" altLang="zh-CN" sz="32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Text Box 5">
            <a:extLst>
              <a:ext uri="{FF2B5EF4-FFF2-40B4-BE49-F238E27FC236}">
                <a16:creationId xmlns:a16="http://schemas.microsoft.com/office/drawing/2014/main" id="{1E6C7F77-31B8-33E8-6512-919C2D597B94}"/>
              </a:ext>
            </a:extLst>
          </p:cNvPr>
          <p:cNvSpPr txBox="1"/>
          <p:nvPr/>
        </p:nvSpPr>
        <p:spPr>
          <a:xfrm>
            <a:off x="551384" y="4419601"/>
            <a:ext cx="11017224" cy="221599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15000"/>
              </a:lnSpc>
            </a:pPr>
            <a:r>
              <a:rPr lang="zh-CN" altLang="en-US" sz="4000" dirty="0">
                <a:solidFill>
                  <a:srgbClr val="1560AB"/>
                </a:solidFill>
              </a:rPr>
              <a:t>例如：</a:t>
            </a:r>
            <a:r>
              <a:rPr lang="en-US" altLang="zh-CN" sz="4000" dirty="0">
                <a:solidFill>
                  <a:srgbClr val="1560AB"/>
                </a:solidFill>
              </a:rPr>
              <a:t>S = </a:t>
            </a:r>
            <a:r>
              <a:rPr lang="zh-CN" altLang="en-US" sz="4000" dirty="0">
                <a:solidFill>
                  <a:srgbClr val="1560AB"/>
                </a:solidFill>
                <a:sym typeface="Symbol" panose="05050102010706020507" pitchFamily="18" charset="2"/>
              </a:rPr>
              <a:t>“</a:t>
            </a:r>
            <a:r>
              <a:rPr lang="en-US" altLang="zh-CN" sz="4000" dirty="0" err="1">
                <a:solidFill>
                  <a:srgbClr val="1560AB"/>
                </a:solidFill>
                <a:sym typeface="Symbol" panose="05050102010706020507" pitchFamily="18" charset="2"/>
              </a:rPr>
              <a:t>chater</a:t>
            </a:r>
            <a:r>
              <a:rPr lang="zh-CN" altLang="en-US" sz="4000" dirty="0">
                <a:solidFill>
                  <a:srgbClr val="1560AB"/>
                </a:solidFill>
                <a:sym typeface="Symbol" panose="05050102010706020507" pitchFamily="18" charset="2"/>
              </a:rPr>
              <a:t>”，</a:t>
            </a:r>
            <a:r>
              <a:rPr lang="en-US" altLang="zh-CN" sz="4000" dirty="0">
                <a:solidFill>
                  <a:srgbClr val="1560AB"/>
                </a:solidFill>
                <a:sym typeface="Symbol" panose="05050102010706020507" pitchFamily="18" charset="2"/>
              </a:rPr>
              <a:t>cs = </a:t>
            </a:r>
            <a:r>
              <a:rPr lang="en-US" altLang="zh-CN" sz="4000" dirty="0">
                <a:solidFill>
                  <a:srgbClr val="9966FF"/>
                </a:solidFill>
                <a:sym typeface="Symbol" panose="05050102010706020507" pitchFamily="18" charset="2"/>
              </a:rPr>
              <a:t>rac</a:t>
            </a:r>
            <a:r>
              <a:rPr lang="en-US" altLang="zh-CN" sz="4000" dirty="0">
                <a:solidFill>
                  <a:srgbClr val="1560AB"/>
                </a:solidFill>
                <a:sym typeface="Symbol" panose="05050102010706020507" pitchFamily="18" charset="2"/>
              </a:rPr>
              <a:t></a:t>
            </a:r>
            <a:r>
              <a:rPr lang="zh-CN" altLang="en-US" sz="4000" dirty="0">
                <a:solidFill>
                  <a:srgbClr val="1560AB"/>
                </a:solidFill>
                <a:sym typeface="Symbol" panose="05050102010706020507" pitchFamily="18" charset="2"/>
              </a:rPr>
              <a:t>，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4000" dirty="0">
                <a:solidFill>
                  <a:srgbClr val="1560AB"/>
                </a:solidFill>
                <a:sym typeface="Symbol" panose="05050102010706020507" pitchFamily="18" charset="2"/>
              </a:rPr>
              <a:t>          则执行 </a:t>
            </a:r>
            <a:r>
              <a:rPr lang="en-US" altLang="zh-CN" sz="4000" dirty="0">
                <a:solidFill>
                  <a:srgbClr val="1560AB"/>
                </a:solidFill>
                <a:sym typeface="Symbol" panose="05050102010706020507" pitchFamily="18" charset="2"/>
              </a:rPr>
              <a:t>StrInsert(S, 4,cs)</a:t>
            </a:r>
            <a:r>
              <a:rPr lang="zh-CN" altLang="en-US" sz="4000" dirty="0">
                <a:solidFill>
                  <a:srgbClr val="1560AB"/>
                </a:solidFill>
                <a:sym typeface="Symbol" panose="05050102010706020507" pitchFamily="18" charset="2"/>
              </a:rPr>
              <a:t>之后得到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4000" dirty="0">
                <a:solidFill>
                  <a:srgbClr val="1560AB"/>
                </a:solidFill>
                <a:sym typeface="Symbol" panose="05050102010706020507" pitchFamily="18" charset="2"/>
              </a:rPr>
              <a:t>            </a:t>
            </a:r>
            <a:r>
              <a:rPr lang="en-US" altLang="zh-CN" sz="4000" dirty="0">
                <a:solidFill>
                  <a:srgbClr val="1560AB"/>
                </a:solidFill>
                <a:sym typeface="Symbol" panose="05050102010706020507" pitchFamily="18" charset="2"/>
              </a:rPr>
              <a:t>S = cha</a:t>
            </a:r>
            <a:r>
              <a:rPr lang="en-US" altLang="zh-CN" sz="4000" dirty="0">
                <a:solidFill>
                  <a:srgbClr val="9966FF"/>
                </a:solidFill>
                <a:sym typeface="Symbol" panose="05050102010706020507" pitchFamily="18" charset="2"/>
              </a:rPr>
              <a:t>rac</a:t>
            </a:r>
            <a:r>
              <a:rPr lang="en-US" altLang="zh-CN" sz="4000" dirty="0">
                <a:solidFill>
                  <a:srgbClr val="1560AB"/>
                </a:solidFill>
                <a:sym typeface="Symbol" panose="05050102010706020507" pitchFamily="18" charset="2"/>
              </a:rPr>
              <a:t>ter</a:t>
            </a:r>
            <a:endParaRPr lang="en-US" altLang="zh-CN" sz="3200" dirty="0"/>
          </a:p>
        </p:txBody>
      </p:sp>
    </p:spTree>
    <p:extLst>
      <p:ext uri="{BB962C8B-B14F-4D97-AF65-F5344CB8AC3E}">
        <p14:creationId xmlns:p14="http://schemas.microsoft.com/office/powerpoint/2010/main" val="907605638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3"/>
          <p:cNvSpPr txBox="1"/>
          <p:nvPr/>
        </p:nvSpPr>
        <p:spPr>
          <a:xfrm>
            <a:off x="263352" y="1111764"/>
            <a:ext cx="12098184" cy="22034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sz="3600" b="1" kern="100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StrDelete</a:t>
            </a:r>
            <a:r>
              <a:rPr lang="en-US" altLang="zh-CN" sz="3600" b="1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(S, pos, </a:t>
            </a:r>
            <a:r>
              <a:rPr lang="en-US" altLang="zh-CN" sz="3600" b="1" kern="100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lang="en-US" altLang="zh-CN" sz="3600" b="1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3600" b="1" kern="100" dirty="0"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buNone/>
            </a:pPr>
            <a:r>
              <a:rPr lang="zh-CN" altLang="zh-CN" sz="3600" b="1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初始条件</a:t>
            </a:r>
            <a:r>
              <a:rPr lang="zh-CN" altLang="zh-CN" sz="36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：串</a:t>
            </a:r>
            <a:r>
              <a:rPr lang="en-US" altLang="zh-CN" sz="36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sz="36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存在，</a:t>
            </a:r>
            <a:r>
              <a:rPr lang="en-US" altLang="zh-CN" sz="36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sz="3600" kern="100" dirty="0">
                <a:latin typeface="等线" panose="02010600030101010101" pitchFamily="2" charset="-122"/>
                <a:ea typeface="等线 Light" panose="02010600030101010101" pitchFamily="2" charset="-122"/>
                <a:cs typeface="Courier New" panose="02070309020205020404" pitchFamily="49" charset="0"/>
              </a:rPr>
              <a:t>≤</a:t>
            </a:r>
            <a:r>
              <a:rPr lang="en-US" altLang="zh-CN" sz="36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pos</a:t>
            </a:r>
            <a:r>
              <a:rPr lang="zh-CN" altLang="zh-CN" sz="3600" kern="100" dirty="0">
                <a:latin typeface="等线" panose="02010600030101010101" pitchFamily="2" charset="-122"/>
                <a:ea typeface="等线 Light" panose="02010600030101010101" pitchFamily="2" charset="-122"/>
                <a:cs typeface="Courier New" panose="02070309020205020404" pitchFamily="49" charset="0"/>
              </a:rPr>
              <a:t>≤</a:t>
            </a:r>
            <a:r>
              <a:rPr lang="en-US" altLang="zh-CN" sz="3600" kern="100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StrLen</a:t>
            </a:r>
            <a:r>
              <a:rPr lang="en-US" altLang="zh-CN" sz="36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(S)-len+1</a:t>
            </a:r>
            <a:r>
              <a:rPr lang="zh-CN" altLang="zh-CN" sz="36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。</a:t>
            </a:r>
            <a:endParaRPr lang="zh-CN" altLang="zh-CN" sz="36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buNone/>
            </a:pPr>
            <a:r>
              <a:rPr lang="zh-CN" altLang="zh-CN" sz="3600" b="1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操作结果</a:t>
            </a:r>
            <a:r>
              <a:rPr lang="zh-CN" altLang="zh-CN" sz="36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：从串</a:t>
            </a:r>
            <a:r>
              <a:rPr lang="en-US" altLang="zh-CN" sz="36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sz="36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中删除第</a:t>
            </a:r>
            <a:r>
              <a:rPr lang="en-US" altLang="zh-CN" sz="36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pos</a:t>
            </a:r>
            <a:r>
              <a:rPr lang="zh-CN" altLang="zh-CN" sz="36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个字符起长度为</a:t>
            </a:r>
            <a:r>
              <a:rPr lang="en-US" altLang="zh-CN" sz="3600" kern="100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lang="zh-CN" altLang="zh-CN" sz="36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的子串</a:t>
            </a:r>
            <a:endParaRPr lang="zh-CN" altLang="en-US" sz="1400" dirty="0"/>
          </a:p>
        </p:txBody>
      </p:sp>
      <p:sp>
        <p:nvSpPr>
          <p:cNvPr id="22533" name="AutoShape 5">
            <a:hlinkClick r:id="rId2" action="ppaction://hlinksldjump"/>
          </p:cNvPr>
          <p:cNvSpPr/>
          <p:nvPr/>
        </p:nvSpPr>
        <p:spPr>
          <a:xfrm>
            <a:off x="10058400" y="6248400"/>
            <a:ext cx="381000" cy="381000"/>
          </a:xfrm>
          <a:prstGeom prst="actionButtonBackPrevious">
            <a:avLst/>
          </a:prstGeom>
          <a:solidFill>
            <a:schemeClr val="bg2"/>
          </a:solidFill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/>
          </a:p>
        </p:txBody>
      </p:sp>
      <p:sp>
        <p:nvSpPr>
          <p:cNvPr id="2" name="Text Box 1"/>
          <p:cNvSpPr txBox="1"/>
          <p:nvPr/>
        </p:nvSpPr>
        <p:spPr>
          <a:xfrm>
            <a:off x="407368" y="4030466"/>
            <a:ext cx="1137726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115000"/>
              </a:lnSpc>
            </a:pPr>
            <a:r>
              <a:rPr lang="zh-CN" altLang="en-US" sz="4000" dirty="0">
                <a:solidFill>
                  <a:srgbClr val="1560AB"/>
                </a:solidFill>
                <a:sym typeface="+mn-ea"/>
              </a:rPr>
              <a:t>例如：</a:t>
            </a:r>
            <a:r>
              <a:rPr lang="en-US" altLang="zh-CN" sz="4000" dirty="0">
                <a:solidFill>
                  <a:srgbClr val="1560AB"/>
                </a:solidFill>
                <a:sym typeface="+mn-ea"/>
              </a:rPr>
              <a:t>S = </a:t>
            </a:r>
            <a:r>
              <a:rPr lang="zh-CN" altLang="en-US" sz="4000" dirty="0">
                <a:solidFill>
                  <a:srgbClr val="1560AB"/>
                </a:solidFill>
                <a:sym typeface="Symbol" panose="05050102010706020507" pitchFamily="18" charset="2"/>
              </a:rPr>
              <a:t>“</a:t>
            </a:r>
            <a:r>
              <a:rPr lang="en-US" altLang="zh-CN" sz="4000" dirty="0" err="1">
                <a:solidFill>
                  <a:srgbClr val="1560AB"/>
                </a:solidFill>
                <a:sym typeface="Symbol" panose="05050102010706020507" pitchFamily="18" charset="2"/>
              </a:rPr>
              <a:t>cha</a:t>
            </a:r>
            <a:r>
              <a:rPr lang="en-US" altLang="zh-CN" sz="4000" dirty="0" err="1">
                <a:solidFill>
                  <a:srgbClr val="FF0000"/>
                </a:solidFill>
                <a:sym typeface="Symbol" panose="05050102010706020507" pitchFamily="18" charset="2"/>
              </a:rPr>
              <a:t>te</a:t>
            </a:r>
            <a:r>
              <a:rPr lang="en-US" altLang="zh-CN" sz="4000" dirty="0" err="1">
                <a:solidFill>
                  <a:srgbClr val="1560AB"/>
                </a:solidFill>
                <a:sym typeface="Symbol" panose="05050102010706020507" pitchFamily="18" charset="2"/>
              </a:rPr>
              <a:t>r</a:t>
            </a:r>
            <a:r>
              <a:rPr lang="zh-CN" altLang="en-US" sz="4000" dirty="0">
                <a:solidFill>
                  <a:srgbClr val="1560AB"/>
                </a:solidFill>
                <a:sym typeface="Symbol" panose="05050102010706020507" pitchFamily="18" charset="2"/>
              </a:rPr>
              <a:t>”，执行 </a:t>
            </a:r>
            <a:r>
              <a:rPr lang="en-US" altLang="zh-CN" sz="4000" kern="0" dirty="0">
                <a:solidFill>
                  <a:srgbClr val="C00000"/>
                </a:solidFill>
                <a:latin typeface="+mj-lt"/>
                <a:cs typeface="+mj-cs"/>
                <a:sym typeface="+mn-ea"/>
              </a:rPr>
              <a:t>StrDelete </a:t>
            </a:r>
            <a:r>
              <a:rPr lang="en-US" altLang="zh-CN" sz="4000" dirty="0">
                <a:solidFill>
                  <a:srgbClr val="1560AB"/>
                </a:solidFill>
                <a:sym typeface="Symbol" panose="05050102010706020507" pitchFamily="18" charset="2"/>
              </a:rPr>
              <a:t>(S, 4, 2)</a:t>
            </a:r>
            <a:r>
              <a:rPr lang="zh-CN" altLang="en-US" sz="4000" dirty="0">
                <a:solidFill>
                  <a:srgbClr val="1560AB"/>
                </a:solidFill>
                <a:sym typeface="Symbol" panose="05050102010706020507" pitchFamily="18" charset="2"/>
              </a:rPr>
              <a:t>之后得到“</a:t>
            </a:r>
            <a:r>
              <a:rPr lang="en-US" altLang="zh-CN" sz="4000" dirty="0">
                <a:solidFill>
                  <a:srgbClr val="1560AB"/>
                </a:solidFill>
                <a:sym typeface="Symbol" panose="05050102010706020507" pitchFamily="18" charset="2"/>
              </a:rPr>
              <a:t>char</a:t>
            </a:r>
            <a:r>
              <a:rPr lang="zh-CN" altLang="en-US" sz="4000" dirty="0">
                <a:solidFill>
                  <a:srgbClr val="1560AB"/>
                </a:solidFill>
                <a:sym typeface="Symbol" panose="05050102010706020507" pitchFamily="18" charset="2"/>
              </a:rPr>
              <a:t>”</a:t>
            </a:r>
            <a:endParaRPr lang="en-US" altLang="zh-CN" sz="4000" dirty="0"/>
          </a:p>
          <a:p>
            <a:endParaRPr lang="en-US" altLang="zh-CN" sz="4000" dirty="0"/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/>
          <p:nvPr/>
        </p:nvSpPr>
        <p:spPr>
          <a:xfrm>
            <a:off x="405554" y="548680"/>
            <a:ext cx="11380891" cy="40488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3200" dirty="0"/>
              <a:t>在上述抽象数据类型定义的</a:t>
            </a:r>
            <a:r>
              <a:rPr lang="en-US" altLang="zh-CN" sz="3200" dirty="0"/>
              <a:t>15</a:t>
            </a:r>
            <a:r>
              <a:rPr lang="zh-CN" altLang="en-US" sz="3200" dirty="0"/>
              <a:t>种操作中，</a:t>
            </a:r>
          </a:p>
          <a:p>
            <a:pPr>
              <a:lnSpc>
                <a:spcPct val="125000"/>
              </a:lnSpc>
            </a:pPr>
            <a:r>
              <a:rPr lang="zh-CN" altLang="en-US" sz="3600" dirty="0">
                <a:solidFill>
                  <a:srgbClr val="871B09"/>
                </a:solidFill>
                <a:ea typeface="隶书" panose="02010509060101010101" pitchFamily="49" charset="-122"/>
              </a:rPr>
              <a:t>  串构造</a:t>
            </a:r>
            <a:r>
              <a:rPr lang="en-US" altLang="zh-CN" sz="3600" dirty="0" err="1">
                <a:solidFill>
                  <a:srgbClr val="871B09"/>
                </a:solidFill>
                <a:ea typeface="隶书" panose="02010509060101010101" pitchFamily="49" charset="-122"/>
              </a:rPr>
              <a:t>StrNew</a:t>
            </a:r>
            <a:r>
              <a:rPr lang="zh-CN" altLang="en-US" sz="3600" dirty="0">
                <a:solidFill>
                  <a:srgbClr val="871B09"/>
                </a:solidFill>
                <a:ea typeface="隶书" panose="02010509060101010101" pitchFamily="49" charset="-122"/>
              </a:rPr>
              <a:t>、串回收</a:t>
            </a:r>
            <a:r>
              <a:rPr lang="en-US" altLang="zh-CN" sz="3600" dirty="0" err="1">
                <a:solidFill>
                  <a:srgbClr val="871B09"/>
                </a:solidFill>
                <a:ea typeface="隶书" panose="02010509060101010101" pitchFamily="49" charset="-122"/>
              </a:rPr>
              <a:t>StrFree</a:t>
            </a:r>
            <a:r>
              <a:rPr lang="zh-CN" altLang="en-US" sz="3600" dirty="0">
                <a:solidFill>
                  <a:srgbClr val="871B09"/>
                </a:solidFill>
                <a:ea typeface="隶书" panose="02010509060101010101" pitchFamily="49" charset="-122"/>
              </a:rPr>
              <a:t>、求串长</a:t>
            </a:r>
            <a:r>
              <a:rPr lang="en-US" altLang="zh-CN" sz="3600" dirty="0" err="1">
                <a:solidFill>
                  <a:srgbClr val="871B09"/>
                </a:solidFill>
                <a:ea typeface="隶书" panose="02010509060101010101" pitchFamily="49" charset="-122"/>
              </a:rPr>
              <a:t>StrLen</a:t>
            </a:r>
            <a:r>
              <a:rPr lang="zh-CN" altLang="en-US" sz="3600" dirty="0">
                <a:solidFill>
                  <a:srgbClr val="871B09"/>
                </a:solidFill>
                <a:ea typeface="隶书" panose="02010509060101010101" pitchFamily="49" charset="-122"/>
              </a:rPr>
              <a:t> 、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sz="3600" dirty="0">
                <a:solidFill>
                  <a:srgbClr val="871B09"/>
                </a:solidFill>
                <a:ea typeface="隶书" panose="02010509060101010101" pitchFamily="49" charset="-122"/>
              </a:rPr>
              <a:t>  串比较</a:t>
            </a:r>
            <a:r>
              <a:rPr lang="en-US" altLang="zh-CN" sz="3600" dirty="0" err="1">
                <a:solidFill>
                  <a:srgbClr val="871B09"/>
                </a:solidFill>
                <a:ea typeface="隶书" panose="02010509060101010101" pitchFamily="49" charset="-122"/>
              </a:rPr>
              <a:t>StrCmp</a:t>
            </a:r>
            <a:r>
              <a:rPr lang="zh-CN" altLang="en-US" sz="3600" dirty="0">
                <a:solidFill>
                  <a:srgbClr val="871B09"/>
                </a:solidFill>
                <a:ea typeface="隶书" panose="02010509060101010101" pitchFamily="49" charset="-122"/>
              </a:rPr>
              <a:t>、串连接</a:t>
            </a:r>
            <a:r>
              <a:rPr lang="en-US" altLang="zh-CN" sz="3600" dirty="0" err="1">
                <a:solidFill>
                  <a:srgbClr val="871B09"/>
                </a:solidFill>
                <a:ea typeface="隶书" panose="02010509060101010101" pitchFamily="49" charset="-122"/>
              </a:rPr>
              <a:t>StrConcat</a:t>
            </a:r>
            <a:r>
              <a:rPr lang="zh-CN" altLang="en-US" sz="3600" dirty="0">
                <a:solidFill>
                  <a:srgbClr val="871B09"/>
                </a:solidFill>
                <a:ea typeface="隶书" panose="02010509060101010101" pitchFamily="49" charset="-122"/>
              </a:rPr>
              <a:t>以及求子串</a:t>
            </a:r>
            <a:r>
              <a:rPr lang="en-US" altLang="zh-CN" sz="3600" dirty="0" err="1">
                <a:solidFill>
                  <a:srgbClr val="871B09"/>
                </a:solidFill>
                <a:ea typeface="隶书" panose="02010509060101010101" pitchFamily="49" charset="-122"/>
              </a:rPr>
              <a:t>SubStr</a:t>
            </a:r>
            <a:endParaRPr lang="en-US" altLang="zh-CN" sz="3600" dirty="0">
              <a:solidFill>
                <a:srgbClr val="871B09"/>
              </a:solidFill>
              <a:ea typeface="隶书" panose="02010509060101010101" pitchFamily="49" charset="-122"/>
            </a:endParaRPr>
          </a:p>
          <a:p>
            <a:pPr eaLnBrk="1" hangingPunct="1">
              <a:lnSpc>
                <a:spcPct val="125000"/>
              </a:lnSpc>
            </a:pPr>
            <a:r>
              <a:rPr lang="en-US" altLang="zh-CN" sz="3600" dirty="0">
                <a:solidFill>
                  <a:srgbClr val="871B09"/>
                </a:solidFill>
                <a:ea typeface="隶书" panose="02010509060101010101" pitchFamily="49" charset="-122"/>
              </a:rPr>
              <a:t>  </a:t>
            </a:r>
            <a:r>
              <a:rPr lang="zh-CN" altLang="en-US" sz="3600" dirty="0">
                <a:solidFill>
                  <a:srgbClr val="871B09"/>
                </a:solidFill>
                <a:ea typeface="隶书" panose="02010509060101010101" pitchFamily="49" charset="-122"/>
              </a:rPr>
              <a:t>等六种操作构成串类型的最小操作子集。</a:t>
            </a:r>
            <a:endParaRPr lang="zh-CN" altLang="en-US" sz="3600" dirty="0">
              <a:solidFill>
                <a:srgbClr val="871B09"/>
              </a:solidFill>
            </a:endParaRPr>
          </a:p>
          <a:p>
            <a:pPr eaLnBrk="1" hangingPunct="1">
              <a:lnSpc>
                <a:spcPct val="125000"/>
              </a:lnSpc>
            </a:pPr>
            <a:r>
              <a:rPr lang="zh-CN" altLang="en-US" sz="3600" dirty="0"/>
              <a:t>  </a:t>
            </a:r>
            <a:r>
              <a:rPr lang="zh-CN" altLang="en-US" sz="3200" dirty="0"/>
              <a:t>即：这些操作不可能利用其他串操作来实现，反之，其他串操作（可在这个最小操作子集上实现。</a:t>
            </a:r>
            <a:endParaRPr lang="zh-CN" altLang="en-US" dirty="0"/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2"/>
          <p:cNvSpPr txBox="1"/>
          <p:nvPr/>
        </p:nvSpPr>
        <p:spPr>
          <a:xfrm>
            <a:off x="1524000" y="228600"/>
            <a:ext cx="8991600" cy="14938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15000"/>
              </a:lnSpc>
            </a:pPr>
            <a:r>
              <a:rPr lang="en-US" altLang="zh-CN" sz="4400" dirty="0"/>
              <a:t>    </a:t>
            </a:r>
            <a:r>
              <a:rPr lang="zh-CN" altLang="en-US" sz="3600" dirty="0"/>
              <a:t>例如，可利用</a:t>
            </a:r>
            <a:r>
              <a:rPr lang="zh-CN" altLang="zh-CN" sz="3600" dirty="0"/>
              <a:t>串比较</a:t>
            </a:r>
            <a:r>
              <a:rPr lang="zh-CN" altLang="en-US" sz="3600" dirty="0"/>
              <a:t>、求串长和求子串等操作实现定位函数</a:t>
            </a:r>
            <a:r>
              <a:rPr lang="en-US" altLang="zh-CN" sz="3600" dirty="0"/>
              <a:t>Index(S,T,pos)</a:t>
            </a:r>
            <a:r>
              <a:rPr lang="zh-CN" altLang="en-US" sz="3600" dirty="0"/>
              <a:t>。</a:t>
            </a:r>
            <a:r>
              <a:rPr lang="zh-CN" altLang="en-US" dirty="0"/>
              <a:t>  </a:t>
            </a:r>
          </a:p>
        </p:txBody>
      </p:sp>
      <p:sp>
        <p:nvSpPr>
          <p:cNvPr id="25604" name="Text Box 4"/>
          <p:cNvSpPr txBox="1"/>
          <p:nvPr/>
        </p:nvSpPr>
        <p:spPr>
          <a:xfrm>
            <a:off x="1752600" y="2582863"/>
            <a:ext cx="5723042" cy="1107996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dirty="0"/>
              <a:t>StrCompare(</a:t>
            </a:r>
            <a:r>
              <a:rPr lang="en-US" altLang="zh-CN" sz="2400" dirty="0" err="1"/>
              <a:t>SubStr</a:t>
            </a:r>
            <a:r>
              <a:rPr lang="en-US" altLang="zh-CN" sz="2400" dirty="0"/>
              <a:t>(S, i, </a:t>
            </a:r>
            <a:r>
              <a:rPr lang="en-US" altLang="zh-CN" sz="2400" dirty="0" err="1"/>
              <a:t>StrLen</a:t>
            </a:r>
            <a:r>
              <a:rPr lang="en-US" altLang="zh-CN" sz="2400" dirty="0"/>
              <a:t>(T)),T )   </a:t>
            </a:r>
            <a:r>
              <a:rPr lang="en-US" altLang="zh-CN" sz="6600" dirty="0">
                <a:solidFill>
                  <a:srgbClr val="FF0000"/>
                </a:solidFill>
              </a:rPr>
              <a:t>?</a:t>
            </a:r>
            <a:r>
              <a:rPr lang="en-US" altLang="zh-CN" sz="2400" dirty="0">
                <a:solidFill>
                  <a:srgbClr val="FF0000"/>
                </a:solidFill>
              </a:rPr>
              <a:t>  </a:t>
            </a:r>
            <a:r>
              <a:rPr lang="en-US" altLang="zh-CN" sz="40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25605" name="Line 5"/>
          <p:cNvSpPr/>
          <p:nvPr/>
        </p:nvSpPr>
        <p:spPr>
          <a:xfrm>
            <a:off x="9525000" y="3124200"/>
            <a:ext cx="609600" cy="0"/>
          </a:xfrm>
          <a:prstGeom prst="line">
            <a:avLst/>
          </a:prstGeom>
          <a:ln w="28575" cap="flat" cmpd="sng">
            <a:solidFill>
              <a:srgbClr val="DE2C5B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6" name="Line 6"/>
          <p:cNvSpPr/>
          <p:nvPr/>
        </p:nvSpPr>
        <p:spPr>
          <a:xfrm>
            <a:off x="9525000" y="3276600"/>
            <a:ext cx="609600" cy="0"/>
          </a:xfrm>
          <a:prstGeom prst="line">
            <a:avLst/>
          </a:prstGeom>
          <a:ln w="28575" cap="flat" cmpd="sng">
            <a:solidFill>
              <a:srgbClr val="C23A5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8" name="Text Box 8"/>
          <p:cNvSpPr txBox="1"/>
          <p:nvPr/>
        </p:nvSpPr>
        <p:spPr>
          <a:xfrm>
            <a:off x="2117726" y="4710113"/>
            <a:ext cx="7712075" cy="523220"/>
          </a:xfrm>
          <a:prstGeom prst="rect">
            <a:avLst/>
          </a:prstGeom>
          <a:solidFill>
            <a:srgbClr val="3366FF">
              <a:alpha val="50195"/>
            </a:srgbClr>
          </a:solidFill>
          <a:ln w="25400" cap="flat" cmpd="sng">
            <a:solidFill>
              <a:srgbClr val="00008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/>
              <a:t>                                   </a:t>
            </a:r>
            <a:r>
              <a:rPr lang="en-US" altLang="zh-CN" dirty="0">
                <a:solidFill>
                  <a:srgbClr val="000099"/>
                </a:solidFill>
              </a:rPr>
              <a:t>S </a:t>
            </a:r>
            <a:r>
              <a:rPr lang="zh-CN" altLang="en-US" dirty="0">
                <a:solidFill>
                  <a:srgbClr val="000099"/>
                </a:solidFill>
              </a:rPr>
              <a:t>串</a:t>
            </a:r>
            <a:endParaRPr lang="zh-CN" altLang="en-US" dirty="0"/>
          </a:p>
        </p:txBody>
      </p:sp>
      <p:sp>
        <p:nvSpPr>
          <p:cNvPr id="25609" name="Text Box 9"/>
          <p:cNvSpPr txBox="1"/>
          <p:nvPr/>
        </p:nvSpPr>
        <p:spPr>
          <a:xfrm>
            <a:off x="3717926" y="5253038"/>
            <a:ext cx="1158875" cy="538162"/>
          </a:xfrm>
          <a:prstGeom prst="rect">
            <a:avLst/>
          </a:prstGeom>
          <a:solidFill>
            <a:schemeClr val="accent2">
              <a:alpha val="50195"/>
            </a:schemeClr>
          </a:solidFill>
          <a:ln w="19050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/>
              <a:t>  T </a:t>
            </a:r>
            <a:r>
              <a:rPr lang="zh-CN" altLang="en-US" dirty="0"/>
              <a:t>串</a:t>
            </a:r>
          </a:p>
        </p:txBody>
      </p:sp>
      <p:sp>
        <p:nvSpPr>
          <p:cNvPr id="25610" name="Line 10"/>
          <p:cNvSpPr/>
          <p:nvPr/>
        </p:nvSpPr>
        <p:spPr>
          <a:xfrm>
            <a:off x="3733800" y="3886200"/>
            <a:ext cx="0" cy="838200"/>
          </a:xfrm>
          <a:prstGeom prst="line">
            <a:avLst/>
          </a:prstGeom>
          <a:ln w="31750" cap="flat" cmpd="sng">
            <a:solidFill>
              <a:srgbClr val="FF6600"/>
            </a:solidFill>
            <a:prstDash val="solid"/>
            <a:headEnd type="none" w="med" len="med"/>
            <a:tailEnd type="triangle" w="med" len="lg"/>
          </a:ln>
        </p:spPr>
      </p:sp>
      <p:sp>
        <p:nvSpPr>
          <p:cNvPr id="25611" name="Line 11"/>
          <p:cNvSpPr/>
          <p:nvPr/>
        </p:nvSpPr>
        <p:spPr>
          <a:xfrm>
            <a:off x="3733800" y="4724400"/>
            <a:ext cx="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25612" name="Line 12"/>
          <p:cNvSpPr/>
          <p:nvPr/>
        </p:nvSpPr>
        <p:spPr>
          <a:xfrm>
            <a:off x="4876800" y="4724400"/>
            <a:ext cx="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25613" name="Text Box 13"/>
          <p:cNvSpPr txBox="1"/>
          <p:nvPr/>
        </p:nvSpPr>
        <p:spPr>
          <a:xfrm>
            <a:off x="8670926" y="5257801"/>
            <a:ext cx="1158875" cy="538163"/>
          </a:xfrm>
          <a:prstGeom prst="rect">
            <a:avLst/>
          </a:prstGeom>
          <a:solidFill>
            <a:schemeClr val="accent2">
              <a:alpha val="50195"/>
            </a:schemeClr>
          </a:solidFill>
          <a:ln w="19050" cap="rnd" cmpd="sng">
            <a:solidFill>
              <a:schemeClr val="tx2"/>
            </a:solidFill>
            <a:prstDash val="sysDot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/>
              <a:t>  </a:t>
            </a:r>
            <a:r>
              <a:rPr lang="en-US" altLang="zh-CN" dirty="0">
                <a:solidFill>
                  <a:schemeClr val="bg2"/>
                </a:solidFill>
              </a:rPr>
              <a:t>T </a:t>
            </a:r>
            <a:r>
              <a:rPr lang="zh-CN" altLang="en-US" dirty="0">
                <a:solidFill>
                  <a:schemeClr val="bg2"/>
                </a:solidFill>
              </a:rPr>
              <a:t>串</a:t>
            </a:r>
            <a:endParaRPr lang="zh-CN" altLang="en-US" dirty="0"/>
          </a:p>
        </p:txBody>
      </p:sp>
      <p:sp>
        <p:nvSpPr>
          <p:cNvPr id="25614" name="Line 14"/>
          <p:cNvSpPr/>
          <p:nvPr/>
        </p:nvSpPr>
        <p:spPr>
          <a:xfrm>
            <a:off x="8686800" y="3886200"/>
            <a:ext cx="0" cy="838200"/>
          </a:xfrm>
          <a:prstGeom prst="line">
            <a:avLst/>
          </a:prstGeom>
          <a:ln w="31750" cap="flat" cmpd="sng">
            <a:solidFill>
              <a:srgbClr val="FF9966"/>
            </a:solidFill>
            <a:prstDash val="solid"/>
            <a:headEnd type="none" w="med" len="med"/>
            <a:tailEnd type="triangle" w="med" len="lg"/>
          </a:ln>
        </p:spPr>
      </p:sp>
      <p:sp>
        <p:nvSpPr>
          <p:cNvPr id="25615" name="Line 15"/>
          <p:cNvSpPr/>
          <p:nvPr/>
        </p:nvSpPr>
        <p:spPr>
          <a:xfrm>
            <a:off x="3733800" y="4191000"/>
            <a:ext cx="4953000" cy="0"/>
          </a:xfrm>
          <a:prstGeom prst="line">
            <a:avLst/>
          </a:prstGeom>
          <a:ln w="25400" cap="flat" cmpd="sng">
            <a:solidFill>
              <a:srgbClr val="FF9966"/>
            </a:solidFill>
            <a:prstDash val="solid"/>
            <a:headEnd type="none" w="med" len="med"/>
            <a:tailEnd type="triangle" w="med" len="lg"/>
          </a:ln>
        </p:spPr>
      </p:sp>
      <p:sp>
        <p:nvSpPr>
          <p:cNvPr id="25616" name="Text Box 16"/>
          <p:cNvSpPr txBox="1"/>
          <p:nvPr/>
        </p:nvSpPr>
        <p:spPr>
          <a:xfrm>
            <a:off x="3733800" y="3730625"/>
            <a:ext cx="284052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dirty="0">
                <a:solidFill>
                  <a:srgbClr val="FF6600"/>
                </a:solidFill>
              </a:rPr>
              <a:t>i</a:t>
            </a:r>
            <a:endParaRPr lang="en-US" altLang="zh-CN" dirty="0"/>
          </a:p>
        </p:txBody>
      </p:sp>
      <p:sp>
        <p:nvSpPr>
          <p:cNvPr id="25617" name="Text Box 17"/>
          <p:cNvSpPr txBox="1"/>
          <p:nvPr/>
        </p:nvSpPr>
        <p:spPr>
          <a:xfrm>
            <a:off x="3032126" y="5119688"/>
            <a:ext cx="704039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dirty="0">
                <a:solidFill>
                  <a:srgbClr val="0000FF"/>
                </a:solidFill>
              </a:rPr>
              <a:t>pos</a:t>
            </a:r>
            <a:endParaRPr lang="en-US" altLang="zh-CN" dirty="0"/>
          </a:p>
        </p:txBody>
      </p:sp>
      <p:sp>
        <p:nvSpPr>
          <p:cNvPr id="25618" name="Line 18"/>
          <p:cNvSpPr/>
          <p:nvPr/>
        </p:nvSpPr>
        <p:spPr>
          <a:xfrm>
            <a:off x="3733800" y="5257800"/>
            <a:ext cx="0" cy="1066800"/>
          </a:xfrm>
          <a:prstGeom prst="line">
            <a:avLst/>
          </a:prstGeom>
          <a:ln w="31750" cap="flat" cmpd="sng">
            <a:solidFill>
              <a:srgbClr val="000099"/>
            </a:solidFill>
            <a:prstDash val="solid"/>
            <a:headEnd type="triangle" w="med" len="lg"/>
            <a:tailEnd type="none" w="med" len="lg"/>
          </a:ln>
        </p:spPr>
      </p:sp>
      <p:sp>
        <p:nvSpPr>
          <p:cNvPr id="25621" name="Text Box 21"/>
          <p:cNvSpPr txBox="1"/>
          <p:nvPr/>
        </p:nvSpPr>
        <p:spPr>
          <a:xfrm>
            <a:off x="7620001" y="5195888"/>
            <a:ext cx="1189749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dirty="0">
                <a:solidFill>
                  <a:srgbClr val="FF6600"/>
                </a:solidFill>
              </a:rPr>
              <a:t>n-m+1</a:t>
            </a:r>
            <a:endParaRPr lang="en-US" altLang="zh-CN" dirty="0"/>
          </a:p>
        </p:txBody>
      </p:sp>
      <p:sp>
        <p:nvSpPr>
          <p:cNvPr id="25620" name="Comment 20"/>
          <p:cNvSpPr/>
          <p:nvPr/>
        </p:nvSpPr>
        <p:spPr>
          <a:xfrm>
            <a:off x="2149476" y="1939926"/>
            <a:ext cx="4327525" cy="650875"/>
          </a:xfrm>
          <a:prstGeom prst="rect">
            <a:avLst/>
          </a:prstGeom>
          <a:solidFill>
            <a:srgbClr val="FCFDC6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2699999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3600" dirty="0">
                <a:solidFill>
                  <a:srgbClr val="871B09"/>
                </a:solidFill>
              </a:rPr>
              <a:t>算法的基本思想为：</a:t>
            </a: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56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56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56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56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56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5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56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56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56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56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56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56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56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5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56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56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56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56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56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56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56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56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500"/>
                            </p:stCondLst>
                            <p:childTnLst>
                              <p:par>
                                <p:cTn id="6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56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56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56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56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56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56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56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56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56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56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56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56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56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56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4" grpId="0"/>
      <p:bldP spid="25608" grpId="0" animBg="1"/>
      <p:bldP spid="25609" grpId="0" animBg="1"/>
      <p:bldP spid="25613" grpId="0" animBg="1"/>
      <p:bldP spid="25616" grpId="0"/>
      <p:bldP spid="25617" grpId="0"/>
      <p:bldP spid="25621" grpId="0"/>
      <p:bldP spid="2562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8">
            <a:hlinkClick r:id="" action="ppaction://hlinkshowjump?jump=firstslide"/>
          </p:cNvPr>
          <p:cNvSpPr txBox="1"/>
          <p:nvPr/>
        </p:nvSpPr>
        <p:spPr>
          <a:xfrm>
            <a:off x="1690689" y="152401"/>
            <a:ext cx="9829935" cy="6672724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3200" dirty="0"/>
              <a:t>int Index (String S, String T, int pos) {</a:t>
            </a:r>
          </a:p>
          <a:p>
            <a:pPr eaLnBrk="1" hangingPunct="1"/>
            <a:r>
              <a:rPr lang="en-US" altLang="zh-CN" sz="3600" dirty="0">
                <a:solidFill>
                  <a:schemeClr val="accent2"/>
                </a:solidFill>
              </a:rPr>
              <a:t> </a:t>
            </a:r>
            <a:r>
              <a:rPr lang="en-US" altLang="zh-CN" sz="2400" dirty="0">
                <a:solidFill>
                  <a:schemeClr val="accent2"/>
                </a:solidFill>
              </a:rPr>
              <a:t>// T</a:t>
            </a:r>
            <a:r>
              <a:rPr lang="zh-CN" altLang="en-US" sz="2400" dirty="0">
                <a:solidFill>
                  <a:schemeClr val="accent2"/>
                </a:solidFill>
              </a:rPr>
              <a:t>为非空串。若主串</a:t>
            </a:r>
            <a:r>
              <a:rPr lang="en-US" altLang="zh-CN" sz="2400" dirty="0">
                <a:solidFill>
                  <a:schemeClr val="accent2"/>
                </a:solidFill>
              </a:rPr>
              <a:t>S</a:t>
            </a:r>
            <a:r>
              <a:rPr lang="zh-CN" altLang="en-US" sz="2400" dirty="0">
                <a:solidFill>
                  <a:schemeClr val="accent2"/>
                </a:solidFill>
              </a:rPr>
              <a:t>中第</a:t>
            </a:r>
            <a:r>
              <a:rPr lang="en-US" altLang="zh-CN" sz="2400" dirty="0">
                <a:solidFill>
                  <a:schemeClr val="accent2"/>
                </a:solidFill>
              </a:rPr>
              <a:t>pos</a:t>
            </a:r>
            <a:r>
              <a:rPr lang="zh-CN" altLang="en-US" sz="2400" dirty="0">
                <a:solidFill>
                  <a:schemeClr val="accent2"/>
                </a:solidFill>
              </a:rPr>
              <a:t>个字符之后存在与 </a:t>
            </a:r>
            <a:r>
              <a:rPr lang="en-US" altLang="zh-CN" sz="2400" dirty="0">
                <a:solidFill>
                  <a:schemeClr val="accent2"/>
                </a:solidFill>
              </a:rPr>
              <a:t>T</a:t>
            </a:r>
            <a:r>
              <a:rPr lang="zh-CN" altLang="en-US" sz="2400" dirty="0">
                <a:solidFill>
                  <a:schemeClr val="accent2"/>
                </a:solidFill>
              </a:rPr>
              <a:t>相等的子串，</a:t>
            </a:r>
            <a:endParaRPr lang="en-US" altLang="zh-CN" sz="2400" dirty="0">
              <a:solidFill>
                <a:schemeClr val="accent2"/>
              </a:solidFill>
            </a:endParaRPr>
          </a:p>
          <a:p>
            <a:pPr eaLnBrk="1" hangingPunct="1"/>
            <a:r>
              <a:rPr lang="zh-CN" altLang="en-US" sz="2400" dirty="0">
                <a:solidFill>
                  <a:schemeClr val="accent2"/>
                </a:solidFill>
              </a:rPr>
              <a:t>则返回第一个这样的子串在</a:t>
            </a:r>
            <a:r>
              <a:rPr lang="en-US" altLang="zh-CN" sz="2400" dirty="0">
                <a:solidFill>
                  <a:schemeClr val="accent2"/>
                </a:solidFill>
              </a:rPr>
              <a:t>S</a:t>
            </a:r>
            <a:r>
              <a:rPr lang="zh-CN" altLang="en-US" sz="2400" dirty="0">
                <a:solidFill>
                  <a:schemeClr val="accent2"/>
                </a:solidFill>
              </a:rPr>
              <a:t>中的位置，否则返回</a:t>
            </a:r>
            <a:r>
              <a:rPr lang="en-US" altLang="zh-CN" sz="2400" dirty="0">
                <a:solidFill>
                  <a:schemeClr val="accent2"/>
                </a:solidFill>
              </a:rPr>
              <a:t>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3200" dirty="0"/>
              <a:t>  if (pos &gt; 0)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3200" dirty="0"/>
              <a:t>    n = </a:t>
            </a:r>
            <a:r>
              <a:rPr lang="en-US" altLang="zh-CN" sz="3200" dirty="0" err="1"/>
              <a:t>StrLen</a:t>
            </a:r>
            <a:r>
              <a:rPr lang="en-US" altLang="zh-CN" sz="3200" dirty="0"/>
              <a:t>(S);  m = </a:t>
            </a:r>
            <a:r>
              <a:rPr lang="en-US" altLang="zh-CN" sz="3200" dirty="0" err="1"/>
              <a:t>StrLen</a:t>
            </a:r>
            <a:r>
              <a:rPr lang="en-US" altLang="zh-CN" sz="3200" dirty="0"/>
              <a:t>(T);  i = pos;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3200" dirty="0"/>
              <a:t>    while ( i &lt;= n-m+1)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3200" dirty="0"/>
              <a:t>        </a:t>
            </a:r>
            <a:r>
              <a:rPr lang="en-US" altLang="zh-CN" sz="3200" dirty="0">
                <a:solidFill>
                  <a:srgbClr val="0000FF"/>
                </a:solidFill>
              </a:rPr>
              <a:t>sub = </a:t>
            </a:r>
            <a:r>
              <a:rPr lang="en-US" altLang="zh-CN" sz="3200" dirty="0" err="1">
                <a:solidFill>
                  <a:srgbClr val="0000FF"/>
                </a:solidFill>
              </a:rPr>
              <a:t>SubStr</a:t>
            </a:r>
            <a:r>
              <a:rPr lang="en-US" altLang="zh-CN" sz="3200" dirty="0">
                <a:solidFill>
                  <a:srgbClr val="0000FF"/>
                </a:solidFill>
              </a:rPr>
              <a:t> (S, </a:t>
            </a:r>
            <a:r>
              <a:rPr lang="en-US" altLang="zh-CN" sz="3200" dirty="0" err="1">
                <a:solidFill>
                  <a:srgbClr val="0000FF"/>
                </a:solidFill>
              </a:rPr>
              <a:t>i</a:t>
            </a:r>
            <a:r>
              <a:rPr lang="en-US" altLang="zh-CN" sz="3200" dirty="0">
                <a:solidFill>
                  <a:srgbClr val="0000FF"/>
                </a:solidFill>
              </a:rPr>
              <a:t>, m);      </a:t>
            </a:r>
            <a:r>
              <a:rPr lang="en-US" altLang="zh-CN" sz="3200" dirty="0">
                <a:solidFill>
                  <a:srgbClr val="FF0000"/>
                </a:solidFill>
              </a:rPr>
              <a:t>//</a:t>
            </a:r>
            <a:r>
              <a:rPr lang="zh-CN" altLang="en-US" sz="3200" dirty="0">
                <a:solidFill>
                  <a:srgbClr val="FF0000"/>
                </a:solidFill>
              </a:rPr>
              <a:t>求</a:t>
            </a:r>
            <a:r>
              <a:rPr lang="en-US" altLang="zh-CN" sz="3200" dirty="0">
                <a:solidFill>
                  <a:srgbClr val="FF0000"/>
                </a:solidFill>
              </a:rPr>
              <a:t>S</a:t>
            </a:r>
            <a:r>
              <a:rPr lang="zh-CN" altLang="en-US" sz="3200" dirty="0">
                <a:solidFill>
                  <a:srgbClr val="FF0000"/>
                </a:solidFill>
              </a:rPr>
              <a:t>中与</a:t>
            </a:r>
            <a:r>
              <a:rPr lang="en-US" altLang="zh-CN" sz="3200" dirty="0">
                <a:solidFill>
                  <a:srgbClr val="FF0000"/>
                </a:solidFill>
              </a:rPr>
              <a:t>T</a:t>
            </a:r>
            <a:r>
              <a:rPr lang="zh-CN" altLang="en-US" sz="3200" dirty="0">
                <a:solidFill>
                  <a:srgbClr val="FF0000"/>
                </a:solidFill>
              </a:rPr>
              <a:t>长度一致的子串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3200" dirty="0"/>
              <a:t>        </a:t>
            </a:r>
            <a:r>
              <a:rPr lang="en-US" altLang="zh-CN" sz="3200" dirty="0">
                <a:solidFill>
                  <a:srgbClr val="0000FF"/>
                </a:solidFill>
              </a:rPr>
              <a:t>if (</a:t>
            </a:r>
            <a:r>
              <a:rPr lang="en-US" altLang="zh-CN" sz="3200" dirty="0" err="1">
                <a:solidFill>
                  <a:srgbClr val="0000FF"/>
                </a:solidFill>
              </a:rPr>
              <a:t>StrCmp</a:t>
            </a:r>
            <a:r>
              <a:rPr lang="en-US" altLang="zh-CN" sz="3200" dirty="0">
                <a:solidFill>
                  <a:srgbClr val="0000FF"/>
                </a:solidFill>
              </a:rPr>
              <a:t>(sub,T) != 0)   ++i 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3200" dirty="0">
                <a:solidFill>
                  <a:srgbClr val="0000FF"/>
                </a:solidFill>
              </a:rPr>
              <a:t>        else return </a:t>
            </a:r>
            <a:r>
              <a:rPr lang="en-US" altLang="zh-CN" sz="3200" dirty="0" err="1">
                <a:solidFill>
                  <a:srgbClr val="0000FF"/>
                </a:solidFill>
              </a:rPr>
              <a:t>i</a:t>
            </a:r>
            <a:r>
              <a:rPr lang="en-US" altLang="zh-CN" sz="3200" dirty="0">
                <a:solidFill>
                  <a:srgbClr val="0000FF"/>
                </a:solidFill>
              </a:rPr>
              <a:t> ;                    </a:t>
            </a:r>
            <a:r>
              <a:rPr lang="en-US" altLang="zh-CN" sz="3200" dirty="0">
                <a:solidFill>
                  <a:srgbClr val="FF0000"/>
                </a:solidFill>
              </a:rPr>
              <a:t>//</a:t>
            </a:r>
            <a:r>
              <a:rPr lang="zh-CN" altLang="en-US" sz="3200" dirty="0">
                <a:solidFill>
                  <a:srgbClr val="FF0000"/>
                </a:solidFill>
              </a:rPr>
              <a:t>匹配成功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3200" dirty="0"/>
              <a:t>    } // while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3200" dirty="0"/>
              <a:t>  } // if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3200" dirty="0"/>
              <a:t>  return 0;          </a:t>
            </a:r>
            <a:r>
              <a:rPr lang="en-US" altLang="zh-CN" sz="2000" dirty="0"/>
              <a:t>// S</a:t>
            </a:r>
            <a:r>
              <a:rPr lang="zh-CN" altLang="en-US" sz="2000" dirty="0"/>
              <a:t>中不存在与</a:t>
            </a:r>
            <a:r>
              <a:rPr lang="en-US" altLang="zh-CN" sz="2000" dirty="0"/>
              <a:t>T</a:t>
            </a:r>
            <a:r>
              <a:rPr lang="zh-CN" altLang="en-US" sz="2000" dirty="0"/>
              <a:t>相等的子串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dirty="0"/>
              <a:t>} // Index</a:t>
            </a:r>
            <a:endParaRPr lang="en-US" altLang="zh-CN" sz="3200" dirty="0"/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2"/>
          <p:cNvSpPr txBox="1"/>
          <p:nvPr/>
        </p:nvSpPr>
        <p:spPr>
          <a:xfrm>
            <a:off x="3717925" y="1544638"/>
            <a:ext cx="1841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endParaRPr lang="zh-CN" altLang="zh-CN" sz="2400" dirty="0"/>
          </a:p>
        </p:txBody>
      </p:sp>
      <p:sp>
        <p:nvSpPr>
          <p:cNvPr id="31747" name="Text Box 3"/>
          <p:cNvSpPr txBox="1"/>
          <p:nvPr/>
        </p:nvSpPr>
        <p:spPr>
          <a:xfrm>
            <a:off x="1600200" y="152400"/>
            <a:ext cx="8921750" cy="1987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15000"/>
              </a:lnSpc>
            </a:pPr>
            <a:r>
              <a:rPr lang="en-US" altLang="zh-CN" sz="2400" dirty="0"/>
              <a:t>           </a:t>
            </a:r>
            <a:r>
              <a:rPr lang="zh-CN" altLang="en-US" sz="3600" dirty="0">
                <a:solidFill>
                  <a:srgbClr val="006666"/>
                </a:solidFill>
              </a:rPr>
              <a:t>对于串的基本操作集可以有不同的定义方法，在使用高级程序设计语言中的串类型时，应以该语言的参考手册为准。</a:t>
            </a:r>
            <a:endParaRPr lang="zh-CN" altLang="en-US" sz="3600" dirty="0">
              <a:solidFill>
                <a:srgbClr val="1560AB"/>
              </a:solidFill>
            </a:endParaRPr>
          </a:p>
        </p:txBody>
      </p:sp>
      <p:sp>
        <p:nvSpPr>
          <p:cNvPr id="24580" name="Text Box 4"/>
          <p:cNvSpPr txBox="1"/>
          <p:nvPr/>
        </p:nvSpPr>
        <p:spPr>
          <a:xfrm>
            <a:off x="2254250" y="3013076"/>
            <a:ext cx="7194550" cy="33877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3600" dirty="0">
                <a:latin typeface="楷体_GB2312" pitchFamily="49" charset="-122"/>
              </a:rPr>
              <a:t>  </a:t>
            </a:r>
            <a:r>
              <a:rPr lang="en-US" altLang="zh-CN" sz="3600" dirty="0">
                <a:solidFill>
                  <a:srgbClr val="000099"/>
                </a:solidFill>
              </a:rPr>
              <a:t>gets(str)  </a:t>
            </a:r>
            <a:r>
              <a:rPr lang="zh-CN" altLang="en-US" sz="3600" dirty="0">
                <a:solidFill>
                  <a:srgbClr val="000099"/>
                </a:solidFill>
                <a:latin typeface="楷体_GB2312" pitchFamily="49" charset="-122"/>
              </a:rPr>
              <a:t>输入一个串；</a:t>
            </a:r>
          </a:p>
          <a:p>
            <a:pPr eaLnBrk="1" hangingPunct="1"/>
            <a:r>
              <a:rPr lang="zh-CN" altLang="en-US" sz="3600" dirty="0">
                <a:solidFill>
                  <a:srgbClr val="000099"/>
                </a:solidFill>
                <a:latin typeface="楷体_GB2312" pitchFamily="49" charset="-122"/>
              </a:rPr>
              <a:t>  </a:t>
            </a:r>
            <a:r>
              <a:rPr lang="en-US" altLang="zh-CN" sz="3600" dirty="0">
                <a:solidFill>
                  <a:srgbClr val="000099"/>
                </a:solidFill>
              </a:rPr>
              <a:t>puts(str)</a:t>
            </a:r>
            <a:r>
              <a:rPr lang="en-US" altLang="zh-CN" sz="3600" dirty="0">
                <a:solidFill>
                  <a:srgbClr val="000099"/>
                </a:solidFill>
                <a:latin typeface="楷体_GB2312" pitchFamily="49" charset="-122"/>
              </a:rPr>
              <a:t> </a:t>
            </a:r>
            <a:r>
              <a:rPr lang="zh-CN" altLang="en-US" sz="3600" dirty="0">
                <a:solidFill>
                  <a:srgbClr val="000099"/>
                </a:solidFill>
                <a:latin typeface="楷体_GB2312" pitchFamily="49" charset="-122"/>
              </a:rPr>
              <a:t>输出一个串；</a:t>
            </a:r>
          </a:p>
          <a:p>
            <a:pPr eaLnBrk="1" hangingPunct="1"/>
            <a:r>
              <a:rPr lang="zh-CN" altLang="en-US" sz="3600" dirty="0">
                <a:solidFill>
                  <a:srgbClr val="000099"/>
                </a:solidFill>
                <a:latin typeface="楷体_GB2312" pitchFamily="49" charset="-122"/>
              </a:rPr>
              <a:t>  </a:t>
            </a:r>
            <a:r>
              <a:rPr lang="en-US" altLang="zh-CN" sz="3600" dirty="0">
                <a:solidFill>
                  <a:srgbClr val="000099"/>
                </a:solidFill>
              </a:rPr>
              <a:t>strcat(str1, str2)  </a:t>
            </a:r>
            <a:r>
              <a:rPr lang="zh-CN" altLang="en-US" sz="3600" dirty="0">
                <a:solidFill>
                  <a:srgbClr val="000099"/>
                </a:solidFill>
                <a:latin typeface="楷体_GB2312" pitchFamily="49" charset="-122"/>
              </a:rPr>
              <a:t>串联接函数；</a:t>
            </a:r>
          </a:p>
          <a:p>
            <a:pPr eaLnBrk="1" hangingPunct="1"/>
            <a:r>
              <a:rPr lang="zh-CN" altLang="en-US" sz="3600" dirty="0">
                <a:solidFill>
                  <a:srgbClr val="000099"/>
                </a:solidFill>
                <a:latin typeface="楷体_GB2312" pitchFamily="49" charset="-122"/>
              </a:rPr>
              <a:t>  </a:t>
            </a:r>
            <a:r>
              <a:rPr lang="en-US" altLang="zh-CN" sz="3600" dirty="0">
                <a:solidFill>
                  <a:srgbClr val="000099"/>
                </a:solidFill>
              </a:rPr>
              <a:t>strcpy(str1, str2, k)  </a:t>
            </a:r>
            <a:r>
              <a:rPr lang="zh-CN" altLang="en-US" sz="3600" dirty="0">
                <a:solidFill>
                  <a:srgbClr val="000099"/>
                </a:solidFill>
                <a:latin typeface="楷体_GB2312" pitchFamily="49" charset="-122"/>
              </a:rPr>
              <a:t>串复制函数；</a:t>
            </a:r>
          </a:p>
          <a:p>
            <a:pPr eaLnBrk="1" hangingPunct="1"/>
            <a:r>
              <a:rPr lang="zh-CN" altLang="en-US" sz="3600" dirty="0">
                <a:solidFill>
                  <a:srgbClr val="000099"/>
                </a:solidFill>
                <a:latin typeface="楷体_GB2312" pitchFamily="49" charset="-122"/>
              </a:rPr>
              <a:t>  </a:t>
            </a:r>
            <a:r>
              <a:rPr lang="en-US" altLang="zh-CN" sz="3600" dirty="0">
                <a:solidFill>
                  <a:srgbClr val="000099"/>
                </a:solidFill>
              </a:rPr>
              <a:t>strcmp(str1, str2)  </a:t>
            </a:r>
            <a:r>
              <a:rPr lang="zh-CN" altLang="en-US" sz="3600" dirty="0">
                <a:solidFill>
                  <a:srgbClr val="000099"/>
                </a:solidFill>
                <a:latin typeface="楷体_GB2312" pitchFamily="49" charset="-122"/>
              </a:rPr>
              <a:t>串比较函数；</a:t>
            </a:r>
          </a:p>
          <a:p>
            <a:pPr eaLnBrk="1" hangingPunct="1"/>
            <a:r>
              <a:rPr lang="zh-CN" altLang="en-US" sz="3600" dirty="0">
                <a:solidFill>
                  <a:srgbClr val="000099"/>
                </a:solidFill>
                <a:latin typeface="楷体_GB2312" pitchFamily="49" charset="-122"/>
              </a:rPr>
              <a:t>  </a:t>
            </a:r>
            <a:r>
              <a:rPr lang="en-US" altLang="zh-CN" sz="3600" dirty="0">
                <a:solidFill>
                  <a:srgbClr val="000099"/>
                </a:solidFill>
              </a:rPr>
              <a:t>strlen(str)  </a:t>
            </a:r>
            <a:r>
              <a:rPr lang="zh-CN" altLang="en-US" sz="3600" dirty="0">
                <a:solidFill>
                  <a:srgbClr val="000099"/>
                </a:solidFill>
                <a:latin typeface="楷体_GB2312" pitchFamily="49" charset="-122"/>
              </a:rPr>
              <a:t>求串长函数；</a:t>
            </a:r>
          </a:p>
        </p:txBody>
      </p:sp>
      <p:sp>
        <p:nvSpPr>
          <p:cNvPr id="24581" name="Text Box 5"/>
          <p:cNvSpPr txBox="1"/>
          <p:nvPr/>
        </p:nvSpPr>
        <p:spPr>
          <a:xfrm>
            <a:off x="1676401" y="2254251"/>
            <a:ext cx="9289723" cy="646331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600" dirty="0">
                <a:latin typeface="楷体_GB2312" pitchFamily="49" charset="-122"/>
              </a:rPr>
              <a:t>例如</a:t>
            </a:r>
            <a:r>
              <a:rPr lang="zh-CN" altLang="en-US" sz="3600" dirty="0">
                <a:latin typeface="宋体" panose="02010600030101010101" pitchFamily="2" charset="-122"/>
              </a:rPr>
              <a:t>：</a:t>
            </a:r>
            <a:r>
              <a:rPr lang="en-US" altLang="zh-CN" sz="3600" dirty="0"/>
              <a:t>C</a:t>
            </a:r>
            <a:r>
              <a:rPr lang="zh-CN" altLang="en-US" sz="3600" dirty="0">
                <a:latin typeface="楷体_GB2312" pitchFamily="49" charset="-122"/>
              </a:rPr>
              <a:t>语言函数库中提供下列串处理函数：</a:t>
            </a: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5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45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45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0" grpId="0"/>
      <p:bldP spid="2458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1026"/>
          <p:cNvSpPr txBox="1"/>
          <p:nvPr/>
        </p:nvSpPr>
        <p:spPr>
          <a:xfrm>
            <a:off x="695400" y="590550"/>
            <a:ext cx="11017224" cy="14668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en-US" altLang="zh-CN" sz="3600" dirty="0">
                <a:solidFill>
                  <a:srgbClr val="800080"/>
                </a:solidFill>
              </a:rPr>
              <a:t>    </a:t>
            </a:r>
            <a:r>
              <a:rPr lang="zh-CN" altLang="en-US" sz="3600" dirty="0">
                <a:solidFill>
                  <a:srgbClr val="800080"/>
                </a:solidFill>
              </a:rPr>
              <a:t>串</a:t>
            </a:r>
            <a:r>
              <a:rPr lang="zh-CN" altLang="en-US" sz="3600" dirty="0">
                <a:solidFill>
                  <a:schemeClr val="tx2"/>
                </a:solidFill>
              </a:rPr>
              <a:t>的逻辑结构和</a:t>
            </a:r>
            <a:r>
              <a:rPr lang="zh-CN" altLang="en-US" sz="3600" dirty="0">
                <a:solidFill>
                  <a:srgbClr val="800080"/>
                </a:solidFill>
              </a:rPr>
              <a:t>线性表</a:t>
            </a:r>
            <a:r>
              <a:rPr lang="zh-CN" altLang="en-US" sz="3600" dirty="0">
                <a:solidFill>
                  <a:schemeClr val="tx2"/>
                </a:solidFill>
              </a:rPr>
              <a:t>极为相似</a:t>
            </a:r>
            <a:r>
              <a:rPr lang="zh-CN" altLang="en-US" sz="3600" dirty="0"/>
              <a:t>，</a:t>
            </a:r>
            <a:r>
              <a:rPr lang="zh-CN" altLang="en-US" sz="3600" dirty="0">
                <a:solidFill>
                  <a:srgbClr val="800080"/>
                </a:solidFill>
              </a:rPr>
              <a:t>区别</a:t>
            </a:r>
            <a:r>
              <a:rPr lang="zh-CN" altLang="en-US" sz="3600" dirty="0">
                <a:solidFill>
                  <a:schemeClr val="tx2"/>
                </a:solidFill>
              </a:rPr>
              <a:t>仅在于</a:t>
            </a:r>
            <a:r>
              <a:rPr lang="zh-CN" altLang="en-US" sz="3600" dirty="0">
                <a:solidFill>
                  <a:srgbClr val="800080"/>
                </a:solidFill>
              </a:rPr>
              <a:t>串的数据对象约束为字符集</a:t>
            </a:r>
            <a:r>
              <a:rPr lang="zh-CN" altLang="en-US" sz="3600" dirty="0"/>
              <a:t>。</a:t>
            </a:r>
            <a:endParaRPr lang="zh-CN" altLang="en-US" sz="2400" dirty="0"/>
          </a:p>
        </p:txBody>
      </p:sp>
      <p:sp>
        <p:nvSpPr>
          <p:cNvPr id="56324" name="Text Box 1028"/>
          <p:cNvSpPr txBox="1"/>
          <p:nvPr/>
        </p:nvSpPr>
        <p:spPr>
          <a:xfrm>
            <a:off x="407368" y="2335214"/>
            <a:ext cx="10032033" cy="73468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en-US" altLang="zh-CN" sz="3600" dirty="0"/>
              <a:t>    </a:t>
            </a:r>
            <a:r>
              <a:rPr lang="zh-CN" altLang="en-US" sz="3600" dirty="0">
                <a:solidFill>
                  <a:schemeClr val="tx2"/>
                </a:solidFill>
              </a:rPr>
              <a:t>串的基本操作和线性表有很大差别。</a:t>
            </a:r>
            <a:endParaRPr lang="zh-CN" altLang="en-US" sz="3600" dirty="0">
              <a:solidFill>
                <a:srgbClr val="0000FF"/>
              </a:solidFill>
            </a:endParaRPr>
          </a:p>
        </p:txBody>
      </p:sp>
      <p:sp>
        <p:nvSpPr>
          <p:cNvPr id="56326" name="AutoShape 1030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9677400" y="6096000"/>
            <a:ext cx="685800" cy="381000"/>
          </a:xfrm>
          <a:prstGeom prst="actionButtonBeginning">
            <a:avLst/>
          </a:prstGeom>
          <a:solidFill>
            <a:schemeClr val="bg2"/>
          </a:solidFill>
          <a:ln>
            <a:noFill/>
          </a:ln>
          <a:effectLst>
            <a:prstShdw prst="shdw17" dist="17961" dir="2700000">
              <a:schemeClr val="bg2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56327" name="Rectangle 1031"/>
          <p:cNvSpPr/>
          <p:nvPr/>
        </p:nvSpPr>
        <p:spPr>
          <a:xfrm>
            <a:off x="551384" y="3702672"/>
            <a:ext cx="11233248" cy="219585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30000"/>
              </a:lnSpc>
            </a:pPr>
            <a:r>
              <a:rPr lang="en-US" altLang="zh-CN" sz="3600" dirty="0">
                <a:solidFill>
                  <a:srgbClr val="1560AB"/>
                </a:solidFill>
              </a:rPr>
              <a:t>    </a:t>
            </a:r>
            <a:r>
              <a:rPr lang="zh-CN" altLang="en-US" sz="3600" dirty="0">
                <a:solidFill>
                  <a:srgbClr val="1560AB"/>
                </a:solidFill>
              </a:rPr>
              <a:t>在线性表的基本操作中，大多以“单个元素”作为操作对象；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3600" dirty="0">
                <a:solidFill>
                  <a:srgbClr val="0000FF"/>
                </a:solidFill>
              </a:rPr>
              <a:t>    在串的基本操作中，通常以“串的整体”作为操作对象。</a:t>
            </a: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56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56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63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63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2" grpId="0"/>
      <p:bldP spid="56324" grpId="0"/>
      <p:bldP spid="5632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Text Box 3"/>
          <p:cNvSpPr txBox="1"/>
          <p:nvPr/>
        </p:nvSpPr>
        <p:spPr>
          <a:xfrm>
            <a:off x="2855640" y="2492896"/>
            <a:ext cx="6896100" cy="10064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6000" dirty="0">
                <a:solidFill>
                  <a:schemeClr val="tx2"/>
                </a:solidFill>
              </a:rPr>
              <a:t>4.2  </a:t>
            </a:r>
            <a:r>
              <a:rPr lang="zh-CN" altLang="en-US" sz="6000" dirty="0">
                <a:solidFill>
                  <a:schemeClr val="tx2"/>
                </a:solidFill>
              </a:rPr>
              <a:t>串的表示和实现</a:t>
            </a:r>
            <a:endParaRPr lang="zh-CN" altLang="en-US" sz="5400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/>
          <p:cNvSpPr txBox="1"/>
          <p:nvPr/>
        </p:nvSpPr>
        <p:spPr>
          <a:xfrm>
            <a:off x="911424" y="846456"/>
            <a:ext cx="10657184" cy="541464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algn="l" eaLnBrk="1" hangingPunct="1">
              <a:lnSpc>
                <a:spcPct val="135000"/>
              </a:lnSpc>
              <a:buClrTx/>
              <a:buSzTx/>
            </a:pPr>
            <a:r>
              <a:rPr lang="en-US" altLang="zh-CN" sz="4000" dirty="0">
                <a:solidFill>
                  <a:srgbClr val="000099"/>
                </a:solidFill>
              </a:rPr>
              <a:t>    </a:t>
            </a:r>
            <a:r>
              <a:rPr lang="en-US" altLang="zh-CN" sz="4000" dirty="0" err="1">
                <a:solidFill>
                  <a:srgbClr val="000099"/>
                </a:solidFill>
              </a:rPr>
              <a:t>根据在计算机内</a:t>
            </a:r>
            <a:r>
              <a:rPr lang="en-US" altLang="zh-CN" sz="4000" dirty="0" err="1">
                <a:solidFill>
                  <a:srgbClr val="FF0000"/>
                </a:solidFill>
              </a:rPr>
              <a:t>存储方式</a:t>
            </a:r>
            <a:r>
              <a:rPr lang="en-US" altLang="zh-CN" sz="4000" dirty="0" err="1">
                <a:solidFill>
                  <a:srgbClr val="000099"/>
                </a:solidFill>
              </a:rPr>
              <a:t>和</a:t>
            </a:r>
            <a:r>
              <a:rPr lang="en-US" altLang="zh-CN" sz="4000" dirty="0" err="1">
                <a:solidFill>
                  <a:srgbClr val="FF0000"/>
                </a:solidFill>
              </a:rPr>
              <a:t>表示</a:t>
            </a:r>
            <a:r>
              <a:rPr lang="en-US" altLang="zh-CN" sz="4000" dirty="0" err="1">
                <a:solidFill>
                  <a:srgbClr val="000099"/>
                </a:solidFill>
              </a:rPr>
              <a:t>的不同，对串的实现主要有</a:t>
            </a:r>
            <a:r>
              <a:rPr lang="zh-CN" altLang="en-US" sz="4000" dirty="0">
                <a:solidFill>
                  <a:srgbClr val="000099"/>
                </a:solidFill>
              </a:rPr>
              <a:t>四</a:t>
            </a:r>
            <a:r>
              <a:rPr lang="en-US" altLang="zh-CN" sz="4000" dirty="0">
                <a:solidFill>
                  <a:srgbClr val="000099"/>
                </a:solidFill>
              </a:rPr>
              <a:t>种</a:t>
            </a:r>
            <a:r>
              <a:rPr lang="zh-CN" altLang="en-US" sz="4000" dirty="0">
                <a:solidFill>
                  <a:srgbClr val="000099"/>
                </a:solidFill>
              </a:rPr>
              <a:t>典型</a:t>
            </a:r>
            <a:r>
              <a:rPr lang="en-US" altLang="zh-CN" sz="4000" dirty="0" err="1">
                <a:solidFill>
                  <a:srgbClr val="000099"/>
                </a:solidFill>
              </a:rPr>
              <a:t>表示方式</a:t>
            </a:r>
            <a:r>
              <a:rPr lang="en-US" altLang="zh-CN" sz="4000" dirty="0">
                <a:solidFill>
                  <a:srgbClr val="000099"/>
                </a:solidFill>
              </a:rPr>
              <a:t>。</a:t>
            </a:r>
          </a:p>
        </p:txBody>
      </p:sp>
      <p:sp>
        <p:nvSpPr>
          <p:cNvPr id="51202" name="Text Box 2">
            <a:hlinkClick r:id="rId2" action="ppaction://hlinksldjump"/>
          </p:cNvPr>
          <p:cNvSpPr txBox="1"/>
          <p:nvPr/>
        </p:nvSpPr>
        <p:spPr>
          <a:xfrm>
            <a:off x="1899571" y="3553778"/>
            <a:ext cx="4288353" cy="707886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l" eaLnBrk="1" hangingPunct="1">
              <a:buClrTx/>
              <a:buSzTx/>
            </a:pPr>
            <a:r>
              <a:rPr lang="zh-CN" altLang="en-US" sz="4000" dirty="0">
                <a:solidFill>
                  <a:srgbClr val="101686"/>
                </a:solidFill>
              </a:rPr>
              <a:t>二、短串存储表示</a:t>
            </a:r>
          </a:p>
        </p:txBody>
      </p:sp>
      <p:sp>
        <p:nvSpPr>
          <p:cNvPr id="51203" name="Text Box 3">
            <a:hlinkClick r:id="rId3" action="ppaction://hlinksldjump"/>
          </p:cNvPr>
          <p:cNvSpPr txBox="1"/>
          <p:nvPr/>
        </p:nvSpPr>
        <p:spPr>
          <a:xfrm>
            <a:off x="1807647" y="4474300"/>
            <a:ext cx="4288353" cy="707886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4000" dirty="0">
                <a:solidFill>
                  <a:srgbClr val="101686"/>
                </a:solidFill>
              </a:rPr>
              <a:t>三、长串存储表示</a:t>
            </a:r>
          </a:p>
        </p:txBody>
      </p:sp>
      <p:sp>
        <p:nvSpPr>
          <p:cNvPr id="51204" name="Text Box 4">
            <a:hlinkClick r:id="rId4" action="ppaction://hlinksldjump"/>
          </p:cNvPr>
          <p:cNvSpPr txBox="1"/>
          <p:nvPr/>
        </p:nvSpPr>
        <p:spPr>
          <a:xfrm>
            <a:off x="1831275" y="5435116"/>
            <a:ext cx="4801314" cy="707886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4000" dirty="0">
                <a:solidFill>
                  <a:srgbClr val="000099"/>
                </a:solidFill>
              </a:rPr>
              <a:t>四、块链串存储表示</a:t>
            </a:r>
          </a:p>
        </p:txBody>
      </p:sp>
      <p:sp>
        <p:nvSpPr>
          <p:cNvPr id="2" name="Text Box 2">
            <a:hlinkClick r:id="rId2" action="ppaction://hlinksldjump"/>
            <a:extLst>
              <a:ext uri="{FF2B5EF4-FFF2-40B4-BE49-F238E27FC236}">
                <a16:creationId xmlns:a16="http://schemas.microsoft.com/office/drawing/2014/main" id="{461F6B03-D466-A0A9-CA5B-541032BFCBCE}"/>
              </a:ext>
            </a:extLst>
          </p:cNvPr>
          <p:cNvSpPr txBox="1"/>
          <p:nvPr/>
        </p:nvSpPr>
        <p:spPr>
          <a:xfrm>
            <a:off x="1919605" y="2758916"/>
            <a:ext cx="5588389" cy="707886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l" eaLnBrk="1" hangingPunct="1">
              <a:buClrTx/>
              <a:buSzTx/>
            </a:pPr>
            <a:r>
              <a:rPr lang="zh-CN" altLang="en-US" sz="4000" dirty="0">
                <a:solidFill>
                  <a:srgbClr val="101686"/>
                </a:solidFill>
              </a:rPr>
              <a:t>一、</a:t>
            </a:r>
            <a:r>
              <a:rPr lang="en-US" altLang="zh-CN" sz="4000" dirty="0">
                <a:solidFill>
                  <a:srgbClr val="101686"/>
                </a:solidFill>
              </a:rPr>
              <a:t>C</a:t>
            </a:r>
            <a:r>
              <a:rPr lang="zh-CN" altLang="en-US" sz="4000" dirty="0">
                <a:solidFill>
                  <a:srgbClr val="101686"/>
                </a:solidFill>
              </a:rPr>
              <a:t>语言串的存储表示</a:t>
            </a: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51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51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51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" grpId="0"/>
      <p:bldP spid="51202" grpId="0"/>
      <p:bldP spid="51203" grpId="0"/>
      <p:bldP spid="51204" grpId="0"/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917A544-5141-72D3-F851-98E92A4C4A3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C0FE0B-717B-41AE-9FA2-CA4BF851D1C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E560D3A-0498-55B5-5489-5D4A74A3EA3D}"/>
              </a:ext>
            </a:extLst>
          </p:cNvPr>
          <p:cNvSpPr txBox="1"/>
          <p:nvPr/>
        </p:nvSpPr>
        <p:spPr>
          <a:xfrm>
            <a:off x="332202" y="770362"/>
            <a:ext cx="11308413" cy="5080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2667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4.2.1  C</a:t>
            </a:r>
            <a:r>
              <a:rPr kumimoji="0" lang="zh-CN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语言串的存储表示</a:t>
            </a:r>
          </a:p>
          <a:p>
            <a:pPr marL="0" marR="0" lvl="0" indent="266700" algn="just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kumimoji="0" lang="zh-CN" altLang="zh-CN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语言的串常量也叫</a:t>
            </a:r>
            <a:r>
              <a:rPr kumimoji="0" lang="zh-CN" altLang="zh-CN" sz="2800" b="0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串字面值</a:t>
            </a:r>
            <a:r>
              <a:rPr kumimoji="0" lang="zh-CN" altLang="zh-CN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kumimoji="0" lang="en-US" altLang="zh-CN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string literal</a:t>
            </a:r>
            <a:r>
              <a:rPr kumimoji="0" lang="zh-CN" altLang="zh-CN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）是用一对双引号</a:t>
            </a:r>
            <a:r>
              <a:rPr kumimoji="0" lang="en-US" altLang="zh-CN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kumimoji="0" lang="zh-CN" altLang="zh-CN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括起来的</a:t>
            </a:r>
            <a:r>
              <a:rPr kumimoji="0" lang="en-US" altLang="zh-CN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kumimoji="0" lang="zh-CN" altLang="zh-CN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或多个字符组成的字符序列。例如</a:t>
            </a:r>
            <a:endParaRPr kumimoji="0" lang="zh-CN" altLang="zh-CN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27051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"Data Structures" </a:t>
            </a:r>
            <a:r>
              <a:rPr kumimoji="0" lang="zh-CN" altLang="zh-CN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或</a:t>
            </a:r>
            <a:r>
              <a:rPr kumimoji="0" lang="zh-CN" altLang="zh-CN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kumimoji="0" lang="en-US" altLang="zh-CN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Courier New" panose="02070309020205020404" pitchFamily="49" charset="0"/>
                <a:cs typeface="Times New Roman" panose="02020603050405020304" pitchFamily="18" charset="0"/>
              </a:rPr>
              <a:t>    </a:t>
            </a:r>
            <a:r>
              <a:rPr kumimoji="0" lang="en-US" altLang="zh-CN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""    </a:t>
            </a:r>
            <a:r>
              <a:rPr kumimoji="0" lang="en-US" altLang="zh-CN" sz="2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Courier New" panose="02070309020205020404" pitchFamily="49" charset="0"/>
                <a:cs typeface="Times New Roman" panose="02020603050405020304" pitchFamily="18" charset="0"/>
              </a:rPr>
              <a:t>// </a:t>
            </a:r>
            <a:r>
              <a:rPr kumimoji="0" lang="zh-CN" altLang="zh-CN" sz="2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空串</a:t>
            </a:r>
            <a:endParaRPr kumimoji="0" lang="zh-CN" altLang="zh-CN" sz="2800" b="1" i="0" u="none" strike="noStrike" kern="100" cap="none" spc="0" normalizeH="0" baseline="0" noProof="0" dirty="0">
              <a:ln>
                <a:noFill/>
              </a:ln>
              <a:solidFill>
                <a:srgbClr val="4EA72E">
                  <a:lumMod val="75000"/>
                </a:srgb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都是串。双引号不是字符串的一部分，只用于限定串值。</a:t>
            </a:r>
            <a:endParaRPr kumimoji="0" lang="zh-CN" altLang="zh-CN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266700" algn="just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从存储表示看，串常量就存储在一维字符数组。串的内部表示不存储那对双引号，但在</a:t>
            </a:r>
            <a:r>
              <a:rPr kumimoji="0" lang="zh-CN" altLang="zh-CN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末尾附加一个空字符</a:t>
            </a:r>
            <a:r>
              <a:rPr kumimoji="0" lang="en-US" altLang="zh-CN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'\0'</a:t>
            </a:r>
            <a:r>
              <a:rPr kumimoji="0" lang="zh-CN" altLang="zh-CN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（</a:t>
            </a:r>
            <a:r>
              <a:rPr kumimoji="0" lang="en-US" altLang="zh-CN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null</a:t>
            </a:r>
            <a:r>
              <a:rPr kumimoji="0" lang="zh-CN" altLang="zh-CN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）</a:t>
            </a:r>
            <a:r>
              <a:rPr kumimoji="0" lang="zh-CN" altLang="zh-CN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作为</a:t>
            </a:r>
            <a:r>
              <a:rPr kumimoji="0" lang="zh-CN" altLang="zh-CN" sz="2800" b="0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结束符</a:t>
            </a:r>
            <a:r>
              <a:rPr kumimoji="0" lang="zh-CN" altLang="zh-CN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。因此存储字符串的物理存储单元数比双引号内的字符数多一个。这表明</a:t>
            </a:r>
            <a:r>
              <a:rPr kumimoji="0" lang="en-US" altLang="zh-CN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kumimoji="0" lang="zh-CN" altLang="zh-CN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语言未限制串的长度，但程序必须扫描完整的串值后才能确定串的长度。</a:t>
            </a:r>
            <a:endParaRPr kumimoji="0" lang="zh-CN" altLang="zh-CN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2895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94E5D-2BB6-6156-0458-56BA82D84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93D5CDE-FB6A-9494-C17F-D87F30AC95F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C0FE0B-717B-41AE-9FA2-CA4BF851D1C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49808E33-50CF-3EC0-2473-E9EFB6987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283" y="874073"/>
            <a:ext cx="11494910" cy="3025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2714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语言没有给串类型命名。可如下几种形式声明串变量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宋体" panose="02010600030101010101" pitchFamily="2" charset="-122"/>
            </a:endParaRPr>
          </a:p>
          <a:p>
            <a:pPr marL="0" marR="0" lvl="0" indent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char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str1[15];           //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分配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16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个字符单元，最多容纳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15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个字符（末尾留一个单元存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'\0’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）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宋体" panose="02010600030101010101" pitchFamily="2" charset="-122"/>
            </a:endParaRPr>
          </a:p>
          <a:p>
            <a:pPr marL="0" marR="0" lvl="0" indent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char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str2[] = "Data Structures"; //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在栈区分配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16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个字符单元，并将串值存入数组，末尾加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'\0’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宋体" panose="02010600030101010101" pitchFamily="2" charset="-122"/>
            </a:endParaRPr>
          </a:p>
          <a:p>
            <a:pPr marL="0" marR="0" lvl="0" indent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char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*str3 = "Data Structures";  //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在堆区分配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16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个字符单元，并将串值存入数组，末尾加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'\0’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宋体" panose="02010600030101010101" pitchFamily="2" charset="-122"/>
            </a:endParaRPr>
          </a:p>
          <a:p>
            <a:pPr marL="0" marR="0" lvl="0" indent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char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*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str4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       //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字符类型指针，未分配串值存储空间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宋体" panose="02010600030101010101" pitchFamily="2" charset="-122"/>
            </a:endParaRPr>
          </a:p>
          <a:p>
            <a:pPr marL="0" marR="0" lvl="0" indent="0" algn="just" defTabSz="914400" rtl="0" eaLnBrk="0" fontAlgn="base" latinLnBrk="0" hangingPunct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其中，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str2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和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str3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分别声明为字符数组和字符指针。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str2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将始终指向在栈区为它分配的存储区域的基址，而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str3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当前指向了为给定串值分配的存储区域，之后可以修改以指向其他地址，但原所指向的区域可能要给与释放，防止内存泄漏。这也正是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C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语言的串的内存安全问题之一。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宋体" panose="02010600030101010101" pitchFamily="2" charset="-122"/>
            </a:endParaRPr>
          </a:p>
        </p:txBody>
      </p:sp>
      <p:pic>
        <p:nvPicPr>
          <p:cNvPr id="1025" name="图片 1">
            <a:extLst>
              <a:ext uri="{FF2B5EF4-FFF2-40B4-BE49-F238E27FC236}">
                <a16:creationId xmlns:a16="http://schemas.microsoft.com/office/drawing/2014/main" id="{F6FF1E41-4BCB-F5A3-A3F3-1D5D0DB9A2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5520" y="4508847"/>
            <a:ext cx="7459453" cy="1475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CC80BE36-748B-EA27-217B-5BD071C5B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9656" y="6254832"/>
            <a:ext cx="543197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C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语言的字符数组和字符指针变量的存储表示示例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8483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Text Box 3"/>
          <p:cNvSpPr txBox="1"/>
          <p:nvPr/>
        </p:nvSpPr>
        <p:spPr>
          <a:xfrm>
            <a:off x="829562" y="476672"/>
            <a:ext cx="5325176" cy="646331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indent="267970">
              <a:buNone/>
            </a:pPr>
            <a:r>
              <a:rPr lang="en-US" altLang="zh-CN" sz="3600" b="1" kern="100" dirty="0"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4.2.2  </a:t>
            </a:r>
            <a:r>
              <a:rPr lang="zh-CN" altLang="zh-CN" sz="3600" b="1" kern="100" dirty="0"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黑体" panose="02010609060101010101" pitchFamily="49" charset="-122"/>
                <a:cs typeface="Times New Roman" panose="02020603050405020304" pitchFamily="18" charset="0"/>
              </a:rPr>
              <a:t>短串的存储表示</a:t>
            </a:r>
            <a:endParaRPr lang="zh-CN" altLang="zh-CN" sz="3600" b="1" kern="100" dirty="0">
              <a:solidFill>
                <a:srgbClr val="04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6E90B45-086F-B825-1B2A-648E5A4F2C81}"/>
              </a:ext>
            </a:extLst>
          </p:cNvPr>
          <p:cNvSpPr txBox="1"/>
          <p:nvPr/>
        </p:nvSpPr>
        <p:spPr>
          <a:xfrm>
            <a:off x="551384" y="1772816"/>
            <a:ext cx="11161240" cy="3218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zh-CN" sz="4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类似于线性表的顺序存储结构，可用一组</a:t>
            </a:r>
            <a:r>
              <a:rPr lang="zh-CN" altLang="zh-CN" sz="40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地址连续的存储单元</a:t>
            </a:r>
            <a:r>
              <a:rPr lang="zh-CN" altLang="zh-CN" sz="4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存储串值的字符序列。</a:t>
            </a:r>
            <a:endParaRPr lang="en-US" altLang="zh-CN" sz="400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zh-CN" altLang="zh-CN" sz="4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各种程序中频繁使用的多数是长度很短的串，长度被限制在</a:t>
            </a:r>
            <a:r>
              <a:rPr lang="en-US" altLang="zh-CN" sz="4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254</a:t>
            </a:r>
            <a:r>
              <a:rPr lang="zh-CN" altLang="zh-CN" sz="4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以内的串称为</a:t>
            </a:r>
            <a:r>
              <a:rPr lang="zh-CN" altLang="zh-CN" sz="4000" kern="100" dirty="0"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短串</a:t>
            </a:r>
            <a:r>
              <a:rPr lang="zh-CN" altLang="zh-CN" sz="4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4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short string</a:t>
            </a:r>
            <a:r>
              <a:rPr lang="zh-CN" altLang="zh-CN" sz="4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en-US" sz="4000" dirty="0"/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2"/>
          <p:cNvSpPr txBox="1"/>
          <p:nvPr/>
        </p:nvSpPr>
        <p:spPr>
          <a:xfrm>
            <a:off x="407368" y="548641"/>
            <a:ext cx="11290203" cy="52276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338455" algn="just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2000" kern="1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//----- </a:t>
            </a:r>
            <a:r>
              <a:rPr lang="zh-CN" altLang="zh-CN" sz="2000" kern="1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短串的顺序存储表示及存储分配和销毁操作的实现</a:t>
            </a:r>
            <a:r>
              <a:rPr lang="zh-CN" altLang="zh-CN" sz="2000" kern="1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zh-CN" sz="2000" kern="1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-----</a:t>
            </a:r>
            <a:endParaRPr lang="zh-CN" altLang="zh-CN" sz="2000" kern="1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339725" algn="just">
              <a:lnSpc>
                <a:spcPct val="150000"/>
              </a:lnSpc>
              <a:buNone/>
            </a:pPr>
            <a:r>
              <a:rPr lang="en-US" altLang="zh-CN" sz="20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#define</a:t>
            </a:r>
            <a:r>
              <a:rPr lang="en-US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MAXSTRLEN   254   </a:t>
            </a:r>
            <a:r>
              <a:rPr lang="en-US" altLang="zh-CN" sz="2000" kern="1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sz="2000" kern="1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串长必须在</a:t>
            </a:r>
            <a:r>
              <a:rPr lang="en-US" altLang="zh-CN" sz="2000" kern="1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254</a:t>
            </a:r>
            <a:r>
              <a:rPr lang="zh-CN" altLang="zh-CN" sz="2000" kern="1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以内</a:t>
            </a:r>
          </a:p>
          <a:p>
            <a:pPr indent="338455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0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typedef</a:t>
            </a:r>
            <a:r>
              <a:rPr lang="en-US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20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char</a:t>
            </a:r>
            <a:r>
              <a:rPr lang="en-US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*</a:t>
            </a:r>
            <a:r>
              <a:rPr lang="en-US" altLang="zh-CN" sz="20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SStr</a:t>
            </a:r>
            <a:r>
              <a:rPr lang="en-US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      </a:t>
            </a:r>
            <a:r>
              <a:rPr lang="en-US" altLang="zh-CN" sz="2000" kern="1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sz="2000" kern="1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动态分配串长</a:t>
            </a:r>
            <a:r>
              <a:rPr lang="en-US" altLang="zh-CN" sz="2000" kern="1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+2</a:t>
            </a:r>
            <a:r>
              <a:rPr lang="zh-CN" altLang="zh-CN" sz="2000" kern="1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个字符单元，</a:t>
            </a:r>
            <a:r>
              <a:rPr lang="en-US" altLang="zh-CN" sz="2000" kern="1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sz="2000" kern="1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号单元存串长，串值末附加结束符</a:t>
            </a:r>
            <a:r>
              <a:rPr lang="en-US" altLang="zh-CN" sz="2000" kern="1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'\0’</a:t>
            </a:r>
          </a:p>
          <a:p>
            <a:pPr indent="338455" algn="just">
              <a:lnSpc>
                <a:spcPct val="120000"/>
              </a:lnSpc>
              <a:spcBef>
                <a:spcPts val="600"/>
              </a:spcBef>
            </a:pPr>
            <a:endParaRPr lang="en-US" altLang="zh-CN" sz="2000" kern="1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338455" algn="just">
              <a:lnSpc>
                <a:spcPct val="120000"/>
              </a:lnSpc>
              <a:spcBef>
                <a:spcPts val="600"/>
              </a:spcBef>
            </a:pPr>
            <a:r>
              <a:rPr lang="en-US" altLang="zh-CN" sz="20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SStr</a:t>
            </a:r>
            <a:r>
              <a:rPr lang="en-US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allocSStr</a:t>
            </a:r>
            <a:r>
              <a:rPr lang="en-US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0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lang="en-US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sz="20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2000" kern="1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sz="2000" kern="1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辅助操作：申请为</a:t>
            </a:r>
            <a:r>
              <a:rPr lang="en-US" altLang="zh-CN" sz="2000" kern="1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sz="2000" kern="1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分配</a:t>
            </a:r>
            <a:r>
              <a:rPr lang="en-US" altLang="zh-CN" sz="2000" kern="1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len+2</a:t>
            </a:r>
            <a:r>
              <a:rPr lang="zh-CN" altLang="zh-CN" sz="2000" kern="1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容量的空间（可能被限长）</a:t>
            </a:r>
          </a:p>
          <a:p>
            <a:pPr indent="338455" algn="just">
              <a:lnSpc>
                <a:spcPct val="120000"/>
              </a:lnSpc>
              <a:buNone/>
            </a:pPr>
            <a:r>
              <a:rPr lang="en-US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20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SStr</a:t>
            </a:r>
            <a:r>
              <a:rPr lang="en-US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S;</a:t>
            </a:r>
            <a:endParaRPr lang="zh-CN" altLang="zh-CN" sz="20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338455" algn="just">
              <a:lnSpc>
                <a:spcPct val="120000"/>
              </a:lnSpc>
              <a:buNone/>
            </a:pPr>
            <a:r>
              <a:rPr lang="en-US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20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sz="20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lang="en-US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&gt; MAXSTRLEN) </a:t>
            </a:r>
            <a:r>
              <a:rPr lang="en-US" altLang="zh-CN" sz="20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lang="en-US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MAXSTRLEN;         </a:t>
            </a:r>
            <a:r>
              <a:rPr lang="en-US" altLang="zh-CN" sz="2000" kern="1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sz="2000" kern="1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最长不超过</a:t>
            </a:r>
            <a:r>
              <a:rPr lang="en-US" altLang="zh-CN" sz="2000" kern="1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MAXSTRLEN</a:t>
            </a:r>
            <a:endParaRPr lang="zh-CN" altLang="zh-CN" sz="2000" kern="1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338455" algn="just">
              <a:lnSpc>
                <a:spcPct val="120000"/>
              </a:lnSpc>
              <a:buNone/>
            </a:pPr>
            <a:r>
              <a:rPr lang="en-US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20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sz="20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!</a:t>
            </a:r>
            <a:r>
              <a:rPr lang="en-US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(S = (</a:t>
            </a:r>
            <a:r>
              <a:rPr lang="en-US" altLang="zh-CN" sz="20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SStr</a:t>
            </a:r>
            <a:r>
              <a:rPr lang="en-US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000" b="1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calloc</a:t>
            </a:r>
            <a:r>
              <a:rPr lang="en-US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(len+2, </a:t>
            </a:r>
            <a:r>
              <a:rPr lang="en-US" altLang="zh-CN" sz="2000" b="1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sizeof</a:t>
            </a:r>
            <a:r>
              <a:rPr lang="en-US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0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char</a:t>
            </a:r>
            <a:r>
              <a:rPr lang="en-US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)))) </a:t>
            </a:r>
            <a:r>
              <a:rPr lang="en-US" altLang="zh-CN" sz="20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exit</a:t>
            </a:r>
            <a:r>
              <a:rPr lang="en-US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(OVERFLOW); </a:t>
            </a:r>
            <a:r>
              <a:rPr lang="en-US" altLang="zh-CN" sz="2000" kern="1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sz="2000" kern="1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分配空间</a:t>
            </a:r>
          </a:p>
          <a:p>
            <a:pPr indent="338455" algn="just">
              <a:lnSpc>
                <a:spcPct val="120000"/>
              </a:lnSpc>
              <a:spcBef>
                <a:spcPts val="600"/>
              </a:spcBef>
            </a:pPr>
            <a:r>
              <a:rPr lang="en-US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S[0] = </a:t>
            </a:r>
            <a:r>
              <a:rPr lang="en-US" altLang="zh-CN" sz="20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lang="en-US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                 </a:t>
            </a:r>
            <a:r>
              <a:rPr lang="en-US" altLang="zh-CN" sz="2000" kern="1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sz="2000" kern="1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借</a:t>
            </a:r>
            <a:r>
              <a:rPr lang="en-US" altLang="zh-CN" sz="2000" kern="1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S[0]</a:t>
            </a:r>
            <a:r>
              <a:rPr lang="zh-CN" altLang="zh-CN" sz="2000" kern="1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返回实际分配的容量，未赋串值前还不是真实串长</a:t>
            </a:r>
          </a:p>
          <a:p>
            <a:pPr indent="338455" algn="just">
              <a:lnSpc>
                <a:spcPct val="120000"/>
              </a:lnSpc>
              <a:buNone/>
            </a:pPr>
            <a:r>
              <a:rPr lang="en-US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20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lang="en-US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OK;</a:t>
            </a:r>
            <a:endParaRPr lang="zh-CN" altLang="zh-CN" sz="20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339725" algn="just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altLang="zh-CN" sz="20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20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338455" algn="just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altLang="zh-CN" sz="20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SStr</a:t>
            </a:r>
            <a:r>
              <a:rPr lang="en-US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SStrFree</a:t>
            </a:r>
            <a:r>
              <a:rPr lang="en-US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0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SStr</a:t>
            </a:r>
            <a:r>
              <a:rPr lang="en-US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S) </a:t>
            </a:r>
            <a:r>
              <a:rPr lang="en-US" altLang="zh-CN" sz="20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free</a:t>
            </a:r>
            <a:r>
              <a:rPr lang="en-US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(S);   </a:t>
            </a:r>
            <a:r>
              <a:rPr lang="en-US" altLang="zh-CN" sz="20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lang="en-US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NULL;</a:t>
            </a:r>
            <a:r>
              <a:rPr lang="en-US" altLang="zh-CN" sz="20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</a:t>
            </a:r>
            <a:r>
              <a:rPr lang="en-US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2000" kern="1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sz="2000" kern="1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回收操作</a:t>
            </a:r>
            <a:endParaRPr lang="en-US" altLang="zh-CN" sz="2000" kern="1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088515" y="2794000"/>
            <a:ext cx="5518150" cy="635000"/>
          </a:xfrm>
          <a:prstGeom prst="rect">
            <a:avLst/>
          </a:prstGeom>
        </p:spPr>
        <p:txBody>
          <a:bodyPr/>
          <a:lstStyle/>
          <a:p>
            <a:endParaRPr sz="1600"/>
          </a:p>
        </p:txBody>
      </p:sp>
      <p:sp>
        <p:nvSpPr>
          <p:cNvPr id="7" name="Text Box 6"/>
          <p:cNvSpPr txBox="1"/>
          <p:nvPr/>
        </p:nvSpPr>
        <p:spPr>
          <a:xfrm>
            <a:off x="2088515" y="6734175"/>
            <a:ext cx="5518150" cy="635000"/>
          </a:xfrm>
          <a:prstGeom prst="rect">
            <a:avLst/>
          </a:prstGeom>
        </p:spPr>
        <p:txBody>
          <a:bodyPr/>
          <a:lstStyle/>
          <a:p>
            <a:endParaRPr sz="160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42EB668-9499-CE41-2DDC-E2C0A79F1F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3592" y="6048375"/>
            <a:ext cx="5514975" cy="685800"/>
          </a:xfrm>
          <a:prstGeom prst="rect">
            <a:avLst/>
          </a:prstGeom>
        </p:spPr>
      </p:pic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/>
          <p:cNvSpPr txBox="1"/>
          <p:nvPr/>
        </p:nvSpPr>
        <p:spPr>
          <a:xfrm>
            <a:off x="551384" y="4114800"/>
            <a:ext cx="11075962" cy="133023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15000"/>
              </a:lnSpc>
            </a:pPr>
            <a:r>
              <a:rPr lang="en-US" altLang="zh-CN" sz="3600" dirty="0">
                <a:solidFill>
                  <a:srgbClr val="1560AB"/>
                </a:solidFill>
              </a:rPr>
              <a:t>    </a:t>
            </a:r>
            <a:r>
              <a:rPr lang="zh-CN" altLang="en-US" sz="3600" dirty="0">
                <a:solidFill>
                  <a:srgbClr val="1560AB"/>
                </a:solidFill>
              </a:rPr>
              <a:t>按这种串的表示方法实现的串的运算时，其基本操作为</a:t>
            </a:r>
            <a:r>
              <a:rPr lang="zh-CN" altLang="en-US" sz="3600" dirty="0"/>
              <a:t> </a:t>
            </a:r>
            <a:r>
              <a:rPr lang="zh-CN" altLang="en-US" sz="3600" dirty="0">
                <a:solidFill>
                  <a:srgbClr val="871B09"/>
                </a:solidFill>
              </a:rPr>
              <a:t>“字符序列的复制”。</a:t>
            </a:r>
          </a:p>
        </p:txBody>
      </p:sp>
      <p:sp>
        <p:nvSpPr>
          <p:cNvPr id="29699" name="Text Box 3"/>
          <p:cNvSpPr txBox="1"/>
          <p:nvPr/>
        </p:nvSpPr>
        <p:spPr>
          <a:xfrm>
            <a:off x="682130" y="1427162"/>
            <a:ext cx="10945216" cy="137390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zh-CN" sz="3200" dirty="0">
                <a:solidFill>
                  <a:srgbClr val="1560AB"/>
                </a:solidFill>
              </a:rPr>
              <a:t>    </a:t>
            </a:r>
            <a:r>
              <a:rPr lang="zh-CN" altLang="en-US" sz="3200" dirty="0">
                <a:solidFill>
                  <a:srgbClr val="1560AB"/>
                </a:solidFill>
              </a:rPr>
              <a:t>串的实际长度可在这个预定义长度的范围内随意设定，超过予定义长度的串值则被舍去，称之为“截断</a:t>
            </a:r>
            <a:r>
              <a:rPr lang="en-US" altLang="zh-CN" sz="3200" dirty="0">
                <a:solidFill>
                  <a:srgbClr val="1560AB"/>
                </a:solidFill>
              </a:rPr>
              <a:t>”</a:t>
            </a:r>
            <a:r>
              <a:rPr lang="zh-CN" altLang="en-US" sz="4000" dirty="0">
                <a:solidFill>
                  <a:srgbClr val="1560AB"/>
                </a:solidFill>
              </a:rPr>
              <a:t>。</a:t>
            </a:r>
            <a:endParaRPr lang="zh-CN" altLang="en-US" sz="3200" dirty="0">
              <a:solidFill>
                <a:srgbClr val="1560AB"/>
              </a:solidFill>
            </a:endParaRPr>
          </a:p>
        </p:txBody>
      </p:sp>
      <p:sp>
        <p:nvSpPr>
          <p:cNvPr id="40964" name="Text Box 4"/>
          <p:cNvSpPr txBox="1"/>
          <p:nvPr/>
        </p:nvSpPr>
        <p:spPr>
          <a:xfrm>
            <a:off x="863838" y="620688"/>
            <a:ext cx="1231427" cy="646331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600" dirty="0">
                <a:solidFill>
                  <a:srgbClr val="0000FF"/>
                </a:solidFill>
              </a:rPr>
              <a:t>特点</a:t>
            </a:r>
            <a:r>
              <a:rPr lang="en-US" altLang="zh-CN" sz="3600" dirty="0">
                <a:solidFill>
                  <a:srgbClr val="0000FF"/>
                </a:solidFill>
              </a:rPr>
              <a:t>:</a:t>
            </a:r>
            <a:endParaRPr lang="en-US" altLang="zh-CN" sz="3600" dirty="0"/>
          </a:p>
        </p:txBody>
      </p:sp>
      <p:sp>
        <p:nvSpPr>
          <p:cNvPr id="29701" name="AutoShape 5"/>
          <p:cNvSpPr/>
          <p:nvPr/>
        </p:nvSpPr>
        <p:spPr>
          <a:xfrm>
            <a:off x="711438" y="1700808"/>
            <a:ext cx="152400" cy="152400"/>
          </a:xfrm>
          <a:prstGeom prst="irregularSeal1">
            <a:avLst/>
          </a:prstGeom>
          <a:solidFill>
            <a:srgbClr val="00009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/>
          </a:p>
        </p:txBody>
      </p:sp>
      <p:sp>
        <p:nvSpPr>
          <p:cNvPr id="29702" name="AutoShape 6"/>
          <p:cNvSpPr/>
          <p:nvPr/>
        </p:nvSpPr>
        <p:spPr>
          <a:xfrm>
            <a:off x="711438" y="4437112"/>
            <a:ext cx="152400" cy="152400"/>
          </a:xfrm>
          <a:prstGeom prst="irregularSeal1">
            <a:avLst/>
          </a:prstGeom>
          <a:solidFill>
            <a:srgbClr val="00009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9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97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7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9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8" grpId="0"/>
      <p:bldP spid="2969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2"/>
          <p:cNvSpPr txBox="1"/>
          <p:nvPr/>
        </p:nvSpPr>
        <p:spPr>
          <a:xfrm>
            <a:off x="335360" y="1484784"/>
            <a:ext cx="11809311" cy="479981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algn="just" eaLnBrk="1" hangingPunct="1">
              <a:lnSpc>
                <a:spcPct val="130000"/>
              </a:lnSpc>
            </a:pPr>
            <a:r>
              <a:rPr lang="en-US" altLang="zh-CN" sz="2800" dirty="0" err="1"/>
              <a:t>SStr</a:t>
            </a:r>
            <a:r>
              <a:rPr lang="en-US" altLang="zh-CN" sz="2800" dirty="0"/>
              <a:t> </a:t>
            </a:r>
            <a:r>
              <a:rPr lang="en-US" altLang="zh-CN" sz="2800" dirty="0" err="1"/>
              <a:t>SStrNew</a:t>
            </a:r>
            <a:r>
              <a:rPr lang="en-US" altLang="zh-CN" sz="2800" dirty="0"/>
              <a:t>(char *cs){  //</a:t>
            </a:r>
            <a:r>
              <a:rPr lang="zh-CN" altLang="en-US" sz="2800" dirty="0"/>
              <a:t>构建并返回串值为</a:t>
            </a:r>
            <a:r>
              <a:rPr lang="en-US" altLang="zh-CN" sz="2800" dirty="0"/>
              <a:t>C</a:t>
            </a:r>
            <a:r>
              <a:rPr lang="zh-CN" altLang="en-US" sz="2800" dirty="0"/>
              <a:t>串</a:t>
            </a:r>
            <a:r>
              <a:rPr lang="en-US" altLang="zh-CN" sz="2800" dirty="0"/>
              <a:t>cs</a:t>
            </a:r>
            <a:r>
              <a:rPr lang="zh-CN" altLang="en-US" sz="2800" dirty="0"/>
              <a:t>的新串</a:t>
            </a:r>
            <a:endParaRPr lang="en-US" altLang="zh-CN" sz="2800" dirty="0"/>
          </a:p>
          <a:p>
            <a:pPr algn="just" eaLnBrk="1" hangingPunct="1">
              <a:lnSpc>
                <a:spcPct val="130000"/>
              </a:lnSpc>
            </a:pPr>
            <a:r>
              <a:rPr lang="en-US" altLang="zh-CN" sz="2800" dirty="0"/>
              <a:t>     int </a:t>
            </a:r>
            <a:r>
              <a:rPr lang="en-US" altLang="zh-CN" sz="2800" dirty="0" err="1"/>
              <a:t>cslen</a:t>
            </a:r>
            <a:r>
              <a:rPr lang="en-US" altLang="zh-CN" sz="2800" dirty="0"/>
              <a:t>;   char *c;</a:t>
            </a:r>
          </a:p>
          <a:p>
            <a:pPr algn="just" eaLnBrk="1" hangingPunct="1">
              <a:lnSpc>
                <a:spcPct val="130000"/>
              </a:lnSpc>
            </a:pPr>
            <a:r>
              <a:rPr lang="en-US" altLang="zh-CN" sz="2800" dirty="0"/>
              <a:t>     for(</a:t>
            </a:r>
            <a:r>
              <a:rPr lang="en-US" altLang="zh-CN" sz="2800" dirty="0" err="1"/>
              <a:t>cslen</a:t>
            </a:r>
            <a:r>
              <a:rPr lang="en-US" altLang="zh-CN" sz="2800" dirty="0"/>
              <a:t>=0,c=</a:t>
            </a:r>
            <a:r>
              <a:rPr lang="en-US" altLang="zh-CN" sz="2800" dirty="0" err="1"/>
              <a:t>cs</a:t>
            </a:r>
            <a:r>
              <a:rPr lang="en-US" altLang="zh-CN" sz="2800" dirty="0"/>
              <a:t>;*c==NULL;++</a:t>
            </a:r>
            <a:r>
              <a:rPr lang="en-US" altLang="zh-CN" sz="2800" dirty="0" err="1"/>
              <a:t>cslen</a:t>
            </a:r>
            <a:r>
              <a:rPr lang="en-US" altLang="zh-CN" sz="2800" dirty="0"/>
              <a:t>) </a:t>
            </a:r>
            <a:r>
              <a:rPr lang="en-US" altLang="zh-CN" sz="2800" dirty="0" err="1"/>
              <a:t>c++</a:t>
            </a:r>
            <a:r>
              <a:rPr lang="en-US" altLang="zh-CN" sz="2800" dirty="0"/>
              <a:t> </a:t>
            </a:r>
            <a:r>
              <a:rPr lang="en-US" altLang="zh-CN" sz="2800" dirty="0">
                <a:solidFill>
                  <a:srgbClr val="FF0000"/>
                </a:solidFill>
              </a:rPr>
              <a:t>; </a:t>
            </a:r>
            <a:r>
              <a:rPr lang="en-US" altLang="zh-CN" sz="2800" dirty="0"/>
              <a:t>           //</a:t>
            </a:r>
            <a:r>
              <a:rPr lang="zh-CN" altLang="en-US" sz="2800" dirty="0"/>
              <a:t>求</a:t>
            </a:r>
            <a:r>
              <a:rPr lang="en-US" altLang="zh-CN" sz="2800" dirty="0"/>
              <a:t>cs</a:t>
            </a:r>
            <a:r>
              <a:rPr lang="zh-CN" altLang="en-US" sz="2800" dirty="0"/>
              <a:t>的长度</a:t>
            </a:r>
            <a:endParaRPr lang="en-US" altLang="zh-CN" sz="2800" dirty="0"/>
          </a:p>
          <a:p>
            <a:pPr algn="just" eaLnBrk="1" hangingPunct="1">
              <a:lnSpc>
                <a:spcPct val="130000"/>
              </a:lnSpc>
            </a:pPr>
            <a:r>
              <a:rPr lang="en-US" altLang="zh-CN" sz="2800" dirty="0"/>
              <a:t>     </a:t>
            </a:r>
            <a:r>
              <a:rPr lang="en-US" altLang="zh-CN" sz="2800" dirty="0" err="1"/>
              <a:t>SStr</a:t>
            </a:r>
            <a:r>
              <a:rPr lang="en-US" altLang="zh-CN" sz="2800" dirty="0"/>
              <a:t> S = </a:t>
            </a:r>
            <a:r>
              <a:rPr lang="en-US" altLang="zh-CN" sz="2800" dirty="0" err="1"/>
              <a:t>allocSStr</a:t>
            </a:r>
            <a:r>
              <a:rPr lang="en-US" altLang="zh-CN" sz="2800" dirty="0"/>
              <a:t>(</a:t>
            </a:r>
            <a:r>
              <a:rPr lang="en-US" altLang="zh-CN" sz="2800" dirty="0" err="1"/>
              <a:t>cslen</a:t>
            </a:r>
            <a:r>
              <a:rPr lang="en-US" altLang="zh-CN" sz="2800" dirty="0"/>
              <a:t>);                          //</a:t>
            </a:r>
            <a:r>
              <a:rPr lang="zh-CN" altLang="en-US" sz="2800" dirty="0"/>
              <a:t>按需分配空间</a:t>
            </a:r>
            <a:endParaRPr lang="en-US" altLang="zh-CN" sz="2800" dirty="0"/>
          </a:p>
          <a:p>
            <a:pPr algn="just" eaLnBrk="1" hangingPunct="1">
              <a:lnSpc>
                <a:spcPct val="130000"/>
              </a:lnSpc>
            </a:pPr>
            <a:r>
              <a:rPr lang="en-US" altLang="zh-CN" sz="2800" dirty="0"/>
              <a:t>     if(</a:t>
            </a:r>
            <a:r>
              <a:rPr lang="en-US" altLang="zh-CN" sz="2800" dirty="0">
                <a:solidFill>
                  <a:srgbClr val="FF0000"/>
                </a:solidFill>
              </a:rPr>
              <a:t>(int)</a:t>
            </a:r>
            <a:r>
              <a:rPr lang="en-US" altLang="zh-CN" sz="2800" dirty="0"/>
              <a:t>S[0]&gt;0)         </a:t>
            </a:r>
            <a:r>
              <a:rPr lang="en-US" altLang="zh-CN" sz="2800" dirty="0" err="1">
                <a:solidFill>
                  <a:schemeClr val="accent2">
                    <a:lumMod val="75000"/>
                  </a:schemeClr>
                </a:solidFill>
              </a:rPr>
              <a:t>memcpy</a:t>
            </a:r>
            <a:r>
              <a:rPr lang="en-US" altLang="zh-CN" sz="2800" dirty="0">
                <a:solidFill>
                  <a:schemeClr val="accent2">
                    <a:lumMod val="75000"/>
                  </a:schemeClr>
                </a:solidFill>
              </a:rPr>
              <a:t>(S+1,cs,(int)S[0]);    </a:t>
            </a:r>
            <a:r>
              <a:rPr lang="en-US" altLang="zh-CN" sz="2800" dirty="0"/>
              <a:t>//</a:t>
            </a:r>
            <a:r>
              <a:rPr lang="zh-CN" altLang="en-US" sz="2800" dirty="0"/>
              <a:t>复制数据</a:t>
            </a:r>
            <a:endParaRPr lang="en-US" altLang="zh-CN" sz="2800" dirty="0"/>
          </a:p>
          <a:p>
            <a:pPr algn="just" eaLnBrk="1" hangingPunct="1">
              <a:lnSpc>
                <a:spcPct val="130000"/>
              </a:lnSpc>
            </a:pPr>
            <a:r>
              <a:rPr lang="en-US" altLang="zh-CN" sz="2800" dirty="0"/>
              <a:t>     </a:t>
            </a:r>
          </a:p>
          <a:p>
            <a:pPr algn="just" eaLnBrk="1" hangingPunct="1">
              <a:lnSpc>
                <a:spcPct val="130000"/>
              </a:lnSpc>
            </a:pPr>
            <a:endParaRPr lang="en-US" altLang="zh-CN" sz="2800" dirty="0"/>
          </a:p>
          <a:p>
            <a:pPr algn="just" eaLnBrk="1" hangingPunct="1">
              <a:lnSpc>
                <a:spcPct val="130000"/>
              </a:lnSpc>
            </a:pPr>
            <a:endParaRPr lang="en-US" altLang="zh-CN" sz="2800" dirty="0"/>
          </a:p>
          <a:p>
            <a:pPr algn="just" eaLnBrk="1" hangingPunct="1">
              <a:lnSpc>
                <a:spcPct val="130000"/>
              </a:lnSpc>
            </a:pPr>
            <a:r>
              <a:rPr lang="en-US" altLang="zh-CN" sz="2800" dirty="0"/>
              <a:t>}</a:t>
            </a:r>
          </a:p>
          <a:p>
            <a:pPr algn="just" eaLnBrk="1" hangingPunct="1">
              <a:lnSpc>
                <a:spcPct val="130000"/>
              </a:lnSpc>
            </a:pPr>
            <a:endParaRPr lang="en-US" altLang="en-US" sz="2800" dirty="0"/>
          </a:p>
        </p:txBody>
      </p:sp>
      <p:sp>
        <p:nvSpPr>
          <p:cNvPr id="30756" name="AutoShape 36">
            <a:hlinkClick r:id="" action="ppaction://noaction"/>
          </p:cNvPr>
          <p:cNvSpPr/>
          <p:nvPr/>
        </p:nvSpPr>
        <p:spPr>
          <a:xfrm>
            <a:off x="9906000" y="6172200"/>
            <a:ext cx="457200" cy="457200"/>
          </a:xfrm>
          <a:prstGeom prst="actionButtonForwardNext">
            <a:avLst/>
          </a:prstGeom>
          <a:solidFill>
            <a:schemeClr val="bg2"/>
          </a:solidFill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/>
          </a:p>
        </p:txBody>
      </p:sp>
      <p:sp>
        <p:nvSpPr>
          <p:cNvPr id="41991" name="文本框 4"/>
          <p:cNvSpPr txBox="1"/>
          <p:nvPr/>
        </p:nvSpPr>
        <p:spPr>
          <a:xfrm>
            <a:off x="4678754" y="4760129"/>
            <a:ext cx="6097766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800" dirty="0">
                <a:solidFill>
                  <a:srgbClr val="FF0000"/>
                </a:solidFill>
              </a:rPr>
              <a:t>for(int </a:t>
            </a:r>
            <a:r>
              <a:rPr lang="en-US" altLang="zh-CN" sz="2800" dirty="0" err="1">
                <a:solidFill>
                  <a:srgbClr val="FF0000"/>
                </a:solidFill>
              </a:rPr>
              <a:t>i</a:t>
            </a:r>
            <a:r>
              <a:rPr lang="en-US" altLang="zh-CN" sz="2800" dirty="0">
                <a:solidFill>
                  <a:srgbClr val="FF0000"/>
                </a:solidFill>
              </a:rPr>
              <a:t>=0;i&lt;(int)S[0];</a:t>
            </a:r>
            <a:r>
              <a:rPr lang="en-US" altLang="zh-CN" sz="2800" dirty="0" err="1">
                <a:solidFill>
                  <a:srgbClr val="FF0000"/>
                </a:solidFill>
              </a:rPr>
              <a:t>i</a:t>
            </a:r>
            <a:r>
              <a:rPr lang="en-US" altLang="zh-CN" sz="2800" dirty="0">
                <a:solidFill>
                  <a:srgbClr val="FF0000"/>
                </a:solidFill>
              </a:rPr>
              <a:t>++)   S[i+1] = cs[</a:t>
            </a:r>
            <a:r>
              <a:rPr lang="en-US" altLang="zh-CN" sz="2800" dirty="0" err="1">
                <a:solidFill>
                  <a:srgbClr val="FF0000"/>
                </a:solidFill>
              </a:rPr>
              <a:t>i</a:t>
            </a:r>
            <a:r>
              <a:rPr lang="en-US" altLang="zh-CN" sz="2800" dirty="0">
                <a:solidFill>
                  <a:srgbClr val="FF0000"/>
                </a:solidFill>
              </a:rPr>
              <a:t>]</a:t>
            </a:r>
            <a:r>
              <a:rPr lang="zh-CN" altLang="en-US" sz="2800" dirty="0">
                <a:solidFill>
                  <a:srgbClr val="FF0000"/>
                </a:solidFill>
              </a:rPr>
              <a:t>；</a:t>
            </a:r>
            <a:endParaRPr lang="en-US" altLang="en-US" sz="2800" dirty="0">
              <a:solidFill>
                <a:srgbClr val="FF0000"/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423795" y="2937510"/>
            <a:ext cx="5080000" cy="635000"/>
          </a:xfrm>
          <a:prstGeom prst="rect">
            <a:avLst/>
          </a:prstGeom>
        </p:spPr>
        <p:txBody>
          <a:bodyPr/>
          <a:lstStyle/>
          <a:p>
            <a:endParaRPr sz="1600"/>
          </a:p>
        </p:txBody>
      </p:sp>
      <p:sp>
        <p:nvSpPr>
          <p:cNvPr id="4" name="Text Box 3"/>
          <p:cNvSpPr txBox="1"/>
          <p:nvPr/>
        </p:nvSpPr>
        <p:spPr>
          <a:xfrm>
            <a:off x="2423795" y="7115810"/>
            <a:ext cx="5080000" cy="635000"/>
          </a:xfrm>
          <a:prstGeom prst="rect">
            <a:avLst/>
          </a:prstGeom>
        </p:spPr>
        <p:txBody>
          <a:bodyPr/>
          <a:lstStyle/>
          <a:p>
            <a:endParaRPr sz="160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8A378F0-FB16-BFF4-A0CB-9D9246897E97}"/>
              </a:ext>
            </a:extLst>
          </p:cNvPr>
          <p:cNvSpPr txBox="1"/>
          <p:nvPr/>
        </p:nvSpPr>
        <p:spPr>
          <a:xfrm>
            <a:off x="491382" y="820271"/>
            <a:ext cx="56046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串构建</a:t>
            </a:r>
            <a:r>
              <a:rPr lang="en-US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StrNew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箭头: 上下 5">
            <a:extLst>
              <a:ext uri="{FF2B5EF4-FFF2-40B4-BE49-F238E27FC236}">
                <a16:creationId xmlns:a16="http://schemas.microsoft.com/office/drawing/2014/main" id="{BFF09751-4FEE-F798-B512-D30047AB6FCE}"/>
              </a:ext>
            </a:extLst>
          </p:cNvPr>
          <p:cNvSpPr/>
          <p:nvPr/>
        </p:nvSpPr>
        <p:spPr>
          <a:xfrm rot="19017141">
            <a:off x="4986292" y="4267648"/>
            <a:ext cx="296426" cy="452175"/>
          </a:xfrm>
          <a:prstGeom prst="upDownArrow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8FC932B-5918-7C08-38F9-FACA41C9644C}"/>
              </a:ext>
            </a:extLst>
          </p:cNvPr>
          <p:cNvSpPr txBox="1"/>
          <p:nvPr/>
        </p:nvSpPr>
        <p:spPr>
          <a:xfrm>
            <a:off x="5087888" y="61722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0533FE8-5013-B666-8119-65630AF90163}"/>
              </a:ext>
            </a:extLst>
          </p:cNvPr>
          <p:cNvSpPr txBox="1"/>
          <p:nvPr/>
        </p:nvSpPr>
        <p:spPr>
          <a:xfrm>
            <a:off x="695400" y="5400520"/>
            <a:ext cx="99290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S[1+S[0]] = ‘\0’; return S;     //</a:t>
            </a:r>
            <a:r>
              <a:rPr lang="zh-CN" altLang="en-US" sz="2800" dirty="0"/>
              <a:t>置结束符，返回新建的短串</a:t>
            </a:r>
            <a:r>
              <a:rPr lang="en-US" altLang="zh-CN" sz="2800" dirty="0"/>
              <a:t>              </a:t>
            </a:r>
            <a:endParaRPr lang="zh-CN" altLang="en-US" sz="2800" dirty="0"/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91" grpId="0"/>
      <p:bldP spid="6" grpId="0" animBg="1"/>
      <p:bldP spid="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1873BD2-62C1-CD42-B9D7-D9E6028AF70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C0FE0B-717B-41AE-9FA2-CA4BF851D1C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909C18CE-BCEC-AE31-4BAD-242DCB292138}"/>
              </a:ext>
            </a:extLst>
          </p:cNvPr>
          <p:cNvSpPr/>
          <p:nvPr/>
        </p:nvSpPr>
        <p:spPr>
          <a:xfrm>
            <a:off x="1392620" y="278305"/>
            <a:ext cx="6001407" cy="51522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求子串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SStrSub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S,pos,len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</a:t>
            </a:r>
            <a:endParaRPr kumimoji="0" lang="en-US" altLang="zh-CN" sz="2400" b="1" i="0" u="none" strike="noStrike" kern="100" cap="none" spc="0" normalizeH="0" baseline="0" noProof="0" dirty="0">
              <a:ln>
                <a:noFill/>
              </a:ln>
              <a:solidFill>
                <a:srgbClr val="04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ourier New" panose="02070309020205020404" pitchFamily="49" charset="0"/>
              <a:ea typeface="黑体" panose="02010609060101010101" pitchFamily="49" charset="-122"/>
              <a:cs typeface="Courier New" panose="020703090202050204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2D2B711-72C4-B7EF-DD36-D624C4C34AB4}"/>
              </a:ext>
            </a:extLst>
          </p:cNvPr>
          <p:cNvSpPr txBox="1"/>
          <p:nvPr/>
        </p:nvSpPr>
        <p:spPr>
          <a:xfrm>
            <a:off x="843887" y="3464512"/>
            <a:ext cx="9506606" cy="286232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SStr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SStrSub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SStr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S,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pos,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endParaRPr kumimoji="0" lang="zh-CN" altLang="zh-CN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返回串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的第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pos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个字符起长度为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的子串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其中，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≤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pos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≤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StrLen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(S) 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0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≤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≤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StrLen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(S)-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pos+1</a:t>
            </a:r>
            <a:endParaRPr kumimoji="0" lang="zh-CN" altLang="zh-CN" sz="1800" b="0" i="0" u="none" strike="noStrike" kern="100" cap="none" spc="0" normalizeH="0" baseline="0" noProof="0" dirty="0">
              <a:ln>
                <a:noFill/>
              </a:ln>
              <a:solidFill>
                <a:srgbClr val="4EA72E">
                  <a:lumMod val="75000"/>
                </a:srgbClr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!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||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pos&lt;1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||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pos&gt;S[0]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||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&lt;0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||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&gt;S[0]-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pos+1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检查参数</a:t>
            </a:r>
            <a:endParaRPr kumimoji="0" lang="en-US" altLang="zh-CN" sz="1800" b="0" i="0" u="none" strike="noStrike" kern="100" cap="none" spc="0" normalizeH="0" baseline="0" noProof="0" dirty="0">
              <a:ln>
                <a:noFill/>
              </a:ln>
              <a:solidFill>
                <a:srgbClr val="4EA72E">
                  <a:lumMod val="75000"/>
                </a:srgbClr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return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NULL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</a:t>
            </a:r>
            <a:endParaRPr kumimoji="0" lang="zh-CN" altLang="zh-CN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SStr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Sub =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allocSStr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);              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分配结果子串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Sub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的空间</a:t>
            </a:r>
            <a:endParaRPr kumimoji="0" lang="zh-CN" altLang="zh-CN" sz="2800" b="0" i="0" u="none" strike="noStrike" kern="100" cap="none" spc="0" normalizeH="0" baseline="0" noProof="0" dirty="0">
              <a:ln>
                <a:noFill/>
              </a:ln>
              <a:solidFill>
                <a:srgbClr val="4EA72E">
                  <a:lumMod val="75000"/>
                </a:srgb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memcpy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Sub+1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S+pos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);              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复制子串值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Sub[0] =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  Sub[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len+1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 = '\0';      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子串长度，结束符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Sub;</a:t>
            </a:r>
            <a:endParaRPr kumimoji="0" lang="zh-CN" altLang="zh-CN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kumimoji="0" lang="zh-CN" altLang="zh-CN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A08BEF4B-A287-CFDA-3FBB-D1CA6A11446D}"/>
              </a:ext>
            </a:extLst>
          </p:cNvPr>
          <p:cNvGraphicFramePr>
            <a:graphicFrameLocks noGrp="1"/>
          </p:cNvGraphicFramePr>
          <p:nvPr/>
        </p:nvGraphicFramePr>
        <p:xfrm>
          <a:off x="5457933" y="1352464"/>
          <a:ext cx="4892560" cy="767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5785">
                  <a:extLst>
                    <a:ext uri="{9D8B030D-6E8A-4147-A177-3AD203B41FA5}">
                      <a16:colId xmlns:a16="http://schemas.microsoft.com/office/drawing/2014/main" val="1780419131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3762498905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1117829987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2171906389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2287570052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643853387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2641682538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2832883094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3933498544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2228738749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3946482677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3766174121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4132050463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4280973615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2190738291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38646877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3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4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5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6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7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8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9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10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11</a:t>
                      </a:r>
                      <a:endParaRPr lang="zh-CN" altLang="en-US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12</a:t>
                      </a:r>
                      <a:endParaRPr lang="zh-CN" altLang="en-US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13</a:t>
                      </a:r>
                      <a:endParaRPr lang="zh-CN" altLang="en-US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14</a:t>
                      </a:r>
                      <a:endParaRPr lang="zh-CN" altLang="en-US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60221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T</a:t>
                      </a:r>
                      <a:endParaRPr lang="zh-CN" altLang="en-US" sz="200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rgbClr val="C00000"/>
                          </a:solidFill>
                        </a:rPr>
                        <a:t>12</a:t>
                      </a:r>
                      <a:endParaRPr lang="zh-CN" altLang="en-US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1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3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5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7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9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A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B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C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D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E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F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/0</a:t>
                      </a:r>
                      <a:endParaRPr lang="zh-CN" altLang="en-US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672232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A5C99041-155A-FE96-62DB-86F61766016F}"/>
              </a:ext>
            </a:extLst>
          </p:cNvPr>
          <p:cNvGraphicFramePr>
            <a:graphicFrameLocks noGrp="1"/>
          </p:cNvGraphicFramePr>
          <p:nvPr/>
        </p:nvGraphicFramePr>
        <p:xfrm>
          <a:off x="6100382" y="2254502"/>
          <a:ext cx="2752065" cy="767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5785">
                  <a:extLst>
                    <a:ext uri="{9D8B030D-6E8A-4147-A177-3AD203B41FA5}">
                      <a16:colId xmlns:a16="http://schemas.microsoft.com/office/drawing/2014/main" val="1780419131"/>
                    </a:ext>
                  </a:extLst>
                </a:gridCol>
                <a:gridCol w="335146">
                  <a:extLst>
                    <a:ext uri="{9D8B030D-6E8A-4147-A177-3AD203B41FA5}">
                      <a16:colId xmlns:a16="http://schemas.microsoft.com/office/drawing/2014/main" val="3762498905"/>
                    </a:ext>
                  </a:extLst>
                </a:gridCol>
                <a:gridCol w="276424">
                  <a:extLst>
                    <a:ext uri="{9D8B030D-6E8A-4147-A177-3AD203B41FA5}">
                      <a16:colId xmlns:a16="http://schemas.microsoft.com/office/drawing/2014/main" val="1117829987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2171906389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2287570052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643853387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2641682538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2832883094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22287387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3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4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5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6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60221616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Sub</a:t>
                      </a:r>
                      <a:endParaRPr lang="zh-CN" altLang="en-US" sz="20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672232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5E6278C8-CD77-0778-CB43-BFFFFAA9CE10}"/>
              </a:ext>
            </a:extLst>
          </p:cNvPr>
          <p:cNvGraphicFramePr>
            <a:graphicFrameLocks noGrp="1"/>
          </p:cNvGraphicFramePr>
          <p:nvPr/>
        </p:nvGraphicFramePr>
        <p:xfrm>
          <a:off x="6989481" y="1716289"/>
          <a:ext cx="1528925" cy="3975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5785">
                  <a:extLst>
                    <a:ext uri="{9D8B030D-6E8A-4147-A177-3AD203B41FA5}">
                      <a16:colId xmlns:a16="http://schemas.microsoft.com/office/drawing/2014/main" val="1135217701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3605427275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1180796193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1552723178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3486398510"/>
                    </a:ext>
                  </a:extLst>
                </a:gridCol>
              </a:tblGrid>
              <a:tr h="397503"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7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9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A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B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C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239773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BF78FA03-B8EF-7866-87FA-E82F4EC1C834}"/>
              </a:ext>
            </a:extLst>
          </p:cNvPr>
          <p:cNvSpPr txBox="1"/>
          <p:nvPr/>
        </p:nvSpPr>
        <p:spPr>
          <a:xfrm>
            <a:off x="6778143" y="2655289"/>
            <a:ext cx="211338" cy="35418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5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08A47FA-A2F0-70CE-9537-CA69DAABDB78}"/>
              </a:ext>
            </a:extLst>
          </p:cNvPr>
          <p:cNvSpPr txBox="1"/>
          <p:nvPr/>
        </p:nvSpPr>
        <p:spPr>
          <a:xfrm>
            <a:off x="8563119" y="2657003"/>
            <a:ext cx="283272" cy="349702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/0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FF4B236-92F7-835A-9DBA-CFF8127787D1}"/>
              </a:ext>
            </a:extLst>
          </p:cNvPr>
          <p:cNvSpPr txBox="1"/>
          <p:nvPr/>
        </p:nvSpPr>
        <p:spPr>
          <a:xfrm>
            <a:off x="6947167" y="1095320"/>
            <a:ext cx="479499" cy="349702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pos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DE7770D-2C73-29BD-F00F-C0386B5264B6}"/>
              </a:ext>
            </a:extLst>
          </p:cNvPr>
          <p:cNvSpPr txBox="1"/>
          <p:nvPr/>
        </p:nvSpPr>
        <p:spPr>
          <a:xfrm>
            <a:off x="843887" y="2821527"/>
            <a:ext cx="44935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41ABC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SStr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ss =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41ABC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SStrSub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(T, 4, 5);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41ABC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4F5F58D8-4BF3-723C-6F92-652C56FA6B69}"/>
              </a:ext>
            </a:extLst>
          </p:cNvPr>
          <p:cNvCxnSpPr>
            <a:cxnSpLocks/>
          </p:cNvCxnSpPr>
          <p:nvPr/>
        </p:nvCxnSpPr>
        <p:spPr>
          <a:xfrm flipH="1">
            <a:off x="3597115" y="3125585"/>
            <a:ext cx="304325" cy="432262"/>
          </a:xfrm>
          <a:prstGeom prst="line">
            <a:avLst/>
          </a:prstGeom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6C73D41B-4CB9-D3DA-C276-883C87856F59}"/>
              </a:ext>
            </a:extLst>
          </p:cNvPr>
          <p:cNvCxnSpPr>
            <a:cxnSpLocks/>
          </p:cNvCxnSpPr>
          <p:nvPr/>
        </p:nvCxnSpPr>
        <p:spPr>
          <a:xfrm>
            <a:off x="4360072" y="3142211"/>
            <a:ext cx="300597" cy="432262"/>
          </a:xfrm>
          <a:prstGeom prst="line">
            <a:avLst/>
          </a:prstGeom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4F5F58D8-4BF3-723C-6F92-652C56FA6B69}"/>
              </a:ext>
            </a:extLst>
          </p:cNvPr>
          <p:cNvCxnSpPr>
            <a:cxnSpLocks/>
          </p:cNvCxnSpPr>
          <p:nvPr/>
        </p:nvCxnSpPr>
        <p:spPr>
          <a:xfrm>
            <a:off x="4835237" y="3151882"/>
            <a:ext cx="1072341" cy="422591"/>
          </a:xfrm>
          <a:prstGeom prst="line">
            <a:avLst/>
          </a:prstGeom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3261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3.33333E-6 L 0.00234 0.13194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" y="6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48F6634-888A-B00E-C07F-9C954EECF49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C0FE0B-717B-41AE-9FA2-CA4BF851D1C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E3117014-E893-853A-D16A-8EED292380A5}"/>
              </a:ext>
            </a:extLst>
          </p:cNvPr>
          <p:cNvSpPr/>
          <p:nvPr/>
        </p:nvSpPr>
        <p:spPr>
          <a:xfrm>
            <a:off x="1392620" y="278305"/>
            <a:ext cx="6143297" cy="51522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留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子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串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41ABC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SStrRange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(S, a, b)</a:t>
            </a:r>
            <a:endParaRPr kumimoji="0" lang="en-US" altLang="zh-CN" sz="2400" b="1" i="0" u="none" strike="noStrike" kern="100" cap="none" spc="0" normalizeH="0" baseline="0" noProof="0" dirty="0">
              <a:ln>
                <a:noFill/>
              </a:ln>
              <a:solidFill>
                <a:srgbClr val="04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ourier New" panose="02070309020205020404" pitchFamily="49" charset="0"/>
              <a:ea typeface="黑体" panose="02010609060101010101" pitchFamily="49" charset="-122"/>
              <a:cs typeface="Courier New" panose="020703090202050204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5636D6A-1EA3-B274-0C7A-D07C83EE9852}"/>
              </a:ext>
            </a:extLst>
          </p:cNvPr>
          <p:cNvSpPr txBox="1"/>
          <p:nvPr/>
        </p:nvSpPr>
        <p:spPr>
          <a:xfrm>
            <a:off x="804041" y="3429000"/>
            <a:ext cx="9532883" cy="2308324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Status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SStrRange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SStr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S,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a,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b)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endParaRPr kumimoji="0" lang="zh-CN" altLang="zh-CN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保留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在区间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[a-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1..b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-1]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内的串值，其余被覆盖或清除。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O(N),N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为被保留空间容量</a:t>
            </a:r>
            <a:endParaRPr kumimoji="0" lang="zh-CN" altLang="zh-CN" sz="2800" b="0" i="0" u="none" strike="noStrike" kern="100" cap="none" spc="0" normalizeH="0" baseline="0" noProof="0" dirty="0">
              <a:ln>
                <a:noFill/>
              </a:ln>
              <a:solidFill>
                <a:srgbClr val="4EA72E">
                  <a:lumMod val="75000"/>
                </a:srgb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!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||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a&lt;1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||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a&gt;b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||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b&gt;S[0])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ERROR;  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合法性检查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S[0] =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b-a+1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                 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更新串长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memcpy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S+1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S+a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(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)S[0]);   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要保留的串值移至起始位置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S[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1+S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[0]] = '\0';              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结束符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OK;</a:t>
            </a:r>
            <a:endParaRPr kumimoji="0" lang="zh-CN" altLang="zh-CN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kumimoji="0" lang="zh-CN" altLang="zh-CN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8E6019F-0623-4512-7722-D5D449296113}"/>
              </a:ext>
            </a:extLst>
          </p:cNvPr>
          <p:cNvGraphicFramePr>
            <a:graphicFrameLocks noGrp="1"/>
          </p:cNvGraphicFramePr>
          <p:nvPr/>
        </p:nvGraphicFramePr>
        <p:xfrm>
          <a:off x="5457933" y="1352464"/>
          <a:ext cx="4892560" cy="767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5785">
                  <a:extLst>
                    <a:ext uri="{9D8B030D-6E8A-4147-A177-3AD203B41FA5}">
                      <a16:colId xmlns:a16="http://schemas.microsoft.com/office/drawing/2014/main" val="1780419131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3762498905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1117829987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2171906389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2287570052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643853387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2641682538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2832883094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3933498544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2228738749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3946482677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3766174121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4132050463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4280973615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2190738291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38646877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3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4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5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6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7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8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9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10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11</a:t>
                      </a:r>
                      <a:endParaRPr lang="zh-CN" altLang="en-US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12</a:t>
                      </a:r>
                      <a:endParaRPr lang="zh-CN" altLang="en-US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13</a:t>
                      </a:r>
                      <a:endParaRPr lang="zh-CN" altLang="en-US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14</a:t>
                      </a:r>
                      <a:endParaRPr lang="zh-CN" altLang="en-US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60221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T</a:t>
                      </a:r>
                      <a:endParaRPr lang="zh-CN" altLang="en-US" sz="200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1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3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5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7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9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A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B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C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D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E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F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/0</a:t>
                      </a:r>
                      <a:endParaRPr lang="zh-CN" altLang="en-US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672232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0F77B0C9-3B62-8748-6456-FD3BA3613781}"/>
              </a:ext>
            </a:extLst>
          </p:cNvPr>
          <p:cNvGraphicFramePr>
            <a:graphicFrameLocks noGrp="1"/>
          </p:cNvGraphicFramePr>
          <p:nvPr/>
        </p:nvGraphicFramePr>
        <p:xfrm>
          <a:off x="6989481" y="1721608"/>
          <a:ext cx="1528925" cy="3921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5785">
                  <a:extLst>
                    <a:ext uri="{9D8B030D-6E8A-4147-A177-3AD203B41FA5}">
                      <a16:colId xmlns:a16="http://schemas.microsoft.com/office/drawing/2014/main" val="1135217701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3605427275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1180796193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1552723178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3486398510"/>
                    </a:ext>
                  </a:extLst>
                </a:gridCol>
              </a:tblGrid>
              <a:tr h="392184"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7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9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A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B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C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239773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840AF964-B402-B886-6C91-25F45B2FA36A}"/>
              </a:ext>
            </a:extLst>
          </p:cNvPr>
          <p:cNvSpPr txBox="1"/>
          <p:nvPr/>
        </p:nvSpPr>
        <p:spPr>
          <a:xfrm>
            <a:off x="7039165" y="1137929"/>
            <a:ext cx="264533" cy="38048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a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文本框 15">
            <a:extLst>
              <a:ext uri="{FF2B5EF4-FFF2-40B4-BE49-F238E27FC236}">
                <a16:creationId xmlns:a16="http://schemas.microsoft.com/office/drawing/2014/main" id="{ADE7770D-2C73-29BD-F00F-C0386B5264B6}"/>
              </a:ext>
            </a:extLst>
          </p:cNvPr>
          <p:cNvSpPr txBox="1"/>
          <p:nvPr/>
        </p:nvSpPr>
        <p:spPr>
          <a:xfrm>
            <a:off x="2550445" y="2752304"/>
            <a:ext cx="31085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41ABC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SStrRange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(T, 4, 8);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41ABC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4F5F58D8-4BF3-723C-6F92-652C56FA6B69}"/>
              </a:ext>
            </a:extLst>
          </p:cNvPr>
          <p:cNvCxnSpPr>
            <a:cxnSpLocks/>
          </p:cNvCxnSpPr>
          <p:nvPr/>
        </p:nvCxnSpPr>
        <p:spPr>
          <a:xfrm flipH="1">
            <a:off x="3952555" y="3046530"/>
            <a:ext cx="304325" cy="432262"/>
          </a:xfrm>
          <a:prstGeom prst="line">
            <a:avLst/>
          </a:prstGeom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6C73D41B-4CB9-D3DA-C276-883C87856F59}"/>
              </a:ext>
            </a:extLst>
          </p:cNvPr>
          <p:cNvCxnSpPr>
            <a:cxnSpLocks/>
          </p:cNvCxnSpPr>
          <p:nvPr/>
        </p:nvCxnSpPr>
        <p:spPr>
          <a:xfrm>
            <a:off x="4715512" y="3063156"/>
            <a:ext cx="187564" cy="432262"/>
          </a:xfrm>
          <a:prstGeom prst="line">
            <a:avLst/>
          </a:prstGeom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4F5F58D8-4BF3-723C-6F92-652C56FA6B69}"/>
              </a:ext>
            </a:extLst>
          </p:cNvPr>
          <p:cNvCxnSpPr>
            <a:cxnSpLocks/>
          </p:cNvCxnSpPr>
          <p:nvPr/>
        </p:nvCxnSpPr>
        <p:spPr>
          <a:xfrm>
            <a:off x="5190677" y="3072827"/>
            <a:ext cx="684010" cy="422591"/>
          </a:xfrm>
          <a:prstGeom prst="line">
            <a:avLst/>
          </a:prstGeom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482ECFEE-6044-E337-C14E-DBE751636EF2}"/>
              </a:ext>
            </a:extLst>
          </p:cNvPr>
          <p:cNvSpPr txBox="1"/>
          <p:nvPr/>
        </p:nvSpPr>
        <p:spPr>
          <a:xfrm>
            <a:off x="5794628" y="1752638"/>
            <a:ext cx="262757" cy="349702"/>
          </a:xfrm>
          <a:prstGeom prst="rect">
            <a:avLst/>
          </a:prstGeom>
          <a:noFill/>
        </p:spPr>
        <p:txBody>
          <a:bodyPr wrap="square" lIns="0" tIns="36000" rIns="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12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D503F54-6FF3-E051-6D22-CFA15A3006AB}"/>
              </a:ext>
            </a:extLst>
          </p:cNvPr>
          <p:cNvSpPr txBox="1"/>
          <p:nvPr/>
        </p:nvSpPr>
        <p:spPr>
          <a:xfrm>
            <a:off x="5858708" y="1746814"/>
            <a:ext cx="157599" cy="349702"/>
          </a:xfrm>
          <a:prstGeom prst="rect">
            <a:avLst/>
          </a:prstGeom>
          <a:noFill/>
        </p:spPr>
        <p:txBody>
          <a:bodyPr wrap="square" lIns="0" tIns="36000" rIns="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5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99F057A-9830-9E4C-A5E0-644E5F34B3A7}"/>
              </a:ext>
            </a:extLst>
          </p:cNvPr>
          <p:cNvSpPr txBox="1"/>
          <p:nvPr/>
        </p:nvSpPr>
        <p:spPr>
          <a:xfrm>
            <a:off x="7656863" y="1744611"/>
            <a:ext cx="194159" cy="34970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lIns="0" tIns="36000" rIns="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/0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23291E8-9C68-8925-6415-5FDBF51EFA5F}"/>
              </a:ext>
            </a:extLst>
          </p:cNvPr>
          <p:cNvSpPr txBox="1"/>
          <p:nvPr/>
        </p:nvSpPr>
        <p:spPr>
          <a:xfrm>
            <a:off x="8253873" y="1137929"/>
            <a:ext cx="264533" cy="38048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b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6491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3.7037E-7 L -0.07552 -0.00023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776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5" grpId="0"/>
      <p:bldP spid="16" grpId="0"/>
      <p:bldP spid="17" grpId="0" animBg="1"/>
      <p:bldP spid="1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0A01919-86BD-A073-58F1-3AD60415B5AC}"/>
              </a:ext>
            </a:extLst>
          </p:cNvPr>
          <p:cNvSpPr txBox="1"/>
          <p:nvPr/>
        </p:nvSpPr>
        <p:spPr>
          <a:xfrm>
            <a:off x="149629" y="1130012"/>
            <a:ext cx="10762212" cy="5632311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SStr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SStrConcat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SStr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S1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SStr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S2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连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接操作</a:t>
            </a:r>
            <a:endParaRPr kumimoji="0" lang="zh-CN" altLang="zh-CN" sz="2800" b="0" i="0" u="none" strike="noStrike" kern="100" cap="none" spc="0" normalizeH="0" baseline="0" noProof="0" dirty="0">
              <a:ln>
                <a:noFill/>
              </a:ln>
              <a:solidFill>
                <a:srgbClr val="4EA72E">
                  <a:lumMod val="75000"/>
                </a:srgb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用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返回由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S1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S2</a:t>
            </a:r>
            <a:r>
              <a: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连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接而成的新串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SStr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T; 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kumimoji="0" lang="zh-CN" altLang="zh-CN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!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S1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||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!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S2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ERROR;   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合法性检查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S1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[0]+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S2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[0] &lt;=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MAXSTRLEN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{ 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无需截断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T =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allocSStr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S1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[0]+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S2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[0]);    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按需分配空间，下同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=1;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&lt;=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S1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[0];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++) T[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 =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S1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];       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复制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S1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串值（可改用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memcpy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=1;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&lt;=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S2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[0];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++) T[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i+S1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[0]] =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S2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]; 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复制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S2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串值（可改用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memcpy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T[0] =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S1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[0]+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S2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[0];</a:t>
            </a:r>
            <a:endParaRPr kumimoji="0" lang="zh-CN" altLang="zh-CN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 else if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S1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[0] &lt;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MAXSTRLEN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{ 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截断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T =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allocSStr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MAXSTRLEN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kumimoji="0" lang="zh-CN" altLang="zh-CN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memcpy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T+1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S1+1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(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S1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[0]);                  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调用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函数复制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S1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串值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memcpy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(T+(int)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S1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[0]+1,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S2+1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MAXSTRLEN-S1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[0]);  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可与前面用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循环复制对比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T[0] =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MAXSTRLEN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kumimoji="0" lang="zh-CN" altLang="zh-CN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 else {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截断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仅取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S1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kumimoji="0" lang="zh-CN" altLang="zh-CN" sz="1800" b="0" i="0" u="none" strike="noStrike" kern="100" cap="none" spc="0" normalizeH="0" baseline="0" noProof="0" dirty="0">
              <a:ln>
                <a:noFill/>
              </a:ln>
              <a:solidFill>
                <a:srgbClr val="4EA72E">
                  <a:lumMod val="75000"/>
                </a:srgbClr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T =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allocSStr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MAXSTRLEN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kumimoji="0" lang="zh-CN" altLang="zh-CN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memcpy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(T,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S1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S1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[0]);     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从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起，包括串长和串值的复制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kumimoji="0" lang="zh-CN" altLang="zh-CN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T[T[0]+1] = '\0'; 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T; 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置结束符，返回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endParaRPr kumimoji="0" lang="zh-CN" altLang="zh-CN" sz="1800" b="0" i="0" u="none" strike="noStrike" kern="100" cap="none" spc="0" normalizeH="0" baseline="0" noProof="0" dirty="0">
              <a:ln>
                <a:noFill/>
              </a:ln>
              <a:solidFill>
                <a:srgbClr val="4EA72E">
                  <a:lumMod val="75000"/>
                </a:srgbClr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kumimoji="0" lang="zh-CN" altLang="zh-CN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C82CDCF2-D913-0E06-5B54-17AE89C4CB53}"/>
              </a:ext>
            </a:extLst>
          </p:cNvPr>
          <p:cNvSpPr/>
          <p:nvPr/>
        </p:nvSpPr>
        <p:spPr>
          <a:xfrm>
            <a:off x="6650179" y="774706"/>
            <a:ext cx="5519651" cy="1746821"/>
          </a:xfrm>
          <a:prstGeom prst="roundRect">
            <a:avLst/>
          </a:prstGeom>
          <a:solidFill>
            <a:srgbClr val="FFFC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5CD2DCF-57A9-C0E2-6C46-F6CED25233B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10600" y="6176731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C0FE0B-717B-41AE-9FA2-CA4BF851D1C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E3117014-E893-853A-D16A-8EED292380A5}"/>
              </a:ext>
            </a:extLst>
          </p:cNvPr>
          <p:cNvSpPr/>
          <p:nvPr/>
        </p:nvSpPr>
        <p:spPr>
          <a:xfrm>
            <a:off x="1400600" y="223139"/>
            <a:ext cx="5831474" cy="46793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串</a:t>
            </a:r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连</a:t>
            </a:r>
            <a:r>
              <a:rPr kumimoji="0" lang="zh-CN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接</a:t>
            </a: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41ABC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SStrConcat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41ABC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S1,S2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</a:t>
            </a:r>
            <a:endParaRPr kumimoji="0" lang="en-US" altLang="zh-CN" sz="2400" b="1" i="0" u="none" strike="noStrike" kern="100" cap="none" spc="0" normalizeH="0" baseline="0" noProof="0" dirty="0">
              <a:ln>
                <a:noFill/>
              </a:ln>
              <a:solidFill>
                <a:srgbClr val="04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ourier New" panose="02070309020205020404" pitchFamily="49" charset="0"/>
              <a:ea typeface="黑体" panose="02010609060101010101" pitchFamily="49" charset="-122"/>
              <a:cs typeface="Courier New" panose="02070309020205020404" pitchFamily="49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49486D3F-5739-6AD3-4C35-D4FAC42FD4AD}"/>
              </a:ext>
            </a:extLst>
          </p:cNvPr>
          <p:cNvGraphicFramePr>
            <a:graphicFrameLocks noGrp="1"/>
          </p:cNvGraphicFramePr>
          <p:nvPr/>
        </p:nvGraphicFramePr>
        <p:xfrm>
          <a:off x="9294473" y="774706"/>
          <a:ext cx="2752069" cy="767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5207">
                  <a:extLst>
                    <a:ext uri="{9D8B030D-6E8A-4147-A177-3AD203B41FA5}">
                      <a16:colId xmlns:a16="http://schemas.microsoft.com/office/drawing/2014/main" val="414437029"/>
                    </a:ext>
                  </a:extLst>
                </a:gridCol>
                <a:gridCol w="301631">
                  <a:extLst>
                    <a:ext uri="{9D8B030D-6E8A-4147-A177-3AD203B41FA5}">
                      <a16:colId xmlns:a16="http://schemas.microsoft.com/office/drawing/2014/main" val="3371176287"/>
                    </a:ext>
                  </a:extLst>
                </a:gridCol>
                <a:gridCol w="248782">
                  <a:extLst>
                    <a:ext uri="{9D8B030D-6E8A-4147-A177-3AD203B41FA5}">
                      <a16:colId xmlns:a16="http://schemas.microsoft.com/office/drawing/2014/main" val="781410206"/>
                    </a:ext>
                  </a:extLst>
                </a:gridCol>
                <a:gridCol w="275207">
                  <a:extLst>
                    <a:ext uri="{9D8B030D-6E8A-4147-A177-3AD203B41FA5}">
                      <a16:colId xmlns:a16="http://schemas.microsoft.com/office/drawing/2014/main" val="1254982125"/>
                    </a:ext>
                  </a:extLst>
                </a:gridCol>
                <a:gridCol w="275207">
                  <a:extLst>
                    <a:ext uri="{9D8B030D-6E8A-4147-A177-3AD203B41FA5}">
                      <a16:colId xmlns:a16="http://schemas.microsoft.com/office/drawing/2014/main" val="1873979812"/>
                    </a:ext>
                  </a:extLst>
                </a:gridCol>
                <a:gridCol w="275207">
                  <a:extLst>
                    <a:ext uri="{9D8B030D-6E8A-4147-A177-3AD203B41FA5}">
                      <a16:colId xmlns:a16="http://schemas.microsoft.com/office/drawing/2014/main" val="746059941"/>
                    </a:ext>
                  </a:extLst>
                </a:gridCol>
                <a:gridCol w="275207">
                  <a:extLst>
                    <a:ext uri="{9D8B030D-6E8A-4147-A177-3AD203B41FA5}">
                      <a16:colId xmlns:a16="http://schemas.microsoft.com/office/drawing/2014/main" val="943307370"/>
                    </a:ext>
                  </a:extLst>
                </a:gridCol>
                <a:gridCol w="275207">
                  <a:extLst>
                    <a:ext uri="{9D8B030D-6E8A-4147-A177-3AD203B41FA5}">
                      <a16:colId xmlns:a16="http://schemas.microsoft.com/office/drawing/2014/main" val="101829082"/>
                    </a:ext>
                  </a:extLst>
                </a:gridCol>
                <a:gridCol w="275207">
                  <a:extLst>
                    <a:ext uri="{9D8B030D-6E8A-4147-A177-3AD203B41FA5}">
                      <a16:colId xmlns:a16="http://schemas.microsoft.com/office/drawing/2014/main" val="2490466563"/>
                    </a:ext>
                  </a:extLst>
                </a:gridCol>
                <a:gridCol w="275207">
                  <a:extLst>
                    <a:ext uri="{9D8B030D-6E8A-4147-A177-3AD203B41FA5}">
                      <a16:colId xmlns:a16="http://schemas.microsoft.com/office/drawing/2014/main" val="38534324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3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4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5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6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sz="1600" dirty="0">
                        <a:latin typeface="+mn-ea"/>
                        <a:ea typeface="+mn-ea"/>
                      </a:endParaRPr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30198873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r"/>
                      <a:r>
                        <a:rPr lang="en-US" altLang="zh-CN" sz="20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S2</a:t>
                      </a:r>
                      <a:endParaRPr lang="zh-CN" altLang="en-US" sz="20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C00000"/>
                          </a:solidFill>
                        </a:rPr>
                        <a:t>4</a:t>
                      </a:r>
                      <a:endParaRPr lang="zh-CN" altLang="en-US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D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a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t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a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FF0000"/>
                          </a:solidFill>
                        </a:rPr>
                        <a:t>/0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286282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6B1467F2-8B33-7F01-6BD5-011AEEE3717B}"/>
              </a:ext>
            </a:extLst>
          </p:cNvPr>
          <p:cNvGraphicFramePr>
            <a:graphicFrameLocks noGrp="1"/>
          </p:cNvGraphicFramePr>
          <p:nvPr/>
        </p:nvGraphicFramePr>
        <p:xfrm>
          <a:off x="6626215" y="774706"/>
          <a:ext cx="2752069" cy="767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5207">
                  <a:extLst>
                    <a:ext uri="{9D8B030D-6E8A-4147-A177-3AD203B41FA5}">
                      <a16:colId xmlns:a16="http://schemas.microsoft.com/office/drawing/2014/main" val="414437029"/>
                    </a:ext>
                  </a:extLst>
                </a:gridCol>
                <a:gridCol w="301631">
                  <a:extLst>
                    <a:ext uri="{9D8B030D-6E8A-4147-A177-3AD203B41FA5}">
                      <a16:colId xmlns:a16="http://schemas.microsoft.com/office/drawing/2014/main" val="3371176287"/>
                    </a:ext>
                  </a:extLst>
                </a:gridCol>
                <a:gridCol w="248782">
                  <a:extLst>
                    <a:ext uri="{9D8B030D-6E8A-4147-A177-3AD203B41FA5}">
                      <a16:colId xmlns:a16="http://schemas.microsoft.com/office/drawing/2014/main" val="781410206"/>
                    </a:ext>
                  </a:extLst>
                </a:gridCol>
                <a:gridCol w="275207">
                  <a:extLst>
                    <a:ext uri="{9D8B030D-6E8A-4147-A177-3AD203B41FA5}">
                      <a16:colId xmlns:a16="http://schemas.microsoft.com/office/drawing/2014/main" val="1254982125"/>
                    </a:ext>
                  </a:extLst>
                </a:gridCol>
                <a:gridCol w="275207">
                  <a:extLst>
                    <a:ext uri="{9D8B030D-6E8A-4147-A177-3AD203B41FA5}">
                      <a16:colId xmlns:a16="http://schemas.microsoft.com/office/drawing/2014/main" val="1873979812"/>
                    </a:ext>
                  </a:extLst>
                </a:gridCol>
                <a:gridCol w="275207">
                  <a:extLst>
                    <a:ext uri="{9D8B030D-6E8A-4147-A177-3AD203B41FA5}">
                      <a16:colId xmlns:a16="http://schemas.microsoft.com/office/drawing/2014/main" val="746059941"/>
                    </a:ext>
                  </a:extLst>
                </a:gridCol>
                <a:gridCol w="275207">
                  <a:extLst>
                    <a:ext uri="{9D8B030D-6E8A-4147-A177-3AD203B41FA5}">
                      <a16:colId xmlns:a16="http://schemas.microsoft.com/office/drawing/2014/main" val="943307370"/>
                    </a:ext>
                  </a:extLst>
                </a:gridCol>
                <a:gridCol w="275207">
                  <a:extLst>
                    <a:ext uri="{9D8B030D-6E8A-4147-A177-3AD203B41FA5}">
                      <a16:colId xmlns:a16="http://schemas.microsoft.com/office/drawing/2014/main" val="101829082"/>
                    </a:ext>
                  </a:extLst>
                </a:gridCol>
                <a:gridCol w="275207">
                  <a:extLst>
                    <a:ext uri="{9D8B030D-6E8A-4147-A177-3AD203B41FA5}">
                      <a16:colId xmlns:a16="http://schemas.microsoft.com/office/drawing/2014/main" val="2490466563"/>
                    </a:ext>
                  </a:extLst>
                </a:gridCol>
                <a:gridCol w="275207">
                  <a:extLst>
                    <a:ext uri="{9D8B030D-6E8A-4147-A177-3AD203B41FA5}">
                      <a16:colId xmlns:a16="http://schemas.microsoft.com/office/drawing/2014/main" val="38534324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3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4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5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6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sz="1600" dirty="0">
                        <a:latin typeface="+mn-ea"/>
                        <a:ea typeface="+mn-ea"/>
                      </a:endParaRPr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30198873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r"/>
                      <a:r>
                        <a:rPr lang="en-US" altLang="zh-CN" sz="20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S1</a:t>
                      </a:r>
                      <a:endParaRPr lang="zh-CN" altLang="en-US" sz="20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C00000"/>
                          </a:solidFill>
                        </a:rPr>
                        <a:t>3</a:t>
                      </a:r>
                      <a:endParaRPr lang="zh-CN" altLang="en-US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B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err="1"/>
                        <a:t>i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g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FF0000"/>
                          </a:solidFill>
                        </a:rPr>
                        <a:t>/0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286282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626859B9-8117-A9A2-213C-6F25762B9D23}"/>
              </a:ext>
            </a:extLst>
          </p:cNvPr>
          <p:cNvGraphicFramePr>
            <a:graphicFrameLocks noGrp="1"/>
          </p:cNvGraphicFramePr>
          <p:nvPr/>
        </p:nvGraphicFramePr>
        <p:xfrm>
          <a:off x="6614102" y="1578127"/>
          <a:ext cx="3034165" cy="767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5728">
                  <a:extLst>
                    <a:ext uri="{9D8B030D-6E8A-4147-A177-3AD203B41FA5}">
                      <a16:colId xmlns:a16="http://schemas.microsoft.com/office/drawing/2014/main" val="2722988368"/>
                    </a:ext>
                  </a:extLst>
                </a:gridCol>
                <a:gridCol w="302203">
                  <a:extLst>
                    <a:ext uri="{9D8B030D-6E8A-4147-A177-3AD203B41FA5}">
                      <a16:colId xmlns:a16="http://schemas.microsoft.com/office/drawing/2014/main" val="4159374079"/>
                    </a:ext>
                  </a:extLst>
                </a:gridCol>
                <a:gridCol w="250410">
                  <a:extLst>
                    <a:ext uri="{9D8B030D-6E8A-4147-A177-3AD203B41FA5}">
                      <a16:colId xmlns:a16="http://schemas.microsoft.com/office/drawing/2014/main" val="3370280708"/>
                    </a:ext>
                  </a:extLst>
                </a:gridCol>
                <a:gridCol w="275728">
                  <a:extLst>
                    <a:ext uri="{9D8B030D-6E8A-4147-A177-3AD203B41FA5}">
                      <a16:colId xmlns:a16="http://schemas.microsoft.com/office/drawing/2014/main" val="2894475528"/>
                    </a:ext>
                  </a:extLst>
                </a:gridCol>
                <a:gridCol w="275728">
                  <a:extLst>
                    <a:ext uri="{9D8B030D-6E8A-4147-A177-3AD203B41FA5}">
                      <a16:colId xmlns:a16="http://schemas.microsoft.com/office/drawing/2014/main" val="1781162893"/>
                    </a:ext>
                  </a:extLst>
                </a:gridCol>
                <a:gridCol w="275728">
                  <a:extLst>
                    <a:ext uri="{9D8B030D-6E8A-4147-A177-3AD203B41FA5}">
                      <a16:colId xmlns:a16="http://schemas.microsoft.com/office/drawing/2014/main" val="1288460662"/>
                    </a:ext>
                  </a:extLst>
                </a:gridCol>
                <a:gridCol w="275728">
                  <a:extLst>
                    <a:ext uri="{9D8B030D-6E8A-4147-A177-3AD203B41FA5}">
                      <a16:colId xmlns:a16="http://schemas.microsoft.com/office/drawing/2014/main" val="2694735192"/>
                    </a:ext>
                  </a:extLst>
                </a:gridCol>
                <a:gridCol w="275728">
                  <a:extLst>
                    <a:ext uri="{9D8B030D-6E8A-4147-A177-3AD203B41FA5}">
                      <a16:colId xmlns:a16="http://schemas.microsoft.com/office/drawing/2014/main" val="3145953776"/>
                    </a:ext>
                  </a:extLst>
                </a:gridCol>
                <a:gridCol w="275728">
                  <a:extLst>
                    <a:ext uri="{9D8B030D-6E8A-4147-A177-3AD203B41FA5}">
                      <a16:colId xmlns:a16="http://schemas.microsoft.com/office/drawing/2014/main" val="4208328342"/>
                    </a:ext>
                  </a:extLst>
                </a:gridCol>
                <a:gridCol w="275728">
                  <a:extLst>
                    <a:ext uri="{9D8B030D-6E8A-4147-A177-3AD203B41FA5}">
                      <a16:colId xmlns:a16="http://schemas.microsoft.com/office/drawing/2014/main" val="1983398994"/>
                    </a:ext>
                  </a:extLst>
                </a:gridCol>
                <a:gridCol w="275728">
                  <a:extLst>
                    <a:ext uri="{9D8B030D-6E8A-4147-A177-3AD203B41FA5}">
                      <a16:colId xmlns:a16="http://schemas.microsoft.com/office/drawing/2014/main" val="20623763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3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4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5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6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n-lt"/>
                          <a:ea typeface="+mn-ea"/>
                        </a:rPr>
                        <a:t>7</a:t>
                      </a:r>
                      <a:endParaRPr lang="zh-CN" altLang="en-US" sz="1600" dirty="0">
                        <a:latin typeface="+mn-lt"/>
                        <a:ea typeface="+mn-ea"/>
                      </a:endParaRPr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n-lt"/>
                          <a:ea typeface="+mn-ea"/>
                        </a:rPr>
                        <a:t>8</a:t>
                      </a:r>
                      <a:endParaRPr lang="zh-CN" altLang="en-US" sz="1600" dirty="0">
                        <a:latin typeface="+mn-lt"/>
                        <a:ea typeface="+mn-ea"/>
                      </a:endParaRPr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99934490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r"/>
                      <a:r>
                        <a:rPr lang="en-US" altLang="zh-CN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</a:t>
                      </a:r>
                      <a:endParaRPr lang="zh-CN" altLang="en-US" sz="20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2800903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F6E73A3F-8626-9F26-9E68-68BD3475C6C1}"/>
              </a:ext>
            </a:extLst>
          </p:cNvPr>
          <p:cNvGraphicFramePr>
            <a:graphicFrameLocks noGrp="1"/>
          </p:cNvGraphicFramePr>
          <p:nvPr/>
        </p:nvGraphicFramePr>
        <p:xfrm>
          <a:off x="7451835" y="1147763"/>
          <a:ext cx="825621" cy="39402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5207">
                  <a:extLst>
                    <a:ext uri="{9D8B030D-6E8A-4147-A177-3AD203B41FA5}">
                      <a16:colId xmlns:a16="http://schemas.microsoft.com/office/drawing/2014/main" val="3774136567"/>
                    </a:ext>
                  </a:extLst>
                </a:gridCol>
                <a:gridCol w="275207">
                  <a:extLst>
                    <a:ext uri="{9D8B030D-6E8A-4147-A177-3AD203B41FA5}">
                      <a16:colId xmlns:a16="http://schemas.microsoft.com/office/drawing/2014/main" val="396507223"/>
                    </a:ext>
                  </a:extLst>
                </a:gridCol>
                <a:gridCol w="275207">
                  <a:extLst>
                    <a:ext uri="{9D8B030D-6E8A-4147-A177-3AD203B41FA5}">
                      <a16:colId xmlns:a16="http://schemas.microsoft.com/office/drawing/2014/main" val="3134499640"/>
                    </a:ext>
                  </a:extLst>
                </a:gridCol>
              </a:tblGrid>
              <a:tr h="394023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B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err="1"/>
                        <a:t>i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g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8135919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EEA861E6-2DC0-8626-6645-09A1275D1DBC}"/>
              </a:ext>
            </a:extLst>
          </p:cNvPr>
          <p:cNvGraphicFramePr>
            <a:graphicFrameLocks noGrp="1"/>
          </p:cNvGraphicFramePr>
          <p:nvPr/>
        </p:nvGraphicFramePr>
        <p:xfrm>
          <a:off x="10121285" y="1147763"/>
          <a:ext cx="1100828" cy="3895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5207">
                  <a:extLst>
                    <a:ext uri="{9D8B030D-6E8A-4147-A177-3AD203B41FA5}">
                      <a16:colId xmlns:a16="http://schemas.microsoft.com/office/drawing/2014/main" val="2209411359"/>
                    </a:ext>
                  </a:extLst>
                </a:gridCol>
                <a:gridCol w="275207">
                  <a:extLst>
                    <a:ext uri="{9D8B030D-6E8A-4147-A177-3AD203B41FA5}">
                      <a16:colId xmlns:a16="http://schemas.microsoft.com/office/drawing/2014/main" val="3193190497"/>
                    </a:ext>
                  </a:extLst>
                </a:gridCol>
                <a:gridCol w="275207">
                  <a:extLst>
                    <a:ext uri="{9D8B030D-6E8A-4147-A177-3AD203B41FA5}">
                      <a16:colId xmlns:a16="http://schemas.microsoft.com/office/drawing/2014/main" val="721019093"/>
                    </a:ext>
                  </a:extLst>
                </a:gridCol>
                <a:gridCol w="275207">
                  <a:extLst>
                    <a:ext uri="{9D8B030D-6E8A-4147-A177-3AD203B41FA5}">
                      <a16:colId xmlns:a16="http://schemas.microsoft.com/office/drawing/2014/main" val="336465354"/>
                    </a:ext>
                  </a:extLst>
                </a:gridCol>
              </a:tblGrid>
              <a:tr h="389516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D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a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t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a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252920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9BD006B6-D745-9B1A-ED96-A098FF6D7987}"/>
              </a:ext>
            </a:extLst>
          </p:cNvPr>
          <p:cNvSpPr txBox="1"/>
          <p:nvPr/>
        </p:nvSpPr>
        <p:spPr>
          <a:xfrm>
            <a:off x="7277610" y="1147763"/>
            <a:ext cx="157599" cy="349702"/>
          </a:xfrm>
          <a:prstGeom prst="rect">
            <a:avLst/>
          </a:prstGeom>
          <a:noFill/>
        </p:spPr>
        <p:txBody>
          <a:bodyPr wrap="square" lIns="0" tIns="36000" rIns="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3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11F1A5B-FBCA-2C01-C27B-67B766B19E1B}"/>
              </a:ext>
            </a:extLst>
          </p:cNvPr>
          <p:cNvSpPr txBox="1"/>
          <p:nvPr/>
        </p:nvSpPr>
        <p:spPr>
          <a:xfrm>
            <a:off x="9943444" y="1158246"/>
            <a:ext cx="157599" cy="349702"/>
          </a:xfrm>
          <a:prstGeom prst="rect">
            <a:avLst/>
          </a:prstGeom>
          <a:noFill/>
        </p:spPr>
        <p:txBody>
          <a:bodyPr wrap="square" lIns="0" tIns="36000" rIns="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4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0">
            <a:extLst>
              <a:ext uri="{FF2B5EF4-FFF2-40B4-BE49-F238E27FC236}">
                <a16:creationId xmlns:a16="http://schemas.microsoft.com/office/drawing/2014/main" id="{9BD006B6-D745-9B1A-ED96-A098FF6D7987}"/>
              </a:ext>
            </a:extLst>
          </p:cNvPr>
          <p:cNvSpPr txBox="1"/>
          <p:nvPr/>
        </p:nvSpPr>
        <p:spPr>
          <a:xfrm>
            <a:off x="7249899" y="1967209"/>
            <a:ext cx="157599" cy="349702"/>
          </a:xfrm>
          <a:prstGeom prst="rect">
            <a:avLst/>
          </a:prstGeom>
          <a:noFill/>
        </p:spPr>
        <p:txBody>
          <a:bodyPr wrap="square" lIns="0" tIns="36000" rIns="0" bIns="3600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7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文本框 10">
            <a:extLst>
              <a:ext uri="{FF2B5EF4-FFF2-40B4-BE49-F238E27FC236}">
                <a16:creationId xmlns:a16="http://schemas.microsoft.com/office/drawing/2014/main" id="{9BD006B6-D745-9B1A-ED96-A098FF6D7987}"/>
              </a:ext>
            </a:extLst>
          </p:cNvPr>
          <p:cNvSpPr txBox="1"/>
          <p:nvPr/>
        </p:nvSpPr>
        <p:spPr>
          <a:xfrm>
            <a:off x="9383826" y="1972751"/>
            <a:ext cx="253396" cy="34970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lIns="0" tIns="36000" rIns="0" bIns="3600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/0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B087090-66AD-788E-E0AA-C97AC241BC9D}"/>
              </a:ext>
            </a:extLst>
          </p:cNvPr>
          <p:cNvSpPr/>
          <p:nvPr/>
        </p:nvSpPr>
        <p:spPr>
          <a:xfrm>
            <a:off x="5774575" y="2669446"/>
            <a:ext cx="6395255" cy="1746821"/>
          </a:xfrm>
          <a:prstGeom prst="roundRect">
            <a:avLst/>
          </a:prstGeom>
          <a:solidFill>
            <a:srgbClr val="FFFC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06676B1E-C96B-B73B-1F8D-08FB83E9A279}"/>
              </a:ext>
            </a:extLst>
          </p:cNvPr>
          <p:cNvGraphicFramePr>
            <a:graphicFrameLocks noGrp="1"/>
          </p:cNvGraphicFramePr>
          <p:nvPr/>
        </p:nvGraphicFramePr>
        <p:xfrm>
          <a:off x="5774575" y="2697680"/>
          <a:ext cx="2476862" cy="767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5207">
                  <a:extLst>
                    <a:ext uri="{9D8B030D-6E8A-4147-A177-3AD203B41FA5}">
                      <a16:colId xmlns:a16="http://schemas.microsoft.com/office/drawing/2014/main" val="414437029"/>
                    </a:ext>
                  </a:extLst>
                </a:gridCol>
                <a:gridCol w="301631">
                  <a:extLst>
                    <a:ext uri="{9D8B030D-6E8A-4147-A177-3AD203B41FA5}">
                      <a16:colId xmlns:a16="http://schemas.microsoft.com/office/drawing/2014/main" val="3371176287"/>
                    </a:ext>
                  </a:extLst>
                </a:gridCol>
                <a:gridCol w="248782">
                  <a:extLst>
                    <a:ext uri="{9D8B030D-6E8A-4147-A177-3AD203B41FA5}">
                      <a16:colId xmlns:a16="http://schemas.microsoft.com/office/drawing/2014/main" val="781410206"/>
                    </a:ext>
                  </a:extLst>
                </a:gridCol>
                <a:gridCol w="275207">
                  <a:extLst>
                    <a:ext uri="{9D8B030D-6E8A-4147-A177-3AD203B41FA5}">
                      <a16:colId xmlns:a16="http://schemas.microsoft.com/office/drawing/2014/main" val="1254982125"/>
                    </a:ext>
                  </a:extLst>
                </a:gridCol>
                <a:gridCol w="275207">
                  <a:extLst>
                    <a:ext uri="{9D8B030D-6E8A-4147-A177-3AD203B41FA5}">
                      <a16:colId xmlns:a16="http://schemas.microsoft.com/office/drawing/2014/main" val="1873979812"/>
                    </a:ext>
                  </a:extLst>
                </a:gridCol>
                <a:gridCol w="550414">
                  <a:extLst>
                    <a:ext uri="{9D8B030D-6E8A-4147-A177-3AD203B41FA5}">
                      <a16:colId xmlns:a16="http://schemas.microsoft.com/office/drawing/2014/main" val="943307370"/>
                    </a:ext>
                  </a:extLst>
                </a:gridCol>
                <a:gridCol w="275207">
                  <a:extLst>
                    <a:ext uri="{9D8B030D-6E8A-4147-A177-3AD203B41FA5}">
                      <a16:colId xmlns:a16="http://schemas.microsoft.com/office/drawing/2014/main" val="2490466563"/>
                    </a:ext>
                  </a:extLst>
                </a:gridCol>
                <a:gridCol w="275207">
                  <a:extLst>
                    <a:ext uri="{9D8B030D-6E8A-4147-A177-3AD203B41FA5}">
                      <a16:colId xmlns:a16="http://schemas.microsoft.com/office/drawing/2014/main" val="38534324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sz="1600" dirty="0">
                        <a:latin typeface="+mn-ea"/>
                        <a:ea typeface="+mn-ea"/>
                      </a:endParaRPr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98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n-lt"/>
                          <a:ea typeface="+mn-ea"/>
                        </a:rPr>
                        <a:t>99</a:t>
                      </a:r>
                      <a:endParaRPr lang="zh-CN" altLang="en-US" sz="1600" dirty="0">
                        <a:latin typeface="+mn-lt"/>
                        <a:ea typeface="+mn-ea"/>
                      </a:endParaRPr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30198873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r"/>
                      <a:r>
                        <a:rPr lang="en-US" altLang="zh-CN" sz="20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S1</a:t>
                      </a:r>
                      <a:endParaRPr lang="zh-CN" altLang="en-US" sz="20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C00000"/>
                          </a:solidFill>
                        </a:rPr>
                        <a:t>98</a:t>
                      </a:r>
                      <a:endParaRPr lang="zh-CN" altLang="en-US" b="1" dirty="0">
                        <a:solidFill>
                          <a:srgbClr val="C00000"/>
                        </a:solidFill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B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err="1"/>
                        <a:t>i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sz="1800" dirty="0">
                        <a:latin typeface="+mn-ea"/>
                        <a:ea typeface="+mn-ea"/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/0</a:t>
                      </a:r>
                      <a:endParaRPr lang="zh-CN" altLang="en-US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286282"/>
                  </a:ext>
                </a:extLst>
              </a:tr>
            </a:tbl>
          </a:graphicData>
        </a:graphic>
      </p:graphicFrame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345DE4DC-231C-27FC-A6B7-F8A54CE9AB1F}"/>
              </a:ext>
            </a:extLst>
          </p:cNvPr>
          <p:cNvGraphicFramePr>
            <a:graphicFrameLocks noGrp="1"/>
          </p:cNvGraphicFramePr>
          <p:nvPr/>
        </p:nvGraphicFramePr>
        <p:xfrm>
          <a:off x="8277456" y="2693173"/>
          <a:ext cx="3591575" cy="767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6275">
                  <a:extLst>
                    <a:ext uri="{9D8B030D-6E8A-4147-A177-3AD203B41FA5}">
                      <a16:colId xmlns:a16="http://schemas.microsoft.com/office/drawing/2014/main" val="414437029"/>
                    </a:ext>
                  </a:extLst>
                </a:gridCol>
                <a:gridCol w="213707">
                  <a:extLst>
                    <a:ext uri="{9D8B030D-6E8A-4147-A177-3AD203B41FA5}">
                      <a16:colId xmlns:a16="http://schemas.microsoft.com/office/drawing/2014/main" val="3371176287"/>
                    </a:ext>
                  </a:extLst>
                </a:gridCol>
                <a:gridCol w="338843">
                  <a:extLst>
                    <a:ext uri="{9D8B030D-6E8A-4147-A177-3AD203B41FA5}">
                      <a16:colId xmlns:a16="http://schemas.microsoft.com/office/drawing/2014/main" val="781410206"/>
                    </a:ext>
                  </a:extLst>
                </a:gridCol>
                <a:gridCol w="276275">
                  <a:extLst>
                    <a:ext uri="{9D8B030D-6E8A-4147-A177-3AD203B41FA5}">
                      <a16:colId xmlns:a16="http://schemas.microsoft.com/office/drawing/2014/main" val="1254982125"/>
                    </a:ext>
                  </a:extLst>
                </a:gridCol>
                <a:gridCol w="276275">
                  <a:extLst>
                    <a:ext uri="{9D8B030D-6E8A-4147-A177-3AD203B41FA5}">
                      <a16:colId xmlns:a16="http://schemas.microsoft.com/office/drawing/2014/main" val="1873979812"/>
                    </a:ext>
                  </a:extLst>
                </a:gridCol>
                <a:gridCol w="552551">
                  <a:extLst>
                    <a:ext uri="{9D8B030D-6E8A-4147-A177-3AD203B41FA5}">
                      <a16:colId xmlns:a16="http://schemas.microsoft.com/office/drawing/2014/main" val="943307370"/>
                    </a:ext>
                  </a:extLst>
                </a:gridCol>
                <a:gridCol w="276275">
                  <a:extLst>
                    <a:ext uri="{9D8B030D-6E8A-4147-A177-3AD203B41FA5}">
                      <a16:colId xmlns:a16="http://schemas.microsoft.com/office/drawing/2014/main" val="2490466563"/>
                    </a:ext>
                  </a:extLst>
                </a:gridCol>
                <a:gridCol w="276275">
                  <a:extLst>
                    <a:ext uri="{9D8B030D-6E8A-4147-A177-3AD203B41FA5}">
                      <a16:colId xmlns:a16="http://schemas.microsoft.com/office/drawing/2014/main" val="3853432452"/>
                    </a:ext>
                  </a:extLst>
                </a:gridCol>
                <a:gridCol w="552549">
                  <a:extLst>
                    <a:ext uri="{9D8B030D-6E8A-4147-A177-3AD203B41FA5}">
                      <a16:colId xmlns:a16="http://schemas.microsoft.com/office/drawing/2014/main" val="3068664"/>
                    </a:ext>
                  </a:extLst>
                </a:gridCol>
                <a:gridCol w="276275">
                  <a:extLst>
                    <a:ext uri="{9D8B030D-6E8A-4147-A177-3AD203B41FA5}">
                      <a16:colId xmlns:a16="http://schemas.microsoft.com/office/drawing/2014/main" val="1779088553"/>
                    </a:ext>
                  </a:extLst>
                </a:gridCol>
                <a:gridCol w="276275">
                  <a:extLst>
                    <a:ext uri="{9D8B030D-6E8A-4147-A177-3AD203B41FA5}">
                      <a16:colId xmlns:a16="http://schemas.microsoft.com/office/drawing/2014/main" val="11181703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sz="1600" dirty="0">
                        <a:latin typeface="+mn-ea"/>
                        <a:ea typeface="+mn-ea"/>
                      </a:endParaRPr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156</a:t>
                      </a:r>
                      <a:endParaRPr lang="zh-CN" altLang="en-US" sz="1400" dirty="0"/>
                    </a:p>
                  </a:txBody>
                  <a:tcPr marL="0" marR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157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sz="1600" dirty="0">
                        <a:latin typeface="+mn-ea"/>
                        <a:ea typeface="+mn-ea"/>
                      </a:endParaRPr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178</a:t>
                      </a:r>
                      <a:endParaRPr lang="zh-CN" altLang="en-US" sz="1400" dirty="0"/>
                    </a:p>
                  </a:txBody>
                  <a:tcPr marL="0" marR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179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30198873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r"/>
                      <a:r>
                        <a:rPr lang="en-US" altLang="zh-CN" sz="20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S2</a:t>
                      </a:r>
                      <a:endParaRPr lang="zh-CN" altLang="en-US" sz="20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C00000"/>
                          </a:solidFill>
                        </a:rPr>
                        <a:t>178</a:t>
                      </a:r>
                      <a:endParaRPr lang="zh-CN" altLang="en-US" sz="1600" b="1" dirty="0">
                        <a:solidFill>
                          <a:srgbClr val="C00000"/>
                        </a:solidFill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D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a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sz="1800" dirty="0">
                        <a:latin typeface="+mn-ea"/>
                        <a:ea typeface="+mn-ea"/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sz="1800" dirty="0">
                        <a:latin typeface="+mn-ea"/>
                        <a:ea typeface="+mn-ea"/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/0</a:t>
                      </a:r>
                      <a:endParaRPr lang="zh-CN" altLang="en-US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286282"/>
                  </a:ext>
                </a:extLst>
              </a:tr>
            </a:tbl>
          </a:graphicData>
        </a:graphic>
      </p:graphicFrame>
      <p:grpSp>
        <p:nvGrpSpPr>
          <p:cNvPr id="21" name="组合 20">
            <a:extLst>
              <a:ext uri="{FF2B5EF4-FFF2-40B4-BE49-F238E27FC236}">
                <a16:creationId xmlns:a16="http://schemas.microsoft.com/office/drawing/2014/main" id="{2ADC5383-A21A-B2AA-A5CC-583F405B69B9}"/>
              </a:ext>
            </a:extLst>
          </p:cNvPr>
          <p:cNvGrpSpPr/>
          <p:nvPr/>
        </p:nvGrpSpPr>
        <p:grpSpPr>
          <a:xfrm>
            <a:off x="149629" y="2398029"/>
            <a:ext cx="628468" cy="1253515"/>
            <a:chOff x="149629" y="2398029"/>
            <a:chExt cx="628468" cy="1253515"/>
          </a:xfrm>
        </p:grpSpPr>
        <p:sp>
          <p:nvSpPr>
            <p:cNvPr id="19" name="左大括号 18">
              <a:extLst>
                <a:ext uri="{FF2B5EF4-FFF2-40B4-BE49-F238E27FC236}">
                  <a16:creationId xmlns:a16="http://schemas.microsoft.com/office/drawing/2014/main" id="{308EB107-281B-4418-F395-57824489FA25}"/>
                </a:ext>
              </a:extLst>
            </p:cNvPr>
            <p:cNvSpPr/>
            <p:nvPr/>
          </p:nvSpPr>
          <p:spPr>
            <a:xfrm>
              <a:off x="543948" y="2398029"/>
              <a:ext cx="234149" cy="1253515"/>
            </a:xfrm>
            <a:prstGeom prst="leftBrac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177B0930-2F91-A593-85D2-2F03558B0BF4}"/>
                </a:ext>
              </a:extLst>
            </p:cNvPr>
            <p:cNvSpPr txBox="1"/>
            <p:nvPr/>
          </p:nvSpPr>
          <p:spPr>
            <a:xfrm flipH="1">
              <a:off x="149629" y="2790925"/>
              <a:ext cx="270482" cy="467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/>
                  <a:ea typeface="宋体" panose="02010600030101010101" pitchFamily="2" charset="-122"/>
                  <a:cs typeface="+mn-cs"/>
                </a:rPr>
                <a:t>①</a:t>
              </a: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0530A069-6E5A-D609-6B0B-A4B88647D088}"/>
              </a:ext>
            </a:extLst>
          </p:cNvPr>
          <p:cNvGrpSpPr/>
          <p:nvPr/>
        </p:nvGrpSpPr>
        <p:grpSpPr>
          <a:xfrm>
            <a:off x="128881" y="3838640"/>
            <a:ext cx="628468" cy="1253515"/>
            <a:chOff x="149629" y="2398029"/>
            <a:chExt cx="628468" cy="1253515"/>
          </a:xfrm>
        </p:grpSpPr>
        <p:sp>
          <p:nvSpPr>
            <p:cNvPr id="23" name="左大括号 22">
              <a:extLst>
                <a:ext uri="{FF2B5EF4-FFF2-40B4-BE49-F238E27FC236}">
                  <a16:creationId xmlns:a16="http://schemas.microsoft.com/office/drawing/2014/main" id="{A957EECA-B11F-1A3E-B338-23FDEE64160C}"/>
                </a:ext>
              </a:extLst>
            </p:cNvPr>
            <p:cNvSpPr/>
            <p:nvPr/>
          </p:nvSpPr>
          <p:spPr>
            <a:xfrm>
              <a:off x="543948" y="2398029"/>
              <a:ext cx="234149" cy="1253515"/>
            </a:xfrm>
            <a:prstGeom prst="leftBrac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A0DE15D2-A0D8-B1FB-BB76-26078F798877}"/>
                </a:ext>
              </a:extLst>
            </p:cNvPr>
            <p:cNvSpPr txBox="1"/>
            <p:nvPr/>
          </p:nvSpPr>
          <p:spPr>
            <a:xfrm flipH="1">
              <a:off x="149629" y="2790925"/>
              <a:ext cx="270482" cy="467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/>
                  <a:ea typeface="宋体" panose="02010600030101010101" pitchFamily="2" charset="-122"/>
                  <a:cs typeface="+mn-cs"/>
                </a:rPr>
                <a:t>②</a:t>
              </a: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0AA3E3C1-F194-90A6-1459-F52C2AA218C4}"/>
              </a:ext>
            </a:extLst>
          </p:cNvPr>
          <p:cNvGrpSpPr/>
          <p:nvPr/>
        </p:nvGrpSpPr>
        <p:grpSpPr>
          <a:xfrm>
            <a:off x="117379" y="5165639"/>
            <a:ext cx="639970" cy="643914"/>
            <a:chOff x="138127" y="2398031"/>
            <a:chExt cx="639970" cy="1006884"/>
          </a:xfrm>
        </p:grpSpPr>
        <p:sp>
          <p:nvSpPr>
            <p:cNvPr id="26" name="左大括号 25">
              <a:extLst>
                <a:ext uri="{FF2B5EF4-FFF2-40B4-BE49-F238E27FC236}">
                  <a16:creationId xmlns:a16="http://schemas.microsoft.com/office/drawing/2014/main" id="{F32FD73C-642D-1558-5C87-52DF01F79E50}"/>
                </a:ext>
              </a:extLst>
            </p:cNvPr>
            <p:cNvSpPr/>
            <p:nvPr/>
          </p:nvSpPr>
          <p:spPr>
            <a:xfrm>
              <a:off x="507616" y="2398031"/>
              <a:ext cx="270481" cy="1006884"/>
            </a:xfrm>
            <a:prstGeom prst="leftBrac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A322E1CD-10E5-C1C5-4882-DCB092B785A5}"/>
                </a:ext>
              </a:extLst>
            </p:cNvPr>
            <p:cNvSpPr txBox="1"/>
            <p:nvPr/>
          </p:nvSpPr>
          <p:spPr>
            <a:xfrm flipH="1">
              <a:off x="138127" y="2539126"/>
              <a:ext cx="270482" cy="7219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/>
                  <a:ea typeface="宋体" panose="02010600030101010101" pitchFamily="2" charset="-122"/>
                  <a:cs typeface="+mn-cs"/>
                </a:rPr>
                <a:t>③</a:t>
              </a:r>
            </a:p>
          </p:txBody>
        </p:sp>
      </p:grpSp>
      <p:graphicFrame>
        <p:nvGraphicFramePr>
          <p:cNvPr id="28" name="表格 27">
            <a:extLst>
              <a:ext uri="{FF2B5EF4-FFF2-40B4-BE49-F238E27FC236}">
                <a16:creationId xmlns:a16="http://schemas.microsoft.com/office/drawing/2014/main" id="{12AEA192-0742-62C7-BF3A-1A2EB9FC9776}"/>
              </a:ext>
            </a:extLst>
          </p:cNvPr>
          <p:cNvGraphicFramePr>
            <a:graphicFrameLocks noGrp="1"/>
          </p:cNvGraphicFramePr>
          <p:nvPr/>
        </p:nvGraphicFramePr>
        <p:xfrm>
          <a:off x="5759372" y="3489914"/>
          <a:ext cx="3839055" cy="767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218">
                  <a:extLst>
                    <a:ext uri="{9D8B030D-6E8A-4147-A177-3AD203B41FA5}">
                      <a16:colId xmlns:a16="http://schemas.microsoft.com/office/drawing/2014/main" val="414437029"/>
                    </a:ext>
                  </a:extLst>
                </a:gridCol>
                <a:gridCol w="212116">
                  <a:extLst>
                    <a:ext uri="{9D8B030D-6E8A-4147-A177-3AD203B41FA5}">
                      <a16:colId xmlns:a16="http://schemas.microsoft.com/office/drawing/2014/main" val="3371176287"/>
                    </a:ext>
                  </a:extLst>
                </a:gridCol>
                <a:gridCol w="336322">
                  <a:extLst>
                    <a:ext uri="{9D8B030D-6E8A-4147-A177-3AD203B41FA5}">
                      <a16:colId xmlns:a16="http://schemas.microsoft.com/office/drawing/2014/main" val="781410206"/>
                    </a:ext>
                  </a:extLst>
                </a:gridCol>
                <a:gridCol w="274218">
                  <a:extLst>
                    <a:ext uri="{9D8B030D-6E8A-4147-A177-3AD203B41FA5}">
                      <a16:colId xmlns:a16="http://schemas.microsoft.com/office/drawing/2014/main" val="1254982125"/>
                    </a:ext>
                  </a:extLst>
                </a:gridCol>
                <a:gridCol w="274218">
                  <a:extLst>
                    <a:ext uri="{9D8B030D-6E8A-4147-A177-3AD203B41FA5}">
                      <a16:colId xmlns:a16="http://schemas.microsoft.com/office/drawing/2014/main" val="1873979812"/>
                    </a:ext>
                  </a:extLst>
                </a:gridCol>
                <a:gridCol w="548438">
                  <a:extLst>
                    <a:ext uri="{9D8B030D-6E8A-4147-A177-3AD203B41FA5}">
                      <a16:colId xmlns:a16="http://schemas.microsoft.com/office/drawing/2014/main" val="943307370"/>
                    </a:ext>
                  </a:extLst>
                </a:gridCol>
                <a:gridCol w="274218">
                  <a:extLst>
                    <a:ext uri="{9D8B030D-6E8A-4147-A177-3AD203B41FA5}">
                      <a16:colId xmlns:a16="http://schemas.microsoft.com/office/drawing/2014/main" val="2490466563"/>
                    </a:ext>
                  </a:extLst>
                </a:gridCol>
                <a:gridCol w="274218">
                  <a:extLst>
                    <a:ext uri="{9D8B030D-6E8A-4147-A177-3AD203B41FA5}">
                      <a16:colId xmlns:a16="http://schemas.microsoft.com/office/drawing/2014/main" val="3853432452"/>
                    </a:ext>
                  </a:extLst>
                </a:gridCol>
                <a:gridCol w="274218">
                  <a:extLst>
                    <a:ext uri="{9D8B030D-6E8A-4147-A177-3AD203B41FA5}">
                      <a16:colId xmlns:a16="http://schemas.microsoft.com/office/drawing/2014/main" val="3641575902"/>
                    </a:ext>
                  </a:extLst>
                </a:gridCol>
                <a:gridCol w="548435">
                  <a:extLst>
                    <a:ext uri="{9D8B030D-6E8A-4147-A177-3AD203B41FA5}">
                      <a16:colId xmlns:a16="http://schemas.microsoft.com/office/drawing/2014/main" val="3068664"/>
                    </a:ext>
                  </a:extLst>
                </a:gridCol>
                <a:gridCol w="274218">
                  <a:extLst>
                    <a:ext uri="{9D8B030D-6E8A-4147-A177-3AD203B41FA5}">
                      <a16:colId xmlns:a16="http://schemas.microsoft.com/office/drawing/2014/main" val="1779088553"/>
                    </a:ext>
                  </a:extLst>
                </a:gridCol>
                <a:gridCol w="274218">
                  <a:extLst>
                    <a:ext uri="{9D8B030D-6E8A-4147-A177-3AD203B41FA5}">
                      <a16:colId xmlns:a16="http://schemas.microsoft.com/office/drawing/2014/main" val="11181703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sz="1600" dirty="0">
                        <a:latin typeface="+mn-ea"/>
                        <a:ea typeface="+mn-ea"/>
                      </a:endParaRPr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98</a:t>
                      </a:r>
                      <a:endParaRPr lang="zh-CN" altLang="en-US" sz="1400" dirty="0"/>
                    </a:p>
                  </a:txBody>
                  <a:tcPr marL="0" marR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99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sz="1600" dirty="0">
                        <a:latin typeface="+mn-ea"/>
                        <a:ea typeface="+mn-ea"/>
                      </a:endParaRPr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254</a:t>
                      </a:r>
                      <a:endParaRPr lang="zh-CN" altLang="en-US" sz="1400" dirty="0"/>
                    </a:p>
                  </a:txBody>
                  <a:tcPr marL="0" marR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255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30198873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r"/>
                      <a:r>
                        <a:rPr lang="en-US" altLang="zh-CN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</a:t>
                      </a:r>
                      <a:endParaRPr lang="zh-CN" altLang="en-US" sz="20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solidFill>
                          <a:srgbClr val="C00000"/>
                        </a:solidFill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dirty="0">
                        <a:latin typeface="+mn-ea"/>
                        <a:ea typeface="+mn-ea"/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dirty="0">
                        <a:latin typeface="+mn-ea"/>
                        <a:ea typeface="+mn-ea"/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286282"/>
                  </a:ext>
                </a:extLst>
              </a:tr>
            </a:tbl>
          </a:graphicData>
        </a:graphic>
      </p:graphicFrame>
      <p:graphicFrame>
        <p:nvGraphicFramePr>
          <p:cNvPr id="29" name="表格 28">
            <a:extLst>
              <a:ext uri="{FF2B5EF4-FFF2-40B4-BE49-F238E27FC236}">
                <a16:creationId xmlns:a16="http://schemas.microsoft.com/office/drawing/2014/main" id="{2CD224A2-0552-96FB-BFD7-30F7D4CC5D19}"/>
              </a:ext>
            </a:extLst>
          </p:cNvPr>
          <p:cNvGraphicFramePr>
            <a:graphicFrameLocks noGrp="1"/>
          </p:cNvGraphicFramePr>
          <p:nvPr/>
        </p:nvGraphicFramePr>
        <p:xfrm>
          <a:off x="6600622" y="3076345"/>
          <a:ext cx="1376035" cy="3783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5207">
                  <a:extLst>
                    <a:ext uri="{9D8B030D-6E8A-4147-A177-3AD203B41FA5}">
                      <a16:colId xmlns:a16="http://schemas.microsoft.com/office/drawing/2014/main" val="2943413420"/>
                    </a:ext>
                  </a:extLst>
                </a:gridCol>
                <a:gridCol w="275207">
                  <a:extLst>
                    <a:ext uri="{9D8B030D-6E8A-4147-A177-3AD203B41FA5}">
                      <a16:colId xmlns:a16="http://schemas.microsoft.com/office/drawing/2014/main" val="486034486"/>
                    </a:ext>
                  </a:extLst>
                </a:gridCol>
                <a:gridCol w="550414">
                  <a:extLst>
                    <a:ext uri="{9D8B030D-6E8A-4147-A177-3AD203B41FA5}">
                      <a16:colId xmlns:a16="http://schemas.microsoft.com/office/drawing/2014/main" val="925244602"/>
                    </a:ext>
                  </a:extLst>
                </a:gridCol>
                <a:gridCol w="275207">
                  <a:extLst>
                    <a:ext uri="{9D8B030D-6E8A-4147-A177-3AD203B41FA5}">
                      <a16:colId xmlns:a16="http://schemas.microsoft.com/office/drawing/2014/main" val="3346684661"/>
                    </a:ext>
                  </a:extLst>
                </a:gridCol>
              </a:tblGrid>
              <a:tr h="378366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B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err="1"/>
                        <a:t>i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sz="1800" dirty="0">
                        <a:latin typeface="+mn-ea"/>
                        <a:ea typeface="+mn-ea"/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737147"/>
                  </a:ext>
                </a:extLst>
              </a:tr>
            </a:tbl>
          </a:graphicData>
        </a:graphic>
      </p:graphicFrame>
      <p:graphicFrame>
        <p:nvGraphicFramePr>
          <p:cNvPr id="30" name="表格 29">
            <a:extLst>
              <a:ext uri="{FF2B5EF4-FFF2-40B4-BE49-F238E27FC236}">
                <a16:creationId xmlns:a16="http://schemas.microsoft.com/office/drawing/2014/main" id="{0330A5EA-8DAE-CCC4-8B55-4A6B9A7C50A9}"/>
              </a:ext>
            </a:extLst>
          </p:cNvPr>
          <p:cNvGraphicFramePr>
            <a:graphicFrameLocks noGrp="1"/>
          </p:cNvGraphicFramePr>
          <p:nvPr/>
        </p:nvGraphicFramePr>
        <p:xfrm>
          <a:off x="9103704" y="3075678"/>
          <a:ext cx="1381376" cy="3723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6275">
                  <a:extLst>
                    <a:ext uri="{9D8B030D-6E8A-4147-A177-3AD203B41FA5}">
                      <a16:colId xmlns:a16="http://schemas.microsoft.com/office/drawing/2014/main" val="2711535948"/>
                    </a:ext>
                  </a:extLst>
                </a:gridCol>
                <a:gridCol w="276275">
                  <a:extLst>
                    <a:ext uri="{9D8B030D-6E8A-4147-A177-3AD203B41FA5}">
                      <a16:colId xmlns:a16="http://schemas.microsoft.com/office/drawing/2014/main" val="2671800823"/>
                    </a:ext>
                  </a:extLst>
                </a:gridCol>
                <a:gridCol w="552551">
                  <a:extLst>
                    <a:ext uri="{9D8B030D-6E8A-4147-A177-3AD203B41FA5}">
                      <a16:colId xmlns:a16="http://schemas.microsoft.com/office/drawing/2014/main" val="3386392345"/>
                    </a:ext>
                  </a:extLst>
                </a:gridCol>
                <a:gridCol w="276275">
                  <a:extLst>
                    <a:ext uri="{9D8B030D-6E8A-4147-A177-3AD203B41FA5}">
                      <a16:colId xmlns:a16="http://schemas.microsoft.com/office/drawing/2014/main" val="4244908815"/>
                    </a:ext>
                  </a:extLst>
                </a:gridCol>
              </a:tblGrid>
              <a:tr h="372353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D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a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sz="1800" dirty="0">
                        <a:latin typeface="+mn-ea"/>
                        <a:ea typeface="+mn-ea"/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8193533"/>
                  </a:ext>
                </a:extLst>
              </a:tr>
            </a:tbl>
          </a:graphicData>
        </a:graphic>
      </p:graphicFrame>
      <p:sp>
        <p:nvSpPr>
          <p:cNvPr id="31" name="文本框 15">
            <a:extLst>
              <a:ext uri="{FF2B5EF4-FFF2-40B4-BE49-F238E27FC236}">
                <a16:creationId xmlns:a16="http://schemas.microsoft.com/office/drawing/2014/main" id="{2D503F54-6FF3-E051-6D22-CFA15A3006AB}"/>
              </a:ext>
            </a:extLst>
          </p:cNvPr>
          <p:cNvSpPr txBox="1"/>
          <p:nvPr/>
        </p:nvSpPr>
        <p:spPr>
          <a:xfrm>
            <a:off x="6260785" y="3912612"/>
            <a:ext cx="351949" cy="318924"/>
          </a:xfrm>
          <a:prstGeom prst="rect">
            <a:avLst/>
          </a:prstGeom>
          <a:noFill/>
        </p:spPr>
        <p:txBody>
          <a:bodyPr wrap="square" lIns="0" tIns="36000" rIns="0" bIns="3600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254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" name="文本框 15">
            <a:extLst>
              <a:ext uri="{FF2B5EF4-FFF2-40B4-BE49-F238E27FC236}">
                <a16:creationId xmlns:a16="http://schemas.microsoft.com/office/drawing/2014/main" id="{CD824874-850F-F915-CE70-7820A2F2CB51}"/>
              </a:ext>
            </a:extLst>
          </p:cNvPr>
          <p:cNvSpPr txBox="1"/>
          <p:nvPr/>
        </p:nvSpPr>
        <p:spPr>
          <a:xfrm>
            <a:off x="9381831" y="3889576"/>
            <a:ext cx="231799" cy="349702"/>
          </a:xfrm>
          <a:prstGeom prst="rect">
            <a:avLst/>
          </a:prstGeom>
          <a:noFill/>
        </p:spPr>
        <p:txBody>
          <a:bodyPr wrap="square" lIns="0" tIns="36000" rIns="0" bIns="3600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/0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5AECE51E-8AF4-9133-8B06-76900AA48E6E}"/>
              </a:ext>
            </a:extLst>
          </p:cNvPr>
          <p:cNvSpPr/>
          <p:nvPr/>
        </p:nvSpPr>
        <p:spPr>
          <a:xfrm>
            <a:off x="6711043" y="4665971"/>
            <a:ext cx="5443584" cy="1746821"/>
          </a:xfrm>
          <a:prstGeom prst="roundRect">
            <a:avLst/>
          </a:prstGeom>
          <a:solidFill>
            <a:srgbClr val="FFFC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42" name="表格 41">
            <a:extLst>
              <a:ext uri="{FF2B5EF4-FFF2-40B4-BE49-F238E27FC236}">
                <a16:creationId xmlns:a16="http://schemas.microsoft.com/office/drawing/2014/main" id="{349258D8-5162-B927-D18D-39BE98E74A64}"/>
              </a:ext>
            </a:extLst>
          </p:cNvPr>
          <p:cNvGraphicFramePr>
            <a:graphicFrameLocks noGrp="1"/>
          </p:cNvGraphicFramePr>
          <p:nvPr/>
        </p:nvGraphicFramePr>
        <p:xfrm>
          <a:off x="6772907" y="4692665"/>
          <a:ext cx="2476862" cy="767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5207">
                  <a:extLst>
                    <a:ext uri="{9D8B030D-6E8A-4147-A177-3AD203B41FA5}">
                      <a16:colId xmlns:a16="http://schemas.microsoft.com/office/drawing/2014/main" val="414437029"/>
                    </a:ext>
                  </a:extLst>
                </a:gridCol>
                <a:gridCol w="221650">
                  <a:extLst>
                    <a:ext uri="{9D8B030D-6E8A-4147-A177-3AD203B41FA5}">
                      <a16:colId xmlns:a16="http://schemas.microsoft.com/office/drawing/2014/main" val="3371176287"/>
                    </a:ext>
                  </a:extLst>
                </a:gridCol>
                <a:gridCol w="328763">
                  <a:extLst>
                    <a:ext uri="{9D8B030D-6E8A-4147-A177-3AD203B41FA5}">
                      <a16:colId xmlns:a16="http://schemas.microsoft.com/office/drawing/2014/main" val="781410206"/>
                    </a:ext>
                  </a:extLst>
                </a:gridCol>
                <a:gridCol w="275207">
                  <a:extLst>
                    <a:ext uri="{9D8B030D-6E8A-4147-A177-3AD203B41FA5}">
                      <a16:colId xmlns:a16="http://schemas.microsoft.com/office/drawing/2014/main" val="1254982125"/>
                    </a:ext>
                  </a:extLst>
                </a:gridCol>
                <a:gridCol w="275207">
                  <a:extLst>
                    <a:ext uri="{9D8B030D-6E8A-4147-A177-3AD203B41FA5}">
                      <a16:colId xmlns:a16="http://schemas.microsoft.com/office/drawing/2014/main" val="1873979812"/>
                    </a:ext>
                  </a:extLst>
                </a:gridCol>
                <a:gridCol w="550414">
                  <a:extLst>
                    <a:ext uri="{9D8B030D-6E8A-4147-A177-3AD203B41FA5}">
                      <a16:colId xmlns:a16="http://schemas.microsoft.com/office/drawing/2014/main" val="943307370"/>
                    </a:ext>
                  </a:extLst>
                </a:gridCol>
                <a:gridCol w="275207">
                  <a:extLst>
                    <a:ext uri="{9D8B030D-6E8A-4147-A177-3AD203B41FA5}">
                      <a16:colId xmlns:a16="http://schemas.microsoft.com/office/drawing/2014/main" val="2490466563"/>
                    </a:ext>
                  </a:extLst>
                </a:gridCol>
                <a:gridCol w="275207">
                  <a:extLst>
                    <a:ext uri="{9D8B030D-6E8A-4147-A177-3AD203B41FA5}">
                      <a16:colId xmlns:a16="http://schemas.microsoft.com/office/drawing/2014/main" val="38534324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sz="1600" dirty="0">
                        <a:latin typeface="+mn-ea"/>
                        <a:ea typeface="+mn-ea"/>
                      </a:endParaRPr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254</a:t>
                      </a:r>
                      <a:endParaRPr lang="zh-CN" altLang="en-US" sz="1400" dirty="0"/>
                    </a:p>
                  </a:txBody>
                  <a:tcPr marL="0" marR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+mn-ea"/>
                        </a:rPr>
                        <a:t>255</a:t>
                      </a:r>
                      <a:endParaRPr lang="zh-CN" altLang="en-US" sz="1400" dirty="0">
                        <a:latin typeface="+mn-lt"/>
                        <a:ea typeface="+mn-ea"/>
                      </a:endParaRPr>
                    </a:p>
                  </a:txBody>
                  <a:tcPr marL="0" marR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30198873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r"/>
                      <a:r>
                        <a:rPr lang="en-US" altLang="zh-CN" sz="20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S1</a:t>
                      </a:r>
                      <a:endParaRPr lang="zh-CN" altLang="en-US" sz="20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C00000"/>
                          </a:solidFill>
                        </a:rPr>
                        <a:t>254</a:t>
                      </a:r>
                      <a:endParaRPr lang="zh-CN" altLang="en-US" sz="1600" b="1" dirty="0">
                        <a:solidFill>
                          <a:srgbClr val="C00000"/>
                        </a:solidFill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B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err="1"/>
                        <a:t>i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sz="1800" dirty="0">
                        <a:latin typeface="+mn-ea"/>
                        <a:ea typeface="+mn-ea"/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/0</a:t>
                      </a:r>
                      <a:endParaRPr lang="zh-CN" altLang="en-US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286282"/>
                  </a:ext>
                </a:extLst>
              </a:tr>
            </a:tbl>
          </a:graphicData>
        </a:graphic>
      </p:graphicFrame>
      <p:graphicFrame>
        <p:nvGraphicFramePr>
          <p:cNvPr id="43" name="表格 42">
            <a:extLst>
              <a:ext uri="{FF2B5EF4-FFF2-40B4-BE49-F238E27FC236}">
                <a16:creationId xmlns:a16="http://schemas.microsoft.com/office/drawing/2014/main" id="{F58965EE-16B2-8E37-0BCF-E12F1E7D144E}"/>
              </a:ext>
            </a:extLst>
          </p:cNvPr>
          <p:cNvGraphicFramePr>
            <a:graphicFrameLocks noGrp="1"/>
          </p:cNvGraphicFramePr>
          <p:nvPr/>
        </p:nvGraphicFramePr>
        <p:xfrm>
          <a:off x="9366628" y="4689698"/>
          <a:ext cx="2486476" cy="767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6275">
                  <a:extLst>
                    <a:ext uri="{9D8B030D-6E8A-4147-A177-3AD203B41FA5}">
                      <a16:colId xmlns:a16="http://schemas.microsoft.com/office/drawing/2014/main" val="414437029"/>
                    </a:ext>
                  </a:extLst>
                </a:gridCol>
                <a:gridCol w="213707">
                  <a:extLst>
                    <a:ext uri="{9D8B030D-6E8A-4147-A177-3AD203B41FA5}">
                      <a16:colId xmlns:a16="http://schemas.microsoft.com/office/drawing/2014/main" val="3371176287"/>
                    </a:ext>
                  </a:extLst>
                </a:gridCol>
                <a:gridCol w="338843">
                  <a:extLst>
                    <a:ext uri="{9D8B030D-6E8A-4147-A177-3AD203B41FA5}">
                      <a16:colId xmlns:a16="http://schemas.microsoft.com/office/drawing/2014/main" val="781410206"/>
                    </a:ext>
                  </a:extLst>
                </a:gridCol>
                <a:gridCol w="276275">
                  <a:extLst>
                    <a:ext uri="{9D8B030D-6E8A-4147-A177-3AD203B41FA5}">
                      <a16:colId xmlns:a16="http://schemas.microsoft.com/office/drawing/2014/main" val="1254982125"/>
                    </a:ext>
                  </a:extLst>
                </a:gridCol>
                <a:gridCol w="276275">
                  <a:extLst>
                    <a:ext uri="{9D8B030D-6E8A-4147-A177-3AD203B41FA5}">
                      <a16:colId xmlns:a16="http://schemas.microsoft.com/office/drawing/2014/main" val="1873979812"/>
                    </a:ext>
                  </a:extLst>
                </a:gridCol>
                <a:gridCol w="552551">
                  <a:extLst>
                    <a:ext uri="{9D8B030D-6E8A-4147-A177-3AD203B41FA5}">
                      <a16:colId xmlns:a16="http://schemas.microsoft.com/office/drawing/2014/main" val="943307370"/>
                    </a:ext>
                  </a:extLst>
                </a:gridCol>
                <a:gridCol w="276275">
                  <a:extLst>
                    <a:ext uri="{9D8B030D-6E8A-4147-A177-3AD203B41FA5}">
                      <a16:colId xmlns:a16="http://schemas.microsoft.com/office/drawing/2014/main" val="2490466563"/>
                    </a:ext>
                  </a:extLst>
                </a:gridCol>
                <a:gridCol w="276275">
                  <a:extLst>
                    <a:ext uri="{9D8B030D-6E8A-4147-A177-3AD203B41FA5}">
                      <a16:colId xmlns:a16="http://schemas.microsoft.com/office/drawing/2014/main" val="11181703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sz="1600" dirty="0">
                        <a:latin typeface="+mn-ea"/>
                        <a:ea typeface="+mn-ea"/>
                      </a:endParaRPr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178</a:t>
                      </a:r>
                      <a:endParaRPr lang="zh-CN" altLang="en-US" sz="1400" dirty="0"/>
                    </a:p>
                  </a:txBody>
                  <a:tcPr marL="0" marR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179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30198873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r"/>
                      <a:r>
                        <a:rPr lang="en-US" altLang="zh-CN" sz="20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S2</a:t>
                      </a:r>
                      <a:endParaRPr lang="zh-CN" altLang="en-US" sz="20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C00000"/>
                          </a:solidFill>
                        </a:rPr>
                        <a:t>178</a:t>
                      </a:r>
                      <a:endParaRPr lang="zh-CN" altLang="en-US" sz="1600" b="1" dirty="0">
                        <a:solidFill>
                          <a:srgbClr val="C00000"/>
                        </a:solidFill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D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a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sz="1800" dirty="0">
                        <a:latin typeface="+mn-ea"/>
                        <a:ea typeface="+mn-ea"/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/0</a:t>
                      </a:r>
                      <a:endParaRPr lang="zh-CN" altLang="en-US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286282"/>
                  </a:ext>
                </a:extLst>
              </a:tr>
            </a:tbl>
          </a:graphicData>
        </a:graphic>
      </p:graphicFrame>
      <p:graphicFrame>
        <p:nvGraphicFramePr>
          <p:cNvPr id="44" name="表格 43">
            <a:extLst>
              <a:ext uri="{FF2B5EF4-FFF2-40B4-BE49-F238E27FC236}">
                <a16:creationId xmlns:a16="http://schemas.microsoft.com/office/drawing/2014/main" id="{AA60DCA8-5BCB-1B2B-0C72-E7C22F30933E}"/>
              </a:ext>
            </a:extLst>
          </p:cNvPr>
          <p:cNvGraphicFramePr>
            <a:graphicFrameLocks noGrp="1"/>
          </p:cNvGraphicFramePr>
          <p:nvPr/>
        </p:nvGraphicFramePr>
        <p:xfrm>
          <a:off x="6772907" y="5491374"/>
          <a:ext cx="2467966" cy="767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218">
                  <a:extLst>
                    <a:ext uri="{9D8B030D-6E8A-4147-A177-3AD203B41FA5}">
                      <a16:colId xmlns:a16="http://schemas.microsoft.com/office/drawing/2014/main" val="414437029"/>
                    </a:ext>
                  </a:extLst>
                </a:gridCol>
                <a:gridCol w="212116">
                  <a:extLst>
                    <a:ext uri="{9D8B030D-6E8A-4147-A177-3AD203B41FA5}">
                      <a16:colId xmlns:a16="http://schemas.microsoft.com/office/drawing/2014/main" val="3371176287"/>
                    </a:ext>
                  </a:extLst>
                </a:gridCol>
                <a:gridCol w="336322">
                  <a:extLst>
                    <a:ext uri="{9D8B030D-6E8A-4147-A177-3AD203B41FA5}">
                      <a16:colId xmlns:a16="http://schemas.microsoft.com/office/drawing/2014/main" val="781410206"/>
                    </a:ext>
                  </a:extLst>
                </a:gridCol>
                <a:gridCol w="274218">
                  <a:extLst>
                    <a:ext uri="{9D8B030D-6E8A-4147-A177-3AD203B41FA5}">
                      <a16:colId xmlns:a16="http://schemas.microsoft.com/office/drawing/2014/main" val="1254982125"/>
                    </a:ext>
                  </a:extLst>
                </a:gridCol>
                <a:gridCol w="274218">
                  <a:extLst>
                    <a:ext uri="{9D8B030D-6E8A-4147-A177-3AD203B41FA5}">
                      <a16:colId xmlns:a16="http://schemas.microsoft.com/office/drawing/2014/main" val="1873979812"/>
                    </a:ext>
                  </a:extLst>
                </a:gridCol>
                <a:gridCol w="548438">
                  <a:extLst>
                    <a:ext uri="{9D8B030D-6E8A-4147-A177-3AD203B41FA5}">
                      <a16:colId xmlns:a16="http://schemas.microsoft.com/office/drawing/2014/main" val="943307370"/>
                    </a:ext>
                  </a:extLst>
                </a:gridCol>
                <a:gridCol w="274218">
                  <a:extLst>
                    <a:ext uri="{9D8B030D-6E8A-4147-A177-3AD203B41FA5}">
                      <a16:colId xmlns:a16="http://schemas.microsoft.com/office/drawing/2014/main" val="2490466563"/>
                    </a:ext>
                  </a:extLst>
                </a:gridCol>
                <a:gridCol w="274218">
                  <a:extLst>
                    <a:ext uri="{9D8B030D-6E8A-4147-A177-3AD203B41FA5}">
                      <a16:colId xmlns:a16="http://schemas.microsoft.com/office/drawing/2014/main" val="11181703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sz="1600" dirty="0">
                        <a:latin typeface="+mn-ea"/>
                        <a:ea typeface="+mn-ea"/>
                      </a:endParaRPr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254</a:t>
                      </a:r>
                      <a:endParaRPr lang="zh-CN" altLang="en-US" sz="1400" dirty="0"/>
                    </a:p>
                  </a:txBody>
                  <a:tcPr marL="0" marR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255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30198873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r"/>
                      <a:r>
                        <a:rPr lang="en-US" altLang="zh-CN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</a:t>
                      </a:r>
                      <a:endParaRPr lang="zh-CN" altLang="en-US" sz="20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solidFill>
                          <a:srgbClr val="C00000"/>
                        </a:solidFill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dirty="0">
                        <a:latin typeface="+mn-ea"/>
                        <a:ea typeface="+mn-ea"/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286282"/>
                  </a:ext>
                </a:extLst>
              </a:tr>
            </a:tbl>
          </a:graphicData>
        </a:graphic>
      </p:graphicFrame>
      <p:graphicFrame>
        <p:nvGraphicFramePr>
          <p:cNvPr id="45" name="表格 44">
            <a:extLst>
              <a:ext uri="{FF2B5EF4-FFF2-40B4-BE49-F238E27FC236}">
                <a16:creationId xmlns:a16="http://schemas.microsoft.com/office/drawing/2014/main" id="{77F3497C-C990-9C84-FC30-149B63BC9BB5}"/>
              </a:ext>
            </a:extLst>
          </p:cNvPr>
          <p:cNvGraphicFramePr>
            <a:graphicFrameLocks noGrp="1"/>
          </p:cNvGraphicFramePr>
          <p:nvPr/>
        </p:nvGraphicFramePr>
        <p:xfrm>
          <a:off x="7598954" y="5071330"/>
          <a:ext cx="1376035" cy="3783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5207">
                  <a:extLst>
                    <a:ext uri="{9D8B030D-6E8A-4147-A177-3AD203B41FA5}">
                      <a16:colId xmlns:a16="http://schemas.microsoft.com/office/drawing/2014/main" val="2943413420"/>
                    </a:ext>
                  </a:extLst>
                </a:gridCol>
                <a:gridCol w="275207">
                  <a:extLst>
                    <a:ext uri="{9D8B030D-6E8A-4147-A177-3AD203B41FA5}">
                      <a16:colId xmlns:a16="http://schemas.microsoft.com/office/drawing/2014/main" val="486034486"/>
                    </a:ext>
                  </a:extLst>
                </a:gridCol>
                <a:gridCol w="550414">
                  <a:extLst>
                    <a:ext uri="{9D8B030D-6E8A-4147-A177-3AD203B41FA5}">
                      <a16:colId xmlns:a16="http://schemas.microsoft.com/office/drawing/2014/main" val="925244602"/>
                    </a:ext>
                  </a:extLst>
                </a:gridCol>
                <a:gridCol w="275207">
                  <a:extLst>
                    <a:ext uri="{9D8B030D-6E8A-4147-A177-3AD203B41FA5}">
                      <a16:colId xmlns:a16="http://schemas.microsoft.com/office/drawing/2014/main" val="3346684661"/>
                    </a:ext>
                  </a:extLst>
                </a:gridCol>
              </a:tblGrid>
              <a:tr h="378366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B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err="1"/>
                        <a:t>i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sz="1800" dirty="0">
                        <a:latin typeface="+mn-ea"/>
                        <a:ea typeface="+mn-ea"/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737147"/>
                  </a:ext>
                </a:extLst>
              </a:tr>
            </a:tbl>
          </a:graphicData>
        </a:graphic>
      </p:graphicFrame>
      <p:sp>
        <p:nvSpPr>
          <p:cNvPr id="47" name="文本框 15">
            <a:extLst>
              <a:ext uri="{FF2B5EF4-FFF2-40B4-BE49-F238E27FC236}">
                <a16:creationId xmlns:a16="http://schemas.microsoft.com/office/drawing/2014/main" id="{51C8E9D2-B490-F5B0-2893-21C683962692}"/>
              </a:ext>
            </a:extLst>
          </p:cNvPr>
          <p:cNvSpPr txBox="1"/>
          <p:nvPr/>
        </p:nvSpPr>
        <p:spPr>
          <a:xfrm>
            <a:off x="7274320" y="5914072"/>
            <a:ext cx="351949" cy="318924"/>
          </a:xfrm>
          <a:prstGeom prst="rect">
            <a:avLst/>
          </a:prstGeom>
          <a:noFill/>
        </p:spPr>
        <p:txBody>
          <a:bodyPr wrap="square" lIns="0" tIns="36000" rIns="0" bIns="3600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254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" name="文本框 15">
            <a:extLst>
              <a:ext uri="{FF2B5EF4-FFF2-40B4-BE49-F238E27FC236}">
                <a16:creationId xmlns:a16="http://schemas.microsoft.com/office/drawing/2014/main" id="{48145CB4-34AD-99AE-0598-1E6A7352D8F6}"/>
              </a:ext>
            </a:extLst>
          </p:cNvPr>
          <p:cNvSpPr txBox="1"/>
          <p:nvPr/>
        </p:nvSpPr>
        <p:spPr>
          <a:xfrm>
            <a:off x="9009074" y="5898683"/>
            <a:ext cx="231799" cy="349702"/>
          </a:xfrm>
          <a:prstGeom prst="rect">
            <a:avLst/>
          </a:prstGeom>
          <a:noFill/>
        </p:spPr>
        <p:txBody>
          <a:bodyPr wrap="square" lIns="0" tIns="36000" rIns="0" bIns="3600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/0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7493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-4.81481E-6 L -0.00065 0.11737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" y="58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-1.85185E-6 L -0.15195 0.11783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604" y="58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-4.07407E-6 L -0.003 0.12153 " pathEditMode="relative" rAng="0" ptsTypes="AA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6" y="6065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-4.44444E-6 L -0.22162 0.11899 " pathEditMode="relative" rAng="0" ptsTypes="AA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081" y="594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000"/>
                            </p:stCondLst>
                            <p:childTnLst>
                              <p:par>
                                <p:cTn id="6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2.59259E-6 L -0.00091 0.11597 " pathEditMode="relative" rAng="0" ptsTypes="AA">
                                      <p:cBhvr>
                                        <p:cTn id="84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578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-2.96296E-6 L -0.09297 0.11667 " pathEditMode="relative" rAng="0" ptsTypes="AA">
                                      <p:cBhvr>
                                        <p:cTn id="91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648" y="58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000"/>
                            </p:stCondLst>
                            <p:childTnLst>
                              <p:par>
                                <p:cTn id="1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2000"/>
                            </p:stCondLst>
                            <p:childTnLst>
                              <p:par>
                                <p:cTn id="1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3.7037E-7 L -0.00091 0.11597 " pathEditMode="relative" rAng="0" ptsTypes="AA">
                                      <p:cBhvr>
                                        <p:cTn id="145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578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  <p:bldP spid="11" grpId="2"/>
      <p:bldP spid="12" grpId="0"/>
      <p:bldP spid="12" grpId="1"/>
      <p:bldP spid="12" grpId="2"/>
      <p:bldP spid="13" grpId="0"/>
      <p:bldP spid="14" grpId="0" animBg="1"/>
      <p:bldP spid="16" grpId="0" animBg="1"/>
      <p:bldP spid="31" grpId="0"/>
      <p:bldP spid="32" grpId="0"/>
      <p:bldP spid="41" grpId="0" animBg="1"/>
      <p:bldP spid="47" grpId="0"/>
      <p:bldP spid="4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2">
            <a:hlinkClick r:id="" action="ppaction://hlinkshowjump?jump=nextslide"/>
          </p:cNvPr>
          <p:cNvSpPr txBox="1"/>
          <p:nvPr/>
        </p:nvSpPr>
        <p:spPr>
          <a:xfrm>
            <a:off x="1524000" y="2322513"/>
            <a:ext cx="184150" cy="8239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endParaRPr lang="zh-CN" altLang="zh-CN" sz="4800" dirty="0"/>
          </a:p>
        </p:txBody>
      </p:sp>
      <p:sp>
        <p:nvSpPr>
          <p:cNvPr id="43011" name="Rectangle 3"/>
          <p:cNvSpPr/>
          <p:nvPr/>
        </p:nvSpPr>
        <p:spPr>
          <a:xfrm>
            <a:off x="4953000" y="2632075"/>
            <a:ext cx="184150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endParaRPr lang="zh-CN" altLang="zh-CN" sz="3600" dirty="0"/>
          </a:p>
        </p:txBody>
      </p:sp>
      <p:sp>
        <p:nvSpPr>
          <p:cNvPr id="43012" name="Text Box 7"/>
          <p:cNvSpPr txBox="1"/>
          <p:nvPr/>
        </p:nvSpPr>
        <p:spPr>
          <a:xfrm>
            <a:off x="2727326" y="2782888"/>
            <a:ext cx="184731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endParaRPr lang="zh-CN" altLang="zh-CN" dirty="0"/>
          </a:p>
        </p:txBody>
      </p:sp>
      <p:sp>
        <p:nvSpPr>
          <p:cNvPr id="31752" name="Text Box 8"/>
          <p:cNvSpPr txBox="1"/>
          <p:nvPr/>
        </p:nvSpPr>
        <p:spPr>
          <a:xfrm>
            <a:off x="263352" y="1545591"/>
            <a:ext cx="11377264" cy="263334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noAutofit/>
          </a:bodyPr>
          <a:lstStyle/>
          <a:p>
            <a:pPr algn="l" eaLnBrk="1" hangingPunct="1">
              <a:lnSpc>
                <a:spcPct val="150000"/>
              </a:lnSpc>
            </a:pPr>
            <a:r>
              <a:rPr lang="zh-CN" altLang="en-US" sz="3200" dirty="0">
                <a:solidFill>
                  <a:srgbClr val="1560AB"/>
                </a:solidFill>
              </a:rPr>
              <a:t>针对</a:t>
            </a:r>
            <a:r>
              <a:rPr lang="en-US" altLang="zh-CN" sz="3200" dirty="0">
                <a:solidFill>
                  <a:srgbClr val="1560AB"/>
                </a:solidFill>
              </a:rPr>
              <a:t>C</a:t>
            </a:r>
            <a:r>
              <a:rPr lang="zh-CN" altLang="en-US" sz="3200" dirty="0">
                <a:solidFill>
                  <a:srgbClr val="1560AB"/>
                </a:solidFill>
              </a:rPr>
              <a:t>串和短串按照串长刚性分配的的不足，现在提出弹性容</a:t>
            </a:r>
            <a:endParaRPr lang="en-US" altLang="zh-CN" sz="3200" dirty="0">
              <a:solidFill>
                <a:srgbClr val="1560AB"/>
              </a:solidFill>
            </a:endParaRPr>
          </a:p>
          <a:p>
            <a:pPr algn="l" eaLnBrk="1" hangingPunct="1">
              <a:lnSpc>
                <a:spcPct val="150000"/>
              </a:lnSpc>
            </a:pPr>
            <a:r>
              <a:rPr lang="zh-CN" altLang="en-US" sz="3200" dirty="0">
                <a:solidFill>
                  <a:srgbClr val="1560AB"/>
                </a:solidFill>
              </a:rPr>
              <a:t>量串</a:t>
            </a:r>
            <a:r>
              <a:rPr lang="en-US" altLang="zh-CN" sz="3200" dirty="0">
                <a:solidFill>
                  <a:srgbClr val="1560AB"/>
                </a:solidFill>
              </a:rPr>
              <a:t>(elasticity capacity String)</a:t>
            </a:r>
            <a:r>
              <a:rPr lang="zh-CN" altLang="en-US" sz="3200" dirty="0">
                <a:solidFill>
                  <a:srgbClr val="1560AB"/>
                </a:solidFill>
              </a:rPr>
              <a:t>。</a:t>
            </a:r>
            <a:endParaRPr lang="en-US" altLang="zh-CN" sz="3200" dirty="0">
              <a:solidFill>
                <a:srgbClr val="1560AB"/>
              </a:solidFill>
            </a:endParaRPr>
          </a:p>
          <a:p>
            <a:pPr algn="l" eaLnBrk="1" hangingPunct="1">
              <a:lnSpc>
                <a:spcPct val="150000"/>
              </a:lnSpc>
            </a:pPr>
            <a:endParaRPr lang="en-US" altLang="zh-CN" sz="3200" dirty="0">
              <a:solidFill>
                <a:srgbClr val="1560AB"/>
              </a:solidFill>
            </a:endParaRPr>
          </a:p>
          <a:p>
            <a:pPr algn="l" eaLnBrk="1" hangingPunct="1">
              <a:lnSpc>
                <a:spcPct val="150000"/>
              </a:lnSpc>
            </a:pPr>
            <a:r>
              <a:rPr lang="zh-CN" altLang="en-US" sz="3200" dirty="0">
                <a:solidFill>
                  <a:srgbClr val="1560AB"/>
                </a:solidFill>
              </a:rPr>
              <a:t>主要改进包括</a:t>
            </a:r>
            <a:endParaRPr lang="en-US" altLang="zh-CN" sz="3200" dirty="0">
              <a:solidFill>
                <a:srgbClr val="1560AB"/>
              </a:solidFill>
            </a:endParaRPr>
          </a:p>
          <a:p>
            <a:pPr marL="457200" indent="-457200" algn="l" eaLnBrk="1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3200" dirty="0">
                <a:solidFill>
                  <a:srgbClr val="1560AB"/>
                </a:solidFill>
              </a:rPr>
              <a:t>串值长度变化时不立即分配存储空间，而是根据操作动态处理</a:t>
            </a:r>
            <a:endParaRPr lang="en-US" altLang="zh-CN" sz="3200" dirty="0">
              <a:solidFill>
                <a:srgbClr val="1560AB"/>
              </a:solidFill>
            </a:endParaRPr>
          </a:p>
          <a:p>
            <a:pPr marL="457200" indent="-457200" algn="l" eaLnBrk="1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3200" dirty="0">
                <a:solidFill>
                  <a:srgbClr val="1560AB"/>
                </a:solidFill>
              </a:rPr>
              <a:t>增加更多的基本操作，满足常见应用所需</a:t>
            </a:r>
          </a:p>
        </p:txBody>
      </p:sp>
      <p:sp>
        <p:nvSpPr>
          <p:cNvPr id="43014" name="Text Box 9"/>
          <p:cNvSpPr txBox="1"/>
          <p:nvPr/>
        </p:nvSpPr>
        <p:spPr>
          <a:xfrm>
            <a:off x="1905000" y="685800"/>
            <a:ext cx="6591869" cy="92333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5400" dirty="0">
                <a:solidFill>
                  <a:srgbClr val="101686"/>
                </a:solidFill>
              </a:rPr>
              <a:t>4.2.3 </a:t>
            </a:r>
            <a:r>
              <a:rPr lang="zh-CN" altLang="en-US" sz="5400" dirty="0">
                <a:solidFill>
                  <a:srgbClr val="101686"/>
                </a:solidFill>
              </a:rPr>
              <a:t>长串的存储表示</a:t>
            </a: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7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7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17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17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5" dur="500"/>
                                        <p:tgtEl>
                                          <p:spTgt spid="31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" grpId="0"/>
      <p:bldP spid="3175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78BA48C-BF5F-FE59-C1D5-64D9C71C2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C0FE0B-717B-41AE-9FA2-CA4BF851D1C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431805B-402B-A774-945B-C5FC372FF321}"/>
              </a:ext>
            </a:extLst>
          </p:cNvPr>
          <p:cNvSpPr txBox="1"/>
          <p:nvPr/>
        </p:nvSpPr>
        <p:spPr>
          <a:xfrm>
            <a:off x="448003" y="3217029"/>
            <a:ext cx="11295994" cy="3139321"/>
          </a:xfrm>
          <a:prstGeom prst="rect">
            <a:avLst/>
          </a:prstGeom>
          <a:solidFill>
            <a:srgbClr val="FFFCF3"/>
          </a:solidFill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LStr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LStrConcat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LStr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S1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LStr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S2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构造并返回由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S1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S2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联接所得的新串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LStr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T; 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kumimoji="0" lang="zh-CN" altLang="zh-CN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if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!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S1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||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!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S2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NULL;  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S1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S2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不存在，则返回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NULL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保错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if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!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(T = (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LStr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malloc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1800" b="1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sizeof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(*T))))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exit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(OVERFLOW);    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分配新串结构记录空间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if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(0==(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S1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-&gt;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len+S2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-&gt;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))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T-&gt;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sv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=NULL;  T-&gt;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=0;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S;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 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空串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if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!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(T-&gt;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sv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= (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char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*)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malloc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((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len+1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)*</a:t>
            </a:r>
            <a:r>
              <a:rPr kumimoji="0" lang="en-US" altLang="zh-CN" sz="1800" b="1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sizeof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char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))))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exit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(OVERFLOW);  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串值空间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memcpy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(T-&gt;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sv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S1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-&gt;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sv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S1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-&gt;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);              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复制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S1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串值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memcpy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(T-&gt;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sv+S1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-&gt;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S2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-&gt;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sv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S2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-&gt;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);      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复制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S2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串值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T-&gt;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= T-&gt;size =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  T-&gt;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sv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 = '\0'; 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置串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长度、容量和结束符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return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T;   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返回联接构造的串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kumimoji="0" lang="zh-CN" altLang="zh-CN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3117014-E893-853A-D16A-8EED292380A5}"/>
              </a:ext>
            </a:extLst>
          </p:cNvPr>
          <p:cNvSpPr/>
          <p:nvPr/>
        </p:nvSpPr>
        <p:spPr>
          <a:xfrm>
            <a:off x="1430290" y="249511"/>
            <a:ext cx="5936026" cy="51522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长</a:t>
            </a:r>
            <a:r>
              <a:rPr kumimoji="0" lang="zh-CN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串</a:t>
            </a:r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连</a:t>
            </a:r>
            <a:r>
              <a:rPr kumimoji="0" lang="zh-CN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接</a:t>
            </a: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100" cap="none" spc="0" normalizeH="0" baseline="0" noProof="0" dirty="0" err="1">
                <a:ln>
                  <a:noFill/>
                </a:ln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L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41ABC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StrConcat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41ABC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S1,S2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</a:t>
            </a:r>
            <a:endParaRPr kumimoji="0" lang="en-US" altLang="zh-CN" sz="2400" b="1" i="0" u="none" strike="noStrike" kern="100" cap="none" spc="0" normalizeH="0" baseline="0" noProof="0" dirty="0">
              <a:ln>
                <a:noFill/>
              </a:ln>
              <a:solidFill>
                <a:srgbClr val="04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ourier New" panose="02070309020205020404" pitchFamily="49" charset="0"/>
              <a:ea typeface="黑体" panose="02010609060101010101" pitchFamily="49" charset="-122"/>
              <a:cs typeface="Courier New" panose="020703090202050204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163D364-D609-79A7-F69A-B114932581D2}"/>
              </a:ext>
            </a:extLst>
          </p:cNvPr>
          <p:cNvSpPr txBox="1"/>
          <p:nvPr/>
        </p:nvSpPr>
        <p:spPr>
          <a:xfrm>
            <a:off x="470338" y="1097578"/>
            <a:ext cx="5625662" cy="1754326"/>
          </a:xfrm>
          <a:prstGeom prst="rect">
            <a:avLst/>
          </a:prstGeom>
          <a:solidFill>
            <a:srgbClr val="FFFCF3"/>
          </a:solidFill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//----- 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长串的存储表示 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-----</a:t>
            </a:r>
            <a:endParaRPr kumimoji="0" lang="zh-CN" altLang="zh-CN" sz="1800" b="0" i="0" u="none" strike="noStrike" kern="100" cap="none" spc="0" normalizeH="0" baseline="0" noProof="0" dirty="0">
              <a:ln>
                <a:noFill/>
              </a:ln>
              <a:solidFill>
                <a:srgbClr val="4EA72E">
                  <a:lumMod val="75000"/>
                </a:srgbClr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typedef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struct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endParaRPr kumimoji="0" lang="zh-CN" altLang="zh-CN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char 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sv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   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串值数组。容量为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size+1</a:t>
            </a:r>
            <a:endParaRPr kumimoji="0" lang="zh-CN" altLang="zh-CN" sz="2800" b="0" i="0" u="none" strike="noStrike" kern="100" cap="none" spc="0" normalizeH="0" baseline="0" noProof="0" dirty="0">
              <a:ln>
                <a:noFill/>
              </a:ln>
              <a:solidFill>
                <a:srgbClr val="4EA72E">
                  <a:lumMod val="75000"/>
                </a:srgb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  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串的长度，串值的字符个数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size;  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容量</a:t>
            </a:r>
            <a:r>
              <a: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size-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是未用容量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6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*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LStr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      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长串指针类型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56F3BC76-69F5-EC04-DA3B-97D1DF877286}"/>
              </a:ext>
            </a:extLst>
          </p:cNvPr>
          <p:cNvGraphicFramePr>
            <a:graphicFrameLocks noGrp="1"/>
          </p:cNvGraphicFramePr>
          <p:nvPr/>
        </p:nvGraphicFramePr>
        <p:xfrm>
          <a:off x="6355362" y="1097193"/>
          <a:ext cx="823529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759">
                  <a:extLst>
                    <a:ext uri="{9D8B030D-6E8A-4147-A177-3AD203B41FA5}">
                      <a16:colId xmlns:a16="http://schemas.microsoft.com/office/drawing/2014/main" val="3703431472"/>
                    </a:ext>
                  </a:extLst>
                </a:gridCol>
                <a:gridCol w="340770">
                  <a:extLst>
                    <a:ext uri="{9D8B030D-6E8A-4147-A177-3AD203B41FA5}">
                      <a16:colId xmlns:a16="http://schemas.microsoft.com/office/drawing/2014/main" val="3089139"/>
                    </a:ext>
                  </a:extLst>
                </a:gridCol>
              </a:tblGrid>
              <a:tr h="215474">
                <a:tc>
                  <a:txBody>
                    <a:bodyPr/>
                    <a:lstStyle/>
                    <a:p>
                      <a:pPr algn="r"/>
                      <a:r>
                        <a:rPr lang="en-US" altLang="zh-CN" b="1" dirty="0" err="1"/>
                        <a:t>sv</a:t>
                      </a:r>
                      <a:endParaRPr lang="zh-CN" altLang="en-US" b="1" dirty="0"/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700"/>
                        </a:lnSpc>
                      </a:pPr>
                      <a:endParaRPr lang="zh-CN" altLang="en-US" dirty="0"/>
                    </a:p>
                  </a:txBody>
                  <a:tcPr marL="36000" marR="36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3354927"/>
                  </a:ext>
                </a:extLst>
              </a:tr>
              <a:tr h="215474">
                <a:tc>
                  <a:txBody>
                    <a:bodyPr/>
                    <a:lstStyle/>
                    <a:p>
                      <a:pPr algn="r"/>
                      <a:r>
                        <a:rPr lang="en-US" altLang="zh-CN" b="1" dirty="0" err="1"/>
                        <a:t>len</a:t>
                      </a:r>
                      <a:endParaRPr lang="zh-CN" altLang="en-US" b="1" dirty="0"/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00"/>
                        </a:lnSpc>
                      </a:pPr>
                      <a:r>
                        <a:rPr lang="en-US" altLang="zh-CN" b="1" dirty="0">
                          <a:solidFill>
                            <a:srgbClr val="041ABC"/>
                          </a:solidFill>
                        </a:rPr>
                        <a:t>7</a:t>
                      </a:r>
                      <a:endParaRPr lang="zh-CN" altLang="en-US" b="1" dirty="0">
                        <a:solidFill>
                          <a:srgbClr val="041ABC"/>
                        </a:solidFill>
                      </a:endParaRPr>
                    </a:p>
                  </a:txBody>
                  <a:tcPr marL="36000" marR="36000" marT="36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310708"/>
                  </a:ext>
                </a:extLst>
              </a:tr>
              <a:tr h="215474">
                <a:tc>
                  <a:txBody>
                    <a:bodyPr/>
                    <a:lstStyle/>
                    <a:p>
                      <a:pPr algn="r"/>
                      <a:r>
                        <a:rPr lang="en-US" altLang="zh-CN" b="1" dirty="0"/>
                        <a:t>size</a:t>
                      </a:r>
                      <a:endParaRPr lang="zh-CN" altLang="en-US" b="1" dirty="0"/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00"/>
                        </a:lnSpc>
                      </a:pPr>
                      <a:r>
                        <a:rPr lang="en-US" altLang="zh-CN" b="1" dirty="0">
                          <a:solidFill>
                            <a:srgbClr val="041ABC"/>
                          </a:solidFill>
                        </a:rPr>
                        <a:t>20</a:t>
                      </a:r>
                      <a:endParaRPr lang="zh-CN" altLang="en-US" b="1" dirty="0">
                        <a:solidFill>
                          <a:srgbClr val="041ABC"/>
                        </a:solidFill>
                      </a:endParaRPr>
                    </a:p>
                  </a:txBody>
                  <a:tcPr marL="36000" marR="36000" marT="36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183772"/>
                  </a:ext>
                </a:extLst>
              </a:tr>
            </a:tbl>
          </a:graphicData>
        </a:graphic>
      </p:graphicFrame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55659754-F45D-9C9C-7D46-9A1ED77A5C54}"/>
              </a:ext>
            </a:extLst>
          </p:cNvPr>
          <p:cNvCxnSpPr>
            <a:cxnSpLocks/>
          </p:cNvCxnSpPr>
          <p:nvPr/>
        </p:nvCxnSpPr>
        <p:spPr>
          <a:xfrm>
            <a:off x="6622301" y="999600"/>
            <a:ext cx="218665" cy="108953"/>
          </a:xfrm>
          <a:prstGeom prst="straightConnector1">
            <a:avLst/>
          </a:prstGeom>
          <a:ln>
            <a:solidFill>
              <a:srgbClr val="C00000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E8A38BF1-BAE1-11F3-805D-A7C547088274}"/>
              </a:ext>
            </a:extLst>
          </p:cNvPr>
          <p:cNvSpPr txBox="1"/>
          <p:nvPr/>
        </p:nvSpPr>
        <p:spPr>
          <a:xfrm>
            <a:off x="6355362" y="861100"/>
            <a:ext cx="33792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S1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A194D3C3-DFA7-5AC9-954C-A745B60EB679}"/>
              </a:ext>
            </a:extLst>
          </p:cNvPr>
          <p:cNvGraphicFramePr>
            <a:graphicFrameLocks noGrp="1"/>
          </p:cNvGraphicFramePr>
          <p:nvPr/>
        </p:nvGraphicFramePr>
        <p:xfrm>
          <a:off x="7438253" y="822873"/>
          <a:ext cx="1591306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7634">
                  <a:extLst>
                    <a:ext uri="{9D8B030D-6E8A-4147-A177-3AD203B41FA5}">
                      <a16:colId xmlns:a16="http://schemas.microsoft.com/office/drawing/2014/main" val="3548914742"/>
                    </a:ext>
                  </a:extLst>
                </a:gridCol>
                <a:gridCol w="375268">
                  <a:extLst>
                    <a:ext uri="{9D8B030D-6E8A-4147-A177-3AD203B41FA5}">
                      <a16:colId xmlns:a16="http://schemas.microsoft.com/office/drawing/2014/main" val="2637519387"/>
                    </a:ext>
                  </a:extLst>
                </a:gridCol>
                <a:gridCol w="187634">
                  <a:extLst>
                    <a:ext uri="{9D8B030D-6E8A-4147-A177-3AD203B41FA5}">
                      <a16:colId xmlns:a16="http://schemas.microsoft.com/office/drawing/2014/main" val="174924325"/>
                    </a:ext>
                  </a:extLst>
                </a:gridCol>
                <a:gridCol w="187634">
                  <a:extLst>
                    <a:ext uri="{9D8B030D-6E8A-4147-A177-3AD203B41FA5}">
                      <a16:colId xmlns:a16="http://schemas.microsoft.com/office/drawing/2014/main" val="3075925709"/>
                    </a:ext>
                  </a:extLst>
                </a:gridCol>
                <a:gridCol w="375268">
                  <a:extLst>
                    <a:ext uri="{9D8B030D-6E8A-4147-A177-3AD203B41FA5}">
                      <a16:colId xmlns:a16="http://schemas.microsoft.com/office/drawing/2014/main" val="1323277263"/>
                    </a:ext>
                  </a:extLst>
                </a:gridCol>
                <a:gridCol w="277868">
                  <a:extLst>
                    <a:ext uri="{9D8B030D-6E8A-4147-A177-3AD203B41FA5}">
                      <a16:colId xmlns:a16="http://schemas.microsoft.com/office/drawing/2014/main" val="1856297151"/>
                    </a:ext>
                  </a:extLst>
                </a:gridCol>
              </a:tblGrid>
              <a:tr h="91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+mn-ea"/>
                          <a:ea typeface="+mn-ea"/>
                        </a:rPr>
                        <a:t>20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87601202"/>
                  </a:ext>
                </a:extLst>
              </a:tr>
              <a:tr h="257321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A</a:t>
                      </a:r>
                      <a:endParaRPr lang="zh-CN" altLang="en-US" b="1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L</a:t>
                      </a:r>
                      <a:endParaRPr lang="zh-CN" altLang="en-US" b="1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FF0000"/>
                          </a:solidFill>
                        </a:rPr>
                        <a:t>/0</a:t>
                      </a:r>
                      <a:endParaRPr lang="zh-CN" alt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E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E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E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56128"/>
                  </a:ext>
                </a:extLst>
              </a:tr>
            </a:tbl>
          </a:graphicData>
        </a:graphic>
      </p:graphicFrame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A79E10CE-2E7C-952E-E24D-D72134D14142}"/>
              </a:ext>
            </a:extLst>
          </p:cNvPr>
          <p:cNvCxnSpPr>
            <a:cxnSpLocks/>
          </p:cNvCxnSpPr>
          <p:nvPr/>
        </p:nvCxnSpPr>
        <p:spPr>
          <a:xfrm>
            <a:off x="7003294" y="1237782"/>
            <a:ext cx="434959" cy="0"/>
          </a:xfrm>
          <a:prstGeom prst="straightConnector1">
            <a:avLst/>
          </a:prstGeom>
          <a:ln>
            <a:solidFill>
              <a:srgbClr val="0070C0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8FF8077D-8900-81D9-DBDF-E73293F93727}"/>
              </a:ext>
            </a:extLst>
          </p:cNvPr>
          <p:cNvGraphicFramePr>
            <a:graphicFrameLocks noGrp="1"/>
          </p:cNvGraphicFramePr>
          <p:nvPr/>
        </p:nvGraphicFramePr>
        <p:xfrm>
          <a:off x="9245282" y="1097193"/>
          <a:ext cx="823529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759">
                  <a:extLst>
                    <a:ext uri="{9D8B030D-6E8A-4147-A177-3AD203B41FA5}">
                      <a16:colId xmlns:a16="http://schemas.microsoft.com/office/drawing/2014/main" val="3703431472"/>
                    </a:ext>
                  </a:extLst>
                </a:gridCol>
                <a:gridCol w="340770">
                  <a:extLst>
                    <a:ext uri="{9D8B030D-6E8A-4147-A177-3AD203B41FA5}">
                      <a16:colId xmlns:a16="http://schemas.microsoft.com/office/drawing/2014/main" val="3089139"/>
                    </a:ext>
                  </a:extLst>
                </a:gridCol>
              </a:tblGrid>
              <a:tr h="215474">
                <a:tc>
                  <a:txBody>
                    <a:bodyPr/>
                    <a:lstStyle/>
                    <a:p>
                      <a:pPr algn="r"/>
                      <a:r>
                        <a:rPr lang="en-US" altLang="zh-CN" b="1" dirty="0" err="1"/>
                        <a:t>sv</a:t>
                      </a:r>
                      <a:endParaRPr lang="zh-CN" altLang="en-US" b="1" dirty="0"/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700"/>
                        </a:lnSpc>
                      </a:pPr>
                      <a:endParaRPr lang="zh-CN" altLang="en-US" dirty="0"/>
                    </a:p>
                  </a:txBody>
                  <a:tcPr marL="36000" marR="36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3354927"/>
                  </a:ext>
                </a:extLst>
              </a:tr>
              <a:tr h="215474">
                <a:tc>
                  <a:txBody>
                    <a:bodyPr/>
                    <a:lstStyle/>
                    <a:p>
                      <a:pPr algn="r"/>
                      <a:r>
                        <a:rPr lang="en-US" altLang="zh-CN" b="1" dirty="0" err="1"/>
                        <a:t>len</a:t>
                      </a:r>
                      <a:endParaRPr lang="zh-CN" altLang="en-US" b="1" dirty="0"/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00"/>
                        </a:lnSpc>
                      </a:pPr>
                      <a:r>
                        <a:rPr lang="en-US" altLang="zh-CN" b="1" dirty="0">
                          <a:solidFill>
                            <a:srgbClr val="041ABC"/>
                          </a:solidFill>
                        </a:rPr>
                        <a:t>9</a:t>
                      </a:r>
                      <a:endParaRPr lang="zh-CN" altLang="en-US" b="1" dirty="0">
                        <a:solidFill>
                          <a:srgbClr val="041ABC"/>
                        </a:solidFill>
                      </a:endParaRPr>
                    </a:p>
                  </a:txBody>
                  <a:tcPr marL="36000" marR="36000" marT="36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310708"/>
                  </a:ext>
                </a:extLst>
              </a:tr>
              <a:tr h="215474">
                <a:tc>
                  <a:txBody>
                    <a:bodyPr/>
                    <a:lstStyle/>
                    <a:p>
                      <a:pPr algn="r"/>
                      <a:r>
                        <a:rPr lang="en-US" altLang="zh-CN" b="1" dirty="0"/>
                        <a:t>size</a:t>
                      </a:r>
                      <a:endParaRPr lang="zh-CN" altLang="en-US" b="1" dirty="0"/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00"/>
                        </a:lnSpc>
                      </a:pPr>
                      <a:r>
                        <a:rPr lang="en-US" altLang="zh-CN" b="1" dirty="0">
                          <a:solidFill>
                            <a:srgbClr val="041ABC"/>
                          </a:solidFill>
                        </a:rPr>
                        <a:t>25</a:t>
                      </a:r>
                      <a:endParaRPr lang="zh-CN" altLang="en-US" b="1" dirty="0">
                        <a:solidFill>
                          <a:srgbClr val="041ABC"/>
                        </a:solidFill>
                      </a:endParaRPr>
                    </a:p>
                  </a:txBody>
                  <a:tcPr marL="36000" marR="36000" marT="36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183772"/>
                  </a:ext>
                </a:extLst>
              </a:tr>
            </a:tbl>
          </a:graphicData>
        </a:graphic>
      </p:graphicFrame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1554E29A-A404-CBB4-00AA-D323C81E9653}"/>
              </a:ext>
            </a:extLst>
          </p:cNvPr>
          <p:cNvCxnSpPr>
            <a:cxnSpLocks/>
          </p:cNvCxnSpPr>
          <p:nvPr/>
        </p:nvCxnSpPr>
        <p:spPr>
          <a:xfrm>
            <a:off x="9512221" y="999600"/>
            <a:ext cx="218665" cy="108953"/>
          </a:xfrm>
          <a:prstGeom prst="straightConnector1">
            <a:avLst/>
          </a:prstGeom>
          <a:ln>
            <a:solidFill>
              <a:srgbClr val="C00000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02D22677-1405-803E-1407-7ACBCB3DBC8D}"/>
              </a:ext>
            </a:extLst>
          </p:cNvPr>
          <p:cNvSpPr txBox="1"/>
          <p:nvPr/>
        </p:nvSpPr>
        <p:spPr>
          <a:xfrm>
            <a:off x="9245282" y="861100"/>
            <a:ext cx="33792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S2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CF674A25-26A1-2108-5628-241109AC43DE}"/>
              </a:ext>
            </a:extLst>
          </p:cNvPr>
          <p:cNvGraphicFramePr>
            <a:graphicFrameLocks noGrp="1"/>
          </p:cNvGraphicFramePr>
          <p:nvPr/>
        </p:nvGraphicFramePr>
        <p:xfrm>
          <a:off x="10328173" y="822873"/>
          <a:ext cx="1591306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7634">
                  <a:extLst>
                    <a:ext uri="{9D8B030D-6E8A-4147-A177-3AD203B41FA5}">
                      <a16:colId xmlns:a16="http://schemas.microsoft.com/office/drawing/2014/main" val="3548914742"/>
                    </a:ext>
                  </a:extLst>
                </a:gridCol>
                <a:gridCol w="375268">
                  <a:extLst>
                    <a:ext uri="{9D8B030D-6E8A-4147-A177-3AD203B41FA5}">
                      <a16:colId xmlns:a16="http://schemas.microsoft.com/office/drawing/2014/main" val="2637519387"/>
                    </a:ext>
                  </a:extLst>
                </a:gridCol>
                <a:gridCol w="187634">
                  <a:extLst>
                    <a:ext uri="{9D8B030D-6E8A-4147-A177-3AD203B41FA5}">
                      <a16:colId xmlns:a16="http://schemas.microsoft.com/office/drawing/2014/main" val="174924325"/>
                    </a:ext>
                  </a:extLst>
                </a:gridCol>
                <a:gridCol w="187634">
                  <a:extLst>
                    <a:ext uri="{9D8B030D-6E8A-4147-A177-3AD203B41FA5}">
                      <a16:colId xmlns:a16="http://schemas.microsoft.com/office/drawing/2014/main" val="3075925709"/>
                    </a:ext>
                  </a:extLst>
                </a:gridCol>
                <a:gridCol w="375268">
                  <a:extLst>
                    <a:ext uri="{9D8B030D-6E8A-4147-A177-3AD203B41FA5}">
                      <a16:colId xmlns:a16="http://schemas.microsoft.com/office/drawing/2014/main" val="1323277263"/>
                    </a:ext>
                  </a:extLst>
                </a:gridCol>
                <a:gridCol w="277868">
                  <a:extLst>
                    <a:ext uri="{9D8B030D-6E8A-4147-A177-3AD203B41FA5}">
                      <a16:colId xmlns:a16="http://schemas.microsoft.com/office/drawing/2014/main" val="1856297151"/>
                    </a:ext>
                  </a:extLst>
                </a:gridCol>
              </a:tblGrid>
              <a:tr h="91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+mn-ea"/>
                          <a:ea typeface="+mn-ea"/>
                        </a:rPr>
                        <a:t>25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87601202"/>
                  </a:ext>
                </a:extLst>
              </a:tr>
              <a:tr h="257321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R</a:t>
                      </a:r>
                      <a:endParaRPr lang="zh-CN" altLang="en-US" b="1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Y</a:t>
                      </a:r>
                      <a:endParaRPr lang="zh-CN" altLang="en-US" b="1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FF0000"/>
                          </a:solidFill>
                        </a:rPr>
                        <a:t>/0</a:t>
                      </a:r>
                      <a:endParaRPr lang="zh-CN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E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E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E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56128"/>
                  </a:ext>
                </a:extLst>
              </a:tr>
            </a:tbl>
          </a:graphicData>
        </a:graphic>
      </p:graphicFrame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219F2BBF-35D2-444D-09CA-3D53B504E4EC}"/>
              </a:ext>
            </a:extLst>
          </p:cNvPr>
          <p:cNvCxnSpPr>
            <a:cxnSpLocks/>
          </p:cNvCxnSpPr>
          <p:nvPr/>
        </p:nvCxnSpPr>
        <p:spPr>
          <a:xfrm>
            <a:off x="9893214" y="1237782"/>
            <a:ext cx="434959" cy="0"/>
          </a:xfrm>
          <a:prstGeom prst="straightConnector1">
            <a:avLst/>
          </a:prstGeom>
          <a:ln>
            <a:solidFill>
              <a:srgbClr val="0070C0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6F17033D-61DD-86B8-10D4-5631DD929420}"/>
              </a:ext>
            </a:extLst>
          </p:cNvPr>
          <p:cNvGraphicFramePr>
            <a:graphicFrameLocks noGrp="1"/>
          </p:cNvGraphicFramePr>
          <p:nvPr/>
        </p:nvGraphicFramePr>
        <p:xfrm>
          <a:off x="6909011" y="2335062"/>
          <a:ext cx="823529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759">
                  <a:extLst>
                    <a:ext uri="{9D8B030D-6E8A-4147-A177-3AD203B41FA5}">
                      <a16:colId xmlns:a16="http://schemas.microsoft.com/office/drawing/2014/main" val="3703431472"/>
                    </a:ext>
                  </a:extLst>
                </a:gridCol>
                <a:gridCol w="340770">
                  <a:extLst>
                    <a:ext uri="{9D8B030D-6E8A-4147-A177-3AD203B41FA5}">
                      <a16:colId xmlns:a16="http://schemas.microsoft.com/office/drawing/2014/main" val="3089139"/>
                    </a:ext>
                  </a:extLst>
                </a:gridCol>
              </a:tblGrid>
              <a:tr h="215474">
                <a:tc>
                  <a:txBody>
                    <a:bodyPr/>
                    <a:lstStyle/>
                    <a:p>
                      <a:pPr algn="r"/>
                      <a:r>
                        <a:rPr lang="en-US" altLang="zh-CN" b="1" dirty="0" err="1"/>
                        <a:t>sv</a:t>
                      </a:r>
                      <a:endParaRPr lang="zh-CN" altLang="en-US" b="1" dirty="0"/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700"/>
                        </a:lnSpc>
                      </a:pPr>
                      <a:endParaRPr lang="zh-CN" altLang="en-US" dirty="0"/>
                    </a:p>
                  </a:txBody>
                  <a:tcPr marL="36000" marR="36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3354927"/>
                  </a:ext>
                </a:extLst>
              </a:tr>
              <a:tr h="215474">
                <a:tc>
                  <a:txBody>
                    <a:bodyPr/>
                    <a:lstStyle/>
                    <a:p>
                      <a:pPr algn="r"/>
                      <a:r>
                        <a:rPr lang="en-US" altLang="zh-CN" b="1" dirty="0" err="1"/>
                        <a:t>len</a:t>
                      </a:r>
                      <a:endParaRPr lang="zh-CN" altLang="en-US" b="1" dirty="0"/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00"/>
                        </a:lnSpc>
                      </a:pPr>
                      <a:endParaRPr lang="zh-CN" altLang="en-US" b="1" dirty="0">
                        <a:solidFill>
                          <a:srgbClr val="041ABC"/>
                        </a:solidFill>
                      </a:endParaRPr>
                    </a:p>
                  </a:txBody>
                  <a:tcPr marL="36000" marR="36000" marT="36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310708"/>
                  </a:ext>
                </a:extLst>
              </a:tr>
              <a:tr h="215474">
                <a:tc>
                  <a:txBody>
                    <a:bodyPr/>
                    <a:lstStyle/>
                    <a:p>
                      <a:pPr algn="r"/>
                      <a:r>
                        <a:rPr lang="en-US" altLang="zh-CN" b="1" dirty="0"/>
                        <a:t>size</a:t>
                      </a:r>
                      <a:endParaRPr lang="zh-CN" altLang="en-US" b="1" dirty="0"/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00"/>
                        </a:lnSpc>
                      </a:pPr>
                      <a:endParaRPr lang="zh-CN" altLang="en-US" b="1" dirty="0">
                        <a:solidFill>
                          <a:srgbClr val="041ABC"/>
                        </a:solidFill>
                      </a:endParaRPr>
                    </a:p>
                  </a:txBody>
                  <a:tcPr marL="36000" marR="36000" marT="36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183772"/>
                  </a:ext>
                </a:extLst>
              </a:tr>
            </a:tbl>
          </a:graphicData>
        </a:graphic>
      </p:graphicFrame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0F1FD6B1-504B-6AAC-2225-CC469C151D16}"/>
              </a:ext>
            </a:extLst>
          </p:cNvPr>
          <p:cNvCxnSpPr>
            <a:cxnSpLocks/>
          </p:cNvCxnSpPr>
          <p:nvPr/>
        </p:nvCxnSpPr>
        <p:spPr>
          <a:xfrm>
            <a:off x="7175950" y="2237469"/>
            <a:ext cx="218665" cy="108953"/>
          </a:xfrm>
          <a:prstGeom prst="straightConnector1">
            <a:avLst/>
          </a:prstGeom>
          <a:ln>
            <a:solidFill>
              <a:srgbClr val="C00000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28DB0CDB-4C76-6D57-B799-1626911F4075}"/>
              </a:ext>
            </a:extLst>
          </p:cNvPr>
          <p:cNvSpPr txBox="1"/>
          <p:nvPr/>
        </p:nvSpPr>
        <p:spPr>
          <a:xfrm>
            <a:off x="6963071" y="2098969"/>
            <a:ext cx="28386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T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86CF93C5-1228-A735-408E-10CB6781DE30}"/>
              </a:ext>
            </a:extLst>
          </p:cNvPr>
          <p:cNvGraphicFramePr>
            <a:graphicFrameLocks noGrp="1"/>
          </p:cNvGraphicFramePr>
          <p:nvPr/>
        </p:nvGraphicFramePr>
        <p:xfrm>
          <a:off x="7991901" y="2060742"/>
          <a:ext cx="168663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7452">
                  <a:extLst>
                    <a:ext uri="{9D8B030D-6E8A-4147-A177-3AD203B41FA5}">
                      <a16:colId xmlns:a16="http://schemas.microsoft.com/office/drawing/2014/main" val="3548914742"/>
                    </a:ext>
                  </a:extLst>
                </a:gridCol>
                <a:gridCol w="374904">
                  <a:extLst>
                    <a:ext uri="{9D8B030D-6E8A-4147-A177-3AD203B41FA5}">
                      <a16:colId xmlns:a16="http://schemas.microsoft.com/office/drawing/2014/main" val="2637519387"/>
                    </a:ext>
                  </a:extLst>
                </a:gridCol>
                <a:gridCol w="187452">
                  <a:extLst>
                    <a:ext uri="{9D8B030D-6E8A-4147-A177-3AD203B41FA5}">
                      <a16:colId xmlns:a16="http://schemas.microsoft.com/office/drawing/2014/main" val="174924325"/>
                    </a:ext>
                  </a:extLst>
                </a:gridCol>
                <a:gridCol w="187452">
                  <a:extLst>
                    <a:ext uri="{9D8B030D-6E8A-4147-A177-3AD203B41FA5}">
                      <a16:colId xmlns:a16="http://schemas.microsoft.com/office/drawing/2014/main" val="3075925709"/>
                    </a:ext>
                  </a:extLst>
                </a:gridCol>
                <a:gridCol w="374904">
                  <a:extLst>
                    <a:ext uri="{9D8B030D-6E8A-4147-A177-3AD203B41FA5}">
                      <a16:colId xmlns:a16="http://schemas.microsoft.com/office/drawing/2014/main" val="1323277263"/>
                    </a:ext>
                  </a:extLst>
                </a:gridCol>
                <a:gridCol w="187233">
                  <a:extLst>
                    <a:ext uri="{9D8B030D-6E8A-4147-A177-3AD203B41FA5}">
                      <a16:colId xmlns:a16="http://schemas.microsoft.com/office/drawing/2014/main" val="1856297151"/>
                    </a:ext>
                  </a:extLst>
                </a:gridCol>
                <a:gridCol w="187233">
                  <a:extLst>
                    <a:ext uri="{9D8B030D-6E8A-4147-A177-3AD203B41FA5}">
                      <a16:colId xmlns:a16="http://schemas.microsoft.com/office/drawing/2014/main" val="3102578184"/>
                    </a:ext>
                  </a:extLst>
                </a:gridCol>
              </a:tblGrid>
              <a:tr h="91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6</a:t>
                      </a:r>
                      <a:endParaRPr lang="zh-CN" altLang="en-US" sz="14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7</a:t>
                      </a:r>
                      <a:endParaRPr lang="zh-CN" altLang="en-US" sz="14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15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16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87601202"/>
                  </a:ext>
                </a:extLst>
              </a:tr>
              <a:tr h="257321"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E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E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E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E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E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E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E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56128"/>
                  </a:ext>
                </a:extLst>
              </a:tr>
            </a:tbl>
          </a:graphicData>
        </a:graphic>
      </p:graphicFrame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1F8B97D0-683D-4B85-1D5F-BD44DE8892E4}"/>
              </a:ext>
            </a:extLst>
          </p:cNvPr>
          <p:cNvCxnSpPr>
            <a:cxnSpLocks/>
          </p:cNvCxnSpPr>
          <p:nvPr/>
        </p:nvCxnSpPr>
        <p:spPr>
          <a:xfrm>
            <a:off x="7556943" y="2475651"/>
            <a:ext cx="434959" cy="0"/>
          </a:xfrm>
          <a:prstGeom prst="straightConnector1">
            <a:avLst/>
          </a:prstGeom>
          <a:ln>
            <a:solidFill>
              <a:srgbClr val="0070C0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97A183DB-6949-BCB7-6E8C-CC30E406B2C4}"/>
              </a:ext>
            </a:extLst>
          </p:cNvPr>
          <p:cNvGraphicFramePr>
            <a:graphicFrameLocks noGrp="1"/>
          </p:cNvGraphicFramePr>
          <p:nvPr/>
        </p:nvGraphicFramePr>
        <p:xfrm>
          <a:off x="7437849" y="1098241"/>
          <a:ext cx="75053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7634">
                  <a:extLst>
                    <a:ext uri="{9D8B030D-6E8A-4147-A177-3AD203B41FA5}">
                      <a16:colId xmlns:a16="http://schemas.microsoft.com/office/drawing/2014/main" val="75618317"/>
                    </a:ext>
                  </a:extLst>
                </a:gridCol>
                <a:gridCol w="375268">
                  <a:extLst>
                    <a:ext uri="{9D8B030D-6E8A-4147-A177-3AD203B41FA5}">
                      <a16:colId xmlns:a16="http://schemas.microsoft.com/office/drawing/2014/main" val="3697732233"/>
                    </a:ext>
                  </a:extLst>
                </a:gridCol>
                <a:gridCol w="187634">
                  <a:extLst>
                    <a:ext uri="{9D8B030D-6E8A-4147-A177-3AD203B41FA5}">
                      <a16:colId xmlns:a16="http://schemas.microsoft.com/office/drawing/2014/main" val="2968236830"/>
                    </a:ext>
                  </a:extLst>
                </a:gridCol>
              </a:tblGrid>
              <a:tr h="257321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A</a:t>
                      </a:r>
                      <a:endParaRPr lang="zh-CN" altLang="en-US" b="1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L</a:t>
                      </a:r>
                      <a:endParaRPr lang="zh-CN" altLang="en-US" b="1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9453495"/>
                  </a:ext>
                </a:extLst>
              </a:tr>
            </a:tbl>
          </a:graphicData>
        </a:graphic>
      </p:graphicFrame>
      <p:graphicFrame>
        <p:nvGraphicFramePr>
          <p:cNvPr id="28" name="表格 27">
            <a:extLst>
              <a:ext uri="{FF2B5EF4-FFF2-40B4-BE49-F238E27FC236}">
                <a16:creationId xmlns:a16="http://schemas.microsoft.com/office/drawing/2014/main" id="{AE493F6D-ADA0-9EDA-DE75-4AEC224782DB}"/>
              </a:ext>
            </a:extLst>
          </p:cNvPr>
          <p:cNvGraphicFramePr>
            <a:graphicFrameLocks noGrp="1"/>
          </p:cNvGraphicFramePr>
          <p:nvPr/>
        </p:nvGraphicFramePr>
        <p:xfrm>
          <a:off x="10328173" y="1097193"/>
          <a:ext cx="75053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7634">
                  <a:extLst>
                    <a:ext uri="{9D8B030D-6E8A-4147-A177-3AD203B41FA5}">
                      <a16:colId xmlns:a16="http://schemas.microsoft.com/office/drawing/2014/main" val="2819816629"/>
                    </a:ext>
                  </a:extLst>
                </a:gridCol>
                <a:gridCol w="375268">
                  <a:extLst>
                    <a:ext uri="{9D8B030D-6E8A-4147-A177-3AD203B41FA5}">
                      <a16:colId xmlns:a16="http://schemas.microsoft.com/office/drawing/2014/main" val="144353196"/>
                    </a:ext>
                  </a:extLst>
                </a:gridCol>
                <a:gridCol w="187634">
                  <a:extLst>
                    <a:ext uri="{9D8B030D-6E8A-4147-A177-3AD203B41FA5}">
                      <a16:colId xmlns:a16="http://schemas.microsoft.com/office/drawing/2014/main" val="2126859392"/>
                    </a:ext>
                  </a:extLst>
                </a:gridCol>
              </a:tblGrid>
              <a:tr h="257321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R</a:t>
                      </a:r>
                      <a:endParaRPr lang="zh-CN" altLang="en-US" b="1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Y</a:t>
                      </a:r>
                      <a:endParaRPr lang="zh-CN" altLang="en-US" b="1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152755"/>
                  </a:ext>
                </a:extLst>
              </a:tr>
            </a:tbl>
          </a:graphicData>
        </a:graphic>
      </p:graphicFrame>
      <p:sp>
        <p:nvSpPr>
          <p:cNvPr id="29" name="文本框 10">
            <a:extLst>
              <a:ext uri="{FF2B5EF4-FFF2-40B4-BE49-F238E27FC236}">
                <a16:creationId xmlns:a16="http://schemas.microsoft.com/office/drawing/2014/main" id="{66A8F9D6-F3D8-DEE4-025F-3C5EA8525659}"/>
              </a:ext>
            </a:extLst>
          </p:cNvPr>
          <p:cNvSpPr txBox="1"/>
          <p:nvPr/>
        </p:nvSpPr>
        <p:spPr>
          <a:xfrm>
            <a:off x="9497869" y="2366015"/>
            <a:ext cx="170678" cy="265063"/>
          </a:xfrm>
          <a:prstGeom prst="rect">
            <a:avLst/>
          </a:prstGeom>
          <a:noFill/>
        </p:spPr>
        <p:txBody>
          <a:bodyPr wrap="square" lIns="0" tIns="36000" rIns="0" bIns="36000" rtlCol="0" anchor="b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/0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" name="文本框 10">
            <a:extLst>
              <a:ext uri="{FF2B5EF4-FFF2-40B4-BE49-F238E27FC236}">
                <a16:creationId xmlns:a16="http://schemas.microsoft.com/office/drawing/2014/main" id="{71D61B35-BA99-88B6-D378-3E5EA786C798}"/>
              </a:ext>
            </a:extLst>
          </p:cNvPr>
          <p:cNvSpPr txBox="1"/>
          <p:nvPr/>
        </p:nvSpPr>
        <p:spPr>
          <a:xfrm>
            <a:off x="7410151" y="2662361"/>
            <a:ext cx="285603" cy="19838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16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" name="文本框 10">
            <a:extLst>
              <a:ext uri="{FF2B5EF4-FFF2-40B4-BE49-F238E27FC236}">
                <a16:creationId xmlns:a16="http://schemas.microsoft.com/office/drawing/2014/main" id="{2F56668E-1FB9-01CA-B63D-41E77CB6C0FD}"/>
              </a:ext>
            </a:extLst>
          </p:cNvPr>
          <p:cNvSpPr txBox="1"/>
          <p:nvPr/>
        </p:nvSpPr>
        <p:spPr>
          <a:xfrm>
            <a:off x="7426145" y="2942769"/>
            <a:ext cx="267649" cy="19838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16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3015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-2.59259E-6 L 0.04518 0.18079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53" y="90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-1.11111E-6 L -0.13046 0.18102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23" y="90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9" grpId="0" animBg="1"/>
      <p:bldP spid="30" grpId="0" animBg="1"/>
      <p:bldP spid="3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2B94A-B7F4-4E03-E758-70C643247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0C56D04-00D7-AFE7-287F-F211BB0DE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C0FE0B-717B-41AE-9FA2-CA4BF851D1C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3EF2585-E05B-679B-E5AE-4263AEC2F529}"/>
              </a:ext>
            </a:extLst>
          </p:cNvPr>
          <p:cNvSpPr txBox="1"/>
          <p:nvPr/>
        </p:nvSpPr>
        <p:spPr>
          <a:xfrm>
            <a:off x="448003" y="3217029"/>
            <a:ext cx="11295994" cy="3139321"/>
          </a:xfrm>
          <a:prstGeom prst="rect">
            <a:avLst/>
          </a:prstGeom>
          <a:solidFill>
            <a:srgbClr val="FFFCF3"/>
          </a:solidFill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LStr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LStrConcat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LStr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S1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LStr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S2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构造并返回由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S1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S2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联接所得的新串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LStr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T; 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kumimoji="0" lang="zh-CN" altLang="zh-CN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if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!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S1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||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!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S2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NULL;  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S1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S2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不存在，则返回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NULL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保错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if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!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(T = (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LStr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malloc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1800" b="1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sizeof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(*T))))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exit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(OVERFLOW);    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分配新串结构记录空间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if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(0==(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S1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-&gt;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len+S2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-&gt;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))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T-&gt;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sv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=NULL;  T-&gt;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=0;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S;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 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空串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if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!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(T-&gt;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sv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= (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char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*)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malloc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((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len+1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)*</a:t>
            </a:r>
            <a:r>
              <a:rPr kumimoji="0" lang="en-US" altLang="zh-CN" sz="1800" b="1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sizeof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char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))))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exit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(OVERFLOW);  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串值空间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memcpy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(T-&gt;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sv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S1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-&gt;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sv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S1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-&gt;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);              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复制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S1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串值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memcpy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(T-&gt;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sv+S1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-&gt;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S2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-&gt;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sv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S2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-&gt;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);      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复制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S2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串值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T-&gt;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= T-&gt;size =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  T-&gt;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sv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 = '\0'; 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置串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长度、容量和结束符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return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T;   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返回联接构造的串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kumimoji="0" lang="zh-CN" altLang="zh-CN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7D264A01-2EC1-9F69-0912-12A9E667C362}"/>
              </a:ext>
            </a:extLst>
          </p:cNvPr>
          <p:cNvSpPr/>
          <p:nvPr/>
        </p:nvSpPr>
        <p:spPr>
          <a:xfrm>
            <a:off x="1430290" y="249511"/>
            <a:ext cx="5936026" cy="51522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长</a:t>
            </a:r>
            <a:r>
              <a:rPr kumimoji="0" lang="zh-CN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串</a:t>
            </a:r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连</a:t>
            </a:r>
            <a:r>
              <a:rPr kumimoji="0" lang="zh-CN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接</a:t>
            </a: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100" cap="none" spc="0" normalizeH="0" baseline="0" noProof="0" dirty="0" err="1">
                <a:ln>
                  <a:noFill/>
                </a:ln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L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41ABC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StrConcat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41ABC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S1,S2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</a:t>
            </a:r>
            <a:endParaRPr kumimoji="0" lang="en-US" altLang="zh-CN" sz="2400" b="1" i="0" u="none" strike="noStrike" kern="100" cap="none" spc="0" normalizeH="0" baseline="0" noProof="0" dirty="0">
              <a:ln>
                <a:noFill/>
              </a:ln>
              <a:solidFill>
                <a:srgbClr val="04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ourier New" panose="02070309020205020404" pitchFamily="49" charset="0"/>
              <a:ea typeface="黑体" panose="02010609060101010101" pitchFamily="49" charset="-122"/>
              <a:cs typeface="Courier New" panose="020703090202050204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0A68D40-790C-77CE-BD09-D1B420D9A905}"/>
              </a:ext>
            </a:extLst>
          </p:cNvPr>
          <p:cNvSpPr txBox="1"/>
          <p:nvPr/>
        </p:nvSpPr>
        <p:spPr>
          <a:xfrm>
            <a:off x="470338" y="1097578"/>
            <a:ext cx="5625662" cy="1754326"/>
          </a:xfrm>
          <a:prstGeom prst="rect">
            <a:avLst/>
          </a:prstGeom>
          <a:solidFill>
            <a:srgbClr val="FFFCF3"/>
          </a:solidFill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//----- 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长串的存储表示 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-----</a:t>
            </a:r>
            <a:endParaRPr kumimoji="0" lang="zh-CN" altLang="zh-CN" sz="1800" b="0" i="0" u="none" strike="noStrike" kern="100" cap="none" spc="0" normalizeH="0" baseline="0" noProof="0" dirty="0">
              <a:ln>
                <a:noFill/>
              </a:ln>
              <a:solidFill>
                <a:srgbClr val="4EA72E">
                  <a:lumMod val="75000"/>
                </a:srgbClr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typedef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struct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endParaRPr kumimoji="0" lang="zh-CN" altLang="zh-CN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char 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sv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   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串值数组。容量为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size+1</a:t>
            </a:r>
            <a:endParaRPr kumimoji="0" lang="zh-CN" altLang="zh-CN" sz="2800" b="0" i="0" u="none" strike="noStrike" kern="100" cap="none" spc="0" normalizeH="0" baseline="0" noProof="0" dirty="0">
              <a:ln>
                <a:noFill/>
              </a:ln>
              <a:solidFill>
                <a:srgbClr val="4EA72E">
                  <a:lumMod val="75000"/>
                </a:srgb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  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串的长度，串值的字符个数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size;  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容量</a:t>
            </a:r>
            <a:r>
              <a: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size-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是未用容量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6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*</a:t>
            </a:r>
            <a:r>
              <a:rPr kumimoji="0" lang="en-US" altLang="zh-C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LStr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      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长串指针类型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6B325949-4977-658E-8B82-DE474D93237E}"/>
              </a:ext>
            </a:extLst>
          </p:cNvPr>
          <p:cNvGraphicFramePr>
            <a:graphicFrameLocks noGrp="1"/>
          </p:cNvGraphicFramePr>
          <p:nvPr/>
        </p:nvGraphicFramePr>
        <p:xfrm>
          <a:off x="6355362" y="1097193"/>
          <a:ext cx="823529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759">
                  <a:extLst>
                    <a:ext uri="{9D8B030D-6E8A-4147-A177-3AD203B41FA5}">
                      <a16:colId xmlns:a16="http://schemas.microsoft.com/office/drawing/2014/main" val="3703431472"/>
                    </a:ext>
                  </a:extLst>
                </a:gridCol>
                <a:gridCol w="340770">
                  <a:extLst>
                    <a:ext uri="{9D8B030D-6E8A-4147-A177-3AD203B41FA5}">
                      <a16:colId xmlns:a16="http://schemas.microsoft.com/office/drawing/2014/main" val="3089139"/>
                    </a:ext>
                  </a:extLst>
                </a:gridCol>
              </a:tblGrid>
              <a:tr h="215474">
                <a:tc>
                  <a:txBody>
                    <a:bodyPr/>
                    <a:lstStyle/>
                    <a:p>
                      <a:pPr algn="r"/>
                      <a:r>
                        <a:rPr lang="en-US" altLang="zh-CN" b="1" dirty="0" err="1"/>
                        <a:t>sv</a:t>
                      </a:r>
                      <a:endParaRPr lang="zh-CN" altLang="en-US" b="1" dirty="0"/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700"/>
                        </a:lnSpc>
                      </a:pPr>
                      <a:endParaRPr lang="zh-CN" altLang="en-US" dirty="0"/>
                    </a:p>
                  </a:txBody>
                  <a:tcPr marL="36000" marR="36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3354927"/>
                  </a:ext>
                </a:extLst>
              </a:tr>
              <a:tr h="215474">
                <a:tc>
                  <a:txBody>
                    <a:bodyPr/>
                    <a:lstStyle/>
                    <a:p>
                      <a:pPr algn="r"/>
                      <a:r>
                        <a:rPr lang="en-US" altLang="zh-CN" b="1" dirty="0" err="1"/>
                        <a:t>len</a:t>
                      </a:r>
                      <a:endParaRPr lang="zh-CN" altLang="en-US" b="1" dirty="0"/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00"/>
                        </a:lnSpc>
                      </a:pPr>
                      <a:r>
                        <a:rPr lang="en-US" altLang="zh-CN" b="1" dirty="0">
                          <a:solidFill>
                            <a:srgbClr val="041ABC"/>
                          </a:solidFill>
                        </a:rPr>
                        <a:t>7</a:t>
                      </a:r>
                      <a:endParaRPr lang="zh-CN" altLang="en-US" b="1" dirty="0">
                        <a:solidFill>
                          <a:srgbClr val="041ABC"/>
                        </a:solidFill>
                      </a:endParaRPr>
                    </a:p>
                  </a:txBody>
                  <a:tcPr marL="36000" marR="36000" marT="36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310708"/>
                  </a:ext>
                </a:extLst>
              </a:tr>
              <a:tr h="215474">
                <a:tc>
                  <a:txBody>
                    <a:bodyPr/>
                    <a:lstStyle/>
                    <a:p>
                      <a:pPr algn="r"/>
                      <a:r>
                        <a:rPr lang="en-US" altLang="zh-CN" b="1" dirty="0"/>
                        <a:t>size</a:t>
                      </a:r>
                      <a:endParaRPr lang="zh-CN" altLang="en-US" b="1" dirty="0"/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00"/>
                        </a:lnSpc>
                      </a:pPr>
                      <a:r>
                        <a:rPr lang="en-US" altLang="zh-CN" b="1" dirty="0">
                          <a:solidFill>
                            <a:srgbClr val="041ABC"/>
                          </a:solidFill>
                        </a:rPr>
                        <a:t>20</a:t>
                      </a:r>
                      <a:endParaRPr lang="zh-CN" altLang="en-US" b="1" dirty="0">
                        <a:solidFill>
                          <a:srgbClr val="041ABC"/>
                        </a:solidFill>
                      </a:endParaRPr>
                    </a:p>
                  </a:txBody>
                  <a:tcPr marL="36000" marR="36000" marT="36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183772"/>
                  </a:ext>
                </a:extLst>
              </a:tr>
            </a:tbl>
          </a:graphicData>
        </a:graphic>
      </p:graphicFrame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DB86F741-8FE9-E5B3-F17F-7D9D00B31D13}"/>
              </a:ext>
            </a:extLst>
          </p:cNvPr>
          <p:cNvCxnSpPr>
            <a:cxnSpLocks/>
          </p:cNvCxnSpPr>
          <p:nvPr/>
        </p:nvCxnSpPr>
        <p:spPr>
          <a:xfrm>
            <a:off x="6622301" y="999600"/>
            <a:ext cx="218665" cy="108953"/>
          </a:xfrm>
          <a:prstGeom prst="straightConnector1">
            <a:avLst/>
          </a:prstGeom>
          <a:ln>
            <a:solidFill>
              <a:srgbClr val="C00000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71164B17-6056-B818-1D3F-E23474BB6CD1}"/>
              </a:ext>
            </a:extLst>
          </p:cNvPr>
          <p:cNvSpPr txBox="1"/>
          <p:nvPr/>
        </p:nvSpPr>
        <p:spPr>
          <a:xfrm>
            <a:off x="6355362" y="861100"/>
            <a:ext cx="33792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S1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61D66A32-9BFA-8A93-710E-F9AB746A81A4}"/>
              </a:ext>
            </a:extLst>
          </p:cNvPr>
          <p:cNvGraphicFramePr>
            <a:graphicFrameLocks noGrp="1"/>
          </p:cNvGraphicFramePr>
          <p:nvPr/>
        </p:nvGraphicFramePr>
        <p:xfrm>
          <a:off x="7438253" y="822873"/>
          <a:ext cx="1591306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7634">
                  <a:extLst>
                    <a:ext uri="{9D8B030D-6E8A-4147-A177-3AD203B41FA5}">
                      <a16:colId xmlns:a16="http://schemas.microsoft.com/office/drawing/2014/main" val="3548914742"/>
                    </a:ext>
                  </a:extLst>
                </a:gridCol>
                <a:gridCol w="375268">
                  <a:extLst>
                    <a:ext uri="{9D8B030D-6E8A-4147-A177-3AD203B41FA5}">
                      <a16:colId xmlns:a16="http://schemas.microsoft.com/office/drawing/2014/main" val="2637519387"/>
                    </a:ext>
                  </a:extLst>
                </a:gridCol>
                <a:gridCol w="187634">
                  <a:extLst>
                    <a:ext uri="{9D8B030D-6E8A-4147-A177-3AD203B41FA5}">
                      <a16:colId xmlns:a16="http://schemas.microsoft.com/office/drawing/2014/main" val="174924325"/>
                    </a:ext>
                  </a:extLst>
                </a:gridCol>
                <a:gridCol w="187634">
                  <a:extLst>
                    <a:ext uri="{9D8B030D-6E8A-4147-A177-3AD203B41FA5}">
                      <a16:colId xmlns:a16="http://schemas.microsoft.com/office/drawing/2014/main" val="3075925709"/>
                    </a:ext>
                  </a:extLst>
                </a:gridCol>
                <a:gridCol w="375268">
                  <a:extLst>
                    <a:ext uri="{9D8B030D-6E8A-4147-A177-3AD203B41FA5}">
                      <a16:colId xmlns:a16="http://schemas.microsoft.com/office/drawing/2014/main" val="1323277263"/>
                    </a:ext>
                  </a:extLst>
                </a:gridCol>
                <a:gridCol w="277868">
                  <a:extLst>
                    <a:ext uri="{9D8B030D-6E8A-4147-A177-3AD203B41FA5}">
                      <a16:colId xmlns:a16="http://schemas.microsoft.com/office/drawing/2014/main" val="1856297151"/>
                    </a:ext>
                  </a:extLst>
                </a:gridCol>
              </a:tblGrid>
              <a:tr h="91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+mn-ea"/>
                          <a:ea typeface="+mn-ea"/>
                        </a:rPr>
                        <a:t>20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87601202"/>
                  </a:ext>
                </a:extLst>
              </a:tr>
              <a:tr h="257321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A</a:t>
                      </a:r>
                      <a:endParaRPr lang="zh-CN" altLang="en-US" b="1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L</a:t>
                      </a:r>
                      <a:endParaRPr lang="zh-CN" altLang="en-US" b="1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FF0000"/>
                          </a:solidFill>
                        </a:rPr>
                        <a:t>/0</a:t>
                      </a:r>
                      <a:endParaRPr lang="zh-CN" alt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E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E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E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56128"/>
                  </a:ext>
                </a:extLst>
              </a:tr>
            </a:tbl>
          </a:graphicData>
        </a:graphic>
      </p:graphicFrame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715F45F0-FFA6-EDE3-5192-EA82619F846B}"/>
              </a:ext>
            </a:extLst>
          </p:cNvPr>
          <p:cNvCxnSpPr>
            <a:cxnSpLocks/>
          </p:cNvCxnSpPr>
          <p:nvPr/>
        </p:nvCxnSpPr>
        <p:spPr>
          <a:xfrm>
            <a:off x="7003294" y="1237782"/>
            <a:ext cx="434959" cy="0"/>
          </a:xfrm>
          <a:prstGeom prst="straightConnector1">
            <a:avLst/>
          </a:prstGeom>
          <a:ln>
            <a:solidFill>
              <a:srgbClr val="0070C0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45E97BF0-2D30-0DE0-3C0E-3F1D37DE8C29}"/>
              </a:ext>
            </a:extLst>
          </p:cNvPr>
          <p:cNvGraphicFramePr>
            <a:graphicFrameLocks noGrp="1"/>
          </p:cNvGraphicFramePr>
          <p:nvPr/>
        </p:nvGraphicFramePr>
        <p:xfrm>
          <a:off x="9245282" y="1097193"/>
          <a:ext cx="823529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759">
                  <a:extLst>
                    <a:ext uri="{9D8B030D-6E8A-4147-A177-3AD203B41FA5}">
                      <a16:colId xmlns:a16="http://schemas.microsoft.com/office/drawing/2014/main" val="3703431472"/>
                    </a:ext>
                  </a:extLst>
                </a:gridCol>
                <a:gridCol w="340770">
                  <a:extLst>
                    <a:ext uri="{9D8B030D-6E8A-4147-A177-3AD203B41FA5}">
                      <a16:colId xmlns:a16="http://schemas.microsoft.com/office/drawing/2014/main" val="3089139"/>
                    </a:ext>
                  </a:extLst>
                </a:gridCol>
              </a:tblGrid>
              <a:tr h="215474">
                <a:tc>
                  <a:txBody>
                    <a:bodyPr/>
                    <a:lstStyle/>
                    <a:p>
                      <a:pPr algn="r"/>
                      <a:r>
                        <a:rPr lang="en-US" altLang="zh-CN" b="1" dirty="0" err="1"/>
                        <a:t>sv</a:t>
                      </a:r>
                      <a:endParaRPr lang="zh-CN" altLang="en-US" b="1" dirty="0"/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700"/>
                        </a:lnSpc>
                      </a:pPr>
                      <a:endParaRPr lang="zh-CN" altLang="en-US" dirty="0"/>
                    </a:p>
                  </a:txBody>
                  <a:tcPr marL="36000" marR="36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3354927"/>
                  </a:ext>
                </a:extLst>
              </a:tr>
              <a:tr h="215474">
                <a:tc>
                  <a:txBody>
                    <a:bodyPr/>
                    <a:lstStyle/>
                    <a:p>
                      <a:pPr algn="r"/>
                      <a:r>
                        <a:rPr lang="en-US" altLang="zh-CN" b="1" dirty="0" err="1"/>
                        <a:t>len</a:t>
                      </a:r>
                      <a:endParaRPr lang="zh-CN" altLang="en-US" b="1" dirty="0"/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00"/>
                        </a:lnSpc>
                      </a:pPr>
                      <a:r>
                        <a:rPr lang="en-US" altLang="zh-CN" b="1" dirty="0">
                          <a:solidFill>
                            <a:srgbClr val="041ABC"/>
                          </a:solidFill>
                        </a:rPr>
                        <a:t>9</a:t>
                      </a:r>
                      <a:endParaRPr lang="zh-CN" altLang="en-US" b="1" dirty="0">
                        <a:solidFill>
                          <a:srgbClr val="041ABC"/>
                        </a:solidFill>
                      </a:endParaRPr>
                    </a:p>
                  </a:txBody>
                  <a:tcPr marL="36000" marR="36000" marT="36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310708"/>
                  </a:ext>
                </a:extLst>
              </a:tr>
              <a:tr h="215474">
                <a:tc>
                  <a:txBody>
                    <a:bodyPr/>
                    <a:lstStyle/>
                    <a:p>
                      <a:pPr algn="r"/>
                      <a:r>
                        <a:rPr lang="en-US" altLang="zh-CN" b="1" dirty="0"/>
                        <a:t>size</a:t>
                      </a:r>
                      <a:endParaRPr lang="zh-CN" altLang="en-US" b="1" dirty="0"/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00"/>
                        </a:lnSpc>
                      </a:pPr>
                      <a:r>
                        <a:rPr lang="en-US" altLang="zh-CN" b="1" dirty="0">
                          <a:solidFill>
                            <a:srgbClr val="041ABC"/>
                          </a:solidFill>
                        </a:rPr>
                        <a:t>25</a:t>
                      </a:r>
                      <a:endParaRPr lang="zh-CN" altLang="en-US" b="1" dirty="0">
                        <a:solidFill>
                          <a:srgbClr val="041ABC"/>
                        </a:solidFill>
                      </a:endParaRPr>
                    </a:p>
                  </a:txBody>
                  <a:tcPr marL="36000" marR="36000" marT="36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183772"/>
                  </a:ext>
                </a:extLst>
              </a:tr>
            </a:tbl>
          </a:graphicData>
        </a:graphic>
      </p:graphicFrame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75DC0CAA-047B-1243-688A-9149778106E7}"/>
              </a:ext>
            </a:extLst>
          </p:cNvPr>
          <p:cNvCxnSpPr>
            <a:cxnSpLocks/>
          </p:cNvCxnSpPr>
          <p:nvPr/>
        </p:nvCxnSpPr>
        <p:spPr>
          <a:xfrm>
            <a:off x="9512221" y="999600"/>
            <a:ext cx="218665" cy="108953"/>
          </a:xfrm>
          <a:prstGeom prst="straightConnector1">
            <a:avLst/>
          </a:prstGeom>
          <a:ln>
            <a:solidFill>
              <a:srgbClr val="C00000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28A82A50-4C68-02A7-3834-8954C8207700}"/>
              </a:ext>
            </a:extLst>
          </p:cNvPr>
          <p:cNvSpPr txBox="1"/>
          <p:nvPr/>
        </p:nvSpPr>
        <p:spPr>
          <a:xfrm>
            <a:off x="9245282" y="861100"/>
            <a:ext cx="33792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S2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E20C7A12-8F1F-DDC9-4A57-46BA80F52200}"/>
              </a:ext>
            </a:extLst>
          </p:cNvPr>
          <p:cNvGraphicFramePr>
            <a:graphicFrameLocks noGrp="1"/>
          </p:cNvGraphicFramePr>
          <p:nvPr/>
        </p:nvGraphicFramePr>
        <p:xfrm>
          <a:off x="10328173" y="822873"/>
          <a:ext cx="1591306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7634">
                  <a:extLst>
                    <a:ext uri="{9D8B030D-6E8A-4147-A177-3AD203B41FA5}">
                      <a16:colId xmlns:a16="http://schemas.microsoft.com/office/drawing/2014/main" val="3548914742"/>
                    </a:ext>
                  </a:extLst>
                </a:gridCol>
                <a:gridCol w="375268">
                  <a:extLst>
                    <a:ext uri="{9D8B030D-6E8A-4147-A177-3AD203B41FA5}">
                      <a16:colId xmlns:a16="http://schemas.microsoft.com/office/drawing/2014/main" val="2637519387"/>
                    </a:ext>
                  </a:extLst>
                </a:gridCol>
                <a:gridCol w="187634">
                  <a:extLst>
                    <a:ext uri="{9D8B030D-6E8A-4147-A177-3AD203B41FA5}">
                      <a16:colId xmlns:a16="http://schemas.microsoft.com/office/drawing/2014/main" val="174924325"/>
                    </a:ext>
                  </a:extLst>
                </a:gridCol>
                <a:gridCol w="187634">
                  <a:extLst>
                    <a:ext uri="{9D8B030D-6E8A-4147-A177-3AD203B41FA5}">
                      <a16:colId xmlns:a16="http://schemas.microsoft.com/office/drawing/2014/main" val="3075925709"/>
                    </a:ext>
                  </a:extLst>
                </a:gridCol>
                <a:gridCol w="375268">
                  <a:extLst>
                    <a:ext uri="{9D8B030D-6E8A-4147-A177-3AD203B41FA5}">
                      <a16:colId xmlns:a16="http://schemas.microsoft.com/office/drawing/2014/main" val="1323277263"/>
                    </a:ext>
                  </a:extLst>
                </a:gridCol>
                <a:gridCol w="277868">
                  <a:extLst>
                    <a:ext uri="{9D8B030D-6E8A-4147-A177-3AD203B41FA5}">
                      <a16:colId xmlns:a16="http://schemas.microsoft.com/office/drawing/2014/main" val="1856297151"/>
                    </a:ext>
                  </a:extLst>
                </a:gridCol>
              </a:tblGrid>
              <a:tr h="91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+mn-ea"/>
                          <a:ea typeface="+mn-ea"/>
                        </a:rPr>
                        <a:t>25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87601202"/>
                  </a:ext>
                </a:extLst>
              </a:tr>
              <a:tr h="257321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R</a:t>
                      </a:r>
                      <a:endParaRPr lang="zh-CN" altLang="en-US" b="1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Y</a:t>
                      </a:r>
                      <a:endParaRPr lang="zh-CN" altLang="en-US" b="1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FF0000"/>
                          </a:solidFill>
                        </a:rPr>
                        <a:t>/0</a:t>
                      </a:r>
                      <a:endParaRPr lang="zh-CN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E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E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E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56128"/>
                  </a:ext>
                </a:extLst>
              </a:tr>
            </a:tbl>
          </a:graphicData>
        </a:graphic>
      </p:graphicFrame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0B6DE27D-8A2F-2E2A-027B-C246F40B7B21}"/>
              </a:ext>
            </a:extLst>
          </p:cNvPr>
          <p:cNvCxnSpPr>
            <a:cxnSpLocks/>
          </p:cNvCxnSpPr>
          <p:nvPr/>
        </p:nvCxnSpPr>
        <p:spPr>
          <a:xfrm>
            <a:off x="9893214" y="1237782"/>
            <a:ext cx="434959" cy="0"/>
          </a:xfrm>
          <a:prstGeom prst="straightConnector1">
            <a:avLst/>
          </a:prstGeom>
          <a:ln>
            <a:solidFill>
              <a:srgbClr val="0070C0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D711373B-5D7D-589C-B182-474780C959F3}"/>
              </a:ext>
            </a:extLst>
          </p:cNvPr>
          <p:cNvGraphicFramePr>
            <a:graphicFrameLocks noGrp="1"/>
          </p:cNvGraphicFramePr>
          <p:nvPr/>
        </p:nvGraphicFramePr>
        <p:xfrm>
          <a:off x="6909011" y="2335062"/>
          <a:ext cx="823529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759">
                  <a:extLst>
                    <a:ext uri="{9D8B030D-6E8A-4147-A177-3AD203B41FA5}">
                      <a16:colId xmlns:a16="http://schemas.microsoft.com/office/drawing/2014/main" val="3703431472"/>
                    </a:ext>
                  </a:extLst>
                </a:gridCol>
                <a:gridCol w="340770">
                  <a:extLst>
                    <a:ext uri="{9D8B030D-6E8A-4147-A177-3AD203B41FA5}">
                      <a16:colId xmlns:a16="http://schemas.microsoft.com/office/drawing/2014/main" val="3089139"/>
                    </a:ext>
                  </a:extLst>
                </a:gridCol>
              </a:tblGrid>
              <a:tr h="215474">
                <a:tc>
                  <a:txBody>
                    <a:bodyPr/>
                    <a:lstStyle/>
                    <a:p>
                      <a:pPr algn="r"/>
                      <a:r>
                        <a:rPr lang="en-US" altLang="zh-CN" b="1" dirty="0" err="1"/>
                        <a:t>sv</a:t>
                      </a:r>
                      <a:endParaRPr lang="zh-CN" altLang="en-US" b="1" dirty="0"/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700"/>
                        </a:lnSpc>
                      </a:pPr>
                      <a:endParaRPr lang="zh-CN" altLang="en-US" dirty="0"/>
                    </a:p>
                  </a:txBody>
                  <a:tcPr marL="36000" marR="36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3354927"/>
                  </a:ext>
                </a:extLst>
              </a:tr>
              <a:tr h="215474">
                <a:tc>
                  <a:txBody>
                    <a:bodyPr/>
                    <a:lstStyle/>
                    <a:p>
                      <a:pPr algn="r"/>
                      <a:r>
                        <a:rPr lang="en-US" altLang="zh-CN" b="1" dirty="0" err="1"/>
                        <a:t>len</a:t>
                      </a:r>
                      <a:endParaRPr lang="zh-CN" altLang="en-US" b="1" dirty="0"/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00"/>
                        </a:lnSpc>
                      </a:pPr>
                      <a:endParaRPr lang="zh-CN" altLang="en-US" b="1" dirty="0">
                        <a:solidFill>
                          <a:srgbClr val="041ABC"/>
                        </a:solidFill>
                      </a:endParaRPr>
                    </a:p>
                  </a:txBody>
                  <a:tcPr marL="36000" marR="36000" marT="36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310708"/>
                  </a:ext>
                </a:extLst>
              </a:tr>
              <a:tr h="215474">
                <a:tc>
                  <a:txBody>
                    <a:bodyPr/>
                    <a:lstStyle/>
                    <a:p>
                      <a:pPr algn="r"/>
                      <a:r>
                        <a:rPr lang="en-US" altLang="zh-CN" b="1" dirty="0"/>
                        <a:t>size</a:t>
                      </a:r>
                      <a:endParaRPr lang="zh-CN" altLang="en-US" b="1" dirty="0"/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00"/>
                        </a:lnSpc>
                      </a:pPr>
                      <a:endParaRPr lang="zh-CN" altLang="en-US" b="1" dirty="0">
                        <a:solidFill>
                          <a:srgbClr val="041ABC"/>
                        </a:solidFill>
                      </a:endParaRPr>
                    </a:p>
                  </a:txBody>
                  <a:tcPr marL="36000" marR="36000" marT="36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183772"/>
                  </a:ext>
                </a:extLst>
              </a:tr>
            </a:tbl>
          </a:graphicData>
        </a:graphic>
      </p:graphicFrame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059B26A4-873F-58F3-E628-100FE4AE5614}"/>
              </a:ext>
            </a:extLst>
          </p:cNvPr>
          <p:cNvCxnSpPr>
            <a:cxnSpLocks/>
          </p:cNvCxnSpPr>
          <p:nvPr/>
        </p:nvCxnSpPr>
        <p:spPr>
          <a:xfrm>
            <a:off x="7175950" y="2237469"/>
            <a:ext cx="218665" cy="108953"/>
          </a:xfrm>
          <a:prstGeom prst="straightConnector1">
            <a:avLst/>
          </a:prstGeom>
          <a:ln>
            <a:solidFill>
              <a:srgbClr val="C00000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C4B42BB2-D06A-E7DB-8319-97AD75032158}"/>
              </a:ext>
            </a:extLst>
          </p:cNvPr>
          <p:cNvSpPr txBox="1"/>
          <p:nvPr/>
        </p:nvSpPr>
        <p:spPr>
          <a:xfrm>
            <a:off x="6963071" y="2098969"/>
            <a:ext cx="28386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T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32A80EC8-1797-A4F6-3B05-5E604A32EC1D}"/>
              </a:ext>
            </a:extLst>
          </p:cNvPr>
          <p:cNvGraphicFramePr>
            <a:graphicFrameLocks noGrp="1"/>
          </p:cNvGraphicFramePr>
          <p:nvPr/>
        </p:nvGraphicFramePr>
        <p:xfrm>
          <a:off x="7991901" y="2060742"/>
          <a:ext cx="168663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7452">
                  <a:extLst>
                    <a:ext uri="{9D8B030D-6E8A-4147-A177-3AD203B41FA5}">
                      <a16:colId xmlns:a16="http://schemas.microsoft.com/office/drawing/2014/main" val="3548914742"/>
                    </a:ext>
                  </a:extLst>
                </a:gridCol>
                <a:gridCol w="374904">
                  <a:extLst>
                    <a:ext uri="{9D8B030D-6E8A-4147-A177-3AD203B41FA5}">
                      <a16:colId xmlns:a16="http://schemas.microsoft.com/office/drawing/2014/main" val="2637519387"/>
                    </a:ext>
                  </a:extLst>
                </a:gridCol>
                <a:gridCol w="187452">
                  <a:extLst>
                    <a:ext uri="{9D8B030D-6E8A-4147-A177-3AD203B41FA5}">
                      <a16:colId xmlns:a16="http://schemas.microsoft.com/office/drawing/2014/main" val="174924325"/>
                    </a:ext>
                  </a:extLst>
                </a:gridCol>
                <a:gridCol w="187452">
                  <a:extLst>
                    <a:ext uri="{9D8B030D-6E8A-4147-A177-3AD203B41FA5}">
                      <a16:colId xmlns:a16="http://schemas.microsoft.com/office/drawing/2014/main" val="3075925709"/>
                    </a:ext>
                  </a:extLst>
                </a:gridCol>
                <a:gridCol w="374904">
                  <a:extLst>
                    <a:ext uri="{9D8B030D-6E8A-4147-A177-3AD203B41FA5}">
                      <a16:colId xmlns:a16="http://schemas.microsoft.com/office/drawing/2014/main" val="1323277263"/>
                    </a:ext>
                  </a:extLst>
                </a:gridCol>
                <a:gridCol w="187233">
                  <a:extLst>
                    <a:ext uri="{9D8B030D-6E8A-4147-A177-3AD203B41FA5}">
                      <a16:colId xmlns:a16="http://schemas.microsoft.com/office/drawing/2014/main" val="1856297151"/>
                    </a:ext>
                  </a:extLst>
                </a:gridCol>
                <a:gridCol w="187233">
                  <a:extLst>
                    <a:ext uri="{9D8B030D-6E8A-4147-A177-3AD203B41FA5}">
                      <a16:colId xmlns:a16="http://schemas.microsoft.com/office/drawing/2014/main" val="3102578184"/>
                    </a:ext>
                  </a:extLst>
                </a:gridCol>
              </a:tblGrid>
              <a:tr h="91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6</a:t>
                      </a:r>
                      <a:endParaRPr lang="zh-CN" altLang="en-US" sz="14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7</a:t>
                      </a:r>
                      <a:endParaRPr lang="zh-CN" altLang="en-US" sz="14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15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16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87601202"/>
                  </a:ext>
                </a:extLst>
              </a:tr>
              <a:tr h="257321"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E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E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E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E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E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E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E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56128"/>
                  </a:ext>
                </a:extLst>
              </a:tr>
            </a:tbl>
          </a:graphicData>
        </a:graphic>
      </p:graphicFrame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A2969C7B-4E9A-334A-4BC5-1EC7D1BCD113}"/>
              </a:ext>
            </a:extLst>
          </p:cNvPr>
          <p:cNvCxnSpPr>
            <a:cxnSpLocks/>
          </p:cNvCxnSpPr>
          <p:nvPr/>
        </p:nvCxnSpPr>
        <p:spPr>
          <a:xfrm>
            <a:off x="7556943" y="2475651"/>
            <a:ext cx="434959" cy="0"/>
          </a:xfrm>
          <a:prstGeom prst="straightConnector1">
            <a:avLst/>
          </a:prstGeom>
          <a:ln>
            <a:solidFill>
              <a:srgbClr val="0070C0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A68F9AF3-925F-0995-96F3-BAE2805BC7B7}"/>
              </a:ext>
            </a:extLst>
          </p:cNvPr>
          <p:cNvGraphicFramePr>
            <a:graphicFrameLocks noGrp="1"/>
          </p:cNvGraphicFramePr>
          <p:nvPr/>
        </p:nvGraphicFramePr>
        <p:xfrm>
          <a:off x="7437849" y="1098241"/>
          <a:ext cx="75053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7634">
                  <a:extLst>
                    <a:ext uri="{9D8B030D-6E8A-4147-A177-3AD203B41FA5}">
                      <a16:colId xmlns:a16="http://schemas.microsoft.com/office/drawing/2014/main" val="75618317"/>
                    </a:ext>
                  </a:extLst>
                </a:gridCol>
                <a:gridCol w="375268">
                  <a:extLst>
                    <a:ext uri="{9D8B030D-6E8A-4147-A177-3AD203B41FA5}">
                      <a16:colId xmlns:a16="http://schemas.microsoft.com/office/drawing/2014/main" val="3697732233"/>
                    </a:ext>
                  </a:extLst>
                </a:gridCol>
                <a:gridCol w="187634">
                  <a:extLst>
                    <a:ext uri="{9D8B030D-6E8A-4147-A177-3AD203B41FA5}">
                      <a16:colId xmlns:a16="http://schemas.microsoft.com/office/drawing/2014/main" val="2968236830"/>
                    </a:ext>
                  </a:extLst>
                </a:gridCol>
              </a:tblGrid>
              <a:tr h="257321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A</a:t>
                      </a:r>
                      <a:endParaRPr lang="zh-CN" altLang="en-US" b="1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L</a:t>
                      </a:r>
                      <a:endParaRPr lang="zh-CN" altLang="en-US" b="1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9453495"/>
                  </a:ext>
                </a:extLst>
              </a:tr>
            </a:tbl>
          </a:graphicData>
        </a:graphic>
      </p:graphicFrame>
      <p:graphicFrame>
        <p:nvGraphicFramePr>
          <p:cNvPr id="28" name="表格 27">
            <a:extLst>
              <a:ext uri="{FF2B5EF4-FFF2-40B4-BE49-F238E27FC236}">
                <a16:creationId xmlns:a16="http://schemas.microsoft.com/office/drawing/2014/main" id="{715411CD-5A01-8AAD-2EE9-B47A72B790A6}"/>
              </a:ext>
            </a:extLst>
          </p:cNvPr>
          <p:cNvGraphicFramePr>
            <a:graphicFrameLocks noGrp="1"/>
          </p:cNvGraphicFramePr>
          <p:nvPr/>
        </p:nvGraphicFramePr>
        <p:xfrm>
          <a:off x="10328173" y="1097193"/>
          <a:ext cx="75053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7634">
                  <a:extLst>
                    <a:ext uri="{9D8B030D-6E8A-4147-A177-3AD203B41FA5}">
                      <a16:colId xmlns:a16="http://schemas.microsoft.com/office/drawing/2014/main" val="2819816629"/>
                    </a:ext>
                  </a:extLst>
                </a:gridCol>
                <a:gridCol w="375268">
                  <a:extLst>
                    <a:ext uri="{9D8B030D-6E8A-4147-A177-3AD203B41FA5}">
                      <a16:colId xmlns:a16="http://schemas.microsoft.com/office/drawing/2014/main" val="144353196"/>
                    </a:ext>
                  </a:extLst>
                </a:gridCol>
                <a:gridCol w="187634">
                  <a:extLst>
                    <a:ext uri="{9D8B030D-6E8A-4147-A177-3AD203B41FA5}">
                      <a16:colId xmlns:a16="http://schemas.microsoft.com/office/drawing/2014/main" val="2126859392"/>
                    </a:ext>
                  </a:extLst>
                </a:gridCol>
              </a:tblGrid>
              <a:tr h="257321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R</a:t>
                      </a:r>
                      <a:endParaRPr lang="zh-CN" altLang="en-US" b="1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Y</a:t>
                      </a:r>
                      <a:endParaRPr lang="zh-CN" altLang="en-US" b="1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152755"/>
                  </a:ext>
                </a:extLst>
              </a:tr>
            </a:tbl>
          </a:graphicData>
        </a:graphic>
      </p:graphicFrame>
      <p:sp>
        <p:nvSpPr>
          <p:cNvPr id="29" name="文本框 10">
            <a:extLst>
              <a:ext uri="{FF2B5EF4-FFF2-40B4-BE49-F238E27FC236}">
                <a16:creationId xmlns:a16="http://schemas.microsoft.com/office/drawing/2014/main" id="{4FB3BC44-950C-DF45-05B2-1FD168D53B0E}"/>
              </a:ext>
            </a:extLst>
          </p:cNvPr>
          <p:cNvSpPr txBox="1"/>
          <p:nvPr/>
        </p:nvSpPr>
        <p:spPr>
          <a:xfrm>
            <a:off x="9497869" y="2366015"/>
            <a:ext cx="170678" cy="265063"/>
          </a:xfrm>
          <a:prstGeom prst="rect">
            <a:avLst/>
          </a:prstGeom>
          <a:noFill/>
        </p:spPr>
        <p:txBody>
          <a:bodyPr wrap="square" lIns="0" tIns="36000" rIns="0" bIns="36000" rtlCol="0" anchor="b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/0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" name="文本框 10">
            <a:extLst>
              <a:ext uri="{FF2B5EF4-FFF2-40B4-BE49-F238E27FC236}">
                <a16:creationId xmlns:a16="http://schemas.microsoft.com/office/drawing/2014/main" id="{F08D5403-5DC4-02A3-41B6-97748D6366C9}"/>
              </a:ext>
            </a:extLst>
          </p:cNvPr>
          <p:cNvSpPr txBox="1"/>
          <p:nvPr/>
        </p:nvSpPr>
        <p:spPr>
          <a:xfrm>
            <a:off x="7410151" y="2662361"/>
            <a:ext cx="285603" cy="19838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16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" name="文本框 10">
            <a:extLst>
              <a:ext uri="{FF2B5EF4-FFF2-40B4-BE49-F238E27FC236}">
                <a16:creationId xmlns:a16="http://schemas.microsoft.com/office/drawing/2014/main" id="{3C2AB5A4-59E6-51AF-2EFA-7F4C73B89400}"/>
              </a:ext>
            </a:extLst>
          </p:cNvPr>
          <p:cNvSpPr txBox="1"/>
          <p:nvPr/>
        </p:nvSpPr>
        <p:spPr>
          <a:xfrm>
            <a:off x="7426145" y="2942769"/>
            <a:ext cx="267649" cy="19838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16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9706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-2.59259E-6 L 0.04518 0.18079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53" y="90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-1.11111E-6 L -0.13046 0.18102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23" y="90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9" grpId="0" animBg="1"/>
      <p:bldP spid="30" grpId="0" animBg="1"/>
      <p:bldP spid="3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 Box 3"/>
          <p:cNvSpPr txBox="1"/>
          <p:nvPr/>
        </p:nvSpPr>
        <p:spPr>
          <a:xfrm>
            <a:off x="2054226" y="228600"/>
            <a:ext cx="7284366" cy="92333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5400" dirty="0">
                <a:solidFill>
                  <a:srgbClr val="000099"/>
                </a:solidFill>
              </a:rPr>
              <a:t>4.2.4 </a:t>
            </a:r>
            <a:r>
              <a:rPr lang="zh-CN" altLang="en-US" sz="5400" dirty="0">
                <a:solidFill>
                  <a:srgbClr val="000099"/>
                </a:solidFill>
              </a:rPr>
              <a:t>串块链串存储表示</a:t>
            </a:r>
          </a:p>
        </p:txBody>
      </p:sp>
      <p:sp>
        <p:nvSpPr>
          <p:cNvPr id="35844" name="Text Box 4"/>
          <p:cNvSpPr txBox="1"/>
          <p:nvPr/>
        </p:nvSpPr>
        <p:spPr>
          <a:xfrm>
            <a:off x="2057400" y="1387475"/>
            <a:ext cx="8077200" cy="136524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sz="3600" dirty="0"/>
              <a:t>也可用链表来存储串值，链表中的数据域部分保存字符的值。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8016" y="4248786"/>
            <a:ext cx="8561705" cy="99504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2234565" y="3429001"/>
            <a:ext cx="7251700" cy="6521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/>
              <a:t>如，字符串</a:t>
            </a:r>
            <a:r>
              <a:rPr lang="en-US" altLang="zh-CN"/>
              <a:t>“shujijiegou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的表示</a:t>
            </a: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58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Text Box 4"/>
          <p:cNvSpPr txBox="1"/>
          <p:nvPr/>
        </p:nvSpPr>
        <p:spPr>
          <a:xfrm>
            <a:off x="2057400" y="1387475"/>
            <a:ext cx="8077200" cy="136524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sz="3600" dirty="0"/>
              <a:t>如果链表结点中每个结点仅仅保存少量字符信息，则存储密度较低。</a:t>
            </a:r>
          </a:p>
        </p:txBody>
      </p:sp>
      <p:sp>
        <p:nvSpPr>
          <p:cNvPr id="35845" name="Text Box 5"/>
          <p:cNvSpPr txBox="1"/>
          <p:nvPr/>
        </p:nvSpPr>
        <p:spPr>
          <a:xfrm>
            <a:off x="2199641" y="3169920"/>
            <a:ext cx="2005677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dirty="0">
                <a:solidFill>
                  <a:srgbClr val="0000FF"/>
                </a:solidFill>
              </a:rPr>
              <a:t>存储密度</a:t>
            </a:r>
            <a:r>
              <a:rPr lang="zh-CN" altLang="en-US" dirty="0"/>
              <a:t> </a:t>
            </a:r>
            <a:r>
              <a:rPr lang="en-US" altLang="zh-CN" dirty="0"/>
              <a:t>= </a:t>
            </a:r>
          </a:p>
        </p:txBody>
      </p:sp>
      <p:sp>
        <p:nvSpPr>
          <p:cNvPr id="35846" name="Line 6"/>
          <p:cNvSpPr/>
          <p:nvPr/>
        </p:nvSpPr>
        <p:spPr>
          <a:xfrm>
            <a:off x="5015865" y="3501390"/>
            <a:ext cx="441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47" name="Text Box 7"/>
          <p:cNvSpPr txBox="1"/>
          <p:nvPr/>
        </p:nvSpPr>
        <p:spPr>
          <a:xfrm>
            <a:off x="5015866" y="2925446"/>
            <a:ext cx="4354077" cy="646331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600" dirty="0">
                <a:solidFill>
                  <a:srgbClr val="1560AB"/>
                </a:solidFill>
                <a:ea typeface="隶书" panose="02010509060101010101" pitchFamily="49" charset="-122"/>
              </a:rPr>
              <a:t>数据元素所占存储位</a:t>
            </a:r>
            <a:endParaRPr lang="zh-CN" altLang="en-US" dirty="0"/>
          </a:p>
        </p:txBody>
      </p:sp>
      <p:sp>
        <p:nvSpPr>
          <p:cNvPr id="35848" name="Text Box 8"/>
          <p:cNvSpPr txBox="1"/>
          <p:nvPr/>
        </p:nvSpPr>
        <p:spPr>
          <a:xfrm>
            <a:off x="5152391" y="3458846"/>
            <a:ext cx="3890809" cy="646331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600" dirty="0">
                <a:solidFill>
                  <a:srgbClr val="1560AB"/>
                </a:solidFill>
                <a:ea typeface="隶书" panose="02010509060101010101" pitchFamily="49" charset="-122"/>
              </a:rPr>
              <a:t>实际分配的存储位</a:t>
            </a:r>
            <a:endParaRPr lang="zh-CN" altLang="en-US" dirty="0"/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58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8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8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58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58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58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58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5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5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4" grpId="0"/>
      <p:bldP spid="35845" grpId="0"/>
      <p:bldP spid="35847" grpId="0"/>
      <p:bldP spid="3584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Text Box 4"/>
          <p:cNvSpPr txBox="1"/>
          <p:nvPr/>
        </p:nvSpPr>
        <p:spPr>
          <a:xfrm>
            <a:off x="2057400" y="1387475"/>
            <a:ext cx="8077200" cy="136524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sz="3600" dirty="0"/>
              <a:t>用链表存储时，通常一个结点中存放的不是一个字符，而是一个子串。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140" y="3717291"/>
            <a:ext cx="7882890" cy="937895"/>
          </a:xfrm>
          <a:prstGeom prst="rect">
            <a:avLst/>
          </a:prstGeom>
        </p:spPr>
      </p:pic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58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1026"/>
          <p:cNvSpPr txBox="1"/>
          <p:nvPr/>
        </p:nvSpPr>
        <p:spPr>
          <a:xfrm>
            <a:off x="1416051" y="260350"/>
            <a:ext cx="8709025" cy="5575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en-US" altLang="zh-CN" sz="2000" dirty="0"/>
              <a:t> </a:t>
            </a:r>
            <a:r>
              <a:rPr lang="en-US" altLang="zh-CN" sz="3200" dirty="0"/>
              <a:t>#define  CHUNKSIZE  80  </a:t>
            </a:r>
            <a:r>
              <a:rPr lang="en-US" altLang="zh-CN" sz="2400" dirty="0">
                <a:solidFill>
                  <a:srgbClr val="0000FF"/>
                </a:solidFill>
              </a:rPr>
              <a:t>// </a:t>
            </a:r>
            <a:r>
              <a:rPr lang="zh-CN" altLang="en-US" sz="2400" dirty="0">
                <a:solidFill>
                  <a:srgbClr val="0000FF"/>
                </a:solidFill>
              </a:rPr>
              <a:t>可由用户定义的块大小</a:t>
            </a:r>
            <a:endParaRPr lang="zh-CN" altLang="en-US" sz="3200" dirty="0"/>
          </a:p>
          <a:p>
            <a:pPr eaLnBrk="1" hangingPunct="1">
              <a:lnSpc>
                <a:spcPct val="125000"/>
              </a:lnSpc>
            </a:pPr>
            <a:r>
              <a:rPr lang="zh-CN" altLang="en-US" sz="3200" dirty="0"/>
              <a:t>  </a:t>
            </a:r>
            <a:r>
              <a:rPr lang="en-US" altLang="zh-CN" sz="3200" dirty="0"/>
              <a:t>typedef  struct Chunk {  // </a:t>
            </a:r>
            <a:r>
              <a:rPr lang="zh-CN" altLang="en-US" sz="3200" dirty="0"/>
              <a:t>结点结构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sz="3200" dirty="0"/>
              <a:t>    </a:t>
            </a:r>
            <a:r>
              <a:rPr lang="en-US" altLang="zh-CN" sz="3200" dirty="0"/>
              <a:t>char  ch[CUNKSIZE];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sz="3200" dirty="0"/>
              <a:t>    struct Chunk  *next;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sz="3200" dirty="0"/>
              <a:t>  } Chunk;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sz="3200" dirty="0"/>
              <a:t>  typedef struct {  // </a:t>
            </a:r>
            <a:r>
              <a:rPr lang="zh-CN" altLang="en-US" sz="3200" dirty="0"/>
              <a:t>串的链表结构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sz="3200" dirty="0"/>
              <a:t>    </a:t>
            </a:r>
            <a:r>
              <a:rPr lang="en-US" altLang="zh-CN" sz="3200" dirty="0"/>
              <a:t>Chunk *head, *tail; // </a:t>
            </a:r>
            <a:r>
              <a:rPr lang="zh-CN" altLang="en-US" sz="3200" dirty="0"/>
              <a:t>串的头和尾指针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sz="3200" dirty="0"/>
              <a:t>     </a:t>
            </a:r>
            <a:r>
              <a:rPr lang="en-US" altLang="zh-CN" sz="3200" dirty="0"/>
              <a:t>int   curlen;     // </a:t>
            </a:r>
            <a:r>
              <a:rPr lang="zh-CN" altLang="en-US" sz="3200" dirty="0"/>
              <a:t>串的当前长度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sz="3200" dirty="0"/>
              <a:t>  </a:t>
            </a:r>
            <a:r>
              <a:rPr lang="en-US" altLang="zh-CN" sz="3200" dirty="0"/>
              <a:t>} *</a:t>
            </a:r>
            <a:r>
              <a:rPr lang="en-US" altLang="zh-CN" sz="3200" dirty="0" err="1"/>
              <a:t>CLStr</a:t>
            </a:r>
            <a:r>
              <a:rPr lang="en-US" altLang="zh-CN" sz="3200" dirty="0"/>
              <a:t>;</a:t>
            </a: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2">
            <a:hlinkClick r:id="" action="ppaction://hlinkshowjump?jump=firstslide"/>
          </p:cNvPr>
          <p:cNvSpPr txBox="1"/>
          <p:nvPr/>
        </p:nvSpPr>
        <p:spPr>
          <a:xfrm>
            <a:off x="1706564" y="2263776"/>
            <a:ext cx="8732837" cy="28416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en-US" altLang="zh-CN" sz="3600" dirty="0"/>
              <a:t>       </a:t>
            </a:r>
            <a:r>
              <a:rPr lang="zh-CN" altLang="en-US" sz="3600" dirty="0">
                <a:solidFill>
                  <a:srgbClr val="871B09"/>
                </a:solidFill>
              </a:rPr>
              <a:t>例如</a:t>
            </a:r>
            <a:r>
              <a:rPr lang="en-US" altLang="zh-CN" sz="3600" dirty="0">
                <a:solidFill>
                  <a:srgbClr val="871B09"/>
                </a:solidFill>
              </a:rPr>
              <a:t>:</a:t>
            </a:r>
            <a:r>
              <a:rPr lang="en-US" altLang="zh-CN" sz="3600" dirty="0"/>
              <a:t> </a:t>
            </a:r>
            <a:r>
              <a:rPr lang="zh-CN" altLang="en-US" sz="3600" dirty="0">
                <a:solidFill>
                  <a:srgbClr val="000099"/>
                </a:solidFill>
              </a:rPr>
              <a:t>在编辑系统中，整个文本编辑区可以看成是一个串，每一行是一个子串，构成一个结点。即</a:t>
            </a:r>
            <a:r>
              <a:rPr lang="en-US" altLang="zh-CN" sz="3600" dirty="0">
                <a:solidFill>
                  <a:srgbClr val="000099"/>
                </a:solidFill>
              </a:rPr>
              <a:t>: </a:t>
            </a:r>
            <a:r>
              <a:rPr lang="zh-CN" altLang="en-US" sz="3600" dirty="0">
                <a:solidFill>
                  <a:srgbClr val="000099"/>
                </a:solidFill>
              </a:rPr>
              <a:t>同一行的串用定长结构</a:t>
            </a:r>
            <a:r>
              <a:rPr lang="en-US" altLang="zh-CN" sz="3600" dirty="0">
                <a:solidFill>
                  <a:srgbClr val="000099"/>
                </a:solidFill>
              </a:rPr>
              <a:t>(80</a:t>
            </a:r>
            <a:r>
              <a:rPr lang="zh-CN" altLang="en-US" sz="3600" dirty="0">
                <a:solidFill>
                  <a:srgbClr val="000099"/>
                </a:solidFill>
              </a:rPr>
              <a:t>个字符</a:t>
            </a:r>
            <a:r>
              <a:rPr lang="en-US" altLang="zh-CN" sz="3600" dirty="0">
                <a:solidFill>
                  <a:srgbClr val="000099"/>
                </a:solidFill>
              </a:rPr>
              <a:t>),   </a:t>
            </a:r>
            <a:r>
              <a:rPr lang="zh-CN" altLang="en-US" sz="3600" dirty="0">
                <a:solidFill>
                  <a:srgbClr val="000099"/>
                </a:solidFill>
              </a:rPr>
              <a:t>行和行之间用指针相联接。</a:t>
            </a:r>
            <a:endParaRPr lang="zh-CN" altLang="en-US" sz="3600" dirty="0"/>
          </a:p>
        </p:txBody>
      </p:sp>
      <p:sp>
        <p:nvSpPr>
          <p:cNvPr id="50179" name="Text Box 8"/>
          <p:cNvSpPr txBox="1"/>
          <p:nvPr/>
        </p:nvSpPr>
        <p:spPr>
          <a:xfrm>
            <a:off x="2041526" y="441325"/>
            <a:ext cx="8245475" cy="58150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dirty="0">
                <a:solidFill>
                  <a:schemeClr val="tx2"/>
                </a:solidFill>
              </a:rPr>
              <a:t>实际应用时，可以根据问题所需来设置结点的大小。</a:t>
            </a:r>
            <a:endParaRPr lang="zh-CN" altLang="en-US" dirty="0">
              <a:solidFill>
                <a:srgbClr val="000099"/>
              </a:solidFill>
            </a:endParaRPr>
          </a:p>
        </p:txBody>
      </p:sp>
      <p:sp>
        <p:nvSpPr>
          <p:cNvPr id="36873" name="AutoShape 9">
            <a:hlinkClick r:id="rId2" action="ppaction://hlinksldjump"/>
          </p:cNvPr>
          <p:cNvSpPr/>
          <p:nvPr/>
        </p:nvSpPr>
        <p:spPr>
          <a:xfrm>
            <a:off x="10058400" y="6248400"/>
            <a:ext cx="381000" cy="381000"/>
          </a:xfrm>
          <a:prstGeom prst="actionButtonBackPrevious">
            <a:avLst/>
          </a:prstGeom>
          <a:solidFill>
            <a:schemeClr val="bg2"/>
          </a:solidFill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68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6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1844675"/>
            <a:ext cx="9144000" cy="2736850"/>
          </a:xfrm>
        </p:spPr>
        <p:txBody>
          <a:bodyPr vert="horz" wrap="square" lIns="91440" tIns="45720" rIns="91440" bIns="45720" numCol="1" anchor="ctr" anchorCtr="0" compatLnSpc="1"/>
          <a:lstStyle/>
          <a:p>
            <a:pPr algn="ctr" eaLnBrk="1" hangingPunct="1">
              <a:defRPr/>
            </a:pPr>
            <a:r>
              <a:rPr kumimoji="1" lang="en-US" altLang="zh-CN" sz="60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4.3 </a:t>
            </a:r>
            <a:r>
              <a:rPr kumimoji="1" lang="zh-CN" altLang="en-US" sz="60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字符串模式匹配算法</a:t>
            </a: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标题 2"/>
          <p:cNvSpPr>
            <a:spLocks noGrp="1"/>
          </p:cNvSpPr>
          <p:nvPr>
            <p:ph type="title"/>
          </p:nvPr>
        </p:nvSpPr>
        <p:spPr>
          <a:xfrm>
            <a:off x="551384" y="7849"/>
            <a:ext cx="10515600" cy="1325563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dirty="0">
                <a:latin typeface="+mj-lt"/>
                <a:ea typeface="+mj-ea"/>
                <a:cs typeface="+mj-cs"/>
              </a:rPr>
              <a:t>模式匹配</a:t>
            </a:r>
          </a:p>
        </p:txBody>
      </p:sp>
      <p:sp>
        <p:nvSpPr>
          <p:cNvPr id="52227" name="内容占位符 3"/>
          <p:cNvSpPr>
            <a:spLocks noGrp="1"/>
          </p:cNvSpPr>
          <p:nvPr>
            <p:ph idx="1"/>
          </p:nvPr>
        </p:nvSpPr>
        <p:spPr>
          <a:xfrm>
            <a:off x="275692" y="1268760"/>
            <a:ext cx="11640616" cy="4908203"/>
          </a:xfrm>
        </p:spPr>
        <p:txBody>
          <a:bodyPr vert="horz" wrap="square" lIns="91440" tIns="45720" rIns="91440" bIns="45720" anchor="t" anchorCtr="0">
            <a:noAutofit/>
          </a:bodyPr>
          <a:lstStyle/>
          <a:p>
            <a:pPr marL="0" indent="0" eaLnBrk="1" hangingPunct="1">
              <a:lnSpc>
                <a:spcPct val="110000"/>
              </a:lnSpc>
            </a:pPr>
            <a:r>
              <a:rPr lang="zh-CN" altLang="en-US" sz="3200" dirty="0">
                <a:latin typeface="宋体" panose="02010600030101010101" pitchFamily="2" charset="-122"/>
              </a:rPr>
              <a:t>子串在主串中的定位称为</a:t>
            </a:r>
            <a:r>
              <a:rPr lang="zh-CN" altLang="en-US" sz="3200" dirty="0">
                <a:solidFill>
                  <a:srgbClr val="FF0000"/>
                </a:solidFill>
                <a:latin typeface="宋体" panose="02010600030101010101" pitchFamily="2" charset="-122"/>
              </a:rPr>
              <a:t>模式匹配</a:t>
            </a:r>
            <a:r>
              <a:rPr lang="zh-CN" altLang="en-US" sz="3200" dirty="0">
                <a:latin typeface="宋体" panose="02010600030101010101" pitchFamily="2" charset="-122"/>
              </a:rPr>
              <a:t>或串匹配</a:t>
            </a:r>
            <a:r>
              <a:rPr lang="en-US" altLang="zh-CN" sz="3200" dirty="0">
                <a:latin typeface="宋体" panose="02010600030101010101" pitchFamily="2" charset="-122"/>
              </a:rPr>
              <a:t>(</a:t>
            </a:r>
            <a:r>
              <a:rPr lang="zh-CN" altLang="en-US" sz="3200" dirty="0">
                <a:latin typeface="宋体" panose="02010600030101010101" pitchFamily="2" charset="-122"/>
              </a:rPr>
              <a:t>字符串匹配</a:t>
            </a:r>
            <a:r>
              <a:rPr lang="en-US" altLang="zh-CN" sz="3200" dirty="0">
                <a:latin typeface="宋体" panose="02010600030101010101" pitchFamily="2" charset="-122"/>
              </a:rPr>
              <a:t>) </a:t>
            </a:r>
          </a:p>
          <a:p>
            <a:pPr marL="400050" lvl="1" indent="0" eaLnBrk="1" hangingPunct="1">
              <a:lnSpc>
                <a:spcPct val="110000"/>
              </a:lnSpc>
            </a:pPr>
            <a:r>
              <a:rPr lang="zh-CN" altLang="en-US" sz="2800" dirty="0">
                <a:latin typeface="宋体" panose="02010600030101010101" pitchFamily="2" charset="-122"/>
              </a:rPr>
              <a:t>模式匹配成功是指在主串</a:t>
            </a:r>
            <a:r>
              <a:rPr lang="en-US" altLang="zh-CN" sz="2800" dirty="0"/>
              <a:t>S</a:t>
            </a:r>
            <a:r>
              <a:rPr lang="zh-CN" altLang="en-US" sz="2800" dirty="0">
                <a:latin typeface="宋体" panose="02010600030101010101" pitchFamily="2" charset="-122"/>
              </a:rPr>
              <a:t>中能够找到模式串</a:t>
            </a:r>
            <a:r>
              <a:rPr lang="en-US" altLang="zh-CN" sz="2800" dirty="0"/>
              <a:t>T</a:t>
            </a:r>
          </a:p>
          <a:p>
            <a:pPr marL="400050" lvl="1" indent="0" eaLnBrk="1" hangingPunct="1">
              <a:lnSpc>
                <a:spcPct val="110000"/>
              </a:lnSpc>
            </a:pPr>
            <a:r>
              <a:rPr lang="zh-CN" altLang="en-US" sz="2800" dirty="0">
                <a:latin typeface="宋体" panose="02010600030101010101" pitchFamily="2" charset="-122"/>
              </a:rPr>
              <a:t>否则，称模式串</a:t>
            </a:r>
            <a:r>
              <a:rPr lang="en-US" altLang="zh-CN" sz="2800" dirty="0"/>
              <a:t>T</a:t>
            </a:r>
            <a:r>
              <a:rPr lang="zh-CN" altLang="en-US" sz="2800" dirty="0">
                <a:latin typeface="宋体" panose="02010600030101010101" pitchFamily="2" charset="-122"/>
              </a:rPr>
              <a:t>在主串</a:t>
            </a:r>
            <a:r>
              <a:rPr lang="en-US" altLang="zh-CN" sz="2800" dirty="0"/>
              <a:t>S</a:t>
            </a:r>
            <a:r>
              <a:rPr lang="zh-CN" altLang="en-US" sz="2800" dirty="0">
                <a:latin typeface="宋体" panose="02010600030101010101" pitchFamily="2" charset="-122"/>
              </a:rPr>
              <a:t>中不存在。</a:t>
            </a:r>
          </a:p>
          <a:p>
            <a:pPr marL="400050" lvl="1" indent="0" eaLnBrk="1" hangingPunct="1">
              <a:lnSpc>
                <a:spcPct val="110000"/>
              </a:lnSpc>
              <a:buNone/>
            </a:pPr>
            <a:r>
              <a:rPr lang="zh-CN" altLang="en-US" sz="2800" dirty="0">
                <a:latin typeface="宋体" panose="02010600030101010101" pitchFamily="2" charset="-122"/>
              </a:rPr>
              <a:t>如：主串</a:t>
            </a:r>
            <a:r>
              <a:rPr lang="en-US" altLang="zh-CN" sz="2800" dirty="0">
                <a:latin typeface="宋体" panose="02010600030101010101" pitchFamily="2" charset="-122"/>
              </a:rPr>
              <a:t>S = “FUJIAN NORMAL UNIVERSITY”</a:t>
            </a:r>
          </a:p>
          <a:p>
            <a:pPr marL="400050" lvl="1" indent="0" eaLnBrk="1" hangingPunct="1">
              <a:lnSpc>
                <a:spcPct val="110000"/>
              </a:lnSpc>
              <a:buNone/>
            </a:pPr>
            <a:r>
              <a:rPr lang="en-US" altLang="zh-CN" sz="2800" dirty="0">
                <a:latin typeface="宋体" panose="02010600030101010101" pitchFamily="2" charset="-122"/>
              </a:rPr>
              <a:t>    </a:t>
            </a:r>
            <a:r>
              <a:rPr lang="zh-CN" altLang="en-US" sz="2800" dirty="0">
                <a:latin typeface="宋体" panose="02010600030101010101" pitchFamily="2" charset="-122"/>
              </a:rPr>
              <a:t>模式串</a:t>
            </a:r>
            <a:r>
              <a:rPr lang="en-US" altLang="zh-CN" sz="2800" dirty="0">
                <a:latin typeface="宋体" panose="02010600030101010101" pitchFamily="2" charset="-122"/>
              </a:rPr>
              <a:t>T1 = “UNIVERSITY” </a:t>
            </a:r>
          </a:p>
          <a:p>
            <a:pPr marL="400050" lvl="1" indent="0" eaLnBrk="1" hangingPunct="1">
              <a:lnSpc>
                <a:spcPct val="110000"/>
              </a:lnSpc>
              <a:buNone/>
            </a:pPr>
            <a:r>
              <a:rPr lang="en-US" altLang="zh-CN" sz="2800" dirty="0">
                <a:latin typeface="宋体" panose="02010600030101010101" pitchFamily="2" charset="-122"/>
              </a:rPr>
              <a:t>    </a:t>
            </a:r>
            <a:r>
              <a:rPr lang="zh-CN" altLang="en-US" sz="2800" dirty="0">
                <a:latin typeface="宋体" panose="02010600030101010101" pitchFamily="2" charset="-122"/>
              </a:rPr>
              <a:t>模式串</a:t>
            </a:r>
            <a:r>
              <a:rPr lang="en-US" altLang="zh-CN" sz="2800" dirty="0">
                <a:latin typeface="宋体" panose="02010600030101010101" pitchFamily="2" charset="-122"/>
              </a:rPr>
              <a:t>T2 = “SCHOOL”</a:t>
            </a:r>
          </a:p>
          <a:p>
            <a:pPr marL="400050" lvl="1" indent="0" eaLnBrk="1" hangingPunct="1">
              <a:lnSpc>
                <a:spcPct val="110000"/>
              </a:lnSpc>
              <a:buNone/>
            </a:pPr>
            <a:r>
              <a:rPr lang="en-US" altLang="zh-CN" sz="2800" dirty="0">
                <a:latin typeface="宋体" panose="02010600030101010101" pitchFamily="2" charset="-122"/>
              </a:rPr>
              <a:t>    </a:t>
            </a:r>
            <a:r>
              <a:rPr lang="zh-CN" altLang="en-US" sz="2800" dirty="0">
                <a:latin typeface="宋体" panose="02010600030101010101" pitchFamily="2" charset="-122"/>
              </a:rPr>
              <a:t>经模式匹配，模式串</a:t>
            </a:r>
            <a:r>
              <a:rPr lang="en-US" altLang="zh-CN" sz="2800" dirty="0">
                <a:latin typeface="宋体" panose="02010600030101010101" pitchFamily="2" charset="-122"/>
              </a:rPr>
              <a:t>T1</a:t>
            </a:r>
            <a:r>
              <a:rPr lang="zh-CN" altLang="en-US" sz="2800" dirty="0">
                <a:latin typeface="宋体" panose="02010600030101010101" pitchFamily="2" charset="-122"/>
              </a:rPr>
              <a:t>在主串</a:t>
            </a:r>
            <a:r>
              <a:rPr lang="en-US" altLang="zh-CN" sz="2800" dirty="0">
                <a:latin typeface="宋体" panose="02010600030101010101" pitchFamily="2" charset="-122"/>
              </a:rPr>
              <a:t>S</a:t>
            </a:r>
            <a:r>
              <a:rPr lang="zh-CN" altLang="en-US" sz="2800" dirty="0">
                <a:latin typeface="宋体" panose="02010600030101010101" pitchFamily="2" charset="-122"/>
              </a:rPr>
              <a:t>中的位置是</a:t>
            </a:r>
            <a:r>
              <a:rPr lang="en-US" altLang="zh-CN" sz="2800" dirty="0">
                <a:latin typeface="宋体" panose="02010600030101010101" pitchFamily="2" charset="-122"/>
              </a:rPr>
              <a:t>15</a:t>
            </a:r>
            <a:r>
              <a:rPr lang="zh-CN" altLang="en-US" sz="2800" dirty="0">
                <a:latin typeface="宋体" panose="02010600030101010101" pitchFamily="2" charset="-122"/>
              </a:rPr>
              <a:t>，</a:t>
            </a:r>
            <a:r>
              <a:rPr lang="en-US" altLang="zh-CN" sz="2800" dirty="0">
                <a:latin typeface="宋体" panose="02010600030101010101" pitchFamily="2" charset="-122"/>
              </a:rPr>
              <a:t>T2</a:t>
            </a:r>
            <a:r>
              <a:rPr lang="zh-CN" altLang="en-US" sz="2800" dirty="0">
                <a:latin typeface="宋体" panose="02010600030101010101" pitchFamily="2" charset="-122"/>
              </a:rPr>
              <a:t>在</a:t>
            </a:r>
            <a:r>
              <a:rPr lang="en-US" altLang="zh-CN" sz="2800" dirty="0">
                <a:latin typeface="宋体" panose="02010600030101010101" pitchFamily="2" charset="-122"/>
              </a:rPr>
              <a:t>S</a:t>
            </a:r>
            <a:r>
              <a:rPr lang="zh-CN" altLang="en-US" sz="2800" dirty="0">
                <a:latin typeface="宋体" panose="02010600030101010101" pitchFamily="2" charset="-122"/>
              </a:rPr>
              <a:t>中不存在。</a:t>
            </a:r>
            <a:endParaRPr lang="en-US" altLang="zh-CN" sz="2800" dirty="0">
              <a:latin typeface="宋体" panose="02010600030101010101" pitchFamily="2" charset="-122"/>
            </a:endParaRPr>
          </a:p>
          <a:p>
            <a:pPr marL="400050" lvl="1" indent="0" eaLnBrk="1" hangingPunct="1">
              <a:lnSpc>
                <a:spcPct val="110000"/>
              </a:lnSpc>
              <a:buNone/>
            </a:pPr>
            <a:r>
              <a:rPr lang="en-US" altLang="zh-CN" sz="2800" dirty="0">
                <a:latin typeface="宋体" panose="02010600030101010101" pitchFamily="2" charset="-122"/>
              </a:rPr>
              <a:t>         </a:t>
            </a:r>
            <a:endParaRPr lang="zh-CN" altLang="en-US" sz="2800" dirty="0">
              <a:latin typeface="宋体" panose="02010600030101010101" pitchFamily="2" charset="-122"/>
            </a:endParaRPr>
          </a:p>
          <a:p>
            <a:pPr marL="0" indent="0" eaLnBrk="1" hangingPunct="1">
              <a:lnSpc>
                <a:spcPct val="110000"/>
              </a:lnSpc>
            </a:pPr>
            <a:r>
              <a:rPr lang="zh-CN" altLang="en-US" sz="3200" dirty="0">
                <a:latin typeface="宋体" panose="02010600030101010101" pitchFamily="2" charset="-122"/>
              </a:rPr>
              <a:t>模式匹配的应用在非常广泛</a:t>
            </a:r>
            <a:endParaRPr lang="en-US" altLang="zh-CN" sz="3200" dirty="0">
              <a:latin typeface="宋体" panose="02010600030101010101" pitchFamily="2" charset="-122"/>
            </a:endParaRPr>
          </a:p>
          <a:p>
            <a:pPr marL="400050" lvl="1" indent="0" eaLnBrk="1" hangingPunct="1">
              <a:lnSpc>
                <a:spcPct val="110000"/>
              </a:lnSpc>
            </a:pPr>
            <a:r>
              <a:rPr lang="zh-CN" altLang="en-US" sz="2800" dirty="0">
                <a:latin typeface="宋体" panose="02010600030101010101" pitchFamily="2" charset="-122"/>
              </a:rPr>
              <a:t>在文本编辑程序中，查找某一特定单词在文本中出现的位置</a:t>
            </a: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010" name="Rectangle 2"/>
          <p:cNvSpPr>
            <a:spLocks noGrp="1" noChangeArrowheads="1"/>
          </p:cNvSpPr>
          <p:nvPr>
            <p:ph type="title"/>
          </p:nvPr>
        </p:nvSpPr>
        <p:spPr>
          <a:xfrm>
            <a:off x="2208213" y="260350"/>
            <a:ext cx="7772400" cy="1143000"/>
          </a:xfrm>
        </p:spPr>
        <p:txBody>
          <a:bodyPr vert="horz" wrap="square" lIns="91440" tIns="45720" rIns="91440" bIns="45720" numCol="1" anchor="ctr" anchorCtr="0" compatLnSpc="1"/>
          <a:lstStyle/>
          <a:p>
            <a:pPr algn="l" eaLnBrk="1" hangingPunct="1">
              <a:defRPr/>
            </a:pPr>
            <a:r>
              <a:rPr kumimoji="1" lang="zh-CN" altLang="en-US" sz="4400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一、简单字符串模式匹配算法</a:t>
            </a:r>
            <a:r>
              <a:rPr kumimoji="1" lang="zh-CN" altLang="en-US" sz="44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695401" y="1341439"/>
            <a:ext cx="9577314" cy="4754563"/>
          </a:xfrm>
        </p:spPr>
        <p:txBody>
          <a:bodyPr vert="horz" wrap="square" lIns="91440" tIns="45720" rIns="91440" bIns="45720" numCol="1" anchor="t" anchorCtr="0" compatLnSpc="1">
            <a:normAutofit lnSpcReduction="10000"/>
          </a:bodyPr>
          <a:lstStyle/>
          <a:p>
            <a:pPr marL="0" indent="0" eaLnBrk="1" hangingPunct="1">
              <a:lnSpc>
                <a:spcPct val="110000"/>
              </a:lnSpc>
              <a:buNone/>
              <a:defRPr/>
            </a:pPr>
            <a:r>
              <a:rPr kumimoji="1" lang="zh-CN" altLang="en-US" sz="4000" dirty="0"/>
              <a:t>设</a:t>
            </a:r>
            <a:r>
              <a:rPr kumimoji="1" lang="en-US" altLang="zh-CN" sz="4000" dirty="0"/>
              <a:t>T</a:t>
            </a:r>
            <a:r>
              <a:rPr kumimoji="1" lang="zh-CN" altLang="en-US" sz="4000" dirty="0"/>
              <a:t>为目标串，</a:t>
            </a:r>
            <a:r>
              <a:rPr kumimoji="1" lang="en-US" altLang="zh-CN" sz="4000" dirty="0"/>
              <a:t>P</a:t>
            </a:r>
            <a:r>
              <a:rPr kumimoji="1" lang="zh-CN" altLang="en-US" sz="4000" dirty="0"/>
              <a:t>为模式串</a:t>
            </a:r>
            <a:r>
              <a:rPr kumimoji="1" lang="en-US" altLang="zh-CN" sz="4000" dirty="0"/>
              <a:t>/</a:t>
            </a:r>
            <a:r>
              <a:rPr kumimoji="1" lang="zh-CN" altLang="en-US" sz="4000" dirty="0"/>
              <a:t>子串，且不妨设：</a:t>
            </a:r>
          </a:p>
          <a:p>
            <a:pPr marL="533400" lvl="1" indent="0" eaLnBrk="1" hangingPunct="1">
              <a:lnSpc>
                <a:spcPct val="110000"/>
              </a:lnSpc>
              <a:buNone/>
              <a:defRPr/>
            </a:pPr>
            <a:r>
              <a:rPr kumimoji="1" lang="en-US" altLang="zh-CN" sz="3600" dirty="0"/>
              <a:t>T=</a:t>
            </a:r>
            <a:r>
              <a:rPr kumimoji="1" lang="en-US" altLang="zh-CN" sz="3600" dirty="0">
                <a:latin typeface="Arial" panose="020B0604020202020204"/>
              </a:rPr>
              <a:t>“</a:t>
            </a:r>
            <a:r>
              <a:rPr kumimoji="1" lang="en-US" altLang="zh-CN" sz="3600" dirty="0"/>
              <a:t>t</a:t>
            </a:r>
            <a:r>
              <a:rPr kumimoji="1" lang="en-US" altLang="zh-CN" sz="3600" baseline="-20000" dirty="0"/>
              <a:t>1</a:t>
            </a:r>
            <a:r>
              <a:rPr kumimoji="1" lang="en-US" altLang="zh-CN" sz="3600" dirty="0"/>
              <a:t>t</a:t>
            </a:r>
            <a:r>
              <a:rPr kumimoji="1" lang="en-US" altLang="zh-CN" sz="3600" baseline="-20000" dirty="0"/>
              <a:t>2</a:t>
            </a:r>
            <a:r>
              <a:rPr kumimoji="1" lang="en-US" altLang="zh-CN" sz="3600" dirty="0">
                <a:latin typeface="Arial" panose="020B0604020202020204"/>
              </a:rPr>
              <a:t>…</a:t>
            </a:r>
            <a:r>
              <a:rPr kumimoji="1" lang="en-US" altLang="zh-CN" sz="3600" dirty="0"/>
              <a:t>t</a:t>
            </a:r>
            <a:r>
              <a:rPr kumimoji="1" lang="en-US" altLang="zh-CN" sz="3600" baseline="-20000" dirty="0"/>
              <a:t>n</a:t>
            </a:r>
            <a:r>
              <a:rPr kumimoji="1" lang="en-US" altLang="zh-CN" sz="3600" dirty="0">
                <a:latin typeface="Arial" panose="020B0604020202020204"/>
              </a:rPr>
              <a:t>”</a:t>
            </a:r>
            <a:r>
              <a:rPr kumimoji="1" lang="en-US" altLang="zh-CN" sz="3600" dirty="0"/>
              <a:t> </a:t>
            </a:r>
            <a:r>
              <a:rPr kumimoji="1" lang="zh-CN" altLang="en-US" sz="3600" dirty="0"/>
              <a:t>， </a:t>
            </a:r>
            <a:r>
              <a:rPr kumimoji="1" lang="en-US" altLang="zh-CN" sz="3600" dirty="0"/>
              <a:t>P=</a:t>
            </a:r>
            <a:r>
              <a:rPr kumimoji="1" lang="en-US" altLang="zh-CN" sz="3600" dirty="0">
                <a:latin typeface="Arial" panose="020B0604020202020204"/>
              </a:rPr>
              <a:t>“</a:t>
            </a:r>
            <a:r>
              <a:rPr kumimoji="1" lang="en-US" altLang="zh-CN" sz="3600" dirty="0"/>
              <a:t>p</a:t>
            </a:r>
            <a:r>
              <a:rPr kumimoji="1" lang="en-US" altLang="zh-CN" sz="3600" baseline="-20000" dirty="0"/>
              <a:t>1</a:t>
            </a:r>
            <a:r>
              <a:rPr kumimoji="1" lang="en-US" altLang="zh-CN" sz="3600" dirty="0"/>
              <a:t>p</a:t>
            </a:r>
            <a:r>
              <a:rPr kumimoji="1" lang="en-US" altLang="zh-CN" sz="3600" baseline="-20000" dirty="0"/>
              <a:t>2</a:t>
            </a:r>
            <a:r>
              <a:rPr kumimoji="1" lang="en-US" altLang="zh-CN" sz="3600" dirty="0"/>
              <a:t> </a:t>
            </a:r>
            <a:r>
              <a:rPr kumimoji="1" lang="en-US" altLang="zh-CN" sz="3600" dirty="0">
                <a:latin typeface="Arial" panose="020B0604020202020204"/>
              </a:rPr>
              <a:t>…</a:t>
            </a:r>
            <a:r>
              <a:rPr kumimoji="1" lang="en-US" altLang="zh-CN" sz="3600" dirty="0"/>
              <a:t>p</a:t>
            </a:r>
            <a:r>
              <a:rPr kumimoji="1" lang="en-US" altLang="zh-CN" sz="3600" baseline="-20000" dirty="0"/>
              <a:t>m</a:t>
            </a:r>
            <a:r>
              <a:rPr kumimoji="1" lang="en-US" altLang="zh-CN" sz="3600" dirty="0">
                <a:latin typeface="Arial" panose="020B0604020202020204"/>
              </a:rPr>
              <a:t>”</a:t>
            </a:r>
            <a:r>
              <a:rPr kumimoji="1" lang="en-US" altLang="zh-CN" sz="3600" dirty="0"/>
              <a:t> </a:t>
            </a:r>
          </a:p>
          <a:p>
            <a:pPr eaLnBrk="1" hangingPunct="1">
              <a:defRPr/>
            </a:pPr>
            <a:endParaRPr kumimoji="1" lang="en-US" altLang="zh-CN" dirty="0"/>
          </a:p>
          <a:p>
            <a:pPr eaLnBrk="1" hangingPunct="1">
              <a:defRPr/>
            </a:pPr>
            <a:r>
              <a:rPr kumimoji="1" lang="zh-CN" altLang="en-US" dirty="0"/>
              <a:t>实现思想：将子串</a:t>
            </a:r>
            <a:r>
              <a:rPr kumimoji="1" lang="en-US" altLang="zh-CN" dirty="0"/>
              <a:t>P</a:t>
            </a:r>
            <a:r>
              <a:rPr kumimoji="1" lang="zh-CN" altLang="en-US" dirty="0"/>
              <a:t>从第</a:t>
            </a:r>
            <a:r>
              <a:rPr kumimoji="1" lang="en-US" altLang="zh-CN" dirty="0"/>
              <a:t>1</a:t>
            </a:r>
            <a:r>
              <a:rPr kumimoji="1" lang="zh-CN" altLang="en-US" dirty="0"/>
              <a:t>个字符起与主串</a:t>
            </a:r>
            <a:r>
              <a:rPr kumimoji="1" lang="en-US" altLang="zh-CN" dirty="0"/>
              <a:t>T</a:t>
            </a:r>
            <a:r>
              <a:rPr kumimoji="1" lang="zh-CN" altLang="en-US" dirty="0"/>
              <a:t>的第</a:t>
            </a:r>
            <a:r>
              <a:rPr kumimoji="1" lang="en-US" altLang="zh-CN" dirty="0"/>
              <a:t>pos</a:t>
            </a:r>
            <a:r>
              <a:rPr kumimoji="1" lang="zh-CN" altLang="en-US" dirty="0"/>
              <a:t>（</a:t>
            </a:r>
            <a:r>
              <a:rPr kumimoji="1" lang="en-US" altLang="zh-CN" dirty="0"/>
              <a:t> 1&lt;=pos&lt;=n-m+1 </a:t>
            </a:r>
            <a:r>
              <a:rPr kumimoji="1" lang="zh-CN" altLang="en-US" dirty="0"/>
              <a:t>）个字符起依次进行比较对应字符，如全部对应相等，则找到匹配，返回模式串</a:t>
            </a:r>
            <a:r>
              <a:rPr kumimoji="1" lang="en-US" altLang="zh-CN" dirty="0"/>
              <a:t>P</a:t>
            </a:r>
            <a:r>
              <a:rPr kumimoji="1" lang="zh-CN" altLang="en-US" dirty="0"/>
              <a:t>第</a:t>
            </a:r>
            <a:r>
              <a:rPr kumimoji="1" lang="en-US" altLang="zh-CN" dirty="0"/>
              <a:t>1</a:t>
            </a:r>
            <a:r>
              <a:rPr kumimoji="1" lang="zh-CN" altLang="en-US" dirty="0"/>
              <a:t>个字符</a:t>
            </a:r>
            <a:r>
              <a:rPr kumimoji="1" lang="en-US" altLang="zh-CN" dirty="0"/>
              <a:t>p1</a:t>
            </a:r>
            <a:r>
              <a:rPr kumimoji="1" lang="zh-CN" altLang="en-US" dirty="0"/>
              <a:t>在目标串中出现的位置</a:t>
            </a:r>
            <a:endParaRPr kumimoji="1" lang="en-US" altLang="zh-CN" dirty="0"/>
          </a:p>
          <a:p>
            <a:pPr lvl="1" eaLnBrk="1" hangingPunct="1">
              <a:defRPr/>
            </a:pPr>
            <a:r>
              <a:rPr kumimoji="1" lang="zh-CN" altLang="en-US" dirty="0"/>
              <a:t>主串中子串</a:t>
            </a:r>
            <a:r>
              <a:rPr kumimoji="1" lang="en-US" altLang="zh-CN" dirty="0"/>
              <a:t>T[pos</a:t>
            </a:r>
            <a:r>
              <a:rPr kumimoji="1" lang="en-US" altLang="zh-CN" dirty="0">
                <a:latin typeface="Arial" panose="020B0604020202020204"/>
              </a:rPr>
              <a:t>…</a:t>
            </a:r>
            <a:r>
              <a:rPr kumimoji="1" lang="en-US" altLang="zh-CN" dirty="0"/>
              <a:t>pos+m-1]</a:t>
            </a:r>
            <a:r>
              <a:rPr kumimoji="1" lang="zh-CN" altLang="en-US" dirty="0"/>
              <a:t>和模式串</a:t>
            </a:r>
            <a:r>
              <a:rPr kumimoji="1" lang="en-US" altLang="zh-CN" dirty="0"/>
              <a:t>P[1</a:t>
            </a:r>
            <a:r>
              <a:rPr kumimoji="1" lang="en-US" altLang="zh-CN" dirty="0">
                <a:latin typeface="Arial" panose="020B0604020202020204"/>
              </a:rPr>
              <a:t>…</a:t>
            </a:r>
            <a:r>
              <a:rPr kumimoji="1" lang="en-US" altLang="zh-CN" dirty="0"/>
              <a:t>m]</a:t>
            </a:r>
            <a:r>
              <a:rPr kumimoji="1" lang="zh-CN" altLang="en-US" dirty="0"/>
              <a:t>进行比较</a:t>
            </a:r>
            <a:endParaRPr kumimoji="1" lang="en-US" altLang="zh-CN" dirty="0"/>
          </a:p>
          <a:p>
            <a:pPr eaLnBrk="1" hangingPunct="1">
              <a:defRPr/>
            </a:pPr>
            <a:r>
              <a:rPr kumimoji="1" lang="zh-CN" altLang="en-US" dirty="0"/>
              <a:t>否则，将子串</a:t>
            </a:r>
            <a:r>
              <a:rPr kumimoji="1" lang="en-US" altLang="zh-CN" dirty="0"/>
              <a:t>P</a:t>
            </a:r>
            <a:r>
              <a:rPr kumimoji="1" lang="zh-CN" altLang="en-US" dirty="0"/>
              <a:t>从第</a:t>
            </a:r>
            <a:r>
              <a:rPr kumimoji="1" lang="en-US" altLang="zh-CN" dirty="0"/>
              <a:t>1</a:t>
            </a:r>
            <a:r>
              <a:rPr kumimoji="1" lang="zh-CN" altLang="en-US" dirty="0"/>
              <a:t>个字符起与主串</a:t>
            </a:r>
            <a:r>
              <a:rPr kumimoji="1" lang="en-US" altLang="zh-CN" dirty="0"/>
              <a:t>T</a:t>
            </a:r>
            <a:r>
              <a:rPr kumimoji="1" lang="zh-CN" altLang="en-US" dirty="0"/>
              <a:t>的第</a:t>
            </a:r>
            <a:r>
              <a:rPr kumimoji="1" lang="en-US" altLang="zh-CN" dirty="0"/>
              <a:t>pos+1</a:t>
            </a:r>
            <a:r>
              <a:rPr kumimoji="1" lang="zh-CN" altLang="en-US" dirty="0"/>
              <a:t>个字符起依次进行比较对应字符</a:t>
            </a:r>
          </a:p>
        </p:txBody>
      </p:sp>
      <p:sp>
        <p:nvSpPr>
          <p:cNvPr id="427013" name="Rectangle 5"/>
          <p:cNvSpPr>
            <a:spLocks noChangeArrowheads="1"/>
          </p:cNvSpPr>
          <p:nvPr/>
        </p:nvSpPr>
        <p:spPr bwMode="auto">
          <a:xfrm>
            <a:off x="1524001" y="2853065"/>
            <a:ext cx="184731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kumimoji="1"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27015" name="Rectangle 7"/>
          <p:cNvSpPr>
            <a:spLocks noChangeArrowheads="1"/>
          </p:cNvSpPr>
          <p:nvPr/>
        </p:nvSpPr>
        <p:spPr bwMode="auto">
          <a:xfrm>
            <a:off x="1487171" y="2853065"/>
            <a:ext cx="184731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kumimoji="1"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charRg st="59" end="1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charRg st="150" end="1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charRg st="186" end="2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013" name="Rectangle 5"/>
          <p:cNvSpPr>
            <a:spLocks noChangeArrowheads="1"/>
          </p:cNvSpPr>
          <p:nvPr/>
        </p:nvSpPr>
        <p:spPr bwMode="auto">
          <a:xfrm>
            <a:off x="1524001" y="2853065"/>
            <a:ext cx="184731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kumimoji="1"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5299" name="Object 4"/>
          <p:cNvGraphicFramePr>
            <a:graphicFrameLocks noChangeAspect="1"/>
          </p:cNvGraphicFramePr>
          <p:nvPr/>
        </p:nvGraphicFramePr>
        <p:xfrm>
          <a:off x="2135347" y="1989138"/>
          <a:ext cx="7345045" cy="179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r:id="rId3" imgW="2409190" imgH="668655" progId="Visio.Drawing.11">
                  <p:embed/>
                </p:oleObj>
              </mc:Choice>
              <mc:Fallback>
                <p:oleObj r:id="rId3" imgW="2409190" imgH="668655" progId="Visio.Drawing.11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35347" y="1989138"/>
                        <a:ext cx="7345045" cy="1797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7015" name="Rectangle 7"/>
          <p:cNvSpPr>
            <a:spLocks noChangeArrowheads="1"/>
          </p:cNvSpPr>
          <p:nvPr/>
        </p:nvSpPr>
        <p:spPr bwMode="auto">
          <a:xfrm>
            <a:off x="1524001" y="2853065"/>
            <a:ext cx="184731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kumimoji="1"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1027" name="Object 6"/>
          <p:cNvGraphicFramePr>
            <a:graphicFrameLocks noChangeAspect="1"/>
          </p:cNvGraphicFramePr>
          <p:nvPr/>
        </p:nvGraphicFramePr>
        <p:xfrm>
          <a:off x="2135189" y="3933826"/>
          <a:ext cx="8137525" cy="171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r:id="rId5" imgW="3155950" imgH="668655" progId="Visio.Drawing.11">
                  <p:embed/>
                </p:oleObj>
              </mc:Choice>
              <mc:Fallback>
                <p:oleObj r:id="rId5" imgW="3155950" imgH="668655" progId="Visio.Drawing.11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35189" y="3933826"/>
                        <a:ext cx="8137525" cy="1711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2" name="标题 6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endParaRPr lang="zh-CN" altLang="en-US" dirty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AutoShape 4"/>
          <p:cNvSpPr>
            <a:spLocks noChangeAspect="1" noTextEdit="1"/>
          </p:cNvSpPr>
          <p:nvPr/>
        </p:nvSpPr>
        <p:spPr>
          <a:xfrm>
            <a:off x="3273426" y="333375"/>
            <a:ext cx="4983163" cy="57594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" name="组合 85"/>
          <p:cNvGrpSpPr/>
          <p:nvPr/>
        </p:nvGrpSpPr>
        <p:grpSpPr>
          <a:xfrm>
            <a:off x="3311525" y="433389"/>
            <a:ext cx="4892700" cy="1133535"/>
            <a:chOff x="1787525" y="433388"/>
            <a:chExt cx="4892700" cy="1133535"/>
          </a:xfrm>
        </p:grpSpPr>
        <p:sp>
          <p:nvSpPr>
            <p:cNvPr id="56385" name="Rectangle 6"/>
            <p:cNvSpPr/>
            <p:nvPr/>
          </p:nvSpPr>
          <p:spPr>
            <a:xfrm>
              <a:off x="1787525" y="788988"/>
              <a:ext cx="833562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zh-CN" altLang="zh-CN" sz="2600" b="0" dirty="0">
                  <a:solidFill>
                    <a:srgbClr val="000000"/>
                  </a:solidFill>
                  <a:latin typeface="宋体" panose="02010600030101010101" pitchFamily="2" charset="-122"/>
                </a:rPr>
                <a:t>第1趟</a:t>
              </a:r>
              <a:endParaRPr lang="zh-CN" altLang="zh-CN" dirty="0"/>
            </a:p>
          </p:txBody>
        </p:sp>
        <p:sp>
          <p:nvSpPr>
            <p:cNvPr id="56386" name="Rectangle 7"/>
            <p:cNvSpPr/>
            <p:nvPr/>
          </p:nvSpPr>
          <p:spPr>
            <a:xfrm>
              <a:off x="3205163" y="433388"/>
              <a:ext cx="166712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zh-CN" altLang="zh-CN" sz="2600" b="0" dirty="0">
                  <a:solidFill>
                    <a:srgbClr val="000000"/>
                  </a:solidFill>
                  <a:latin typeface="宋体" panose="02010600030101010101" pitchFamily="2" charset="-122"/>
                </a:rPr>
                <a:t>T</a:t>
              </a:r>
              <a:endParaRPr lang="zh-CN" altLang="zh-CN" dirty="0"/>
            </a:p>
          </p:txBody>
        </p:sp>
        <p:sp>
          <p:nvSpPr>
            <p:cNvPr id="56387" name="Rectangle 8"/>
            <p:cNvSpPr/>
            <p:nvPr/>
          </p:nvSpPr>
          <p:spPr>
            <a:xfrm>
              <a:off x="3205163" y="1143000"/>
              <a:ext cx="166712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zh-CN" altLang="zh-CN" sz="2600" b="0" dirty="0">
                  <a:solidFill>
                    <a:srgbClr val="000000"/>
                  </a:solidFill>
                  <a:latin typeface="宋体" panose="02010600030101010101" pitchFamily="2" charset="-122"/>
                </a:rPr>
                <a:t>P</a:t>
              </a:r>
              <a:endParaRPr lang="zh-CN" altLang="zh-CN" dirty="0"/>
            </a:p>
          </p:txBody>
        </p:sp>
        <p:sp>
          <p:nvSpPr>
            <p:cNvPr id="56388" name="Rectangle 9"/>
            <p:cNvSpPr/>
            <p:nvPr/>
          </p:nvSpPr>
          <p:spPr>
            <a:xfrm>
              <a:off x="3678238" y="433388"/>
              <a:ext cx="166712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zh-CN" altLang="zh-CN" sz="2600" b="0" dirty="0">
                  <a:solidFill>
                    <a:srgbClr val="000000"/>
                  </a:solidFill>
                  <a:latin typeface="宋体" panose="02010600030101010101" pitchFamily="2" charset="-122"/>
                </a:rPr>
                <a:t>a</a:t>
              </a:r>
              <a:endParaRPr lang="zh-CN" altLang="zh-CN" dirty="0"/>
            </a:p>
          </p:txBody>
        </p:sp>
        <p:sp>
          <p:nvSpPr>
            <p:cNvPr id="56389" name="Rectangle 10"/>
            <p:cNvSpPr/>
            <p:nvPr/>
          </p:nvSpPr>
          <p:spPr>
            <a:xfrm>
              <a:off x="3678238" y="1166813"/>
              <a:ext cx="166712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zh-CN" altLang="zh-CN" sz="2600" b="0" dirty="0">
                  <a:solidFill>
                    <a:srgbClr val="000000"/>
                  </a:solidFill>
                  <a:latin typeface="宋体" panose="02010600030101010101" pitchFamily="2" charset="-122"/>
                </a:rPr>
                <a:t>a</a:t>
              </a:r>
              <a:endParaRPr lang="zh-CN" altLang="zh-CN" dirty="0"/>
            </a:p>
          </p:txBody>
        </p:sp>
        <p:sp>
          <p:nvSpPr>
            <p:cNvPr id="56390" name="Rectangle 11"/>
            <p:cNvSpPr/>
            <p:nvPr/>
          </p:nvSpPr>
          <p:spPr>
            <a:xfrm>
              <a:off x="4151313" y="433388"/>
              <a:ext cx="166712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zh-CN" altLang="zh-CN" sz="2600" b="0" dirty="0">
                  <a:solidFill>
                    <a:srgbClr val="000000"/>
                  </a:solidFill>
                  <a:latin typeface="宋体" panose="02010600030101010101" pitchFamily="2" charset="-122"/>
                </a:rPr>
                <a:t>b</a:t>
              </a:r>
              <a:endParaRPr lang="zh-CN" altLang="zh-CN" dirty="0"/>
            </a:p>
          </p:txBody>
        </p:sp>
        <p:sp>
          <p:nvSpPr>
            <p:cNvPr id="56391" name="Rectangle 12"/>
            <p:cNvSpPr/>
            <p:nvPr/>
          </p:nvSpPr>
          <p:spPr>
            <a:xfrm>
              <a:off x="4151313" y="1166813"/>
              <a:ext cx="166712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zh-CN" altLang="zh-CN" sz="2600" b="0" dirty="0">
                  <a:solidFill>
                    <a:srgbClr val="000000"/>
                  </a:solidFill>
                  <a:latin typeface="宋体" panose="02010600030101010101" pitchFamily="2" charset="-122"/>
                </a:rPr>
                <a:t>b</a:t>
              </a:r>
              <a:endParaRPr lang="zh-CN" altLang="zh-CN" dirty="0"/>
            </a:p>
          </p:txBody>
        </p:sp>
        <p:sp>
          <p:nvSpPr>
            <p:cNvPr id="56392" name="Rectangle 13"/>
            <p:cNvSpPr/>
            <p:nvPr/>
          </p:nvSpPr>
          <p:spPr>
            <a:xfrm>
              <a:off x="4635500" y="433388"/>
              <a:ext cx="166712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zh-CN" altLang="zh-CN" sz="2600" b="0" dirty="0">
                  <a:solidFill>
                    <a:srgbClr val="000000"/>
                  </a:solidFill>
                  <a:latin typeface="宋体" panose="02010600030101010101" pitchFamily="2" charset="-122"/>
                </a:rPr>
                <a:t>a</a:t>
              </a:r>
              <a:endParaRPr lang="zh-CN" altLang="zh-CN" dirty="0"/>
            </a:p>
          </p:txBody>
        </p:sp>
        <p:sp>
          <p:nvSpPr>
            <p:cNvPr id="56393" name="Rectangle 14"/>
            <p:cNvSpPr/>
            <p:nvPr/>
          </p:nvSpPr>
          <p:spPr>
            <a:xfrm>
              <a:off x="4646613" y="1166813"/>
              <a:ext cx="166712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zh-CN" altLang="zh-CN" sz="2600" b="0" dirty="0">
                  <a:solidFill>
                    <a:srgbClr val="000000"/>
                  </a:solidFill>
                  <a:latin typeface="宋体" panose="02010600030101010101" pitchFamily="2" charset="-122"/>
                </a:rPr>
                <a:t>a</a:t>
              </a:r>
              <a:endParaRPr lang="zh-CN" altLang="zh-CN" dirty="0"/>
            </a:p>
          </p:txBody>
        </p:sp>
        <p:sp>
          <p:nvSpPr>
            <p:cNvPr id="56394" name="Rectangle 15"/>
            <p:cNvSpPr/>
            <p:nvPr/>
          </p:nvSpPr>
          <p:spPr>
            <a:xfrm>
              <a:off x="5095875" y="433388"/>
              <a:ext cx="166712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zh-CN" altLang="zh-CN" sz="2600" b="0" dirty="0">
                  <a:solidFill>
                    <a:srgbClr val="000000"/>
                  </a:solidFill>
                  <a:latin typeface="宋体" panose="02010600030101010101" pitchFamily="2" charset="-122"/>
                </a:rPr>
                <a:t>a</a:t>
              </a:r>
              <a:endParaRPr lang="zh-CN" altLang="zh-CN" dirty="0"/>
            </a:p>
          </p:txBody>
        </p:sp>
        <p:sp>
          <p:nvSpPr>
            <p:cNvPr id="56395" name="Rectangle 16"/>
            <p:cNvSpPr/>
            <p:nvPr/>
          </p:nvSpPr>
          <p:spPr>
            <a:xfrm>
              <a:off x="5108575" y="1166813"/>
              <a:ext cx="166712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zh-CN" altLang="zh-CN" sz="2600" b="0" dirty="0">
                  <a:solidFill>
                    <a:srgbClr val="000000"/>
                  </a:solidFill>
                  <a:latin typeface="宋体" panose="02010600030101010101" pitchFamily="2" charset="-122"/>
                </a:rPr>
                <a:t>b</a:t>
              </a:r>
              <a:endParaRPr lang="zh-CN" altLang="zh-CN" dirty="0"/>
            </a:p>
          </p:txBody>
        </p:sp>
        <p:sp>
          <p:nvSpPr>
            <p:cNvPr id="56396" name="Rectangle 17"/>
            <p:cNvSpPr/>
            <p:nvPr/>
          </p:nvSpPr>
          <p:spPr>
            <a:xfrm>
              <a:off x="5568950" y="433388"/>
              <a:ext cx="166712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zh-CN" altLang="zh-CN" sz="2600" b="0" dirty="0">
                  <a:solidFill>
                    <a:srgbClr val="000000"/>
                  </a:solidFill>
                  <a:latin typeface="宋体" panose="02010600030101010101" pitchFamily="2" charset="-122"/>
                </a:rPr>
                <a:t>b</a:t>
              </a:r>
              <a:endParaRPr lang="zh-CN" altLang="zh-CN" dirty="0"/>
            </a:p>
          </p:txBody>
        </p:sp>
        <p:sp>
          <p:nvSpPr>
            <p:cNvPr id="56397" name="Rectangle 18"/>
            <p:cNvSpPr/>
            <p:nvPr/>
          </p:nvSpPr>
          <p:spPr>
            <a:xfrm>
              <a:off x="6053138" y="433388"/>
              <a:ext cx="166712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zh-CN" altLang="zh-CN" sz="2600" b="0" dirty="0">
                  <a:solidFill>
                    <a:srgbClr val="000000"/>
                  </a:solidFill>
                  <a:latin typeface="宋体" panose="02010600030101010101" pitchFamily="2" charset="-122"/>
                </a:rPr>
                <a:t>a</a:t>
              </a:r>
              <a:endParaRPr lang="zh-CN" altLang="zh-CN" dirty="0"/>
            </a:p>
          </p:txBody>
        </p:sp>
        <p:sp>
          <p:nvSpPr>
            <p:cNvPr id="56398" name="Rectangle 19"/>
            <p:cNvSpPr/>
            <p:nvPr/>
          </p:nvSpPr>
          <p:spPr>
            <a:xfrm>
              <a:off x="6513513" y="433388"/>
              <a:ext cx="166712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zh-CN" altLang="zh-CN" sz="2600" b="0" dirty="0">
                  <a:solidFill>
                    <a:srgbClr val="000000"/>
                  </a:solidFill>
                  <a:latin typeface="宋体" panose="02010600030101010101" pitchFamily="2" charset="-122"/>
                </a:rPr>
                <a:t>b</a:t>
              </a:r>
              <a:endParaRPr lang="zh-CN" altLang="zh-CN" dirty="0"/>
            </a:p>
          </p:txBody>
        </p:sp>
        <p:sp>
          <p:nvSpPr>
            <p:cNvPr id="56399" name="Line 20"/>
            <p:cNvSpPr/>
            <p:nvPr/>
          </p:nvSpPr>
          <p:spPr>
            <a:xfrm>
              <a:off x="3725863" y="833438"/>
              <a:ext cx="1588" cy="331788"/>
            </a:xfrm>
            <a:prstGeom prst="line">
              <a:avLst/>
            </a:prstGeom>
            <a:ln w="2381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00" name="Line 21"/>
            <p:cNvSpPr/>
            <p:nvPr/>
          </p:nvSpPr>
          <p:spPr>
            <a:xfrm>
              <a:off x="3819525" y="833438"/>
              <a:ext cx="1588" cy="331788"/>
            </a:xfrm>
            <a:prstGeom prst="line">
              <a:avLst/>
            </a:prstGeom>
            <a:ln w="2381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01" name="Line 22"/>
            <p:cNvSpPr/>
            <p:nvPr/>
          </p:nvSpPr>
          <p:spPr>
            <a:xfrm>
              <a:off x="4198938" y="833438"/>
              <a:ext cx="1588" cy="331788"/>
            </a:xfrm>
            <a:prstGeom prst="line">
              <a:avLst/>
            </a:prstGeom>
            <a:ln w="2381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02" name="Line 23"/>
            <p:cNvSpPr/>
            <p:nvPr/>
          </p:nvSpPr>
          <p:spPr>
            <a:xfrm>
              <a:off x="4292600" y="833438"/>
              <a:ext cx="1588" cy="331788"/>
            </a:xfrm>
            <a:prstGeom prst="line">
              <a:avLst/>
            </a:prstGeom>
            <a:ln w="2381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03" name="Line 24"/>
            <p:cNvSpPr/>
            <p:nvPr/>
          </p:nvSpPr>
          <p:spPr>
            <a:xfrm>
              <a:off x="4670425" y="857250"/>
              <a:ext cx="1588" cy="331788"/>
            </a:xfrm>
            <a:prstGeom prst="line">
              <a:avLst/>
            </a:prstGeom>
            <a:ln w="2381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04" name="Line 25"/>
            <p:cNvSpPr/>
            <p:nvPr/>
          </p:nvSpPr>
          <p:spPr>
            <a:xfrm>
              <a:off x="4729163" y="857250"/>
              <a:ext cx="1588" cy="331788"/>
            </a:xfrm>
            <a:prstGeom prst="line">
              <a:avLst/>
            </a:prstGeom>
            <a:ln w="2381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05" name="Line 26"/>
            <p:cNvSpPr/>
            <p:nvPr/>
          </p:nvSpPr>
          <p:spPr>
            <a:xfrm>
              <a:off x="5143500" y="857250"/>
              <a:ext cx="1588" cy="331788"/>
            </a:xfrm>
            <a:prstGeom prst="line">
              <a:avLst/>
            </a:prstGeom>
            <a:ln w="2381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06" name="Line 27"/>
            <p:cNvSpPr/>
            <p:nvPr/>
          </p:nvSpPr>
          <p:spPr>
            <a:xfrm>
              <a:off x="5237163" y="857250"/>
              <a:ext cx="1588" cy="331788"/>
            </a:xfrm>
            <a:prstGeom prst="line">
              <a:avLst/>
            </a:prstGeom>
            <a:ln w="2381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07" name="Line 28"/>
            <p:cNvSpPr/>
            <p:nvPr/>
          </p:nvSpPr>
          <p:spPr>
            <a:xfrm>
              <a:off x="5075238" y="928688"/>
              <a:ext cx="257175" cy="188913"/>
            </a:xfrm>
            <a:prstGeom prst="line">
              <a:avLst/>
            </a:prstGeom>
            <a:ln w="2381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" name="组合 86"/>
          <p:cNvGrpSpPr/>
          <p:nvPr/>
        </p:nvGrpSpPr>
        <p:grpSpPr>
          <a:xfrm>
            <a:off x="3311525" y="1854200"/>
            <a:ext cx="4892700" cy="1144648"/>
            <a:chOff x="1787525" y="1854200"/>
            <a:chExt cx="4892700" cy="1144648"/>
          </a:xfrm>
        </p:grpSpPr>
        <p:sp>
          <p:nvSpPr>
            <p:cNvPr id="56368" name="Rectangle 29"/>
            <p:cNvSpPr/>
            <p:nvPr/>
          </p:nvSpPr>
          <p:spPr>
            <a:xfrm>
              <a:off x="1787525" y="2208213"/>
              <a:ext cx="833562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zh-CN" altLang="zh-CN" sz="2600" b="0" dirty="0">
                  <a:solidFill>
                    <a:srgbClr val="000000"/>
                  </a:solidFill>
                  <a:latin typeface="宋体" panose="02010600030101010101" pitchFamily="2" charset="-122"/>
                </a:rPr>
                <a:t>第2趟</a:t>
              </a:r>
              <a:endParaRPr lang="zh-CN" altLang="zh-CN" dirty="0"/>
            </a:p>
          </p:txBody>
        </p:sp>
        <p:sp>
          <p:nvSpPr>
            <p:cNvPr id="56369" name="Rectangle 30"/>
            <p:cNvSpPr/>
            <p:nvPr/>
          </p:nvSpPr>
          <p:spPr>
            <a:xfrm>
              <a:off x="3205163" y="1854200"/>
              <a:ext cx="166712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zh-CN" altLang="zh-CN" sz="2600" b="0" dirty="0">
                  <a:solidFill>
                    <a:srgbClr val="000000"/>
                  </a:solidFill>
                  <a:latin typeface="宋体" panose="02010600030101010101" pitchFamily="2" charset="-122"/>
                </a:rPr>
                <a:t>T</a:t>
              </a:r>
              <a:endParaRPr lang="zh-CN" altLang="zh-CN" dirty="0"/>
            </a:p>
          </p:txBody>
        </p:sp>
        <p:sp>
          <p:nvSpPr>
            <p:cNvPr id="56370" name="Rectangle 31"/>
            <p:cNvSpPr/>
            <p:nvPr/>
          </p:nvSpPr>
          <p:spPr>
            <a:xfrm>
              <a:off x="3205163" y="2563813"/>
              <a:ext cx="166712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zh-CN" altLang="zh-CN" sz="2600" b="0" dirty="0">
                  <a:solidFill>
                    <a:srgbClr val="000000"/>
                  </a:solidFill>
                  <a:latin typeface="宋体" panose="02010600030101010101" pitchFamily="2" charset="-122"/>
                </a:rPr>
                <a:t>P</a:t>
              </a:r>
              <a:endParaRPr lang="zh-CN" altLang="zh-CN" dirty="0"/>
            </a:p>
          </p:txBody>
        </p:sp>
        <p:sp>
          <p:nvSpPr>
            <p:cNvPr id="56371" name="Rectangle 32"/>
            <p:cNvSpPr/>
            <p:nvPr/>
          </p:nvSpPr>
          <p:spPr>
            <a:xfrm>
              <a:off x="3678238" y="1854200"/>
              <a:ext cx="166712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zh-CN" altLang="zh-CN" sz="2600" b="0" dirty="0">
                  <a:solidFill>
                    <a:srgbClr val="000000"/>
                  </a:solidFill>
                  <a:latin typeface="宋体" panose="02010600030101010101" pitchFamily="2" charset="-122"/>
                </a:rPr>
                <a:t>a</a:t>
              </a:r>
              <a:endParaRPr lang="zh-CN" altLang="zh-CN" dirty="0"/>
            </a:p>
          </p:txBody>
        </p:sp>
        <p:sp>
          <p:nvSpPr>
            <p:cNvPr id="56372" name="Rectangle 33"/>
            <p:cNvSpPr/>
            <p:nvPr/>
          </p:nvSpPr>
          <p:spPr>
            <a:xfrm>
              <a:off x="4151313" y="2598738"/>
              <a:ext cx="166712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zh-CN" altLang="zh-CN" sz="2600" b="0" dirty="0">
                  <a:solidFill>
                    <a:srgbClr val="000000"/>
                  </a:solidFill>
                  <a:latin typeface="宋体" panose="02010600030101010101" pitchFamily="2" charset="-122"/>
                </a:rPr>
                <a:t>a</a:t>
              </a:r>
              <a:endParaRPr lang="zh-CN" altLang="zh-CN" dirty="0"/>
            </a:p>
          </p:txBody>
        </p:sp>
        <p:sp>
          <p:nvSpPr>
            <p:cNvPr id="56373" name="Rectangle 34"/>
            <p:cNvSpPr/>
            <p:nvPr/>
          </p:nvSpPr>
          <p:spPr>
            <a:xfrm>
              <a:off x="4151313" y="1854200"/>
              <a:ext cx="166712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zh-CN" altLang="zh-CN" sz="2600" b="0" dirty="0">
                  <a:solidFill>
                    <a:srgbClr val="000000"/>
                  </a:solidFill>
                  <a:latin typeface="宋体" panose="02010600030101010101" pitchFamily="2" charset="-122"/>
                </a:rPr>
                <a:t>b</a:t>
              </a:r>
              <a:endParaRPr lang="zh-CN" altLang="zh-CN" dirty="0"/>
            </a:p>
          </p:txBody>
        </p:sp>
        <p:sp>
          <p:nvSpPr>
            <p:cNvPr id="56374" name="Rectangle 35"/>
            <p:cNvSpPr/>
            <p:nvPr/>
          </p:nvSpPr>
          <p:spPr>
            <a:xfrm>
              <a:off x="4622800" y="2598738"/>
              <a:ext cx="166712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zh-CN" altLang="zh-CN" sz="2600" b="0" dirty="0">
                  <a:solidFill>
                    <a:srgbClr val="000000"/>
                  </a:solidFill>
                  <a:latin typeface="宋体" panose="02010600030101010101" pitchFamily="2" charset="-122"/>
                </a:rPr>
                <a:t>b</a:t>
              </a:r>
              <a:endParaRPr lang="zh-CN" altLang="zh-CN" dirty="0"/>
            </a:p>
          </p:txBody>
        </p:sp>
        <p:sp>
          <p:nvSpPr>
            <p:cNvPr id="56375" name="Rectangle 36"/>
            <p:cNvSpPr/>
            <p:nvPr/>
          </p:nvSpPr>
          <p:spPr>
            <a:xfrm>
              <a:off x="4635500" y="1854200"/>
              <a:ext cx="166712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zh-CN" altLang="zh-CN" sz="2600" b="0" dirty="0">
                  <a:solidFill>
                    <a:srgbClr val="000000"/>
                  </a:solidFill>
                  <a:latin typeface="宋体" panose="02010600030101010101" pitchFamily="2" charset="-122"/>
                </a:rPr>
                <a:t>a</a:t>
              </a:r>
              <a:endParaRPr lang="zh-CN" altLang="zh-CN" dirty="0"/>
            </a:p>
          </p:txBody>
        </p:sp>
        <p:sp>
          <p:nvSpPr>
            <p:cNvPr id="56376" name="Rectangle 37"/>
            <p:cNvSpPr/>
            <p:nvPr/>
          </p:nvSpPr>
          <p:spPr>
            <a:xfrm>
              <a:off x="5119688" y="2598738"/>
              <a:ext cx="166712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zh-CN" altLang="zh-CN" sz="2600" b="0" dirty="0">
                  <a:solidFill>
                    <a:srgbClr val="000000"/>
                  </a:solidFill>
                  <a:latin typeface="宋体" panose="02010600030101010101" pitchFamily="2" charset="-122"/>
                </a:rPr>
                <a:t>a</a:t>
              </a:r>
              <a:endParaRPr lang="zh-CN" altLang="zh-CN" dirty="0"/>
            </a:p>
          </p:txBody>
        </p:sp>
        <p:sp>
          <p:nvSpPr>
            <p:cNvPr id="56377" name="Rectangle 38"/>
            <p:cNvSpPr/>
            <p:nvPr/>
          </p:nvSpPr>
          <p:spPr>
            <a:xfrm>
              <a:off x="5095875" y="1854200"/>
              <a:ext cx="166712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zh-CN" altLang="zh-CN" sz="2600" b="0" dirty="0">
                  <a:solidFill>
                    <a:srgbClr val="000000"/>
                  </a:solidFill>
                  <a:latin typeface="宋体" panose="02010600030101010101" pitchFamily="2" charset="-122"/>
                </a:rPr>
                <a:t>a</a:t>
              </a:r>
              <a:endParaRPr lang="zh-CN" altLang="zh-CN" dirty="0"/>
            </a:p>
          </p:txBody>
        </p:sp>
        <p:sp>
          <p:nvSpPr>
            <p:cNvPr id="56378" name="Rectangle 39"/>
            <p:cNvSpPr/>
            <p:nvPr/>
          </p:nvSpPr>
          <p:spPr>
            <a:xfrm>
              <a:off x="5580063" y="2598738"/>
              <a:ext cx="166712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zh-CN" altLang="zh-CN" sz="2600" b="0" dirty="0">
                  <a:solidFill>
                    <a:srgbClr val="000000"/>
                  </a:solidFill>
                  <a:latin typeface="宋体" panose="02010600030101010101" pitchFamily="2" charset="-122"/>
                </a:rPr>
                <a:t>b</a:t>
              </a:r>
              <a:endParaRPr lang="zh-CN" altLang="zh-CN" dirty="0"/>
            </a:p>
          </p:txBody>
        </p:sp>
        <p:sp>
          <p:nvSpPr>
            <p:cNvPr id="56379" name="Rectangle 40"/>
            <p:cNvSpPr/>
            <p:nvPr/>
          </p:nvSpPr>
          <p:spPr>
            <a:xfrm>
              <a:off x="5568950" y="1854200"/>
              <a:ext cx="166712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zh-CN" altLang="zh-CN" sz="2600" b="0" dirty="0">
                  <a:solidFill>
                    <a:srgbClr val="000000"/>
                  </a:solidFill>
                  <a:latin typeface="宋体" panose="02010600030101010101" pitchFamily="2" charset="-122"/>
                </a:rPr>
                <a:t>b</a:t>
              </a:r>
              <a:endParaRPr lang="zh-CN" altLang="zh-CN" dirty="0"/>
            </a:p>
          </p:txBody>
        </p:sp>
        <p:sp>
          <p:nvSpPr>
            <p:cNvPr id="56380" name="Rectangle 41"/>
            <p:cNvSpPr/>
            <p:nvPr/>
          </p:nvSpPr>
          <p:spPr>
            <a:xfrm>
              <a:off x="6053138" y="1854200"/>
              <a:ext cx="166712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zh-CN" altLang="zh-CN" sz="2600" b="0" dirty="0">
                  <a:solidFill>
                    <a:srgbClr val="000000"/>
                  </a:solidFill>
                  <a:latin typeface="宋体" panose="02010600030101010101" pitchFamily="2" charset="-122"/>
                </a:rPr>
                <a:t>a</a:t>
              </a:r>
              <a:endParaRPr lang="zh-CN" altLang="zh-CN" dirty="0"/>
            </a:p>
          </p:txBody>
        </p:sp>
        <p:sp>
          <p:nvSpPr>
            <p:cNvPr id="56381" name="Rectangle 42"/>
            <p:cNvSpPr/>
            <p:nvPr/>
          </p:nvSpPr>
          <p:spPr>
            <a:xfrm>
              <a:off x="6513513" y="1854200"/>
              <a:ext cx="166712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zh-CN" altLang="zh-CN" sz="2600" b="0" dirty="0">
                  <a:solidFill>
                    <a:srgbClr val="000000"/>
                  </a:solidFill>
                  <a:latin typeface="宋体" panose="02010600030101010101" pitchFamily="2" charset="-122"/>
                </a:rPr>
                <a:t>b</a:t>
              </a:r>
              <a:endParaRPr lang="zh-CN" altLang="zh-CN" dirty="0"/>
            </a:p>
          </p:txBody>
        </p:sp>
        <p:sp>
          <p:nvSpPr>
            <p:cNvPr id="56382" name="Line 43"/>
            <p:cNvSpPr/>
            <p:nvPr/>
          </p:nvSpPr>
          <p:spPr>
            <a:xfrm>
              <a:off x="4198938" y="2265363"/>
              <a:ext cx="1588" cy="330200"/>
            </a:xfrm>
            <a:prstGeom prst="line">
              <a:avLst/>
            </a:prstGeom>
            <a:ln w="2381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83" name="Line 44"/>
            <p:cNvSpPr/>
            <p:nvPr/>
          </p:nvSpPr>
          <p:spPr>
            <a:xfrm>
              <a:off x="4292600" y="2265363"/>
              <a:ext cx="1588" cy="330200"/>
            </a:xfrm>
            <a:prstGeom prst="line">
              <a:avLst/>
            </a:prstGeom>
            <a:ln w="2381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84" name="Line 45"/>
            <p:cNvSpPr/>
            <p:nvPr/>
          </p:nvSpPr>
          <p:spPr>
            <a:xfrm>
              <a:off x="4103688" y="2347913"/>
              <a:ext cx="284163" cy="236538"/>
            </a:xfrm>
            <a:prstGeom prst="line">
              <a:avLst/>
            </a:prstGeom>
            <a:ln w="2381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" name="组合 87"/>
          <p:cNvGrpSpPr/>
          <p:nvPr/>
        </p:nvGrpSpPr>
        <p:grpSpPr>
          <a:xfrm>
            <a:off x="3311525" y="3249614"/>
            <a:ext cx="4892700" cy="1133535"/>
            <a:chOff x="1787525" y="3249613"/>
            <a:chExt cx="4892700" cy="1133535"/>
          </a:xfrm>
        </p:grpSpPr>
        <p:sp>
          <p:nvSpPr>
            <p:cNvPr id="56349" name="Rectangle 46"/>
            <p:cNvSpPr/>
            <p:nvPr/>
          </p:nvSpPr>
          <p:spPr>
            <a:xfrm>
              <a:off x="1787525" y="3629025"/>
              <a:ext cx="833562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zh-CN" altLang="zh-CN" sz="2600" b="0" dirty="0">
                  <a:solidFill>
                    <a:srgbClr val="000000"/>
                  </a:solidFill>
                  <a:latin typeface="宋体" panose="02010600030101010101" pitchFamily="2" charset="-122"/>
                </a:rPr>
                <a:t>第3趟</a:t>
              </a:r>
              <a:endParaRPr lang="zh-CN" altLang="zh-CN" dirty="0"/>
            </a:p>
          </p:txBody>
        </p:sp>
        <p:sp>
          <p:nvSpPr>
            <p:cNvPr id="56350" name="Rectangle 47"/>
            <p:cNvSpPr/>
            <p:nvPr/>
          </p:nvSpPr>
          <p:spPr>
            <a:xfrm>
              <a:off x="3205163" y="3249613"/>
              <a:ext cx="166712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zh-CN" altLang="zh-CN" sz="2600" b="0" dirty="0">
                  <a:solidFill>
                    <a:srgbClr val="000000"/>
                  </a:solidFill>
                  <a:latin typeface="宋体" panose="02010600030101010101" pitchFamily="2" charset="-122"/>
                </a:rPr>
                <a:t>T</a:t>
              </a:r>
              <a:endParaRPr lang="zh-CN" altLang="zh-CN" dirty="0"/>
            </a:p>
          </p:txBody>
        </p:sp>
        <p:sp>
          <p:nvSpPr>
            <p:cNvPr id="56351" name="Rectangle 48"/>
            <p:cNvSpPr/>
            <p:nvPr/>
          </p:nvSpPr>
          <p:spPr>
            <a:xfrm>
              <a:off x="3205163" y="3959225"/>
              <a:ext cx="166712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zh-CN" altLang="zh-CN" sz="2600" b="0" dirty="0">
                  <a:solidFill>
                    <a:srgbClr val="000000"/>
                  </a:solidFill>
                  <a:latin typeface="宋体" panose="02010600030101010101" pitchFamily="2" charset="-122"/>
                </a:rPr>
                <a:t>P</a:t>
              </a:r>
              <a:endParaRPr lang="zh-CN" altLang="zh-CN" dirty="0"/>
            </a:p>
          </p:txBody>
        </p:sp>
        <p:sp>
          <p:nvSpPr>
            <p:cNvPr id="56352" name="Rectangle 49"/>
            <p:cNvSpPr/>
            <p:nvPr/>
          </p:nvSpPr>
          <p:spPr>
            <a:xfrm>
              <a:off x="3678238" y="3249613"/>
              <a:ext cx="166712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zh-CN" altLang="zh-CN" sz="2600" b="0" dirty="0">
                  <a:solidFill>
                    <a:srgbClr val="000000"/>
                  </a:solidFill>
                  <a:latin typeface="宋体" panose="02010600030101010101" pitchFamily="2" charset="-122"/>
                </a:rPr>
                <a:t>a</a:t>
              </a:r>
              <a:endParaRPr lang="zh-CN" altLang="zh-CN" dirty="0"/>
            </a:p>
          </p:txBody>
        </p:sp>
        <p:sp>
          <p:nvSpPr>
            <p:cNvPr id="56353" name="Rectangle 50"/>
            <p:cNvSpPr/>
            <p:nvPr/>
          </p:nvSpPr>
          <p:spPr>
            <a:xfrm>
              <a:off x="4635500" y="3983038"/>
              <a:ext cx="166712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zh-CN" altLang="zh-CN" sz="2600" b="0" dirty="0">
                  <a:solidFill>
                    <a:srgbClr val="000000"/>
                  </a:solidFill>
                  <a:latin typeface="宋体" panose="02010600030101010101" pitchFamily="2" charset="-122"/>
                </a:rPr>
                <a:t>a</a:t>
              </a:r>
              <a:endParaRPr lang="zh-CN" altLang="zh-CN" dirty="0"/>
            </a:p>
          </p:txBody>
        </p:sp>
        <p:sp>
          <p:nvSpPr>
            <p:cNvPr id="56354" name="Rectangle 51"/>
            <p:cNvSpPr/>
            <p:nvPr/>
          </p:nvSpPr>
          <p:spPr>
            <a:xfrm>
              <a:off x="4151313" y="3249613"/>
              <a:ext cx="166712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zh-CN" altLang="zh-CN" sz="2600" b="0" dirty="0">
                  <a:solidFill>
                    <a:srgbClr val="000000"/>
                  </a:solidFill>
                  <a:latin typeface="宋体" panose="02010600030101010101" pitchFamily="2" charset="-122"/>
                </a:rPr>
                <a:t>b</a:t>
              </a:r>
              <a:endParaRPr lang="zh-CN" altLang="zh-CN" dirty="0"/>
            </a:p>
          </p:txBody>
        </p:sp>
        <p:sp>
          <p:nvSpPr>
            <p:cNvPr id="56355" name="Rectangle 52"/>
            <p:cNvSpPr/>
            <p:nvPr/>
          </p:nvSpPr>
          <p:spPr>
            <a:xfrm>
              <a:off x="5108575" y="3983038"/>
              <a:ext cx="166712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zh-CN" altLang="zh-CN" sz="2600" b="0" dirty="0">
                  <a:solidFill>
                    <a:srgbClr val="000000"/>
                  </a:solidFill>
                  <a:latin typeface="宋体" panose="02010600030101010101" pitchFamily="2" charset="-122"/>
                </a:rPr>
                <a:t>b</a:t>
              </a:r>
              <a:endParaRPr lang="zh-CN" altLang="zh-CN" dirty="0"/>
            </a:p>
          </p:txBody>
        </p:sp>
        <p:sp>
          <p:nvSpPr>
            <p:cNvPr id="56356" name="Rectangle 53"/>
            <p:cNvSpPr/>
            <p:nvPr/>
          </p:nvSpPr>
          <p:spPr>
            <a:xfrm>
              <a:off x="4635500" y="3249613"/>
              <a:ext cx="166712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zh-CN" altLang="zh-CN" sz="2600" b="0" dirty="0">
                  <a:solidFill>
                    <a:srgbClr val="000000"/>
                  </a:solidFill>
                  <a:latin typeface="宋体" panose="02010600030101010101" pitchFamily="2" charset="-122"/>
                </a:rPr>
                <a:t>a</a:t>
              </a:r>
              <a:endParaRPr lang="zh-CN" altLang="zh-CN" dirty="0"/>
            </a:p>
          </p:txBody>
        </p:sp>
        <p:sp>
          <p:nvSpPr>
            <p:cNvPr id="56357" name="Rectangle 54"/>
            <p:cNvSpPr/>
            <p:nvPr/>
          </p:nvSpPr>
          <p:spPr>
            <a:xfrm>
              <a:off x="5603875" y="3983038"/>
              <a:ext cx="166712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zh-CN" altLang="zh-CN" sz="2600" b="0" dirty="0">
                  <a:solidFill>
                    <a:srgbClr val="000000"/>
                  </a:solidFill>
                  <a:latin typeface="宋体" panose="02010600030101010101" pitchFamily="2" charset="-122"/>
                </a:rPr>
                <a:t>a</a:t>
              </a:r>
              <a:endParaRPr lang="zh-CN" altLang="zh-CN" dirty="0"/>
            </a:p>
          </p:txBody>
        </p:sp>
        <p:sp>
          <p:nvSpPr>
            <p:cNvPr id="56358" name="Rectangle 55"/>
            <p:cNvSpPr/>
            <p:nvPr/>
          </p:nvSpPr>
          <p:spPr>
            <a:xfrm>
              <a:off x="5095875" y="3249613"/>
              <a:ext cx="166712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zh-CN" altLang="zh-CN" sz="2600" b="0" dirty="0">
                  <a:solidFill>
                    <a:srgbClr val="000000"/>
                  </a:solidFill>
                  <a:latin typeface="宋体" panose="02010600030101010101" pitchFamily="2" charset="-122"/>
                </a:rPr>
                <a:t>a</a:t>
              </a:r>
              <a:endParaRPr lang="zh-CN" altLang="zh-CN" dirty="0"/>
            </a:p>
          </p:txBody>
        </p:sp>
        <p:sp>
          <p:nvSpPr>
            <p:cNvPr id="56359" name="Rectangle 56"/>
            <p:cNvSpPr/>
            <p:nvPr/>
          </p:nvSpPr>
          <p:spPr>
            <a:xfrm>
              <a:off x="6064250" y="3983038"/>
              <a:ext cx="166712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zh-CN" altLang="zh-CN" sz="2600" b="0" dirty="0">
                  <a:solidFill>
                    <a:srgbClr val="000000"/>
                  </a:solidFill>
                  <a:latin typeface="宋体" panose="02010600030101010101" pitchFamily="2" charset="-122"/>
                </a:rPr>
                <a:t>b</a:t>
              </a:r>
              <a:endParaRPr lang="zh-CN" altLang="zh-CN" dirty="0"/>
            </a:p>
          </p:txBody>
        </p:sp>
        <p:sp>
          <p:nvSpPr>
            <p:cNvPr id="56360" name="Rectangle 57"/>
            <p:cNvSpPr/>
            <p:nvPr/>
          </p:nvSpPr>
          <p:spPr>
            <a:xfrm>
              <a:off x="5568950" y="3249613"/>
              <a:ext cx="166712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zh-CN" altLang="zh-CN" sz="2600" b="0" dirty="0">
                  <a:solidFill>
                    <a:srgbClr val="000000"/>
                  </a:solidFill>
                  <a:latin typeface="宋体" panose="02010600030101010101" pitchFamily="2" charset="-122"/>
                </a:rPr>
                <a:t>b</a:t>
              </a:r>
              <a:endParaRPr lang="zh-CN" altLang="zh-CN" dirty="0"/>
            </a:p>
          </p:txBody>
        </p:sp>
        <p:sp>
          <p:nvSpPr>
            <p:cNvPr id="56361" name="Rectangle 58"/>
            <p:cNvSpPr/>
            <p:nvPr/>
          </p:nvSpPr>
          <p:spPr>
            <a:xfrm>
              <a:off x="6053138" y="3249613"/>
              <a:ext cx="166712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zh-CN" altLang="zh-CN" sz="2600" b="0" dirty="0">
                  <a:solidFill>
                    <a:srgbClr val="000000"/>
                  </a:solidFill>
                  <a:latin typeface="宋体" panose="02010600030101010101" pitchFamily="2" charset="-122"/>
                </a:rPr>
                <a:t>a</a:t>
              </a:r>
              <a:endParaRPr lang="zh-CN" altLang="zh-CN" dirty="0"/>
            </a:p>
          </p:txBody>
        </p:sp>
        <p:sp>
          <p:nvSpPr>
            <p:cNvPr id="56362" name="Rectangle 59"/>
            <p:cNvSpPr/>
            <p:nvPr/>
          </p:nvSpPr>
          <p:spPr>
            <a:xfrm>
              <a:off x="6513513" y="3249613"/>
              <a:ext cx="166712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zh-CN" altLang="zh-CN" sz="2600" b="0" dirty="0">
                  <a:solidFill>
                    <a:srgbClr val="000000"/>
                  </a:solidFill>
                  <a:latin typeface="宋体" panose="02010600030101010101" pitchFamily="2" charset="-122"/>
                </a:rPr>
                <a:t>b</a:t>
              </a:r>
              <a:endParaRPr lang="zh-CN" altLang="zh-CN" dirty="0"/>
            </a:p>
          </p:txBody>
        </p:sp>
        <p:sp>
          <p:nvSpPr>
            <p:cNvPr id="56363" name="Line 60"/>
            <p:cNvSpPr/>
            <p:nvPr/>
          </p:nvSpPr>
          <p:spPr>
            <a:xfrm>
              <a:off x="4683125" y="3649663"/>
              <a:ext cx="1588" cy="331788"/>
            </a:xfrm>
            <a:prstGeom prst="line">
              <a:avLst/>
            </a:prstGeom>
            <a:ln w="2381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64" name="Line 61"/>
            <p:cNvSpPr/>
            <p:nvPr/>
          </p:nvSpPr>
          <p:spPr>
            <a:xfrm>
              <a:off x="4765675" y="3649663"/>
              <a:ext cx="1588" cy="331788"/>
            </a:xfrm>
            <a:prstGeom prst="line">
              <a:avLst/>
            </a:prstGeom>
            <a:ln w="2381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65" name="Line 62"/>
            <p:cNvSpPr/>
            <p:nvPr/>
          </p:nvSpPr>
          <p:spPr>
            <a:xfrm>
              <a:off x="5154613" y="3649663"/>
              <a:ext cx="1588" cy="331788"/>
            </a:xfrm>
            <a:prstGeom prst="line">
              <a:avLst/>
            </a:prstGeom>
            <a:ln w="2381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66" name="Line 63"/>
            <p:cNvSpPr/>
            <p:nvPr/>
          </p:nvSpPr>
          <p:spPr>
            <a:xfrm>
              <a:off x="5237163" y="3649663"/>
              <a:ext cx="1588" cy="331788"/>
            </a:xfrm>
            <a:prstGeom prst="line">
              <a:avLst/>
            </a:prstGeom>
            <a:ln w="2381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67" name="Line 64"/>
            <p:cNvSpPr/>
            <p:nvPr/>
          </p:nvSpPr>
          <p:spPr>
            <a:xfrm>
              <a:off x="5095875" y="3743325"/>
              <a:ext cx="254000" cy="190500"/>
            </a:xfrm>
            <a:prstGeom prst="line">
              <a:avLst/>
            </a:prstGeom>
            <a:ln w="2381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5" name="组合 88"/>
          <p:cNvGrpSpPr/>
          <p:nvPr/>
        </p:nvGrpSpPr>
        <p:grpSpPr>
          <a:xfrm>
            <a:off x="3311525" y="4929188"/>
            <a:ext cx="4905400" cy="1135122"/>
            <a:chOff x="1787525" y="4929188"/>
            <a:chExt cx="4905400" cy="1135122"/>
          </a:xfrm>
        </p:grpSpPr>
        <p:sp>
          <p:nvSpPr>
            <p:cNvPr id="56327" name="Rectangle 65"/>
            <p:cNvSpPr/>
            <p:nvPr/>
          </p:nvSpPr>
          <p:spPr>
            <a:xfrm>
              <a:off x="1787525" y="5284788"/>
              <a:ext cx="833562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zh-CN" altLang="zh-CN" sz="2600" b="0" dirty="0">
                  <a:solidFill>
                    <a:srgbClr val="000000"/>
                  </a:solidFill>
                  <a:latin typeface="宋体" panose="02010600030101010101" pitchFamily="2" charset="-122"/>
                </a:rPr>
                <a:t>第4趟</a:t>
              </a:r>
              <a:endParaRPr lang="zh-CN" altLang="zh-CN" dirty="0"/>
            </a:p>
          </p:txBody>
        </p:sp>
        <p:sp>
          <p:nvSpPr>
            <p:cNvPr id="56328" name="Rectangle 66"/>
            <p:cNvSpPr/>
            <p:nvPr/>
          </p:nvSpPr>
          <p:spPr>
            <a:xfrm>
              <a:off x="3205163" y="4929188"/>
              <a:ext cx="166712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zh-CN" altLang="zh-CN" sz="2600" b="0" dirty="0">
                  <a:solidFill>
                    <a:srgbClr val="000000"/>
                  </a:solidFill>
                  <a:latin typeface="宋体" panose="02010600030101010101" pitchFamily="2" charset="-122"/>
                </a:rPr>
                <a:t>T</a:t>
              </a:r>
              <a:endParaRPr lang="zh-CN" altLang="zh-CN" dirty="0"/>
            </a:p>
          </p:txBody>
        </p:sp>
        <p:sp>
          <p:nvSpPr>
            <p:cNvPr id="56329" name="Rectangle 67"/>
            <p:cNvSpPr/>
            <p:nvPr/>
          </p:nvSpPr>
          <p:spPr>
            <a:xfrm>
              <a:off x="3205163" y="5640388"/>
              <a:ext cx="166712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zh-CN" altLang="zh-CN" sz="2600" b="0" dirty="0">
                  <a:solidFill>
                    <a:srgbClr val="000000"/>
                  </a:solidFill>
                  <a:latin typeface="宋体" panose="02010600030101010101" pitchFamily="2" charset="-122"/>
                </a:rPr>
                <a:t>P</a:t>
              </a:r>
              <a:endParaRPr lang="zh-CN" altLang="zh-CN" dirty="0"/>
            </a:p>
          </p:txBody>
        </p:sp>
        <p:sp>
          <p:nvSpPr>
            <p:cNvPr id="56330" name="Rectangle 68"/>
            <p:cNvSpPr/>
            <p:nvPr/>
          </p:nvSpPr>
          <p:spPr>
            <a:xfrm>
              <a:off x="3678238" y="4929188"/>
              <a:ext cx="166712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zh-CN" altLang="zh-CN" sz="2600" b="0" dirty="0">
                  <a:solidFill>
                    <a:srgbClr val="000000"/>
                  </a:solidFill>
                  <a:latin typeface="宋体" panose="02010600030101010101" pitchFamily="2" charset="-122"/>
                </a:rPr>
                <a:t>a</a:t>
              </a:r>
              <a:endParaRPr lang="zh-CN" altLang="zh-CN" dirty="0"/>
            </a:p>
          </p:txBody>
        </p:sp>
        <p:sp>
          <p:nvSpPr>
            <p:cNvPr id="56331" name="Rectangle 69"/>
            <p:cNvSpPr/>
            <p:nvPr/>
          </p:nvSpPr>
          <p:spPr>
            <a:xfrm>
              <a:off x="5095875" y="5664200"/>
              <a:ext cx="166712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zh-CN" altLang="zh-CN" sz="2600" b="0" dirty="0">
                  <a:solidFill>
                    <a:srgbClr val="000000"/>
                  </a:solidFill>
                  <a:latin typeface="宋体" panose="02010600030101010101" pitchFamily="2" charset="-122"/>
                </a:rPr>
                <a:t>a</a:t>
              </a:r>
              <a:endParaRPr lang="zh-CN" altLang="zh-CN" dirty="0"/>
            </a:p>
          </p:txBody>
        </p:sp>
        <p:sp>
          <p:nvSpPr>
            <p:cNvPr id="56332" name="Rectangle 70"/>
            <p:cNvSpPr/>
            <p:nvPr/>
          </p:nvSpPr>
          <p:spPr>
            <a:xfrm>
              <a:off x="4151313" y="4929188"/>
              <a:ext cx="166712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zh-CN" altLang="zh-CN" sz="2600" b="0" dirty="0">
                  <a:solidFill>
                    <a:srgbClr val="000000"/>
                  </a:solidFill>
                  <a:latin typeface="宋体" panose="02010600030101010101" pitchFamily="2" charset="-122"/>
                </a:rPr>
                <a:t>b</a:t>
              </a:r>
              <a:endParaRPr lang="zh-CN" altLang="zh-CN" dirty="0"/>
            </a:p>
          </p:txBody>
        </p:sp>
        <p:sp>
          <p:nvSpPr>
            <p:cNvPr id="56333" name="Rectangle 71"/>
            <p:cNvSpPr/>
            <p:nvPr/>
          </p:nvSpPr>
          <p:spPr>
            <a:xfrm>
              <a:off x="5568950" y="5664200"/>
              <a:ext cx="166712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zh-CN" altLang="zh-CN" sz="2600" b="0" dirty="0">
                  <a:solidFill>
                    <a:srgbClr val="000000"/>
                  </a:solidFill>
                  <a:latin typeface="宋体" panose="02010600030101010101" pitchFamily="2" charset="-122"/>
                </a:rPr>
                <a:t>b</a:t>
              </a:r>
              <a:endParaRPr lang="zh-CN" altLang="zh-CN" dirty="0"/>
            </a:p>
          </p:txBody>
        </p:sp>
        <p:sp>
          <p:nvSpPr>
            <p:cNvPr id="56334" name="Rectangle 72"/>
            <p:cNvSpPr/>
            <p:nvPr/>
          </p:nvSpPr>
          <p:spPr>
            <a:xfrm>
              <a:off x="4635500" y="4929188"/>
              <a:ext cx="166712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zh-CN" altLang="zh-CN" sz="2600" b="0" dirty="0">
                  <a:solidFill>
                    <a:srgbClr val="000000"/>
                  </a:solidFill>
                  <a:latin typeface="宋体" panose="02010600030101010101" pitchFamily="2" charset="-122"/>
                </a:rPr>
                <a:t>a</a:t>
              </a:r>
              <a:endParaRPr lang="zh-CN" altLang="zh-CN" dirty="0"/>
            </a:p>
          </p:txBody>
        </p:sp>
        <p:sp>
          <p:nvSpPr>
            <p:cNvPr id="56335" name="Rectangle 73"/>
            <p:cNvSpPr/>
            <p:nvPr/>
          </p:nvSpPr>
          <p:spPr>
            <a:xfrm>
              <a:off x="6064250" y="5664200"/>
              <a:ext cx="166712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zh-CN" altLang="zh-CN" sz="2600" b="0" dirty="0">
                  <a:solidFill>
                    <a:srgbClr val="000000"/>
                  </a:solidFill>
                  <a:latin typeface="宋体" panose="02010600030101010101" pitchFamily="2" charset="-122"/>
                </a:rPr>
                <a:t>a</a:t>
              </a:r>
              <a:endParaRPr lang="zh-CN" altLang="zh-CN" dirty="0"/>
            </a:p>
          </p:txBody>
        </p:sp>
        <p:sp>
          <p:nvSpPr>
            <p:cNvPr id="56336" name="Rectangle 74"/>
            <p:cNvSpPr/>
            <p:nvPr/>
          </p:nvSpPr>
          <p:spPr>
            <a:xfrm>
              <a:off x="5095875" y="4929188"/>
              <a:ext cx="166712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zh-CN" altLang="zh-CN" sz="2600" b="0" dirty="0">
                  <a:solidFill>
                    <a:srgbClr val="000000"/>
                  </a:solidFill>
                  <a:latin typeface="宋体" panose="02010600030101010101" pitchFamily="2" charset="-122"/>
                </a:rPr>
                <a:t>a</a:t>
              </a:r>
              <a:endParaRPr lang="zh-CN" altLang="zh-CN" dirty="0"/>
            </a:p>
          </p:txBody>
        </p:sp>
        <p:sp>
          <p:nvSpPr>
            <p:cNvPr id="56337" name="Rectangle 75"/>
            <p:cNvSpPr/>
            <p:nvPr/>
          </p:nvSpPr>
          <p:spPr>
            <a:xfrm>
              <a:off x="6526213" y="5664200"/>
              <a:ext cx="166712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zh-CN" altLang="zh-CN" sz="2600" b="0" dirty="0">
                  <a:solidFill>
                    <a:srgbClr val="000000"/>
                  </a:solidFill>
                  <a:latin typeface="宋体" panose="02010600030101010101" pitchFamily="2" charset="-122"/>
                </a:rPr>
                <a:t>b</a:t>
              </a:r>
              <a:endParaRPr lang="zh-CN" altLang="zh-CN" dirty="0"/>
            </a:p>
          </p:txBody>
        </p:sp>
        <p:sp>
          <p:nvSpPr>
            <p:cNvPr id="56338" name="Rectangle 76"/>
            <p:cNvSpPr/>
            <p:nvPr/>
          </p:nvSpPr>
          <p:spPr>
            <a:xfrm>
              <a:off x="5568950" y="4929188"/>
              <a:ext cx="166712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zh-CN" altLang="zh-CN" sz="2600" b="0" dirty="0">
                  <a:solidFill>
                    <a:srgbClr val="000000"/>
                  </a:solidFill>
                  <a:latin typeface="宋体" panose="02010600030101010101" pitchFamily="2" charset="-122"/>
                </a:rPr>
                <a:t>b</a:t>
              </a:r>
              <a:endParaRPr lang="zh-CN" altLang="zh-CN" dirty="0"/>
            </a:p>
          </p:txBody>
        </p:sp>
        <p:sp>
          <p:nvSpPr>
            <p:cNvPr id="56339" name="Rectangle 77"/>
            <p:cNvSpPr/>
            <p:nvPr/>
          </p:nvSpPr>
          <p:spPr>
            <a:xfrm>
              <a:off x="6053138" y="4929188"/>
              <a:ext cx="166712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zh-CN" altLang="zh-CN" sz="2600" b="0" dirty="0">
                  <a:solidFill>
                    <a:srgbClr val="000000"/>
                  </a:solidFill>
                  <a:latin typeface="宋体" panose="02010600030101010101" pitchFamily="2" charset="-122"/>
                </a:rPr>
                <a:t>a</a:t>
              </a:r>
              <a:endParaRPr lang="zh-CN" altLang="zh-CN" dirty="0"/>
            </a:p>
          </p:txBody>
        </p:sp>
        <p:sp>
          <p:nvSpPr>
            <p:cNvPr id="56340" name="Rectangle 78"/>
            <p:cNvSpPr/>
            <p:nvPr/>
          </p:nvSpPr>
          <p:spPr>
            <a:xfrm>
              <a:off x="6513513" y="4929188"/>
              <a:ext cx="166712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zh-CN" altLang="zh-CN" sz="2600" b="0" dirty="0">
                  <a:solidFill>
                    <a:srgbClr val="000000"/>
                  </a:solidFill>
                  <a:latin typeface="宋体" panose="02010600030101010101" pitchFamily="2" charset="-122"/>
                </a:rPr>
                <a:t>b</a:t>
              </a:r>
              <a:endParaRPr lang="zh-CN" altLang="zh-CN" dirty="0"/>
            </a:p>
          </p:txBody>
        </p:sp>
        <p:sp>
          <p:nvSpPr>
            <p:cNvPr id="56341" name="Line 79"/>
            <p:cNvSpPr/>
            <p:nvPr/>
          </p:nvSpPr>
          <p:spPr>
            <a:xfrm>
              <a:off x="5143500" y="5329238"/>
              <a:ext cx="1588" cy="331788"/>
            </a:xfrm>
            <a:prstGeom prst="line">
              <a:avLst/>
            </a:prstGeom>
            <a:ln w="2381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42" name="Line 80"/>
            <p:cNvSpPr/>
            <p:nvPr/>
          </p:nvSpPr>
          <p:spPr>
            <a:xfrm>
              <a:off x="5237163" y="5329238"/>
              <a:ext cx="1588" cy="331788"/>
            </a:xfrm>
            <a:prstGeom prst="line">
              <a:avLst/>
            </a:prstGeom>
            <a:ln w="2381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43" name="Line 81"/>
            <p:cNvSpPr/>
            <p:nvPr/>
          </p:nvSpPr>
          <p:spPr>
            <a:xfrm>
              <a:off x="5616575" y="5329238"/>
              <a:ext cx="1588" cy="331788"/>
            </a:xfrm>
            <a:prstGeom prst="line">
              <a:avLst/>
            </a:prstGeom>
            <a:ln w="2381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44" name="Line 82"/>
            <p:cNvSpPr/>
            <p:nvPr/>
          </p:nvSpPr>
          <p:spPr>
            <a:xfrm>
              <a:off x="5710238" y="5329238"/>
              <a:ext cx="1588" cy="331788"/>
            </a:xfrm>
            <a:prstGeom prst="line">
              <a:avLst/>
            </a:prstGeom>
            <a:ln w="2381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45" name="Line 83"/>
            <p:cNvSpPr/>
            <p:nvPr/>
          </p:nvSpPr>
          <p:spPr>
            <a:xfrm>
              <a:off x="6088063" y="5353050"/>
              <a:ext cx="1588" cy="331788"/>
            </a:xfrm>
            <a:prstGeom prst="line">
              <a:avLst/>
            </a:prstGeom>
            <a:ln w="2381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46" name="Line 84"/>
            <p:cNvSpPr/>
            <p:nvPr/>
          </p:nvSpPr>
          <p:spPr>
            <a:xfrm>
              <a:off x="6183313" y="5353050"/>
              <a:ext cx="1588" cy="331788"/>
            </a:xfrm>
            <a:prstGeom prst="line">
              <a:avLst/>
            </a:prstGeom>
            <a:ln w="2381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47" name="Line 85"/>
            <p:cNvSpPr/>
            <p:nvPr/>
          </p:nvSpPr>
          <p:spPr>
            <a:xfrm>
              <a:off x="6561138" y="5353050"/>
              <a:ext cx="1588" cy="331788"/>
            </a:xfrm>
            <a:prstGeom prst="line">
              <a:avLst/>
            </a:prstGeom>
            <a:ln w="2381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48" name="Line 86"/>
            <p:cNvSpPr/>
            <p:nvPr/>
          </p:nvSpPr>
          <p:spPr>
            <a:xfrm>
              <a:off x="6656388" y="5353050"/>
              <a:ext cx="1588" cy="331788"/>
            </a:xfrm>
            <a:prstGeom prst="line">
              <a:avLst/>
            </a:prstGeom>
            <a:ln w="2381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42" name="Text Box 6"/>
          <p:cNvSpPr txBox="1">
            <a:spLocks noChangeArrowheads="1"/>
          </p:cNvSpPr>
          <p:nvPr/>
        </p:nvSpPr>
        <p:spPr bwMode="auto">
          <a:xfrm>
            <a:off x="119337" y="1"/>
            <a:ext cx="12241360" cy="740510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en-US" altLang="zh-CN" sz="3200" dirty="0"/>
              <a:t>int Index(</a:t>
            </a:r>
            <a:r>
              <a:rPr lang="en-US" altLang="zh-CN" sz="3200" dirty="0" err="1"/>
              <a:t>SStr</a:t>
            </a:r>
            <a:r>
              <a:rPr lang="en-US" altLang="zh-CN" sz="3200" dirty="0"/>
              <a:t> S, </a:t>
            </a:r>
            <a:r>
              <a:rPr lang="en-US" altLang="zh-CN" sz="3200" dirty="0" err="1"/>
              <a:t>SStrr</a:t>
            </a:r>
            <a:r>
              <a:rPr lang="en-US" altLang="zh-CN" sz="3200" dirty="0"/>
              <a:t> T, int pos) {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en-US" altLang="zh-CN" sz="3200" dirty="0"/>
              <a:t>   </a:t>
            </a:r>
            <a:r>
              <a:rPr lang="en-US" altLang="zh-CN" sz="2400" dirty="0"/>
              <a:t>// </a:t>
            </a:r>
            <a:r>
              <a:rPr lang="zh-CN" altLang="en-US" sz="2400" dirty="0"/>
              <a:t>返回子串</a:t>
            </a:r>
            <a:r>
              <a:rPr lang="en-US" altLang="zh-CN" sz="2400" dirty="0"/>
              <a:t>T</a:t>
            </a:r>
            <a:r>
              <a:rPr lang="zh-CN" altLang="en-US" sz="2400" dirty="0"/>
              <a:t>在主串</a:t>
            </a:r>
            <a:r>
              <a:rPr lang="en-US" altLang="zh-CN" sz="2400" dirty="0"/>
              <a:t>S</a:t>
            </a:r>
            <a:r>
              <a:rPr lang="zh-CN" altLang="en-US" sz="2400" dirty="0"/>
              <a:t>中第</a:t>
            </a:r>
            <a:r>
              <a:rPr lang="en-US" altLang="zh-CN" sz="2400" dirty="0"/>
              <a:t>pos</a:t>
            </a:r>
            <a:r>
              <a:rPr lang="zh-CN" altLang="en-US" sz="2400" dirty="0"/>
              <a:t>个字符之后的位置。若不存在，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sz="2400" dirty="0"/>
              <a:t>    </a:t>
            </a:r>
            <a:r>
              <a:rPr lang="en-US" altLang="zh-CN" sz="2400" dirty="0"/>
              <a:t>// </a:t>
            </a:r>
            <a:r>
              <a:rPr lang="zh-CN" altLang="en-US" sz="2400" dirty="0"/>
              <a:t>则函数值为</a:t>
            </a:r>
            <a:r>
              <a:rPr lang="en-US" altLang="zh-CN" sz="2400" dirty="0"/>
              <a:t>0</a:t>
            </a:r>
            <a:r>
              <a:rPr lang="zh-CN" altLang="en-US" sz="2400" dirty="0"/>
              <a:t>。其中，</a:t>
            </a:r>
            <a:r>
              <a:rPr lang="en-US" altLang="zh-CN" sz="2400" dirty="0"/>
              <a:t>T</a:t>
            </a:r>
            <a:r>
              <a:rPr lang="zh-CN" altLang="en-US" sz="2400" dirty="0"/>
              <a:t>非空，</a:t>
            </a:r>
            <a:r>
              <a:rPr lang="en-US" altLang="zh-CN" sz="2400" dirty="0"/>
              <a:t>1≤pos≤StrLength(S)</a:t>
            </a:r>
            <a:r>
              <a:rPr lang="zh-CN" altLang="en-US" sz="2400" dirty="0"/>
              <a:t>。</a:t>
            </a:r>
            <a:endParaRPr lang="zh-CN" altLang="en-US" sz="3200" dirty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sz="3200" dirty="0"/>
              <a:t>    </a:t>
            </a:r>
            <a:r>
              <a:rPr lang="en-US" altLang="zh-CN" sz="3200" dirty="0"/>
              <a:t>int </a:t>
            </a:r>
            <a:r>
              <a:rPr lang="en-US" altLang="zh-CN" sz="3200" dirty="0" err="1"/>
              <a:t>i</a:t>
            </a:r>
            <a:r>
              <a:rPr lang="en-US" altLang="zh-CN" sz="3200" dirty="0"/>
              <a:t> = pos;   j = 1;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sz="3200" dirty="0"/>
              <a:t>  </a:t>
            </a:r>
            <a:r>
              <a:rPr lang="en-US" altLang="zh-CN" sz="32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/>
              <a:t>if (!S || !T || T[0]&lt;=0 || pos&lt;1 || pos&gt;S[0]) return 0; // </a:t>
            </a:r>
            <a:r>
              <a:rPr lang="zh-CN" altLang="zh-CN" sz="2400" dirty="0"/>
              <a:t>检查参数合法性</a:t>
            </a:r>
            <a:endParaRPr lang="en-US" altLang="zh-CN" sz="2400" dirty="0"/>
          </a:p>
          <a:p>
            <a:pPr eaLnBrk="1" hangingPunct="1">
              <a:lnSpc>
                <a:spcPct val="120000"/>
              </a:lnSpc>
              <a:defRPr/>
            </a:pPr>
            <a:r>
              <a:rPr lang="en-US" altLang="zh-CN" sz="3200" dirty="0"/>
              <a:t>    while (</a:t>
            </a:r>
            <a:r>
              <a:rPr lang="en-US" altLang="zh-CN" sz="3200" dirty="0" err="1"/>
              <a:t>i</a:t>
            </a:r>
            <a:r>
              <a:rPr lang="en-US" altLang="zh-CN" sz="3200" dirty="0"/>
              <a:t> &lt;= S[0] &amp;&amp; j &lt;= T[0]) {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en-US" altLang="zh-CN" sz="3200" dirty="0"/>
              <a:t>      </a:t>
            </a:r>
            <a:r>
              <a:rPr lang="en-US" altLang="zh-CN" sz="3200" dirty="0">
                <a:solidFill>
                  <a:srgbClr val="0000FF"/>
                </a:solidFill>
              </a:rPr>
              <a:t>if (S[</a:t>
            </a:r>
            <a:r>
              <a:rPr lang="en-US" altLang="zh-CN" sz="3200" dirty="0" err="1">
                <a:solidFill>
                  <a:srgbClr val="0000FF"/>
                </a:solidFill>
              </a:rPr>
              <a:t>i</a:t>
            </a:r>
            <a:r>
              <a:rPr lang="en-US" altLang="zh-CN" sz="3200" dirty="0">
                <a:solidFill>
                  <a:srgbClr val="0000FF"/>
                </a:solidFill>
              </a:rPr>
              <a:t>] == T[j]) { ++</a:t>
            </a:r>
            <a:r>
              <a:rPr lang="en-US" altLang="zh-CN" sz="3200" dirty="0" err="1">
                <a:solidFill>
                  <a:srgbClr val="0000FF"/>
                </a:solidFill>
              </a:rPr>
              <a:t>i</a:t>
            </a:r>
            <a:r>
              <a:rPr lang="en-US" altLang="zh-CN" sz="3200" dirty="0">
                <a:solidFill>
                  <a:srgbClr val="0000FF"/>
                </a:solidFill>
              </a:rPr>
              <a:t>;  ++j; }   </a:t>
            </a:r>
            <a:r>
              <a:rPr lang="en-US" altLang="zh-CN" dirty="0"/>
              <a:t>// </a:t>
            </a:r>
            <a:r>
              <a:rPr lang="zh-CN" altLang="en-US" dirty="0"/>
              <a:t>继续比较后继字符</a:t>
            </a:r>
            <a:endParaRPr lang="zh-CN" altLang="en-US" sz="3200" dirty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sz="3200" dirty="0"/>
              <a:t>      </a:t>
            </a:r>
            <a:r>
              <a:rPr lang="en-US" altLang="zh-CN" sz="3200" dirty="0">
                <a:solidFill>
                  <a:srgbClr val="0000FF"/>
                </a:solidFill>
              </a:rPr>
              <a:t>else { </a:t>
            </a:r>
            <a:r>
              <a:rPr lang="en-US" altLang="zh-CN" sz="3200" dirty="0" err="1">
                <a:solidFill>
                  <a:srgbClr val="0000FF"/>
                </a:solidFill>
              </a:rPr>
              <a:t>i</a:t>
            </a:r>
            <a:r>
              <a:rPr lang="en-US" altLang="zh-CN" sz="3200" dirty="0">
                <a:solidFill>
                  <a:srgbClr val="0000FF"/>
                </a:solidFill>
              </a:rPr>
              <a:t> = i-j+2;   j = 1; }</a:t>
            </a:r>
            <a:r>
              <a:rPr lang="en-US" altLang="zh-CN" sz="3200" dirty="0"/>
              <a:t>    </a:t>
            </a:r>
            <a:r>
              <a:rPr lang="en-US" altLang="zh-CN" dirty="0"/>
              <a:t>// </a:t>
            </a:r>
            <a:r>
              <a:rPr lang="zh-CN" altLang="en-US" dirty="0"/>
              <a:t>指针后退重新开始匹配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sz="3200" dirty="0"/>
              <a:t>    </a:t>
            </a:r>
            <a:r>
              <a:rPr lang="en-US" altLang="zh-CN" sz="3200" dirty="0"/>
              <a:t>}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en-US" altLang="zh-CN" sz="3200" dirty="0"/>
              <a:t>   if (j &gt; T[0])  return  </a:t>
            </a:r>
            <a:r>
              <a:rPr lang="en-US" altLang="zh-CN" sz="3200" dirty="0" err="1"/>
              <a:t>i</a:t>
            </a:r>
            <a:r>
              <a:rPr lang="en-US" altLang="zh-CN" sz="3200" dirty="0"/>
              <a:t>-T[0];       //</a:t>
            </a:r>
            <a:r>
              <a:rPr lang="zh-CN" altLang="en-US" sz="3200" dirty="0"/>
              <a:t>匹配成功</a:t>
            </a:r>
            <a:endParaRPr lang="en-US" altLang="zh-CN" sz="3200" dirty="0"/>
          </a:p>
          <a:p>
            <a:pPr eaLnBrk="1" hangingPunct="1">
              <a:lnSpc>
                <a:spcPct val="120000"/>
              </a:lnSpc>
              <a:defRPr/>
            </a:pPr>
            <a:r>
              <a:rPr lang="en-US" altLang="zh-CN" sz="3200" dirty="0"/>
              <a:t>   else return 0;                             //</a:t>
            </a:r>
            <a:r>
              <a:rPr lang="zh-CN" altLang="en-US" sz="3200" dirty="0"/>
              <a:t>无法匹配</a:t>
            </a:r>
            <a:endParaRPr lang="en-US" altLang="zh-CN" sz="3200" dirty="0"/>
          </a:p>
          <a:p>
            <a:pPr eaLnBrk="1" hangingPunct="1">
              <a:lnSpc>
                <a:spcPct val="120000"/>
              </a:lnSpc>
              <a:defRPr/>
            </a:pPr>
            <a:r>
              <a:rPr lang="en-US" altLang="zh-CN" sz="3200" dirty="0"/>
              <a:t>} // Index</a:t>
            </a:r>
          </a:p>
          <a:p>
            <a:pPr eaLnBrk="1" hangingPunct="1">
              <a:defRPr/>
            </a:pPr>
            <a:r>
              <a:rPr kumimoji="1"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	</a:t>
            </a:r>
          </a:p>
        </p:txBody>
      </p:sp>
    </p:spTree>
  </p:cSld>
  <p:clrMapOvr>
    <a:masterClrMapping/>
  </p:clrMapOvr>
  <p:transition>
    <p:strips dir="rd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42" name="Text Box 6"/>
          <p:cNvSpPr txBox="1">
            <a:spLocks noChangeArrowheads="1"/>
          </p:cNvSpPr>
          <p:nvPr/>
        </p:nvSpPr>
        <p:spPr bwMode="auto">
          <a:xfrm>
            <a:off x="623392" y="945735"/>
            <a:ext cx="11305255" cy="49379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kumimoji="1" lang="zh-CN" altLang="en-US" sz="240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这种方法又被称为</a:t>
            </a:r>
            <a:r>
              <a:rPr kumimoji="1" lang="zh-CN" altLang="en-US" sz="2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暴力(Brute Force,BF)算法</a:t>
            </a:r>
            <a:r>
              <a:rPr kumimoji="1" lang="zh-CN" altLang="en-US" sz="240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，匹配过程易于理解，在某些应用场合也能使用。但是一些极端的情况下，如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kumimoji="1" lang="zh-CN" altLang="en-US" sz="240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主串</a:t>
            </a:r>
            <a:r>
              <a:rPr kumimoji="1" lang="en-US" altLang="zh-CN" sz="240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S = ‘00000000000000000000000000000000000000000000000001’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kumimoji="1" lang="zh-CN" altLang="en-US" sz="240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子串</a:t>
            </a:r>
            <a:r>
              <a:rPr kumimoji="1" lang="en-US" altLang="zh-CN" sz="240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T = ‘00000001’</a:t>
            </a:r>
          </a:p>
          <a:p>
            <a:pPr eaLnBrk="1" hangingPunct="1">
              <a:lnSpc>
                <a:spcPct val="120000"/>
              </a:lnSpc>
              <a:defRPr/>
            </a:pPr>
            <a:endParaRPr kumimoji="1" lang="en-US" altLang="zh-CN" sz="2400" dirty="0">
              <a:solidFill>
                <a:srgbClr val="006600"/>
              </a:solidFill>
              <a:effectLst>
                <a:outerShdw blurRad="38100" dist="38100" dir="2700000" algn="tl">
                  <a:srgbClr val="C0C0C0"/>
                </a:outerShdw>
              </a:effectLst>
              <a:sym typeface="+mn-ea"/>
            </a:endParaRPr>
          </a:p>
          <a:p>
            <a:pPr eaLnBrk="1" hangingPunct="1">
              <a:lnSpc>
                <a:spcPct val="120000"/>
              </a:lnSpc>
              <a:defRPr/>
            </a:pPr>
            <a:r>
              <a:rPr kumimoji="1" lang="zh-CN" altLang="en-US" sz="240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主串包括</a:t>
            </a:r>
            <a:r>
              <a:rPr kumimoji="1" lang="en-US" altLang="zh-CN" sz="240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49</a:t>
            </a:r>
            <a:r>
              <a:rPr kumimoji="1" lang="zh-CN" altLang="en-US" sz="240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个</a:t>
            </a:r>
            <a:r>
              <a:rPr kumimoji="1" lang="en-US" altLang="zh-CN" sz="240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0</a:t>
            </a:r>
            <a:r>
              <a:rPr kumimoji="1" lang="zh-CN" altLang="en-US" sz="240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和</a:t>
            </a:r>
            <a:r>
              <a:rPr kumimoji="1" lang="en-US" altLang="zh-CN" sz="240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1</a:t>
            </a:r>
            <a:r>
              <a:rPr kumimoji="1" lang="zh-CN" altLang="en-US" sz="240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个</a:t>
            </a:r>
            <a:r>
              <a:rPr kumimoji="1" lang="en-US" altLang="zh-CN" sz="240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1</a:t>
            </a:r>
            <a:r>
              <a:rPr kumimoji="1" lang="zh-CN" altLang="en-US" sz="240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，子串包括</a:t>
            </a:r>
            <a:r>
              <a:rPr kumimoji="1" lang="en-US" altLang="zh-CN" sz="240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7</a:t>
            </a:r>
            <a:r>
              <a:rPr kumimoji="1" lang="zh-CN" altLang="en-US" sz="240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个</a:t>
            </a:r>
            <a:r>
              <a:rPr kumimoji="1" lang="en-US" altLang="zh-CN" sz="240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0</a:t>
            </a:r>
            <a:r>
              <a:rPr kumimoji="1" lang="zh-CN" altLang="en-US" sz="240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和</a:t>
            </a:r>
            <a:r>
              <a:rPr kumimoji="1" lang="en-US" altLang="zh-CN" sz="240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1</a:t>
            </a:r>
            <a:r>
              <a:rPr kumimoji="1" lang="zh-CN" altLang="en-US" sz="240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个</a:t>
            </a:r>
            <a:r>
              <a:rPr kumimoji="1" lang="en-US" altLang="zh-CN" sz="240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1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kumimoji="1" lang="zh-CN" altLang="en-US" sz="240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前面</a:t>
            </a:r>
            <a:r>
              <a:rPr kumimoji="1" lang="en-US" altLang="zh-CN" sz="240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42</a:t>
            </a:r>
            <a:r>
              <a:rPr kumimoji="1" lang="zh-CN" altLang="en-US" sz="240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趟匹配过程中子串的前面</a:t>
            </a:r>
            <a:r>
              <a:rPr kumimoji="1" lang="en-US" altLang="zh-CN" sz="240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7</a:t>
            </a:r>
            <a:r>
              <a:rPr kumimoji="1" lang="zh-CN" altLang="en-US" sz="240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个</a:t>
            </a:r>
            <a:r>
              <a:rPr kumimoji="1" lang="en-US" altLang="zh-CN" sz="240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0</a:t>
            </a:r>
            <a:r>
              <a:rPr kumimoji="1" lang="zh-CN" altLang="en-US" sz="240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都跟主串匹配，最后一个</a:t>
            </a:r>
            <a:r>
              <a:rPr kumimoji="1" lang="en-US" altLang="zh-CN" sz="240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1</a:t>
            </a:r>
            <a:r>
              <a:rPr kumimoji="1" lang="zh-CN" altLang="en-US" sz="240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不匹配。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kumimoji="1" lang="zh-CN" altLang="en-US" sz="240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如果主串长度为</a:t>
            </a:r>
            <a:r>
              <a:rPr kumimoji="1" lang="en-US" altLang="zh-CN" sz="240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n</a:t>
            </a:r>
            <a:r>
              <a:rPr kumimoji="1" lang="zh-CN" altLang="en-US" sz="240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，子串长度为</a:t>
            </a:r>
            <a:r>
              <a:rPr kumimoji="1" lang="en-US" altLang="zh-CN" sz="240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m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kumimoji="1" lang="zh-CN" altLang="en-US" sz="240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最坏的情况下，子串每次都比较到第</a:t>
            </a:r>
            <a:r>
              <a:rPr kumimoji="1" lang="en-US" altLang="zh-CN" sz="240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m</a:t>
            </a:r>
            <a:r>
              <a:rPr kumimoji="1" lang="zh-CN" altLang="en-US" sz="240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位，主串需要比较</a:t>
            </a:r>
            <a:r>
              <a:rPr kumimoji="1" lang="en-US" altLang="zh-CN" sz="240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(n-m)</a:t>
            </a:r>
            <a:r>
              <a:rPr kumimoji="1" lang="zh-CN" altLang="en-US" sz="240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趟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kumimoji="1" lang="zh-CN" altLang="en-US" sz="240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一共需要的操作是</a:t>
            </a:r>
            <a:r>
              <a:rPr kumimoji="1" lang="en-US" altLang="zh-CN" sz="240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m(n-m),</a:t>
            </a:r>
            <a:r>
              <a:rPr kumimoji="1" lang="zh-CN" alt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时间复杂度是</a:t>
            </a:r>
            <a:r>
              <a:rPr kumimoji="1"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O(n*m)</a:t>
            </a:r>
          </a:p>
          <a:p>
            <a:pPr eaLnBrk="1" hangingPunct="1">
              <a:lnSpc>
                <a:spcPct val="120000"/>
              </a:lnSpc>
              <a:defRPr/>
            </a:pPr>
            <a:endParaRPr kumimoji="1" lang="en-US" altLang="zh-CN" sz="24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sym typeface="+mn-ea"/>
            </a:endParaRPr>
          </a:p>
        </p:txBody>
      </p:sp>
    </p:spTree>
  </p:cSld>
  <p:clrMapOvr>
    <a:masterClrMapping/>
  </p:clrMapOvr>
  <p:transition>
    <p:strips dir="rd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>
            <a:normAutofit/>
          </a:bodyPr>
          <a:lstStyle/>
          <a:p>
            <a:r>
              <a:rPr lang="en-US" altLang="zh-CN" sz="5400" dirty="0">
                <a:latin typeface="+mj-lt"/>
                <a:ea typeface="+mj-ea"/>
                <a:cs typeface="+mj-cs"/>
              </a:rPr>
              <a:t>summarize</a:t>
            </a:r>
            <a:endParaRPr lang="zh-CN" altLang="en-US" sz="5400" dirty="0"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5400" y="1988840"/>
            <a:ext cx="9286800" cy="4107162"/>
          </a:xfr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eaLnBrk="1" hangingPunct="1">
              <a:lnSpc>
                <a:spcPct val="150000"/>
              </a:lnSpc>
              <a:defRPr/>
            </a:pPr>
            <a:r>
              <a:rPr kumimoji="1" lang="zh-CN" altLang="en-US" sz="3600" dirty="0">
                <a:ea typeface="楷体_GB2312" pitchFamily="49" charset="-122"/>
              </a:rPr>
              <a:t>理解串的定义</a:t>
            </a:r>
            <a:endParaRPr kumimoji="1" lang="en-US" altLang="zh-CN" sz="3600" dirty="0">
              <a:ea typeface="楷体_GB2312" pitchFamily="49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kumimoji="1" lang="zh-CN" altLang="en-US" sz="3600" dirty="0">
                <a:ea typeface="楷体_GB2312" pitchFamily="49" charset="-122"/>
              </a:rPr>
              <a:t>掌握对串的封装方法及实现</a:t>
            </a:r>
            <a:endParaRPr kumimoji="1" lang="en-US" altLang="zh-CN" sz="3600" dirty="0">
              <a:ea typeface="楷体_GB2312" pitchFamily="49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kumimoji="1" lang="zh-CN" altLang="en-US" sz="3600" dirty="0">
                <a:ea typeface="楷体_GB2312" pitchFamily="49" charset="-122"/>
              </a:rPr>
              <a:t>字符串模式匹配算法</a:t>
            </a:r>
            <a:endParaRPr kumimoji="1" lang="en-US" altLang="zh-CN" sz="3600" dirty="0">
              <a:ea typeface="楷体_GB2312" pitchFamily="49" charset="-122"/>
            </a:endParaRPr>
          </a:p>
          <a:p>
            <a:pPr lvl="1" eaLnBrk="1" hangingPunct="1">
              <a:lnSpc>
                <a:spcPct val="150000"/>
              </a:lnSpc>
              <a:defRPr/>
            </a:pPr>
            <a:r>
              <a:rPr kumimoji="1"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掌握简单字符串模式匹配算法</a:t>
            </a:r>
            <a:endParaRPr kumimoji="1" lang="zh-CN" altLang="en-US" sz="3200" dirty="0"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ransition>
    <p:strips dir="rd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jlmMThiYjNiNGI4MDdiZDdmZjVmMmQwODZiZDI1ZjAifQ==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3_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311</TotalTime>
  <Words>4804</Words>
  <Application>Microsoft Office PowerPoint</Application>
  <PresentationFormat>宽屏</PresentationFormat>
  <Paragraphs>768</Paragraphs>
  <Slides>49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4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49</vt:i4>
      </vt:variant>
    </vt:vector>
  </HeadingPairs>
  <TitlesOfParts>
    <vt:vector size="69" baseType="lpstr">
      <vt:lpstr>等线</vt:lpstr>
      <vt:lpstr>等线 Light</vt:lpstr>
      <vt:lpstr>黑体</vt:lpstr>
      <vt:lpstr>楷体_GB2312</vt:lpstr>
      <vt:lpstr>隶书</vt:lpstr>
      <vt:lpstr>宋体</vt:lpstr>
      <vt:lpstr>微软雅黑</vt:lpstr>
      <vt:lpstr>Arial</vt:lpstr>
      <vt:lpstr>Calibri</vt:lpstr>
      <vt:lpstr>Calibri Light</vt:lpstr>
      <vt:lpstr>Courier New</vt:lpstr>
      <vt:lpstr>Symbol</vt:lpstr>
      <vt:lpstr>Times New Roman</vt:lpstr>
      <vt:lpstr>Wingdings</vt:lpstr>
      <vt:lpstr>Office 主题​​</vt:lpstr>
      <vt:lpstr>1_Office 主题​​</vt:lpstr>
      <vt:lpstr>2_Office 主题​​</vt:lpstr>
      <vt:lpstr>3_Office 主题​​</vt:lpstr>
      <vt:lpstr>MS_ClipArt_Gallery.2</vt:lpstr>
      <vt:lpstr>Visio.Drawing.11</vt:lpstr>
      <vt:lpstr>PowerPoint 演示文稿</vt:lpstr>
      <vt:lpstr>outline</vt:lpstr>
      <vt:lpstr>串的基本概念</vt:lpstr>
      <vt:lpstr>PowerPoint 演示文稿</vt:lpstr>
      <vt:lpstr>PowerPoint 演示文稿</vt:lpstr>
      <vt:lpstr>串的抽象数据类型定义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4.3 字符串模式匹配算法</vt:lpstr>
      <vt:lpstr>模式匹配</vt:lpstr>
      <vt:lpstr>一、简单字符串模式匹配算法 </vt:lpstr>
      <vt:lpstr>PowerPoint 演示文稿</vt:lpstr>
      <vt:lpstr>PowerPoint 演示文稿</vt:lpstr>
      <vt:lpstr>PowerPoint 演示文稿</vt:lpstr>
      <vt:lpstr>PowerPoint 演示文稿</vt:lpstr>
      <vt:lpstr>summarize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djzx</dc:creator>
  <cp:lastModifiedBy>Windows 用户</cp:lastModifiedBy>
  <cp:revision>215</cp:revision>
  <dcterms:created xsi:type="dcterms:W3CDTF">2000-01-30T08:24:00Z</dcterms:created>
  <dcterms:modified xsi:type="dcterms:W3CDTF">2026-10-13T01:18:15Z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1033-12.2.0.22549</vt:lpwstr>
  </property>
  <property fmtid="{D5CDD505-2E9C-101B-9397-08002B2CF9AE}" pid="3" name="ICV">
    <vt:lpwstr>6644E79B039D44CBA029AC6EC65630A9_12</vt:lpwstr>
  </property>
</Properties>
</file>