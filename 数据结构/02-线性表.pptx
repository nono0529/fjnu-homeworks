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7.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8.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9.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6" r:id="rId1"/>
    <p:sldMasterId id="2147483690" r:id="rId2"/>
    <p:sldMasterId id="2147483702" r:id="rId3"/>
    <p:sldMasterId id="2147483731" r:id="rId4"/>
    <p:sldMasterId id="2147483744" r:id="rId5"/>
    <p:sldMasterId id="2147483757" r:id="rId6"/>
    <p:sldMasterId id="2147483770" r:id="rId7"/>
    <p:sldMasterId id="2147483786" r:id="rId8"/>
    <p:sldMasterId id="2147483799" r:id="rId9"/>
    <p:sldMasterId id="2147483812" r:id="rId10"/>
  </p:sldMasterIdLst>
  <p:notesMasterIdLst>
    <p:notesMasterId r:id="rId100"/>
  </p:notesMasterIdLst>
  <p:sldIdLst>
    <p:sldId id="260" r:id="rId11"/>
    <p:sldId id="335" r:id="rId12"/>
    <p:sldId id="328" r:id="rId13"/>
    <p:sldId id="336" r:id="rId14"/>
    <p:sldId id="329" r:id="rId15"/>
    <p:sldId id="262" r:id="rId16"/>
    <p:sldId id="337" r:id="rId17"/>
    <p:sldId id="464" r:id="rId18"/>
    <p:sldId id="339" r:id="rId19"/>
    <p:sldId id="465" r:id="rId20"/>
    <p:sldId id="466" r:id="rId21"/>
    <p:sldId id="467" r:id="rId22"/>
    <p:sldId id="468" r:id="rId23"/>
    <p:sldId id="469" r:id="rId24"/>
    <p:sldId id="470" r:id="rId25"/>
    <p:sldId id="471" r:id="rId26"/>
    <p:sldId id="472" r:id="rId27"/>
    <p:sldId id="473" r:id="rId28"/>
    <p:sldId id="474" r:id="rId29"/>
    <p:sldId id="475" r:id="rId30"/>
    <p:sldId id="476" r:id="rId31"/>
    <p:sldId id="478" r:id="rId32"/>
    <p:sldId id="479" r:id="rId33"/>
    <p:sldId id="480" r:id="rId34"/>
    <p:sldId id="512" r:id="rId35"/>
    <p:sldId id="513" r:id="rId36"/>
    <p:sldId id="514" r:id="rId37"/>
    <p:sldId id="267" r:id="rId38"/>
    <p:sldId id="330" r:id="rId39"/>
    <p:sldId id="340" r:id="rId40"/>
    <p:sldId id="341" r:id="rId41"/>
    <p:sldId id="517" r:id="rId42"/>
    <p:sldId id="557" r:id="rId43"/>
    <p:sldId id="518" r:id="rId44"/>
    <p:sldId id="273" r:id="rId45"/>
    <p:sldId id="560" r:id="rId46"/>
    <p:sldId id="522" r:id="rId47"/>
    <p:sldId id="561" r:id="rId48"/>
    <p:sldId id="562" r:id="rId49"/>
    <p:sldId id="523" r:id="rId50"/>
    <p:sldId id="350" r:id="rId51"/>
    <p:sldId id="268" r:id="rId52"/>
    <p:sldId id="256" r:id="rId53"/>
    <p:sldId id="269" r:id="rId54"/>
    <p:sldId id="351" r:id="rId55"/>
    <p:sldId id="527" r:id="rId56"/>
    <p:sldId id="352" r:id="rId57"/>
    <p:sldId id="274" r:id="rId58"/>
    <p:sldId id="353" r:id="rId59"/>
    <p:sldId id="289" r:id="rId60"/>
    <p:sldId id="356" r:id="rId61"/>
    <p:sldId id="357" r:id="rId62"/>
    <p:sldId id="326" r:id="rId63"/>
    <p:sldId id="331" r:id="rId64"/>
    <p:sldId id="327" r:id="rId65"/>
    <p:sldId id="359" r:id="rId66"/>
    <p:sldId id="360" r:id="rId67"/>
    <p:sldId id="361" r:id="rId68"/>
    <p:sldId id="529" r:id="rId69"/>
    <p:sldId id="530" r:id="rId70"/>
    <p:sldId id="563" r:id="rId71"/>
    <p:sldId id="531" r:id="rId72"/>
    <p:sldId id="532" r:id="rId73"/>
    <p:sldId id="533" r:id="rId74"/>
    <p:sldId id="534" r:id="rId75"/>
    <p:sldId id="535" r:id="rId76"/>
    <p:sldId id="276" r:id="rId77"/>
    <p:sldId id="538" r:id="rId78"/>
    <p:sldId id="539" r:id="rId79"/>
    <p:sldId id="564" r:id="rId80"/>
    <p:sldId id="541" r:id="rId81"/>
    <p:sldId id="542" r:id="rId82"/>
    <p:sldId id="270" r:id="rId83"/>
    <p:sldId id="302" r:id="rId84"/>
    <p:sldId id="303" r:id="rId85"/>
    <p:sldId id="380" r:id="rId86"/>
    <p:sldId id="310" r:id="rId87"/>
    <p:sldId id="381" r:id="rId88"/>
    <p:sldId id="382" r:id="rId89"/>
    <p:sldId id="407" r:id="rId90"/>
    <p:sldId id="383" r:id="rId91"/>
    <p:sldId id="333" r:id="rId92"/>
    <p:sldId id="550" r:id="rId93"/>
    <p:sldId id="551" r:id="rId94"/>
    <p:sldId id="552" r:id="rId95"/>
    <p:sldId id="556" r:id="rId96"/>
    <p:sldId id="409" r:id="rId97"/>
    <p:sldId id="410" r:id="rId98"/>
    <p:sldId id="546" r:id="rId99"/>
  </p:sldIdLst>
  <p:sldSz cx="12192000" cy="6858000"/>
  <p:notesSz cx="6858000" cy="9144000"/>
  <p:custDataLst>
    <p:tags r:id="rId101"/>
  </p:custDataLst>
  <p:defaultTextStyle>
    <a:defPPr>
      <a:defRPr lang="zh-CN"/>
    </a:defPPr>
    <a:lvl1pPr algn="l" rtl="0" fontAlgn="base">
      <a:spcBef>
        <a:spcPct val="0"/>
      </a:spcBef>
      <a:spcAft>
        <a:spcPct val="0"/>
      </a:spcAft>
      <a:defRPr kumimoji="1" sz="3600" b="1" kern="1200">
        <a:solidFill>
          <a:schemeClr val="tx2"/>
        </a:solidFill>
        <a:latin typeface="楷体_GB2312"/>
        <a:ea typeface="宋体" panose="02010600030101010101" pitchFamily="2" charset="-122"/>
        <a:cs typeface="楷体_GB2312"/>
      </a:defRPr>
    </a:lvl1pPr>
    <a:lvl2pPr marL="457200" algn="l" rtl="0" fontAlgn="base">
      <a:spcBef>
        <a:spcPct val="0"/>
      </a:spcBef>
      <a:spcAft>
        <a:spcPct val="0"/>
      </a:spcAft>
      <a:defRPr kumimoji="1" sz="3600" b="1" kern="1200">
        <a:solidFill>
          <a:schemeClr val="tx2"/>
        </a:solidFill>
        <a:latin typeface="楷体_GB2312"/>
        <a:ea typeface="宋体" panose="02010600030101010101" pitchFamily="2" charset="-122"/>
        <a:cs typeface="楷体_GB2312"/>
      </a:defRPr>
    </a:lvl2pPr>
    <a:lvl3pPr marL="914400" algn="l" rtl="0" fontAlgn="base">
      <a:spcBef>
        <a:spcPct val="0"/>
      </a:spcBef>
      <a:spcAft>
        <a:spcPct val="0"/>
      </a:spcAft>
      <a:defRPr kumimoji="1" sz="3600" b="1" kern="1200">
        <a:solidFill>
          <a:schemeClr val="tx2"/>
        </a:solidFill>
        <a:latin typeface="楷体_GB2312"/>
        <a:ea typeface="宋体" panose="02010600030101010101" pitchFamily="2" charset="-122"/>
        <a:cs typeface="楷体_GB2312"/>
      </a:defRPr>
    </a:lvl3pPr>
    <a:lvl4pPr marL="1371600" algn="l" rtl="0" fontAlgn="base">
      <a:spcBef>
        <a:spcPct val="0"/>
      </a:spcBef>
      <a:spcAft>
        <a:spcPct val="0"/>
      </a:spcAft>
      <a:defRPr kumimoji="1" sz="3600" b="1" kern="1200">
        <a:solidFill>
          <a:schemeClr val="tx2"/>
        </a:solidFill>
        <a:latin typeface="楷体_GB2312"/>
        <a:ea typeface="宋体" panose="02010600030101010101" pitchFamily="2" charset="-122"/>
        <a:cs typeface="楷体_GB2312"/>
      </a:defRPr>
    </a:lvl4pPr>
    <a:lvl5pPr marL="1828800" algn="l" rtl="0" fontAlgn="base">
      <a:spcBef>
        <a:spcPct val="0"/>
      </a:spcBef>
      <a:spcAft>
        <a:spcPct val="0"/>
      </a:spcAft>
      <a:defRPr kumimoji="1" sz="3600" b="1" kern="1200">
        <a:solidFill>
          <a:schemeClr val="tx2"/>
        </a:solidFill>
        <a:latin typeface="楷体_GB2312"/>
        <a:ea typeface="宋体" panose="02010600030101010101" pitchFamily="2" charset="-122"/>
        <a:cs typeface="楷体_GB2312"/>
      </a:defRPr>
    </a:lvl5pPr>
    <a:lvl6pPr marL="2286000" algn="l" defTabSz="914400" rtl="0" eaLnBrk="1" latinLnBrk="0" hangingPunct="1">
      <a:defRPr kumimoji="1" sz="3600" b="1" kern="1200">
        <a:solidFill>
          <a:schemeClr val="tx2"/>
        </a:solidFill>
        <a:latin typeface="楷体_GB2312"/>
        <a:ea typeface="宋体" panose="02010600030101010101" pitchFamily="2" charset="-122"/>
        <a:cs typeface="楷体_GB2312"/>
      </a:defRPr>
    </a:lvl6pPr>
    <a:lvl7pPr marL="2743200" algn="l" defTabSz="914400" rtl="0" eaLnBrk="1" latinLnBrk="0" hangingPunct="1">
      <a:defRPr kumimoji="1" sz="3600" b="1" kern="1200">
        <a:solidFill>
          <a:schemeClr val="tx2"/>
        </a:solidFill>
        <a:latin typeface="楷体_GB2312"/>
        <a:ea typeface="宋体" panose="02010600030101010101" pitchFamily="2" charset="-122"/>
        <a:cs typeface="楷体_GB2312"/>
      </a:defRPr>
    </a:lvl7pPr>
    <a:lvl8pPr marL="3200400" algn="l" defTabSz="914400" rtl="0" eaLnBrk="1" latinLnBrk="0" hangingPunct="1">
      <a:defRPr kumimoji="1" sz="3600" b="1" kern="1200">
        <a:solidFill>
          <a:schemeClr val="tx2"/>
        </a:solidFill>
        <a:latin typeface="楷体_GB2312"/>
        <a:ea typeface="宋体" panose="02010600030101010101" pitchFamily="2" charset="-122"/>
        <a:cs typeface="楷体_GB2312"/>
      </a:defRPr>
    </a:lvl8pPr>
    <a:lvl9pPr marL="3657600" algn="l" defTabSz="914400" rtl="0" eaLnBrk="1" latinLnBrk="0" hangingPunct="1">
      <a:defRPr kumimoji="1" sz="3600" b="1" kern="1200">
        <a:solidFill>
          <a:schemeClr val="tx2"/>
        </a:solidFill>
        <a:latin typeface="楷体_GB2312"/>
        <a:ea typeface="宋体" panose="02010600030101010101" pitchFamily="2" charset="-122"/>
        <a:cs typeface="楷体_GB2312"/>
      </a:defRPr>
    </a:lvl9pPr>
  </p:defaultTextStyle>
  <p:extLst>
    <p:ext uri="{EFAFB233-063F-42B5-8137-9DF3F51BA10A}">
      <p15:sldGuideLst xmlns:p15="http://schemas.microsoft.com/office/powerpoint/2012/main">
        <p15:guide id="1" orient="horz" pos="2118" userDrawn="1">
          <p15:clr>
            <a:srgbClr val="A4A3A4"/>
          </p15:clr>
        </p15:guide>
        <p15:guide id="2"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A50021"/>
    <a:srgbClr val="000099"/>
    <a:srgbClr val="14AC88"/>
    <a:srgbClr val="FF6600"/>
    <a:srgbClr val="FF9900"/>
    <a:srgbClr val="FFFF66"/>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71243" autoAdjust="0"/>
  </p:normalViewPr>
  <p:slideViewPr>
    <p:cSldViewPr showGuides="1">
      <p:cViewPr varScale="1">
        <p:scale>
          <a:sx n="52" d="100"/>
          <a:sy n="52" d="100"/>
        </p:scale>
        <p:origin x="570" y="60"/>
      </p:cViewPr>
      <p:guideLst>
        <p:guide orient="horz" pos="2118"/>
        <p:guide pos="3888"/>
      </p:guideLst>
    </p:cSldViewPr>
  </p:slideViewPr>
  <p:outlineViewPr>
    <p:cViewPr>
      <p:scale>
        <a:sx n="33" d="100"/>
        <a:sy n="33" d="100"/>
      </p:scale>
      <p:origin x="0" y="0"/>
    </p:cViewPr>
    <p:sldLst>
      <p:sld r:id="rId1" collapse="1"/>
      <p:sld r:id="rId2" collapse="1"/>
    </p:sldLst>
  </p:outlineViewPr>
  <p:notesTextViewPr>
    <p:cViewPr>
      <p:scale>
        <a:sx n="3" d="2"/>
        <a:sy n="3" d="2"/>
      </p:scale>
      <p:origin x="0" y="0"/>
    </p:cViewPr>
  </p:notesTextViewPr>
  <p:sorterViewPr>
    <p:cViewPr>
      <p:scale>
        <a:sx n="66" d="100"/>
        <a:sy n="66" d="100"/>
      </p:scale>
      <p:origin x="0" y="422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slide" Target="slides/slide74.xml"/><Relationship Id="rId89" Type="http://schemas.openxmlformats.org/officeDocument/2006/relationships/slide" Target="slides/slide79.xml"/><Relationship Id="rId16" Type="http://schemas.openxmlformats.org/officeDocument/2006/relationships/slide" Target="slides/slide6.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102" Type="http://schemas.openxmlformats.org/officeDocument/2006/relationships/presProps" Target="presProps.xml"/><Relationship Id="rId5" Type="http://schemas.openxmlformats.org/officeDocument/2006/relationships/slideMaster" Target="slideMasters/slideMaster5.xml"/><Relationship Id="rId90" Type="http://schemas.openxmlformats.org/officeDocument/2006/relationships/slide" Target="slides/slide80.xml"/><Relationship Id="rId95" Type="http://schemas.openxmlformats.org/officeDocument/2006/relationships/slide" Target="slides/slide85.xml"/><Relationship Id="rId22" Type="http://schemas.openxmlformats.org/officeDocument/2006/relationships/slide" Target="slides/slide12.xml"/><Relationship Id="rId27" Type="http://schemas.openxmlformats.org/officeDocument/2006/relationships/slide" Target="slides/slide17.xml"/><Relationship Id="rId43" Type="http://schemas.openxmlformats.org/officeDocument/2006/relationships/slide" Target="slides/slide33.xml"/><Relationship Id="rId48" Type="http://schemas.openxmlformats.org/officeDocument/2006/relationships/slide" Target="slides/slide38.xml"/><Relationship Id="rId64" Type="http://schemas.openxmlformats.org/officeDocument/2006/relationships/slide" Target="slides/slide54.xml"/><Relationship Id="rId69" Type="http://schemas.openxmlformats.org/officeDocument/2006/relationships/slide" Target="slides/slide59.xml"/><Relationship Id="rId80" Type="http://schemas.openxmlformats.org/officeDocument/2006/relationships/slide" Target="slides/slide70.xml"/><Relationship Id="rId85" Type="http://schemas.openxmlformats.org/officeDocument/2006/relationships/slide" Target="slides/slide75.xml"/><Relationship Id="rId12" Type="http://schemas.openxmlformats.org/officeDocument/2006/relationships/slide" Target="slides/slide2.xml"/><Relationship Id="rId17" Type="http://schemas.openxmlformats.org/officeDocument/2006/relationships/slide" Target="slides/slide7.xml"/><Relationship Id="rId33" Type="http://schemas.openxmlformats.org/officeDocument/2006/relationships/slide" Target="slides/slide23.xml"/><Relationship Id="rId38" Type="http://schemas.openxmlformats.org/officeDocument/2006/relationships/slide" Target="slides/slide28.xml"/><Relationship Id="rId59" Type="http://schemas.openxmlformats.org/officeDocument/2006/relationships/slide" Target="slides/slide49.xml"/><Relationship Id="rId103" Type="http://schemas.openxmlformats.org/officeDocument/2006/relationships/viewProps" Target="viewProps.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slide" Target="slides/slide73.xml"/><Relationship Id="rId88" Type="http://schemas.openxmlformats.org/officeDocument/2006/relationships/slide" Target="slides/slide78.xml"/><Relationship Id="rId91" Type="http://schemas.openxmlformats.org/officeDocument/2006/relationships/slide" Target="slides/slide81.xml"/><Relationship Id="rId96" Type="http://schemas.openxmlformats.org/officeDocument/2006/relationships/slide" Target="slides/slide86.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slide" Target="slides/slide71.xml"/><Relationship Id="rId86" Type="http://schemas.openxmlformats.org/officeDocument/2006/relationships/slide" Target="slides/slide76.xml"/><Relationship Id="rId94" Type="http://schemas.openxmlformats.org/officeDocument/2006/relationships/slide" Target="slides/slide84.xml"/><Relationship Id="rId99" Type="http://schemas.openxmlformats.org/officeDocument/2006/relationships/slide" Target="slides/slide89.xml"/><Relationship Id="rId101"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97" Type="http://schemas.openxmlformats.org/officeDocument/2006/relationships/slide" Target="slides/slide87.xml"/><Relationship Id="rId104"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61.xml"/><Relationship Id="rId92" Type="http://schemas.openxmlformats.org/officeDocument/2006/relationships/slide" Target="slides/slide82.xml"/><Relationship Id="rId2" Type="http://schemas.openxmlformats.org/officeDocument/2006/relationships/slideMaster" Target="slideMasters/slideMaster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slide" Target="slides/slide77.xml"/><Relationship Id="rId61" Type="http://schemas.openxmlformats.org/officeDocument/2006/relationships/slide" Target="slides/slide51.xml"/><Relationship Id="rId82" Type="http://schemas.openxmlformats.org/officeDocument/2006/relationships/slide" Target="slides/slide72.xml"/><Relationship Id="rId19" Type="http://schemas.openxmlformats.org/officeDocument/2006/relationships/slide" Target="slides/slide9.xml"/><Relationship Id="rId14" Type="http://schemas.openxmlformats.org/officeDocument/2006/relationships/slide" Target="slides/slide4.xml"/><Relationship Id="rId30" Type="http://schemas.openxmlformats.org/officeDocument/2006/relationships/slide" Target="slides/slide20.xml"/><Relationship Id="rId35" Type="http://schemas.openxmlformats.org/officeDocument/2006/relationships/slide" Target="slides/slide25.xml"/><Relationship Id="rId56" Type="http://schemas.openxmlformats.org/officeDocument/2006/relationships/slide" Target="slides/slide46.xml"/><Relationship Id="rId77" Type="http://schemas.openxmlformats.org/officeDocument/2006/relationships/slide" Target="slides/slide67.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93" Type="http://schemas.openxmlformats.org/officeDocument/2006/relationships/slide" Target="slides/slide83.xml"/><Relationship Id="rId98" Type="http://schemas.openxmlformats.org/officeDocument/2006/relationships/slide" Target="slides/slide88.xml"/><Relationship Id="rId3" Type="http://schemas.openxmlformats.org/officeDocument/2006/relationships/slideMaster" Target="slideMasters/slideMaster3.xml"/><Relationship Id="rId25" Type="http://schemas.openxmlformats.org/officeDocument/2006/relationships/slide" Target="slides/slide15.xml"/><Relationship Id="rId46" Type="http://schemas.openxmlformats.org/officeDocument/2006/relationships/slide" Target="slides/slide36.xml"/><Relationship Id="rId67" Type="http://schemas.openxmlformats.org/officeDocument/2006/relationships/slide" Target="slides/slide57.xml"/></Relationships>
</file>

<file path=ppt/_rels/viewProps.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slide" Target="slides/slide7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56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solidFill>
                  <a:schemeClr val="tx1"/>
                </a:solidFill>
                <a:effectLst/>
                <a:latin typeface="Times New Roman" panose="02020603050405020304" pitchFamily="18" charset="0"/>
                <a:ea typeface="宋体" panose="02010600030101010101" pitchFamily="2" charset="-122"/>
                <a:cs typeface="+mn-cs"/>
              </a:defRPr>
            </a:lvl1pPr>
          </a:lstStyle>
          <a:p>
            <a:pPr>
              <a:defRPr/>
            </a:pPr>
            <a:endParaRPr lang="en-US" altLang="zh-CN"/>
          </a:p>
        </p:txBody>
      </p:sp>
      <p:sp>
        <p:nvSpPr>
          <p:cNvPr id="28569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solidFill>
                  <a:schemeClr val="tx1"/>
                </a:solidFill>
                <a:effectLst/>
                <a:latin typeface="Times New Roman" panose="02020603050405020304" pitchFamily="18" charset="0"/>
                <a:ea typeface="宋体" panose="02010600030101010101" pitchFamily="2" charset="-122"/>
                <a:cs typeface="+mn-cs"/>
              </a:defRPr>
            </a:lvl1pPr>
          </a:lstStyle>
          <a:p>
            <a:pPr>
              <a:defRPr/>
            </a:pPr>
            <a:endParaRPr lang="en-US" altLang="zh-CN"/>
          </a:p>
        </p:txBody>
      </p:sp>
      <p:sp>
        <p:nvSpPr>
          <p:cNvPr id="1741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p:spPr>
      </p:sp>
      <p:sp>
        <p:nvSpPr>
          <p:cNvPr id="28570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8570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solidFill>
                  <a:schemeClr val="tx1"/>
                </a:solidFill>
                <a:effectLst/>
                <a:latin typeface="Times New Roman" panose="02020603050405020304" pitchFamily="18" charset="0"/>
                <a:ea typeface="宋体" panose="02010600030101010101" pitchFamily="2" charset="-122"/>
                <a:cs typeface="+mn-cs"/>
              </a:defRPr>
            </a:lvl1pPr>
          </a:lstStyle>
          <a:p>
            <a:pPr>
              <a:defRPr/>
            </a:pPr>
            <a:endParaRPr lang="en-US" altLang="zh-CN"/>
          </a:p>
        </p:txBody>
      </p:sp>
      <p:sp>
        <p:nvSpPr>
          <p:cNvPr id="28570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solidFill>
                  <a:schemeClr val="tx1"/>
                </a:solidFill>
                <a:latin typeface="Times New Roman" panose="02020603050405020304" pitchFamily="18" charset="0"/>
                <a:ea typeface="宋体" panose="02010600030101010101" pitchFamily="2" charset="-122"/>
                <a:cs typeface="+mn-cs"/>
              </a:defRPr>
            </a:lvl1pPr>
          </a:lstStyle>
          <a:p>
            <a:pPr>
              <a:defRPr/>
            </a:pPr>
            <a:fld id="{1EDB4249-8368-45CF-B849-C9B0D8ED1103}"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EDB4249-8368-45CF-B849-C9B0D8ED1103}" type="slidenum">
              <a:rPr lang="en-US" altLang="zh-CN" smtClean="0"/>
              <a:t>1</a:t>
            </a:fld>
            <a:endParaRPr lang="en-US" altLang="zh-CN"/>
          </a:p>
        </p:txBody>
      </p:sp>
    </p:spTree>
    <p:extLst>
      <p:ext uri="{BB962C8B-B14F-4D97-AF65-F5344CB8AC3E}">
        <p14:creationId xmlns:p14="http://schemas.microsoft.com/office/powerpoint/2010/main" val="2838390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EDB4249-8368-45CF-B849-C9B0D8ED1103}" type="slidenum">
              <a:rPr lang="en-US" altLang="zh-CN" smtClean="0"/>
              <a:t>4</a:t>
            </a:fld>
            <a:endParaRPr lang="en-US" altLang="zh-CN"/>
          </a:p>
        </p:txBody>
      </p:sp>
    </p:spTree>
    <p:extLst>
      <p:ext uri="{BB962C8B-B14F-4D97-AF65-F5344CB8AC3E}">
        <p14:creationId xmlns:p14="http://schemas.microsoft.com/office/powerpoint/2010/main" val="1929636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p:cNvSpPr>
            <a:spLocks noGrp="1" noRot="1" noChangeAspect="1" noTextEdit="1"/>
          </p:cNvSpPr>
          <p:nvPr>
            <p:ph type="sldImg"/>
          </p:nvPr>
        </p:nvSpPr>
        <p:spPr>
          <a:xfrm>
            <a:off x="381000" y="685800"/>
            <a:ext cx="6096000" cy="3429000"/>
          </a:xfrm>
        </p:spPr>
      </p:sp>
      <p:sp>
        <p:nvSpPr>
          <p:cNvPr id="23554" name="备注占位符 2"/>
          <p:cNvSpPr>
            <a:spLocks noGrp="1"/>
          </p:cNvSpPr>
          <p:nvPr>
            <p:ph type="body" idx="1"/>
          </p:nvPr>
        </p:nvSpPr>
        <p:spPr>
          <a:noFill/>
        </p:spPr>
        <p:txBody>
          <a:bodyPr/>
          <a:lstStyle/>
          <a:p>
            <a:pPr>
              <a:lnSpc>
                <a:spcPct val="110000"/>
              </a:lnSpc>
              <a:spcBef>
                <a:spcPct val="20000"/>
              </a:spcBef>
              <a:buClr>
                <a:schemeClr val="accent2"/>
              </a:buClr>
              <a:buSzPct val="80000"/>
              <a:buFont typeface="Wingdings" panose="05000000000000000000" pitchFamily="2" charset="2"/>
              <a:buNone/>
            </a:pPr>
            <a:r>
              <a:rPr lang="zh-CN" altLang="en-US" b="1">
                <a:solidFill>
                  <a:schemeClr val="folHlink"/>
                </a:solidFill>
                <a:ea typeface="宋体" panose="02010600030101010101" pitchFamily="2" charset="-122"/>
              </a:rPr>
              <a:t>线性表</a:t>
            </a:r>
            <a:r>
              <a:rPr lang="en-US" altLang="zh-CN" b="1">
                <a:ea typeface="宋体" panose="02010600030101010101" pitchFamily="2" charset="-122"/>
              </a:rPr>
              <a:t>(</a:t>
            </a:r>
            <a:r>
              <a:rPr lang="en-US" altLang="zh-CN" b="1">
                <a:solidFill>
                  <a:schemeClr val="accent1"/>
                </a:solidFill>
                <a:ea typeface="宋体" panose="02010600030101010101" pitchFamily="2" charset="-122"/>
              </a:rPr>
              <a:t>Linear List</a:t>
            </a:r>
            <a:r>
              <a:rPr lang="en-US" altLang="zh-CN" b="1">
                <a:ea typeface="宋体" panose="02010600030101010101" pitchFamily="2" charset="-122"/>
              </a:rPr>
              <a:t>) </a:t>
            </a:r>
            <a:r>
              <a:rPr lang="zh-CN" altLang="en-US" b="1">
                <a:ea typeface="宋体" panose="02010600030101010101" pitchFamily="2" charset="-122"/>
              </a:rPr>
              <a:t>：是由</a:t>
            </a:r>
            <a:r>
              <a:rPr lang="en-US" altLang="zh-CN" b="1">
                <a:ea typeface="宋体" panose="02010600030101010101" pitchFamily="2" charset="-122"/>
              </a:rPr>
              <a:t>n(n≧0)</a:t>
            </a:r>
            <a:r>
              <a:rPr lang="zh-CN" altLang="en-US" b="1">
                <a:ea typeface="宋体" panose="02010600030101010101" pitchFamily="2" charset="-122"/>
              </a:rPr>
              <a:t>个数据元素</a:t>
            </a:r>
            <a:r>
              <a:rPr lang="en-US" altLang="zh-CN" b="1">
                <a:ea typeface="宋体" panose="02010600030101010101" pitchFamily="2" charset="-122"/>
              </a:rPr>
              <a:t>(</a:t>
            </a:r>
            <a:r>
              <a:rPr lang="zh-CN" altLang="en-US" b="1">
                <a:ea typeface="宋体" panose="02010600030101010101" pitchFamily="2" charset="-122"/>
              </a:rPr>
              <a:t>结点</a:t>
            </a:r>
            <a:r>
              <a:rPr lang="en-US" altLang="zh-CN" b="1">
                <a:ea typeface="宋体" panose="02010600030101010101" pitchFamily="2" charset="-122"/>
              </a:rPr>
              <a:t>)a</a:t>
            </a:r>
            <a:r>
              <a:rPr lang="en-US" altLang="zh-CN" b="1" baseline="-25000">
                <a:ea typeface="宋体" panose="02010600030101010101" pitchFamily="2" charset="-122"/>
              </a:rPr>
              <a:t>1</a:t>
            </a:r>
            <a:r>
              <a:rPr lang="zh-CN" altLang="en-US" b="1">
                <a:ea typeface="宋体" panose="02010600030101010101" pitchFamily="2" charset="-122"/>
              </a:rPr>
              <a:t>，</a:t>
            </a:r>
            <a:r>
              <a:rPr lang="en-US" altLang="zh-CN" b="1">
                <a:ea typeface="宋体" panose="02010600030101010101" pitchFamily="2" charset="-122"/>
              </a:rPr>
              <a:t>a</a:t>
            </a:r>
            <a:r>
              <a:rPr lang="en-US" altLang="zh-CN" b="1" baseline="-25000">
                <a:ea typeface="宋体" panose="02010600030101010101" pitchFamily="2" charset="-122"/>
              </a:rPr>
              <a:t>2</a:t>
            </a:r>
            <a:r>
              <a:rPr lang="zh-CN" altLang="en-US" b="1">
                <a:ea typeface="宋体" panose="02010600030101010101" pitchFamily="2" charset="-122"/>
              </a:rPr>
              <a:t>， </a:t>
            </a:r>
            <a:r>
              <a:rPr lang="en-US" altLang="zh-CN" b="1">
                <a:ea typeface="宋体" panose="02010600030101010101" pitchFamily="2" charset="-122"/>
              </a:rPr>
              <a:t>…a</a:t>
            </a:r>
            <a:r>
              <a:rPr lang="en-US" altLang="zh-CN" b="1" baseline="-25000">
                <a:ea typeface="宋体" panose="02010600030101010101" pitchFamily="2" charset="-122"/>
              </a:rPr>
              <a:t>n</a:t>
            </a:r>
            <a:r>
              <a:rPr lang="zh-CN" altLang="en-US" b="1">
                <a:ea typeface="宋体" panose="02010600030101010101" pitchFamily="2" charset="-122"/>
              </a:rPr>
              <a:t>组成的有限序列。该序列中的所有结点具有相同的数据类型。其中数据元素的个数</a:t>
            </a:r>
            <a:r>
              <a:rPr lang="en-US" altLang="zh-CN" b="1">
                <a:ea typeface="宋体" panose="02010600030101010101" pitchFamily="2" charset="-122"/>
              </a:rPr>
              <a:t>n</a:t>
            </a:r>
            <a:r>
              <a:rPr lang="zh-CN" altLang="en-US" b="1">
                <a:ea typeface="宋体" panose="02010600030101010101" pitchFamily="2" charset="-122"/>
              </a:rPr>
              <a:t>称为线性表的长度。</a:t>
            </a:r>
          </a:p>
          <a:p>
            <a:pPr>
              <a:lnSpc>
                <a:spcPct val="110000"/>
              </a:lnSpc>
              <a:spcBef>
                <a:spcPct val="20000"/>
              </a:spcBef>
              <a:buClr>
                <a:schemeClr val="accent2"/>
              </a:buClr>
              <a:buSzPct val="80000"/>
              <a:buFont typeface="Wingdings" panose="05000000000000000000" pitchFamily="2" charset="2"/>
              <a:buNone/>
            </a:pPr>
            <a:r>
              <a:rPr lang="zh-CN" altLang="en-US" b="1">
                <a:ea typeface="宋体" panose="02010600030101010101" pitchFamily="2" charset="-122"/>
              </a:rPr>
              <a:t>当</a:t>
            </a:r>
            <a:r>
              <a:rPr lang="en-US" altLang="zh-CN" b="1">
                <a:ea typeface="宋体" panose="02010600030101010101" pitchFamily="2" charset="-122"/>
              </a:rPr>
              <a:t>n=0</a:t>
            </a:r>
            <a:r>
              <a:rPr lang="zh-CN" altLang="en-US" b="1">
                <a:ea typeface="宋体" panose="02010600030101010101" pitchFamily="2" charset="-122"/>
              </a:rPr>
              <a:t>时，称为空表。 </a:t>
            </a:r>
          </a:p>
          <a:p>
            <a:pPr>
              <a:lnSpc>
                <a:spcPct val="110000"/>
              </a:lnSpc>
              <a:spcBef>
                <a:spcPct val="20000"/>
              </a:spcBef>
              <a:buClr>
                <a:schemeClr val="accent2"/>
              </a:buClr>
              <a:buSzPct val="80000"/>
              <a:buFont typeface="Wingdings" panose="05000000000000000000" pitchFamily="2" charset="2"/>
              <a:buNone/>
            </a:pPr>
            <a:r>
              <a:rPr lang="zh-CN" altLang="en-US" b="1">
                <a:ea typeface="宋体" panose="02010600030101010101" pitchFamily="2" charset="-122"/>
              </a:rPr>
              <a:t>当</a:t>
            </a:r>
            <a:r>
              <a:rPr lang="en-US" altLang="zh-CN" b="1">
                <a:ea typeface="宋体" panose="02010600030101010101" pitchFamily="2" charset="-122"/>
              </a:rPr>
              <a:t>n&gt;0</a:t>
            </a:r>
            <a:r>
              <a:rPr lang="zh-CN" altLang="en-US" b="1">
                <a:ea typeface="宋体" panose="02010600030101010101" pitchFamily="2" charset="-122"/>
              </a:rPr>
              <a:t>时，将非空的线性表记作： </a:t>
            </a:r>
            <a:r>
              <a:rPr lang="en-US" altLang="zh-CN" b="1">
                <a:ea typeface="宋体" panose="02010600030101010101" pitchFamily="2" charset="-122"/>
              </a:rPr>
              <a:t>(a</a:t>
            </a:r>
            <a:r>
              <a:rPr lang="en-US" altLang="zh-CN" b="1" baseline="-25000">
                <a:ea typeface="宋体" panose="02010600030101010101" pitchFamily="2" charset="-122"/>
              </a:rPr>
              <a:t>1</a:t>
            </a:r>
            <a:r>
              <a:rPr lang="zh-CN" altLang="en-US" b="1">
                <a:ea typeface="宋体" panose="02010600030101010101" pitchFamily="2" charset="-122"/>
              </a:rPr>
              <a:t>，</a:t>
            </a:r>
            <a:r>
              <a:rPr lang="en-US" altLang="zh-CN" b="1">
                <a:ea typeface="宋体" panose="02010600030101010101" pitchFamily="2" charset="-122"/>
              </a:rPr>
              <a:t>a</a:t>
            </a:r>
            <a:r>
              <a:rPr lang="en-US" altLang="zh-CN" b="1" baseline="-25000">
                <a:ea typeface="宋体" panose="02010600030101010101" pitchFamily="2" charset="-122"/>
              </a:rPr>
              <a:t>2</a:t>
            </a:r>
            <a:r>
              <a:rPr lang="zh-CN" altLang="en-US" b="1">
                <a:ea typeface="宋体" panose="02010600030101010101" pitchFamily="2" charset="-122"/>
              </a:rPr>
              <a:t>，</a:t>
            </a:r>
            <a:r>
              <a:rPr lang="en-US" altLang="zh-CN" b="1">
                <a:ea typeface="宋体" panose="02010600030101010101" pitchFamily="2" charset="-122"/>
              </a:rPr>
              <a:t>…a</a:t>
            </a:r>
            <a:r>
              <a:rPr lang="en-US" altLang="zh-CN" b="1" baseline="-25000">
                <a:ea typeface="宋体" panose="02010600030101010101" pitchFamily="2" charset="-122"/>
              </a:rPr>
              <a:t>n</a:t>
            </a:r>
            <a:r>
              <a:rPr lang="en-US" altLang="zh-CN" b="1">
                <a:ea typeface="宋体" panose="02010600030101010101" pitchFamily="2" charset="-122"/>
              </a:rPr>
              <a:t>)         </a:t>
            </a:r>
          </a:p>
          <a:p>
            <a:pPr>
              <a:lnSpc>
                <a:spcPct val="110000"/>
              </a:lnSpc>
              <a:spcBef>
                <a:spcPct val="20000"/>
              </a:spcBef>
              <a:buClr>
                <a:schemeClr val="accent2"/>
              </a:buClr>
              <a:buSzPct val="80000"/>
              <a:buFont typeface="Wingdings" panose="05000000000000000000" pitchFamily="2" charset="2"/>
              <a:buNone/>
            </a:pPr>
            <a:r>
              <a:rPr lang="en-US" altLang="zh-CN" b="1">
                <a:ea typeface="宋体" panose="02010600030101010101" pitchFamily="2" charset="-122"/>
              </a:rPr>
              <a:t>a</a:t>
            </a:r>
            <a:r>
              <a:rPr lang="en-US" altLang="zh-CN" b="1" baseline="-25000">
                <a:ea typeface="宋体" panose="02010600030101010101" pitchFamily="2" charset="-122"/>
              </a:rPr>
              <a:t>1</a:t>
            </a:r>
            <a:r>
              <a:rPr lang="zh-CN" altLang="en-US" b="1">
                <a:ea typeface="宋体" panose="02010600030101010101" pitchFamily="2" charset="-122"/>
              </a:rPr>
              <a:t>称为线性表的</a:t>
            </a:r>
            <a:r>
              <a:rPr lang="zh-CN" altLang="en-US" b="1">
                <a:latin typeface="宋体" panose="02010600030101010101" pitchFamily="2" charset="-122"/>
                <a:ea typeface="宋体" panose="02010600030101010101" pitchFamily="2" charset="-122"/>
              </a:rPr>
              <a:t>第一个</a:t>
            </a:r>
            <a:r>
              <a:rPr lang="en-US" altLang="zh-CN" b="1">
                <a:latin typeface="宋体" panose="02010600030101010101" pitchFamily="2" charset="-122"/>
                <a:ea typeface="宋体" panose="02010600030101010101" pitchFamily="2" charset="-122"/>
              </a:rPr>
              <a:t>(</a:t>
            </a:r>
            <a:r>
              <a:rPr lang="zh-CN" altLang="en-US" b="1">
                <a:latin typeface="宋体" panose="02010600030101010101" pitchFamily="2" charset="-122"/>
                <a:ea typeface="宋体" panose="02010600030101010101" pitchFamily="2" charset="-122"/>
              </a:rPr>
              <a:t>首</a:t>
            </a:r>
            <a:r>
              <a:rPr lang="en-US" altLang="zh-CN" b="1">
                <a:latin typeface="宋体" panose="02010600030101010101" pitchFamily="2" charset="-122"/>
                <a:ea typeface="宋体" panose="02010600030101010101" pitchFamily="2" charset="-122"/>
              </a:rPr>
              <a:t>)</a:t>
            </a:r>
            <a:r>
              <a:rPr lang="zh-CN" altLang="en-US" b="1">
                <a:ea typeface="宋体" panose="02010600030101010101" pitchFamily="2" charset="-122"/>
              </a:rPr>
              <a:t>结点，</a:t>
            </a:r>
            <a:r>
              <a:rPr lang="en-US" altLang="zh-CN" b="1">
                <a:ea typeface="宋体" panose="02010600030101010101" pitchFamily="2" charset="-122"/>
              </a:rPr>
              <a:t>a</a:t>
            </a:r>
            <a:r>
              <a:rPr lang="en-US" altLang="zh-CN" b="1" baseline="-25000">
                <a:ea typeface="宋体" panose="02010600030101010101" pitchFamily="2" charset="-122"/>
              </a:rPr>
              <a:t>n</a:t>
            </a:r>
            <a:r>
              <a:rPr lang="zh-CN" altLang="en-US" b="1">
                <a:ea typeface="宋体" panose="02010600030101010101" pitchFamily="2" charset="-122"/>
              </a:rPr>
              <a:t>称为线性表的</a:t>
            </a:r>
            <a:r>
              <a:rPr lang="zh-CN" altLang="en-US" b="1">
                <a:latin typeface="宋体" panose="02010600030101010101" pitchFamily="2" charset="-122"/>
                <a:ea typeface="宋体" panose="02010600030101010101" pitchFamily="2" charset="-122"/>
              </a:rPr>
              <a:t>最后一个</a:t>
            </a:r>
            <a:r>
              <a:rPr lang="en-US" altLang="zh-CN" b="1">
                <a:latin typeface="宋体" panose="02010600030101010101" pitchFamily="2" charset="-122"/>
                <a:ea typeface="宋体" panose="02010600030101010101" pitchFamily="2" charset="-122"/>
              </a:rPr>
              <a:t>(</a:t>
            </a:r>
            <a:r>
              <a:rPr lang="zh-CN" altLang="en-US" b="1">
                <a:latin typeface="宋体" panose="02010600030101010101" pitchFamily="2" charset="-122"/>
                <a:ea typeface="宋体" panose="02010600030101010101" pitchFamily="2" charset="-122"/>
              </a:rPr>
              <a:t>尾</a:t>
            </a:r>
            <a:r>
              <a:rPr lang="en-US" altLang="zh-CN" b="1">
                <a:latin typeface="宋体" panose="02010600030101010101" pitchFamily="2" charset="-122"/>
                <a:ea typeface="宋体" panose="02010600030101010101" pitchFamily="2" charset="-122"/>
              </a:rPr>
              <a:t>)</a:t>
            </a:r>
            <a:r>
              <a:rPr lang="zh-CN" altLang="en-US" b="1">
                <a:ea typeface="宋体" panose="02010600030101010101" pitchFamily="2" charset="-122"/>
              </a:rPr>
              <a:t>结点。</a:t>
            </a:r>
          </a:p>
          <a:p>
            <a:endParaRPr lang="zh-CN" altLang="en-US">
              <a:ea typeface="宋体" panose="02010600030101010101" pitchFamily="2" charset="-122"/>
            </a:endParaRPr>
          </a:p>
        </p:txBody>
      </p:sp>
      <p:sp>
        <p:nvSpPr>
          <p:cNvPr id="23555" name="灯片编号占位符 3"/>
          <p:cNvSpPr>
            <a:spLocks noGrp="1"/>
          </p:cNvSpPr>
          <p:nvPr>
            <p:ph type="sldNum" sz="quarter" idx="5"/>
          </p:nvPr>
        </p:nvSpPr>
        <p:spPr>
          <a:noFill/>
        </p:spPr>
        <p:txBody>
          <a:bodyPr/>
          <a:lstStyle/>
          <a:p>
            <a:fld id="{9E7ECEE6-C757-470A-8790-DF425318D385}" type="slidenum">
              <a:rPr lang="en-US" altLang="zh-CN" smtClean="0">
                <a:ea typeface="宋体" panose="02010600030101010101" pitchFamily="2" charset="-122"/>
                <a:cs typeface="楷体_GB2312"/>
              </a:rPr>
              <a:t>5</a:t>
            </a:fld>
            <a:endParaRPr lang="en-US" altLang="zh-CN">
              <a:ea typeface="宋体" panose="02010600030101010101" pitchFamily="2" charset="-122"/>
              <a:cs typeface="楷体_GB231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EDB4249-8368-45CF-B849-C9B0D8ED1103}" type="slidenum">
              <a:rPr lang="en-US" altLang="zh-CN" smtClean="0"/>
              <a:t>8</a:t>
            </a:fld>
            <a:endParaRPr lang="en-US" altLang="zh-CN"/>
          </a:p>
        </p:txBody>
      </p:sp>
    </p:spTree>
    <p:extLst>
      <p:ext uri="{BB962C8B-B14F-4D97-AF65-F5344CB8AC3E}">
        <p14:creationId xmlns:p14="http://schemas.microsoft.com/office/powerpoint/2010/main" val="36927817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EDB4249-8368-45CF-B849-C9B0D8ED1103}" type="slidenum">
              <a:rPr lang="en-US" altLang="zh-CN" smtClean="0"/>
              <a:t>9</a:t>
            </a:fld>
            <a:endParaRPr lang="en-US" altLang="zh-CN"/>
          </a:p>
        </p:txBody>
      </p:sp>
    </p:spTree>
    <p:extLst>
      <p:ext uri="{BB962C8B-B14F-4D97-AF65-F5344CB8AC3E}">
        <p14:creationId xmlns:p14="http://schemas.microsoft.com/office/powerpoint/2010/main" val="540228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EDB4249-8368-45CF-B849-C9B0D8ED1103}" type="slidenum">
              <a:rPr lang="en-US" altLang="zh-CN" smtClean="0"/>
              <a:t>10</a:t>
            </a:fld>
            <a:endParaRPr lang="en-US" altLang="zh-CN"/>
          </a:p>
        </p:txBody>
      </p:sp>
    </p:spTree>
    <p:extLst>
      <p:ext uri="{BB962C8B-B14F-4D97-AF65-F5344CB8AC3E}">
        <p14:creationId xmlns:p14="http://schemas.microsoft.com/office/powerpoint/2010/main" val="399547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EDB4249-8368-45CF-B849-C9B0D8ED1103}" type="slidenum">
              <a:rPr lang="en-US" altLang="zh-CN" smtClean="0"/>
              <a:t>17</a:t>
            </a:fld>
            <a:endParaRPr lang="en-US" altLang="zh-CN"/>
          </a:p>
        </p:txBody>
      </p:sp>
    </p:spTree>
    <p:extLst>
      <p:ext uri="{BB962C8B-B14F-4D97-AF65-F5344CB8AC3E}">
        <p14:creationId xmlns:p14="http://schemas.microsoft.com/office/powerpoint/2010/main" val="2844280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EDB4249-8368-45CF-B849-C9B0D8ED1103}" type="slidenum">
              <a:rPr lang="en-US" altLang="zh-CN" smtClean="0"/>
              <a:t>33</a:t>
            </a:fld>
            <a:endParaRPr lang="en-US" altLang="zh-CN"/>
          </a:p>
        </p:txBody>
      </p:sp>
    </p:spTree>
    <p:extLst>
      <p:ext uri="{BB962C8B-B14F-4D97-AF65-F5344CB8AC3E}">
        <p14:creationId xmlns:p14="http://schemas.microsoft.com/office/powerpoint/2010/main" val="3989906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22505-B285-46DF-A8C7-BE179E568906}"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3029211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EDB4249-8368-45CF-B849-C9B0D8ED1103}" type="slidenum">
              <a:rPr lang="en-US" altLang="zh-CN" smtClean="0"/>
              <a:t>41</a:t>
            </a:fld>
            <a:endParaRPr lang="en-US" altLang="zh-CN"/>
          </a:p>
        </p:txBody>
      </p:sp>
    </p:spTree>
    <p:extLst>
      <p:ext uri="{BB962C8B-B14F-4D97-AF65-F5344CB8AC3E}">
        <p14:creationId xmlns:p14="http://schemas.microsoft.com/office/powerpoint/2010/main" val="9401722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）这是一个在线性表的顺序存储结构实现元素插入的算法。</a:t>
            </a:r>
          </a:p>
          <a:p>
            <a:r>
              <a:rPr lang="zh-CN" altLang="en-US" dirty="0"/>
              <a:t>（</a:t>
            </a:r>
            <a:r>
              <a:rPr lang="en-US" altLang="zh-CN" dirty="0"/>
              <a:t>2</a:t>
            </a:r>
            <a:r>
              <a:rPr lang="zh-CN" altLang="en-US" dirty="0"/>
              <a:t>）首先我们看算法的参数应该包括三个内容，其一是顺序表，</a:t>
            </a:r>
          </a:p>
          <a:p>
            <a:r>
              <a:rPr lang="zh-CN" altLang="en-US" dirty="0"/>
              <a:t>（</a:t>
            </a:r>
            <a:r>
              <a:rPr lang="en-US" altLang="zh-CN" dirty="0"/>
              <a:t>3</a:t>
            </a:r>
            <a:r>
              <a:rPr lang="zh-CN" altLang="en-US" dirty="0"/>
              <a:t>）其二是插入位置，</a:t>
            </a:r>
          </a:p>
          <a:p>
            <a:r>
              <a:rPr lang="zh-CN" altLang="en-US" dirty="0"/>
              <a:t>（</a:t>
            </a:r>
            <a:r>
              <a:rPr lang="en-US" altLang="zh-CN" dirty="0"/>
              <a:t>4</a:t>
            </a:r>
            <a:r>
              <a:rPr lang="zh-CN" altLang="en-US" dirty="0"/>
              <a:t>）再一个是被插入的元素。</a:t>
            </a:r>
          </a:p>
          <a:p>
            <a:r>
              <a:rPr lang="zh-CN" altLang="en-US" dirty="0"/>
              <a:t>（</a:t>
            </a:r>
            <a:r>
              <a:rPr lang="en-US" altLang="zh-CN" dirty="0"/>
              <a:t>5</a:t>
            </a:r>
            <a:r>
              <a:rPr lang="zh-CN" altLang="en-US" dirty="0"/>
              <a:t>）根据前面对顺序表的定义，它的存储结构由三部分组成。</a:t>
            </a:r>
          </a:p>
          <a:p>
            <a:r>
              <a:rPr lang="zh-CN" altLang="en-US" dirty="0"/>
              <a:t>（</a:t>
            </a:r>
            <a:r>
              <a:rPr lang="en-US" altLang="zh-CN" dirty="0"/>
              <a:t>6</a:t>
            </a:r>
            <a:r>
              <a:rPr lang="zh-CN" altLang="en-US" dirty="0"/>
              <a:t>）元素的存储空间，</a:t>
            </a:r>
          </a:p>
          <a:p>
            <a:r>
              <a:rPr lang="zh-CN" altLang="en-US" dirty="0"/>
              <a:t>（</a:t>
            </a:r>
            <a:r>
              <a:rPr lang="en-US" altLang="zh-CN" dirty="0"/>
              <a:t>7</a:t>
            </a:r>
            <a:r>
              <a:rPr lang="zh-CN" altLang="en-US" dirty="0"/>
              <a:t>）线性表当前的长度</a:t>
            </a:r>
          </a:p>
          <a:p>
            <a:r>
              <a:rPr lang="zh-CN" altLang="en-US" dirty="0"/>
              <a:t>（</a:t>
            </a:r>
            <a:r>
              <a:rPr lang="en-US" altLang="zh-CN" dirty="0"/>
              <a:t>8</a:t>
            </a:r>
            <a:r>
              <a:rPr lang="zh-CN" altLang="en-US" dirty="0"/>
              <a:t>）以及当前为顺序表分配的额定空间容量</a:t>
            </a:r>
          </a:p>
          <a:p>
            <a:r>
              <a:rPr lang="zh-CN" altLang="en-US" dirty="0"/>
              <a:t>（</a:t>
            </a:r>
            <a:r>
              <a:rPr lang="en-US" altLang="zh-CN" dirty="0"/>
              <a:t>9</a:t>
            </a:r>
            <a:r>
              <a:rPr lang="zh-CN" altLang="en-US" dirty="0"/>
              <a:t>）现在来看算法本身，首先应该检查参数的合理性。</a:t>
            </a:r>
          </a:p>
          <a:p>
            <a:r>
              <a:rPr lang="zh-CN" altLang="en-US" dirty="0"/>
              <a:t>（</a:t>
            </a:r>
            <a:r>
              <a:rPr lang="en-US" altLang="zh-CN" dirty="0"/>
              <a:t>10</a:t>
            </a:r>
            <a:r>
              <a:rPr lang="zh-CN" altLang="en-US" dirty="0"/>
              <a:t>）对这个算法而言，显然只有一种情况，就是给定的插入位置落在线性表的空间之外，是不合理的。</a:t>
            </a:r>
          </a:p>
          <a:p>
            <a:r>
              <a:rPr lang="zh-CN" altLang="en-US" dirty="0"/>
              <a:t>（</a:t>
            </a:r>
            <a:r>
              <a:rPr lang="en-US" altLang="zh-CN" dirty="0"/>
              <a:t>11</a:t>
            </a:r>
            <a:r>
              <a:rPr lang="zh-CN" altLang="en-US" dirty="0"/>
              <a:t>）例如，对于图示的这个线性表，企求插入元素的位置只能是在</a:t>
            </a:r>
            <a:r>
              <a:rPr lang="en-US" altLang="zh-CN" dirty="0"/>
              <a:t>1</a:t>
            </a:r>
            <a:r>
              <a:rPr lang="zh-CN" altLang="en-US" dirty="0"/>
              <a:t>到</a:t>
            </a:r>
            <a:r>
              <a:rPr lang="en-US" altLang="zh-CN" dirty="0"/>
              <a:t>7</a:t>
            </a:r>
            <a:r>
              <a:rPr lang="zh-CN" altLang="en-US" dirty="0"/>
              <a:t>之间。</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22505-B285-46DF-A8C7-BE179E568906}"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963190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由于顺序表有额定空间的限制，因此在进行元素的插入之前</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我们还得先判别一下当前的顺序表是否已被线性表的元素填满？</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例如，图示给出的特例，当前线性表的长度和原先分配的顺序表的空间额度相同，</a:t>
            </a:r>
            <a:r>
              <a:rPr lang="zh-CN" altLang="en-US" sz="1200" kern="1200" dirty="0">
                <a:solidFill>
                  <a:schemeClr val="tx1"/>
                </a:solidFill>
                <a:effectLst/>
                <a:latin typeface="+mn-lt"/>
                <a:ea typeface="+mn-ea"/>
                <a:cs typeface="+mn-cs"/>
              </a:rPr>
              <a:t>都是</a:t>
            </a:r>
            <a:r>
              <a:rPr lang="en-US" altLang="zh-CN" sz="1200" kern="1200" dirty="0">
                <a:solidFill>
                  <a:schemeClr val="tx1"/>
                </a:solidFill>
                <a:effectLst/>
                <a:latin typeface="+mn-lt"/>
                <a:ea typeface="+mn-ea"/>
                <a:cs typeface="+mn-cs"/>
              </a:rPr>
              <a:t>6,</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在实现元素的插入之前需要重新为顺序表分配空间，</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我们约定每次增加一个额定长度，在这个例子中，我们设定它为</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6</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也就是说新的顺序表的额定空间长度为</a:t>
            </a:r>
            <a:r>
              <a:rPr lang="en-US" altLang="zh-CN" sz="1200" kern="1200" dirty="0">
                <a:solidFill>
                  <a:schemeClr val="tx1"/>
                </a:solidFill>
                <a:effectLst/>
                <a:latin typeface="+mn-lt"/>
                <a:ea typeface="+mn-ea"/>
                <a:cs typeface="+mn-cs"/>
              </a:rPr>
              <a:t>9</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7</a:t>
            </a:r>
            <a:r>
              <a:rPr lang="zh-CN" altLang="en-US" sz="1200" kern="1200" dirty="0">
                <a:solidFill>
                  <a:schemeClr val="tx1"/>
                </a:solidFill>
                <a:effectLst/>
                <a:latin typeface="+mn-lt"/>
                <a:ea typeface="+mn-ea"/>
                <a:cs typeface="+mn-cs"/>
              </a:rPr>
              <a:t>）如果按新容量分配存储空间成功，顺序表的元素全部保留在新的空间，</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8</a:t>
            </a:r>
            <a:r>
              <a:rPr lang="zh-CN" altLang="en-US" sz="1200" kern="1200" dirty="0">
                <a:solidFill>
                  <a:schemeClr val="tx1"/>
                </a:solidFill>
                <a:effectLst/>
                <a:latin typeface="+mn-lt"/>
                <a:ea typeface="+mn-ea"/>
                <a:cs typeface="+mn-cs"/>
              </a:rPr>
              <a:t>）那就更新顺序表</a:t>
            </a:r>
            <a:r>
              <a:rPr lang="en-US" altLang="zh-CN" sz="1200" kern="1200" dirty="0">
                <a:solidFill>
                  <a:schemeClr val="tx1"/>
                </a:solidFill>
                <a:effectLst/>
                <a:latin typeface="+mn-lt"/>
                <a:ea typeface="+mn-ea"/>
                <a:cs typeface="+mn-cs"/>
              </a:rPr>
              <a:t>L</a:t>
            </a:r>
            <a:r>
              <a:rPr lang="zh-CN" altLang="en-US" sz="1200" kern="1200" dirty="0">
                <a:solidFill>
                  <a:schemeClr val="tx1"/>
                </a:solidFill>
                <a:effectLst/>
                <a:latin typeface="+mn-lt"/>
                <a:ea typeface="+mn-ea"/>
                <a:cs typeface="+mn-cs"/>
              </a:rPr>
              <a:t>的基址，</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9</a:t>
            </a:r>
            <a:r>
              <a:rPr lang="zh-CN" altLang="en-US" sz="1200" kern="1200" dirty="0">
                <a:solidFill>
                  <a:schemeClr val="tx1"/>
                </a:solidFill>
                <a:effectLst/>
                <a:latin typeface="+mn-lt"/>
                <a:ea typeface="+mn-ea"/>
                <a:cs typeface="+mn-cs"/>
              </a:rPr>
              <a:t>）同时也将表的存储容量更新为</a:t>
            </a:r>
            <a:r>
              <a:rPr lang="en-US" altLang="zh-CN" sz="1200" kern="1200" dirty="0">
                <a:solidFill>
                  <a:schemeClr val="tx1"/>
                </a:solidFill>
                <a:effectLst/>
                <a:latin typeface="+mn-lt"/>
                <a:ea typeface="+mn-ea"/>
                <a:cs typeface="+mn-cs"/>
              </a:rPr>
              <a:t>9</a:t>
            </a:r>
            <a:r>
              <a:rPr lang="zh-CN" altLang="en-US"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E2A62345-7218-4E7E-AD54-2AB12D3588A3}" type="slidenum">
              <a:rPr lang="zh-CN" altLang="en-US" smtClean="0"/>
              <a:t>43</a:t>
            </a:fld>
            <a:endParaRPr lang="zh-CN" altLang="en-US"/>
          </a:p>
        </p:txBody>
      </p:sp>
    </p:spTree>
    <p:extLst>
      <p:ext uri="{BB962C8B-B14F-4D97-AF65-F5344CB8AC3E}">
        <p14:creationId xmlns:p14="http://schemas.microsoft.com/office/powerpoint/2010/main" val="29512199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）下面就可以进行元素的插入了。</a:t>
            </a:r>
          </a:p>
          <a:p>
            <a:r>
              <a:rPr lang="zh-CN" altLang="en-US" dirty="0"/>
              <a:t>（</a:t>
            </a:r>
            <a:r>
              <a:rPr lang="en-US" altLang="zh-CN" dirty="0"/>
              <a:t>2</a:t>
            </a:r>
            <a:r>
              <a:rPr lang="zh-CN" altLang="en-US" dirty="0"/>
              <a:t>）显然，这个插入很容易实现，假定这个示例的插入位置是</a:t>
            </a:r>
            <a:r>
              <a:rPr lang="en-US" altLang="zh-CN" dirty="0"/>
              <a:t>4</a:t>
            </a:r>
            <a:r>
              <a:rPr lang="zh-CN" altLang="en-US" dirty="0"/>
              <a:t>，插入元素是</a:t>
            </a:r>
            <a:r>
              <a:rPr lang="en-US" altLang="zh-CN" dirty="0"/>
              <a:t>H</a:t>
            </a:r>
            <a:r>
              <a:rPr lang="zh-CN" altLang="en-US" dirty="0"/>
              <a:t>，</a:t>
            </a:r>
          </a:p>
          <a:p>
            <a:r>
              <a:rPr lang="zh-CN" altLang="en-US" dirty="0"/>
              <a:t>（</a:t>
            </a:r>
            <a:r>
              <a:rPr lang="en-US" altLang="zh-CN" dirty="0"/>
              <a:t>3</a:t>
            </a:r>
            <a:r>
              <a:rPr lang="zh-CN" altLang="en-US" dirty="0"/>
              <a:t>）只要先将顺序表中从表尾到插入位置的元素依次后移一个位置，然后在这个插入位置填入新的元素就可以了。</a:t>
            </a:r>
          </a:p>
          <a:p>
            <a:r>
              <a:rPr lang="zh-CN" altLang="en-US" dirty="0"/>
              <a:t>（</a:t>
            </a:r>
            <a:r>
              <a:rPr lang="en-US" altLang="zh-CN" dirty="0"/>
              <a:t>4</a:t>
            </a:r>
            <a:r>
              <a:rPr lang="zh-CN" altLang="en-US" dirty="0"/>
              <a:t>）这里涉及对向量元素的访问，为便于理解，我们给出使用指针或下标的两种描述方式。</a:t>
            </a:r>
          </a:p>
          <a:p>
            <a:r>
              <a:rPr lang="zh-CN" altLang="en-US" dirty="0"/>
              <a:t>（</a:t>
            </a:r>
            <a:r>
              <a:rPr lang="en-US" altLang="zh-CN" dirty="0"/>
              <a:t>5</a:t>
            </a:r>
            <a:r>
              <a:rPr lang="zh-CN" altLang="en-US" dirty="0"/>
              <a:t>）先看用指针描述的情况，看当前的例子，指针</a:t>
            </a:r>
            <a:r>
              <a:rPr lang="en-US" altLang="zh-CN" dirty="0"/>
              <a:t>q</a:t>
            </a:r>
            <a:r>
              <a:rPr lang="zh-CN" altLang="en-US" dirty="0"/>
              <a:t>指向插入位置，</a:t>
            </a:r>
          </a:p>
          <a:p>
            <a:r>
              <a:rPr lang="zh-CN" altLang="en-US" dirty="0"/>
              <a:t>（</a:t>
            </a:r>
            <a:r>
              <a:rPr lang="en-US" altLang="zh-CN" dirty="0"/>
              <a:t>6</a:t>
            </a:r>
            <a:r>
              <a:rPr lang="zh-CN" altLang="en-US" dirty="0"/>
              <a:t>）指针</a:t>
            </a:r>
            <a:r>
              <a:rPr lang="en-US" altLang="zh-CN" dirty="0"/>
              <a:t>p</a:t>
            </a:r>
            <a:r>
              <a:rPr lang="zh-CN" altLang="en-US" dirty="0"/>
              <a:t>指向了当前表尾元素的存储位置，</a:t>
            </a:r>
          </a:p>
          <a:p>
            <a:r>
              <a:rPr lang="zh-CN" altLang="en-US" dirty="0"/>
              <a:t>（</a:t>
            </a:r>
            <a:r>
              <a:rPr lang="en-US" altLang="zh-CN" dirty="0"/>
              <a:t>7</a:t>
            </a:r>
            <a:r>
              <a:rPr lang="zh-CN" altLang="en-US" dirty="0"/>
              <a:t>）每当将指针</a:t>
            </a:r>
            <a:r>
              <a:rPr lang="en-US" altLang="zh-CN" dirty="0"/>
              <a:t>p</a:t>
            </a:r>
            <a:r>
              <a:rPr lang="zh-CN" altLang="en-US" dirty="0"/>
              <a:t>所指元素后移一个位置之后，</a:t>
            </a:r>
          </a:p>
          <a:p>
            <a:r>
              <a:rPr lang="zh-CN" altLang="en-US" dirty="0"/>
              <a:t>（</a:t>
            </a:r>
            <a:r>
              <a:rPr lang="en-US" altLang="zh-CN" dirty="0"/>
              <a:t>8</a:t>
            </a:r>
            <a:r>
              <a:rPr lang="zh-CN" altLang="en-US" dirty="0"/>
              <a:t>）指针</a:t>
            </a:r>
            <a:r>
              <a:rPr lang="en-US" altLang="zh-CN" dirty="0"/>
              <a:t>p</a:t>
            </a:r>
            <a:r>
              <a:rPr lang="zh-CN" altLang="en-US" dirty="0"/>
              <a:t>就向前移动一个位置，直到</a:t>
            </a:r>
            <a:r>
              <a:rPr lang="en-US" altLang="zh-CN" dirty="0"/>
              <a:t>p</a:t>
            </a:r>
            <a:r>
              <a:rPr lang="zh-CN" altLang="en-US" dirty="0"/>
              <a:t>越过指针</a:t>
            </a:r>
            <a:r>
              <a:rPr lang="en-US" altLang="zh-CN" dirty="0"/>
              <a:t>q</a:t>
            </a:r>
            <a:r>
              <a:rPr lang="zh-CN" altLang="en-US" dirty="0"/>
              <a:t>为止，</a:t>
            </a:r>
          </a:p>
          <a:p>
            <a:r>
              <a:rPr lang="zh-CN" altLang="en-US" dirty="0"/>
              <a:t>（</a:t>
            </a:r>
            <a:r>
              <a:rPr lang="en-US" altLang="zh-CN" dirty="0"/>
              <a:t>9</a:t>
            </a:r>
            <a:r>
              <a:rPr lang="zh-CN" altLang="en-US" dirty="0"/>
              <a:t>）之后就可以将新的元素填入指针</a:t>
            </a:r>
            <a:r>
              <a:rPr lang="en-US" altLang="zh-CN" dirty="0"/>
              <a:t>q</a:t>
            </a:r>
            <a:r>
              <a:rPr lang="zh-CN" altLang="en-US" dirty="0"/>
              <a:t>所指位置，</a:t>
            </a:r>
          </a:p>
          <a:p>
            <a:r>
              <a:rPr lang="zh-CN" altLang="en-US" dirty="0"/>
              <a:t>（</a:t>
            </a:r>
            <a:r>
              <a:rPr lang="en-US" altLang="zh-CN" dirty="0"/>
              <a:t>10</a:t>
            </a:r>
            <a:r>
              <a:rPr lang="zh-CN" altLang="en-US" dirty="0"/>
              <a:t>）插入完成之后，自然需修改表的长度。</a:t>
            </a:r>
          </a:p>
          <a:p>
            <a:r>
              <a:rPr lang="zh-CN" altLang="en-US" dirty="0"/>
              <a:t>（</a:t>
            </a:r>
            <a:r>
              <a:rPr lang="en-US" altLang="zh-CN" dirty="0"/>
              <a:t>11</a:t>
            </a:r>
            <a:r>
              <a:rPr lang="zh-CN" altLang="en-US" dirty="0"/>
              <a:t>）在页面上相应列出了用下标描述元素移动的一组等价语句，这个描述方法看起来比较直观，也是初学</a:t>
            </a:r>
            <a:r>
              <a:rPr lang="en-US" altLang="zh-CN" dirty="0"/>
              <a:t>C</a:t>
            </a:r>
            <a:r>
              <a:rPr lang="zh-CN" altLang="en-US" dirty="0"/>
              <a:t>语言时掌握的基本表达方法。实际上，在将源代码编译成目标代码时，对下标变量的每次访问还需要加入一组指令，用基址和下标表达式来计算实际地址，所以比指针访问效率低。当然，编译程序也会进行优化，尽量提高对下标变量地址计算的效率。我们学习各种数据存储结构和实现基本操作和算法时，要重视对指针运用的学习和掌握。</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22505-B285-46DF-A8C7-BE179E568906}"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3920582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幻灯片图像占位符 1"/>
          <p:cNvSpPr>
            <a:spLocks noGrp="1" noRot="1" noChangeAspect="1" noTextEdit="1"/>
          </p:cNvSpPr>
          <p:nvPr>
            <p:ph type="sldImg"/>
          </p:nvPr>
        </p:nvSpPr>
        <p:spPr>
          <a:xfrm>
            <a:off x="381000" y="685800"/>
            <a:ext cx="6096000" cy="3429000"/>
          </a:xfrm>
        </p:spPr>
      </p:sp>
      <p:sp>
        <p:nvSpPr>
          <p:cNvPr id="59394" name="备注占位符 2"/>
          <p:cNvSpPr>
            <a:spLocks noGrp="1"/>
          </p:cNvSpPr>
          <p:nvPr>
            <p:ph type="body" idx="1"/>
          </p:nvPr>
        </p:nvSpPr>
        <p:spPr>
          <a:noFill/>
        </p:spPr>
        <p:txBody>
          <a:bodyPr/>
          <a:lstStyle/>
          <a:p>
            <a:r>
              <a:rPr lang="zh-CN" altLang="en-US" b="1">
                <a:ea typeface="宋体" panose="02010600030101010101" pitchFamily="2" charset="-122"/>
              </a:rPr>
              <a:t>在线性表</a:t>
            </a:r>
            <a:r>
              <a:rPr lang="en-US" altLang="zh-CN" b="1">
                <a:ea typeface="宋体" panose="02010600030101010101" pitchFamily="2" charset="-122"/>
              </a:rPr>
              <a:t>L</a:t>
            </a:r>
            <a:r>
              <a:rPr lang="zh-CN" altLang="en-US" b="1">
                <a:ea typeface="宋体" panose="02010600030101010101" pitchFamily="2" charset="-122"/>
              </a:rPr>
              <a:t>中的</a:t>
            </a:r>
            <a:r>
              <a:rPr lang="zh-CN" altLang="en-US" b="1">
                <a:latin typeface="宋体" panose="02010600030101010101" pitchFamily="2" charset="-122"/>
                <a:ea typeface="宋体" panose="02010600030101010101" pitchFamily="2" charset="-122"/>
              </a:rPr>
              <a:t>第</a:t>
            </a:r>
            <a:r>
              <a:rPr lang="en-US" altLang="zh-CN" b="1">
                <a:ea typeface="宋体" panose="02010600030101010101" pitchFamily="2" charset="-122"/>
              </a:rPr>
              <a:t>i</a:t>
            </a:r>
            <a:r>
              <a:rPr lang="zh-CN" altLang="en-US" b="1">
                <a:ea typeface="宋体" panose="02010600030101010101" pitchFamily="2" charset="-122"/>
              </a:rPr>
              <a:t>个</a:t>
            </a:r>
            <a:r>
              <a:rPr lang="zh-CN" altLang="en-US" b="1">
                <a:latin typeface="宋体" panose="02010600030101010101" pitchFamily="2" charset="-122"/>
                <a:ea typeface="宋体" panose="02010600030101010101" pitchFamily="2" charset="-122"/>
              </a:rPr>
              <a:t>元素之前插入新结点，其时间主要耗费在表中结点的移动操作上，</a:t>
            </a:r>
            <a:endParaRPr lang="zh-CN" altLang="en-US">
              <a:ea typeface="宋体" panose="02010600030101010101" pitchFamily="2" charset="-122"/>
            </a:endParaRPr>
          </a:p>
        </p:txBody>
      </p:sp>
      <p:sp>
        <p:nvSpPr>
          <p:cNvPr id="59395" name="灯片编号占位符 3"/>
          <p:cNvSpPr>
            <a:spLocks noGrp="1"/>
          </p:cNvSpPr>
          <p:nvPr>
            <p:ph type="sldNum" sz="quarter" idx="5"/>
          </p:nvPr>
        </p:nvSpPr>
        <p:spPr>
          <a:noFill/>
        </p:spPr>
        <p:txBody>
          <a:bodyPr/>
          <a:lstStyle/>
          <a:p>
            <a:fld id="{218A7DD8-4D5A-4171-A3FC-A06779350ADB}" type="slidenum">
              <a:rPr lang="en-US" altLang="zh-CN" smtClean="0">
                <a:ea typeface="宋体" panose="02010600030101010101" pitchFamily="2" charset="-122"/>
                <a:cs typeface="楷体_GB2312"/>
              </a:rPr>
              <a:t>45</a:t>
            </a:fld>
            <a:endParaRPr lang="en-US" altLang="zh-CN">
              <a:ea typeface="宋体" panose="02010600030101010101" pitchFamily="2" charset="-122"/>
              <a:cs typeface="楷体_GB231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22505-B285-46DF-A8C7-BE179E568906}"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2726039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幻灯片图像占位符 1"/>
          <p:cNvSpPr>
            <a:spLocks noGrp="1" noRot="1" noChangeAspect="1" noTextEdit="1"/>
          </p:cNvSpPr>
          <p:nvPr>
            <p:ph type="sldImg"/>
          </p:nvPr>
        </p:nvSpPr>
        <p:spPr>
          <a:xfrm>
            <a:off x="381000" y="685800"/>
            <a:ext cx="6096000" cy="3429000"/>
          </a:xfrm>
        </p:spPr>
      </p:sp>
      <p:sp>
        <p:nvSpPr>
          <p:cNvPr id="65538" name="备注占位符 2"/>
          <p:cNvSpPr>
            <a:spLocks noGrp="1"/>
          </p:cNvSpPr>
          <p:nvPr>
            <p:ph type="body" idx="1"/>
          </p:nvPr>
        </p:nvSpPr>
        <p:spPr>
          <a:noFill/>
        </p:spPr>
        <p:txBody>
          <a:bodyPr/>
          <a:lstStyle/>
          <a:p>
            <a:r>
              <a:rPr lang="zh-CN" altLang="en-US" b="1">
                <a:solidFill>
                  <a:srgbClr val="000099"/>
                </a:solidFill>
                <a:ea typeface="宋体" panose="02010600030101010101" pitchFamily="2" charset="-122"/>
              </a:rPr>
              <a:t>删除线性表</a:t>
            </a:r>
            <a:r>
              <a:rPr lang="en-US" altLang="zh-CN" b="1">
                <a:solidFill>
                  <a:srgbClr val="000099"/>
                </a:solidFill>
                <a:ea typeface="宋体" panose="02010600030101010101" pitchFamily="2" charset="-122"/>
              </a:rPr>
              <a:t>L</a:t>
            </a:r>
            <a:r>
              <a:rPr lang="zh-CN" altLang="en-US" b="1">
                <a:solidFill>
                  <a:srgbClr val="000099"/>
                </a:solidFill>
                <a:ea typeface="宋体" panose="02010600030101010101" pitchFamily="2" charset="-122"/>
              </a:rPr>
              <a:t>中的</a:t>
            </a:r>
            <a:r>
              <a:rPr lang="zh-CN" altLang="en-US" b="1">
                <a:solidFill>
                  <a:srgbClr val="000099"/>
                </a:solidFill>
                <a:latin typeface="宋体" panose="02010600030101010101" pitchFamily="2" charset="-122"/>
                <a:ea typeface="宋体" panose="02010600030101010101" pitchFamily="2" charset="-122"/>
              </a:rPr>
              <a:t>第</a:t>
            </a:r>
            <a:r>
              <a:rPr lang="en-US" altLang="zh-CN" b="1">
                <a:solidFill>
                  <a:srgbClr val="000099"/>
                </a:solidFill>
                <a:ea typeface="宋体" panose="02010600030101010101" pitchFamily="2" charset="-122"/>
              </a:rPr>
              <a:t>i</a:t>
            </a:r>
            <a:r>
              <a:rPr lang="zh-CN" altLang="en-US" b="1">
                <a:solidFill>
                  <a:srgbClr val="000099"/>
                </a:solidFill>
                <a:ea typeface="宋体" panose="02010600030101010101" pitchFamily="2" charset="-122"/>
              </a:rPr>
              <a:t>个</a:t>
            </a:r>
            <a:r>
              <a:rPr lang="zh-CN" altLang="en-US" b="1">
                <a:solidFill>
                  <a:srgbClr val="000099"/>
                </a:solidFill>
                <a:latin typeface="宋体" panose="02010600030101010101" pitchFamily="2" charset="-122"/>
                <a:ea typeface="宋体" panose="02010600030101010101" pitchFamily="2" charset="-122"/>
              </a:rPr>
              <a:t>元素，其时间主要耗费在表中结点的移动操作上，因此，</a:t>
            </a:r>
            <a:endParaRPr lang="zh-CN" altLang="en-US">
              <a:ea typeface="宋体" panose="02010600030101010101" pitchFamily="2" charset="-122"/>
            </a:endParaRPr>
          </a:p>
        </p:txBody>
      </p:sp>
      <p:sp>
        <p:nvSpPr>
          <p:cNvPr id="65539" name="灯片编号占位符 3"/>
          <p:cNvSpPr>
            <a:spLocks noGrp="1"/>
          </p:cNvSpPr>
          <p:nvPr>
            <p:ph type="sldNum" sz="quarter" idx="5"/>
          </p:nvPr>
        </p:nvSpPr>
        <p:spPr>
          <a:noFill/>
        </p:spPr>
        <p:txBody>
          <a:bodyPr/>
          <a:lstStyle/>
          <a:p>
            <a:fld id="{4A06E8B8-3A6A-4F73-8797-53F009626000}" type="slidenum">
              <a:rPr lang="en-US" altLang="zh-CN" smtClean="0">
                <a:ea typeface="宋体" panose="02010600030101010101" pitchFamily="2" charset="-122"/>
                <a:cs typeface="楷体_GB2312"/>
              </a:rPr>
              <a:t>49</a:t>
            </a:fld>
            <a:endParaRPr lang="en-US" altLang="zh-CN">
              <a:ea typeface="宋体" panose="02010600030101010101" pitchFamily="2" charset="-122"/>
              <a:cs typeface="楷体_GB231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EDB4249-8368-45CF-B849-C9B0D8ED1103}" type="slidenum">
              <a:rPr lang="en-US" altLang="zh-CN" smtClean="0"/>
              <a:t>55</a:t>
            </a:fld>
            <a:endParaRPr lang="en-US" altLang="zh-CN"/>
          </a:p>
        </p:txBody>
      </p:sp>
    </p:spTree>
    <p:extLst>
      <p:ext uri="{BB962C8B-B14F-4D97-AF65-F5344CB8AC3E}">
        <p14:creationId xmlns:p14="http://schemas.microsoft.com/office/powerpoint/2010/main" val="30353197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384175" y="687388"/>
            <a:ext cx="6089650" cy="3425825"/>
          </a:xfrm>
          <a:solidFill>
            <a:srgbClr val="FFFFFF"/>
          </a:solidFill>
          <a:ln w="12700" cap="flat"/>
        </p:spPr>
      </p:sp>
      <p:sp>
        <p:nvSpPr>
          <p:cNvPr id="81923" name="Rectangle 3"/>
          <p:cNvSpPr>
            <a:spLocks noGrp="1" noChangeArrowheads="1"/>
          </p:cNvSpPr>
          <p:nvPr>
            <p:ph type="body" idx="1"/>
          </p:nvPr>
        </p:nvSpPr>
        <p:spPr>
          <a:noFill/>
        </p:spPr>
        <p:txBody>
          <a:bodyPr lIns="92075" tIns="46038" rIns="92075" bIns="46038"/>
          <a:lstStyle/>
          <a:p>
            <a:r>
              <a:rPr lang="zh-CN" altLang="en-US">
                <a:ea typeface="宋体" panose="02010600030101010101" pitchFamily="2" charset="-122"/>
              </a:rPr>
              <a:t>讲课时板书教案上的几种常见的指针操作</a:t>
            </a:r>
            <a:r>
              <a:rPr lang="zh-CN" altLang="en-US" sz="1000">
                <a:latin typeface="宋体" panose="02010600030101010101" pitchFamily="2" charset="-122"/>
                <a:ea typeface="宋体" panose="02010600030101010101" pitchFamily="2" charset="-122"/>
              </a:rPr>
              <a:t>。</a:t>
            </a:r>
            <a:endParaRPr lang="zh-CN" altLang="en-US">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384175" y="687388"/>
            <a:ext cx="6089650" cy="3425825"/>
          </a:xfrm>
          <a:solidFill>
            <a:srgbClr val="FFFFFF"/>
          </a:solidFill>
          <a:ln w="12700" cap="flat"/>
        </p:spPr>
      </p:sp>
      <p:sp>
        <p:nvSpPr>
          <p:cNvPr id="83971" name="Rectangle 3"/>
          <p:cNvSpPr>
            <a:spLocks noGrp="1" noChangeArrowheads="1"/>
          </p:cNvSpPr>
          <p:nvPr>
            <p:ph type="body" idx="1"/>
          </p:nvPr>
        </p:nvSpPr>
        <p:spPr>
          <a:noFill/>
        </p:spPr>
        <p:txBody>
          <a:bodyPr lIns="92075" tIns="46038" rIns="92075" bIns="46038"/>
          <a:lstStyle/>
          <a:p>
            <a:r>
              <a:rPr lang="zh-CN" altLang="en-US">
                <a:ea typeface="宋体" panose="02010600030101010101" pitchFamily="2" charset="-122"/>
              </a:rPr>
              <a:t>讲课时板书教案上的几种常见的指针操作</a:t>
            </a:r>
            <a:r>
              <a:rPr lang="zh-CN" altLang="en-US" sz="1000">
                <a:latin typeface="宋体" panose="02010600030101010101" pitchFamily="2" charset="-122"/>
                <a:ea typeface="宋体" panose="02010600030101010101" pitchFamily="2" charset="-122"/>
              </a:rPr>
              <a:t>。</a:t>
            </a:r>
            <a:endParaRPr lang="zh-CN" altLang="en-US">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EDB4249-8368-45CF-B849-C9B0D8ED1103}" type="slidenum">
              <a:rPr lang="en-US" altLang="zh-CN" smtClean="0"/>
              <a:t>64</a:t>
            </a:fld>
            <a:endParaRPr lang="en-US" altLang="zh-CN"/>
          </a:p>
        </p:txBody>
      </p:sp>
    </p:spTree>
    <p:extLst>
      <p:ext uri="{BB962C8B-B14F-4D97-AF65-F5344CB8AC3E}">
        <p14:creationId xmlns:p14="http://schemas.microsoft.com/office/powerpoint/2010/main" val="50243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⑴  算法</a:t>
            </a:r>
            <a:r>
              <a:rPr lang="en-US" altLang="zh-CN" dirty="0"/>
              <a:t>2.9 </a:t>
            </a:r>
            <a:r>
              <a:rPr lang="zh-CN" altLang="en-US" dirty="0"/>
              <a:t>在线性表</a:t>
            </a:r>
            <a:r>
              <a:rPr lang="en-US" altLang="zh-CN" dirty="0"/>
              <a:t>L</a:t>
            </a:r>
            <a:r>
              <a:rPr lang="zh-CN" altLang="en-US" dirty="0"/>
              <a:t>的第</a:t>
            </a:r>
            <a:r>
              <a:rPr lang="en-US" altLang="zh-CN" dirty="0" err="1"/>
              <a:t>i</a:t>
            </a:r>
            <a:r>
              <a:rPr lang="zh-CN" altLang="en-US" dirty="0"/>
              <a:t>个结点前插入一个结点的算法要点是：</a:t>
            </a:r>
          </a:p>
          <a:p>
            <a:r>
              <a:rPr lang="zh-CN" altLang="en-US" dirty="0"/>
              <a:t>⑵  首先，将线性表的地址赋值给指针</a:t>
            </a:r>
            <a:r>
              <a:rPr lang="en-US" altLang="zh-CN" dirty="0"/>
              <a:t>p</a:t>
            </a:r>
            <a:r>
              <a:rPr lang="zh-CN" altLang="en-US" dirty="0"/>
              <a:t>，并对</a:t>
            </a:r>
            <a:r>
              <a:rPr lang="en-US" altLang="zh-CN" dirty="0"/>
              <a:t>j</a:t>
            </a:r>
            <a:r>
              <a:rPr lang="zh-CN" altLang="en-US" dirty="0"/>
              <a:t>赋初值</a:t>
            </a:r>
            <a:r>
              <a:rPr lang="en-US" altLang="zh-CN" dirty="0"/>
              <a:t>0</a:t>
            </a:r>
            <a:r>
              <a:rPr lang="zh-CN" altLang="en-US" dirty="0"/>
              <a:t>；</a:t>
            </a:r>
          </a:p>
          <a:p>
            <a:r>
              <a:rPr lang="zh-CN" altLang="en-US" dirty="0"/>
              <a:t>⑶  然后用循环寻找第</a:t>
            </a:r>
            <a:r>
              <a:rPr lang="en-US" altLang="zh-CN" dirty="0" err="1"/>
              <a:t>i</a:t>
            </a:r>
            <a:r>
              <a:rPr lang="en-US" altLang="zh-CN" dirty="0"/>
              <a:t>-1</a:t>
            </a:r>
            <a:r>
              <a:rPr lang="zh-CN" altLang="en-US" dirty="0"/>
              <a:t>个结点，退出循环后，若</a:t>
            </a:r>
            <a:r>
              <a:rPr lang="en-US" altLang="zh-CN" dirty="0"/>
              <a:t>p</a:t>
            </a:r>
            <a:r>
              <a:rPr lang="zh-CN" altLang="en-US" dirty="0"/>
              <a:t>为</a:t>
            </a:r>
            <a:r>
              <a:rPr lang="en-US" altLang="zh-CN" dirty="0"/>
              <a:t>NULL</a:t>
            </a:r>
            <a:r>
              <a:rPr lang="zh-CN" altLang="en-US" dirty="0"/>
              <a:t>或</a:t>
            </a:r>
            <a:r>
              <a:rPr lang="en-US" altLang="zh-CN" dirty="0"/>
              <a:t>j&gt;</a:t>
            </a:r>
            <a:r>
              <a:rPr lang="en-US" altLang="zh-CN" dirty="0" err="1"/>
              <a:t>i</a:t>
            </a:r>
            <a:r>
              <a:rPr lang="en-US" altLang="zh-CN" dirty="0"/>
              <a:t>-1</a:t>
            </a:r>
            <a:r>
              <a:rPr lang="zh-CN" altLang="en-US" dirty="0"/>
              <a:t>，说明</a:t>
            </a:r>
            <a:r>
              <a:rPr lang="en-US" altLang="zh-CN" dirty="0" err="1"/>
              <a:t>i</a:t>
            </a:r>
            <a:r>
              <a:rPr lang="zh-CN" altLang="en-US" dirty="0"/>
              <a:t>小于</a:t>
            </a:r>
            <a:r>
              <a:rPr lang="en-US" altLang="zh-CN" dirty="0"/>
              <a:t>1</a:t>
            </a:r>
            <a:r>
              <a:rPr lang="zh-CN" altLang="en-US" dirty="0"/>
              <a:t>或者大于表长，返回出错；</a:t>
            </a:r>
          </a:p>
          <a:p>
            <a:r>
              <a:rPr lang="zh-CN" altLang="en-US" dirty="0"/>
              <a:t>⑷ 找到第</a:t>
            </a:r>
            <a:r>
              <a:rPr lang="en-US" altLang="zh-CN" dirty="0" err="1"/>
              <a:t>i</a:t>
            </a:r>
            <a:r>
              <a:rPr lang="en-US" altLang="zh-CN" dirty="0"/>
              <a:t>-1</a:t>
            </a:r>
            <a:r>
              <a:rPr lang="zh-CN" altLang="en-US" dirty="0"/>
              <a:t>个结点后，先创建一个结点，用指针</a:t>
            </a:r>
            <a:r>
              <a:rPr lang="en-US" altLang="zh-CN" dirty="0"/>
              <a:t>s</a:t>
            </a:r>
            <a:r>
              <a:rPr lang="zh-CN" altLang="en-US" dirty="0"/>
              <a:t>指向它；</a:t>
            </a:r>
          </a:p>
          <a:p>
            <a:r>
              <a:rPr lang="zh-CN" altLang="en-US" dirty="0"/>
              <a:t>⑸ 对该结点附值为</a:t>
            </a:r>
            <a:r>
              <a:rPr lang="en-US" altLang="zh-CN" dirty="0"/>
              <a:t>e</a:t>
            </a:r>
            <a:r>
              <a:rPr lang="zh-CN" altLang="en-US" dirty="0"/>
              <a:t>，并将其指针域指向结点</a:t>
            </a:r>
            <a:r>
              <a:rPr lang="en-US" altLang="zh-CN" dirty="0"/>
              <a:t>ai</a:t>
            </a:r>
            <a:r>
              <a:rPr lang="zh-CN" altLang="en-US" dirty="0"/>
              <a:t>。</a:t>
            </a:r>
          </a:p>
          <a:p>
            <a:r>
              <a:rPr lang="en-US" altLang="zh-CN" dirty="0"/>
              <a:t>(6) </a:t>
            </a:r>
            <a:r>
              <a:rPr lang="zh-CN" altLang="en-US" dirty="0"/>
              <a:t>将指针</a:t>
            </a:r>
            <a:r>
              <a:rPr lang="en-US" altLang="zh-CN" dirty="0"/>
              <a:t>s</a:t>
            </a:r>
            <a:r>
              <a:rPr lang="zh-CN" altLang="en-US" dirty="0"/>
              <a:t>覆盖掉结点</a:t>
            </a:r>
            <a:r>
              <a:rPr lang="en-US" altLang="zh-CN" dirty="0"/>
              <a:t>ai-1</a:t>
            </a:r>
            <a:r>
              <a:rPr lang="zh-CN" altLang="en-US" dirty="0"/>
              <a:t>的指针域。算法返回</a:t>
            </a:r>
            <a:r>
              <a:rPr lang="en-US" altLang="zh-CN" dirty="0"/>
              <a:t>OK</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22505-B285-46DF-A8C7-BE179E568906}"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29651511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1D162-7A47-79EA-A77B-4C4DFEDE2B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B2E1B9-921C-9C83-5C2C-701CB607F5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918E9F4-2075-83CB-558E-9D860EEC2061}"/>
              </a:ext>
            </a:extLst>
          </p:cNvPr>
          <p:cNvSpPr>
            <a:spLocks noGrp="1"/>
          </p:cNvSpPr>
          <p:nvPr>
            <p:ph type="body" idx="1"/>
          </p:nvPr>
        </p:nvSpPr>
        <p:spPr/>
        <p:txBody>
          <a:bodyPr/>
          <a:lstStyle/>
          <a:p>
            <a:r>
              <a:rPr lang="zh-CN" altLang="en-US" dirty="0"/>
              <a:t>⑴  算法</a:t>
            </a:r>
            <a:r>
              <a:rPr lang="en-US" altLang="zh-CN" dirty="0"/>
              <a:t>2.9 </a:t>
            </a:r>
            <a:r>
              <a:rPr lang="zh-CN" altLang="en-US" dirty="0"/>
              <a:t>在线性表</a:t>
            </a:r>
            <a:r>
              <a:rPr lang="en-US" altLang="zh-CN" dirty="0"/>
              <a:t>L</a:t>
            </a:r>
            <a:r>
              <a:rPr lang="zh-CN" altLang="en-US" dirty="0"/>
              <a:t>的第</a:t>
            </a:r>
            <a:r>
              <a:rPr lang="en-US" altLang="zh-CN" dirty="0" err="1"/>
              <a:t>i</a:t>
            </a:r>
            <a:r>
              <a:rPr lang="zh-CN" altLang="en-US" dirty="0"/>
              <a:t>个结点前插入一个结点的算法要点是：</a:t>
            </a:r>
          </a:p>
          <a:p>
            <a:r>
              <a:rPr lang="zh-CN" altLang="en-US" dirty="0"/>
              <a:t>⑵  首先，将线性表的地址赋值给指针</a:t>
            </a:r>
            <a:r>
              <a:rPr lang="en-US" altLang="zh-CN" dirty="0"/>
              <a:t>p</a:t>
            </a:r>
            <a:r>
              <a:rPr lang="zh-CN" altLang="en-US" dirty="0"/>
              <a:t>，并对</a:t>
            </a:r>
            <a:r>
              <a:rPr lang="en-US" altLang="zh-CN" dirty="0"/>
              <a:t>j</a:t>
            </a:r>
            <a:r>
              <a:rPr lang="zh-CN" altLang="en-US" dirty="0"/>
              <a:t>赋初值</a:t>
            </a:r>
            <a:r>
              <a:rPr lang="en-US" altLang="zh-CN" dirty="0"/>
              <a:t>0</a:t>
            </a:r>
            <a:r>
              <a:rPr lang="zh-CN" altLang="en-US" dirty="0"/>
              <a:t>；</a:t>
            </a:r>
          </a:p>
          <a:p>
            <a:r>
              <a:rPr lang="zh-CN" altLang="en-US" dirty="0"/>
              <a:t>⑶  然后用循环寻找第</a:t>
            </a:r>
            <a:r>
              <a:rPr lang="en-US" altLang="zh-CN" dirty="0" err="1"/>
              <a:t>i</a:t>
            </a:r>
            <a:r>
              <a:rPr lang="en-US" altLang="zh-CN" dirty="0"/>
              <a:t>-1</a:t>
            </a:r>
            <a:r>
              <a:rPr lang="zh-CN" altLang="en-US" dirty="0"/>
              <a:t>个结点，退出循环后，若</a:t>
            </a:r>
            <a:r>
              <a:rPr lang="en-US" altLang="zh-CN" dirty="0"/>
              <a:t>p</a:t>
            </a:r>
            <a:r>
              <a:rPr lang="zh-CN" altLang="en-US" dirty="0"/>
              <a:t>为</a:t>
            </a:r>
            <a:r>
              <a:rPr lang="en-US" altLang="zh-CN" dirty="0"/>
              <a:t>NULL</a:t>
            </a:r>
            <a:r>
              <a:rPr lang="zh-CN" altLang="en-US" dirty="0"/>
              <a:t>或</a:t>
            </a:r>
            <a:r>
              <a:rPr lang="en-US" altLang="zh-CN" dirty="0"/>
              <a:t>j&gt;</a:t>
            </a:r>
            <a:r>
              <a:rPr lang="en-US" altLang="zh-CN" dirty="0" err="1"/>
              <a:t>i</a:t>
            </a:r>
            <a:r>
              <a:rPr lang="en-US" altLang="zh-CN" dirty="0"/>
              <a:t>-1</a:t>
            </a:r>
            <a:r>
              <a:rPr lang="zh-CN" altLang="en-US" dirty="0"/>
              <a:t>，说明</a:t>
            </a:r>
            <a:r>
              <a:rPr lang="en-US" altLang="zh-CN" dirty="0" err="1"/>
              <a:t>i</a:t>
            </a:r>
            <a:r>
              <a:rPr lang="zh-CN" altLang="en-US" dirty="0"/>
              <a:t>小于</a:t>
            </a:r>
            <a:r>
              <a:rPr lang="en-US" altLang="zh-CN" dirty="0"/>
              <a:t>1</a:t>
            </a:r>
            <a:r>
              <a:rPr lang="zh-CN" altLang="en-US" dirty="0"/>
              <a:t>或者大于表长，返回出错；</a:t>
            </a:r>
          </a:p>
          <a:p>
            <a:r>
              <a:rPr lang="zh-CN" altLang="en-US" dirty="0"/>
              <a:t>⑷ 找到第</a:t>
            </a:r>
            <a:r>
              <a:rPr lang="en-US" altLang="zh-CN" dirty="0" err="1"/>
              <a:t>i</a:t>
            </a:r>
            <a:r>
              <a:rPr lang="en-US" altLang="zh-CN" dirty="0"/>
              <a:t>-1</a:t>
            </a:r>
            <a:r>
              <a:rPr lang="zh-CN" altLang="en-US" dirty="0"/>
              <a:t>个结点后，先创建一个结点，用指针</a:t>
            </a:r>
            <a:r>
              <a:rPr lang="en-US" altLang="zh-CN" dirty="0"/>
              <a:t>s</a:t>
            </a:r>
            <a:r>
              <a:rPr lang="zh-CN" altLang="en-US" dirty="0"/>
              <a:t>指向它；</a:t>
            </a:r>
          </a:p>
          <a:p>
            <a:r>
              <a:rPr lang="zh-CN" altLang="en-US" dirty="0"/>
              <a:t>⑸ 对该结点附值为</a:t>
            </a:r>
            <a:r>
              <a:rPr lang="en-US" altLang="zh-CN" dirty="0"/>
              <a:t>e</a:t>
            </a:r>
            <a:r>
              <a:rPr lang="zh-CN" altLang="en-US" dirty="0"/>
              <a:t>，并将其指针域指向结点</a:t>
            </a:r>
            <a:r>
              <a:rPr lang="en-US" altLang="zh-CN" dirty="0"/>
              <a:t>ai</a:t>
            </a:r>
            <a:r>
              <a:rPr lang="zh-CN" altLang="en-US" dirty="0"/>
              <a:t>。</a:t>
            </a:r>
          </a:p>
          <a:p>
            <a:r>
              <a:rPr lang="en-US" altLang="zh-CN" dirty="0"/>
              <a:t>(6) </a:t>
            </a:r>
            <a:r>
              <a:rPr lang="zh-CN" altLang="en-US" dirty="0"/>
              <a:t>将指针</a:t>
            </a:r>
            <a:r>
              <a:rPr lang="en-US" altLang="zh-CN" dirty="0"/>
              <a:t>s</a:t>
            </a:r>
            <a:r>
              <a:rPr lang="zh-CN" altLang="en-US" dirty="0"/>
              <a:t>覆盖掉结点</a:t>
            </a:r>
            <a:r>
              <a:rPr lang="en-US" altLang="zh-CN" dirty="0"/>
              <a:t>ai-1</a:t>
            </a:r>
            <a:r>
              <a:rPr lang="zh-CN" altLang="en-US" dirty="0"/>
              <a:t>的指针域。算法返回</a:t>
            </a:r>
            <a:r>
              <a:rPr lang="en-US" altLang="zh-CN" dirty="0"/>
              <a:t>OK</a:t>
            </a:r>
          </a:p>
          <a:p>
            <a:endParaRPr lang="zh-CN" altLang="en-US" dirty="0"/>
          </a:p>
        </p:txBody>
      </p:sp>
      <p:sp>
        <p:nvSpPr>
          <p:cNvPr id="4" name="灯片编号占位符 3">
            <a:extLst>
              <a:ext uri="{FF2B5EF4-FFF2-40B4-BE49-F238E27FC236}">
                <a16:creationId xmlns:a16="http://schemas.microsoft.com/office/drawing/2014/main" id="{3767B6F6-C5D4-051B-D2B4-F0CFAD2DA5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22505-B285-46DF-A8C7-BE179E568906}"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20968994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我们已经了解，线性表的链式存储结构不同于顺序表，它占用的存储空间可“随用随取“，构建链表不需要预先给它分配存储空间，因此，根据给定的元素序列构造单链线性表的过程，是一个从只含一个头结点的空表开始逐个插入结点的过程。</a:t>
            </a:r>
          </a:p>
          <a:p>
            <a:r>
              <a:rPr lang="zh-CN" altLang="en-US" dirty="0"/>
              <a:t>（</a:t>
            </a:r>
            <a:r>
              <a:rPr lang="en-US" altLang="zh-CN" dirty="0"/>
              <a:t>2</a:t>
            </a:r>
            <a:r>
              <a:rPr lang="zh-CN" altLang="en-US" dirty="0"/>
              <a:t>）首先来看算法的参数表，其中</a:t>
            </a:r>
            <a:r>
              <a:rPr lang="en-US" altLang="zh-CN" dirty="0"/>
              <a:t>L</a:t>
            </a:r>
            <a:r>
              <a:rPr lang="zh-CN" altLang="en-US" dirty="0"/>
              <a:t>是引用参数，</a:t>
            </a:r>
            <a:r>
              <a:rPr lang="en-US" altLang="zh-CN" dirty="0"/>
              <a:t>n</a:t>
            </a:r>
            <a:r>
              <a:rPr lang="zh-CN" altLang="en-US" dirty="0"/>
              <a:t>和</a:t>
            </a:r>
            <a:r>
              <a:rPr lang="en-US" altLang="zh-CN" dirty="0"/>
              <a:t>s</a:t>
            </a:r>
            <a:r>
              <a:rPr lang="zh-CN" altLang="en-US" dirty="0"/>
              <a:t>是值参数，分别表示线性表的长度和数据元素序列，由调用函数传递导入。</a:t>
            </a:r>
          </a:p>
          <a:p>
            <a:r>
              <a:rPr lang="zh-CN" altLang="en-US" dirty="0"/>
              <a:t>（</a:t>
            </a:r>
            <a:r>
              <a:rPr lang="en-US" altLang="zh-CN" dirty="0"/>
              <a:t>3</a:t>
            </a:r>
            <a:r>
              <a:rPr lang="zh-CN" altLang="en-US" dirty="0"/>
              <a:t>）在此以一个数据元素依次为</a:t>
            </a:r>
            <a:r>
              <a:rPr lang="en-US" altLang="zh-CN" dirty="0" err="1"/>
              <a:t>a,b,c,d</a:t>
            </a:r>
            <a:r>
              <a:rPr lang="zh-CN" altLang="en-US" dirty="0"/>
              <a:t>，长度为</a:t>
            </a:r>
            <a:r>
              <a:rPr lang="en-US" altLang="zh-CN" dirty="0"/>
              <a:t>4</a:t>
            </a:r>
            <a:r>
              <a:rPr lang="zh-CN" altLang="en-US" dirty="0"/>
              <a:t>的线性表为例，观察算法的执行过程。</a:t>
            </a:r>
          </a:p>
          <a:p>
            <a:r>
              <a:rPr lang="zh-CN" altLang="en-US" dirty="0"/>
              <a:t>（</a:t>
            </a:r>
            <a:r>
              <a:rPr lang="en-US" altLang="zh-CN" dirty="0"/>
              <a:t>4</a:t>
            </a:r>
            <a:r>
              <a:rPr lang="zh-CN" altLang="en-US" dirty="0"/>
              <a:t>）首先建立带头结点的空单链表，需要调用</a:t>
            </a:r>
            <a:r>
              <a:rPr lang="en-US" altLang="zh-CN" dirty="0" err="1"/>
              <a:t>calloc</a:t>
            </a:r>
            <a:r>
              <a:rPr lang="zh-CN" altLang="en-US" dirty="0"/>
              <a:t>函数分配头结点的存储空间，注意：这里的类型</a:t>
            </a:r>
            <a:r>
              <a:rPr lang="en-US" altLang="zh-CN" dirty="0" err="1"/>
              <a:t>LinkList</a:t>
            </a:r>
            <a:r>
              <a:rPr lang="zh-CN" altLang="en-US" dirty="0"/>
              <a:t>和</a:t>
            </a:r>
            <a:r>
              <a:rPr lang="en-US" altLang="zh-CN" dirty="0" err="1"/>
              <a:t>LNode</a:t>
            </a:r>
            <a:r>
              <a:rPr lang="en-US" altLang="zh-CN" dirty="0"/>
              <a:t>*</a:t>
            </a:r>
            <a:r>
              <a:rPr lang="zh-CN" altLang="en-US" dirty="0"/>
              <a:t>是等价的，可以互换。</a:t>
            </a:r>
          </a:p>
          <a:p>
            <a:r>
              <a:rPr lang="zh-CN" altLang="en-US" dirty="0"/>
              <a:t>（</a:t>
            </a:r>
            <a:r>
              <a:rPr lang="en-US" altLang="zh-CN" dirty="0"/>
              <a:t>5</a:t>
            </a:r>
            <a:r>
              <a:rPr lang="zh-CN" altLang="en-US" dirty="0"/>
              <a:t>）</a:t>
            </a:r>
            <a:r>
              <a:rPr lang="en-US" altLang="zh-CN" dirty="0"/>
              <a:t>L</a:t>
            </a:r>
            <a:r>
              <a:rPr lang="zh-CN" altLang="en-US" dirty="0"/>
              <a:t>为头指针，指向新构造的头结点，同时为了便于每次在表尾的后面插入新的结点，需要一个指向表尾结点的辅助指针</a:t>
            </a:r>
            <a:r>
              <a:rPr lang="en-US" altLang="zh-CN" dirty="0"/>
              <a:t>p</a:t>
            </a:r>
            <a:r>
              <a:rPr lang="zh-CN" altLang="en-US" dirty="0"/>
              <a:t>，对于空表的情况，它自然就是指向头结点，我们称这个辅助指针</a:t>
            </a:r>
            <a:r>
              <a:rPr lang="en-US" altLang="zh-CN" dirty="0"/>
              <a:t>p</a:t>
            </a:r>
            <a:r>
              <a:rPr lang="zh-CN" altLang="en-US" dirty="0"/>
              <a:t>为尾指针。</a:t>
            </a:r>
          </a:p>
          <a:p>
            <a:r>
              <a:rPr lang="zh-CN" altLang="en-US" dirty="0"/>
              <a:t>（</a:t>
            </a:r>
            <a:r>
              <a:rPr lang="en-US" altLang="zh-CN" dirty="0"/>
              <a:t>6</a:t>
            </a:r>
            <a:r>
              <a:rPr lang="zh-CN" altLang="en-US" dirty="0"/>
              <a:t>）之后的</a:t>
            </a:r>
            <a:r>
              <a:rPr lang="en-US" altLang="zh-CN" dirty="0"/>
              <a:t>for</a:t>
            </a:r>
            <a:r>
              <a:rPr lang="zh-CN" altLang="en-US" dirty="0"/>
              <a:t>循环实现将字符序列</a:t>
            </a:r>
            <a:r>
              <a:rPr lang="en-US" altLang="zh-CN" dirty="0"/>
              <a:t>s</a:t>
            </a:r>
            <a:r>
              <a:rPr lang="zh-CN" altLang="en-US" dirty="0"/>
              <a:t>中的元素逐个插入到表尾。</a:t>
            </a:r>
          </a:p>
          <a:p>
            <a:r>
              <a:rPr lang="zh-CN" altLang="en-US" dirty="0"/>
              <a:t>（</a:t>
            </a:r>
            <a:r>
              <a:rPr lang="en-US" altLang="zh-CN" dirty="0"/>
              <a:t>7</a:t>
            </a:r>
            <a:r>
              <a:rPr lang="zh-CN" altLang="en-US" dirty="0"/>
              <a:t>）</a:t>
            </a:r>
            <a:r>
              <a:rPr lang="en-US" altLang="zh-CN" dirty="0" err="1"/>
              <a:t>i</a:t>
            </a:r>
            <a:r>
              <a:rPr lang="zh-CN" altLang="en-US" dirty="0"/>
              <a:t>初值为</a:t>
            </a:r>
            <a:r>
              <a:rPr lang="en-US" altLang="zh-CN" dirty="0"/>
              <a:t>0</a:t>
            </a:r>
            <a:r>
              <a:rPr lang="zh-CN" altLang="en-US" dirty="0"/>
              <a:t>，在</a:t>
            </a:r>
            <a:r>
              <a:rPr lang="en-US" altLang="zh-CN" dirty="0" err="1"/>
              <a:t>i</a:t>
            </a:r>
            <a:r>
              <a:rPr lang="zh-CN" altLang="en-US" dirty="0"/>
              <a:t>值小于</a:t>
            </a:r>
            <a:r>
              <a:rPr lang="en-US" altLang="zh-CN" dirty="0"/>
              <a:t>n</a:t>
            </a:r>
            <a:r>
              <a:rPr lang="zh-CN" altLang="en-US" dirty="0"/>
              <a:t>时进入循环，循环内的三行语句的操作分别是：</a:t>
            </a:r>
          </a:p>
          <a:p>
            <a:r>
              <a:rPr lang="zh-CN" altLang="en-US" dirty="0"/>
              <a:t>（</a:t>
            </a:r>
            <a:r>
              <a:rPr lang="en-US" altLang="zh-CN" dirty="0"/>
              <a:t>8</a:t>
            </a:r>
            <a:r>
              <a:rPr lang="zh-CN" altLang="en-US" dirty="0"/>
              <a:t>）首先在当前的表尾结点之后生成一个新的结点，</a:t>
            </a:r>
          </a:p>
          <a:p>
            <a:r>
              <a:rPr lang="zh-CN" altLang="en-US" dirty="0"/>
              <a:t>（</a:t>
            </a:r>
            <a:r>
              <a:rPr lang="en-US" altLang="zh-CN" dirty="0"/>
              <a:t>9</a:t>
            </a:r>
            <a:r>
              <a:rPr lang="zh-CN" altLang="en-US" dirty="0"/>
              <a:t>）然后让尾指针</a:t>
            </a:r>
            <a:r>
              <a:rPr lang="en-US" altLang="zh-CN" dirty="0"/>
              <a:t>p</a:t>
            </a:r>
            <a:r>
              <a:rPr lang="zh-CN" altLang="en-US" dirty="0"/>
              <a:t>后移指向新的尾结点。</a:t>
            </a:r>
          </a:p>
          <a:p>
            <a:r>
              <a:rPr lang="zh-CN" altLang="en-US" dirty="0"/>
              <a:t>（</a:t>
            </a:r>
            <a:r>
              <a:rPr lang="en-US" altLang="zh-CN" dirty="0"/>
              <a:t>10</a:t>
            </a:r>
            <a:r>
              <a:rPr lang="zh-CN" altLang="en-US" dirty="0"/>
              <a:t>）最后将序列</a:t>
            </a:r>
            <a:r>
              <a:rPr lang="en-US" altLang="zh-CN" dirty="0"/>
              <a:t>s</a:t>
            </a:r>
            <a:r>
              <a:rPr lang="zh-CN" altLang="en-US" dirty="0"/>
              <a:t>中的当前元素存入尾结点。</a:t>
            </a:r>
          </a:p>
          <a:p>
            <a:r>
              <a:rPr lang="zh-CN" altLang="en-US" dirty="0"/>
              <a:t>（</a:t>
            </a:r>
            <a:r>
              <a:rPr lang="en-US" altLang="zh-CN" dirty="0"/>
              <a:t>11</a:t>
            </a:r>
            <a:r>
              <a:rPr lang="zh-CN" altLang="en-US" dirty="0"/>
              <a:t>）如此重复，直到将序列中的所有元素均插入为止。</a:t>
            </a:r>
          </a:p>
          <a:p>
            <a:r>
              <a:rPr lang="zh-CN" altLang="en-US" dirty="0"/>
              <a:t>（</a:t>
            </a:r>
            <a:r>
              <a:rPr lang="en-US" altLang="zh-CN" dirty="0"/>
              <a:t>12</a:t>
            </a:r>
            <a:r>
              <a:rPr lang="zh-CN" altLang="en-US" dirty="0"/>
              <a:t>）最后，还需要将表尾结点的</a:t>
            </a:r>
            <a:r>
              <a:rPr lang="en-US" altLang="zh-CN" dirty="0"/>
              <a:t>next</a:t>
            </a:r>
            <a:r>
              <a:rPr lang="zh-CN" altLang="en-US" dirty="0"/>
              <a:t>域设置为空指针。</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22505-B285-46DF-A8C7-BE179E568906}"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4029302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幻灯片图像占位符 1"/>
          <p:cNvSpPr>
            <a:spLocks noGrp="1" noRot="1" noChangeAspect="1" noTextEdi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pPr>
              <a:buFont typeface="Wingdings" panose="05000000000000000000" pitchFamily="2" charset="2"/>
              <a:buChar char="ü"/>
              <a:defRPr/>
            </a:pPr>
            <a:r>
              <a:rPr lang="zh-CN" altLang="en-US" dirty="0">
                <a:solidFill>
                  <a:schemeClr val="tx2"/>
                </a:solidFill>
                <a:effectLst>
                  <a:outerShdw blurRad="38100" dist="38100" dir="2700000" algn="tl">
                    <a:srgbClr val="C0C0C0"/>
                  </a:outerShdw>
                </a:effectLst>
              </a:rPr>
              <a:t>循环链表是单链表的变形。</a:t>
            </a:r>
          </a:p>
          <a:p>
            <a:pPr>
              <a:buFont typeface="Wingdings" panose="05000000000000000000" pitchFamily="2" charset="2"/>
              <a:buChar char="ü"/>
              <a:defRPr/>
            </a:pPr>
            <a:r>
              <a:rPr lang="zh-CN" altLang="en-US" dirty="0">
                <a:solidFill>
                  <a:schemeClr val="tx2"/>
                </a:solidFill>
                <a:effectLst>
                  <a:outerShdw blurRad="38100" dist="38100" dir="2700000" algn="tl">
                    <a:srgbClr val="C0C0C0"/>
                  </a:outerShdw>
                </a:effectLst>
              </a:rPr>
              <a:t>循环链表最后一个结点的</a:t>
            </a:r>
            <a:r>
              <a:rPr lang="en-US" altLang="zh-CN" i="1" dirty="0">
                <a:solidFill>
                  <a:schemeClr val="tx2"/>
                </a:solidFill>
                <a:effectLst>
                  <a:outerShdw blurRad="38100" dist="38100" dir="2700000" algn="tl">
                    <a:srgbClr val="C0C0C0"/>
                  </a:outerShdw>
                </a:effectLst>
              </a:rPr>
              <a:t>next</a:t>
            </a:r>
            <a:r>
              <a:rPr lang="zh-CN" altLang="en-US" dirty="0">
                <a:solidFill>
                  <a:schemeClr val="tx2"/>
                </a:solidFill>
                <a:effectLst>
                  <a:outerShdw blurRad="38100" dist="38100" dir="2700000" algn="tl">
                    <a:srgbClr val="C0C0C0"/>
                  </a:outerShdw>
                </a:effectLst>
              </a:rPr>
              <a:t>指针不为 </a:t>
            </a:r>
            <a:r>
              <a:rPr lang="en-US" altLang="zh-CN" i="1" dirty="0">
                <a:solidFill>
                  <a:schemeClr val="tx2"/>
                </a:solidFill>
                <a:effectLst>
                  <a:outerShdw blurRad="38100" dist="38100" dir="2700000" algn="tl">
                    <a:srgbClr val="C0C0C0"/>
                  </a:outerShdw>
                </a:effectLst>
              </a:rPr>
              <a:t>NULL</a:t>
            </a:r>
            <a:r>
              <a:rPr lang="zh-CN" altLang="en-US" dirty="0">
                <a:solidFill>
                  <a:schemeClr val="tx2"/>
                </a:solidFill>
                <a:effectLst>
                  <a:outerShdw blurRad="38100" dist="38100" dir="2700000" algn="tl">
                    <a:srgbClr val="C0C0C0"/>
                  </a:outerShdw>
                </a:effectLst>
              </a:rPr>
              <a:t>，而是指向了表的前端。</a:t>
            </a:r>
          </a:p>
          <a:p>
            <a:pPr>
              <a:buFont typeface="Wingdings" panose="05000000000000000000" pitchFamily="2" charset="2"/>
              <a:buChar char="ü"/>
              <a:defRPr/>
            </a:pPr>
            <a:r>
              <a:rPr lang="zh-CN" altLang="en-US" dirty="0">
                <a:solidFill>
                  <a:schemeClr val="tx2"/>
                </a:solidFill>
                <a:effectLst>
                  <a:outerShdw blurRad="38100" dist="38100" dir="2700000" algn="tl">
                    <a:srgbClr val="C0C0C0"/>
                  </a:outerShdw>
                </a:effectLst>
              </a:rPr>
              <a:t>为简化操作，在循环链表中往往加入表头结点。</a:t>
            </a:r>
          </a:p>
          <a:p>
            <a:pPr>
              <a:defRPr/>
            </a:pPr>
            <a:endParaRPr lang="zh-CN" altLang="en-US" dirty="0"/>
          </a:p>
        </p:txBody>
      </p:sp>
      <p:sp>
        <p:nvSpPr>
          <p:cNvPr id="118787" name="灯片编号占位符 3"/>
          <p:cNvSpPr>
            <a:spLocks noGrp="1"/>
          </p:cNvSpPr>
          <p:nvPr>
            <p:ph type="sldNum" sz="quarter" idx="5"/>
          </p:nvPr>
        </p:nvSpPr>
        <p:spPr>
          <a:noFill/>
        </p:spPr>
        <p:txBody>
          <a:bodyPr/>
          <a:lstStyle/>
          <a:p>
            <a:fld id="{E057E376-6834-4BEF-B3A1-52CCD5683505}" type="slidenum">
              <a:rPr lang="en-US" altLang="zh-CN" smtClean="0">
                <a:ea typeface="宋体" panose="02010600030101010101" pitchFamily="2" charset="-122"/>
                <a:cs typeface="楷体_GB2312"/>
              </a:rPr>
              <a:t>75</a:t>
            </a:fld>
            <a:endParaRPr lang="en-US" altLang="zh-CN">
              <a:ea typeface="宋体" panose="02010600030101010101" pitchFamily="2" charset="-122"/>
              <a:cs typeface="楷体_GB231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EDB4249-8368-45CF-B849-C9B0D8ED1103}" type="slidenum">
              <a:rPr lang="en-US" altLang="zh-CN" smtClean="0"/>
              <a:t>87</a:t>
            </a:fld>
            <a:endParaRPr lang="en-US" altLang="zh-CN"/>
          </a:p>
        </p:txBody>
      </p:sp>
    </p:spTree>
    <p:extLst>
      <p:ext uri="{BB962C8B-B14F-4D97-AF65-F5344CB8AC3E}">
        <p14:creationId xmlns:p14="http://schemas.microsoft.com/office/powerpoint/2010/main" val="18320905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EDB4249-8368-45CF-B849-C9B0D8ED1103}" type="slidenum">
              <a:rPr lang="en-US" altLang="zh-CN" smtClean="0"/>
              <a:t>88</a:t>
            </a:fld>
            <a:endParaRPr lang="en-US" altLang="zh-CN"/>
          </a:p>
        </p:txBody>
      </p:sp>
    </p:spTree>
    <p:extLst>
      <p:ext uri="{BB962C8B-B14F-4D97-AF65-F5344CB8AC3E}">
        <p14:creationId xmlns:p14="http://schemas.microsoft.com/office/powerpoint/2010/main" val="3189725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 Id="rId4" Type="http://schemas.openxmlformats.org/officeDocument/2006/relationships/image" Target="../media/image4.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 Id="rId4" Type="http://schemas.openxmlformats.org/officeDocument/2006/relationships/image" Target="../media/image4.emf"/></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 Id="rId4" Type="http://schemas.openxmlformats.org/officeDocument/2006/relationships/image" Target="../media/image4.emf"/></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4.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4.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4.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4.emf"/></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4.emf"/></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4.emf"/></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4.emf"/></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4.emf"/></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8.xml"/><Relationship Id="rId4" Type="http://schemas.openxmlformats.org/officeDocument/2006/relationships/image" Target="../media/image4.emf"/></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8.xml"/><Relationship Id="rId4" Type="http://schemas.openxmlformats.org/officeDocument/2006/relationships/image" Target="../media/image4.emf"/></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8.xml"/><Relationship Id="rId4" Type="http://schemas.openxmlformats.org/officeDocument/2006/relationships/image" Target="../media/image4.emf"/></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8.xml"/><Relationship Id="rId4" Type="http://schemas.openxmlformats.org/officeDocument/2006/relationships/image" Target="../media/image4.emf"/></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9.xml"/><Relationship Id="rId4" Type="http://schemas.openxmlformats.org/officeDocument/2006/relationships/image" Target="../media/image4.emf"/></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9.xml"/><Relationship Id="rId4" Type="http://schemas.openxmlformats.org/officeDocument/2006/relationships/image" Target="../media/image4.emf"/></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9.xml"/><Relationship Id="rId4" Type="http://schemas.openxmlformats.org/officeDocument/2006/relationships/image" Target="../media/image4.emf"/></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9.xml"/><Relationship Id="rId4" Type="http://schemas.openxmlformats.org/officeDocument/2006/relationships/image" Target="../media/image4.emf"/></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4.emf"/></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4.emf"/></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4.emf"/></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0.xml"/><Relationship Id="rId4" Type="http://schemas.openxmlformats.org/officeDocument/2006/relationships/image" Target="../media/image4.emf"/></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77562788"/>
      </p:ext>
    </p:extLst>
  </p:cSld>
  <p:clrMapOvr>
    <a:masterClrMapping/>
  </p:clrMapOvr>
  <p:transition>
    <p:strips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28464158"/>
      </p:ext>
    </p:extLst>
  </p:cSld>
  <p:clrMapOvr>
    <a:masterClrMapping/>
  </p:clrMapOvr>
  <p:transition>
    <p:strips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28648060"/>
      </p:ext>
    </p:extLst>
  </p:cSld>
  <p:clrMapOvr>
    <a:masterClrMapping/>
  </p:clrMapOvr>
  <p:transition>
    <p:strips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7276216"/>
      </p:ext>
    </p:extLst>
  </p:cSld>
  <p:clrMapOvr>
    <a:masterClrMapping/>
  </p:clrMapOvr>
  <p:transition>
    <p:strips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9/22/2026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18503598"/>
      </p:ext>
    </p:extLst>
  </p:cSld>
  <p:clrMapOvr>
    <a:masterClrMapping/>
  </p:clrMapOvr>
  <p:transition>
    <p:strips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9/22/2026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82407191"/>
      </p:ext>
    </p:extLst>
  </p:cSld>
  <p:clrMapOvr>
    <a:masterClrMapping/>
  </p:clrMapOvr>
  <p:transition>
    <p:strips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79618481"/>
      </p:ext>
    </p:extLst>
  </p:cSld>
  <p:clrMapOvr>
    <a:masterClrMapping/>
  </p:clrMapOvr>
  <p:transition>
    <p:strips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31261377"/>
      </p:ext>
    </p:extLst>
  </p:cSld>
  <p:clrMapOvr>
    <a:masterClrMapping/>
  </p:clrMapOvr>
  <p:transition>
    <p:strips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89104196"/>
      </p:ext>
    </p:extLst>
  </p:cSld>
  <p:clrMapOvr>
    <a:masterClrMapping/>
  </p:clrMapOvr>
  <p:transition>
    <p:strips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89091542"/>
      </p:ext>
    </p:extLst>
  </p:cSld>
  <p:clrMapOvr>
    <a:masterClrMapping/>
  </p:clrMapOvr>
  <p:transition>
    <p:strips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49494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609600"/>
            <a:ext cx="103632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46432217"/>
      </p:ext>
    </p:extLst>
  </p:cSld>
  <p:clrMapOvr>
    <a:masterClrMapping/>
  </p:clrMapOvr>
  <p:transition>
    <p:strips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hart">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4"/>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图表占位符 3"/>
          <p:cNvSpPr>
            <a:spLocks noGrp="1"/>
          </p:cNvSpPr>
          <p:nvPr>
            <p:ph type="chart" sz="half" idx="2" hasCustomPrompt="1"/>
          </p:nvPr>
        </p:nvSpPr>
        <p:spPr>
          <a:xfrm>
            <a:off x="6197600" y="1600201"/>
            <a:ext cx="5384800" cy="4530725"/>
          </a:xfrm>
        </p:spPr>
        <p:txBody>
          <a:bodyPr/>
          <a:lstStyle/>
          <a:p>
            <a:pPr lvl="0"/>
            <a:r>
              <a:rPr lang="zh-CN" altLang="en-US" noProof="0"/>
              <a:t>单击图标添加图表</a:t>
            </a:r>
          </a:p>
        </p:txBody>
      </p:sp>
      <p:sp>
        <p:nvSpPr>
          <p:cNvPr id="5" name="日期占位符 4"/>
          <p:cNvSpPr>
            <a:spLocks noGrp="1"/>
          </p:cNvSpPr>
          <p:nvPr>
            <p:ph type="dt" sz="half" idx="10"/>
          </p:nvPr>
        </p:nvSpPr>
        <p:spPr>
          <a:xfrm>
            <a:off x="609600" y="6243638"/>
            <a:ext cx="2844800" cy="457200"/>
          </a:xfrm>
          <a:prstGeom prst="rect">
            <a:avLst/>
          </a:prstGeom>
        </p:spPr>
        <p:txBody>
          <a:bodyPr/>
          <a:lstStyle>
            <a:lvl1pPr eaLnBrk="1" hangingPunct="1">
              <a:defRPr>
                <a:effectLst>
                  <a:outerShdw blurRad="38100" dist="38100" dir="2700000" algn="tl">
                    <a:srgbClr val="000000">
                      <a:alpha val="43137"/>
                    </a:srgbClr>
                  </a:outerShdw>
                </a:effectLst>
                <a:latin typeface="楷体_GB2312" pitchFamily="49" charset="-122"/>
                <a:ea typeface="楷体_GB2312" pitchFamily="49" charset="-122"/>
                <a:cs typeface="+mn-cs"/>
              </a:defRPr>
            </a:lvl1pPr>
          </a:lstStyle>
          <a:p>
            <a:pPr>
              <a:defRPr/>
            </a:pPr>
            <a:fld id="{217C812D-8630-4E40-8E76-D72CDAA76A3E}" type="datetimeFigureOut">
              <a:rPr lang="zh-CN" altLang="en-US"/>
              <a:t>2026/9/22</a:t>
            </a:fld>
            <a:endParaRPr lang="en-US" altLang="zh-CN"/>
          </a:p>
        </p:txBody>
      </p:sp>
      <p:sp>
        <p:nvSpPr>
          <p:cNvPr id="6" name="页脚占位符 5"/>
          <p:cNvSpPr>
            <a:spLocks noGrp="1"/>
          </p:cNvSpPr>
          <p:nvPr>
            <p:ph type="ftr" sz="quarter" idx="11"/>
          </p:nvPr>
        </p:nvSpPr>
        <p:spPr>
          <a:xfrm>
            <a:off x="4165600" y="6248400"/>
            <a:ext cx="3860800" cy="457200"/>
          </a:xfrm>
          <a:prstGeom prst="rect">
            <a:avLst/>
          </a:prstGeom>
        </p:spPr>
        <p:txBody>
          <a:bodyPr/>
          <a:lstStyle>
            <a:lvl1pPr eaLnBrk="1" hangingPunct="1">
              <a:defRPr>
                <a:effectLst>
                  <a:outerShdw blurRad="38100" dist="38100" dir="2700000" algn="tl">
                    <a:srgbClr val="000000">
                      <a:alpha val="43137"/>
                    </a:srgbClr>
                  </a:outerShdw>
                </a:effectLst>
                <a:latin typeface="楷体_GB2312" pitchFamily="49" charset="-122"/>
                <a:ea typeface="楷体_GB2312" pitchFamily="49" charset="-122"/>
                <a:cs typeface="+mn-cs"/>
              </a:defRPr>
            </a:lvl1pPr>
          </a:lstStyle>
          <a:p>
            <a:pPr>
              <a:defRPr/>
            </a:pPr>
            <a:endParaRPr lang="en-US" altLang="zh-CN"/>
          </a:p>
        </p:txBody>
      </p:sp>
      <p:sp>
        <p:nvSpPr>
          <p:cNvPr id="7" name="灯片编号占位符 6"/>
          <p:cNvSpPr>
            <a:spLocks noGrp="1"/>
          </p:cNvSpPr>
          <p:nvPr>
            <p:ph type="sldNum" sz="quarter" idx="12"/>
          </p:nvPr>
        </p:nvSpPr>
        <p:spPr>
          <a:xfrm>
            <a:off x="8737600" y="6243638"/>
            <a:ext cx="2844800" cy="457200"/>
          </a:xfrm>
          <a:prstGeom prst="rect">
            <a:avLst/>
          </a:prstGeom>
        </p:spPr>
        <p:txBody>
          <a:bodyPr vert="horz" wrap="square" lIns="91440" tIns="45720" rIns="91440" bIns="45720" numCol="1" anchor="t" anchorCtr="0" compatLnSpc="1"/>
          <a:lstStyle>
            <a:lvl1pPr eaLnBrk="1" hangingPunct="1">
              <a:defRPr>
                <a:effectLst>
                  <a:outerShdw blurRad="38100" dist="38100" dir="2700000" algn="tl">
                    <a:srgbClr val="C0C0C0"/>
                  </a:outerShdw>
                </a:effectLst>
                <a:latin typeface="楷体_GB2312" pitchFamily="49" charset="-122"/>
                <a:ea typeface="楷体_GB2312" pitchFamily="49" charset="-122"/>
                <a:cs typeface="+mn-cs"/>
              </a:defRPr>
            </a:lvl1pPr>
          </a:lstStyle>
          <a:p>
            <a:pPr>
              <a:defRPr/>
            </a:pPr>
            <a:fld id="{4636E45C-0BF8-4FE4-9F00-5A0B677704E8}" type="slidenum">
              <a:rPr lang="zh-CN" altLang="en-US"/>
              <a:t>‹#›</a:t>
            </a:fld>
            <a:endParaRPr lang="en-US" altLang="zh-CN"/>
          </a:p>
        </p:txBody>
      </p:sp>
    </p:spTree>
    <p:extLst>
      <p:ext uri="{BB962C8B-B14F-4D97-AF65-F5344CB8AC3E}">
        <p14:creationId xmlns:p14="http://schemas.microsoft.com/office/powerpoint/2010/main" val="746665032"/>
      </p:ext>
    </p:extLst>
  </p:cSld>
  <p:clrMapOvr>
    <a:masterClrMapping/>
  </p:clrMapOvr>
  <p:transition>
    <p:strips dir="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kumimoji="0" lang="zh-CN" altLang="zh-CN">
              <a:latin typeface="Times New Roman" panose="02020603050405020304" pitchFamily="18" charset="0"/>
              <a:cs typeface="+mn-cs"/>
            </a:endParaRPr>
          </a:p>
        </p:txBody>
      </p:sp>
      <p:sp>
        <p:nvSpPr>
          <p:cNvPr id="5" name="Footer Placeholder 4"/>
          <p:cNvSpPr>
            <a:spLocks noGrp="1"/>
          </p:cNvSpPr>
          <p:nvPr>
            <p:ph type="ftr" sz="quarter" idx="11"/>
          </p:nvPr>
        </p:nvSpPr>
        <p:spPr/>
        <p:txBody>
          <a:bodyPr/>
          <a:lstStyle/>
          <a:p>
            <a:pPr>
              <a:defRPr/>
            </a:pPr>
            <a:endParaRPr kumimoji="0" lang="zh-CN" altLang="zh-CN">
              <a:latin typeface="Times New Roman" panose="02020603050405020304" pitchFamily="18" charset="0"/>
              <a:cs typeface="+mn-cs"/>
            </a:endParaRPr>
          </a:p>
        </p:txBody>
      </p:sp>
      <p:sp>
        <p:nvSpPr>
          <p:cNvPr id="6" name="Slide Number Placeholder 5"/>
          <p:cNvSpPr>
            <a:spLocks noGrp="1"/>
          </p:cNvSpPr>
          <p:nvPr>
            <p:ph type="sldNum" sz="quarter" idx="12"/>
          </p:nvPr>
        </p:nvSpPr>
        <p:spPr/>
        <p:txBody>
          <a:bodyPr/>
          <a:lstStyle/>
          <a:p>
            <a:pPr algn="r" eaLnBrk="1" hangingPunct="1">
              <a:spcBef>
                <a:spcPct val="50000"/>
              </a:spcBef>
              <a:buNone/>
            </a:pPr>
            <a:fld id="{9A0DB2DC-4C9A-4742-B13C-FB6460FD3503}" type="slidenum">
              <a:rPr lang="zh-CN" altLang="zh-CN" smtClean="0">
                <a:solidFill>
                  <a:srgbClr val="578963"/>
                </a:solidFill>
              </a:rPr>
              <a:t>‹#›</a:t>
            </a:fld>
            <a:endParaRPr lang="zh-CN" altLang="zh-CN" dirty="0">
              <a:solidFill>
                <a:srgbClr val="578963"/>
              </a:solidFill>
            </a:endParaRPr>
          </a:p>
        </p:txBody>
      </p:sp>
    </p:spTree>
    <p:extLst>
      <p:ext uri="{BB962C8B-B14F-4D97-AF65-F5344CB8AC3E}">
        <p14:creationId xmlns:p14="http://schemas.microsoft.com/office/powerpoint/2010/main" val="3955434788"/>
      </p:ext>
    </p:extLst>
  </p:cSld>
  <p:clrMapOvr>
    <a:masterClrMapping/>
  </p:clrMapOvr>
  <p:transition spd="med">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kumimoji="0" lang="zh-CN" altLang="zh-CN">
              <a:latin typeface="Times New Roman" panose="02020603050405020304" pitchFamily="18" charset="0"/>
              <a:cs typeface="+mn-cs"/>
            </a:endParaRPr>
          </a:p>
        </p:txBody>
      </p:sp>
      <p:sp>
        <p:nvSpPr>
          <p:cNvPr id="5" name="Footer Placeholder 4"/>
          <p:cNvSpPr>
            <a:spLocks noGrp="1"/>
          </p:cNvSpPr>
          <p:nvPr>
            <p:ph type="ftr" sz="quarter" idx="11"/>
          </p:nvPr>
        </p:nvSpPr>
        <p:spPr/>
        <p:txBody>
          <a:bodyPr/>
          <a:lstStyle/>
          <a:p>
            <a:pPr>
              <a:defRPr/>
            </a:pPr>
            <a:endParaRPr kumimoji="0" lang="zh-CN" altLang="zh-CN">
              <a:latin typeface="Times New Roman" panose="02020603050405020304" pitchFamily="18" charset="0"/>
              <a:cs typeface="+mn-cs"/>
            </a:endParaRPr>
          </a:p>
        </p:txBody>
      </p:sp>
      <p:sp>
        <p:nvSpPr>
          <p:cNvPr id="6" name="Slide Number Placeholder 5"/>
          <p:cNvSpPr>
            <a:spLocks noGrp="1"/>
          </p:cNvSpPr>
          <p:nvPr>
            <p:ph type="sldNum" sz="quarter" idx="12"/>
          </p:nvPr>
        </p:nvSpPr>
        <p:spPr/>
        <p:txBody>
          <a:bodyPr/>
          <a:lstStyle/>
          <a:p>
            <a:pPr lvl="0" eaLnBrk="1" hangingPunct="1">
              <a:spcBef>
                <a:spcPct val="50000"/>
              </a:spcBef>
              <a:buNone/>
            </a:pPr>
            <a:fld id="{9A0DB2DC-4C9A-4742-B13C-FB6460FD3503}" type="slidenum">
              <a:rPr lang="zh-CN" altLang="zh-CN" smtClean="0">
                <a:latin typeface="Times New Roman" panose="02020603050405020304" pitchFamily="18" charset="0"/>
              </a:rPr>
              <a:t>‹#›</a:t>
            </a:fld>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451570572"/>
      </p:ext>
    </p:extLst>
  </p:cSld>
  <p:clrMapOvr>
    <a:masterClrMapping/>
  </p:clrMapOvr>
  <p:transition spd="med">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endParaRPr kumimoji="0" lang="zh-CN" altLang="zh-CN">
              <a:latin typeface="Times New Roman" panose="02020603050405020304" pitchFamily="18" charset="0"/>
              <a:cs typeface="+mn-cs"/>
            </a:endParaRPr>
          </a:p>
        </p:txBody>
      </p:sp>
      <p:sp>
        <p:nvSpPr>
          <p:cNvPr id="5" name="Footer Placeholder 4"/>
          <p:cNvSpPr>
            <a:spLocks noGrp="1"/>
          </p:cNvSpPr>
          <p:nvPr>
            <p:ph type="ftr" sz="quarter" idx="11"/>
          </p:nvPr>
        </p:nvSpPr>
        <p:spPr/>
        <p:txBody>
          <a:bodyPr/>
          <a:lstStyle/>
          <a:p>
            <a:pPr>
              <a:defRPr/>
            </a:pPr>
            <a:endParaRPr kumimoji="0" lang="zh-CN" altLang="zh-CN">
              <a:latin typeface="Times New Roman" panose="02020603050405020304" pitchFamily="18" charset="0"/>
              <a:cs typeface="+mn-cs"/>
            </a:endParaRPr>
          </a:p>
        </p:txBody>
      </p:sp>
      <p:sp>
        <p:nvSpPr>
          <p:cNvPr id="6" name="Slide Number Placeholder 5"/>
          <p:cNvSpPr>
            <a:spLocks noGrp="1"/>
          </p:cNvSpPr>
          <p:nvPr>
            <p:ph type="sldNum" sz="quarter" idx="12"/>
          </p:nvPr>
        </p:nvSpPr>
        <p:spPr/>
        <p:txBody>
          <a:bodyPr/>
          <a:lstStyle/>
          <a:p>
            <a:pPr lvl="0" eaLnBrk="1" hangingPunct="1">
              <a:spcBef>
                <a:spcPct val="50000"/>
              </a:spcBef>
              <a:buNone/>
            </a:pPr>
            <a:fld id="{9A0DB2DC-4C9A-4742-B13C-FB6460FD3503}" type="slidenum">
              <a:rPr lang="zh-CN" altLang="zh-CN" smtClean="0">
                <a:latin typeface="Times New Roman" panose="02020603050405020304" pitchFamily="18" charset="0"/>
              </a:rPr>
              <a:t>‹#›</a:t>
            </a:fld>
            <a:endParaRPr lang="zh-CN" altLang="zh-CN" dirty="0">
              <a:latin typeface="Times New Roman" panose="02020603050405020304" pitchFamily="18" charset="0"/>
            </a:endParaRPr>
          </a:p>
        </p:txBody>
      </p:sp>
    </p:spTree>
    <p:extLst>
      <p:ext uri="{BB962C8B-B14F-4D97-AF65-F5344CB8AC3E}">
        <p14:creationId xmlns:p14="http://schemas.microsoft.com/office/powerpoint/2010/main" val="1627036353"/>
      </p:ext>
    </p:extLst>
  </p:cSld>
  <p:clrMapOvr>
    <a:masterClrMapping/>
  </p:clrMapOvr>
  <p:transition spd="med">
    <p:zo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endParaRPr kumimoji="0" lang="zh-CN" altLang="zh-CN">
              <a:latin typeface="Times New Roman" panose="02020603050405020304" pitchFamily="18" charset="0"/>
              <a:cs typeface="+mn-cs"/>
            </a:endParaRPr>
          </a:p>
        </p:txBody>
      </p:sp>
      <p:sp>
        <p:nvSpPr>
          <p:cNvPr id="6" name="Footer Placeholder 5"/>
          <p:cNvSpPr>
            <a:spLocks noGrp="1"/>
          </p:cNvSpPr>
          <p:nvPr>
            <p:ph type="ftr" sz="quarter" idx="11"/>
          </p:nvPr>
        </p:nvSpPr>
        <p:spPr/>
        <p:txBody>
          <a:bodyPr/>
          <a:lstStyle/>
          <a:p>
            <a:pPr>
              <a:defRPr/>
            </a:pPr>
            <a:endParaRPr kumimoji="0" lang="zh-CN" altLang="zh-CN">
              <a:latin typeface="Times New Roman" panose="02020603050405020304" pitchFamily="18" charset="0"/>
              <a:cs typeface="+mn-cs"/>
            </a:endParaRPr>
          </a:p>
        </p:txBody>
      </p:sp>
      <p:sp>
        <p:nvSpPr>
          <p:cNvPr id="7" name="Slide Number Placeholder 6"/>
          <p:cNvSpPr>
            <a:spLocks noGrp="1"/>
          </p:cNvSpPr>
          <p:nvPr>
            <p:ph type="sldNum" sz="quarter" idx="12"/>
          </p:nvPr>
        </p:nvSpPr>
        <p:spPr/>
        <p:txBody>
          <a:bodyPr/>
          <a:lstStyle/>
          <a:p>
            <a:pPr lvl="0" eaLnBrk="1" hangingPunct="1">
              <a:spcBef>
                <a:spcPct val="50000"/>
              </a:spcBef>
              <a:buNone/>
            </a:pPr>
            <a:fld id="{9A0DB2DC-4C9A-4742-B13C-FB6460FD3503}" type="slidenum">
              <a:rPr lang="zh-CN" altLang="zh-CN" smtClean="0">
                <a:latin typeface="Times New Roman" panose="02020603050405020304" pitchFamily="18" charset="0"/>
              </a:rPr>
              <a:t>‹#›</a:t>
            </a:fld>
            <a:endParaRPr lang="zh-CN" altLang="zh-CN" dirty="0">
              <a:latin typeface="Times New Roman" panose="02020603050405020304" pitchFamily="18" charset="0"/>
            </a:endParaRPr>
          </a:p>
        </p:txBody>
      </p:sp>
    </p:spTree>
    <p:extLst>
      <p:ext uri="{BB962C8B-B14F-4D97-AF65-F5344CB8AC3E}">
        <p14:creationId xmlns:p14="http://schemas.microsoft.com/office/powerpoint/2010/main" val="1643190291"/>
      </p:ext>
    </p:extLst>
  </p:cSld>
  <p:clrMapOvr>
    <a:masterClrMapping/>
  </p:clrMapOvr>
  <p:transition spd="med">
    <p:zo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endParaRPr kumimoji="0" lang="zh-CN" altLang="zh-CN">
              <a:latin typeface="Times New Roman" panose="02020603050405020304" pitchFamily="18" charset="0"/>
              <a:cs typeface="+mn-cs"/>
            </a:endParaRPr>
          </a:p>
        </p:txBody>
      </p:sp>
      <p:sp>
        <p:nvSpPr>
          <p:cNvPr id="8" name="Footer Placeholder 7"/>
          <p:cNvSpPr>
            <a:spLocks noGrp="1"/>
          </p:cNvSpPr>
          <p:nvPr>
            <p:ph type="ftr" sz="quarter" idx="11"/>
          </p:nvPr>
        </p:nvSpPr>
        <p:spPr/>
        <p:txBody>
          <a:bodyPr/>
          <a:lstStyle/>
          <a:p>
            <a:pPr>
              <a:defRPr/>
            </a:pPr>
            <a:endParaRPr kumimoji="0" lang="zh-CN" altLang="zh-CN">
              <a:latin typeface="Times New Roman" panose="02020603050405020304" pitchFamily="18" charset="0"/>
              <a:cs typeface="+mn-cs"/>
            </a:endParaRPr>
          </a:p>
        </p:txBody>
      </p:sp>
      <p:sp>
        <p:nvSpPr>
          <p:cNvPr id="9" name="Slide Number Placeholder 8"/>
          <p:cNvSpPr>
            <a:spLocks noGrp="1"/>
          </p:cNvSpPr>
          <p:nvPr>
            <p:ph type="sldNum" sz="quarter" idx="12"/>
          </p:nvPr>
        </p:nvSpPr>
        <p:spPr/>
        <p:txBody>
          <a:bodyPr/>
          <a:lstStyle/>
          <a:p>
            <a:pPr lvl="0" eaLnBrk="1" hangingPunct="1">
              <a:spcBef>
                <a:spcPct val="50000"/>
              </a:spcBef>
              <a:buNone/>
            </a:pPr>
            <a:fld id="{9A0DB2DC-4C9A-4742-B13C-FB6460FD3503}" type="slidenum">
              <a:rPr lang="zh-CN" altLang="zh-CN" smtClean="0">
                <a:latin typeface="Times New Roman" panose="02020603050405020304" pitchFamily="18" charset="0"/>
              </a:rPr>
              <a:t>‹#›</a:t>
            </a:fld>
            <a:endParaRPr lang="zh-CN" altLang="zh-CN" dirty="0">
              <a:latin typeface="Times New Roman" panose="02020603050405020304" pitchFamily="18" charset="0"/>
            </a:endParaRPr>
          </a:p>
        </p:txBody>
      </p:sp>
    </p:spTree>
    <p:extLst>
      <p:ext uri="{BB962C8B-B14F-4D97-AF65-F5344CB8AC3E}">
        <p14:creationId xmlns:p14="http://schemas.microsoft.com/office/powerpoint/2010/main" val="3033077443"/>
      </p:ext>
    </p:extLst>
  </p:cSld>
  <p:clrMapOvr>
    <a:masterClrMapping/>
  </p:clrMapOvr>
  <p:transition spd="med">
    <p:zo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endParaRPr kumimoji="0" lang="zh-CN" altLang="zh-CN">
              <a:latin typeface="Times New Roman" panose="02020603050405020304" pitchFamily="18" charset="0"/>
              <a:cs typeface="+mn-cs"/>
            </a:endParaRPr>
          </a:p>
        </p:txBody>
      </p:sp>
      <p:sp>
        <p:nvSpPr>
          <p:cNvPr id="4" name="Footer Placeholder 3"/>
          <p:cNvSpPr>
            <a:spLocks noGrp="1"/>
          </p:cNvSpPr>
          <p:nvPr>
            <p:ph type="ftr" sz="quarter" idx="11"/>
          </p:nvPr>
        </p:nvSpPr>
        <p:spPr/>
        <p:txBody>
          <a:bodyPr/>
          <a:lstStyle/>
          <a:p>
            <a:pPr>
              <a:defRPr/>
            </a:pPr>
            <a:endParaRPr kumimoji="0" lang="zh-CN" altLang="zh-CN">
              <a:latin typeface="Times New Roman" panose="02020603050405020304" pitchFamily="18" charset="0"/>
              <a:cs typeface="+mn-cs"/>
            </a:endParaRPr>
          </a:p>
        </p:txBody>
      </p:sp>
      <p:sp>
        <p:nvSpPr>
          <p:cNvPr id="5" name="Slide Number Placeholder 4"/>
          <p:cNvSpPr>
            <a:spLocks noGrp="1"/>
          </p:cNvSpPr>
          <p:nvPr>
            <p:ph type="sldNum" sz="quarter" idx="12"/>
          </p:nvPr>
        </p:nvSpPr>
        <p:spPr/>
        <p:txBody>
          <a:bodyPr/>
          <a:lstStyle/>
          <a:p>
            <a:pPr lvl="0" eaLnBrk="1" hangingPunct="1">
              <a:spcBef>
                <a:spcPct val="50000"/>
              </a:spcBef>
              <a:buNone/>
            </a:pPr>
            <a:fld id="{9A0DB2DC-4C9A-4742-B13C-FB6460FD3503}" type="slidenum">
              <a:rPr lang="zh-CN" altLang="zh-CN" smtClean="0">
                <a:latin typeface="Times New Roman" panose="02020603050405020304" pitchFamily="18" charset="0"/>
              </a:rPr>
              <a:t>‹#›</a:t>
            </a:fld>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641047981"/>
      </p:ext>
    </p:extLst>
  </p:cSld>
  <p:clrMapOvr>
    <a:masterClrMapping/>
  </p:clrMapOvr>
  <p:transition spd="med">
    <p:zo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kumimoji="0" lang="zh-CN" altLang="zh-CN">
              <a:latin typeface="Times New Roman" panose="02020603050405020304" pitchFamily="18" charset="0"/>
              <a:cs typeface="+mn-cs"/>
            </a:endParaRPr>
          </a:p>
        </p:txBody>
      </p:sp>
      <p:sp>
        <p:nvSpPr>
          <p:cNvPr id="3" name="Footer Placeholder 2"/>
          <p:cNvSpPr>
            <a:spLocks noGrp="1"/>
          </p:cNvSpPr>
          <p:nvPr>
            <p:ph type="ftr" sz="quarter" idx="11"/>
          </p:nvPr>
        </p:nvSpPr>
        <p:spPr/>
        <p:txBody>
          <a:bodyPr/>
          <a:lstStyle/>
          <a:p>
            <a:pPr>
              <a:defRPr/>
            </a:pPr>
            <a:endParaRPr kumimoji="0" lang="zh-CN" altLang="zh-CN">
              <a:latin typeface="Times New Roman" panose="02020603050405020304" pitchFamily="18" charset="0"/>
              <a:cs typeface="+mn-cs"/>
            </a:endParaRPr>
          </a:p>
        </p:txBody>
      </p:sp>
      <p:sp>
        <p:nvSpPr>
          <p:cNvPr id="4" name="Slide Number Placeholder 3"/>
          <p:cNvSpPr>
            <a:spLocks noGrp="1"/>
          </p:cNvSpPr>
          <p:nvPr>
            <p:ph type="sldNum" sz="quarter" idx="12"/>
          </p:nvPr>
        </p:nvSpPr>
        <p:spPr/>
        <p:txBody>
          <a:bodyPr/>
          <a:lstStyle/>
          <a:p>
            <a:pPr lvl="0" eaLnBrk="1" hangingPunct="1">
              <a:spcBef>
                <a:spcPct val="50000"/>
              </a:spcBef>
              <a:buNone/>
            </a:pPr>
            <a:fld id="{9A0DB2DC-4C9A-4742-B13C-FB6460FD3503}" type="slidenum">
              <a:rPr lang="zh-CN" altLang="zh-CN" smtClean="0">
                <a:latin typeface="Times New Roman" panose="02020603050405020304" pitchFamily="18" charset="0"/>
              </a:rPr>
              <a:t>‹#›</a:t>
            </a:fld>
            <a:endParaRPr lang="zh-CN" altLang="zh-CN" dirty="0">
              <a:latin typeface="Times New Roman" panose="02020603050405020304" pitchFamily="18" charset="0"/>
            </a:endParaRPr>
          </a:p>
        </p:txBody>
      </p:sp>
    </p:spTree>
    <p:extLst>
      <p:ext uri="{BB962C8B-B14F-4D97-AF65-F5344CB8AC3E}">
        <p14:creationId xmlns:p14="http://schemas.microsoft.com/office/powerpoint/2010/main" val="469642220"/>
      </p:ext>
    </p:extLst>
  </p:cSld>
  <p:clrMapOvr>
    <a:masterClrMapping/>
  </p:clrMapOvr>
  <p:transition spd="med">
    <p:zo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kumimoji="0" lang="zh-CN" altLang="zh-CN">
              <a:latin typeface="Times New Roman" panose="02020603050405020304" pitchFamily="18" charset="0"/>
              <a:cs typeface="+mn-cs"/>
            </a:endParaRPr>
          </a:p>
        </p:txBody>
      </p:sp>
      <p:sp>
        <p:nvSpPr>
          <p:cNvPr id="6" name="Footer Placeholder 5"/>
          <p:cNvSpPr>
            <a:spLocks noGrp="1"/>
          </p:cNvSpPr>
          <p:nvPr>
            <p:ph type="ftr" sz="quarter" idx="11"/>
          </p:nvPr>
        </p:nvSpPr>
        <p:spPr/>
        <p:txBody>
          <a:bodyPr/>
          <a:lstStyle/>
          <a:p>
            <a:pPr>
              <a:defRPr/>
            </a:pPr>
            <a:endParaRPr kumimoji="0" lang="zh-CN" altLang="zh-CN">
              <a:latin typeface="Times New Roman" panose="02020603050405020304" pitchFamily="18" charset="0"/>
              <a:cs typeface="+mn-cs"/>
            </a:endParaRPr>
          </a:p>
        </p:txBody>
      </p:sp>
      <p:sp>
        <p:nvSpPr>
          <p:cNvPr id="7" name="Slide Number Placeholder 6"/>
          <p:cNvSpPr>
            <a:spLocks noGrp="1"/>
          </p:cNvSpPr>
          <p:nvPr>
            <p:ph type="sldNum" sz="quarter" idx="12"/>
          </p:nvPr>
        </p:nvSpPr>
        <p:spPr/>
        <p:txBody>
          <a:bodyPr/>
          <a:lstStyle/>
          <a:p>
            <a:pPr lvl="0" eaLnBrk="1" hangingPunct="1">
              <a:spcBef>
                <a:spcPct val="50000"/>
              </a:spcBef>
              <a:buNone/>
            </a:pPr>
            <a:fld id="{9A0DB2DC-4C9A-4742-B13C-FB6460FD3503}" type="slidenum">
              <a:rPr lang="zh-CN" altLang="zh-CN" smtClean="0">
                <a:latin typeface="Times New Roman" panose="02020603050405020304" pitchFamily="18" charset="0"/>
              </a:rPr>
              <a:t>‹#›</a:t>
            </a:fld>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604937382"/>
      </p:ext>
    </p:extLst>
  </p:cSld>
  <p:clrMapOvr>
    <a:masterClrMapping/>
  </p:clrMapOvr>
  <p:transition spd="med">
    <p:zo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kumimoji="0" lang="zh-CN" altLang="zh-CN">
              <a:latin typeface="Times New Roman" panose="02020603050405020304" pitchFamily="18" charset="0"/>
              <a:cs typeface="+mn-cs"/>
            </a:endParaRPr>
          </a:p>
        </p:txBody>
      </p:sp>
      <p:sp>
        <p:nvSpPr>
          <p:cNvPr id="6" name="Footer Placeholder 5"/>
          <p:cNvSpPr>
            <a:spLocks noGrp="1"/>
          </p:cNvSpPr>
          <p:nvPr>
            <p:ph type="ftr" sz="quarter" idx="11"/>
          </p:nvPr>
        </p:nvSpPr>
        <p:spPr/>
        <p:txBody>
          <a:bodyPr/>
          <a:lstStyle/>
          <a:p>
            <a:pPr>
              <a:defRPr/>
            </a:pPr>
            <a:endParaRPr kumimoji="0" lang="zh-CN" altLang="zh-CN">
              <a:latin typeface="Times New Roman" panose="02020603050405020304" pitchFamily="18" charset="0"/>
              <a:cs typeface="+mn-cs"/>
            </a:endParaRPr>
          </a:p>
        </p:txBody>
      </p:sp>
      <p:sp>
        <p:nvSpPr>
          <p:cNvPr id="7" name="Slide Number Placeholder 6"/>
          <p:cNvSpPr>
            <a:spLocks noGrp="1"/>
          </p:cNvSpPr>
          <p:nvPr>
            <p:ph type="sldNum" sz="quarter" idx="12"/>
          </p:nvPr>
        </p:nvSpPr>
        <p:spPr/>
        <p:txBody>
          <a:bodyPr/>
          <a:lstStyle/>
          <a:p>
            <a:pPr lvl="0" eaLnBrk="1" hangingPunct="1">
              <a:spcBef>
                <a:spcPct val="50000"/>
              </a:spcBef>
              <a:buNone/>
            </a:pPr>
            <a:fld id="{9A0DB2DC-4C9A-4742-B13C-FB6460FD3503}" type="slidenum">
              <a:rPr lang="zh-CN" altLang="zh-CN" smtClean="0">
                <a:latin typeface="Times New Roman" panose="02020603050405020304" pitchFamily="18" charset="0"/>
              </a:rPr>
              <a:t>‹#›</a:t>
            </a:fld>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756719096"/>
      </p:ext>
    </p:extLst>
  </p:cSld>
  <p:clrMapOvr>
    <a:masterClrMapping/>
  </p:clrMapOvr>
  <p:transition spd="med">
    <p:zo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kumimoji="0" lang="zh-CN" altLang="zh-CN">
              <a:latin typeface="Times New Roman" panose="02020603050405020304" pitchFamily="18" charset="0"/>
              <a:cs typeface="+mn-cs"/>
            </a:endParaRPr>
          </a:p>
        </p:txBody>
      </p:sp>
      <p:sp>
        <p:nvSpPr>
          <p:cNvPr id="5" name="Footer Placeholder 4"/>
          <p:cNvSpPr>
            <a:spLocks noGrp="1"/>
          </p:cNvSpPr>
          <p:nvPr>
            <p:ph type="ftr" sz="quarter" idx="11"/>
          </p:nvPr>
        </p:nvSpPr>
        <p:spPr/>
        <p:txBody>
          <a:bodyPr/>
          <a:lstStyle/>
          <a:p>
            <a:pPr>
              <a:defRPr/>
            </a:pPr>
            <a:endParaRPr kumimoji="0" lang="zh-CN" altLang="zh-CN">
              <a:latin typeface="Times New Roman" panose="02020603050405020304" pitchFamily="18" charset="0"/>
              <a:cs typeface="+mn-cs"/>
            </a:endParaRPr>
          </a:p>
        </p:txBody>
      </p:sp>
      <p:sp>
        <p:nvSpPr>
          <p:cNvPr id="6" name="Slide Number Placeholder 5"/>
          <p:cNvSpPr>
            <a:spLocks noGrp="1"/>
          </p:cNvSpPr>
          <p:nvPr>
            <p:ph type="sldNum" sz="quarter" idx="12"/>
          </p:nvPr>
        </p:nvSpPr>
        <p:spPr/>
        <p:txBody>
          <a:bodyPr/>
          <a:lstStyle/>
          <a:p>
            <a:pPr lvl="0" eaLnBrk="1" hangingPunct="1">
              <a:spcBef>
                <a:spcPct val="50000"/>
              </a:spcBef>
              <a:buNone/>
            </a:pPr>
            <a:fld id="{9A0DB2DC-4C9A-4742-B13C-FB6460FD3503}" type="slidenum">
              <a:rPr lang="zh-CN" altLang="zh-CN" smtClean="0">
                <a:latin typeface="Times New Roman" panose="02020603050405020304" pitchFamily="18" charset="0"/>
              </a:rPr>
              <a:t>‹#›</a:t>
            </a:fld>
            <a:endParaRPr lang="zh-CN" altLang="zh-CN" dirty="0">
              <a:latin typeface="Times New Roman" panose="02020603050405020304" pitchFamily="18" charset="0"/>
            </a:endParaRPr>
          </a:p>
        </p:txBody>
      </p:sp>
    </p:spTree>
    <p:extLst>
      <p:ext uri="{BB962C8B-B14F-4D97-AF65-F5344CB8AC3E}">
        <p14:creationId xmlns:p14="http://schemas.microsoft.com/office/powerpoint/2010/main" val="3644023559"/>
      </p:ext>
    </p:extLst>
  </p:cSld>
  <p:clrMapOvr>
    <a:masterClrMapping/>
  </p:clrMapOvr>
  <p:transition spd="med">
    <p:zo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kumimoji="0" lang="zh-CN" altLang="zh-CN">
              <a:latin typeface="Times New Roman" panose="02020603050405020304" pitchFamily="18" charset="0"/>
              <a:cs typeface="+mn-cs"/>
            </a:endParaRPr>
          </a:p>
        </p:txBody>
      </p:sp>
      <p:sp>
        <p:nvSpPr>
          <p:cNvPr id="5" name="Footer Placeholder 4"/>
          <p:cNvSpPr>
            <a:spLocks noGrp="1"/>
          </p:cNvSpPr>
          <p:nvPr>
            <p:ph type="ftr" sz="quarter" idx="11"/>
          </p:nvPr>
        </p:nvSpPr>
        <p:spPr/>
        <p:txBody>
          <a:bodyPr/>
          <a:lstStyle/>
          <a:p>
            <a:pPr>
              <a:defRPr/>
            </a:pPr>
            <a:endParaRPr kumimoji="0" lang="zh-CN" altLang="zh-CN">
              <a:latin typeface="Times New Roman" panose="02020603050405020304" pitchFamily="18" charset="0"/>
              <a:cs typeface="+mn-cs"/>
            </a:endParaRPr>
          </a:p>
        </p:txBody>
      </p:sp>
      <p:sp>
        <p:nvSpPr>
          <p:cNvPr id="6" name="Slide Number Placeholder 5"/>
          <p:cNvSpPr>
            <a:spLocks noGrp="1"/>
          </p:cNvSpPr>
          <p:nvPr>
            <p:ph type="sldNum" sz="quarter" idx="12"/>
          </p:nvPr>
        </p:nvSpPr>
        <p:spPr/>
        <p:txBody>
          <a:bodyPr/>
          <a:lstStyle/>
          <a:p>
            <a:pPr lvl="0" eaLnBrk="1" hangingPunct="1">
              <a:spcBef>
                <a:spcPct val="50000"/>
              </a:spcBef>
              <a:buNone/>
            </a:pPr>
            <a:fld id="{9A0DB2DC-4C9A-4742-B13C-FB6460FD3503}" type="slidenum">
              <a:rPr lang="zh-CN" altLang="zh-CN" smtClean="0">
                <a:latin typeface="Times New Roman" panose="02020603050405020304" pitchFamily="18" charset="0"/>
              </a:rPr>
              <a:t>‹#›</a:t>
            </a:fld>
            <a:endParaRPr lang="zh-CN" altLang="zh-CN" dirty="0">
              <a:latin typeface="Times New Roman" panose="02020603050405020304" pitchFamily="18" charset="0"/>
            </a:endParaRPr>
          </a:p>
        </p:txBody>
      </p:sp>
    </p:spTree>
    <p:extLst>
      <p:ext uri="{BB962C8B-B14F-4D97-AF65-F5344CB8AC3E}">
        <p14:creationId xmlns:p14="http://schemas.microsoft.com/office/powerpoint/2010/main" val="1523065838"/>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2CC41-53EF-D792-C3D8-24D005077F38}"/>
              </a:ext>
            </a:extLst>
          </p:cNvPr>
          <p:cNvSpPr>
            <a:spLocks noGrp="1"/>
          </p:cNvSpPr>
          <p:nvPr>
            <p:ph type="ctrTitle"/>
          </p:nvPr>
        </p:nvSpPr>
        <p:spPr>
          <a:xfrm>
            <a:off x="1395291" y="48936"/>
            <a:ext cx="6629400" cy="712117"/>
          </a:xfrm>
        </p:spPr>
        <p:txBody>
          <a:bodyPr anchor="b">
            <a:normAutofit/>
          </a:bodyPr>
          <a:lstStyle>
            <a:lvl1pPr algn="ctr">
              <a:defRPr sz="3600"/>
            </a:lvl1pPr>
          </a:lstStyle>
          <a:p>
            <a:r>
              <a:rPr lang="zh-CN" altLang="en-US" dirty="0"/>
              <a:t>单击此处编辑母版标题样式</a:t>
            </a:r>
          </a:p>
        </p:txBody>
      </p:sp>
      <p:sp>
        <p:nvSpPr>
          <p:cNvPr id="3" name="副标题 2">
            <a:extLst>
              <a:ext uri="{FF2B5EF4-FFF2-40B4-BE49-F238E27FC236}">
                <a16:creationId xmlns:a16="http://schemas.microsoft.com/office/drawing/2014/main" id="{DAD09386-D71F-8627-81AE-8E5A2E01CA18}"/>
              </a:ext>
            </a:extLst>
          </p:cNvPr>
          <p:cNvSpPr>
            <a:spLocks noGrp="1"/>
          </p:cNvSpPr>
          <p:nvPr>
            <p:ph type="subTitle" idx="1"/>
          </p:nvPr>
        </p:nvSpPr>
        <p:spPr>
          <a:xfrm>
            <a:off x="554559" y="103653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4E5187-DE92-993A-0100-7ABE595C3625}"/>
              </a:ext>
            </a:extLst>
          </p:cNvPr>
          <p:cNvSpPr>
            <a:spLocks noGrp="1"/>
          </p:cNvSpPr>
          <p:nvPr>
            <p:ph type="dt" sz="half" idx="10"/>
          </p:nvPr>
        </p:nvSpPr>
        <p:spPr/>
        <p:txBody>
          <a:bodyPr/>
          <a:lstStyle/>
          <a:p>
            <a:fld id="{9A0239B5-A6DD-477D-BE99-5AD4CA2F58EE}" type="datetime1">
              <a:rPr lang="zh-CN" altLang="en-US" smtClean="0"/>
              <a:t>2026/9/22</a:t>
            </a:fld>
            <a:endParaRPr lang="zh-CN" altLang="en-US"/>
          </a:p>
        </p:txBody>
      </p:sp>
      <p:sp>
        <p:nvSpPr>
          <p:cNvPr id="5" name="页脚占位符 4">
            <a:extLst>
              <a:ext uri="{FF2B5EF4-FFF2-40B4-BE49-F238E27FC236}">
                <a16:creationId xmlns:a16="http://schemas.microsoft.com/office/drawing/2014/main" id="{30AAA60E-7CCA-E8F0-796A-1C44334A6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E3B1BE-AB2D-5A23-7D3C-F521ED3F003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7" name="组合 6">
            <a:extLst>
              <a:ext uri="{FF2B5EF4-FFF2-40B4-BE49-F238E27FC236}">
                <a16:creationId xmlns:a16="http://schemas.microsoft.com/office/drawing/2014/main" id="{F8BBDDF8-8219-CDF6-F368-5129B2EA6B6E}"/>
              </a:ext>
            </a:extLst>
          </p:cNvPr>
          <p:cNvGrpSpPr/>
          <p:nvPr userDrawn="1"/>
        </p:nvGrpSpPr>
        <p:grpSpPr>
          <a:xfrm>
            <a:off x="554559" y="179743"/>
            <a:ext cx="700611" cy="581310"/>
            <a:chOff x="527657" y="117426"/>
            <a:chExt cx="1016528" cy="825488"/>
          </a:xfrm>
        </p:grpSpPr>
        <p:pic>
          <p:nvPicPr>
            <p:cNvPr id="8" name="Picture 3" descr="C:\Users\Administrator\Desktop\微立体创业计划\005.png">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81117" y="87288"/>
            <a:ext cx="1988226" cy="470079"/>
          </a:xfrm>
          <a:prstGeom prst="rect">
            <a:avLst/>
          </a:prstGeom>
        </p:spPr>
      </p:pic>
    </p:spTree>
    <p:extLst>
      <p:ext uri="{BB962C8B-B14F-4D97-AF65-F5344CB8AC3E}">
        <p14:creationId xmlns:p14="http://schemas.microsoft.com/office/powerpoint/2010/main" val="27032741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CA4E304D-4302-9926-B9E4-A4F22949FF29}"/>
              </a:ext>
            </a:extLst>
          </p:cNvPr>
          <p:cNvSpPr>
            <a:spLocks noGrp="1"/>
          </p:cNvSpPr>
          <p:nvPr>
            <p:ph type="dt" sz="half" idx="10"/>
          </p:nvPr>
        </p:nvSpPr>
        <p:spPr/>
        <p:txBody>
          <a:bodyPr/>
          <a:lstStyle/>
          <a:p>
            <a:fld id="{9D5BE773-4813-48BD-A50D-5974BFBD6D74}"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B4BA000-FB47-BDF4-4935-3280248825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CFA3F2-32A8-6E83-CD3C-B6BFA5A1C16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7466326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9BF9C41B-B701-4ED6-8A9D-BB3EBE32AEBB}" type="datetime1">
              <a:rPr lang="zh-CN" altLang="en-US" smtClean="0"/>
              <a:t>2026/9/22</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9170455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71BFFFF7-CCAC-4C16-B3DF-A74AC1DA0111}"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35897216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0177F53C-D319-4379-BE9D-C0775F1AC39A}" type="datetime1">
              <a:rPr lang="zh-CN" altLang="en-US" smtClean="0"/>
              <a:t>2026/9/22</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8523517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AE18CB3-EBC9-4CC4-A374-8AE54067A303}" type="datetime1">
              <a:rPr lang="zh-CN" altLang="en-US" smtClean="0"/>
              <a:t>2026/9/22</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33606466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A51461EE-7E93-465D-B757-DAE1CB93E92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1303433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F4518CFF-37F7-4C20-841D-A3532578AC89}" type="datetime1">
              <a:rPr lang="zh-CN" altLang="en-US" smtClean="0"/>
              <a:t>2026/9/22</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6419792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A88EC3D5-687C-416C-9B5D-3A75D8F7BA6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6740963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BA40BE0C-1EAE-4AE0-9369-5238A76AA9AE}" type="datetime1">
              <a:rPr lang="zh-CN" altLang="en-US" smtClean="0"/>
              <a:t>2026/9/22</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0849843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24DED7F1-ED4F-4A57-9629-8DACBCF4E104}"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13338029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AF1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标题 1"/>
          <p:cNvSpPr>
            <a:spLocks noGrp="1"/>
          </p:cNvSpPr>
          <p:nvPr>
            <p:ph type="title"/>
          </p:nvPr>
        </p:nvSpPr>
        <p:spPr>
          <a:xfrm>
            <a:off x="1586887" y="306750"/>
            <a:ext cx="4197307" cy="434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lIns="68582" tIns="34292" rIns="68582" bIns="34292">
            <a:spAutoFit/>
          </a:bodyPr>
          <a:lstStyle>
            <a:lvl1pPr>
              <a:defRPr lang="zh-CN" altLang="en-US" sz="2634" b="0">
                <a:solidFill>
                  <a:schemeClr val="tx1">
                    <a:lumMod val="85000"/>
                    <a:lumOff val="15000"/>
                  </a:schemeClr>
                </a:solidFill>
                <a:latin typeface="微软雅黑" pitchFamily="34" charset="-122"/>
                <a:cs typeface="+mn-cs"/>
              </a:defRPr>
            </a:lvl1pPr>
          </a:lstStyle>
          <a:p>
            <a:pPr lvl="0" algn="l"/>
            <a:r>
              <a:rPr lang="zh-CN" altLang="en-US" dirty="0"/>
              <a:t>单击此处编辑母版标题样式</a:t>
            </a:r>
          </a:p>
        </p:txBody>
      </p:sp>
    </p:spTree>
    <p:extLst>
      <p:ext uri="{BB962C8B-B14F-4D97-AF65-F5344CB8AC3E}">
        <p14:creationId xmlns:p14="http://schemas.microsoft.com/office/powerpoint/2010/main" val="3753439765"/>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92005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94687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9BF9C41B-B701-4ED6-8A9D-BB3EBE32AEBB}" type="datetime1">
              <a:rPr lang="zh-CN" altLang="en-US" smtClean="0"/>
              <a:t>2026/9/22</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19582811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71BFFFF7-CCAC-4C16-B3DF-A74AC1DA0111}"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31763622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0177F53C-D319-4379-BE9D-C0775F1AC39A}" type="datetime1">
              <a:rPr lang="zh-CN" altLang="en-US" smtClean="0"/>
              <a:t>2026/9/22</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426212409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AE18CB3-EBC9-4CC4-A374-8AE54067A303}" type="datetime1">
              <a:rPr lang="zh-CN" altLang="en-US" smtClean="0"/>
              <a:t>2026/9/22</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4486794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A51461EE-7E93-465D-B757-DAE1CB93E92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32323556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F4518CFF-37F7-4C20-841D-A3532578AC89}" type="datetime1">
              <a:rPr lang="zh-CN" altLang="en-US" smtClean="0"/>
              <a:t>2026/9/22</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18769142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A88EC3D5-687C-416C-9B5D-3A75D8F7BA6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4125994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BA40BE0C-1EAE-4AE0-9369-5238A76AA9AE}" type="datetime1">
              <a:rPr lang="zh-CN" altLang="en-US" smtClean="0"/>
              <a:t>2026/9/22</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3704205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24DED7F1-ED4F-4A57-9629-8DACBCF4E104}"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9631919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AF1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标题 1"/>
          <p:cNvSpPr>
            <a:spLocks noGrp="1"/>
          </p:cNvSpPr>
          <p:nvPr>
            <p:ph type="title"/>
          </p:nvPr>
        </p:nvSpPr>
        <p:spPr>
          <a:xfrm>
            <a:off x="1586887" y="306750"/>
            <a:ext cx="4197307" cy="434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lIns="68582" tIns="34292" rIns="68582" bIns="34292">
            <a:spAutoFit/>
          </a:bodyPr>
          <a:lstStyle>
            <a:lvl1pPr>
              <a:defRPr lang="zh-CN" altLang="en-US" sz="2634" b="0">
                <a:solidFill>
                  <a:schemeClr val="tx1">
                    <a:lumMod val="85000"/>
                    <a:lumOff val="15000"/>
                  </a:schemeClr>
                </a:solidFill>
                <a:latin typeface="微软雅黑" pitchFamily="34" charset="-122"/>
                <a:cs typeface="+mn-cs"/>
              </a:defRPr>
            </a:lvl1pPr>
          </a:lstStyle>
          <a:p>
            <a:pPr lvl="0" algn="l"/>
            <a:r>
              <a:rPr lang="zh-CN" altLang="en-US" dirty="0"/>
              <a:t>单击此处编辑母版标题样式</a:t>
            </a:r>
          </a:p>
        </p:txBody>
      </p:sp>
    </p:spTree>
    <p:extLst>
      <p:ext uri="{BB962C8B-B14F-4D97-AF65-F5344CB8AC3E}">
        <p14:creationId xmlns:p14="http://schemas.microsoft.com/office/powerpoint/2010/main" val="3649259535"/>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2CC41-53EF-D792-C3D8-24D005077F38}"/>
              </a:ext>
            </a:extLst>
          </p:cNvPr>
          <p:cNvSpPr>
            <a:spLocks noGrp="1"/>
          </p:cNvSpPr>
          <p:nvPr>
            <p:ph type="ctrTitle"/>
          </p:nvPr>
        </p:nvSpPr>
        <p:spPr>
          <a:xfrm>
            <a:off x="1395291" y="48936"/>
            <a:ext cx="6629400" cy="712117"/>
          </a:xfrm>
        </p:spPr>
        <p:txBody>
          <a:bodyPr anchor="b">
            <a:normAutofit/>
          </a:bodyPr>
          <a:lstStyle>
            <a:lvl1pPr algn="ctr">
              <a:defRPr sz="3600"/>
            </a:lvl1pPr>
          </a:lstStyle>
          <a:p>
            <a:r>
              <a:rPr lang="zh-CN" altLang="en-US" dirty="0"/>
              <a:t>单击此处编辑母版标题样式</a:t>
            </a:r>
          </a:p>
        </p:txBody>
      </p:sp>
      <p:sp>
        <p:nvSpPr>
          <p:cNvPr id="3" name="副标题 2">
            <a:extLst>
              <a:ext uri="{FF2B5EF4-FFF2-40B4-BE49-F238E27FC236}">
                <a16:creationId xmlns:a16="http://schemas.microsoft.com/office/drawing/2014/main" id="{DAD09386-D71F-8627-81AE-8E5A2E01CA18}"/>
              </a:ext>
            </a:extLst>
          </p:cNvPr>
          <p:cNvSpPr>
            <a:spLocks noGrp="1"/>
          </p:cNvSpPr>
          <p:nvPr>
            <p:ph type="subTitle" idx="1"/>
          </p:nvPr>
        </p:nvSpPr>
        <p:spPr>
          <a:xfrm>
            <a:off x="554559" y="103653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4E5187-DE92-993A-0100-7ABE595C3625}"/>
              </a:ext>
            </a:extLst>
          </p:cNvPr>
          <p:cNvSpPr>
            <a:spLocks noGrp="1"/>
          </p:cNvSpPr>
          <p:nvPr>
            <p:ph type="dt" sz="half" idx="10"/>
          </p:nvPr>
        </p:nvSpPr>
        <p:spPr/>
        <p:txBody>
          <a:bodyPr/>
          <a:lstStyle/>
          <a:p>
            <a:fld id="{9A0239B5-A6DD-477D-BE99-5AD4CA2F58EE}" type="datetime1">
              <a:rPr lang="zh-CN" altLang="en-US" smtClean="0"/>
              <a:t>2026/9/22</a:t>
            </a:fld>
            <a:endParaRPr lang="zh-CN" altLang="en-US"/>
          </a:p>
        </p:txBody>
      </p:sp>
      <p:sp>
        <p:nvSpPr>
          <p:cNvPr id="5" name="页脚占位符 4">
            <a:extLst>
              <a:ext uri="{FF2B5EF4-FFF2-40B4-BE49-F238E27FC236}">
                <a16:creationId xmlns:a16="http://schemas.microsoft.com/office/drawing/2014/main" id="{30AAA60E-7CCA-E8F0-796A-1C44334A6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E3B1BE-AB2D-5A23-7D3C-F521ED3F003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7" name="组合 6">
            <a:extLst>
              <a:ext uri="{FF2B5EF4-FFF2-40B4-BE49-F238E27FC236}">
                <a16:creationId xmlns:a16="http://schemas.microsoft.com/office/drawing/2014/main" id="{F8BBDDF8-8219-CDF6-F368-5129B2EA6B6E}"/>
              </a:ext>
            </a:extLst>
          </p:cNvPr>
          <p:cNvGrpSpPr/>
          <p:nvPr userDrawn="1"/>
        </p:nvGrpSpPr>
        <p:grpSpPr>
          <a:xfrm>
            <a:off x="554559" y="179743"/>
            <a:ext cx="700611" cy="581310"/>
            <a:chOff x="527657" y="117426"/>
            <a:chExt cx="1016528" cy="825488"/>
          </a:xfrm>
        </p:grpSpPr>
        <p:pic>
          <p:nvPicPr>
            <p:cNvPr id="8" name="Picture 3" descr="C:\Users\Administrator\Desktop\微立体创业计划\005.png">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81117" y="87288"/>
            <a:ext cx="1988226" cy="470079"/>
          </a:xfrm>
          <a:prstGeom prst="rect">
            <a:avLst/>
          </a:prstGeom>
        </p:spPr>
      </p:pic>
    </p:spTree>
    <p:extLst>
      <p:ext uri="{BB962C8B-B14F-4D97-AF65-F5344CB8AC3E}">
        <p14:creationId xmlns:p14="http://schemas.microsoft.com/office/powerpoint/2010/main" val="10588137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33035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9BF9C41B-B701-4ED6-8A9D-BB3EBE32AEBB}" type="datetime1">
              <a:rPr lang="zh-CN" altLang="en-US" smtClean="0"/>
              <a:t>2026/9/22</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387396665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71BFFFF7-CCAC-4C16-B3DF-A74AC1DA0111}"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41504848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0177F53C-D319-4379-BE9D-C0775F1AC39A}" type="datetime1">
              <a:rPr lang="zh-CN" altLang="en-US" smtClean="0"/>
              <a:t>2026/9/22</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126533580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AE18CB3-EBC9-4CC4-A374-8AE54067A303}" type="datetime1">
              <a:rPr lang="zh-CN" altLang="en-US" smtClean="0"/>
              <a:t>2026/9/22</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27874334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A51461EE-7E93-465D-B757-DAE1CB93E92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207883369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F4518CFF-37F7-4C20-841D-A3532578AC89}" type="datetime1">
              <a:rPr lang="zh-CN" altLang="en-US" smtClean="0"/>
              <a:t>2026/9/22</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7012183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A88EC3D5-687C-416C-9B5D-3A75D8F7BA6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19957635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BA40BE0C-1EAE-4AE0-9369-5238A76AA9AE}" type="datetime1">
              <a:rPr lang="zh-CN" altLang="en-US" smtClean="0"/>
              <a:t>2026/9/22</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5052343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24DED7F1-ED4F-4A57-9629-8DACBCF4E104}"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6281352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AF1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标题 1"/>
          <p:cNvSpPr>
            <a:spLocks noGrp="1"/>
          </p:cNvSpPr>
          <p:nvPr>
            <p:ph type="title"/>
          </p:nvPr>
        </p:nvSpPr>
        <p:spPr>
          <a:xfrm>
            <a:off x="1586887" y="306750"/>
            <a:ext cx="4197307" cy="434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lIns="68582" tIns="34292" rIns="68582" bIns="34292">
            <a:spAutoFit/>
          </a:bodyPr>
          <a:lstStyle>
            <a:lvl1pPr>
              <a:defRPr lang="zh-CN" altLang="en-US" sz="2634" b="0">
                <a:solidFill>
                  <a:schemeClr val="tx1">
                    <a:lumMod val="85000"/>
                    <a:lumOff val="15000"/>
                  </a:schemeClr>
                </a:solidFill>
                <a:latin typeface="微软雅黑" pitchFamily="34" charset="-122"/>
                <a:cs typeface="+mn-cs"/>
              </a:defRPr>
            </a:lvl1pPr>
          </a:lstStyle>
          <a:p>
            <a:pPr lvl="0" algn="l"/>
            <a:r>
              <a:rPr lang="zh-CN" altLang="en-US" dirty="0"/>
              <a:t>单击此处编辑母版标题样式</a:t>
            </a:r>
          </a:p>
        </p:txBody>
      </p:sp>
    </p:spTree>
    <p:extLst>
      <p:ext uri="{BB962C8B-B14F-4D97-AF65-F5344CB8AC3E}">
        <p14:creationId xmlns:p14="http://schemas.microsoft.com/office/powerpoint/2010/main" val="35567415"/>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2CC41-53EF-D792-C3D8-24D005077F38}"/>
              </a:ext>
            </a:extLst>
          </p:cNvPr>
          <p:cNvSpPr>
            <a:spLocks noGrp="1"/>
          </p:cNvSpPr>
          <p:nvPr>
            <p:ph type="ctrTitle"/>
          </p:nvPr>
        </p:nvSpPr>
        <p:spPr>
          <a:xfrm>
            <a:off x="1395291" y="48936"/>
            <a:ext cx="6629400" cy="712117"/>
          </a:xfrm>
        </p:spPr>
        <p:txBody>
          <a:bodyPr anchor="b">
            <a:normAutofit/>
          </a:bodyPr>
          <a:lstStyle>
            <a:lvl1pPr algn="ctr">
              <a:defRPr sz="3600"/>
            </a:lvl1pPr>
          </a:lstStyle>
          <a:p>
            <a:r>
              <a:rPr lang="zh-CN" altLang="en-US" dirty="0"/>
              <a:t>单击此处编辑母版标题样式</a:t>
            </a:r>
          </a:p>
        </p:txBody>
      </p:sp>
      <p:sp>
        <p:nvSpPr>
          <p:cNvPr id="3" name="副标题 2">
            <a:extLst>
              <a:ext uri="{FF2B5EF4-FFF2-40B4-BE49-F238E27FC236}">
                <a16:creationId xmlns:a16="http://schemas.microsoft.com/office/drawing/2014/main" id="{DAD09386-D71F-8627-81AE-8E5A2E01CA18}"/>
              </a:ext>
            </a:extLst>
          </p:cNvPr>
          <p:cNvSpPr>
            <a:spLocks noGrp="1"/>
          </p:cNvSpPr>
          <p:nvPr>
            <p:ph type="subTitle" idx="1"/>
          </p:nvPr>
        </p:nvSpPr>
        <p:spPr>
          <a:xfrm>
            <a:off x="554559" y="103653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4E5187-DE92-993A-0100-7ABE595C3625}"/>
              </a:ext>
            </a:extLst>
          </p:cNvPr>
          <p:cNvSpPr>
            <a:spLocks noGrp="1"/>
          </p:cNvSpPr>
          <p:nvPr>
            <p:ph type="dt" sz="half" idx="10"/>
          </p:nvPr>
        </p:nvSpPr>
        <p:spPr/>
        <p:txBody>
          <a:bodyPr/>
          <a:lstStyle/>
          <a:p>
            <a:fld id="{9A0239B5-A6DD-477D-BE99-5AD4CA2F58EE}" type="datetime1">
              <a:rPr lang="zh-CN" altLang="en-US" smtClean="0"/>
              <a:t>2026/9/22</a:t>
            </a:fld>
            <a:endParaRPr lang="zh-CN" altLang="en-US"/>
          </a:p>
        </p:txBody>
      </p:sp>
      <p:sp>
        <p:nvSpPr>
          <p:cNvPr id="5" name="页脚占位符 4">
            <a:extLst>
              <a:ext uri="{FF2B5EF4-FFF2-40B4-BE49-F238E27FC236}">
                <a16:creationId xmlns:a16="http://schemas.microsoft.com/office/drawing/2014/main" id="{30AAA60E-7CCA-E8F0-796A-1C44334A6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E3B1BE-AB2D-5A23-7D3C-F521ED3F003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7" name="组合 6">
            <a:extLst>
              <a:ext uri="{FF2B5EF4-FFF2-40B4-BE49-F238E27FC236}">
                <a16:creationId xmlns:a16="http://schemas.microsoft.com/office/drawing/2014/main" id="{F8BBDDF8-8219-CDF6-F368-5129B2EA6B6E}"/>
              </a:ext>
            </a:extLst>
          </p:cNvPr>
          <p:cNvGrpSpPr/>
          <p:nvPr userDrawn="1"/>
        </p:nvGrpSpPr>
        <p:grpSpPr>
          <a:xfrm>
            <a:off x="554559" y="179743"/>
            <a:ext cx="700611" cy="581310"/>
            <a:chOff x="527657" y="117426"/>
            <a:chExt cx="1016528" cy="825488"/>
          </a:xfrm>
        </p:grpSpPr>
        <p:pic>
          <p:nvPicPr>
            <p:cNvPr id="8" name="Picture 3" descr="C:\Users\Administrator\Desktop\微立体创业计划\005.png">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81117" y="87288"/>
            <a:ext cx="1988226" cy="470079"/>
          </a:xfrm>
          <a:prstGeom prst="rect">
            <a:avLst/>
          </a:prstGeom>
        </p:spPr>
      </p:pic>
    </p:spTree>
    <p:extLst>
      <p:ext uri="{BB962C8B-B14F-4D97-AF65-F5344CB8AC3E}">
        <p14:creationId xmlns:p14="http://schemas.microsoft.com/office/powerpoint/2010/main" val="73630509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12912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9BF9C41B-B701-4ED6-8A9D-BB3EBE32AEBB}" type="datetime1">
              <a:rPr lang="zh-CN" altLang="en-US" smtClean="0"/>
              <a:t>2026/9/22</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253127650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71BFFFF7-CCAC-4C16-B3DF-A74AC1DA0111}"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75812198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0177F53C-D319-4379-BE9D-C0775F1AC39A}" type="datetime1">
              <a:rPr lang="zh-CN" altLang="en-US" smtClean="0"/>
              <a:t>2026/9/22</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421940981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AE18CB3-EBC9-4CC4-A374-8AE54067A303}" type="datetime1">
              <a:rPr lang="zh-CN" altLang="en-US" smtClean="0"/>
              <a:t>2026/9/22</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186074365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A51461EE-7E93-465D-B757-DAE1CB93E92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321672136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F4518CFF-37F7-4C20-841D-A3532578AC89}" type="datetime1">
              <a:rPr lang="zh-CN" altLang="en-US" smtClean="0"/>
              <a:t>2026/9/22</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386107492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A88EC3D5-687C-416C-9B5D-3A75D8F7BA6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5341012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BA40BE0C-1EAE-4AE0-9369-5238A76AA9AE}" type="datetime1">
              <a:rPr lang="zh-CN" altLang="en-US" smtClean="0"/>
              <a:t>2026/9/22</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49292734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24DED7F1-ED4F-4A57-9629-8DACBCF4E104}"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5157633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AF1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标题 1"/>
          <p:cNvSpPr>
            <a:spLocks noGrp="1"/>
          </p:cNvSpPr>
          <p:nvPr>
            <p:ph type="title"/>
          </p:nvPr>
        </p:nvSpPr>
        <p:spPr>
          <a:xfrm>
            <a:off x="1586887" y="306750"/>
            <a:ext cx="4197307" cy="434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lIns="68582" tIns="34292" rIns="68582" bIns="34292">
            <a:spAutoFit/>
          </a:bodyPr>
          <a:lstStyle>
            <a:lvl1pPr>
              <a:defRPr lang="zh-CN" altLang="en-US" sz="2634" b="0">
                <a:solidFill>
                  <a:schemeClr val="tx1">
                    <a:lumMod val="85000"/>
                    <a:lumOff val="15000"/>
                  </a:schemeClr>
                </a:solidFill>
                <a:latin typeface="微软雅黑" pitchFamily="34" charset="-122"/>
                <a:cs typeface="+mn-cs"/>
              </a:defRPr>
            </a:lvl1pPr>
          </a:lstStyle>
          <a:p>
            <a:pPr lvl="0" algn="l"/>
            <a:r>
              <a:rPr lang="zh-CN" altLang="en-US" dirty="0"/>
              <a:t>单击此处编辑母版标题样式</a:t>
            </a:r>
          </a:p>
        </p:txBody>
      </p:sp>
    </p:spTree>
    <p:extLst>
      <p:ext uri="{BB962C8B-B14F-4D97-AF65-F5344CB8AC3E}">
        <p14:creationId xmlns:p14="http://schemas.microsoft.com/office/powerpoint/2010/main" val="1521623448"/>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lvl1pPr>
              <a:defRPr b="1"/>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419377425"/>
      </p:ext>
    </p:extLst>
  </p:cSld>
  <p:clrMapOvr>
    <a:masterClrMapping/>
  </p:clrMapOvr>
  <p:transition>
    <p:strips dir="rd"/>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59960826"/>
      </p:ext>
    </p:extLst>
  </p:cSld>
  <p:clrMapOvr>
    <a:masterClrMapping/>
  </p:clrMapOvr>
  <p:transition>
    <p:strips dir="rd"/>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3600" b="1" cap="all"/>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574905900"/>
      </p:ext>
    </p:extLst>
  </p:cSld>
  <p:clrMapOvr>
    <a:masterClrMapping/>
  </p:clrMapOvr>
  <p:transition>
    <p:strips dir="rd"/>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a:t>单击此处编辑母版标题样式</a:t>
            </a:r>
            <a:endParaRPr lang="zh-CN" altLang="en-US" dirty="0"/>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11543752"/>
      </p:ext>
    </p:extLst>
  </p:cSld>
  <p:clrMapOvr>
    <a:masterClrMapping/>
  </p:clrMapOvr>
  <p:transition>
    <p:strips dir="rd"/>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b="1"/>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30608581"/>
      </p:ext>
    </p:extLst>
  </p:cSld>
  <p:clrMapOvr>
    <a:masterClrMapping/>
  </p:clrMapOvr>
  <p:transition>
    <p:strips dir="rd"/>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078538627"/>
      </p:ext>
    </p:extLst>
  </p:cSld>
  <p:clrMapOvr>
    <a:masterClrMapping/>
  </p:clrMapOvr>
  <p:transition>
    <p:strips dir="rd"/>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9931129"/>
      </p:ext>
    </p:extLst>
  </p:cSld>
  <p:clrMapOvr>
    <a:masterClrMapping/>
  </p:clrMapOvr>
  <p:transition>
    <p:strips dir="rd"/>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826604179"/>
      </p:ext>
    </p:extLst>
  </p:cSld>
  <p:clrMapOvr>
    <a:masterClrMapping/>
  </p:clrMapOvr>
  <p:transition>
    <p:strips dir="rd"/>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127913433"/>
      </p:ext>
    </p:extLst>
  </p:cSld>
  <p:clrMapOvr>
    <a:masterClrMapping/>
  </p:clrMapOvr>
  <p:transition>
    <p:strips dir="rd"/>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66711727"/>
      </p:ext>
    </p:extLst>
  </p:cSld>
  <p:clrMapOvr>
    <a:masterClrMapping/>
  </p:clrMapOvr>
  <p:transition>
    <p:strips dir="rd"/>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38771021"/>
      </p:ext>
    </p:extLst>
  </p:cSld>
  <p:clrMapOvr>
    <a:masterClrMapping/>
  </p:clrMapOvr>
  <p:transition>
    <p:strips dir="rd"/>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表格占位符 2"/>
          <p:cNvSpPr>
            <a:spLocks noGrp="1"/>
          </p:cNvSpPr>
          <p:nvPr>
            <p:ph type="tbl" idx="1" hasCustomPrompt="1"/>
          </p:nvPr>
        </p:nvSpPr>
        <p:spPr>
          <a:xfrm>
            <a:off x="914400" y="1981200"/>
            <a:ext cx="10363200" cy="4114800"/>
          </a:xfrm>
        </p:spPr>
        <p:txBody>
          <a:bodyPr/>
          <a:lstStyle/>
          <a:p>
            <a:pPr lvl="0"/>
            <a:r>
              <a:rPr lang="zh-CN" altLang="en-US" noProof="0"/>
              <a:t>单击图标添加表格</a:t>
            </a:r>
          </a:p>
        </p:txBody>
      </p:sp>
    </p:spTree>
    <p:extLst>
      <p:ext uri="{BB962C8B-B14F-4D97-AF65-F5344CB8AC3E}">
        <p14:creationId xmlns:p14="http://schemas.microsoft.com/office/powerpoint/2010/main" val="620829498"/>
      </p:ext>
    </p:extLst>
  </p:cSld>
  <p:clrMapOvr>
    <a:masterClrMapping/>
  </p:clrMapOvr>
  <p:transition>
    <p:strips dir="rd"/>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SmartArt 占位符 2"/>
          <p:cNvSpPr>
            <a:spLocks noGrp="1"/>
          </p:cNvSpPr>
          <p:nvPr>
            <p:ph type="dgm" idx="1" hasCustomPrompt="1"/>
          </p:nvPr>
        </p:nvSpPr>
        <p:spPr>
          <a:xfrm>
            <a:off x="914400" y="1981200"/>
            <a:ext cx="10363200" cy="4114800"/>
          </a:xfrm>
        </p:spPr>
        <p:txBody>
          <a:bodyPr/>
          <a:lstStyle/>
          <a:p>
            <a:pPr lvl="0"/>
            <a:r>
              <a:rPr lang="zh-CN" altLang="en-US" noProof="0"/>
              <a:t>单击图标添加 </a:t>
            </a:r>
            <a:r>
              <a:rPr lang="en-US" altLang="zh-CN" noProof="0"/>
              <a:t>SmartArt </a:t>
            </a:r>
            <a:r>
              <a:rPr lang="zh-CN" altLang="en-US" noProof="0"/>
              <a:t>图形</a:t>
            </a:r>
          </a:p>
        </p:txBody>
      </p:sp>
    </p:spTree>
    <p:extLst>
      <p:ext uri="{BB962C8B-B14F-4D97-AF65-F5344CB8AC3E}">
        <p14:creationId xmlns:p14="http://schemas.microsoft.com/office/powerpoint/2010/main" val="682749376"/>
      </p:ext>
    </p:extLst>
  </p:cSld>
  <p:clrMapOvr>
    <a:masterClrMapping/>
  </p:clrMapOvr>
  <p:transition>
    <p:strips dir="rd"/>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609600"/>
            <a:ext cx="103632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44821546"/>
      </p:ext>
    </p:extLst>
  </p:cSld>
  <p:clrMapOvr>
    <a:masterClrMapping/>
  </p:clrMapOvr>
  <p:transition>
    <p:strips dir="rd"/>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xAndChart">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4"/>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图表占位符 3"/>
          <p:cNvSpPr>
            <a:spLocks noGrp="1"/>
          </p:cNvSpPr>
          <p:nvPr>
            <p:ph type="chart" sz="half" idx="2" hasCustomPrompt="1"/>
          </p:nvPr>
        </p:nvSpPr>
        <p:spPr>
          <a:xfrm>
            <a:off x="6197600" y="1600201"/>
            <a:ext cx="5384800" cy="4530725"/>
          </a:xfrm>
        </p:spPr>
        <p:txBody>
          <a:bodyPr/>
          <a:lstStyle/>
          <a:p>
            <a:pPr lvl="0"/>
            <a:r>
              <a:rPr lang="zh-CN" altLang="en-US" noProof="0"/>
              <a:t>单击图标添加图表</a:t>
            </a:r>
          </a:p>
        </p:txBody>
      </p:sp>
      <p:sp>
        <p:nvSpPr>
          <p:cNvPr id="5" name="日期占位符 4"/>
          <p:cNvSpPr>
            <a:spLocks noGrp="1"/>
          </p:cNvSpPr>
          <p:nvPr>
            <p:ph type="dt" sz="half" idx="10"/>
          </p:nvPr>
        </p:nvSpPr>
        <p:spPr>
          <a:xfrm>
            <a:off x="609600" y="6243638"/>
            <a:ext cx="2844800" cy="457200"/>
          </a:xfrm>
          <a:prstGeom prst="rect">
            <a:avLst/>
          </a:prstGeom>
        </p:spPr>
        <p:txBody>
          <a:bodyPr/>
          <a:lstStyle>
            <a:lvl1pPr eaLnBrk="1" hangingPunct="1">
              <a:defRPr>
                <a:effectLst>
                  <a:outerShdw blurRad="38100" dist="38100" dir="2700000" algn="tl">
                    <a:srgbClr val="000000">
                      <a:alpha val="43137"/>
                    </a:srgbClr>
                  </a:outerShdw>
                </a:effectLst>
                <a:latin typeface="楷体_GB2312" pitchFamily="49" charset="-122"/>
                <a:ea typeface="楷体_GB2312" pitchFamily="49" charset="-122"/>
                <a:cs typeface="+mn-cs"/>
              </a:defRPr>
            </a:lvl1pPr>
          </a:lstStyle>
          <a:p>
            <a:pPr>
              <a:defRPr/>
            </a:pPr>
            <a:fld id="{217C812D-8630-4E40-8E76-D72CDAA76A3E}" type="datetimeFigureOut">
              <a:rPr lang="zh-CN" altLang="en-US"/>
              <a:t>2026/9/22</a:t>
            </a:fld>
            <a:endParaRPr lang="en-US" altLang="zh-CN"/>
          </a:p>
        </p:txBody>
      </p:sp>
      <p:sp>
        <p:nvSpPr>
          <p:cNvPr id="6" name="页脚占位符 5"/>
          <p:cNvSpPr>
            <a:spLocks noGrp="1"/>
          </p:cNvSpPr>
          <p:nvPr>
            <p:ph type="ftr" sz="quarter" idx="11"/>
          </p:nvPr>
        </p:nvSpPr>
        <p:spPr>
          <a:xfrm>
            <a:off x="4165600" y="6248400"/>
            <a:ext cx="3860800" cy="457200"/>
          </a:xfrm>
          <a:prstGeom prst="rect">
            <a:avLst/>
          </a:prstGeom>
        </p:spPr>
        <p:txBody>
          <a:bodyPr/>
          <a:lstStyle>
            <a:lvl1pPr eaLnBrk="1" hangingPunct="1">
              <a:defRPr>
                <a:effectLst>
                  <a:outerShdw blurRad="38100" dist="38100" dir="2700000" algn="tl">
                    <a:srgbClr val="000000">
                      <a:alpha val="43137"/>
                    </a:srgbClr>
                  </a:outerShdw>
                </a:effectLst>
                <a:latin typeface="楷体_GB2312" pitchFamily="49" charset="-122"/>
                <a:ea typeface="楷体_GB2312" pitchFamily="49" charset="-122"/>
                <a:cs typeface="+mn-cs"/>
              </a:defRPr>
            </a:lvl1pPr>
          </a:lstStyle>
          <a:p>
            <a:pPr>
              <a:defRPr/>
            </a:pPr>
            <a:endParaRPr lang="en-US" altLang="zh-CN"/>
          </a:p>
        </p:txBody>
      </p:sp>
      <p:sp>
        <p:nvSpPr>
          <p:cNvPr id="7" name="灯片编号占位符 6"/>
          <p:cNvSpPr>
            <a:spLocks noGrp="1"/>
          </p:cNvSpPr>
          <p:nvPr>
            <p:ph type="sldNum" sz="quarter" idx="12"/>
          </p:nvPr>
        </p:nvSpPr>
        <p:spPr>
          <a:xfrm>
            <a:off x="8737600" y="6243638"/>
            <a:ext cx="2844800" cy="457200"/>
          </a:xfrm>
          <a:prstGeom prst="rect">
            <a:avLst/>
          </a:prstGeom>
        </p:spPr>
        <p:txBody>
          <a:bodyPr vert="horz" wrap="square" lIns="91440" tIns="45720" rIns="91440" bIns="45720" numCol="1" anchor="t" anchorCtr="0" compatLnSpc="1"/>
          <a:lstStyle>
            <a:lvl1pPr eaLnBrk="1" hangingPunct="1">
              <a:defRPr>
                <a:effectLst>
                  <a:outerShdw blurRad="38100" dist="38100" dir="2700000" algn="tl">
                    <a:srgbClr val="C0C0C0"/>
                  </a:outerShdw>
                </a:effectLst>
                <a:latin typeface="楷体_GB2312" pitchFamily="49" charset="-122"/>
                <a:ea typeface="楷体_GB2312" pitchFamily="49" charset="-122"/>
                <a:cs typeface="+mn-cs"/>
              </a:defRPr>
            </a:lvl1pPr>
          </a:lstStyle>
          <a:p>
            <a:pPr>
              <a:defRPr/>
            </a:pPr>
            <a:fld id="{4636E45C-0BF8-4FE4-9F00-5A0B677704E8}" type="slidenum">
              <a:rPr lang="zh-CN" altLang="en-US"/>
              <a:t>‹#›</a:t>
            </a:fld>
            <a:endParaRPr lang="en-US" altLang="zh-CN"/>
          </a:p>
        </p:txBody>
      </p:sp>
    </p:spTree>
    <p:extLst>
      <p:ext uri="{BB962C8B-B14F-4D97-AF65-F5344CB8AC3E}">
        <p14:creationId xmlns:p14="http://schemas.microsoft.com/office/powerpoint/2010/main" val="2388679606"/>
      </p:ext>
    </p:extLst>
  </p:cSld>
  <p:clrMapOvr>
    <a:masterClrMapping/>
  </p:clrMapOvr>
  <p:transition>
    <p:strips dir="rd"/>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2CC41-53EF-D792-C3D8-24D005077F38}"/>
              </a:ext>
            </a:extLst>
          </p:cNvPr>
          <p:cNvSpPr>
            <a:spLocks noGrp="1"/>
          </p:cNvSpPr>
          <p:nvPr>
            <p:ph type="ctrTitle"/>
          </p:nvPr>
        </p:nvSpPr>
        <p:spPr>
          <a:xfrm>
            <a:off x="1395291" y="48936"/>
            <a:ext cx="6629400" cy="712117"/>
          </a:xfrm>
        </p:spPr>
        <p:txBody>
          <a:bodyPr anchor="b">
            <a:normAutofit/>
          </a:bodyPr>
          <a:lstStyle>
            <a:lvl1pPr algn="ctr">
              <a:defRPr sz="3600"/>
            </a:lvl1pPr>
          </a:lstStyle>
          <a:p>
            <a:r>
              <a:rPr lang="zh-CN" altLang="en-US" dirty="0"/>
              <a:t>单击此处编辑母版标题样式</a:t>
            </a:r>
          </a:p>
        </p:txBody>
      </p:sp>
      <p:sp>
        <p:nvSpPr>
          <p:cNvPr id="3" name="副标题 2">
            <a:extLst>
              <a:ext uri="{FF2B5EF4-FFF2-40B4-BE49-F238E27FC236}">
                <a16:creationId xmlns:a16="http://schemas.microsoft.com/office/drawing/2014/main" id="{DAD09386-D71F-8627-81AE-8E5A2E01CA18}"/>
              </a:ext>
            </a:extLst>
          </p:cNvPr>
          <p:cNvSpPr>
            <a:spLocks noGrp="1"/>
          </p:cNvSpPr>
          <p:nvPr>
            <p:ph type="subTitle" idx="1"/>
          </p:nvPr>
        </p:nvSpPr>
        <p:spPr>
          <a:xfrm>
            <a:off x="554559" y="103653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4E5187-DE92-993A-0100-7ABE595C3625}"/>
              </a:ext>
            </a:extLst>
          </p:cNvPr>
          <p:cNvSpPr>
            <a:spLocks noGrp="1"/>
          </p:cNvSpPr>
          <p:nvPr>
            <p:ph type="dt" sz="half" idx="10"/>
          </p:nvPr>
        </p:nvSpPr>
        <p:spPr/>
        <p:txBody>
          <a:bodyPr/>
          <a:lstStyle/>
          <a:p>
            <a:fld id="{9A0239B5-A6DD-477D-BE99-5AD4CA2F58EE}" type="datetime1">
              <a:rPr lang="zh-CN" altLang="en-US" smtClean="0"/>
              <a:t>2026/9/22</a:t>
            </a:fld>
            <a:endParaRPr lang="zh-CN" altLang="en-US"/>
          </a:p>
        </p:txBody>
      </p:sp>
      <p:sp>
        <p:nvSpPr>
          <p:cNvPr id="5" name="页脚占位符 4">
            <a:extLst>
              <a:ext uri="{FF2B5EF4-FFF2-40B4-BE49-F238E27FC236}">
                <a16:creationId xmlns:a16="http://schemas.microsoft.com/office/drawing/2014/main" id="{30AAA60E-7CCA-E8F0-796A-1C44334A6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E3B1BE-AB2D-5A23-7D3C-F521ED3F003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7" name="组合 6">
            <a:extLst>
              <a:ext uri="{FF2B5EF4-FFF2-40B4-BE49-F238E27FC236}">
                <a16:creationId xmlns:a16="http://schemas.microsoft.com/office/drawing/2014/main" id="{F8BBDDF8-8219-CDF6-F368-5129B2EA6B6E}"/>
              </a:ext>
            </a:extLst>
          </p:cNvPr>
          <p:cNvGrpSpPr/>
          <p:nvPr userDrawn="1"/>
        </p:nvGrpSpPr>
        <p:grpSpPr>
          <a:xfrm>
            <a:off x="554559" y="179743"/>
            <a:ext cx="700611" cy="581310"/>
            <a:chOff x="527657" y="117426"/>
            <a:chExt cx="1016528" cy="825488"/>
          </a:xfrm>
        </p:grpSpPr>
        <p:pic>
          <p:nvPicPr>
            <p:cNvPr id="8" name="Picture 3" descr="C:\Users\Administrator\Desktop\微立体创业计划\005.png">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81117" y="87288"/>
            <a:ext cx="1988226" cy="470079"/>
          </a:xfrm>
          <a:prstGeom prst="rect">
            <a:avLst/>
          </a:prstGeom>
        </p:spPr>
      </p:pic>
    </p:spTree>
    <p:extLst>
      <p:ext uri="{BB962C8B-B14F-4D97-AF65-F5344CB8AC3E}">
        <p14:creationId xmlns:p14="http://schemas.microsoft.com/office/powerpoint/2010/main" val="45256780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69044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9BF9C41B-B701-4ED6-8A9D-BB3EBE32AEBB}" type="datetime1">
              <a:rPr lang="zh-CN" altLang="en-US" smtClean="0"/>
              <a:t>2026/9/22</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82416118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71BFFFF7-CCAC-4C16-B3DF-A74AC1DA0111}"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346668126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0177F53C-D319-4379-BE9D-C0775F1AC39A}" type="datetime1">
              <a:rPr lang="zh-CN" altLang="en-US" smtClean="0"/>
              <a:t>2026/9/22</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160385327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AE18CB3-EBC9-4CC4-A374-8AE54067A303}" type="datetime1">
              <a:rPr lang="zh-CN" altLang="en-US" smtClean="0"/>
              <a:t>2026/9/22</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346139651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A51461EE-7E93-465D-B757-DAE1CB93E92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326031720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F4518CFF-37F7-4C20-841D-A3532578AC89}" type="datetime1">
              <a:rPr lang="zh-CN" altLang="en-US" smtClean="0"/>
              <a:t>2026/9/22</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233930593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A88EC3D5-687C-416C-9B5D-3A75D8F7BA6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130043004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BA40BE0C-1EAE-4AE0-9369-5238A76AA9AE}" type="datetime1">
              <a:rPr lang="zh-CN" altLang="en-US" smtClean="0"/>
              <a:t>2026/9/22</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88495903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24DED7F1-ED4F-4A57-9629-8DACBCF4E104}"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22764291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AF1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标题 1"/>
          <p:cNvSpPr>
            <a:spLocks noGrp="1"/>
          </p:cNvSpPr>
          <p:nvPr>
            <p:ph type="title"/>
          </p:nvPr>
        </p:nvSpPr>
        <p:spPr>
          <a:xfrm>
            <a:off x="1586887" y="306750"/>
            <a:ext cx="4197307" cy="434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lIns="68582" tIns="34292" rIns="68582" bIns="34292">
            <a:spAutoFit/>
          </a:bodyPr>
          <a:lstStyle>
            <a:lvl1pPr>
              <a:defRPr lang="zh-CN" altLang="en-US" sz="2634" b="0">
                <a:solidFill>
                  <a:schemeClr val="tx1">
                    <a:lumMod val="85000"/>
                    <a:lumOff val="15000"/>
                  </a:schemeClr>
                </a:solidFill>
                <a:latin typeface="微软雅黑" pitchFamily="34" charset="-122"/>
                <a:cs typeface="+mn-cs"/>
              </a:defRPr>
            </a:lvl1pPr>
          </a:lstStyle>
          <a:p>
            <a:pPr lvl="0" algn="l"/>
            <a:r>
              <a:rPr lang="zh-CN" altLang="en-US" dirty="0"/>
              <a:t>单击此处编辑母版标题样式</a:t>
            </a:r>
          </a:p>
        </p:txBody>
      </p:sp>
    </p:spTree>
    <p:extLst>
      <p:ext uri="{BB962C8B-B14F-4D97-AF65-F5344CB8AC3E}">
        <p14:creationId xmlns:p14="http://schemas.microsoft.com/office/powerpoint/2010/main" val="1375437233"/>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2CC41-53EF-D792-C3D8-24D005077F38}"/>
              </a:ext>
            </a:extLst>
          </p:cNvPr>
          <p:cNvSpPr>
            <a:spLocks noGrp="1"/>
          </p:cNvSpPr>
          <p:nvPr>
            <p:ph type="ctrTitle"/>
          </p:nvPr>
        </p:nvSpPr>
        <p:spPr>
          <a:xfrm>
            <a:off x="1395291" y="48936"/>
            <a:ext cx="6629400" cy="712117"/>
          </a:xfrm>
        </p:spPr>
        <p:txBody>
          <a:bodyPr anchor="b">
            <a:normAutofit/>
          </a:bodyPr>
          <a:lstStyle>
            <a:lvl1pPr algn="ctr">
              <a:defRPr sz="3600"/>
            </a:lvl1pPr>
          </a:lstStyle>
          <a:p>
            <a:r>
              <a:rPr lang="zh-CN" altLang="en-US" dirty="0"/>
              <a:t>单击此处编辑母版标题样式</a:t>
            </a:r>
          </a:p>
        </p:txBody>
      </p:sp>
      <p:sp>
        <p:nvSpPr>
          <p:cNvPr id="3" name="副标题 2">
            <a:extLst>
              <a:ext uri="{FF2B5EF4-FFF2-40B4-BE49-F238E27FC236}">
                <a16:creationId xmlns:a16="http://schemas.microsoft.com/office/drawing/2014/main" id="{DAD09386-D71F-8627-81AE-8E5A2E01CA18}"/>
              </a:ext>
            </a:extLst>
          </p:cNvPr>
          <p:cNvSpPr>
            <a:spLocks noGrp="1"/>
          </p:cNvSpPr>
          <p:nvPr>
            <p:ph type="subTitle" idx="1"/>
          </p:nvPr>
        </p:nvSpPr>
        <p:spPr>
          <a:xfrm>
            <a:off x="554559" y="103653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4E5187-DE92-993A-0100-7ABE595C3625}"/>
              </a:ext>
            </a:extLst>
          </p:cNvPr>
          <p:cNvSpPr>
            <a:spLocks noGrp="1"/>
          </p:cNvSpPr>
          <p:nvPr>
            <p:ph type="dt" sz="half" idx="10"/>
          </p:nvPr>
        </p:nvSpPr>
        <p:spPr/>
        <p:txBody>
          <a:bodyPr/>
          <a:lstStyle/>
          <a:p>
            <a:fld id="{9A0239B5-A6DD-477D-BE99-5AD4CA2F58EE}" type="datetime1">
              <a:rPr lang="zh-CN" altLang="en-US" smtClean="0"/>
              <a:t>2026/9/22</a:t>
            </a:fld>
            <a:endParaRPr lang="zh-CN" altLang="en-US"/>
          </a:p>
        </p:txBody>
      </p:sp>
      <p:sp>
        <p:nvSpPr>
          <p:cNvPr id="5" name="页脚占位符 4">
            <a:extLst>
              <a:ext uri="{FF2B5EF4-FFF2-40B4-BE49-F238E27FC236}">
                <a16:creationId xmlns:a16="http://schemas.microsoft.com/office/drawing/2014/main" id="{30AAA60E-7CCA-E8F0-796A-1C44334A6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E3B1BE-AB2D-5A23-7D3C-F521ED3F003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7" name="组合 6">
            <a:extLst>
              <a:ext uri="{FF2B5EF4-FFF2-40B4-BE49-F238E27FC236}">
                <a16:creationId xmlns:a16="http://schemas.microsoft.com/office/drawing/2014/main" id="{F8BBDDF8-8219-CDF6-F368-5129B2EA6B6E}"/>
              </a:ext>
            </a:extLst>
          </p:cNvPr>
          <p:cNvGrpSpPr/>
          <p:nvPr userDrawn="1"/>
        </p:nvGrpSpPr>
        <p:grpSpPr>
          <a:xfrm>
            <a:off x="554559" y="179743"/>
            <a:ext cx="700611" cy="581310"/>
            <a:chOff x="527657" y="117426"/>
            <a:chExt cx="1016528" cy="825488"/>
          </a:xfrm>
        </p:grpSpPr>
        <p:pic>
          <p:nvPicPr>
            <p:cNvPr id="8" name="Picture 3" descr="C:\Users\Administrator\Desktop\微立体创业计划\005.png">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81117" y="87288"/>
            <a:ext cx="1988226" cy="470079"/>
          </a:xfrm>
          <a:prstGeom prst="rect">
            <a:avLst/>
          </a:prstGeom>
        </p:spPr>
      </p:pic>
    </p:spTree>
    <p:extLst>
      <p:ext uri="{BB962C8B-B14F-4D97-AF65-F5344CB8AC3E}">
        <p14:creationId xmlns:p14="http://schemas.microsoft.com/office/powerpoint/2010/main" val="383212223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21115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9BF9C41B-B701-4ED6-8A9D-BB3EBE32AEBB}" type="datetime1">
              <a:rPr lang="zh-CN" altLang="en-US" smtClean="0"/>
              <a:t>2026/9/22</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81604544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71BFFFF7-CCAC-4C16-B3DF-A74AC1DA0111}"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112252200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0177F53C-D319-4379-BE9D-C0775F1AC39A}" type="datetime1">
              <a:rPr lang="zh-CN" altLang="en-US" smtClean="0"/>
              <a:t>2026/9/22</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126303260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AE18CB3-EBC9-4CC4-A374-8AE54067A303}" type="datetime1">
              <a:rPr lang="zh-CN" altLang="en-US" smtClean="0"/>
              <a:t>2026/9/22</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315229998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A51461EE-7E93-465D-B757-DAE1CB93E92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134133199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F4518CFF-37F7-4C20-841D-A3532578AC89}" type="datetime1">
              <a:rPr lang="zh-CN" altLang="en-US" smtClean="0"/>
              <a:t>2026/9/22</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265475254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A88EC3D5-687C-416C-9B5D-3A75D8F7BA6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157934315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BA40BE0C-1EAE-4AE0-9369-5238A76AA9AE}" type="datetime1">
              <a:rPr lang="zh-CN" altLang="en-US" smtClean="0"/>
              <a:t>2026/9/22</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57969981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24DED7F1-ED4F-4A57-9629-8DACBCF4E104}"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117726405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AF1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标题 1"/>
          <p:cNvSpPr>
            <a:spLocks noGrp="1"/>
          </p:cNvSpPr>
          <p:nvPr>
            <p:ph type="title"/>
          </p:nvPr>
        </p:nvSpPr>
        <p:spPr>
          <a:xfrm>
            <a:off x="1586887" y="306750"/>
            <a:ext cx="4197307" cy="434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lIns="68582" tIns="34292" rIns="68582" bIns="34292">
            <a:spAutoFit/>
          </a:bodyPr>
          <a:lstStyle>
            <a:lvl1pPr>
              <a:defRPr lang="zh-CN" altLang="en-US" sz="2634" b="0">
                <a:solidFill>
                  <a:schemeClr val="tx1">
                    <a:lumMod val="85000"/>
                    <a:lumOff val="15000"/>
                  </a:schemeClr>
                </a:solidFill>
                <a:latin typeface="微软雅黑" pitchFamily="34" charset="-122"/>
                <a:cs typeface="+mn-cs"/>
              </a:defRPr>
            </a:lvl1pPr>
          </a:lstStyle>
          <a:p>
            <a:pPr lvl="0" algn="l"/>
            <a:r>
              <a:rPr lang="zh-CN" altLang="en-US" dirty="0"/>
              <a:t>单击此处编辑母版标题样式</a:t>
            </a:r>
          </a:p>
        </p:txBody>
      </p:sp>
    </p:spTree>
    <p:extLst>
      <p:ext uri="{BB962C8B-B14F-4D97-AF65-F5344CB8AC3E}">
        <p14:creationId xmlns:p14="http://schemas.microsoft.com/office/powerpoint/2010/main" val="3547862095"/>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2CC41-53EF-D792-C3D8-24D005077F38}"/>
              </a:ext>
            </a:extLst>
          </p:cNvPr>
          <p:cNvSpPr>
            <a:spLocks noGrp="1"/>
          </p:cNvSpPr>
          <p:nvPr>
            <p:ph type="ctrTitle"/>
          </p:nvPr>
        </p:nvSpPr>
        <p:spPr>
          <a:xfrm>
            <a:off x="1395291" y="48936"/>
            <a:ext cx="6629400" cy="712117"/>
          </a:xfrm>
        </p:spPr>
        <p:txBody>
          <a:bodyPr anchor="b">
            <a:normAutofit/>
          </a:bodyPr>
          <a:lstStyle>
            <a:lvl1pPr algn="ctr">
              <a:defRPr sz="3600"/>
            </a:lvl1pPr>
          </a:lstStyle>
          <a:p>
            <a:r>
              <a:rPr lang="zh-CN" altLang="en-US" dirty="0"/>
              <a:t>单击此处编辑母版标题样式</a:t>
            </a:r>
          </a:p>
        </p:txBody>
      </p:sp>
      <p:sp>
        <p:nvSpPr>
          <p:cNvPr id="3" name="副标题 2">
            <a:extLst>
              <a:ext uri="{FF2B5EF4-FFF2-40B4-BE49-F238E27FC236}">
                <a16:creationId xmlns:a16="http://schemas.microsoft.com/office/drawing/2014/main" id="{DAD09386-D71F-8627-81AE-8E5A2E01CA18}"/>
              </a:ext>
            </a:extLst>
          </p:cNvPr>
          <p:cNvSpPr>
            <a:spLocks noGrp="1"/>
          </p:cNvSpPr>
          <p:nvPr>
            <p:ph type="subTitle" idx="1"/>
          </p:nvPr>
        </p:nvSpPr>
        <p:spPr>
          <a:xfrm>
            <a:off x="554559" y="103653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4E5187-DE92-993A-0100-7ABE595C3625}"/>
              </a:ext>
            </a:extLst>
          </p:cNvPr>
          <p:cNvSpPr>
            <a:spLocks noGrp="1"/>
          </p:cNvSpPr>
          <p:nvPr>
            <p:ph type="dt" sz="half" idx="10"/>
          </p:nvPr>
        </p:nvSpPr>
        <p:spPr/>
        <p:txBody>
          <a:bodyPr/>
          <a:lstStyle/>
          <a:p>
            <a:fld id="{9A0239B5-A6DD-477D-BE99-5AD4CA2F58EE}" type="datetime1">
              <a:rPr lang="zh-CN" altLang="en-US" smtClean="0"/>
              <a:t>2026/9/22</a:t>
            </a:fld>
            <a:endParaRPr lang="zh-CN" altLang="en-US"/>
          </a:p>
        </p:txBody>
      </p:sp>
      <p:sp>
        <p:nvSpPr>
          <p:cNvPr id="5" name="页脚占位符 4">
            <a:extLst>
              <a:ext uri="{FF2B5EF4-FFF2-40B4-BE49-F238E27FC236}">
                <a16:creationId xmlns:a16="http://schemas.microsoft.com/office/drawing/2014/main" id="{30AAA60E-7CCA-E8F0-796A-1C44334A6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E3B1BE-AB2D-5A23-7D3C-F521ED3F003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7" name="组合 6">
            <a:extLst>
              <a:ext uri="{FF2B5EF4-FFF2-40B4-BE49-F238E27FC236}">
                <a16:creationId xmlns:a16="http://schemas.microsoft.com/office/drawing/2014/main" id="{F8BBDDF8-8219-CDF6-F368-5129B2EA6B6E}"/>
              </a:ext>
            </a:extLst>
          </p:cNvPr>
          <p:cNvGrpSpPr/>
          <p:nvPr userDrawn="1"/>
        </p:nvGrpSpPr>
        <p:grpSpPr>
          <a:xfrm>
            <a:off x="554559" y="179743"/>
            <a:ext cx="700611" cy="581310"/>
            <a:chOff x="527657" y="117426"/>
            <a:chExt cx="1016528" cy="825488"/>
          </a:xfrm>
        </p:grpSpPr>
        <p:pic>
          <p:nvPicPr>
            <p:cNvPr id="8" name="Picture 3" descr="C:\Users\Administrator\Desktop\微立体创业计划\005.png">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81117" y="87288"/>
            <a:ext cx="1988226" cy="470079"/>
          </a:xfrm>
          <a:prstGeom prst="rect">
            <a:avLst/>
          </a:prstGeom>
        </p:spPr>
      </p:pic>
    </p:spTree>
    <p:extLst>
      <p:ext uri="{BB962C8B-B14F-4D97-AF65-F5344CB8AC3E}">
        <p14:creationId xmlns:p14="http://schemas.microsoft.com/office/powerpoint/2010/main" val="49378842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993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9BF9C41B-B701-4ED6-8A9D-BB3EBE32AEBB}" type="datetime1">
              <a:rPr lang="zh-CN" altLang="en-US" smtClean="0"/>
              <a:t>2026/9/22</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225381124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71BFFFF7-CCAC-4C16-B3DF-A74AC1DA0111}"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229999224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0177F53C-D319-4379-BE9D-C0775F1AC39A}" type="datetime1">
              <a:rPr lang="zh-CN" altLang="en-US" smtClean="0"/>
              <a:t>2026/9/22</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91531179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AE18CB3-EBC9-4CC4-A374-8AE54067A303}" type="datetime1">
              <a:rPr lang="zh-CN" altLang="en-US" smtClean="0"/>
              <a:t>2026/9/22</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12016915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A51461EE-7E93-465D-B757-DAE1CB93E92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409134636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F4518CFF-37F7-4C20-841D-A3532578AC89}" type="datetime1">
              <a:rPr lang="zh-CN" altLang="en-US" smtClean="0"/>
              <a:t>2026/9/22</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100327505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A88EC3D5-687C-416C-9B5D-3A75D8F7BA6C}" type="datetime1">
              <a:rPr lang="zh-CN" altLang="en-US" smtClean="0"/>
              <a:t>2026/9/22</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714440183"/>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BA40BE0C-1EAE-4AE0-9369-5238A76AA9AE}" type="datetime1">
              <a:rPr lang="zh-CN" altLang="en-US" smtClean="0"/>
              <a:t>2026/9/22</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69912826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24DED7F1-ED4F-4A57-9629-8DACBCF4E104}" type="datetime1">
              <a:rPr lang="zh-CN" altLang="en-US" smtClean="0"/>
              <a:t>2026/9/22</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4697915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AF1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标题 1"/>
          <p:cNvSpPr>
            <a:spLocks noGrp="1"/>
          </p:cNvSpPr>
          <p:nvPr>
            <p:ph type="title"/>
          </p:nvPr>
        </p:nvSpPr>
        <p:spPr>
          <a:xfrm>
            <a:off x="1586887" y="306750"/>
            <a:ext cx="4197307" cy="434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lIns="68582" tIns="34292" rIns="68582" bIns="34292">
            <a:spAutoFit/>
          </a:bodyPr>
          <a:lstStyle>
            <a:lvl1pPr>
              <a:defRPr lang="zh-CN" altLang="en-US" sz="2634" b="0">
                <a:solidFill>
                  <a:schemeClr val="tx1">
                    <a:lumMod val="85000"/>
                    <a:lumOff val="15000"/>
                  </a:schemeClr>
                </a:solidFill>
                <a:latin typeface="微软雅黑" pitchFamily="34" charset="-122"/>
                <a:cs typeface="+mn-cs"/>
              </a:defRPr>
            </a:lvl1pPr>
          </a:lstStyle>
          <a:p>
            <a:pPr lvl="0" algn="l"/>
            <a:r>
              <a:rPr lang="zh-CN" altLang="en-US" dirty="0"/>
              <a:t>单击此处编辑母版标题样式</a:t>
            </a:r>
          </a:p>
        </p:txBody>
      </p:sp>
    </p:spTree>
    <p:extLst>
      <p:ext uri="{BB962C8B-B14F-4D97-AF65-F5344CB8AC3E}">
        <p14:creationId xmlns:p14="http://schemas.microsoft.com/office/powerpoint/2010/main" val="3910732940"/>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1.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85.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image" Target="../media/image1.jpeg"/><Relationship Id="rId2" Type="http://schemas.openxmlformats.org/officeDocument/2006/relationships/slideLayout" Target="../slideLayouts/slideLayout74.xml"/><Relationship Id="rId16" Type="http://schemas.openxmlformats.org/officeDocument/2006/relationships/theme" Target="../theme/theme7.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5.xml"/><Relationship Id="rId13" Type="http://schemas.openxmlformats.org/officeDocument/2006/relationships/theme" Target="../theme/theme8.xml"/><Relationship Id="rId3" Type="http://schemas.openxmlformats.org/officeDocument/2006/relationships/slideLayout" Target="../slideLayouts/slideLayout90.xml"/><Relationship Id="rId7" Type="http://schemas.openxmlformats.org/officeDocument/2006/relationships/slideLayout" Target="../slideLayouts/slideLayout94.xml"/><Relationship Id="rId12" Type="http://schemas.openxmlformats.org/officeDocument/2006/relationships/slideLayout" Target="../slideLayouts/slideLayout99.xml"/><Relationship Id="rId2" Type="http://schemas.openxmlformats.org/officeDocument/2006/relationships/slideLayout" Target="../slideLayouts/slideLayout89.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5" Type="http://schemas.openxmlformats.org/officeDocument/2006/relationships/slideLayout" Target="../slideLayouts/slideLayout92.xml"/><Relationship Id="rId10" Type="http://schemas.openxmlformats.org/officeDocument/2006/relationships/slideLayout" Target="../slideLayouts/slideLayout97.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image" Target="../media/image1.jpe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theme" Target="../theme/theme9.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image" Target="../media/image1.jpe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9.xml"/><Relationship Id="rId13" Type="http://schemas.openxmlformats.org/officeDocument/2006/relationships/theme" Target="../theme/theme10.xml"/><Relationship Id="rId3" Type="http://schemas.openxmlformats.org/officeDocument/2006/relationships/slideLayout" Target="../slideLayouts/slideLayout114.xml"/><Relationship Id="rId7" Type="http://schemas.openxmlformats.org/officeDocument/2006/relationships/slideLayout" Target="../slideLayouts/slideLayout118.xml"/><Relationship Id="rId12" Type="http://schemas.openxmlformats.org/officeDocument/2006/relationships/slideLayout" Target="../slideLayouts/slideLayout123.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5" Type="http://schemas.openxmlformats.org/officeDocument/2006/relationships/slideLayout" Target="../slideLayouts/slideLayout116.xml"/><Relationship Id="rId10" Type="http://schemas.openxmlformats.org/officeDocument/2006/relationships/slideLayout" Target="../slideLayouts/slideLayout121.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t="-39000" b="-3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9/22/2026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36685321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ransition>
    <p:strips dir="rd"/>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39000" b="-3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kumimoji="0" lang="zh-CN" altLang="zh-CN">
              <a:latin typeface="Times New Roman" panose="02020603050405020304" pitchFamily="18" charset="0"/>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kumimoji="0" lang="zh-CN" altLang="zh-CN">
              <a:latin typeface="Times New Roman" panose="02020603050405020304" pitchFamily="18" charset="0"/>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lvl="0" eaLnBrk="1" hangingPunct="1">
              <a:spcBef>
                <a:spcPct val="50000"/>
              </a:spcBef>
              <a:buNone/>
            </a:pPr>
            <a:fld id="{9A0DB2DC-4C9A-4742-B13C-FB6460FD3503}" type="slidenum">
              <a:rPr lang="zh-CN" altLang="zh-CN" smtClean="0">
                <a:latin typeface="Times New Roman" panose="02020603050405020304" pitchFamily="18" charset="0"/>
              </a:rPr>
              <a:t>‹#›</a:t>
            </a:fld>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74736204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ransition spd="med">
    <p:zoom/>
  </p:transition>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t="-39000" b="-39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01001-B58D-4742-9CFA-41515D63C199}" type="datetime1">
              <a:rPr lang="zh-CN" altLang="en-US" smtClean="0"/>
              <a:t>2026/9/22</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10213046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t="-39000" b="-39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01001-B58D-4742-9CFA-41515D63C199}" type="datetime1">
              <a:rPr lang="zh-CN" altLang="en-US" smtClean="0"/>
              <a:t>2026/9/22</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491140597"/>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t="-39000" b="-39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01001-B58D-4742-9CFA-41515D63C199}" type="datetime1">
              <a:rPr lang="zh-CN" altLang="en-US" smtClean="0"/>
              <a:t>2026/9/22</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4261512039"/>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t="-39000" b="-39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01001-B58D-4742-9CFA-41515D63C199}" type="datetime1">
              <a:rPr lang="zh-CN" altLang="en-US" smtClean="0"/>
              <a:t>2026/9/22</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1676357956"/>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t="-39000" b="-39000"/>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2284" y="188913"/>
            <a:ext cx="10363200" cy="83185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341438"/>
            <a:ext cx="10363200" cy="4754562"/>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3" name="Text Box 9"/>
          <p:cNvSpPr txBox="1">
            <a:spLocks noChangeArrowheads="1"/>
          </p:cNvSpPr>
          <p:nvPr/>
        </p:nvSpPr>
        <p:spPr bwMode="auto">
          <a:xfrm>
            <a:off x="10320867" y="6416676"/>
            <a:ext cx="1824567" cy="396875"/>
          </a:xfrm>
          <a:prstGeom prst="rect">
            <a:avLst/>
          </a:prstGeom>
          <a:noFill/>
          <a:ln w="9525">
            <a:noFill/>
            <a:miter lim="800000"/>
          </a:ln>
          <a:effectLst/>
        </p:spPr>
        <p:txBody>
          <a:bodyPr>
            <a:spAutoFit/>
          </a:bodyPr>
          <a:lstStyle>
            <a:lvl1pPr eaLnBrk="0" hangingPunct="0">
              <a:defRPr kumimoji="1" sz="2800" b="1">
                <a:solidFill>
                  <a:schemeClr val="tx1"/>
                </a:solidFill>
                <a:latin typeface="Times New Roman" panose="02020603050405020304" pitchFamily="18" charset="0"/>
                <a:ea typeface="楷体_GB2312" pitchFamily="49" charset="-122"/>
              </a:defRPr>
            </a:lvl1pPr>
            <a:lvl2pPr marL="742950" indent="-285750" eaLnBrk="0" hangingPunct="0">
              <a:defRPr kumimoji="1" sz="2800" b="1">
                <a:solidFill>
                  <a:schemeClr val="tx1"/>
                </a:solidFill>
                <a:latin typeface="Times New Roman" panose="02020603050405020304" pitchFamily="18" charset="0"/>
                <a:ea typeface="楷体_GB2312" pitchFamily="49" charset="-122"/>
              </a:defRPr>
            </a:lvl2pPr>
            <a:lvl3pPr marL="1143000" indent="-228600" eaLnBrk="0" hangingPunct="0">
              <a:defRPr kumimoji="1" sz="2800" b="1">
                <a:solidFill>
                  <a:schemeClr val="tx1"/>
                </a:solidFill>
                <a:latin typeface="Times New Roman" panose="02020603050405020304" pitchFamily="18" charset="0"/>
                <a:ea typeface="楷体_GB2312" pitchFamily="49" charset="-122"/>
              </a:defRPr>
            </a:lvl3pPr>
            <a:lvl4pPr marL="1600200" indent="-228600" eaLnBrk="0" hangingPunct="0">
              <a:defRPr kumimoji="1" sz="2800" b="1">
                <a:solidFill>
                  <a:schemeClr val="tx1"/>
                </a:solidFill>
                <a:latin typeface="Times New Roman" panose="02020603050405020304" pitchFamily="18" charset="0"/>
                <a:ea typeface="楷体_GB2312" pitchFamily="49" charset="-122"/>
              </a:defRPr>
            </a:lvl4pPr>
            <a:lvl5pPr marL="2057400" indent="-228600" eaLnBrk="0" hangingPunct="0">
              <a:defRPr kumimoji="1"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9pPr>
          </a:lstStyle>
          <a:p>
            <a:pPr algn="r" eaLnBrk="1" hangingPunct="1">
              <a:spcBef>
                <a:spcPct val="50000"/>
              </a:spcBef>
              <a:defRPr/>
            </a:pPr>
            <a:fld id="{B9CECF27-15C5-4C24-998A-4ACFF6F5C88D}" type="slidenum">
              <a:rPr lang="zh-CN" altLang="en-US" sz="2000" smtClean="0">
                <a:solidFill>
                  <a:schemeClr val="hlink"/>
                </a:solidFill>
                <a:effectLst>
                  <a:outerShdw blurRad="38100" dist="38100" dir="2700000" algn="tl">
                    <a:srgbClr val="C0C0C0"/>
                  </a:outerShdw>
                </a:effectLst>
                <a:cs typeface="+mn-cs"/>
              </a:rPr>
              <a:t>‹#›</a:t>
            </a:fld>
            <a:r>
              <a:rPr lang="zh-CN" altLang="en-US" sz="2000">
                <a:solidFill>
                  <a:schemeClr val="hlink"/>
                </a:solidFill>
                <a:effectLst>
                  <a:outerShdw blurRad="38100" dist="38100" dir="2700000" algn="tl">
                    <a:srgbClr val="C0C0C0"/>
                  </a:outerShdw>
                </a:effectLst>
                <a:cs typeface="+mn-cs"/>
              </a:rPr>
              <a:t> </a:t>
            </a:r>
          </a:p>
        </p:txBody>
      </p:sp>
      <p:sp>
        <p:nvSpPr>
          <p:cNvPr id="6" name="Text Box 9"/>
          <p:cNvSpPr txBox="1">
            <a:spLocks noChangeArrowheads="1"/>
          </p:cNvSpPr>
          <p:nvPr/>
        </p:nvSpPr>
        <p:spPr bwMode="auto">
          <a:xfrm>
            <a:off x="10320867" y="6416676"/>
            <a:ext cx="1824567" cy="396875"/>
          </a:xfrm>
          <a:prstGeom prst="rect">
            <a:avLst/>
          </a:prstGeom>
          <a:noFill/>
          <a:ln w="9525">
            <a:noFill/>
            <a:miter lim="800000"/>
          </a:ln>
          <a:effectLst/>
        </p:spPr>
        <p:txBody>
          <a:bodyPr>
            <a:spAutoFit/>
          </a:bodyPr>
          <a:lstStyle>
            <a:lvl1pPr eaLnBrk="0" hangingPunct="0">
              <a:defRPr kumimoji="1" sz="2800" b="1">
                <a:solidFill>
                  <a:schemeClr val="tx1"/>
                </a:solidFill>
                <a:latin typeface="Times New Roman" panose="02020603050405020304" pitchFamily="18" charset="0"/>
                <a:ea typeface="楷体_GB2312" pitchFamily="49" charset="-122"/>
              </a:defRPr>
            </a:lvl1pPr>
            <a:lvl2pPr marL="742950" indent="-285750" eaLnBrk="0" hangingPunct="0">
              <a:defRPr kumimoji="1" sz="2800" b="1">
                <a:solidFill>
                  <a:schemeClr val="tx1"/>
                </a:solidFill>
                <a:latin typeface="Times New Roman" panose="02020603050405020304" pitchFamily="18" charset="0"/>
                <a:ea typeface="楷体_GB2312" pitchFamily="49" charset="-122"/>
              </a:defRPr>
            </a:lvl2pPr>
            <a:lvl3pPr marL="1143000" indent="-228600" eaLnBrk="0" hangingPunct="0">
              <a:defRPr kumimoji="1" sz="2800" b="1">
                <a:solidFill>
                  <a:schemeClr val="tx1"/>
                </a:solidFill>
                <a:latin typeface="Times New Roman" panose="02020603050405020304" pitchFamily="18" charset="0"/>
                <a:ea typeface="楷体_GB2312" pitchFamily="49" charset="-122"/>
              </a:defRPr>
            </a:lvl3pPr>
            <a:lvl4pPr marL="1600200" indent="-228600" eaLnBrk="0" hangingPunct="0">
              <a:defRPr kumimoji="1" sz="2800" b="1">
                <a:solidFill>
                  <a:schemeClr val="tx1"/>
                </a:solidFill>
                <a:latin typeface="Times New Roman" panose="02020603050405020304" pitchFamily="18" charset="0"/>
                <a:ea typeface="楷体_GB2312" pitchFamily="49" charset="-122"/>
              </a:defRPr>
            </a:lvl4pPr>
            <a:lvl5pPr marL="2057400" indent="-228600" eaLnBrk="0" hangingPunct="0">
              <a:defRPr kumimoji="1"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9pPr>
          </a:lstStyle>
          <a:p>
            <a:pPr algn="r" eaLnBrk="1" hangingPunct="1">
              <a:spcBef>
                <a:spcPct val="50000"/>
              </a:spcBef>
              <a:defRPr/>
            </a:pPr>
            <a:fld id="{3CF11E43-A629-49E7-B095-4F7224A3661A}" type="slidenum">
              <a:rPr lang="zh-CN" altLang="en-US" sz="2000" smtClean="0">
                <a:solidFill>
                  <a:schemeClr val="hlink"/>
                </a:solidFill>
                <a:effectLst>
                  <a:outerShdw blurRad="38100" dist="38100" dir="2700000" algn="tl">
                    <a:srgbClr val="C0C0C0"/>
                  </a:outerShdw>
                </a:effectLst>
                <a:cs typeface="+mn-cs"/>
              </a:rPr>
              <a:t>‹#›</a:t>
            </a:fld>
            <a:endParaRPr lang="zh-CN" altLang="en-US" sz="2000">
              <a:solidFill>
                <a:schemeClr val="hlink"/>
              </a:solidFill>
              <a:effectLst>
                <a:outerShdw blurRad="38100" dist="38100" dir="2700000" algn="tl">
                  <a:srgbClr val="C0C0C0"/>
                </a:outerShdw>
              </a:effectLst>
              <a:cs typeface="+mn-cs"/>
            </a:endParaRPr>
          </a:p>
        </p:txBody>
      </p:sp>
      <p:sp>
        <p:nvSpPr>
          <p:cNvPr id="8" name="Text Box 9"/>
          <p:cNvSpPr txBox="1">
            <a:spLocks noChangeArrowheads="1"/>
          </p:cNvSpPr>
          <p:nvPr/>
        </p:nvSpPr>
        <p:spPr bwMode="auto">
          <a:xfrm>
            <a:off x="10320867" y="6416676"/>
            <a:ext cx="1824567" cy="396875"/>
          </a:xfrm>
          <a:prstGeom prst="rect">
            <a:avLst/>
          </a:prstGeom>
          <a:noFill/>
          <a:ln w="9525">
            <a:noFill/>
            <a:miter lim="800000"/>
          </a:ln>
          <a:effectLst/>
        </p:spPr>
        <p:txBody>
          <a:bodyPr>
            <a:spAutoFit/>
          </a:bodyPr>
          <a:lstStyle>
            <a:lvl1pPr eaLnBrk="0" hangingPunct="0">
              <a:defRPr kumimoji="1" sz="2800" b="1">
                <a:solidFill>
                  <a:schemeClr val="tx1"/>
                </a:solidFill>
                <a:latin typeface="Times New Roman" panose="02020603050405020304" pitchFamily="18" charset="0"/>
                <a:ea typeface="楷体_GB2312" pitchFamily="49" charset="-122"/>
              </a:defRPr>
            </a:lvl1pPr>
            <a:lvl2pPr marL="742950" indent="-285750" eaLnBrk="0" hangingPunct="0">
              <a:defRPr kumimoji="1" sz="2800" b="1">
                <a:solidFill>
                  <a:schemeClr val="tx1"/>
                </a:solidFill>
                <a:latin typeface="Times New Roman" panose="02020603050405020304" pitchFamily="18" charset="0"/>
                <a:ea typeface="楷体_GB2312" pitchFamily="49" charset="-122"/>
              </a:defRPr>
            </a:lvl2pPr>
            <a:lvl3pPr marL="1143000" indent="-228600" eaLnBrk="0" hangingPunct="0">
              <a:defRPr kumimoji="1" sz="2800" b="1">
                <a:solidFill>
                  <a:schemeClr val="tx1"/>
                </a:solidFill>
                <a:latin typeface="Times New Roman" panose="02020603050405020304" pitchFamily="18" charset="0"/>
                <a:ea typeface="楷体_GB2312" pitchFamily="49" charset="-122"/>
              </a:defRPr>
            </a:lvl3pPr>
            <a:lvl4pPr marL="1600200" indent="-228600" eaLnBrk="0" hangingPunct="0">
              <a:defRPr kumimoji="1" sz="2800" b="1">
                <a:solidFill>
                  <a:schemeClr val="tx1"/>
                </a:solidFill>
                <a:latin typeface="Times New Roman" panose="02020603050405020304" pitchFamily="18" charset="0"/>
                <a:ea typeface="楷体_GB2312" pitchFamily="49" charset="-122"/>
              </a:defRPr>
            </a:lvl4pPr>
            <a:lvl5pPr marL="2057400" indent="-228600" eaLnBrk="0" hangingPunct="0">
              <a:defRPr kumimoji="1"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9pPr>
          </a:lstStyle>
          <a:p>
            <a:pPr algn="r" eaLnBrk="1" hangingPunct="1">
              <a:spcBef>
                <a:spcPct val="50000"/>
              </a:spcBef>
              <a:defRPr/>
            </a:pPr>
            <a:fld id="{80FE0A3C-F520-4F66-8869-AACF4AFD80F9}" type="slidenum">
              <a:rPr lang="zh-CN" altLang="en-US" sz="2000" smtClean="0">
                <a:solidFill>
                  <a:schemeClr val="hlink"/>
                </a:solidFill>
                <a:effectLst>
                  <a:outerShdw blurRad="38100" dist="38100" dir="2700000" algn="tl">
                    <a:srgbClr val="C0C0C0"/>
                  </a:outerShdw>
                </a:effectLst>
                <a:cs typeface="+mn-cs"/>
              </a:rPr>
              <a:t>‹#›</a:t>
            </a:fld>
            <a:r>
              <a:rPr lang="zh-CN" altLang="en-US" sz="2000">
                <a:solidFill>
                  <a:schemeClr val="hlink"/>
                </a:solidFill>
                <a:effectLst>
                  <a:outerShdw blurRad="38100" dist="38100" dir="2700000" algn="tl">
                    <a:srgbClr val="C0C0C0"/>
                  </a:outerShdw>
                </a:effectLst>
                <a:cs typeface="+mn-cs"/>
              </a:rPr>
              <a:t> </a:t>
            </a:r>
          </a:p>
        </p:txBody>
      </p:sp>
    </p:spTree>
    <p:extLst>
      <p:ext uri="{BB962C8B-B14F-4D97-AF65-F5344CB8AC3E}">
        <p14:creationId xmlns:p14="http://schemas.microsoft.com/office/powerpoint/2010/main" val="1688959044"/>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Lst>
  <p:transition>
    <p:strips dir="rd"/>
  </p:transition>
  <p:txStyles>
    <p:titleStyle>
      <a:lvl1pPr algn="ctr" rtl="0" eaLnBrk="0" fontAlgn="base" hangingPunct="0">
        <a:spcBef>
          <a:spcPct val="0"/>
        </a:spcBef>
        <a:spcAft>
          <a:spcPct val="0"/>
        </a:spcAft>
        <a:defRPr kumimoji="1" lang="zh-CN" altLang="en-US" sz="3600" b="1" dirty="0">
          <a:solidFill>
            <a:srgbClr val="C00000"/>
          </a:solidFill>
          <a:latin typeface="+mj-lt"/>
          <a:ea typeface="+mj-ea"/>
          <a:cs typeface="+mj-cs"/>
        </a:defRPr>
      </a:lvl1pPr>
      <a:lvl2pPr algn="ctr" rtl="0" eaLnBrk="0" fontAlgn="base" hangingPunct="0">
        <a:spcBef>
          <a:spcPct val="0"/>
        </a:spcBef>
        <a:spcAft>
          <a:spcPct val="0"/>
        </a:spcAft>
        <a:defRPr kumimoji="1" sz="3600" b="1">
          <a:solidFill>
            <a:srgbClr val="C00000"/>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3600" b="1">
          <a:solidFill>
            <a:srgbClr val="C00000"/>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3600" b="1">
          <a:solidFill>
            <a:srgbClr val="C00000"/>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3600" b="1">
          <a:solidFill>
            <a:srgbClr val="C00000"/>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2800" b="1">
          <a:solidFill>
            <a:srgbClr val="000099"/>
          </a:solidFill>
          <a:latin typeface="+mn-lt"/>
          <a:ea typeface="楷体_GB2312"/>
          <a:cs typeface="楷体_GB2312"/>
        </a:defRPr>
      </a:lvl1pPr>
      <a:lvl2pPr marL="742950" indent="-285750" algn="l" rtl="0" eaLnBrk="0" fontAlgn="base" hangingPunct="0">
        <a:spcBef>
          <a:spcPct val="20000"/>
        </a:spcBef>
        <a:spcAft>
          <a:spcPct val="0"/>
        </a:spcAft>
        <a:buChar char="–"/>
        <a:defRPr kumimoji="1" sz="2400" b="1">
          <a:solidFill>
            <a:srgbClr val="000099"/>
          </a:solidFill>
          <a:latin typeface="+mn-lt"/>
          <a:ea typeface="楷体_GB2312"/>
          <a:cs typeface="楷体_GB2312"/>
        </a:defRPr>
      </a:lvl2pPr>
      <a:lvl3pPr marL="1143000" indent="-228600" algn="l" rtl="0" eaLnBrk="0" fontAlgn="base" hangingPunct="0">
        <a:spcBef>
          <a:spcPct val="20000"/>
        </a:spcBef>
        <a:spcAft>
          <a:spcPct val="0"/>
        </a:spcAft>
        <a:buChar char="•"/>
        <a:defRPr kumimoji="1" sz="2000" b="1">
          <a:solidFill>
            <a:srgbClr val="000099"/>
          </a:solidFill>
          <a:latin typeface="+mn-lt"/>
          <a:ea typeface="楷体_GB2312"/>
          <a:cs typeface="楷体_GB2312"/>
        </a:defRPr>
      </a:lvl3pPr>
      <a:lvl4pPr marL="1600200" indent="-228600" algn="l" rtl="0" eaLnBrk="0" fontAlgn="base" hangingPunct="0">
        <a:spcBef>
          <a:spcPct val="20000"/>
        </a:spcBef>
        <a:spcAft>
          <a:spcPct val="0"/>
        </a:spcAft>
        <a:buChar char="–"/>
        <a:defRPr kumimoji="1" b="1">
          <a:solidFill>
            <a:srgbClr val="000099"/>
          </a:solidFill>
          <a:latin typeface="+mn-lt"/>
          <a:ea typeface="楷体_GB2312"/>
          <a:cs typeface="楷体_GB2312"/>
        </a:defRPr>
      </a:lvl4pPr>
      <a:lvl5pPr marL="2057400" indent="-228600" algn="l" rtl="0" eaLnBrk="0" fontAlgn="base" hangingPunct="0">
        <a:spcBef>
          <a:spcPct val="20000"/>
        </a:spcBef>
        <a:spcAft>
          <a:spcPct val="0"/>
        </a:spcAft>
        <a:buChar char="»"/>
        <a:defRPr kumimoji="1" b="1">
          <a:solidFill>
            <a:srgbClr val="000099"/>
          </a:solidFill>
          <a:latin typeface="+mn-lt"/>
          <a:ea typeface="楷体_GB2312"/>
          <a:cs typeface="楷体_GB2312"/>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t="-39000" b="-39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01001-B58D-4742-9CFA-41515D63C199}" type="datetime1">
              <a:rPr lang="zh-CN" altLang="en-US" smtClean="0"/>
              <a:t>2026/9/22</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747158702"/>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t="-39000" b="-39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01001-B58D-4742-9CFA-41515D63C199}" type="datetime1">
              <a:rPr lang="zh-CN" altLang="en-US" smtClean="0"/>
              <a:t>2026/9/22</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1474579235"/>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t="-39000" b="-39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01001-B58D-4742-9CFA-41515D63C199}" type="datetime1">
              <a:rPr lang="zh-CN" altLang="en-US" smtClean="0"/>
              <a:t>2026/9/22</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040530459"/>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10.xml"/><Relationship Id="rId7" Type="http://schemas.openxmlformats.org/officeDocument/2006/relationships/slide" Target="slide14.xml"/><Relationship Id="rId2" Type="http://schemas.openxmlformats.org/officeDocument/2006/relationships/slide" Target="slide9.xml"/><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slide" Target="slide12.xml"/><Relationship Id="rId4" Type="http://schemas.openxmlformats.org/officeDocument/2006/relationships/slide" Target="slide11.xml"/><Relationship Id="rId9" Type="http://schemas.openxmlformats.org/officeDocument/2006/relationships/slide" Target="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slide" Target="slide19.xml"/><Relationship Id="rId1" Type="http://schemas.openxmlformats.org/officeDocument/2006/relationships/slideLayout" Target="../slideLayouts/slideLayout7.xml"/><Relationship Id="rId4" Type="http://schemas.openxmlformats.org/officeDocument/2006/relationships/slide" Target="slid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9.xml"/></Relationships>
</file>

<file path=ppt/slides/_rels/slide3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slide" Target="slide35.xml"/><Relationship Id="rId1" Type="http://schemas.openxmlformats.org/officeDocument/2006/relationships/slideLayout" Target="../slideLayouts/slideLayout7.xml"/><Relationship Id="rId6" Type="http://schemas.openxmlformats.org/officeDocument/2006/relationships/slide" Target="slide28.xml"/><Relationship Id="rId5" Type="http://schemas.openxmlformats.org/officeDocument/2006/relationships/slide" Target="slide46.xml"/><Relationship Id="rId4" Type="http://schemas.openxmlformats.org/officeDocument/2006/relationships/slide" Target="slide4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71.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1.xml"/></Relationships>
</file>

<file path=ppt/slides/_rels/slide7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audio" Target="../media/audio1.wav"/></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8.wmf"/></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3.xml"/></Relationships>
</file>

<file path=ppt/slides/_rels/slide8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10" name="Rectangle 6"/>
          <p:cNvSpPr>
            <a:spLocks noGrp="1" noChangeArrowheads="1"/>
          </p:cNvSpPr>
          <p:nvPr>
            <p:ph type="title"/>
          </p:nvPr>
        </p:nvSpPr>
        <p:spPr>
          <a:xfrm>
            <a:off x="1524000" y="561975"/>
            <a:ext cx="9144000" cy="1498600"/>
          </a:xfrm>
        </p:spPr>
        <p:txBody>
          <a:bodyPr/>
          <a:lstStyle/>
          <a:p>
            <a:pPr eaLnBrk="1" hangingPunct="1">
              <a:defRPr/>
            </a:pPr>
            <a:endParaRPr lang="en-US" altLang="zh-CN" sz="6000" dirty="0">
              <a:effectLst>
                <a:outerShdw blurRad="38100" dist="38100" dir="2700000" algn="tl">
                  <a:srgbClr val="C0C0C0"/>
                </a:outerShdw>
              </a:effectLst>
              <a:ea typeface="楷体_GB2312" pitchFamily="49" charset="-122"/>
            </a:endParaRPr>
          </a:p>
        </p:txBody>
      </p:sp>
      <p:sp>
        <p:nvSpPr>
          <p:cNvPr id="277507" name="Rectangle 3"/>
          <p:cNvSpPr>
            <a:spLocks noGrp="1" noChangeArrowheads="1"/>
          </p:cNvSpPr>
          <p:nvPr>
            <p:ph idx="1"/>
          </p:nvPr>
        </p:nvSpPr>
        <p:spPr>
          <a:xfrm>
            <a:off x="1774825" y="2708276"/>
            <a:ext cx="8642350" cy="1584325"/>
          </a:xfrm>
        </p:spPr>
        <p:txBody>
          <a:bodyPr>
            <a:normAutofit/>
          </a:bodyPr>
          <a:lstStyle/>
          <a:p>
            <a:pPr algn="ctr" eaLnBrk="1" hangingPunct="1">
              <a:spcBef>
                <a:spcPct val="0"/>
              </a:spcBef>
              <a:buFontTx/>
              <a:buNone/>
              <a:defRPr/>
            </a:pPr>
            <a:r>
              <a:rPr lang="zh-CN" altLang="en-US" sz="7200" dirty="0">
                <a:effectLst>
                  <a:outerShdw blurRad="38100" dist="38100" dir="2700000" algn="tl">
                    <a:srgbClr val="C0C0C0"/>
                  </a:outerShdw>
                </a:effectLst>
                <a:ea typeface="楷体_GB2312" pitchFamily="49" charset="-122"/>
                <a:cs typeface="+mn-cs"/>
              </a:rPr>
              <a:t>第</a:t>
            </a:r>
            <a:r>
              <a:rPr lang="en-US" altLang="zh-CN" sz="7200" dirty="0">
                <a:effectLst>
                  <a:outerShdw blurRad="38100" dist="38100" dir="2700000" algn="tl">
                    <a:srgbClr val="C0C0C0"/>
                  </a:outerShdw>
                </a:effectLst>
                <a:ea typeface="楷体_GB2312" pitchFamily="49" charset="-122"/>
                <a:cs typeface="+mn-cs"/>
              </a:rPr>
              <a:t>2</a:t>
            </a:r>
            <a:r>
              <a:rPr lang="zh-CN" altLang="en-US" sz="7200" dirty="0">
                <a:effectLst>
                  <a:outerShdw blurRad="38100" dist="38100" dir="2700000" algn="tl">
                    <a:srgbClr val="C0C0C0"/>
                  </a:outerShdw>
                </a:effectLst>
                <a:ea typeface="楷体_GB2312" pitchFamily="49" charset="-122"/>
                <a:cs typeface="+mn-cs"/>
              </a:rPr>
              <a:t>章 线性表</a:t>
            </a:r>
          </a:p>
        </p:txBody>
      </p:sp>
    </p:spTree>
  </p:cSld>
  <p:clrMapOvr>
    <a:masterClrMapping/>
  </p:clrMapOvr>
  <p:transition>
    <p:strips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title"/>
          </p:nvPr>
        </p:nvSpPr>
        <p:spPr/>
        <p:txBody>
          <a:bodyPr/>
          <a:lstStyle/>
          <a:p>
            <a:pPr eaLnBrk="1" hangingPunct="1"/>
            <a:r>
              <a:rPr lang="en-US" altLang="zh-CN"/>
              <a:t>outline</a:t>
            </a:r>
          </a:p>
        </p:txBody>
      </p:sp>
      <p:sp>
        <p:nvSpPr>
          <p:cNvPr id="19458" name="内容占位符 2"/>
          <p:cNvSpPr>
            <a:spLocks noGrp="1"/>
          </p:cNvSpPr>
          <p:nvPr>
            <p:ph idx="1"/>
          </p:nvPr>
        </p:nvSpPr>
        <p:spPr>
          <a:xfrm>
            <a:off x="479376" y="1690688"/>
            <a:ext cx="10874424" cy="4486275"/>
          </a:xfrm>
        </p:spPr>
        <p:txBody>
          <a:bodyPr>
            <a:normAutofit/>
          </a:bodyPr>
          <a:lstStyle/>
          <a:p>
            <a:pPr eaLnBrk="1" hangingPunct="1"/>
            <a:r>
              <a:rPr lang="zh-CN" altLang="en-US" sz="4000" dirty="0"/>
              <a:t>线性表的定义</a:t>
            </a:r>
            <a:endParaRPr lang="en-US" altLang="zh-CN" sz="4000" dirty="0"/>
          </a:p>
          <a:p>
            <a:pPr algn="l" eaLnBrk="1" hangingPunct="1">
              <a:lnSpc>
                <a:spcPct val="100000"/>
              </a:lnSpc>
              <a:buClrTx/>
              <a:buSzTx/>
              <a:buFontTx/>
            </a:pPr>
            <a:r>
              <a:rPr lang="zh-CN" altLang="en-US" sz="4000" dirty="0"/>
              <a:t>线性表的存储结构</a:t>
            </a:r>
          </a:p>
          <a:p>
            <a:pPr lvl="1" eaLnBrk="1" hangingPunct="1">
              <a:lnSpc>
                <a:spcPct val="90000"/>
              </a:lnSpc>
              <a:buClr>
                <a:srgbClr val="800080"/>
              </a:buClr>
              <a:buSzPct val="50000"/>
            </a:pPr>
            <a:r>
              <a:rPr lang="zh-CN" altLang="en-US" sz="3600" dirty="0">
                <a:latin typeface="仿宋_GB2312"/>
                <a:ea typeface="仿宋_GB2312"/>
                <a:cs typeface="仿宋_GB2312"/>
              </a:rPr>
              <a:t>顺序表 </a:t>
            </a:r>
            <a:endParaRPr lang="zh-CN" altLang="en-US" sz="3600" dirty="0">
              <a:latin typeface="仿宋_GB2312"/>
              <a:ea typeface="仿宋_GB2312"/>
              <a:cs typeface="仿宋_GB2312"/>
              <a:hlinkClick r:id="rId2" action="ppaction://hlinksldjump"/>
            </a:endParaRPr>
          </a:p>
          <a:p>
            <a:pPr lvl="1" eaLnBrk="1" hangingPunct="1">
              <a:lnSpc>
                <a:spcPct val="90000"/>
              </a:lnSpc>
              <a:buClr>
                <a:srgbClr val="800080"/>
              </a:buClr>
              <a:buSzPct val="50000"/>
            </a:pPr>
            <a:r>
              <a:rPr lang="zh-CN" altLang="en-US" sz="3600" dirty="0">
                <a:latin typeface="仿宋_GB2312"/>
                <a:ea typeface="仿宋_GB2312"/>
                <a:cs typeface="仿宋_GB2312"/>
              </a:rPr>
              <a:t>链式表</a:t>
            </a:r>
          </a:p>
          <a:p>
            <a:pPr lvl="2" eaLnBrk="1" hangingPunct="1">
              <a:lnSpc>
                <a:spcPct val="90000"/>
              </a:lnSpc>
              <a:buClr>
                <a:srgbClr val="800080"/>
              </a:buClr>
              <a:buSzPct val="50000"/>
            </a:pPr>
            <a:r>
              <a:rPr lang="zh-CN" altLang="en-US" sz="3200" dirty="0">
                <a:latin typeface="仿宋_GB2312"/>
                <a:ea typeface="仿宋_GB2312"/>
                <a:cs typeface="仿宋_GB2312"/>
              </a:rPr>
              <a:t>单链表</a:t>
            </a:r>
          </a:p>
          <a:p>
            <a:pPr lvl="2" eaLnBrk="1" hangingPunct="1">
              <a:lnSpc>
                <a:spcPct val="90000"/>
              </a:lnSpc>
              <a:buClr>
                <a:srgbClr val="800080"/>
              </a:buClr>
              <a:buSzPct val="50000"/>
            </a:pPr>
            <a:r>
              <a:rPr lang="zh-CN" altLang="en-US" sz="3200" dirty="0">
                <a:latin typeface="仿宋_GB2312"/>
                <a:ea typeface="仿宋_GB2312"/>
                <a:cs typeface="仿宋_GB2312"/>
              </a:rPr>
              <a:t>循环链表</a:t>
            </a:r>
          </a:p>
          <a:p>
            <a:pPr algn="l" eaLnBrk="1" hangingPunct="1">
              <a:lnSpc>
                <a:spcPct val="100000"/>
              </a:lnSpc>
              <a:buClrTx/>
              <a:buSzTx/>
              <a:buFontTx/>
            </a:pPr>
            <a:r>
              <a:rPr lang="zh-CN" altLang="en-US" sz="4000" dirty="0"/>
              <a:t>多项式表示和运算</a:t>
            </a:r>
          </a:p>
          <a:p>
            <a:pPr eaLnBrk="1" hangingPunct="1"/>
            <a:endParaRPr lang="zh-CN" altLang="en-US" sz="4000" dirty="0">
              <a:latin typeface="仿宋_GB2312"/>
              <a:ea typeface="仿宋_GB2312"/>
              <a:cs typeface="仿宋_GB2312"/>
            </a:endParaRPr>
          </a:p>
        </p:txBody>
      </p:sp>
    </p:spTree>
  </p:cSld>
  <p:clrMapOvr>
    <a:masterClrMapping/>
  </p:clrMapOvr>
  <p:transition>
    <p:strips dir="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Text Box 2">
            <a:hlinkClick r:id="" action="ppaction://hlinkshowjump?jump=nextslide"/>
          </p:cNvPr>
          <p:cNvSpPr txBox="1">
            <a:spLocks noChangeArrowheads="1"/>
          </p:cNvSpPr>
          <p:nvPr/>
        </p:nvSpPr>
        <p:spPr bwMode="auto">
          <a:xfrm>
            <a:off x="1524000" y="2095500"/>
            <a:ext cx="9144000" cy="768350"/>
          </a:xfrm>
          <a:prstGeom prst="rect">
            <a:avLst/>
          </a:prstGeom>
          <a:noFill/>
          <a:ln w="9525">
            <a:noFill/>
            <a:miter lim="800000"/>
          </a:ln>
          <a:effectLst/>
        </p:spPr>
        <p:txBody>
          <a:bodyPr>
            <a:spAutoFit/>
          </a:bodyPr>
          <a:lstStyle/>
          <a:p>
            <a:pPr algn="ctr">
              <a:defRPr/>
            </a:pPr>
            <a:r>
              <a:rPr lang="zh-CN" altLang="en-US" sz="4400" dirty="0">
                <a:solidFill>
                  <a:schemeClr val="hlink"/>
                </a:solidFill>
                <a:effectLst>
                  <a:outerShdw blurRad="38100" dist="38100" dir="2700000" algn="tl">
                    <a:srgbClr val="C0C0C0"/>
                  </a:outerShdw>
                </a:effectLst>
                <a:latin typeface="Times New Roman" panose="02020603050405020304" pitchFamily="18" charset="0"/>
                <a:ea typeface="楷体_GB2312" pitchFamily="49" charset="-122"/>
                <a:cs typeface="+mn-cs"/>
              </a:rPr>
              <a:t>线性表的类型定义</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01762"/>
                                        </p:tgtEl>
                                        <p:attrNameLst>
                                          <p:attrName>style.visibility</p:attrName>
                                        </p:attrNameLst>
                                      </p:cBhvr>
                                      <p:to>
                                        <p:strVal val="visible"/>
                                      </p:to>
                                    </p:set>
                                    <p:anim calcmode="lin" valueType="num">
                                      <p:cBhvr additive="base">
                                        <p:cTn id="7" dur="500" fill="hold"/>
                                        <p:tgtEl>
                                          <p:spTgt spid="501762"/>
                                        </p:tgtEl>
                                        <p:attrNameLst>
                                          <p:attrName>ppt_x</p:attrName>
                                        </p:attrNameLst>
                                      </p:cBhvr>
                                      <p:tavLst>
                                        <p:tav tm="0">
                                          <p:val>
                                            <p:strVal val="1+#ppt_w/2"/>
                                          </p:val>
                                        </p:tav>
                                        <p:tav tm="100000">
                                          <p:val>
                                            <p:strVal val="#ppt_x"/>
                                          </p:val>
                                        </p:tav>
                                      </p:tavLst>
                                    </p:anim>
                                    <p:anim calcmode="lin" valueType="num">
                                      <p:cBhvr additive="base">
                                        <p:cTn id="8" dur="500" fill="hold"/>
                                        <p:tgtEl>
                                          <p:spTgt spid="5017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62" grpId="0" bldLvl="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p:cNvSpPr>
          <p:nvPr>
            <p:ph type="title"/>
          </p:nvPr>
        </p:nvSpPr>
        <p:spPr/>
        <p:txBody>
          <a:bodyPr/>
          <a:lstStyle/>
          <a:p>
            <a:pPr eaLnBrk="1" hangingPunct="1"/>
            <a:r>
              <a:t>例子</a:t>
            </a:r>
          </a:p>
        </p:txBody>
      </p:sp>
      <p:sp>
        <p:nvSpPr>
          <p:cNvPr id="3" name="内容占位符 2"/>
          <p:cNvSpPr>
            <a:spLocks noGrp="1"/>
          </p:cNvSpPr>
          <p:nvPr>
            <p:ph idx="1"/>
          </p:nvPr>
        </p:nvSpPr>
        <p:spPr>
          <a:xfrm>
            <a:off x="838200" y="1484784"/>
            <a:ext cx="10515600" cy="4692179"/>
          </a:xfrm>
        </p:spPr>
        <p:txBody>
          <a:bodyPr>
            <a:noAutofit/>
          </a:bodyPr>
          <a:lstStyle/>
          <a:p>
            <a:pPr eaLnBrk="1" hangingPunct="1">
              <a:defRPr/>
            </a:pPr>
            <a:r>
              <a:rPr lang="en-US" altLang="zh-CN" sz="3600" dirty="0">
                <a:latin typeface="华文新魏" panose="02010800040101010101" pitchFamily="2" charset="-122"/>
                <a:ea typeface="华文新魏" panose="02010800040101010101" pitchFamily="2" charset="-122"/>
              </a:rPr>
              <a:t>26</a:t>
            </a:r>
            <a:r>
              <a:rPr lang="zh-CN" altLang="en-US" sz="3600" dirty="0">
                <a:latin typeface="华文新魏" panose="02010800040101010101" pitchFamily="2" charset="-122"/>
                <a:ea typeface="华文新魏" panose="02010800040101010101" pitchFamily="2" charset="-122"/>
              </a:rPr>
              <a:t>个英文字母组成的字母表： </a:t>
            </a:r>
            <a:r>
              <a:rPr lang="en-US" altLang="zh-CN" sz="3600" dirty="0">
                <a:latin typeface="华文新魏" panose="02010800040101010101" pitchFamily="2" charset="-122"/>
                <a:ea typeface="华文新魏" panose="02010800040101010101" pitchFamily="2" charset="-122"/>
              </a:rPr>
              <a:t>(A</a:t>
            </a:r>
            <a:r>
              <a:rPr lang="zh-CN" altLang="en-US"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B</a:t>
            </a:r>
            <a:r>
              <a:rPr lang="zh-CN" altLang="en-US"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C</a:t>
            </a:r>
            <a:r>
              <a:rPr lang="zh-CN" altLang="en-US"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a:t>
            </a:r>
            <a:r>
              <a:rPr lang="zh-CN" altLang="en-US"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Z</a:t>
            </a:r>
            <a:r>
              <a:rPr lang="zh-CN" altLang="en-US" sz="3600" dirty="0">
                <a:latin typeface="华文新魏" panose="02010800040101010101" pitchFamily="2" charset="-122"/>
                <a:ea typeface="华文新魏" panose="02010800040101010101" pitchFamily="2" charset="-122"/>
              </a:rPr>
              <a:t>）</a:t>
            </a:r>
            <a:endParaRPr lang="en-US" altLang="zh-CN" sz="3600" dirty="0">
              <a:latin typeface="华文新魏" panose="02010800040101010101" pitchFamily="2" charset="-122"/>
              <a:ea typeface="华文新魏" panose="02010800040101010101" pitchFamily="2" charset="-122"/>
            </a:endParaRPr>
          </a:p>
          <a:p>
            <a:pPr eaLnBrk="1" hangingPunct="1">
              <a:defRPr/>
            </a:pPr>
            <a:endParaRPr lang="en-US" altLang="zh-CN" sz="3600" dirty="0">
              <a:latin typeface="华文新魏" panose="02010800040101010101" pitchFamily="2" charset="-122"/>
              <a:ea typeface="华文新魏" panose="02010800040101010101" pitchFamily="2" charset="-122"/>
            </a:endParaRPr>
          </a:p>
          <a:p>
            <a:pPr marL="0" indent="0" eaLnBrk="1" hangingPunct="1">
              <a:lnSpc>
                <a:spcPct val="110000"/>
              </a:lnSpc>
              <a:defRPr/>
            </a:pPr>
            <a:r>
              <a:rPr lang="zh-CN" altLang="en-US" sz="3600" dirty="0">
                <a:latin typeface="华文新魏" panose="02010800040101010101" pitchFamily="2" charset="-122"/>
                <a:ea typeface="华文新魏" panose="02010800040101010101" pitchFamily="2" charset="-122"/>
              </a:rPr>
              <a:t>一副扑克的点数    </a:t>
            </a:r>
            <a:r>
              <a:rPr lang="en-US" altLang="zh-CN" sz="3600" dirty="0">
                <a:latin typeface="华文新魏" panose="02010800040101010101" pitchFamily="2" charset="-122"/>
                <a:ea typeface="华文新魏" panose="02010800040101010101" pitchFamily="2" charset="-122"/>
              </a:rPr>
              <a:t>(2</a:t>
            </a:r>
            <a:r>
              <a:rPr lang="zh-CN" altLang="en-US"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3</a:t>
            </a:r>
            <a:r>
              <a:rPr lang="zh-CN" altLang="en-US"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4</a:t>
            </a:r>
            <a:r>
              <a:rPr lang="zh-CN" altLang="en-US"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a:t>
            </a:r>
            <a:r>
              <a:rPr lang="zh-CN" altLang="en-US"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J</a:t>
            </a:r>
            <a:r>
              <a:rPr lang="zh-CN" altLang="en-US"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Q</a:t>
            </a:r>
            <a:r>
              <a:rPr lang="zh-CN" altLang="en-US"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 K</a:t>
            </a:r>
            <a:r>
              <a:rPr lang="zh-CN" altLang="en-US" sz="3600" dirty="0">
                <a:latin typeface="华文新魏" panose="02010800040101010101" pitchFamily="2" charset="-122"/>
                <a:ea typeface="华文新魏" panose="02010800040101010101" pitchFamily="2" charset="-122"/>
              </a:rPr>
              <a:t>，</a:t>
            </a:r>
            <a:r>
              <a:rPr lang="en-US" altLang="zh-CN" sz="3600" dirty="0">
                <a:latin typeface="华文新魏" panose="02010800040101010101" pitchFamily="2" charset="-122"/>
                <a:ea typeface="华文新魏" panose="02010800040101010101" pitchFamily="2" charset="-122"/>
              </a:rPr>
              <a:t>A)</a:t>
            </a:r>
          </a:p>
          <a:p>
            <a:pPr marL="0" indent="0" eaLnBrk="1" hangingPunct="1">
              <a:lnSpc>
                <a:spcPct val="110000"/>
              </a:lnSpc>
              <a:defRPr/>
            </a:pPr>
            <a:endParaRPr lang="en-US" altLang="zh-CN" sz="3600" dirty="0">
              <a:latin typeface="华文新魏" panose="02010800040101010101" pitchFamily="2" charset="-122"/>
              <a:ea typeface="华文新魏" panose="02010800040101010101" pitchFamily="2" charset="-122"/>
            </a:endParaRPr>
          </a:p>
          <a:p>
            <a:pPr marL="0" indent="0" eaLnBrk="1" hangingPunct="1">
              <a:lnSpc>
                <a:spcPct val="110000"/>
              </a:lnSpc>
              <a:defRPr/>
            </a:pPr>
            <a:r>
              <a:rPr lang="zh-CN" altLang="en-US" sz="3600" dirty="0">
                <a:latin typeface="华文新魏" panose="02010800040101010101" pitchFamily="2" charset="-122"/>
                <a:ea typeface="华文新魏" panose="02010800040101010101" pitchFamily="2" charset="-122"/>
              </a:rPr>
              <a:t>某校</a:t>
            </a:r>
            <a:r>
              <a:rPr lang="en-US" altLang="zh-CN" sz="3600" dirty="0">
                <a:latin typeface="华文新魏" panose="02010800040101010101" pitchFamily="2" charset="-122"/>
                <a:ea typeface="华文新魏" panose="02010800040101010101" pitchFamily="2" charset="-122"/>
              </a:rPr>
              <a:t>2025</a:t>
            </a:r>
            <a:r>
              <a:rPr lang="zh-CN" altLang="en-US" sz="3600" dirty="0">
                <a:latin typeface="华文新魏" panose="02010800040101010101" pitchFamily="2" charset="-122"/>
                <a:ea typeface="华文新魏" panose="02010800040101010101" pitchFamily="2" charset="-122"/>
              </a:rPr>
              <a:t>级同学的基本情况：</a:t>
            </a:r>
            <a:endParaRPr lang="en-US" altLang="zh-CN" sz="3600" dirty="0">
              <a:latin typeface="华文新魏" panose="02010800040101010101" pitchFamily="2" charset="-122"/>
              <a:ea typeface="华文新魏" panose="02010800040101010101" pitchFamily="2" charset="-122"/>
            </a:endParaRPr>
          </a:p>
          <a:p>
            <a:pPr marL="0" indent="0" eaLnBrk="1" hangingPunct="1">
              <a:lnSpc>
                <a:spcPct val="110000"/>
              </a:lnSpc>
              <a:buNone/>
              <a:defRPr/>
            </a:pPr>
            <a:r>
              <a:rPr lang="en-US" altLang="zh-CN" dirty="0">
                <a:latin typeface="华文新魏" panose="02010800040101010101" pitchFamily="2" charset="-122"/>
                <a:ea typeface="华文新魏" panose="02010800040101010101" pitchFamily="2" charset="-122"/>
              </a:rPr>
              <a:t>{(‘2025414101’</a:t>
            </a:r>
            <a:r>
              <a:rPr lang="zh-CN" altLang="en-US" dirty="0">
                <a:latin typeface="华文新魏" panose="02010800040101010101" pitchFamily="2" charset="-122"/>
                <a:ea typeface="华文新魏" panose="02010800040101010101" pitchFamily="2" charset="-122"/>
              </a:rPr>
              <a:t>，‘张里户’，‘男’，</a:t>
            </a:r>
            <a:r>
              <a:rPr lang="en-US" altLang="zh-CN" dirty="0">
                <a:latin typeface="华文新魏" panose="02010800040101010101" pitchFamily="2" charset="-122"/>
                <a:ea typeface="华文新魏" panose="02010800040101010101" pitchFamily="2" charset="-122"/>
              </a:rPr>
              <a:t>06/24/2008)</a:t>
            </a:r>
            <a:r>
              <a:rPr lang="zh-CN" altLang="en-US" dirty="0">
                <a:latin typeface="华文新魏" panose="02010800040101010101" pitchFamily="2" charset="-122"/>
                <a:ea typeface="华文新魏" panose="02010800040101010101" pitchFamily="2" charset="-122"/>
              </a:rPr>
              <a:t>，</a:t>
            </a:r>
            <a:endParaRPr lang="en-US" altLang="zh-CN" dirty="0">
              <a:latin typeface="华文新魏" panose="02010800040101010101" pitchFamily="2" charset="-122"/>
              <a:ea typeface="华文新魏" panose="02010800040101010101" pitchFamily="2" charset="-122"/>
            </a:endParaRPr>
          </a:p>
          <a:p>
            <a:pPr marL="0" indent="0" eaLnBrk="1" hangingPunct="1">
              <a:lnSpc>
                <a:spcPct val="110000"/>
              </a:lnSpc>
              <a:buNone/>
              <a:defRPr/>
            </a:pP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(‘2025414102’</a:t>
            </a:r>
            <a:r>
              <a:rPr lang="zh-CN" altLang="en-US" dirty="0">
                <a:latin typeface="华文新魏" panose="02010800040101010101" pitchFamily="2" charset="-122"/>
                <a:ea typeface="华文新魏" panose="02010800040101010101" pitchFamily="2" charset="-122"/>
              </a:rPr>
              <a:t>，‘张化司’，‘男’，</a:t>
            </a:r>
            <a:r>
              <a:rPr lang="en-US" altLang="zh-CN" dirty="0">
                <a:latin typeface="华文新魏" panose="02010800040101010101" pitchFamily="2" charset="-122"/>
                <a:ea typeface="华文新魏" panose="02010800040101010101" pitchFamily="2" charset="-122"/>
              </a:rPr>
              <a:t>08/12/2008) …</a:t>
            </a:r>
            <a:r>
              <a:rPr lang="zh-CN" altLang="en-US" dirty="0">
                <a:latin typeface="华文新魏" panose="02010800040101010101" pitchFamily="2" charset="-122"/>
                <a:ea typeface="华文新魏" panose="02010800040101010101" pitchFamily="2" charset="-122"/>
              </a:rPr>
              <a:t>，</a:t>
            </a:r>
            <a:endParaRPr lang="en-US" altLang="zh-CN" dirty="0">
              <a:latin typeface="华文新魏" panose="02010800040101010101" pitchFamily="2" charset="-122"/>
              <a:ea typeface="华文新魏" panose="02010800040101010101" pitchFamily="2" charset="-122"/>
            </a:endParaRPr>
          </a:p>
          <a:p>
            <a:pPr marL="0" indent="0" eaLnBrk="1" hangingPunct="1">
              <a:lnSpc>
                <a:spcPct val="110000"/>
              </a:lnSpc>
              <a:buNone/>
              <a:defRPr/>
            </a:pP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(‘2025414103’</a:t>
            </a:r>
            <a:r>
              <a:rPr lang="zh-CN" altLang="en-US" dirty="0">
                <a:latin typeface="华文新魏" panose="02010800040101010101" pitchFamily="2" charset="-122"/>
                <a:ea typeface="华文新魏" panose="02010800040101010101" pitchFamily="2" charset="-122"/>
              </a:rPr>
              <a:t>，‘李利辣’，‘女’，</a:t>
            </a:r>
            <a:r>
              <a:rPr lang="en-US" altLang="zh-CN" dirty="0">
                <a:latin typeface="华文新魏" panose="02010800040101010101" pitchFamily="2" charset="-122"/>
                <a:ea typeface="华文新魏" panose="02010800040101010101" pitchFamily="2" charset="-122"/>
              </a:rPr>
              <a:t>01/29/2008) }</a:t>
            </a:r>
          </a:p>
          <a:p>
            <a:pPr marL="0" indent="0" eaLnBrk="1" hangingPunct="1">
              <a:lnSpc>
                <a:spcPct val="110000"/>
              </a:lnSpc>
              <a:buNone/>
              <a:defRPr/>
            </a:pPr>
            <a:endParaRPr lang="en-US" altLang="zh-CN" sz="3600" dirty="0">
              <a:latin typeface="华文新魏" panose="02010800040101010101" pitchFamily="2" charset="-122"/>
              <a:ea typeface="华文新魏" panose="0201080004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2000"/>
                                        <p:tgtEl>
                                          <p:spTgt spid="3">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2000"/>
                                        <p:tgtEl>
                                          <p:spTgt spid="3">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ChangeArrowheads="1"/>
          </p:cNvSpPr>
          <p:nvPr/>
        </p:nvSpPr>
        <p:spPr bwMode="auto">
          <a:xfrm>
            <a:off x="191344" y="115888"/>
            <a:ext cx="12000656" cy="7639014"/>
          </a:xfrm>
          <a:prstGeom prst="rect">
            <a:avLst/>
          </a:prstGeom>
          <a:noFill/>
          <a:ln w="9525">
            <a:noFill/>
            <a:miter lim="800000"/>
          </a:ln>
          <a:effectLst/>
        </p:spPr>
        <p:txBody>
          <a:bodyPr wrap="square">
            <a:spAutoFit/>
          </a:bodyPr>
          <a:lstStyle/>
          <a:p>
            <a:pPr lvl="1">
              <a:defRPr/>
            </a:pPr>
            <a:r>
              <a:rPr lang="en-US" altLang="zh-CN" sz="4400" dirty="0">
                <a:effectLst>
                  <a:outerShdw blurRad="38100" dist="38100" dir="2700000" algn="tl">
                    <a:srgbClr val="C0C0C0"/>
                  </a:outerShdw>
                </a:effectLst>
                <a:latin typeface="Times New Roman" panose="02020603050405020304" pitchFamily="18" charset="0"/>
                <a:ea typeface="楷体_GB2312" pitchFamily="49" charset="-122"/>
                <a:cs typeface="+mn-cs"/>
              </a:rPr>
              <a:t>1. </a:t>
            </a:r>
            <a:r>
              <a:rPr lang="zh-CN" altLang="en-US" sz="4400" dirty="0">
                <a:effectLst>
                  <a:outerShdw blurRad="38100" dist="38100" dir="2700000" algn="tl">
                    <a:srgbClr val="C0C0C0"/>
                  </a:outerShdw>
                </a:effectLst>
                <a:latin typeface="Times New Roman" panose="02020603050405020304" pitchFamily="18" charset="0"/>
                <a:ea typeface="楷体_GB2312" pitchFamily="49" charset="-122"/>
                <a:cs typeface="+mn-cs"/>
              </a:rPr>
              <a:t>线性表的定义</a:t>
            </a:r>
            <a:r>
              <a:rPr lang="zh-CN" altLang="en-US" dirty="0">
                <a:solidFill>
                  <a:srgbClr val="FF3300"/>
                </a:solidFill>
                <a:effectLst>
                  <a:outerShdw blurRad="38100" dist="38100" dir="2700000" algn="tl">
                    <a:srgbClr val="C0C0C0"/>
                  </a:outerShdw>
                </a:effectLst>
                <a:latin typeface="Times New Roman" panose="02020603050405020304" pitchFamily="18" charset="0"/>
                <a:cs typeface="+mn-cs"/>
              </a:rPr>
              <a:t> </a:t>
            </a:r>
          </a:p>
          <a:p>
            <a:pPr lvl="1">
              <a:defRPr/>
            </a:pPr>
            <a:r>
              <a:rPr lang="en-US" altLang="zh-CN" i="1" dirty="0">
                <a:solidFill>
                  <a:srgbClr val="008080"/>
                </a:solidFill>
                <a:effectLst>
                  <a:outerShdw blurRad="38100" dist="38100" dir="2700000" algn="tl">
                    <a:srgbClr val="C0C0C0"/>
                  </a:outerShdw>
                </a:effectLst>
                <a:latin typeface="Times New Roman" panose="02020603050405020304" pitchFamily="18" charset="0"/>
                <a:cs typeface="+mn-cs"/>
              </a:rPr>
              <a:t>n</a:t>
            </a:r>
            <a:r>
              <a:rPr lang="zh-CN" altLang="en-US" dirty="0">
                <a:solidFill>
                  <a:srgbClr val="008080"/>
                </a:solidFill>
                <a:effectLst>
                  <a:outerShdw blurRad="38100" dist="38100" dir="2700000" algn="tl">
                    <a:srgbClr val="C0C0C0"/>
                  </a:outerShdw>
                </a:effectLst>
                <a:latin typeface="Times New Roman" panose="02020603050405020304" pitchFamily="18" charset="0"/>
                <a:cs typeface="+mn-cs"/>
              </a:rPr>
              <a:t>（</a:t>
            </a:r>
            <a:r>
              <a:rPr lang="en-US" altLang="zh-CN" dirty="0">
                <a:solidFill>
                  <a:srgbClr val="008080"/>
                </a:solidFill>
                <a:effectLst>
                  <a:outerShdw blurRad="38100" dist="38100" dir="2700000" algn="tl">
                    <a:srgbClr val="C0C0C0"/>
                  </a:outerShdw>
                </a:effectLst>
                <a:latin typeface="Times New Roman" panose="02020603050405020304" pitchFamily="18" charset="0"/>
                <a:cs typeface="+mn-cs"/>
              </a:rPr>
              <a:t>n</a:t>
            </a:r>
            <a:r>
              <a:rPr lang="zh-CN" altLang="en-US" dirty="0">
                <a:solidFill>
                  <a:srgbClr val="008080"/>
                </a:solidFill>
                <a:effectLst>
                  <a:outerShdw blurRad="38100" dist="38100" dir="2700000" algn="tl">
                    <a:srgbClr val="C0C0C0"/>
                  </a:outerShdw>
                </a:effectLst>
                <a:latin typeface="Times New Roman" panose="02020603050405020304" pitchFamily="18" charset="0"/>
                <a:cs typeface="+mn-cs"/>
              </a:rPr>
              <a:t> </a:t>
            </a:r>
            <a:r>
              <a:rPr lang="zh-CN" altLang="en-US" dirty="0">
                <a:solidFill>
                  <a:srgbClr val="008080"/>
                </a:solidFill>
                <a:effectLst>
                  <a:outerShdw blurRad="38100" dist="38100" dir="2700000" algn="tl">
                    <a:srgbClr val="C0C0C0"/>
                  </a:outerShdw>
                </a:effectLst>
                <a:latin typeface="Times New Roman" panose="02020603050405020304" pitchFamily="18" charset="0"/>
                <a:cs typeface="+mn-cs"/>
                <a:sym typeface="Symbol" panose="05050102010706020507" pitchFamily="18" charset="2"/>
              </a:rPr>
              <a:t> </a:t>
            </a:r>
            <a:r>
              <a:rPr lang="en-US" altLang="zh-CN" dirty="0">
                <a:solidFill>
                  <a:srgbClr val="008080"/>
                </a:solidFill>
                <a:effectLst>
                  <a:outerShdw blurRad="38100" dist="38100" dir="2700000" algn="tl">
                    <a:srgbClr val="C0C0C0"/>
                  </a:outerShdw>
                </a:effectLst>
                <a:latin typeface="Times New Roman" panose="02020603050405020304" pitchFamily="18" charset="0"/>
                <a:cs typeface="+mn-cs"/>
                <a:sym typeface="Symbol" panose="05050102010706020507" pitchFamily="18" charset="2"/>
              </a:rPr>
              <a:t>0</a:t>
            </a:r>
            <a:r>
              <a:rPr lang="zh-CN" altLang="en-US" dirty="0">
                <a:solidFill>
                  <a:srgbClr val="008080"/>
                </a:solidFill>
                <a:effectLst>
                  <a:outerShdw blurRad="38100" dist="38100" dir="2700000" algn="tl">
                    <a:srgbClr val="C0C0C0"/>
                  </a:outerShdw>
                </a:effectLst>
                <a:latin typeface="Times New Roman" panose="02020603050405020304" pitchFamily="18" charset="0"/>
                <a:cs typeface="+mn-cs"/>
                <a:sym typeface="Symbol" panose="05050102010706020507" pitchFamily="18" charset="2"/>
              </a:rPr>
              <a:t>）</a:t>
            </a:r>
            <a:r>
              <a:rPr lang="zh-CN" altLang="en-US" dirty="0">
                <a:solidFill>
                  <a:srgbClr val="008080"/>
                </a:solidFill>
                <a:effectLst>
                  <a:outerShdw blurRad="38100" dist="38100" dir="2700000" algn="tl">
                    <a:srgbClr val="C0C0C0"/>
                  </a:outerShdw>
                </a:effectLst>
                <a:latin typeface="Times New Roman" panose="02020603050405020304" pitchFamily="18" charset="0"/>
                <a:cs typeface="+mn-cs"/>
              </a:rPr>
              <a:t>个数据元素的有限序列，记作</a:t>
            </a:r>
            <a:r>
              <a:rPr lang="en-US" altLang="zh-CN" dirty="0">
                <a:solidFill>
                  <a:srgbClr val="008080"/>
                </a:solidFill>
                <a:effectLst>
                  <a:outerShdw blurRad="38100" dist="38100" dir="2700000" algn="tl">
                    <a:srgbClr val="C0C0C0"/>
                  </a:outerShdw>
                </a:effectLst>
                <a:latin typeface="Times New Roman" panose="02020603050405020304" pitchFamily="18" charset="0"/>
                <a:cs typeface="+mn-cs"/>
              </a:rPr>
              <a:t>:</a:t>
            </a:r>
            <a:r>
              <a:rPr lang="zh-CN" altLang="en-US" dirty="0">
                <a:solidFill>
                  <a:srgbClr val="CC0000"/>
                </a:solidFill>
                <a:effectLst>
                  <a:outerShdw blurRad="38100" dist="38100" dir="2700000" algn="tl">
                    <a:srgbClr val="C0C0C0"/>
                  </a:outerShdw>
                </a:effectLst>
                <a:latin typeface="Times New Roman" panose="02020603050405020304" pitchFamily="18" charset="0"/>
                <a:cs typeface="+mn-cs"/>
              </a:rPr>
              <a:t>（</a:t>
            </a:r>
            <a:r>
              <a:rPr lang="en-US" altLang="zh-CN" i="1" dirty="0">
                <a:solidFill>
                  <a:srgbClr val="CC0000"/>
                </a:solidFill>
                <a:effectLst>
                  <a:outerShdw blurRad="38100" dist="38100" dir="2700000" algn="tl">
                    <a:srgbClr val="C0C0C0"/>
                  </a:outerShdw>
                </a:effectLst>
                <a:latin typeface="Times New Roman" panose="02020603050405020304" pitchFamily="18" charset="0"/>
                <a:cs typeface="+mn-cs"/>
              </a:rPr>
              <a:t>a</a:t>
            </a:r>
            <a:r>
              <a:rPr lang="en-US" altLang="zh-CN" baseline="-25000" dirty="0">
                <a:solidFill>
                  <a:srgbClr val="CC0000"/>
                </a:solidFill>
                <a:effectLst>
                  <a:outerShdw blurRad="38100" dist="38100" dir="2700000" algn="tl">
                    <a:srgbClr val="C0C0C0"/>
                  </a:outerShdw>
                </a:effectLst>
                <a:latin typeface="Times New Roman" panose="02020603050405020304" pitchFamily="18" charset="0"/>
                <a:cs typeface="+mn-cs"/>
              </a:rPr>
              <a:t>1</a:t>
            </a:r>
            <a:r>
              <a:rPr lang="en-US" altLang="zh-CN" dirty="0">
                <a:solidFill>
                  <a:srgbClr val="CC0000"/>
                </a:solidFill>
                <a:latin typeface="Times New Roman" panose="02020603050405020304" pitchFamily="18" charset="0"/>
                <a:cs typeface="+mn-cs"/>
              </a:rPr>
              <a:t>, </a:t>
            </a:r>
            <a:r>
              <a:rPr lang="en-US" altLang="zh-CN" i="1" dirty="0">
                <a:solidFill>
                  <a:srgbClr val="CC0000"/>
                </a:solidFill>
                <a:effectLst>
                  <a:outerShdw blurRad="38100" dist="38100" dir="2700000" algn="tl">
                    <a:srgbClr val="C0C0C0"/>
                  </a:outerShdw>
                </a:effectLst>
                <a:latin typeface="Times New Roman" panose="02020603050405020304" pitchFamily="18" charset="0"/>
                <a:cs typeface="+mn-cs"/>
              </a:rPr>
              <a:t>a</a:t>
            </a:r>
            <a:r>
              <a:rPr lang="en-US" altLang="zh-CN" baseline="-25000" dirty="0">
                <a:solidFill>
                  <a:srgbClr val="CC0000"/>
                </a:solidFill>
                <a:effectLst>
                  <a:outerShdw blurRad="38100" dist="38100" dir="2700000" algn="tl">
                    <a:srgbClr val="C0C0C0"/>
                  </a:outerShdw>
                </a:effectLst>
                <a:latin typeface="Times New Roman" panose="02020603050405020304" pitchFamily="18" charset="0"/>
                <a:cs typeface="+mn-cs"/>
              </a:rPr>
              <a:t>2</a:t>
            </a:r>
            <a:r>
              <a:rPr lang="en-US" altLang="zh-CN" dirty="0">
                <a:solidFill>
                  <a:srgbClr val="CC0000"/>
                </a:solidFill>
                <a:latin typeface="Times New Roman" panose="02020603050405020304" pitchFamily="18" charset="0"/>
                <a:cs typeface="+mn-cs"/>
              </a:rPr>
              <a:t>, </a:t>
            </a:r>
            <a:r>
              <a:rPr lang="en-US" altLang="zh-CN" dirty="0">
                <a:solidFill>
                  <a:srgbClr val="CC0000"/>
                </a:solidFill>
                <a:latin typeface="Arial" panose="020B0604020202020204"/>
                <a:cs typeface="+mn-cs"/>
              </a:rPr>
              <a:t>…</a:t>
            </a:r>
            <a:r>
              <a:rPr lang="en-US" altLang="zh-CN" dirty="0">
                <a:solidFill>
                  <a:srgbClr val="CC0000"/>
                </a:solidFill>
                <a:latin typeface="Times New Roman" panose="02020603050405020304" pitchFamily="18" charset="0"/>
                <a:cs typeface="+mn-cs"/>
              </a:rPr>
              <a:t>, </a:t>
            </a:r>
            <a:r>
              <a:rPr lang="en-US" altLang="zh-CN" i="1" dirty="0">
                <a:solidFill>
                  <a:srgbClr val="CC0000"/>
                </a:solidFill>
                <a:effectLst>
                  <a:outerShdw blurRad="38100" dist="38100" dir="2700000" algn="tl">
                    <a:srgbClr val="C0C0C0"/>
                  </a:outerShdw>
                </a:effectLst>
                <a:latin typeface="Times New Roman" panose="02020603050405020304" pitchFamily="18" charset="0"/>
                <a:cs typeface="+mn-cs"/>
              </a:rPr>
              <a:t>a</a:t>
            </a:r>
            <a:r>
              <a:rPr lang="en-US" altLang="zh-CN" i="1" baseline="-25000" dirty="0">
                <a:solidFill>
                  <a:srgbClr val="CC0000"/>
                </a:solidFill>
                <a:effectLst>
                  <a:outerShdw blurRad="38100" dist="38100" dir="2700000" algn="tl">
                    <a:srgbClr val="C0C0C0"/>
                  </a:outerShdw>
                </a:effectLst>
                <a:latin typeface="Times New Roman" panose="02020603050405020304" pitchFamily="18" charset="0"/>
                <a:cs typeface="+mn-cs"/>
              </a:rPr>
              <a:t>n</a:t>
            </a:r>
            <a:r>
              <a:rPr lang="zh-CN" altLang="en-US" dirty="0">
                <a:solidFill>
                  <a:srgbClr val="CC0000"/>
                </a:solidFill>
                <a:effectLst>
                  <a:outerShdw blurRad="38100" dist="38100" dir="2700000" algn="tl">
                    <a:srgbClr val="C0C0C0"/>
                  </a:outerShdw>
                </a:effectLst>
                <a:latin typeface="Times New Roman" panose="02020603050405020304" pitchFamily="18" charset="0"/>
                <a:cs typeface="+mn-cs"/>
              </a:rPr>
              <a:t>）</a:t>
            </a:r>
            <a:endParaRPr lang="en-US" altLang="zh-CN" dirty="0">
              <a:solidFill>
                <a:srgbClr val="CC0000"/>
              </a:solidFill>
              <a:effectLst>
                <a:outerShdw blurRad="38100" dist="38100" dir="2700000" algn="tl">
                  <a:srgbClr val="C0C0C0"/>
                </a:outerShdw>
              </a:effectLst>
              <a:latin typeface="Times New Roman" panose="02020603050405020304" pitchFamily="18" charset="0"/>
              <a:cs typeface="+mn-cs"/>
            </a:endParaRPr>
          </a:p>
          <a:p>
            <a:pPr lvl="1">
              <a:defRPr/>
            </a:pPr>
            <a:r>
              <a:rPr lang="zh-CN" altLang="en-US" dirty="0">
                <a:solidFill>
                  <a:srgbClr val="008080"/>
                </a:solidFill>
                <a:effectLst>
                  <a:outerShdw blurRad="38100" dist="38100" dir="2700000" algn="tl">
                    <a:srgbClr val="C0C0C0"/>
                  </a:outerShdw>
                </a:effectLst>
                <a:latin typeface="Times New Roman" panose="02020603050405020304" pitchFamily="18" charset="0"/>
                <a:cs typeface="+mn-cs"/>
              </a:rPr>
              <a:t>该序列中的所有结点具有相同的数据类型。</a:t>
            </a:r>
            <a:endParaRPr lang="en-US" altLang="zh-CN" dirty="0">
              <a:solidFill>
                <a:srgbClr val="008080"/>
              </a:solidFill>
              <a:effectLst>
                <a:outerShdw blurRad="38100" dist="38100" dir="2700000" algn="tl">
                  <a:srgbClr val="C0C0C0"/>
                </a:outerShdw>
              </a:effectLst>
              <a:latin typeface="Times New Roman" panose="02020603050405020304" pitchFamily="18" charset="0"/>
              <a:cs typeface="+mn-cs"/>
            </a:endParaRPr>
          </a:p>
          <a:p>
            <a:pPr lvl="1">
              <a:lnSpc>
                <a:spcPct val="120000"/>
              </a:lnSpc>
              <a:buFont typeface="Wingdings" panose="05000000000000000000" pitchFamily="2" charset="2"/>
              <a:buChar char="l"/>
              <a:defRPr/>
            </a:pPr>
            <a:r>
              <a:rPr lang="en-US" altLang="zh-CN" i="1" dirty="0">
                <a:solidFill>
                  <a:srgbClr val="FF3300"/>
                </a:solidFill>
                <a:effectLst>
                  <a:outerShdw blurRad="38100" dist="38100" dir="2700000" algn="tl">
                    <a:srgbClr val="C0C0C0"/>
                  </a:outerShdw>
                </a:effectLst>
                <a:latin typeface="Times New Roman" panose="02020603050405020304" pitchFamily="18" charset="0"/>
                <a:cs typeface="+mn-cs"/>
              </a:rPr>
              <a:t>a</a:t>
            </a:r>
            <a:r>
              <a:rPr lang="en-US" altLang="zh-CN" i="1" baseline="-25000" dirty="0">
                <a:solidFill>
                  <a:srgbClr val="FF3300"/>
                </a:solidFill>
                <a:effectLst>
                  <a:outerShdw blurRad="38100" dist="38100" dir="2700000" algn="tl">
                    <a:srgbClr val="C0C0C0"/>
                  </a:outerShdw>
                </a:effectLst>
                <a:latin typeface="Times New Roman" panose="02020603050405020304" pitchFamily="18" charset="0"/>
                <a:cs typeface="+mn-cs"/>
              </a:rPr>
              <a:t>i</a:t>
            </a:r>
            <a:r>
              <a:rPr lang="en-US" altLang="zh-CN" i="1" dirty="0">
                <a:solidFill>
                  <a:srgbClr val="FF3300"/>
                </a:solidFill>
                <a:effectLst>
                  <a:outerShdw blurRad="38100" dist="38100" dir="2700000" algn="tl">
                    <a:srgbClr val="C0C0C0"/>
                  </a:outerShdw>
                </a:effectLst>
                <a:latin typeface="Times New Roman" panose="02020603050405020304" pitchFamily="18" charset="0"/>
                <a:cs typeface="+mn-cs"/>
              </a:rPr>
              <a:t> </a:t>
            </a:r>
            <a:r>
              <a:rPr lang="zh-CN" altLang="zh-CN" dirty="0">
                <a:solidFill>
                  <a:schemeClr val="tx1"/>
                </a:solidFill>
                <a:effectLst>
                  <a:outerShdw blurRad="38100" dist="38100" dir="2700000" algn="tl">
                    <a:srgbClr val="C0C0C0"/>
                  </a:outerShdw>
                </a:effectLst>
                <a:latin typeface="Times New Roman" panose="02020603050405020304" pitchFamily="18" charset="0"/>
                <a:cs typeface="+mn-cs"/>
              </a:rPr>
              <a:t>是</a:t>
            </a: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线性</a:t>
            </a:r>
            <a:r>
              <a:rPr lang="zh-CN" altLang="zh-CN" dirty="0">
                <a:solidFill>
                  <a:schemeClr val="tx1"/>
                </a:solidFill>
                <a:effectLst>
                  <a:outerShdw blurRad="38100" dist="38100" dir="2700000" algn="tl">
                    <a:srgbClr val="C0C0C0"/>
                  </a:outerShdw>
                </a:effectLst>
                <a:latin typeface="Times New Roman" panose="02020603050405020304" pitchFamily="18" charset="0"/>
                <a:cs typeface="+mn-cs"/>
              </a:rPr>
              <a:t>表中数据元素</a:t>
            </a:r>
            <a:r>
              <a:rPr lang="en-US" altLang="zh-CN" dirty="0">
                <a:solidFill>
                  <a:schemeClr val="tx1"/>
                </a:solidFill>
                <a:effectLst>
                  <a:outerShdw blurRad="38100" dist="38100" dir="2700000" algn="tl">
                    <a:srgbClr val="C0C0C0"/>
                  </a:outerShdw>
                </a:effectLst>
                <a:latin typeface="Times New Roman" panose="02020603050405020304" pitchFamily="18" charset="0"/>
                <a:cs typeface="+mn-cs"/>
              </a:rPr>
              <a:t>,</a:t>
            </a:r>
          </a:p>
          <a:p>
            <a:pPr lvl="2">
              <a:lnSpc>
                <a:spcPct val="120000"/>
              </a:lnSpc>
              <a:buFont typeface="Wingdings" panose="05000000000000000000" pitchFamily="2" charset="2"/>
              <a:buChar char="l"/>
              <a:defRPr/>
            </a:pPr>
            <a:r>
              <a:rPr lang="en-US" altLang="zh-CN" sz="3200" i="1" dirty="0" err="1">
                <a:solidFill>
                  <a:srgbClr val="FF3300"/>
                </a:solidFill>
                <a:effectLst>
                  <a:outerShdw blurRad="38100" dist="38100" dir="2700000" algn="tl">
                    <a:srgbClr val="C0C0C0"/>
                  </a:outerShdw>
                </a:effectLst>
                <a:latin typeface="Times New Roman" panose="02020603050405020304" pitchFamily="18" charset="0"/>
                <a:ea typeface="楷体_GB2312" pitchFamily="49" charset="-122"/>
                <a:cs typeface="+mn-cs"/>
              </a:rPr>
              <a:t>a</a:t>
            </a:r>
            <a:r>
              <a:rPr lang="en-US" altLang="zh-CN" sz="3200" i="1" baseline="-25000" dirty="0" err="1">
                <a:solidFill>
                  <a:srgbClr val="FF3300"/>
                </a:solidFill>
                <a:effectLst>
                  <a:outerShdw blurRad="38100" dist="38100" dir="2700000" algn="tl">
                    <a:srgbClr val="C0C0C0"/>
                  </a:outerShdw>
                </a:effectLst>
                <a:latin typeface="Times New Roman" panose="02020603050405020304" pitchFamily="18" charset="0"/>
                <a:ea typeface="楷体_GB2312" pitchFamily="49" charset="-122"/>
                <a:cs typeface="+mn-cs"/>
              </a:rPr>
              <a:t>i</a:t>
            </a: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称为</a:t>
            </a:r>
            <a:r>
              <a:rPr lang="en-US" altLang="zh-CN" i="1" dirty="0">
                <a:solidFill>
                  <a:srgbClr val="FF3300"/>
                </a:solidFill>
                <a:effectLst>
                  <a:outerShdw blurRad="38100" dist="38100" dir="2700000" algn="tl">
                    <a:srgbClr val="C0C0C0"/>
                  </a:outerShdw>
                </a:effectLst>
                <a:latin typeface="Times New Roman" panose="02020603050405020304" pitchFamily="18" charset="0"/>
                <a:cs typeface="+mn-cs"/>
              </a:rPr>
              <a:t>a</a:t>
            </a:r>
            <a:r>
              <a:rPr lang="en-US" altLang="zh-CN" i="1" baseline="-25000" dirty="0">
                <a:solidFill>
                  <a:srgbClr val="FF3300"/>
                </a:solidFill>
                <a:effectLst>
                  <a:outerShdw blurRad="38100" dist="38100" dir="2700000" algn="tl">
                    <a:srgbClr val="C0C0C0"/>
                  </a:outerShdw>
                </a:effectLst>
                <a:latin typeface="Times New Roman" panose="02020603050405020304" pitchFamily="18" charset="0"/>
                <a:cs typeface="+mn-cs"/>
              </a:rPr>
              <a:t>i+1</a:t>
            </a: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的直接前驱，简称为前驱</a:t>
            </a:r>
            <a:endParaRPr lang="en-US" altLang="zh-CN" dirty="0">
              <a:solidFill>
                <a:schemeClr val="tx1"/>
              </a:solidFill>
              <a:effectLst>
                <a:outerShdw blurRad="38100" dist="38100" dir="2700000" algn="tl">
                  <a:srgbClr val="C0C0C0"/>
                </a:outerShdw>
              </a:effectLst>
              <a:latin typeface="Times New Roman" panose="02020603050405020304" pitchFamily="18" charset="0"/>
              <a:cs typeface="+mn-cs"/>
            </a:endParaRPr>
          </a:p>
          <a:p>
            <a:pPr lvl="2">
              <a:lnSpc>
                <a:spcPct val="120000"/>
              </a:lnSpc>
              <a:buFont typeface="Wingdings" panose="05000000000000000000" pitchFamily="2" charset="2"/>
              <a:buChar char="l"/>
              <a:defRPr/>
            </a:pPr>
            <a:r>
              <a:rPr lang="en-US" altLang="zh-CN" i="1" dirty="0">
                <a:solidFill>
                  <a:srgbClr val="FF3300"/>
                </a:solidFill>
                <a:effectLst>
                  <a:outerShdw blurRad="38100" dist="38100" dir="2700000" algn="tl">
                    <a:srgbClr val="C0C0C0"/>
                  </a:outerShdw>
                </a:effectLst>
                <a:latin typeface="Times New Roman" panose="02020603050405020304" pitchFamily="18" charset="0"/>
                <a:cs typeface="+mn-cs"/>
              </a:rPr>
              <a:t>a</a:t>
            </a:r>
            <a:r>
              <a:rPr lang="en-US" altLang="zh-CN" i="1" baseline="-25000" dirty="0">
                <a:solidFill>
                  <a:srgbClr val="FF3300"/>
                </a:solidFill>
                <a:effectLst>
                  <a:outerShdw blurRad="38100" dist="38100" dir="2700000" algn="tl">
                    <a:srgbClr val="C0C0C0"/>
                  </a:outerShdw>
                </a:effectLst>
                <a:latin typeface="Times New Roman" panose="02020603050405020304" pitchFamily="18" charset="0"/>
                <a:cs typeface="+mn-cs"/>
              </a:rPr>
              <a:t>i+1</a:t>
            </a: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称为</a:t>
            </a:r>
            <a:r>
              <a:rPr lang="en-US" altLang="zh-CN" i="1" dirty="0" err="1">
                <a:solidFill>
                  <a:srgbClr val="FF3300"/>
                </a:solidFill>
                <a:effectLst>
                  <a:outerShdw blurRad="38100" dist="38100" dir="2700000" algn="tl">
                    <a:srgbClr val="C0C0C0"/>
                  </a:outerShdw>
                </a:effectLst>
                <a:latin typeface="Times New Roman" panose="02020603050405020304" pitchFamily="18" charset="0"/>
                <a:cs typeface="+mn-cs"/>
              </a:rPr>
              <a:t>a</a:t>
            </a:r>
            <a:r>
              <a:rPr lang="en-US" altLang="zh-CN" i="1" baseline="-25000" dirty="0" err="1">
                <a:solidFill>
                  <a:srgbClr val="FF3300"/>
                </a:solidFill>
                <a:effectLst>
                  <a:outerShdw blurRad="38100" dist="38100" dir="2700000" algn="tl">
                    <a:srgbClr val="C0C0C0"/>
                  </a:outerShdw>
                </a:effectLst>
                <a:latin typeface="Times New Roman" panose="02020603050405020304" pitchFamily="18" charset="0"/>
                <a:cs typeface="+mn-cs"/>
              </a:rPr>
              <a:t>i</a:t>
            </a: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的直接后继，简称为后继</a:t>
            </a:r>
            <a:endParaRPr lang="en-US" altLang="zh-CN" dirty="0">
              <a:solidFill>
                <a:schemeClr val="tx1"/>
              </a:solidFill>
              <a:effectLst>
                <a:outerShdw blurRad="38100" dist="38100" dir="2700000" algn="tl">
                  <a:srgbClr val="C0C0C0"/>
                </a:outerShdw>
              </a:effectLst>
              <a:latin typeface="Times New Roman" panose="02020603050405020304" pitchFamily="18" charset="0"/>
              <a:cs typeface="+mn-cs"/>
            </a:endParaRPr>
          </a:p>
          <a:p>
            <a:pPr lvl="2">
              <a:lnSpc>
                <a:spcPct val="120000"/>
              </a:lnSpc>
              <a:buFont typeface="Wingdings" panose="05000000000000000000" pitchFamily="2" charset="2"/>
              <a:buChar char="l"/>
              <a:defRPr/>
            </a:pPr>
            <a:r>
              <a:rPr lang="en-US" altLang="zh-CN" i="1" dirty="0">
                <a:solidFill>
                  <a:srgbClr val="FF3300"/>
                </a:solidFill>
                <a:effectLst>
                  <a:outerShdw blurRad="38100" dist="38100" dir="2700000" algn="tl">
                    <a:srgbClr val="C0C0C0"/>
                  </a:outerShdw>
                </a:effectLst>
                <a:latin typeface="Times New Roman" panose="02020603050405020304" pitchFamily="18" charset="0"/>
                <a:cs typeface="+mn-cs"/>
              </a:rPr>
              <a:t>a</a:t>
            </a:r>
            <a:r>
              <a:rPr lang="en-US" altLang="zh-CN" i="1" baseline="-25000" dirty="0">
                <a:solidFill>
                  <a:srgbClr val="FF3300"/>
                </a:solidFill>
                <a:effectLst>
                  <a:outerShdw blurRad="38100" dist="38100" dir="2700000" algn="tl">
                    <a:srgbClr val="C0C0C0"/>
                  </a:outerShdw>
                </a:effectLst>
                <a:latin typeface="Times New Roman" panose="02020603050405020304" pitchFamily="18" charset="0"/>
                <a:cs typeface="+mn-cs"/>
              </a:rPr>
              <a:t>1</a:t>
            </a: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称为线性表的第一个</a:t>
            </a:r>
            <a:r>
              <a:rPr lang="en-US" altLang="zh-CN" dirty="0">
                <a:solidFill>
                  <a:schemeClr val="tx1"/>
                </a:solidFill>
                <a:effectLst>
                  <a:outerShdw blurRad="38100" dist="38100" dir="2700000" algn="tl">
                    <a:srgbClr val="C0C0C0"/>
                  </a:outerShdw>
                </a:effectLst>
                <a:latin typeface="Times New Roman" panose="02020603050405020304" pitchFamily="18" charset="0"/>
                <a:cs typeface="+mn-cs"/>
              </a:rPr>
              <a:t>(</a:t>
            </a: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首</a:t>
            </a:r>
            <a:r>
              <a:rPr lang="en-US" altLang="zh-CN" dirty="0">
                <a:solidFill>
                  <a:schemeClr val="tx1"/>
                </a:solidFill>
                <a:effectLst>
                  <a:outerShdw blurRad="38100" dist="38100" dir="2700000" algn="tl">
                    <a:srgbClr val="C0C0C0"/>
                  </a:outerShdw>
                </a:effectLst>
                <a:latin typeface="Times New Roman" panose="02020603050405020304" pitchFamily="18" charset="0"/>
                <a:cs typeface="+mn-cs"/>
              </a:rPr>
              <a:t>)</a:t>
            </a: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结点</a:t>
            </a:r>
            <a:endParaRPr lang="en-US" altLang="zh-CN" dirty="0">
              <a:solidFill>
                <a:schemeClr val="tx1"/>
              </a:solidFill>
              <a:effectLst>
                <a:outerShdw blurRad="38100" dist="38100" dir="2700000" algn="tl">
                  <a:srgbClr val="C0C0C0"/>
                </a:outerShdw>
              </a:effectLst>
              <a:latin typeface="Times New Roman" panose="02020603050405020304" pitchFamily="18" charset="0"/>
              <a:cs typeface="+mn-cs"/>
            </a:endParaRPr>
          </a:p>
          <a:p>
            <a:pPr lvl="2">
              <a:lnSpc>
                <a:spcPct val="120000"/>
              </a:lnSpc>
              <a:buFont typeface="Wingdings" panose="05000000000000000000" pitchFamily="2" charset="2"/>
              <a:buChar char="l"/>
              <a:defRPr/>
            </a:pPr>
            <a:r>
              <a:rPr lang="en-US" altLang="zh-CN" i="1" dirty="0">
                <a:solidFill>
                  <a:srgbClr val="FF3300"/>
                </a:solidFill>
                <a:effectLst>
                  <a:outerShdw blurRad="38100" dist="38100" dir="2700000" algn="tl">
                    <a:srgbClr val="C0C0C0"/>
                  </a:outerShdw>
                </a:effectLst>
                <a:latin typeface="Times New Roman" panose="02020603050405020304" pitchFamily="18" charset="0"/>
                <a:cs typeface="+mn-cs"/>
              </a:rPr>
              <a:t>a</a:t>
            </a:r>
            <a:r>
              <a:rPr lang="en-US" altLang="zh-CN" i="1" baseline="-25000" dirty="0">
                <a:solidFill>
                  <a:srgbClr val="FF3300"/>
                </a:solidFill>
                <a:effectLst>
                  <a:outerShdw blurRad="38100" dist="38100" dir="2700000" algn="tl">
                    <a:srgbClr val="C0C0C0"/>
                  </a:outerShdw>
                </a:effectLst>
                <a:latin typeface="Times New Roman" panose="02020603050405020304" pitchFamily="18" charset="0"/>
                <a:cs typeface="+mn-cs"/>
              </a:rPr>
              <a:t>n</a:t>
            </a: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称为线性表的最后一个</a:t>
            </a:r>
            <a:r>
              <a:rPr lang="en-US" altLang="zh-CN" dirty="0">
                <a:solidFill>
                  <a:schemeClr val="tx1"/>
                </a:solidFill>
                <a:effectLst>
                  <a:outerShdw blurRad="38100" dist="38100" dir="2700000" algn="tl">
                    <a:srgbClr val="C0C0C0"/>
                  </a:outerShdw>
                </a:effectLst>
                <a:latin typeface="Times New Roman" panose="02020603050405020304" pitchFamily="18" charset="0"/>
                <a:cs typeface="+mn-cs"/>
              </a:rPr>
              <a:t>(</a:t>
            </a: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尾</a:t>
            </a:r>
            <a:r>
              <a:rPr lang="en-US" altLang="zh-CN" dirty="0">
                <a:solidFill>
                  <a:schemeClr val="tx1"/>
                </a:solidFill>
                <a:effectLst>
                  <a:outerShdw blurRad="38100" dist="38100" dir="2700000" algn="tl">
                    <a:srgbClr val="C0C0C0"/>
                  </a:outerShdw>
                </a:effectLst>
                <a:latin typeface="Times New Roman" panose="02020603050405020304" pitchFamily="18" charset="0"/>
                <a:cs typeface="+mn-cs"/>
              </a:rPr>
              <a:t>)</a:t>
            </a: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结点</a:t>
            </a:r>
            <a:endParaRPr lang="en-US" altLang="zh-CN" dirty="0">
              <a:solidFill>
                <a:schemeClr val="tx1"/>
              </a:solidFill>
              <a:effectLst>
                <a:outerShdw blurRad="38100" dist="38100" dir="2700000" algn="tl">
                  <a:srgbClr val="C0C0C0"/>
                </a:outerShdw>
              </a:effectLst>
              <a:latin typeface="Times New Roman" panose="02020603050405020304" pitchFamily="18" charset="0"/>
              <a:cs typeface="+mn-cs"/>
            </a:endParaRPr>
          </a:p>
          <a:p>
            <a:pPr lvl="1">
              <a:lnSpc>
                <a:spcPct val="120000"/>
              </a:lnSpc>
              <a:buFont typeface="Wingdings" panose="05000000000000000000" pitchFamily="2" charset="2"/>
              <a:buChar char="l"/>
              <a:defRPr/>
            </a:pPr>
            <a:r>
              <a:rPr lang="en-US" altLang="zh-CN" i="1" dirty="0">
                <a:solidFill>
                  <a:srgbClr val="FF3300"/>
                </a:solidFill>
                <a:effectLst>
                  <a:outerShdw blurRad="38100" dist="38100" dir="2700000" algn="tl">
                    <a:srgbClr val="C0C0C0"/>
                  </a:outerShdw>
                </a:effectLst>
                <a:latin typeface="Times New Roman" panose="02020603050405020304" pitchFamily="18" charset="0"/>
                <a:cs typeface="+mn-cs"/>
              </a:rPr>
              <a:t>n </a:t>
            </a:r>
            <a:r>
              <a:rPr lang="zh-CN" altLang="zh-CN" dirty="0">
                <a:solidFill>
                  <a:schemeClr val="tx1"/>
                </a:solidFill>
                <a:effectLst>
                  <a:outerShdw blurRad="38100" dist="38100" dir="2700000" algn="tl">
                    <a:srgbClr val="C0C0C0"/>
                  </a:outerShdw>
                </a:effectLst>
                <a:latin typeface="Times New Roman" panose="02020603050405020304" pitchFamily="18" charset="0"/>
                <a:cs typeface="+mn-cs"/>
              </a:rPr>
              <a:t>是</a:t>
            </a: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线性</a:t>
            </a:r>
            <a:r>
              <a:rPr lang="zh-CN" altLang="zh-CN" dirty="0">
                <a:solidFill>
                  <a:schemeClr val="tx1"/>
                </a:solidFill>
                <a:effectLst>
                  <a:outerShdw blurRad="38100" dist="38100" dir="2700000" algn="tl">
                    <a:srgbClr val="C0C0C0"/>
                  </a:outerShdw>
                </a:effectLst>
                <a:latin typeface="Times New Roman" panose="02020603050405020304" pitchFamily="18" charset="0"/>
                <a:cs typeface="+mn-cs"/>
              </a:rPr>
              <a:t>表长度</a:t>
            </a:r>
            <a:endParaRPr lang="en-US" altLang="zh-CN" dirty="0">
              <a:solidFill>
                <a:schemeClr val="tx1"/>
              </a:solidFill>
              <a:effectLst>
                <a:outerShdw blurRad="38100" dist="38100" dir="2700000" algn="tl">
                  <a:srgbClr val="C0C0C0"/>
                </a:outerShdw>
              </a:effectLst>
              <a:latin typeface="Times New Roman" panose="02020603050405020304" pitchFamily="18" charset="0"/>
              <a:cs typeface="+mn-cs"/>
            </a:endParaRPr>
          </a:p>
          <a:p>
            <a:pPr lvl="2">
              <a:lnSpc>
                <a:spcPct val="120000"/>
              </a:lnSpc>
              <a:buFont typeface="Wingdings" panose="05000000000000000000" pitchFamily="2" charset="2"/>
              <a:buChar char="l"/>
              <a:defRPr/>
            </a:pPr>
            <a:r>
              <a:rPr lang="zh-CN" altLang="en-US" i="1" dirty="0">
                <a:solidFill>
                  <a:srgbClr val="FF3300"/>
                </a:solidFill>
                <a:effectLst>
                  <a:outerShdw blurRad="38100" dist="38100" dir="2700000" algn="tl">
                    <a:srgbClr val="C0C0C0"/>
                  </a:outerShdw>
                </a:effectLst>
                <a:latin typeface="Times New Roman" panose="02020603050405020304" pitchFamily="18" charset="0"/>
                <a:cs typeface="+mn-cs"/>
              </a:rPr>
              <a:t>当</a:t>
            </a:r>
            <a:r>
              <a:rPr lang="en-US" altLang="zh-CN" b="0" dirty="0">
                <a:solidFill>
                  <a:schemeClr val="tx1"/>
                </a:solidFill>
                <a:effectLst>
                  <a:outerShdw blurRad="38100" dist="38100" dir="2700000" algn="tl">
                    <a:srgbClr val="C0C0C0"/>
                  </a:outerShdw>
                </a:effectLst>
                <a:latin typeface="Times New Roman" panose="02020603050405020304" pitchFamily="18" charset="0"/>
                <a:cs typeface="+mn-cs"/>
              </a:rPr>
              <a:t>n=0</a:t>
            </a: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时，称为空表 </a:t>
            </a:r>
          </a:p>
          <a:p>
            <a:pPr lvl="1">
              <a:defRPr/>
            </a:pPr>
            <a:endParaRPr lang="zh-CN" altLang="en-US" dirty="0">
              <a:solidFill>
                <a:schemeClr val="tx1"/>
              </a:solidFill>
              <a:effectLst>
                <a:outerShdw blurRad="38100" dist="38100" dir="2700000" algn="tl">
                  <a:srgbClr val="C0C0C0"/>
                </a:outerShdw>
              </a:effectLst>
              <a:latin typeface="Times New Roman" panose="02020603050405020304" pitchFamily="18" charset="0"/>
              <a:cs typeface="+mn-cs"/>
            </a:endParaRPr>
          </a:p>
          <a:p>
            <a:pPr lvl="1">
              <a:defRPr/>
            </a:pPr>
            <a:r>
              <a:rPr lang="zh-CN" altLang="en-US" dirty="0">
                <a:solidFill>
                  <a:schemeClr val="tx1"/>
                </a:solidFill>
                <a:effectLst>
                  <a:outerShdw blurRad="38100" dist="38100" dir="2700000" algn="tl">
                    <a:srgbClr val="C0C0C0"/>
                  </a:outerShdw>
                </a:effectLst>
                <a:latin typeface="Times New Roman" panose="02020603050405020304" pitchFamily="18" charset="0"/>
                <a:cs typeface="+mn-cs"/>
              </a:rPr>
              <a:t> </a:t>
            </a:r>
            <a:endParaRPr lang="zh-CN" altLang="en-US" b="0" dirty="0">
              <a:solidFill>
                <a:schemeClr val="tx1"/>
              </a:solidFill>
              <a:latin typeface="Times New Roman" panose="02020603050405020304" pitchFamily="18" charset="0"/>
              <a:cs typeface="+mn-cs"/>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278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278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278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278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278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278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40" name="Rectangle 4"/>
          <p:cNvSpPr>
            <a:spLocks noChangeArrowheads="1"/>
          </p:cNvSpPr>
          <p:nvPr/>
        </p:nvSpPr>
        <p:spPr bwMode="auto">
          <a:xfrm>
            <a:off x="471972" y="446330"/>
            <a:ext cx="9498632" cy="762000"/>
          </a:xfrm>
          <a:prstGeom prst="rect">
            <a:avLst/>
          </a:prstGeom>
          <a:noFill/>
          <a:ln w="9525">
            <a:noFill/>
            <a:miter lim="800000"/>
          </a:ln>
          <a:effectLst/>
        </p:spPr>
        <p:txBody>
          <a:bodyPr anchor="ctr"/>
          <a:lstStyle/>
          <a:p>
            <a:pPr>
              <a:defRPr/>
            </a:pPr>
            <a:r>
              <a:rPr lang="en-US" altLang="zh-CN" sz="4800" dirty="0">
                <a:effectLst>
                  <a:outerShdw blurRad="38100" dist="38100" dir="2700000" algn="tl">
                    <a:srgbClr val="C0C0C0"/>
                  </a:outerShdw>
                </a:effectLst>
                <a:latin typeface="Times New Roman" panose="02020603050405020304" pitchFamily="18" charset="0"/>
                <a:ea typeface="楷体_GB2312" pitchFamily="49" charset="-122"/>
                <a:cs typeface="+mn-cs"/>
              </a:rPr>
              <a:t>2. </a:t>
            </a:r>
            <a:r>
              <a:rPr lang="zh-CN" altLang="en-US" sz="4800" dirty="0">
                <a:effectLst>
                  <a:outerShdw blurRad="38100" dist="38100" dir="2700000" algn="tl">
                    <a:srgbClr val="C0C0C0"/>
                  </a:outerShdw>
                </a:effectLst>
                <a:latin typeface="Times New Roman" panose="02020603050405020304" pitchFamily="18" charset="0"/>
                <a:ea typeface="楷体_GB2312" pitchFamily="49" charset="-122"/>
                <a:cs typeface="+mn-cs"/>
              </a:rPr>
              <a:t>线性表的特点</a:t>
            </a:r>
            <a:endParaRPr lang="zh-CN" altLang="en-US" sz="4800" dirty="0">
              <a:latin typeface="Times New Roman" panose="02020603050405020304" pitchFamily="18" charset="0"/>
              <a:ea typeface="楷体_GB2312" pitchFamily="49" charset="-122"/>
              <a:cs typeface="+mn-cs"/>
            </a:endParaRPr>
          </a:p>
        </p:txBody>
      </p:sp>
      <p:sp>
        <p:nvSpPr>
          <p:cNvPr id="423941" name="Rectangle 5"/>
          <p:cNvSpPr>
            <a:spLocks noChangeArrowheads="1"/>
          </p:cNvSpPr>
          <p:nvPr/>
        </p:nvSpPr>
        <p:spPr bwMode="auto">
          <a:xfrm>
            <a:off x="191344" y="1676400"/>
            <a:ext cx="12000656" cy="4114800"/>
          </a:xfrm>
          <a:prstGeom prst="rect">
            <a:avLst/>
          </a:prstGeom>
          <a:noFill/>
          <a:ln w="9525">
            <a:noFill/>
            <a:miter lim="800000"/>
          </a:ln>
          <a:effectLst/>
        </p:spPr>
        <p:txBody>
          <a:bodyPr/>
          <a:lstStyle/>
          <a:p>
            <a:pPr marL="342900" indent="-342900">
              <a:spcBef>
                <a:spcPct val="20000"/>
              </a:spcBef>
              <a:buClr>
                <a:schemeClr val="hlink"/>
              </a:buClr>
              <a:buSzPct val="50000"/>
              <a:buFont typeface="Wingdings" panose="05000000000000000000" pitchFamily="2" charset="2"/>
              <a:buChar char="u"/>
              <a:defRPr/>
            </a:pPr>
            <a:r>
              <a:rPr lang="zh-CN" altLang="en-US" sz="3200" dirty="0">
                <a:solidFill>
                  <a:srgbClr val="008080"/>
                </a:solidFill>
                <a:effectLst>
                  <a:outerShdw blurRad="38100" dist="38100" dir="2700000" algn="tl">
                    <a:srgbClr val="C0C0C0"/>
                  </a:outerShdw>
                </a:effectLst>
                <a:latin typeface="Times New Roman" panose="02020603050405020304" pitchFamily="18" charset="0"/>
                <a:ea typeface="仿宋_GB2312" pitchFamily="49" charset="-122"/>
                <a:cs typeface="+mn-cs"/>
              </a:rPr>
              <a:t>除第一个元素外，其他每一个元素有一个且仅有一个</a:t>
            </a:r>
            <a:r>
              <a:rPr lang="zh-CN" altLang="en-US" sz="3200" dirty="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mn-cs"/>
              </a:rPr>
              <a:t>直接前驱</a:t>
            </a:r>
            <a:r>
              <a:rPr lang="zh-CN" altLang="en-US" sz="3200" dirty="0">
                <a:solidFill>
                  <a:srgbClr val="008080"/>
                </a:solidFill>
                <a:effectLst>
                  <a:outerShdw blurRad="38100" dist="38100" dir="2700000" algn="tl">
                    <a:srgbClr val="C0C0C0"/>
                  </a:outerShdw>
                </a:effectLst>
                <a:latin typeface="Times New Roman" panose="02020603050405020304" pitchFamily="18" charset="0"/>
                <a:ea typeface="仿宋_GB2312" pitchFamily="49" charset="-122"/>
                <a:cs typeface="+mn-cs"/>
              </a:rPr>
              <a:t>。</a:t>
            </a:r>
          </a:p>
          <a:p>
            <a:pPr marL="342900" indent="-342900">
              <a:spcBef>
                <a:spcPct val="20000"/>
              </a:spcBef>
              <a:buClr>
                <a:schemeClr val="hlink"/>
              </a:buClr>
              <a:buSzPct val="50000"/>
              <a:buFont typeface="Wingdings" panose="05000000000000000000" pitchFamily="2" charset="2"/>
              <a:buChar char="u"/>
              <a:defRPr/>
            </a:pPr>
            <a:r>
              <a:rPr lang="zh-CN" altLang="en-US" sz="3200" dirty="0">
                <a:solidFill>
                  <a:srgbClr val="008080"/>
                </a:solidFill>
                <a:effectLst>
                  <a:outerShdw blurRad="38100" dist="38100" dir="2700000" algn="tl">
                    <a:srgbClr val="C0C0C0"/>
                  </a:outerShdw>
                </a:effectLst>
                <a:latin typeface="Times New Roman" panose="02020603050405020304" pitchFamily="18" charset="0"/>
                <a:ea typeface="仿宋_GB2312" pitchFamily="49" charset="-122"/>
                <a:cs typeface="+mn-cs"/>
              </a:rPr>
              <a:t>除最后一个元素外，其他每一个元素有一个且仅有一个</a:t>
            </a:r>
            <a:r>
              <a:rPr lang="zh-CN" altLang="en-US" sz="3200" dirty="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mn-cs"/>
              </a:rPr>
              <a:t>直接后继</a:t>
            </a:r>
            <a:r>
              <a:rPr lang="zh-CN" altLang="en-US" sz="3200" dirty="0">
                <a:solidFill>
                  <a:srgbClr val="008080"/>
                </a:solidFill>
                <a:effectLst>
                  <a:outerShdw blurRad="38100" dist="38100" dir="2700000" algn="tl">
                    <a:srgbClr val="C0C0C0"/>
                  </a:outerShdw>
                </a:effectLst>
                <a:latin typeface="Times New Roman" panose="02020603050405020304" pitchFamily="18" charset="0"/>
                <a:ea typeface="仿宋_GB2312" pitchFamily="49" charset="-122"/>
                <a:cs typeface="+mn-cs"/>
              </a:rPr>
              <a:t>。</a:t>
            </a:r>
            <a:endParaRPr lang="en-US" altLang="zh-CN" sz="3200" dirty="0">
              <a:solidFill>
                <a:srgbClr val="008080"/>
              </a:solidFill>
              <a:effectLst>
                <a:outerShdw blurRad="38100" dist="38100" dir="2700000" algn="tl">
                  <a:srgbClr val="C0C0C0"/>
                </a:outerShdw>
              </a:effectLst>
              <a:latin typeface="Times New Roman" panose="02020603050405020304" pitchFamily="18" charset="0"/>
              <a:ea typeface="仿宋_GB2312" pitchFamily="49" charset="-122"/>
              <a:cs typeface="+mn-cs"/>
            </a:endParaRPr>
          </a:p>
          <a:p>
            <a:pPr marL="342900" indent="-342900">
              <a:spcBef>
                <a:spcPct val="20000"/>
              </a:spcBef>
              <a:buClr>
                <a:schemeClr val="hlink"/>
              </a:buClr>
              <a:buSzPct val="50000"/>
              <a:buFont typeface="Wingdings" panose="05000000000000000000" pitchFamily="2" charset="2"/>
              <a:buChar char="u"/>
              <a:defRPr/>
            </a:pPr>
            <a:endParaRPr lang="en-US" altLang="zh-CN" sz="3200" b="0" dirty="0">
              <a:solidFill>
                <a:srgbClr val="008080"/>
              </a:solidFill>
              <a:effectLst>
                <a:outerShdw blurRad="38100" dist="38100" dir="2700000" algn="tl">
                  <a:srgbClr val="C0C0C0"/>
                </a:outerShdw>
              </a:effectLst>
              <a:latin typeface="Times New Roman" panose="02020603050405020304" pitchFamily="18" charset="0"/>
              <a:ea typeface="仿宋_GB2312" pitchFamily="49" charset="-122"/>
              <a:cs typeface="+mn-cs"/>
            </a:endParaRPr>
          </a:p>
          <a:p>
            <a:pPr marL="342900" indent="-342900">
              <a:spcBef>
                <a:spcPct val="20000"/>
              </a:spcBef>
              <a:buClr>
                <a:schemeClr val="hlink"/>
              </a:buClr>
              <a:buSzPct val="50000"/>
              <a:buFont typeface="Wingdings" panose="05000000000000000000" pitchFamily="2" charset="2"/>
              <a:buChar char="u"/>
              <a:defRPr/>
            </a:pPr>
            <a:endParaRPr lang="en-US" altLang="zh-CN" sz="3200" b="0" dirty="0">
              <a:solidFill>
                <a:srgbClr val="008080"/>
              </a:solidFill>
              <a:effectLst>
                <a:outerShdw blurRad="38100" dist="38100" dir="2700000" algn="tl">
                  <a:srgbClr val="C0C0C0"/>
                </a:outerShdw>
              </a:effectLst>
              <a:latin typeface="Times New Roman" panose="02020603050405020304" pitchFamily="18" charset="0"/>
              <a:ea typeface="仿宋_GB2312" pitchFamily="49" charset="-122"/>
              <a:cs typeface="+mn-cs"/>
            </a:endParaRPr>
          </a:p>
          <a:p>
            <a:pPr marL="342900" indent="-342900">
              <a:spcBef>
                <a:spcPct val="20000"/>
              </a:spcBef>
              <a:buClr>
                <a:schemeClr val="hlink"/>
              </a:buClr>
              <a:buSzPct val="50000"/>
              <a:buFont typeface="Wingdings" panose="05000000000000000000" pitchFamily="2" charset="2"/>
              <a:buChar char="u"/>
              <a:defRPr/>
            </a:pPr>
            <a:endParaRPr lang="en-US" altLang="zh-CN" sz="3200" dirty="0">
              <a:solidFill>
                <a:srgbClr val="000099"/>
              </a:solidFill>
              <a:latin typeface="仿宋_GB2312" pitchFamily="49" charset="-122"/>
              <a:ea typeface="仿宋_GB2312" pitchFamily="49" charset="-122"/>
              <a:cs typeface="+mn-cs"/>
            </a:endParaRPr>
          </a:p>
          <a:p>
            <a:pPr marL="342900" indent="-342900">
              <a:spcBef>
                <a:spcPct val="20000"/>
              </a:spcBef>
              <a:buClr>
                <a:schemeClr val="hlink"/>
              </a:buClr>
              <a:buSzPct val="50000"/>
              <a:buFont typeface="Wingdings" panose="05000000000000000000" pitchFamily="2" charset="2"/>
              <a:buChar char="u"/>
              <a:defRPr/>
            </a:pPr>
            <a:r>
              <a:rPr lang="zh-CN" altLang="en-US" sz="3200" dirty="0">
                <a:solidFill>
                  <a:srgbClr val="000099"/>
                </a:solidFill>
                <a:latin typeface="仿宋_GB2312" pitchFamily="49" charset="-122"/>
                <a:ea typeface="仿宋_GB2312" pitchFamily="49" charset="-122"/>
                <a:cs typeface="+mn-cs"/>
              </a:rPr>
              <a:t>直接前驱和直接后继描述了结点之间的逻辑关系（即邻接关系）</a:t>
            </a:r>
            <a:endParaRPr lang="en-US" altLang="zh-CN" sz="3200" b="0" dirty="0">
              <a:solidFill>
                <a:schemeClr val="tx1"/>
              </a:solidFill>
              <a:latin typeface="Times New Roman" panose="02020603050405020304" pitchFamily="18" charset="0"/>
              <a:cs typeface="+mn-cs"/>
            </a:endParaRPr>
          </a:p>
        </p:txBody>
      </p:sp>
      <p:grpSp>
        <p:nvGrpSpPr>
          <p:cNvPr id="24585" name="Group 22"/>
          <p:cNvGrpSpPr/>
          <p:nvPr/>
        </p:nvGrpSpPr>
        <p:grpSpPr bwMode="auto">
          <a:xfrm>
            <a:off x="2305528" y="3637205"/>
            <a:ext cx="6705600" cy="717550"/>
            <a:chOff x="720" y="2812"/>
            <a:chExt cx="4224" cy="452"/>
          </a:xfrm>
        </p:grpSpPr>
        <p:sp>
          <p:nvSpPr>
            <p:cNvPr id="10251" name="Oval 4"/>
            <p:cNvSpPr>
              <a:spLocks noChangeArrowheads="1"/>
            </p:cNvSpPr>
            <p:nvPr/>
          </p:nvSpPr>
          <p:spPr bwMode="auto">
            <a:xfrm>
              <a:off x="720" y="2880"/>
              <a:ext cx="384" cy="384"/>
            </a:xfrm>
            <a:prstGeom prst="ellipse">
              <a:avLst/>
            </a:prstGeom>
            <a:gradFill rotWithShape="0">
              <a:gsLst>
                <a:gs pos="0">
                  <a:srgbClr val="CCFF99"/>
                </a:gs>
                <a:gs pos="100000">
                  <a:srgbClr val="5E7647"/>
                </a:gs>
              </a:gsLst>
              <a:path path="shape">
                <a:fillToRect l="50000" t="50000" r="50000" b="50000"/>
              </a:path>
            </a:gradFill>
            <a:ln>
              <a:noFill/>
            </a:ln>
            <a:effectLst>
              <a:outerShdw dist="35921" dir="2700000" algn="ctr" rotWithShape="0">
                <a:schemeClr val="bg2"/>
              </a:outerShdw>
            </a:effectLst>
          </p:spPr>
          <p:txBody>
            <a:bodyPr wrap="none" anchor="ctr"/>
            <a:lstStyle>
              <a:lvl1pPr>
                <a:defRPr kumimoji="1" sz="3600" b="1">
                  <a:solidFill>
                    <a:schemeClr val="tx2"/>
                  </a:solidFill>
                  <a:latin typeface="楷体_GB2312" pitchFamily="49" charset="-122"/>
                  <a:ea typeface="楷体_GB2312" pitchFamily="49" charset="-122"/>
                </a:defRPr>
              </a:lvl1pPr>
              <a:lvl2pPr marL="742950" indent="-285750">
                <a:defRPr kumimoji="1" sz="3600" b="1">
                  <a:solidFill>
                    <a:schemeClr val="tx2"/>
                  </a:solidFill>
                  <a:latin typeface="楷体_GB2312" pitchFamily="49" charset="-122"/>
                  <a:ea typeface="楷体_GB2312" pitchFamily="49" charset="-122"/>
                </a:defRPr>
              </a:lvl2pPr>
              <a:lvl3pPr marL="1143000" indent="-228600">
                <a:defRPr kumimoji="1" sz="3600" b="1">
                  <a:solidFill>
                    <a:schemeClr val="tx2"/>
                  </a:solidFill>
                  <a:latin typeface="楷体_GB2312" pitchFamily="49" charset="-122"/>
                  <a:ea typeface="楷体_GB2312" pitchFamily="49" charset="-122"/>
                </a:defRPr>
              </a:lvl3pPr>
              <a:lvl4pPr marL="1600200" indent="-228600">
                <a:defRPr kumimoji="1" sz="3600" b="1">
                  <a:solidFill>
                    <a:schemeClr val="tx2"/>
                  </a:solidFill>
                  <a:latin typeface="楷体_GB2312" pitchFamily="49" charset="-122"/>
                  <a:ea typeface="楷体_GB2312" pitchFamily="49" charset="-122"/>
                </a:defRPr>
              </a:lvl4pPr>
              <a:lvl5pPr marL="2057400" indent="-22860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a:defRPr/>
              </a:pPr>
              <a:endParaRPr lang="zh-CN" altLang="en-US">
                <a:cs typeface="+mn-cs"/>
              </a:endParaRPr>
            </a:p>
          </p:txBody>
        </p:sp>
        <p:sp>
          <p:nvSpPr>
            <p:cNvPr id="10252" name="AutoShape 5"/>
            <p:cNvSpPr>
              <a:spLocks noChangeArrowheads="1"/>
            </p:cNvSpPr>
            <p:nvPr/>
          </p:nvSpPr>
          <p:spPr bwMode="auto">
            <a:xfrm>
              <a:off x="1104" y="3003"/>
              <a:ext cx="384" cy="96"/>
            </a:xfrm>
            <a:prstGeom prst="leftRightArrow">
              <a:avLst>
                <a:gd name="adj1" fmla="val 50000"/>
                <a:gd name="adj2" fmla="val 80000"/>
              </a:avLst>
            </a:prstGeom>
            <a:solidFill>
              <a:srgbClr val="008000"/>
            </a:solidFill>
            <a:ln w="9525">
              <a:solidFill>
                <a:schemeClr val="accent1"/>
              </a:solidFill>
              <a:miter lim="800000"/>
            </a:ln>
            <a:effectLst>
              <a:outerShdw dist="35921" dir="2700000" algn="ctr" rotWithShape="0">
                <a:schemeClr val="bg2"/>
              </a:outerShdw>
            </a:effectLst>
          </p:spPr>
          <p:txBody>
            <a:bodyPr wrap="none" anchor="ctr"/>
            <a:lstStyle>
              <a:lvl1pPr>
                <a:defRPr kumimoji="1" sz="3600" b="1">
                  <a:solidFill>
                    <a:schemeClr val="tx2"/>
                  </a:solidFill>
                  <a:latin typeface="楷体_GB2312" pitchFamily="49" charset="-122"/>
                  <a:ea typeface="楷体_GB2312" pitchFamily="49" charset="-122"/>
                </a:defRPr>
              </a:lvl1pPr>
              <a:lvl2pPr marL="742950" indent="-285750">
                <a:defRPr kumimoji="1" sz="3600" b="1">
                  <a:solidFill>
                    <a:schemeClr val="tx2"/>
                  </a:solidFill>
                  <a:latin typeface="楷体_GB2312" pitchFamily="49" charset="-122"/>
                  <a:ea typeface="楷体_GB2312" pitchFamily="49" charset="-122"/>
                </a:defRPr>
              </a:lvl2pPr>
              <a:lvl3pPr marL="1143000" indent="-228600">
                <a:defRPr kumimoji="1" sz="3600" b="1">
                  <a:solidFill>
                    <a:schemeClr val="tx2"/>
                  </a:solidFill>
                  <a:latin typeface="楷体_GB2312" pitchFamily="49" charset="-122"/>
                  <a:ea typeface="楷体_GB2312" pitchFamily="49" charset="-122"/>
                </a:defRPr>
              </a:lvl3pPr>
              <a:lvl4pPr marL="1600200" indent="-228600">
                <a:defRPr kumimoji="1" sz="3600" b="1">
                  <a:solidFill>
                    <a:schemeClr val="tx2"/>
                  </a:solidFill>
                  <a:latin typeface="楷体_GB2312" pitchFamily="49" charset="-122"/>
                  <a:ea typeface="楷体_GB2312" pitchFamily="49" charset="-122"/>
                </a:defRPr>
              </a:lvl4pPr>
              <a:lvl5pPr marL="2057400" indent="-22860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algn="ctr">
                <a:defRPr/>
              </a:pPr>
              <a:endParaRPr lang="zh-CN" altLang="zh-CN" sz="2400" b="0">
                <a:solidFill>
                  <a:srgbClr val="FF7C80"/>
                </a:solidFill>
                <a:latin typeface="Times New Roman" panose="02020603050405020304" pitchFamily="18" charset="0"/>
                <a:cs typeface="+mn-cs"/>
              </a:endParaRPr>
            </a:p>
          </p:txBody>
        </p:sp>
        <p:sp>
          <p:nvSpPr>
            <p:cNvPr id="10253" name="Oval 6"/>
            <p:cNvSpPr>
              <a:spLocks noChangeArrowheads="1"/>
            </p:cNvSpPr>
            <p:nvPr/>
          </p:nvSpPr>
          <p:spPr bwMode="auto">
            <a:xfrm>
              <a:off x="1488" y="2880"/>
              <a:ext cx="384" cy="384"/>
            </a:xfrm>
            <a:prstGeom prst="ellipse">
              <a:avLst/>
            </a:prstGeom>
            <a:gradFill rotWithShape="0">
              <a:gsLst>
                <a:gs pos="0">
                  <a:srgbClr val="CCFF99"/>
                </a:gs>
                <a:gs pos="100000">
                  <a:srgbClr val="5E7647"/>
                </a:gs>
              </a:gsLst>
              <a:path path="shape">
                <a:fillToRect l="50000" t="50000" r="50000" b="50000"/>
              </a:path>
            </a:gradFill>
            <a:ln>
              <a:noFill/>
            </a:ln>
            <a:effectLst>
              <a:outerShdw dist="35921" dir="2700000" algn="ctr" rotWithShape="0">
                <a:schemeClr val="bg2"/>
              </a:outerShdw>
            </a:effectLst>
          </p:spPr>
          <p:txBody>
            <a:bodyPr wrap="none" anchor="ctr"/>
            <a:lstStyle>
              <a:lvl1pPr>
                <a:defRPr kumimoji="1" sz="3600" b="1">
                  <a:solidFill>
                    <a:schemeClr val="tx2"/>
                  </a:solidFill>
                  <a:latin typeface="楷体_GB2312" pitchFamily="49" charset="-122"/>
                  <a:ea typeface="楷体_GB2312" pitchFamily="49" charset="-122"/>
                </a:defRPr>
              </a:lvl1pPr>
              <a:lvl2pPr marL="742950" indent="-285750">
                <a:defRPr kumimoji="1" sz="3600" b="1">
                  <a:solidFill>
                    <a:schemeClr val="tx2"/>
                  </a:solidFill>
                  <a:latin typeface="楷体_GB2312" pitchFamily="49" charset="-122"/>
                  <a:ea typeface="楷体_GB2312" pitchFamily="49" charset="-122"/>
                </a:defRPr>
              </a:lvl2pPr>
              <a:lvl3pPr marL="1143000" indent="-228600">
                <a:defRPr kumimoji="1" sz="3600" b="1">
                  <a:solidFill>
                    <a:schemeClr val="tx2"/>
                  </a:solidFill>
                  <a:latin typeface="楷体_GB2312" pitchFamily="49" charset="-122"/>
                  <a:ea typeface="楷体_GB2312" pitchFamily="49" charset="-122"/>
                </a:defRPr>
              </a:lvl3pPr>
              <a:lvl4pPr marL="1600200" indent="-228600">
                <a:defRPr kumimoji="1" sz="3600" b="1">
                  <a:solidFill>
                    <a:schemeClr val="tx2"/>
                  </a:solidFill>
                  <a:latin typeface="楷体_GB2312" pitchFamily="49" charset="-122"/>
                  <a:ea typeface="楷体_GB2312" pitchFamily="49" charset="-122"/>
                </a:defRPr>
              </a:lvl4pPr>
              <a:lvl5pPr marL="2057400" indent="-22860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a:defRPr/>
              </a:pPr>
              <a:endParaRPr lang="zh-CN" altLang="en-US">
                <a:cs typeface="+mn-cs"/>
              </a:endParaRPr>
            </a:p>
          </p:txBody>
        </p:sp>
        <p:sp>
          <p:nvSpPr>
            <p:cNvPr id="10254" name="AutoShape 7"/>
            <p:cNvSpPr>
              <a:spLocks noChangeArrowheads="1"/>
            </p:cNvSpPr>
            <p:nvPr/>
          </p:nvSpPr>
          <p:spPr bwMode="auto">
            <a:xfrm>
              <a:off x="1872" y="3003"/>
              <a:ext cx="384" cy="96"/>
            </a:xfrm>
            <a:prstGeom prst="leftRightArrow">
              <a:avLst>
                <a:gd name="adj1" fmla="val 50000"/>
                <a:gd name="adj2" fmla="val 80000"/>
              </a:avLst>
            </a:prstGeom>
            <a:solidFill>
              <a:srgbClr val="008000"/>
            </a:solidFill>
            <a:ln w="9525">
              <a:solidFill>
                <a:schemeClr val="accent1"/>
              </a:solidFill>
              <a:miter lim="800000"/>
            </a:ln>
            <a:effectLst>
              <a:outerShdw dist="35921" dir="2700000" algn="ctr" rotWithShape="0">
                <a:schemeClr val="bg2"/>
              </a:outerShdw>
            </a:effectLst>
          </p:spPr>
          <p:txBody>
            <a:bodyPr wrap="none" anchor="ctr"/>
            <a:lstStyle>
              <a:lvl1pPr>
                <a:defRPr kumimoji="1" sz="3600" b="1">
                  <a:solidFill>
                    <a:schemeClr val="tx2"/>
                  </a:solidFill>
                  <a:latin typeface="楷体_GB2312" pitchFamily="49" charset="-122"/>
                  <a:ea typeface="楷体_GB2312" pitchFamily="49" charset="-122"/>
                </a:defRPr>
              </a:lvl1pPr>
              <a:lvl2pPr marL="742950" indent="-285750">
                <a:defRPr kumimoji="1" sz="3600" b="1">
                  <a:solidFill>
                    <a:schemeClr val="tx2"/>
                  </a:solidFill>
                  <a:latin typeface="楷体_GB2312" pitchFamily="49" charset="-122"/>
                  <a:ea typeface="楷体_GB2312" pitchFamily="49" charset="-122"/>
                </a:defRPr>
              </a:lvl2pPr>
              <a:lvl3pPr marL="1143000" indent="-228600">
                <a:defRPr kumimoji="1" sz="3600" b="1">
                  <a:solidFill>
                    <a:schemeClr val="tx2"/>
                  </a:solidFill>
                  <a:latin typeface="楷体_GB2312" pitchFamily="49" charset="-122"/>
                  <a:ea typeface="楷体_GB2312" pitchFamily="49" charset="-122"/>
                </a:defRPr>
              </a:lvl3pPr>
              <a:lvl4pPr marL="1600200" indent="-228600">
                <a:defRPr kumimoji="1" sz="3600" b="1">
                  <a:solidFill>
                    <a:schemeClr val="tx2"/>
                  </a:solidFill>
                  <a:latin typeface="楷体_GB2312" pitchFamily="49" charset="-122"/>
                  <a:ea typeface="楷体_GB2312" pitchFamily="49" charset="-122"/>
                </a:defRPr>
              </a:lvl4pPr>
              <a:lvl5pPr marL="2057400" indent="-22860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algn="ctr">
                <a:defRPr/>
              </a:pPr>
              <a:endParaRPr lang="zh-CN" altLang="zh-CN" sz="2400" b="0">
                <a:solidFill>
                  <a:srgbClr val="FF7C80"/>
                </a:solidFill>
                <a:latin typeface="Times New Roman" panose="02020603050405020304" pitchFamily="18" charset="0"/>
                <a:cs typeface="+mn-cs"/>
              </a:endParaRPr>
            </a:p>
          </p:txBody>
        </p:sp>
        <p:sp>
          <p:nvSpPr>
            <p:cNvPr id="10255" name="Oval 8"/>
            <p:cNvSpPr>
              <a:spLocks noChangeArrowheads="1"/>
            </p:cNvSpPr>
            <p:nvPr/>
          </p:nvSpPr>
          <p:spPr bwMode="auto">
            <a:xfrm>
              <a:off x="2256" y="2880"/>
              <a:ext cx="384" cy="384"/>
            </a:xfrm>
            <a:prstGeom prst="ellipse">
              <a:avLst/>
            </a:prstGeom>
            <a:gradFill rotWithShape="0">
              <a:gsLst>
                <a:gs pos="0">
                  <a:srgbClr val="CCFF99"/>
                </a:gs>
                <a:gs pos="100000">
                  <a:srgbClr val="5E7647"/>
                </a:gs>
              </a:gsLst>
              <a:path path="shape">
                <a:fillToRect l="50000" t="50000" r="50000" b="50000"/>
              </a:path>
            </a:gradFill>
            <a:ln>
              <a:noFill/>
            </a:ln>
            <a:effectLst>
              <a:outerShdw dist="35921" dir="2700000" algn="ctr" rotWithShape="0">
                <a:schemeClr val="bg2"/>
              </a:outerShdw>
            </a:effectLst>
          </p:spPr>
          <p:txBody>
            <a:bodyPr wrap="none" anchor="ctr"/>
            <a:lstStyle>
              <a:lvl1pPr>
                <a:defRPr kumimoji="1" sz="3600" b="1">
                  <a:solidFill>
                    <a:schemeClr val="tx2"/>
                  </a:solidFill>
                  <a:latin typeface="楷体_GB2312" pitchFamily="49" charset="-122"/>
                  <a:ea typeface="楷体_GB2312" pitchFamily="49" charset="-122"/>
                </a:defRPr>
              </a:lvl1pPr>
              <a:lvl2pPr marL="742950" indent="-285750">
                <a:defRPr kumimoji="1" sz="3600" b="1">
                  <a:solidFill>
                    <a:schemeClr val="tx2"/>
                  </a:solidFill>
                  <a:latin typeface="楷体_GB2312" pitchFamily="49" charset="-122"/>
                  <a:ea typeface="楷体_GB2312" pitchFamily="49" charset="-122"/>
                </a:defRPr>
              </a:lvl2pPr>
              <a:lvl3pPr marL="1143000" indent="-228600">
                <a:defRPr kumimoji="1" sz="3600" b="1">
                  <a:solidFill>
                    <a:schemeClr val="tx2"/>
                  </a:solidFill>
                  <a:latin typeface="楷体_GB2312" pitchFamily="49" charset="-122"/>
                  <a:ea typeface="楷体_GB2312" pitchFamily="49" charset="-122"/>
                </a:defRPr>
              </a:lvl3pPr>
              <a:lvl4pPr marL="1600200" indent="-228600">
                <a:defRPr kumimoji="1" sz="3600" b="1">
                  <a:solidFill>
                    <a:schemeClr val="tx2"/>
                  </a:solidFill>
                  <a:latin typeface="楷体_GB2312" pitchFamily="49" charset="-122"/>
                  <a:ea typeface="楷体_GB2312" pitchFamily="49" charset="-122"/>
                </a:defRPr>
              </a:lvl4pPr>
              <a:lvl5pPr marL="2057400" indent="-22860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a:defRPr/>
              </a:pPr>
              <a:endParaRPr lang="zh-CN" altLang="en-US">
                <a:cs typeface="+mn-cs"/>
              </a:endParaRPr>
            </a:p>
          </p:txBody>
        </p:sp>
        <p:sp>
          <p:nvSpPr>
            <p:cNvPr id="10256" name="AutoShape 9"/>
            <p:cNvSpPr>
              <a:spLocks noChangeArrowheads="1"/>
            </p:cNvSpPr>
            <p:nvPr/>
          </p:nvSpPr>
          <p:spPr bwMode="auto">
            <a:xfrm>
              <a:off x="2640" y="3003"/>
              <a:ext cx="384" cy="96"/>
            </a:xfrm>
            <a:prstGeom prst="leftRightArrow">
              <a:avLst>
                <a:gd name="adj1" fmla="val 50000"/>
                <a:gd name="adj2" fmla="val 80000"/>
              </a:avLst>
            </a:prstGeom>
            <a:solidFill>
              <a:srgbClr val="008000"/>
            </a:solidFill>
            <a:ln w="9525">
              <a:solidFill>
                <a:schemeClr val="accent1"/>
              </a:solidFill>
              <a:miter lim="800000"/>
            </a:ln>
            <a:effectLst>
              <a:outerShdw dist="35921" dir="2700000" algn="ctr" rotWithShape="0">
                <a:schemeClr val="bg2"/>
              </a:outerShdw>
            </a:effectLst>
          </p:spPr>
          <p:txBody>
            <a:bodyPr wrap="none" anchor="ctr"/>
            <a:lstStyle>
              <a:lvl1pPr>
                <a:defRPr kumimoji="1" sz="3600" b="1">
                  <a:solidFill>
                    <a:schemeClr val="tx2"/>
                  </a:solidFill>
                  <a:latin typeface="楷体_GB2312" pitchFamily="49" charset="-122"/>
                  <a:ea typeface="楷体_GB2312" pitchFamily="49" charset="-122"/>
                </a:defRPr>
              </a:lvl1pPr>
              <a:lvl2pPr marL="742950" indent="-285750">
                <a:defRPr kumimoji="1" sz="3600" b="1">
                  <a:solidFill>
                    <a:schemeClr val="tx2"/>
                  </a:solidFill>
                  <a:latin typeface="楷体_GB2312" pitchFamily="49" charset="-122"/>
                  <a:ea typeface="楷体_GB2312" pitchFamily="49" charset="-122"/>
                </a:defRPr>
              </a:lvl2pPr>
              <a:lvl3pPr marL="1143000" indent="-228600">
                <a:defRPr kumimoji="1" sz="3600" b="1">
                  <a:solidFill>
                    <a:schemeClr val="tx2"/>
                  </a:solidFill>
                  <a:latin typeface="楷体_GB2312" pitchFamily="49" charset="-122"/>
                  <a:ea typeface="楷体_GB2312" pitchFamily="49" charset="-122"/>
                </a:defRPr>
              </a:lvl3pPr>
              <a:lvl4pPr marL="1600200" indent="-228600">
                <a:defRPr kumimoji="1" sz="3600" b="1">
                  <a:solidFill>
                    <a:schemeClr val="tx2"/>
                  </a:solidFill>
                  <a:latin typeface="楷体_GB2312" pitchFamily="49" charset="-122"/>
                  <a:ea typeface="楷体_GB2312" pitchFamily="49" charset="-122"/>
                </a:defRPr>
              </a:lvl4pPr>
              <a:lvl5pPr marL="2057400" indent="-22860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algn="ctr">
                <a:defRPr/>
              </a:pPr>
              <a:endParaRPr lang="zh-CN" altLang="zh-CN" sz="2400" b="0">
                <a:solidFill>
                  <a:srgbClr val="FF7C80"/>
                </a:solidFill>
                <a:latin typeface="Times New Roman" panose="02020603050405020304" pitchFamily="18" charset="0"/>
                <a:cs typeface="+mn-cs"/>
              </a:endParaRPr>
            </a:p>
          </p:txBody>
        </p:sp>
        <p:sp>
          <p:nvSpPr>
            <p:cNvPr id="10257" name="Oval 10"/>
            <p:cNvSpPr>
              <a:spLocks noChangeArrowheads="1"/>
            </p:cNvSpPr>
            <p:nvPr/>
          </p:nvSpPr>
          <p:spPr bwMode="auto">
            <a:xfrm>
              <a:off x="3024" y="2880"/>
              <a:ext cx="384" cy="384"/>
            </a:xfrm>
            <a:prstGeom prst="ellipse">
              <a:avLst/>
            </a:prstGeom>
            <a:gradFill rotWithShape="0">
              <a:gsLst>
                <a:gs pos="0">
                  <a:srgbClr val="CCFF99"/>
                </a:gs>
                <a:gs pos="100000">
                  <a:srgbClr val="5E7647"/>
                </a:gs>
              </a:gsLst>
              <a:path path="shape">
                <a:fillToRect l="50000" t="50000" r="50000" b="50000"/>
              </a:path>
            </a:gradFill>
            <a:ln>
              <a:noFill/>
            </a:ln>
            <a:effectLst>
              <a:outerShdw dist="35921" dir="2700000" algn="ctr" rotWithShape="0">
                <a:schemeClr val="bg2"/>
              </a:outerShdw>
            </a:effectLst>
          </p:spPr>
          <p:txBody>
            <a:bodyPr wrap="none" anchor="ctr"/>
            <a:lstStyle>
              <a:lvl1pPr>
                <a:defRPr kumimoji="1" sz="3600" b="1">
                  <a:solidFill>
                    <a:schemeClr val="tx2"/>
                  </a:solidFill>
                  <a:latin typeface="楷体_GB2312" pitchFamily="49" charset="-122"/>
                  <a:ea typeface="楷体_GB2312" pitchFamily="49" charset="-122"/>
                </a:defRPr>
              </a:lvl1pPr>
              <a:lvl2pPr marL="742950" indent="-285750">
                <a:defRPr kumimoji="1" sz="3600" b="1">
                  <a:solidFill>
                    <a:schemeClr val="tx2"/>
                  </a:solidFill>
                  <a:latin typeface="楷体_GB2312" pitchFamily="49" charset="-122"/>
                  <a:ea typeface="楷体_GB2312" pitchFamily="49" charset="-122"/>
                </a:defRPr>
              </a:lvl2pPr>
              <a:lvl3pPr marL="1143000" indent="-228600">
                <a:defRPr kumimoji="1" sz="3600" b="1">
                  <a:solidFill>
                    <a:schemeClr val="tx2"/>
                  </a:solidFill>
                  <a:latin typeface="楷体_GB2312" pitchFamily="49" charset="-122"/>
                  <a:ea typeface="楷体_GB2312" pitchFamily="49" charset="-122"/>
                </a:defRPr>
              </a:lvl3pPr>
              <a:lvl4pPr marL="1600200" indent="-228600">
                <a:defRPr kumimoji="1" sz="3600" b="1">
                  <a:solidFill>
                    <a:schemeClr val="tx2"/>
                  </a:solidFill>
                  <a:latin typeface="楷体_GB2312" pitchFamily="49" charset="-122"/>
                  <a:ea typeface="楷体_GB2312" pitchFamily="49" charset="-122"/>
                </a:defRPr>
              </a:lvl4pPr>
              <a:lvl5pPr marL="2057400" indent="-22860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a:defRPr/>
              </a:pPr>
              <a:endParaRPr lang="zh-CN" altLang="en-US">
                <a:cs typeface="+mn-cs"/>
              </a:endParaRPr>
            </a:p>
          </p:txBody>
        </p:sp>
        <p:sp>
          <p:nvSpPr>
            <p:cNvPr id="10258" name="AutoShape 11"/>
            <p:cNvSpPr>
              <a:spLocks noChangeArrowheads="1"/>
            </p:cNvSpPr>
            <p:nvPr/>
          </p:nvSpPr>
          <p:spPr bwMode="auto">
            <a:xfrm>
              <a:off x="3408" y="3003"/>
              <a:ext cx="384" cy="96"/>
            </a:xfrm>
            <a:prstGeom prst="leftRightArrow">
              <a:avLst>
                <a:gd name="adj1" fmla="val 50000"/>
                <a:gd name="adj2" fmla="val 80000"/>
              </a:avLst>
            </a:prstGeom>
            <a:solidFill>
              <a:srgbClr val="008000"/>
            </a:solidFill>
            <a:ln w="9525">
              <a:solidFill>
                <a:schemeClr val="accent1"/>
              </a:solidFill>
              <a:miter lim="800000"/>
            </a:ln>
            <a:effectLst>
              <a:outerShdw dist="35921" dir="2700000" algn="ctr" rotWithShape="0">
                <a:schemeClr val="bg2"/>
              </a:outerShdw>
            </a:effectLst>
          </p:spPr>
          <p:txBody>
            <a:bodyPr wrap="none" anchor="ctr"/>
            <a:lstStyle>
              <a:lvl1pPr>
                <a:defRPr kumimoji="1" sz="3600" b="1">
                  <a:solidFill>
                    <a:schemeClr val="tx2"/>
                  </a:solidFill>
                  <a:latin typeface="楷体_GB2312" pitchFamily="49" charset="-122"/>
                  <a:ea typeface="楷体_GB2312" pitchFamily="49" charset="-122"/>
                </a:defRPr>
              </a:lvl1pPr>
              <a:lvl2pPr marL="742950" indent="-285750">
                <a:defRPr kumimoji="1" sz="3600" b="1">
                  <a:solidFill>
                    <a:schemeClr val="tx2"/>
                  </a:solidFill>
                  <a:latin typeface="楷体_GB2312" pitchFamily="49" charset="-122"/>
                  <a:ea typeface="楷体_GB2312" pitchFamily="49" charset="-122"/>
                </a:defRPr>
              </a:lvl2pPr>
              <a:lvl3pPr marL="1143000" indent="-228600">
                <a:defRPr kumimoji="1" sz="3600" b="1">
                  <a:solidFill>
                    <a:schemeClr val="tx2"/>
                  </a:solidFill>
                  <a:latin typeface="楷体_GB2312" pitchFamily="49" charset="-122"/>
                  <a:ea typeface="楷体_GB2312" pitchFamily="49" charset="-122"/>
                </a:defRPr>
              </a:lvl3pPr>
              <a:lvl4pPr marL="1600200" indent="-228600">
                <a:defRPr kumimoji="1" sz="3600" b="1">
                  <a:solidFill>
                    <a:schemeClr val="tx2"/>
                  </a:solidFill>
                  <a:latin typeface="楷体_GB2312" pitchFamily="49" charset="-122"/>
                  <a:ea typeface="楷体_GB2312" pitchFamily="49" charset="-122"/>
                </a:defRPr>
              </a:lvl4pPr>
              <a:lvl5pPr marL="2057400" indent="-22860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algn="ctr">
                <a:defRPr/>
              </a:pPr>
              <a:endParaRPr lang="zh-CN" altLang="zh-CN" sz="2400" b="0">
                <a:solidFill>
                  <a:srgbClr val="FF7C80"/>
                </a:solidFill>
                <a:latin typeface="Times New Roman" panose="02020603050405020304" pitchFamily="18" charset="0"/>
                <a:cs typeface="+mn-cs"/>
              </a:endParaRPr>
            </a:p>
          </p:txBody>
        </p:sp>
        <p:sp>
          <p:nvSpPr>
            <p:cNvPr id="10259" name="Oval 12"/>
            <p:cNvSpPr>
              <a:spLocks noChangeArrowheads="1"/>
            </p:cNvSpPr>
            <p:nvPr/>
          </p:nvSpPr>
          <p:spPr bwMode="auto">
            <a:xfrm>
              <a:off x="3792" y="2880"/>
              <a:ext cx="384" cy="384"/>
            </a:xfrm>
            <a:prstGeom prst="ellipse">
              <a:avLst/>
            </a:prstGeom>
            <a:gradFill rotWithShape="0">
              <a:gsLst>
                <a:gs pos="0">
                  <a:srgbClr val="CCFF99"/>
                </a:gs>
                <a:gs pos="100000">
                  <a:srgbClr val="5E7647"/>
                </a:gs>
              </a:gsLst>
              <a:path path="shape">
                <a:fillToRect l="50000" t="50000" r="50000" b="50000"/>
              </a:path>
            </a:gradFill>
            <a:ln>
              <a:noFill/>
            </a:ln>
            <a:effectLst>
              <a:outerShdw dist="35921" dir="2700000" algn="ctr" rotWithShape="0">
                <a:schemeClr val="bg2"/>
              </a:outerShdw>
            </a:effectLst>
          </p:spPr>
          <p:txBody>
            <a:bodyPr wrap="none" anchor="ctr"/>
            <a:lstStyle>
              <a:lvl1pPr>
                <a:defRPr kumimoji="1" sz="3600" b="1">
                  <a:solidFill>
                    <a:schemeClr val="tx2"/>
                  </a:solidFill>
                  <a:latin typeface="楷体_GB2312" pitchFamily="49" charset="-122"/>
                  <a:ea typeface="楷体_GB2312" pitchFamily="49" charset="-122"/>
                </a:defRPr>
              </a:lvl1pPr>
              <a:lvl2pPr marL="742950" indent="-285750">
                <a:defRPr kumimoji="1" sz="3600" b="1">
                  <a:solidFill>
                    <a:schemeClr val="tx2"/>
                  </a:solidFill>
                  <a:latin typeface="楷体_GB2312" pitchFamily="49" charset="-122"/>
                  <a:ea typeface="楷体_GB2312" pitchFamily="49" charset="-122"/>
                </a:defRPr>
              </a:lvl2pPr>
              <a:lvl3pPr marL="1143000" indent="-228600">
                <a:defRPr kumimoji="1" sz="3600" b="1">
                  <a:solidFill>
                    <a:schemeClr val="tx2"/>
                  </a:solidFill>
                  <a:latin typeface="楷体_GB2312" pitchFamily="49" charset="-122"/>
                  <a:ea typeface="楷体_GB2312" pitchFamily="49" charset="-122"/>
                </a:defRPr>
              </a:lvl3pPr>
              <a:lvl4pPr marL="1600200" indent="-228600">
                <a:defRPr kumimoji="1" sz="3600" b="1">
                  <a:solidFill>
                    <a:schemeClr val="tx2"/>
                  </a:solidFill>
                  <a:latin typeface="楷体_GB2312" pitchFamily="49" charset="-122"/>
                  <a:ea typeface="楷体_GB2312" pitchFamily="49" charset="-122"/>
                </a:defRPr>
              </a:lvl4pPr>
              <a:lvl5pPr marL="2057400" indent="-22860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a:defRPr/>
              </a:pPr>
              <a:endParaRPr lang="zh-CN" altLang="en-US">
                <a:cs typeface="+mn-cs"/>
              </a:endParaRPr>
            </a:p>
          </p:txBody>
        </p:sp>
        <p:sp>
          <p:nvSpPr>
            <p:cNvPr id="10260" name="AutoShape 13"/>
            <p:cNvSpPr>
              <a:spLocks noChangeArrowheads="1"/>
            </p:cNvSpPr>
            <p:nvPr/>
          </p:nvSpPr>
          <p:spPr bwMode="auto">
            <a:xfrm>
              <a:off x="4176" y="3003"/>
              <a:ext cx="384" cy="96"/>
            </a:xfrm>
            <a:prstGeom prst="leftRightArrow">
              <a:avLst>
                <a:gd name="adj1" fmla="val 50000"/>
                <a:gd name="adj2" fmla="val 80000"/>
              </a:avLst>
            </a:prstGeom>
            <a:solidFill>
              <a:srgbClr val="008000"/>
            </a:solidFill>
            <a:ln w="9525">
              <a:solidFill>
                <a:schemeClr val="accent1"/>
              </a:solidFill>
              <a:miter lim="800000"/>
            </a:ln>
            <a:effectLst>
              <a:outerShdw dist="35921" dir="2700000" algn="ctr" rotWithShape="0">
                <a:schemeClr val="bg2"/>
              </a:outerShdw>
            </a:effectLst>
          </p:spPr>
          <p:txBody>
            <a:bodyPr wrap="none" anchor="ctr"/>
            <a:lstStyle>
              <a:lvl1pPr>
                <a:defRPr kumimoji="1" sz="3600" b="1">
                  <a:solidFill>
                    <a:schemeClr val="tx2"/>
                  </a:solidFill>
                  <a:latin typeface="楷体_GB2312" pitchFamily="49" charset="-122"/>
                  <a:ea typeface="楷体_GB2312" pitchFamily="49" charset="-122"/>
                </a:defRPr>
              </a:lvl1pPr>
              <a:lvl2pPr marL="742950" indent="-285750">
                <a:defRPr kumimoji="1" sz="3600" b="1">
                  <a:solidFill>
                    <a:schemeClr val="tx2"/>
                  </a:solidFill>
                  <a:latin typeface="楷体_GB2312" pitchFamily="49" charset="-122"/>
                  <a:ea typeface="楷体_GB2312" pitchFamily="49" charset="-122"/>
                </a:defRPr>
              </a:lvl2pPr>
              <a:lvl3pPr marL="1143000" indent="-228600">
                <a:defRPr kumimoji="1" sz="3600" b="1">
                  <a:solidFill>
                    <a:schemeClr val="tx2"/>
                  </a:solidFill>
                  <a:latin typeface="楷体_GB2312" pitchFamily="49" charset="-122"/>
                  <a:ea typeface="楷体_GB2312" pitchFamily="49" charset="-122"/>
                </a:defRPr>
              </a:lvl3pPr>
              <a:lvl4pPr marL="1600200" indent="-228600">
                <a:defRPr kumimoji="1" sz="3600" b="1">
                  <a:solidFill>
                    <a:schemeClr val="tx2"/>
                  </a:solidFill>
                  <a:latin typeface="楷体_GB2312" pitchFamily="49" charset="-122"/>
                  <a:ea typeface="楷体_GB2312" pitchFamily="49" charset="-122"/>
                </a:defRPr>
              </a:lvl4pPr>
              <a:lvl5pPr marL="2057400" indent="-22860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algn="ctr">
                <a:defRPr/>
              </a:pPr>
              <a:endParaRPr lang="zh-CN" altLang="zh-CN" sz="2400" b="0">
                <a:solidFill>
                  <a:srgbClr val="FF7C80"/>
                </a:solidFill>
                <a:latin typeface="Times New Roman" panose="02020603050405020304" pitchFamily="18" charset="0"/>
                <a:cs typeface="+mn-cs"/>
              </a:endParaRPr>
            </a:p>
          </p:txBody>
        </p:sp>
        <p:sp>
          <p:nvSpPr>
            <p:cNvPr id="10261" name="Oval 14"/>
            <p:cNvSpPr>
              <a:spLocks noChangeArrowheads="1"/>
            </p:cNvSpPr>
            <p:nvPr/>
          </p:nvSpPr>
          <p:spPr bwMode="auto">
            <a:xfrm>
              <a:off x="4560" y="2880"/>
              <a:ext cx="384" cy="384"/>
            </a:xfrm>
            <a:prstGeom prst="ellipse">
              <a:avLst/>
            </a:prstGeom>
            <a:gradFill rotWithShape="0">
              <a:gsLst>
                <a:gs pos="0">
                  <a:srgbClr val="CCFF99"/>
                </a:gs>
                <a:gs pos="100000">
                  <a:srgbClr val="5E7647"/>
                </a:gs>
              </a:gsLst>
              <a:path path="shape">
                <a:fillToRect l="50000" t="50000" r="50000" b="50000"/>
              </a:path>
            </a:gradFill>
            <a:ln>
              <a:noFill/>
            </a:ln>
            <a:effectLst>
              <a:outerShdw dist="35921" dir="2700000" algn="ctr" rotWithShape="0">
                <a:schemeClr val="bg2"/>
              </a:outerShdw>
            </a:effectLst>
          </p:spPr>
          <p:txBody>
            <a:bodyPr wrap="none" anchor="ctr"/>
            <a:lstStyle>
              <a:lvl1pPr>
                <a:defRPr kumimoji="1" sz="3600" b="1">
                  <a:solidFill>
                    <a:schemeClr val="tx2"/>
                  </a:solidFill>
                  <a:latin typeface="楷体_GB2312" pitchFamily="49" charset="-122"/>
                  <a:ea typeface="楷体_GB2312" pitchFamily="49" charset="-122"/>
                </a:defRPr>
              </a:lvl1pPr>
              <a:lvl2pPr marL="742950" indent="-285750">
                <a:defRPr kumimoji="1" sz="3600" b="1">
                  <a:solidFill>
                    <a:schemeClr val="tx2"/>
                  </a:solidFill>
                  <a:latin typeface="楷体_GB2312" pitchFamily="49" charset="-122"/>
                  <a:ea typeface="楷体_GB2312" pitchFamily="49" charset="-122"/>
                </a:defRPr>
              </a:lvl2pPr>
              <a:lvl3pPr marL="1143000" indent="-228600">
                <a:defRPr kumimoji="1" sz="3600" b="1">
                  <a:solidFill>
                    <a:schemeClr val="tx2"/>
                  </a:solidFill>
                  <a:latin typeface="楷体_GB2312" pitchFamily="49" charset="-122"/>
                  <a:ea typeface="楷体_GB2312" pitchFamily="49" charset="-122"/>
                </a:defRPr>
              </a:lvl3pPr>
              <a:lvl4pPr marL="1600200" indent="-228600">
                <a:defRPr kumimoji="1" sz="3600" b="1">
                  <a:solidFill>
                    <a:schemeClr val="tx2"/>
                  </a:solidFill>
                  <a:latin typeface="楷体_GB2312" pitchFamily="49" charset="-122"/>
                  <a:ea typeface="楷体_GB2312" pitchFamily="49" charset="-122"/>
                </a:defRPr>
              </a:lvl4pPr>
              <a:lvl5pPr marL="2057400" indent="-22860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a:defRPr/>
              </a:pPr>
              <a:endParaRPr lang="zh-CN" altLang="en-US">
                <a:cs typeface="+mn-cs"/>
              </a:endParaRPr>
            </a:p>
          </p:txBody>
        </p:sp>
        <p:sp>
          <p:nvSpPr>
            <p:cNvPr id="24597" name="Text Box 15"/>
            <p:cNvSpPr txBox="1">
              <a:spLocks noChangeArrowheads="1"/>
            </p:cNvSpPr>
            <p:nvPr/>
          </p:nvSpPr>
          <p:spPr bwMode="auto">
            <a:xfrm>
              <a:off x="748" y="2812"/>
              <a:ext cx="356" cy="404"/>
            </a:xfrm>
            <a:prstGeom prst="rect">
              <a:avLst/>
            </a:prstGeom>
            <a:noFill/>
            <a:ln w="9525">
              <a:noFill/>
              <a:miter lim="800000"/>
            </a:ln>
          </p:spPr>
          <p:txBody>
            <a:bodyPr wrap="none">
              <a:spAutoFit/>
            </a:bodyPr>
            <a:lstStyle/>
            <a:p>
              <a:r>
                <a:rPr lang="en-US" altLang="zh-CN" i="1">
                  <a:latin typeface="Times New Roman" panose="02020603050405020304" pitchFamily="18" charset="0"/>
                  <a:ea typeface="楷体_GB2312"/>
                </a:rPr>
                <a:t>a</a:t>
              </a:r>
              <a:r>
                <a:rPr lang="en-US" altLang="zh-CN" baseline="-25000">
                  <a:latin typeface="Times New Roman" panose="02020603050405020304" pitchFamily="18" charset="0"/>
                  <a:ea typeface="楷体_GB2312"/>
                </a:rPr>
                <a:t>1</a:t>
              </a:r>
              <a:endParaRPr lang="en-US" altLang="zh-CN" sz="2400" b="0">
                <a:latin typeface="Times New Roman" panose="02020603050405020304" pitchFamily="18" charset="0"/>
                <a:ea typeface="楷体_GB2312"/>
              </a:endParaRPr>
            </a:p>
          </p:txBody>
        </p:sp>
        <p:sp>
          <p:nvSpPr>
            <p:cNvPr id="24598" name="Text Box 16"/>
            <p:cNvSpPr txBox="1">
              <a:spLocks noChangeArrowheads="1"/>
            </p:cNvSpPr>
            <p:nvPr/>
          </p:nvSpPr>
          <p:spPr bwMode="auto">
            <a:xfrm>
              <a:off x="1488" y="2812"/>
              <a:ext cx="356" cy="404"/>
            </a:xfrm>
            <a:prstGeom prst="rect">
              <a:avLst/>
            </a:prstGeom>
            <a:noFill/>
            <a:ln w="9525">
              <a:noFill/>
              <a:miter lim="800000"/>
            </a:ln>
          </p:spPr>
          <p:txBody>
            <a:bodyPr wrap="none">
              <a:spAutoFit/>
            </a:bodyPr>
            <a:lstStyle/>
            <a:p>
              <a:r>
                <a:rPr lang="en-US" altLang="zh-CN" i="1">
                  <a:latin typeface="Times New Roman" panose="02020603050405020304" pitchFamily="18" charset="0"/>
                  <a:ea typeface="楷体_GB2312"/>
                </a:rPr>
                <a:t>a</a:t>
              </a:r>
              <a:r>
                <a:rPr lang="en-US" altLang="zh-CN" baseline="-25000">
                  <a:latin typeface="Times New Roman" panose="02020603050405020304" pitchFamily="18" charset="0"/>
                  <a:ea typeface="楷体_GB2312"/>
                </a:rPr>
                <a:t>2</a:t>
              </a:r>
              <a:endParaRPr lang="en-US" altLang="zh-CN" sz="2400" b="0">
                <a:latin typeface="Times New Roman" panose="02020603050405020304" pitchFamily="18" charset="0"/>
                <a:ea typeface="楷体_GB2312"/>
              </a:endParaRPr>
            </a:p>
          </p:txBody>
        </p:sp>
        <p:sp>
          <p:nvSpPr>
            <p:cNvPr id="24599" name="Text Box 17"/>
            <p:cNvSpPr txBox="1">
              <a:spLocks noChangeArrowheads="1"/>
            </p:cNvSpPr>
            <p:nvPr/>
          </p:nvSpPr>
          <p:spPr bwMode="auto">
            <a:xfrm>
              <a:off x="2284" y="2812"/>
              <a:ext cx="356" cy="404"/>
            </a:xfrm>
            <a:prstGeom prst="rect">
              <a:avLst/>
            </a:prstGeom>
            <a:noFill/>
            <a:ln w="9525">
              <a:noFill/>
              <a:miter lim="800000"/>
            </a:ln>
          </p:spPr>
          <p:txBody>
            <a:bodyPr wrap="none">
              <a:spAutoFit/>
            </a:bodyPr>
            <a:lstStyle/>
            <a:p>
              <a:r>
                <a:rPr lang="en-US" altLang="zh-CN" i="1">
                  <a:latin typeface="Times New Roman" panose="02020603050405020304" pitchFamily="18" charset="0"/>
                  <a:ea typeface="楷体_GB2312"/>
                </a:rPr>
                <a:t>a</a:t>
              </a:r>
              <a:r>
                <a:rPr lang="en-US" altLang="zh-CN" baseline="-25000">
                  <a:latin typeface="Times New Roman" panose="02020603050405020304" pitchFamily="18" charset="0"/>
                  <a:ea typeface="楷体_GB2312"/>
                </a:rPr>
                <a:t>3</a:t>
              </a:r>
              <a:endParaRPr lang="en-US" altLang="zh-CN" sz="2400" b="0">
                <a:latin typeface="Times New Roman" panose="02020603050405020304" pitchFamily="18" charset="0"/>
                <a:ea typeface="楷体_GB2312"/>
              </a:endParaRPr>
            </a:p>
          </p:txBody>
        </p:sp>
        <p:sp>
          <p:nvSpPr>
            <p:cNvPr id="24600" name="Text Box 18"/>
            <p:cNvSpPr txBox="1">
              <a:spLocks noChangeArrowheads="1"/>
            </p:cNvSpPr>
            <p:nvPr/>
          </p:nvSpPr>
          <p:spPr bwMode="auto">
            <a:xfrm>
              <a:off x="3024" y="2812"/>
              <a:ext cx="356" cy="404"/>
            </a:xfrm>
            <a:prstGeom prst="rect">
              <a:avLst/>
            </a:prstGeom>
            <a:noFill/>
            <a:ln w="9525">
              <a:noFill/>
              <a:miter lim="800000"/>
            </a:ln>
          </p:spPr>
          <p:txBody>
            <a:bodyPr wrap="none">
              <a:spAutoFit/>
            </a:bodyPr>
            <a:lstStyle/>
            <a:p>
              <a:r>
                <a:rPr lang="en-US" altLang="zh-CN" i="1">
                  <a:latin typeface="Times New Roman" panose="02020603050405020304" pitchFamily="18" charset="0"/>
                  <a:ea typeface="楷体_GB2312"/>
                </a:rPr>
                <a:t>a</a:t>
              </a:r>
              <a:r>
                <a:rPr lang="en-US" altLang="zh-CN" baseline="-25000">
                  <a:latin typeface="Times New Roman" panose="02020603050405020304" pitchFamily="18" charset="0"/>
                  <a:ea typeface="楷体_GB2312"/>
                </a:rPr>
                <a:t>4</a:t>
              </a:r>
              <a:endParaRPr lang="en-US" altLang="zh-CN" sz="2400" b="0">
                <a:latin typeface="Times New Roman" panose="02020603050405020304" pitchFamily="18" charset="0"/>
                <a:ea typeface="楷体_GB2312"/>
              </a:endParaRPr>
            </a:p>
          </p:txBody>
        </p:sp>
        <p:sp>
          <p:nvSpPr>
            <p:cNvPr id="24601" name="Text Box 19"/>
            <p:cNvSpPr txBox="1">
              <a:spLocks noChangeArrowheads="1"/>
            </p:cNvSpPr>
            <p:nvPr/>
          </p:nvSpPr>
          <p:spPr bwMode="auto">
            <a:xfrm>
              <a:off x="3792" y="2812"/>
              <a:ext cx="356" cy="404"/>
            </a:xfrm>
            <a:prstGeom prst="rect">
              <a:avLst/>
            </a:prstGeom>
            <a:noFill/>
            <a:ln w="9525">
              <a:noFill/>
              <a:miter lim="800000"/>
            </a:ln>
          </p:spPr>
          <p:txBody>
            <a:bodyPr wrap="none">
              <a:spAutoFit/>
            </a:bodyPr>
            <a:lstStyle/>
            <a:p>
              <a:r>
                <a:rPr lang="en-US" altLang="zh-CN" i="1">
                  <a:latin typeface="Times New Roman" panose="02020603050405020304" pitchFamily="18" charset="0"/>
                  <a:ea typeface="楷体_GB2312"/>
                </a:rPr>
                <a:t>a</a:t>
              </a:r>
              <a:r>
                <a:rPr lang="en-US" altLang="zh-CN" baseline="-25000">
                  <a:latin typeface="Times New Roman" panose="02020603050405020304" pitchFamily="18" charset="0"/>
                  <a:ea typeface="楷体_GB2312"/>
                </a:rPr>
                <a:t>5</a:t>
              </a:r>
              <a:endParaRPr lang="en-US" altLang="zh-CN" sz="2400" b="0">
                <a:latin typeface="Times New Roman" panose="02020603050405020304" pitchFamily="18" charset="0"/>
                <a:ea typeface="楷体_GB2312"/>
              </a:endParaRPr>
            </a:p>
          </p:txBody>
        </p:sp>
        <p:sp>
          <p:nvSpPr>
            <p:cNvPr id="24602" name="Text Box 20"/>
            <p:cNvSpPr txBox="1">
              <a:spLocks noChangeArrowheads="1"/>
            </p:cNvSpPr>
            <p:nvPr/>
          </p:nvSpPr>
          <p:spPr bwMode="auto">
            <a:xfrm>
              <a:off x="4560" y="2812"/>
              <a:ext cx="356" cy="404"/>
            </a:xfrm>
            <a:prstGeom prst="rect">
              <a:avLst/>
            </a:prstGeom>
            <a:noFill/>
            <a:ln w="9525">
              <a:noFill/>
              <a:miter lim="800000"/>
            </a:ln>
          </p:spPr>
          <p:txBody>
            <a:bodyPr wrap="none">
              <a:spAutoFit/>
            </a:bodyPr>
            <a:lstStyle/>
            <a:p>
              <a:r>
                <a:rPr lang="en-US" altLang="zh-CN" i="1">
                  <a:latin typeface="Times New Roman" panose="02020603050405020304" pitchFamily="18" charset="0"/>
                  <a:ea typeface="楷体_GB2312"/>
                </a:rPr>
                <a:t>a</a:t>
              </a:r>
              <a:r>
                <a:rPr lang="en-US" altLang="zh-CN" baseline="-25000">
                  <a:latin typeface="Times New Roman" panose="02020603050405020304" pitchFamily="18" charset="0"/>
                  <a:ea typeface="楷体_GB2312"/>
                </a:rPr>
                <a:t>6</a:t>
              </a:r>
              <a:endParaRPr lang="en-US" altLang="zh-CN" sz="2400" b="0">
                <a:latin typeface="Times New Roman" panose="02020603050405020304" pitchFamily="18" charset="0"/>
                <a:ea typeface="楷体_GB2312"/>
              </a:endParaRPr>
            </a:p>
          </p:txBody>
        </p:sp>
      </p:grpSp>
    </p:spTree>
  </p:cSld>
  <p:clrMapOvr>
    <a:masterClrMapping/>
  </p:clrMapOvr>
  <p:transition>
    <p:strips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p:cNvSpPr>
          <p:nvPr>
            <p:ph type="title"/>
          </p:nvPr>
        </p:nvSpPr>
        <p:spPr/>
        <p:txBody>
          <a:bodyPr/>
          <a:lstStyle/>
          <a:p>
            <a:pPr eaLnBrk="1" fontAlgn="base" hangingPunct="1">
              <a:spcAft>
                <a:spcPct val="0"/>
              </a:spcAft>
              <a:defRPr/>
            </a:pPr>
            <a:r>
              <a:rPr kumimoji="1" sz="4800" b="1" dirty="0" err="1">
                <a:solidFill>
                  <a:schemeClr val="tx2"/>
                </a:solidFill>
                <a:effectLst>
                  <a:outerShdw blurRad="38100" dist="38100" dir="2700000" algn="tl">
                    <a:srgbClr val="C0C0C0"/>
                  </a:outerShdw>
                </a:effectLst>
                <a:latin typeface="Times New Roman" panose="02020603050405020304" pitchFamily="18" charset="0"/>
                <a:ea typeface="楷体_GB2312" pitchFamily="49" charset="-122"/>
                <a:cs typeface="+mn-cs"/>
              </a:rPr>
              <a:t>线性表的逻辑结构</a:t>
            </a:r>
            <a:endParaRPr kumimoji="1" sz="4800" b="1" dirty="0">
              <a:solidFill>
                <a:schemeClr val="tx2"/>
              </a:solidFill>
              <a:effectLst>
                <a:outerShdw blurRad="38100" dist="38100" dir="2700000" algn="tl">
                  <a:srgbClr val="C0C0C0"/>
                </a:outerShdw>
              </a:effectLst>
              <a:latin typeface="Times New Roman" panose="02020603050405020304" pitchFamily="18" charset="0"/>
              <a:ea typeface="楷体_GB2312" pitchFamily="49" charset="-122"/>
              <a:cs typeface="+mn-cs"/>
            </a:endParaRPr>
          </a:p>
        </p:txBody>
      </p:sp>
      <p:sp>
        <p:nvSpPr>
          <p:cNvPr id="11267" name="内容占位符 2"/>
          <p:cNvSpPr>
            <a:spLocks noGrp="1"/>
          </p:cNvSpPr>
          <p:nvPr>
            <p:ph idx="1"/>
          </p:nvPr>
        </p:nvSpPr>
        <p:spPr>
          <a:xfrm>
            <a:off x="838200" y="1825625"/>
            <a:ext cx="11018440" cy="4351338"/>
          </a:xfrm>
        </p:spPr>
        <p:txBody>
          <a:bodyPr/>
          <a:lstStyle/>
          <a:p>
            <a:pPr marL="0" indent="0" eaLnBrk="1" hangingPunct="1">
              <a:buNone/>
            </a:pPr>
            <a:r>
              <a:rPr kumimoji="1" lang="zh-CN" altLang="en-US"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线性表中的结点可以是单值元素</a:t>
            </a:r>
            <a:r>
              <a:rPr kumimoji="1" lang="en-US" altLang="zh-CN"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zh-CN" altLang="en-US"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每个元素只有一个数据项</a:t>
            </a:r>
            <a:r>
              <a:rPr kumimoji="1" lang="en-US" altLang="zh-CN"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a:t>
            </a:r>
          </a:p>
          <a:p>
            <a:pPr marL="0" lvl="1" indent="714375" eaLnBrk="1" hangingPunct="1"/>
            <a:r>
              <a:rPr kumimoji="1" lang="en-US" altLang="zh-CN"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26</a:t>
            </a:r>
            <a:r>
              <a:rPr kumimoji="1" lang="zh-CN" altLang="en-US"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个英文字母组成的字母表： </a:t>
            </a:r>
            <a:r>
              <a:rPr kumimoji="1" lang="en-US" altLang="zh-CN"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(A</a:t>
            </a:r>
            <a:r>
              <a:rPr kumimoji="1" lang="zh-CN" altLang="en-US"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B</a:t>
            </a:r>
            <a:r>
              <a:rPr kumimoji="1" lang="zh-CN" altLang="en-US"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C</a:t>
            </a:r>
            <a:r>
              <a:rPr kumimoji="1" lang="zh-CN" altLang="en-US"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zh-CN" altLang="en-US"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Z</a:t>
            </a:r>
            <a:r>
              <a:rPr kumimoji="1" lang="zh-CN" altLang="en-US" sz="3600" b="1" dirty="0">
                <a:effectLst>
                  <a:outerShdw blurRad="38100" dist="38100" dir="2700000" algn="tl">
                    <a:srgbClr val="C0C0C0"/>
                  </a:outerShdw>
                </a:effectLst>
                <a:latin typeface="Times New Roman" panose="02020603050405020304" pitchFamily="18" charset="0"/>
                <a:ea typeface="宋体" panose="02010600030101010101" pitchFamily="2" charset="-122"/>
              </a:rPr>
              <a:t>）</a:t>
            </a:r>
            <a:endParaRPr kumimoji="1" lang="en-US" altLang="zh-CN" sz="3600" b="1" dirty="0">
              <a:effectLst>
                <a:outerShdw blurRad="38100" dist="38100" dir="2700000" algn="tl">
                  <a:srgbClr val="C0C0C0"/>
                </a:outerShdw>
              </a:effectLst>
              <a:latin typeface="Times New Roman" panose="02020603050405020304" pitchFamily="18" charset="0"/>
              <a:ea typeface="宋体" panose="02010600030101010101" pitchFamily="2" charset="-122"/>
            </a:endParaRPr>
          </a:p>
          <a:p>
            <a:pPr lvl="1" eaLnBrk="1" hangingPunct="1"/>
            <a:endParaRPr lang="en-US" altLang="zh-CN" dirty="0"/>
          </a:p>
          <a:p>
            <a:pPr eaLnBrk="1" hangingPunct="1"/>
            <a:endParaRPr lang="en-US" altLang="zh-CN" dirty="0"/>
          </a:p>
          <a:p>
            <a:pPr eaLnBrk="1" hangingPunct="1"/>
            <a:endParaRPr lang="en-US" altLang="zh-CN" dirty="0"/>
          </a:p>
          <a:p>
            <a:pPr eaLnBrk="1" hangingPunct="1"/>
            <a:endParaRPr lang="zh-CN" altLang="en-US" dirty="0"/>
          </a:p>
        </p:txBody>
      </p:sp>
    </p:spTree>
  </p:cSld>
  <p:clrMapOvr>
    <a:masterClrMapping/>
  </p:clrMapOvr>
  <p:transition>
    <p:strips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38200" y="1690688"/>
            <a:ext cx="10515600" cy="4486275"/>
          </a:xfrm>
        </p:spPr>
        <p:txBody>
          <a:bodyPr/>
          <a:lstStyle/>
          <a:p>
            <a:pPr marL="0" indent="0">
              <a:buNone/>
            </a:pPr>
            <a:r>
              <a:rPr kumimoji="1" lang="zh-CN" altLang="en-US" sz="3600" b="1" dirty="0">
                <a:effectLst>
                  <a:outerShdw blurRad="38100" dist="38100" dir="2700000" algn="tl">
                    <a:srgbClr val="C0C0C0"/>
                  </a:outerShdw>
                </a:effectLst>
                <a:latin typeface="Times New Roman" panose="02020603050405020304" pitchFamily="18" charset="0"/>
                <a:ea typeface="宋体" panose="02010600030101010101" pitchFamily="2" charset="-122"/>
                <a:sym typeface="+mn-ea"/>
              </a:rPr>
              <a:t>线性表中的</a:t>
            </a:r>
            <a:r>
              <a:rPr kumimoji="1" lang="zh-CN" altLang="en-US" sz="3600" b="1"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mn-ea"/>
              </a:rPr>
              <a:t>结点</a:t>
            </a:r>
            <a:r>
              <a:rPr kumimoji="1" lang="zh-CN" altLang="en-US" sz="3600" b="1" dirty="0">
                <a:effectLst>
                  <a:outerShdw blurRad="38100" dist="38100" dir="2700000" algn="tl">
                    <a:srgbClr val="C0C0C0"/>
                  </a:outerShdw>
                </a:effectLst>
                <a:latin typeface="Times New Roman" panose="02020603050405020304" pitchFamily="18" charset="0"/>
                <a:ea typeface="宋体" panose="02010600030101010101" pitchFamily="2" charset="-122"/>
                <a:sym typeface="+mn-ea"/>
              </a:rPr>
              <a:t>可以是</a:t>
            </a:r>
            <a:r>
              <a:rPr kumimoji="1" lang="zh-CN" altLang="en-US" sz="3600" b="1"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mn-ea"/>
              </a:rPr>
              <a:t>记录型元素</a:t>
            </a:r>
            <a:r>
              <a:rPr kumimoji="1" lang="zh-CN" altLang="en-US" sz="3600" b="1" dirty="0">
                <a:effectLst>
                  <a:outerShdw blurRad="38100" dist="38100" dir="2700000" algn="tl">
                    <a:srgbClr val="C0C0C0"/>
                  </a:outerShdw>
                </a:effectLst>
                <a:latin typeface="Times New Roman" panose="02020603050405020304" pitchFamily="18" charset="0"/>
                <a:ea typeface="宋体" panose="02010600030101010101" pitchFamily="2" charset="-122"/>
                <a:sym typeface="+mn-ea"/>
              </a:rPr>
              <a:t>，每个元素含有多个</a:t>
            </a:r>
            <a:r>
              <a:rPr kumimoji="1" lang="zh-CN" altLang="en-US" sz="3600" b="1"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mn-ea"/>
              </a:rPr>
              <a:t>数据项 </a:t>
            </a:r>
            <a:r>
              <a:rPr kumimoji="1" lang="zh-CN" altLang="en-US" sz="3600" b="1" dirty="0">
                <a:effectLst>
                  <a:outerShdw blurRad="38100" dist="38100" dir="2700000" algn="tl">
                    <a:srgbClr val="C0C0C0"/>
                  </a:outerShdw>
                </a:effectLst>
                <a:latin typeface="Times New Roman" panose="02020603050405020304" pitchFamily="18" charset="0"/>
                <a:ea typeface="宋体" panose="02010600030101010101" pitchFamily="2" charset="-122"/>
                <a:sym typeface="+mn-ea"/>
              </a:rPr>
              <a:t>，每个项称为结点的一个</a:t>
            </a:r>
            <a:r>
              <a:rPr kumimoji="1" lang="zh-CN" altLang="en-US" sz="3600" b="1"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mn-ea"/>
              </a:rPr>
              <a:t>域</a:t>
            </a:r>
            <a:r>
              <a:rPr kumimoji="1" lang="zh-CN" altLang="en-US" sz="3600" b="1" dirty="0">
                <a:effectLst>
                  <a:outerShdw blurRad="38100" dist="38100" dir="2700000" algn="tl">
                    <a:srgbClr val="C0C0C0"/>
                  </a:outerShdw>
                </a:effectLst>
                <a:latin typeface="Times New Roman" panose="02020603050405020304" pitchFamily="18" charset="0"/>
                <a:ea typeface="宋体" panose="02010600030101010101" pitchFamily="2" charset="-122"/>
                <a:sym typeface="+mn-ea"/>
              </a:rPr>
              <a:t> 。每个元素有一个可以唯一标识每个结点的数据项组，称为</a:t>
            </a:r>
            <a:r>
              <a:rPr kumimoji="1" lang="zh-CN" altLang="en-US" sz="3600" b="1"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mn-ea"/>
              </a:rPr>
              <a:t>关键字。</a:t>
            </a:r>
            <a:endParaRPr kumimoji="1" lang="zh-CN" altLang="en-US" sz="3600" b="1"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nvGrpSpPr>
          <p:cNvPr id="92" name="Group 4"/>
          <p:cNvGrpSpPr/>
          <p:nvPr/>
        </p:nvGrpSpPr>
        <p:grpSpPr bwMode="auto">
          <a:xfrm>
            <a:off x="2423592" y="4001294"/>
            <a:ext cx="6934200" cy="2514600"/>
            <a:chOff x="-3" y="-3"/>
            <a:chExt cx="2372" cy="2646"/>
          </a:xfrm>
        </p:grpSpPr>
        <p:grpSp>
          <p:nvGrpSpPr>
            <p:cNvPr id="93" name="Group 5"/>
            <p:cNvGrpSpPr/>
            <p:nvPr/>
          </p:nvGrpSpPr>
          <p:grpSpPr bwMode="auto">
            <a:xfrm>
              <a:off x="0" y="0"/>
              <a:ext cx="2366" cy="2640"/>
              <a:chOff x="0" y="0"/>
              <a:chExt cx="2366" cy="2640"/>
            </a:xfrm>
          </p:grpSpPr>
          <p:grpSp>
            <p:nvGrpSpPr>
              <p:cNvPr id="95" name="Group 6"/>
              <p:cNvGrpSpPr/>
              <p:nvPr/>
            </p:nvGrpSpPr>
            <p:grpSpPr bwMode="auto">
              <a:xfrm>
                <a:off x="0" y="0"/>
                <a:ext cx="398" cy="416"/>
                <a:chOff x="0" y="0"/>
                <a:chExt cx="398" cy="416"/>
              </a:xfrm>
            </p:grpSpPr>
            <p:sp>
              <p:nvSpPr>
                <p:cNvPr id="178" name="Rectangle 7"/>
                <p:cNvSpPr>
                  <a:spLocks noChangeArrowheads="1"/>
                </p:cNvSpPr>
                <p:nvPr/>
              </p:nvSpPr>
              <p:spPr bwMode="auto">
                <a:xfrm>
                  <a:off x="6" y="6"/>
                  <a:ext cx="386" cy="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t>名次</a:t>
                  </a:r>
                </a:p>
              </p:txBody>
            </p:sp>
            <p:sp>
              <p:nvSpPr>
                <p:cNvPr id="179" name="Rectangle 8"/>
                <p:cNvSpPr>
                  <a:spLocks noChangeArrowheads="1"/>
                </p:cNvSpPr>
                <p:nvPr/>
              </p:nvSpPr>
              <p:spPr bwMode="auto">
                <a:xfrm>
                  <a:off x="0" y="0"/>
                  <a:ext cx="398" cy="416"/>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96" name="Group 9"/>
              <p:cNvGrpSpPr/>
              <p:nvPr/>
            </p:nvGrpSpPr>
            <p:grpSpPr bwMode="auto">
              <a:xfrm>
                <a:off x="398" y="0"/>
                <a:ext cx="742" cy="416"/>
                <a:chOff x="398" y="0"/>
                <a:chExt cx="742" cy="416"/>
              </a:xfrm>
            </p:grpSpPr>
            <p:sp>
              <p:nvSpPr>
                <p:cNvPr id="176" name="Rectangle 10"/>
                <p:cNvSpPr>
                  <a:spLocks noChangeArrowheads="1"/>
                </p:cNvSpPr>
                <p:nvPr/>
              </p:nvSpPr>
              <p:spPr bwMode="auto">
                <a:xfrm>
                  <a:off x="404" y="6"/>
                  <a:ext cx="730" cy="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t>学号</a:t>
                  </a:r>
                </a:p>
              </p:txBody>
            </p:sp>
            <p:sp>
              <p:nvSpPr>
                <p:cNvPr id="177" name="Rectangle 11"/>
                <p:cNvSpPr>
                  <a:spLocks noChangeArrowheads="1"/>
                </p:cNvSpPr>
                <p:nvPr/>
              </p:nvSpPr>
              <p:spPr bwMode="auto">
                <a:xfrm>
                  <a:off x="398" y="0"/>
                  <a:ext cx="742" cy="416"/>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97" name="Group 12"/>
              <p:cNvGrpSpPr/>
              <p:nvPr/>
            </p:nvGrpSpPr>
            <p:grpSpPr bwMode="auto">
              <a:xfrm>
                <a:off x="1140" y="0"/>
                <a:ext cx="416" cy="416"/>
                <a:chOff x="1140" y="0"/>
                <a:chExt cx="416" cy="416"/>
              </a:xfrm>
            </p:grpSpPr>
            <p:sp>
              <p:nvSpPr>
                <p:cNvPr id="174" name="Rectangle 13"/>
                <p:cNvSpPr>
                  <a:spLocks noChangeArrowheads="1"/>
                </p:cNvSpPr>
                <p:nvPr/>
              </p:nvSpPr>
              <p:spPr bwMode="auto">
                <a:xfrm>
                  <a:off x="1146" y="6"/>
                  <a:ext cx="404" cy="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t>姓名</a:t>
                  </a:r>
                </a:p>
              </p:txBody>
            </p:sp>
            <p:sp>
              <p:nvSpPr>
                <p:cNvPr id="175" name="Rectangle 14"/>
                <p:cNvSpPr>
                  <a:spLocks noChangeArrowheads="1"/>
                </p:cNvSpPr>
                <p:nvPr/>
              </p:nvSpPr>
              <p:spPr bwMode="auto">
                <a:xfrm>
                  <a:off x="1140" y="0"/>
                  <a:ext cx="416" cy="416"/>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98" name="Group 15"/>
              <p:cNvGrpSpPr/>
              <p:nvPr/>
            </p:nvGrpSpPr>
            <p:grpSpPr bwMode="auto">
              <a:xfrm>
                <a:off x="1556" y="0"/>
                <a:ext cx="405" cy="416"/>
                <a:chOff x="1556" y="0"/>
                <a:chExt cx="405" cy="416"/>
              </a:xfrm>
            </p:grpSpPr>
            <p:sp>
              <p:nvSpPr>
                <p:cNvPr id="172" name="Rectangle 16"/>
                <p:cNvSpPr>
                  <a:spLocks noChangeArrowheads="1"/>
                </p:cNvSpPr>
                <p:nvPr/>
              </p:nvSpPr>
              <p:spPr bwMode="auto">
                <a:xfrm>
                  <a:off x="1562" y="6"/>
                  <a:ext cx="393" cy="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t>性别</a:t>
                  </a:r>
                </a:p>
              </p:txBody>
            </p:sp>
            <p:sp>
              <p:nvSpPr>
                <p:cNvPr id="173" name="Rectangle 17"/>
                <p:cNvSpPr>
                  <a:spLocks noChangeArrowheads="1"/>
                </p:cNvSpPr>
                <p:nvPr/>
              </p:nvSpPr>
              <p:spPr bwMode="auto">
                <a:xfrm>
                  <a:off x="1556" y="0"/>
                  <a:ext cx="405" cy="416"/>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99" name="Group 18"/>
              <p:cNvGrpSpPr/>
              <p:nvPr/>
            </p:nvGrpSpPr>
            <p:grpSpPr bwMode="auto">
              <a:xfrm>
                <a:off x="1961" y="0"/>
                <a:ext cx="405" cy="416"/>
                <a:chOff x="1961" y="0"/>
                <a:chExt cx="405" cy="416"/>
              </a:xfrm>
            </p:grpSpPr>
            <p:sp>
              <p:nvSpPr>
                <p:cNvPr id="170" name="Rectangle 19"/>
                <p:cNvSpPr>
                  <a:spLocks noChangeArrowheads="1"/>
                </p:cNvSpPr>
                <p:nvPr/>
              </p:nvSpPr>
              <p:spPr bwMode="auto">
                <a:xfrm>
                  <a:off x="1967" y="6"/>
                  <a:ext cx="393" cy="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t>成绩</a:t>
                  </a:r>
                </a:p>
              </p:txBody>
            </p:sp>
            <p:sp>
              <p:nvSpPr>
                <p:cNvPr id="171" name="Rectangle 20"/>
                <p:cNvSpPr>
                  <a:spLocks noChangeArrowheads="1"/>
                </p:cNvSpPr>
                <p:nvPr/>
              </p:nvSpPr>
              <p:spPr bwMode="auto">
                <a:xfrm>
                  <a:off x="1961" y="0"/>
                  <a:ext cx="405" cy="416"/>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00" name="Group 21"/>
              <p:cNvGrpSpPr/>
              <p:nvPr/>
            </p:nvGrpSpPr>
            <p:grpSpPr bwMode="auto">
              <a:xfrm>
                <a:off x="0" y="422"/>
                <a:ext cx="398" cy="562"/>
                <a:chOff x="0" y="422"/>
                <a:chExt cx="398" cy="562"/>
              </a:xfrm>
            </p:grpSpPr>
            <p:sp>
              <p:nvSpPr>
                <p:cNvPr id="166" name="Rectangle 22"/>
                <p:cNvSpPr>
                  <a:spLocks noChangeArrowheads="1"/>
                </p:cNvSpPr>
                <p:nvPr/>
              </p:nvSpPr>
              <p:spPr bwMode="auto">
                <a:xfrm>
                  <a:off x="0" y="422"/>
                  <a:ext cx="398" cy="5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67" name="Group 23"/>
                <p:cNvGrpSpPr/>
                <p:nvPr/>
              </p:nvGrpSpPr>
              <p:grpSpPr bwMode="auto">
                <a:xfrm>
                  <a:off x="0" y="422"/>
                  <a:ext cx="398" cy="550"/>
                  <a:chOff x="0" y="422"/>
                  <a:chExt cx="398" cy="550"/>
                </a:xfrm>
              </p:grpSpPr>
              <p:sp>
                <p:nvSpPr>
                  <p:cNvPr id="168" name="Rectangle 24"/>
                  <p:cNvSpPr>
                    <a:spLocks noChangeArrowheads="1"/>
                  </p:cNvSpPr>
                  <p:nvPr/>
                </p:nvSpPr>
                <p:spPr bwMode="auto">
                  <a:xfrm>
                    <a:off x="6" y="428"/>
                    <a:ext cx="386" cy="544"/>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a:t>1</a:t>
                    </a:r>
                  </a:p>
                </p:txBody>
              </p:sp>
              <p:sp>
                <p:nvSpPr>
                  <p:cNvPr id="169" name="Rectangle 25"/>
                  <p:cNvSpPr>
                    <a:spLocks noChangeArrowheads="1"/>
                  </p:cNvSpPr>
                  <p:nvPr/>
                </p:nvSpPr>
                <p:spPr bwMode="auto">
                  <a:xfrm>
                    <a:off x="0" y="422"/>
                    <a:ext cx="398"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nvGrpSpPr>
              <p:cNvPr id="101" name="Group 26"/>
              <p:cNvGrpSpPr/>
              <p:nvPr/>
            </p:nvGrpSpPr>
            <p:grpSpPr bwMode="auto">
              <a:xfrm>
                <a:off x="398" y="422"/>
                <a:ext cx="742" cy="562"/>
                <a:chOff x="398" y="422"/>
                <a:chExt cx="742" cy="562"/>
              </a:xfrm>
            </p:grpSpPr>
            <p:sp>
              <p:nvSpPr>
                <p:cNvPr id="162" name="Rectangle 27"/>
                <p:cNvSpPr>
                  <a:spLocks noChangeArrowheads="1"/>
                </p:cNvSpPr>
                <p:nvPr/>
              </p:nvSpPr>
              <p:spPr bwMode="auto">
                <a:xfrm>
                  <a:off x="398" y="422"/>
                  <a:ext cx="742" cy="5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63" name="Group 28"/>
                <p:cNvGrpSpPr/>
                <p:nvPr/>
              </p:nvGrpSpPr>
              <p:grpSpPr bwMode="auto">
                <a:xfrm>
                  <a:off x="398" y="422"/>
                  <a:ext cx="742" cy="550"/>
                  <a:chOff x="398" y="422"/>
                  <a:chExt cx="742" cy="550"/>
                </a:xfrm>
              </p:grpSpPr>
              <p:sp>
                <p:nvSpPr>
                  <p:cNvPr id="164" name="Rectangle 29"/>
                  <p:cNvSpPr>
                    <a:spLocks noChangeArrowheads="1"/>
                  </p:cNvSpPr>
                  <p:nvPr/>
                </p:nvSpPr>
                <p:spPr bwMode="auto">
                  <a:xfrm>
                    <a:off x="404" y="428"/>
                    <a:ext cx="730" cy="544"/>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dirty="0"/>
                      <a:t>2025010269</a:t>
                    </a:r>
                  </a:p>
                </p:txBody>
              </p:sp>
              <p:sp>
                <p:nvSpPr>
                  <p:cNvPr id="165" name="Rectangle 30"/>
                  <p:cNvSpPr>
                    <a:spLocks noChangeArrowheads="1"/>
                  </p:cNvSpPr>
                  <p:nvPr/>
                </p:nvSpPr>
                <p:spPr bwMode="auto">
                  <a:xfrm>
                    <a:off x="398" y="422"/>
                    <a:ext cx="742"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nvGrpSpPr>
              <p:cNvPr id="102" name="Group 31"/>
              <p:cNvGrpSpPr/>
              <p:nvPr/>
            </p:nvGrpSpPr>
            <p:grpSpPr bwMode="auto">
              <a:xfrm>
                <a:off x="1140" y="422"/>
                <a:ext cx="416" cy="562"/>
                <a:chOff x="1140" y="422"/>
                <a:chExt cx="416" cy="562"/>
              </a:xfrm>
            </p:grpSpPr>
            <p:sp>
              <p:nvSpPr>
                <p:cNvPr id="158" name="Rectangle 32"/>
                <p:cNvSpPr>
                  <a:spLocks noChangeArrowheads="1"/>
                </p:cNvSpPr>
                <p:nvPr/>
              </p:nvSpPr>
              <p:spPr bwMode="auto">
                <a:xfrm>
                  <a:off x="1140" y="422"/>
                  <a:ext cx="416" cy="5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59" name="Group 33"/>
                <p:cNvGrpSpPr/>
                <p:nvPr/>
              </p:nvGrpSpPr>
              <p:grpSpPr bwMode="auto">
                <a:xfrm>
                  <a:off x="1140" y="422"/>
                  <a:ext cx="416" cy="550"/>
                  <a:chOff x="1140" y="422"/>
                  <a:chExt cx="416" cy="550"/>
                </a:xfrm>
              </p:grpSpPr>
              <p:sp>
                <p:nvSpPr>
                  <p:cNvPr id="160" name="Rectangle 34"/>
                  <p:cNvSpPr>
                    <a:spLocks noChangeArrowheads="1"/>
                  </p:cNvSpPr>
                  <p:nvPr/>
                </p:nvSpPr>
                <p:spPr bwMode="auto">
                  <a:xfrm>
                    <a:off x="1146" y="428"/>
                    <a:ext cx="404" cy="544"/>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dirty="0"/>
                      <a:t>柳玲</a:t>
                    </a:r>
                  </a:p>
                </p:txBody>
              </p:sp>
              <p:sp>
                <p:nvSpPr>
                  <p:cNvPr id="161" name="Rectangle 35"/>
                  <p:cNvSpPr>
                    <a:spLocks noChangeArrowheads="1"/>
                  </p:cNvSpPr>
                  <p:nvPr/>
                </p:nvSpPr>
                <p:spPr bwMode="auto">
                  <a:xfrm>
                    <a:off x="1140" y="422"/>
                    <a:ext cx="416"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nvGrpSpPr>
              <p:cNvPr id="103" name="Group 36"/>
              <p:cNvGrpSpPr/>
              <p:nvPr/>
            </p:nvGrpSpPr>
            <p:grpSpPr bwMode="auto">
              <a:xfrm>
                <a:off x="1556" y="422"/>
                <a:ext cx="405" cy="562"/>
                <a:chOff x="1556" y="422"/>
                <a:chExt cx="405" cy="562"/>
              </a:xfrm>
            </p:grpSpPr>
            <p:sp>
              <p:nvSpPr>
                <p:cNvPr id="154" name="Rectangle 37"/>
                <p:cNvSpPr>
                  <a:spLocks noChangeArrowheads="1"/>
                </p:cNvSpPr>
                <p:nvPr/>
              </p:nvSpPr>
              <p:spPr bwMode="auto">
                <a:xfrm>
                  <a:off x="1556" y="422"/>
                  <a:ext cx="405" cy="5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55" name="Group 38"/>
                <p:cNvGrpSpPr/>
                <p:nvPr/>
              </p:nvGrpSpPr>
              <p:grpSpPr bwMode="auto">
                <a:xfrm>
                  <a:off x="1556" y="422"/>
                  <a:ext cx="405" cy="550"/>
                  <a:chOff x="1556" y="422"/>
                  <a:chExt cx="405" cy="550"/>
                </a:xfrm>
              </p:grpSpPr>
              <p:sp>
                <p:nvSpPr>
                  <p:cNvPr id="156" name="Rectangle 39"/>
                  <p:cNvSpPr>
                    <a:spLocks noChangeArrowheads="1"/>
                  </p:cNvSpPr>
                  <p:nvPr/>
                </p:nvSpPr>
                <p:spPr bwMode="auto">
                  <a:xfrm>
                    <a:off x="1562" y="428"/>
                    <a:ext cx="393" cy="544"/>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t>女</a:t>
                    </a:r>
                  </a:p>
                </p:txBody>
              </p:sp>
              <p:sp>
                <p:nvSpPr>
                  <p:cNvPr id="157" name="Rectangle 40"/>
                  <p:cNvSpPr>
                    <a:spLocks noChangeArrowheads="1"/>
                  </p:cNvSpPr>
                  <p:nvPr/>
                </p:nvSpPr>
                <p:spPr bwMode="auto">
                  <a:xfrm>
                    <a:off x="1556" y="422"/>
                    <a:ext cx="405"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nvGrpSpPr>
              <p:cNvPr id="104" name="Group 41"/>
              <p:cNvGrpSpPr/>
              <p:nvPr/>
            </p:nvGrpSpPr>
            <p:grpSpPr bwMode="auto">
              <a:xfrm>
                <a:off x="1961" y="422"/>
                <a:ext cx="405" cy="562"/>
                <a:chOff x="1961" y="422"/>
                <a:chExt cx="405" cy="562"/>
              </a:xfrm>
            </p:grpSpPr>
            <p:sp>
              <p:nvSpPr>
                <p:cNvPr id="150" name="Rectangle 42"/>
                <p:cNvSpPr>
                  <a:spLocks noChangeArrowheads="1"/>
                </p:cNvSpPr>
                <p:nvPr/>
              </p:nvSpPr>
              <p:spPr bwMode="auto">
                <a:xfrm>
                  <a:off x="1961" y="422"/>
                  <a:ext cx="405" cy="56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51" name="Group 43"/>
                <p:cNvGrpSpPr/>
                <p:nvPr/>
              </p:nvGrpSpPr>
              <p:grpSpPr bwMode="auto">
                <a:xfrm>
                  <a:off x="1961" y="422"/>
                  <a:ext cx="405" cy="550"/>
                  <a:chOff x="1961" y="422"/>
                  <a:chExt cx="405" cy="550"/>
                </a:xfrm>
              </p:grpSpPr>
              <p:sp>
                <p:nvSpPr>
                  <p:cNvPr id="152" name="Rectangle 44"/>
                  <p:cNvSpPr>
                    <a:spLocks noChangeArrowheads="1"/>
                  </p:cNvSpPr>
                  <p:nvPr/>
                </p:nvSpPr>
                <p:spPr bwMode="auto">
                  <a:xfrm>
                    <a:off x="1967" y="428"/>
                    <a:ext cx="393" cy="544"/>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a:t>99</a:t>
                    </a:r>
                  </a:p>
                </p:txBody>
              </p:sp>
              <p:sp>
                <p:nvSpPr>
                  <p:cNvPr id="153" name="Rectangle 45"/>
                  <p:cNvSpPr>
                    <a:spLocks noChangeArrowheads="1"/>
                  </p:cNvSpPr>
                  <p:nvPr/>
                </p:nvSpPr>
                <p:spPr bwMode="auto">
                  <a:xfrm>
                    <a:off x="1961" y="422"/>
                    <a:ext cx="405"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nvGrpSpPr>
              <p:cNvPr id="105" name="Group 46"/>
              <p:cNvGrpSpPr/>
              <p:nvPr/>
            </p:nvGrpSpPr>
            <p:grpSpPr bwMode="auto">
              <a:xfrm>
                <a:off x="0" y="978"/>
                <a:ext cx="398" cy="550"/>
                <a:chOff x="0" y="978"/>
                <a:chExt cx="398" cy="550"/>
              </a:xfrm>
            </p:grpSpPr>
            <p:sp>
              <p:nvSpPr>
                <p:cNvPr id="148" name="Rectangle 47"/>
                <p:cNvSpPr>
                  <a:spLocks noChangeArrowheads="1"/>
                </p:cNvSpPr>
                <p:nvPr/>
              </p:nvSpPr>
              <p:spPr bwMode="auto">
                <a:xfrm>
                  <a:off x="6" y="984"/>
                  <a:ext cx="386"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a:t>2</a:t>
                  </a:r>
                </a:p>
              </p:txBody>
            </p:sp>
            <p:sp>
              <p:nvSpPr>
                <p:cNvPr id="149" name="Rectangle 48"/>
                <p:cNvSpPr>
                  <a:spLocks noChangeArrowheads="1"/>
                </p:cNvSpPr>
                <p:nvPr/>
              </p:nvSpPr>
              <p:spPr bwMode="auto">
                <a:xfrm>
                  <a:off x="0" y="978"/>
                  <a:ext cx="398"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06" name="Group 49"/>
              <p:cNvGrpSpPr/>
              <p:nvPr/>
            </p:nvGrpSpPr>
            <p:grpSpPr bwMode="auto">
              <a:xfrm>
                <a:off x="398" y="978"/>
                <a:ext cx="742" cy="550"/>
                <a:chOff x="398" y="978"/>
                <a:chExt cx="742" cy="550"/>
              </a:xfrm>
            </p:grpSpPr>
            <p:sp>
              <p:nvSpPr>
                <p:cNvPr id="146" name="Rectangle 50"/>
                <p:cNvSpPr>
                  <a:spLocks noChangeArrowheads="1"/>
                </p:cNvSpPr>
                <p:nvPr/>
              </p:nvSpPr>
              <p:spPr bwMode="auto">
                <a:xfrm>
                  <a:off x="404" y="984"/>
                  <a:ext cx="730"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dirty="0"/>
                    <a:t>2025010105</a:t>
                  </a:r>
                </a:p>
              </p:txBody>
            </p:sp>
            <p:sp>
              <p:nvSpPr>
                <p:cNvPr id="147" name="Rectangle 51"/>
                <p:cNvSpPr>
                  <a:spLocks noChangeArrowheads="1"/>
                </p:cNvSpPr>
                <p:nvPr/>
              </p:nvSpPr>
              <p:spPr bwMode="auto">
                <a:xfrm>
                  <a:off x="398" y="978"/>
                  <a:ext cx="742"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07" name="Group 52"/>
              <p:cNvGrpSpPr/>
              <p:nvPr/>
            </p:nvGrpSpPr>
            <p:grpSpPr bwMode="auto">
              <a:xfrm>
                <a:off x="1140" y="978"/>
                <a:ext cx="416" cy="550"/>
                <a:chOff x="1140" y="978"/>
                <a:chExt cx="416" cy="550"/>
              </a:xfrm>
            </p:grpSpPr>
            <p:sp>
              <p:nvSpPr>
                <p:cNvPr id="144" name="Rectangle 53"/>
                <p:cNvSpPr>
                  <a:spLocks noChangeArrowheads="1"/>
                </p:cNvSpPr>
                <p:nvPr/>
              </p:nvSpPr>
              <p:spPr bwMode="auto">
                <a:xfrm>
                  <a:off x="1146" y="984"/>
                  <a:ext cx="404"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dirty="0"/>
                    <a:t>宋杰</a:t>
                  </a:r>
                </a:p>
              </p:txBody>
            </p:sp>
            <p:sp>
              <p:nvSpPr>
                <p:cNvPr id="145" name="Rectangle 54"/>
                <p:cNvSpPr>
                  <a:spLocks noChangeArrowheads="1"/>
                </p:cNvSpPr>
                <p:nvPr/>
              </p:nvSpPr>
              <p:spPr bwMode="auto">
                <a:xfrm>
                  <a:off x="1140" y="978"/>
                  <a:ext cx="416"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08" name="Group 55"/>
              <p:cNvGrpSpPr/>
              <p:nvPr/>
            </p:nvGrpSpPr>
            <p:grpSpPr bwMode="auto">
              <a:xfrm>
                <a:off x="1556" y="978"/>
                <a:ext cx="405" cy="550"/>
                <a:chOff x="1556" y="978"/>
                <a:chExt cx="405" cy="550"/>
              </a:xfrm>
            </p:grpSpPr>
            <p:sp>
              <p:nvSpPr>
                <p:cNvPr id="142" name="Rectangle 56"/>
                <p:cNvSpPr>
                  <a:spLocks noChangeArrowheads="1"/>
                </p:cNvSpPr>
                <p:nvPr/>
              </p:nvSpPr>
              <p:spPr bwMode="auto">
                <a:xfrm>
                  <a:off x="1562" y="984"/>
                  <a:ext cx="393"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t>男</a:t>
                  </a:r>
                </a:p>
              </p:txBody>
            </p:sp>
            <p:sp>
              <p:nvSpPr>
                <p:cNvPr id="143" name="Rectangle 57"/>
                <p:cNvSpPr>
                  <a:spLocks noChangeArrowheads="1"/>
                </p:cNvSpPr>
                <p:nvPr/>
              </p:nvSpPr>
              <p:spPr bwMode="auto">
                <a:xfrm>
                  <a:off x="1556" y="978"/>
                  <a:ext cx="405"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09" name="Group 58"/>
              <p:cNvGrpSpPr/>
              <p:nvPr/>
            </p:nvGrpSpPr>
            <p:grpSpPr bwMode="auto">
              <a:xfrm>
                <a:off x="1961" y="978"/>
                <a:ext cx="405" cy="550"/>
                <a:chOff x="1961" y="978"/>
                <a:chExt cx="405" cy="550"/>
              </a:xfrm>
            </p:grpSpPr>
            <p:sp>
              <p:nvSpPr>
                <p:cNvPr id="140" name="Rectangle 59"/>
                <p:cNvSpPr>
                  <a:spLocks noChangeArrowheads="1"/>
                </p:cNvSpPr>
                <p:nvPr/>
              </p:nvSpPr>
              <p:spPr bwMode="auto">
                <a:xfrm>
                  <a:off x="1967" y="984"/>
                  <a:ext cx="393"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a:solidFill>
                        <a:srgbClr val="0000FF"/>
                      </a:solidFill>
                    </a:rPr>
                    <a:t>98</a:t>
                  </a:r>
                  <a:endParaRPr lang="en-US" altLang="zh-CN" sz="2000"/>
                </a:p>
              </p:txBody>
            </p:sp>
            <p:sp>
              <p:nvSpPr>
                <p:cNvPr id="141" name="Rectangle 60"/>
                <p:cNvSpPr>
                  <a:spLocks noChangeArrowheads="1"/>
                </p:cNvSpPr>
                <p:nvPr/>
              </p:nvSpPr>
              <p:spPr bwMode="auto">
                <a:xfrm>
                  <a:off x="1961" y="978"/>
                  <a:ext cx="405"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0" name="Group 61"/>
              <p:cNvGrpSpPr/>
              <p:nvPr/>
            </p:nvGrpSpPr>
            <p:grpSpPr bwMode="auto">
              <a:xfrm>
                <a:off x="0" y="1534"/>
                <a:ext cx="398" cy="550"/>
                <a:chOff x="0" y="1534"/>
                <a:chExt cx="398" cy="550"/>
              </a:xfrm>
            </p:grpSpPr>
            <p:sp>
              <p:nvSpPr>
                <p:cNvPr id="138" name="Rectangle 62"/>
                <p:cNvSpPr>
                  <a:spLocks noChangeArrowheads="1"/>
                </p:cNvSpPr>
                <p:nvPr/>
              </p:nvSpPr>
              <p:spPr bwMode="auto">
                <a:xfrm>
                  <a:off x="6" y="1540"/>
                  <a:ext cx="386"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a:t>3</a:t>
                  </a:r>
                </a:p>
              </p:txBody>
            </p:sp>
            <p:sp>
              <p:nvSpPr>
                <p:cNvPr id="139" name="Rectangle 63"/>
                <p:cNvSpPr>
                  <a:spLocks noChangeArrowheads="1"/>
                </p:cNvSpPr>
                <p:nvPr/>
              </p:nvSpPr>
              <p:spPr bwMode="auto">
                <a:xfrm>
                  <a:off x="0" y="1534"/>
                  <a:ext cx="398"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1" name="Group 64"/>
              <p:cNvGrpSpPr/>
              <p:nvPr/>
            </p:nvGrpSpPr>
            <p:grpSpPr bwMode="auto">
              <a:xfrm>
                <a:off x="398" y="1534"/>
                <a:ext cx="742" cy="550"/>
                <a:chOff x="398" y="1534"/>
                <a:chExt cx="742" cy="550"/>
              </a:xfrm>
            </p:grpSpPr>
            <p:sp>
              <p:nvSpPr>
                <p:cNvPr id="136" name="Rectangle 65"/>
                <p:cNvSpPr>
                  <a:spLocks noChangeArrowheads="1"/>
                </p:cNvSpPr>
                <p:nvPr/>
              </p:nvSpPr>
              <p:spPr bwMode="auto">
                <a:xfrm>
                  <a:off x="404" y="1540"/>
                  <a:ext cx="730"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dirty="0"/>
                    <a:t>2025010108</a:t>
                  </a:r>
                </a:p>
              </p:txBody>
            </p:sp>
            <p:sp>
              <p:nvSpPr>
                <p:cNvPr id="137" name="Rectangle 66"/>
                <p:cNvSpPr>
                  <a:spLocks noChangeArrowheads="1"/>
                </p:cNvSpPr>
                <p:nvPr/>
              </p:nvSpPr>
              <p:spPr bwMode="auto">
                <a:xfrm>
                  <a:off x="398" y="1534"/>
                  <a:ext cx="742"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2" name="Group 67"/>
              <p:cNvGrpSpPr/>
              <p:nvPr/>
            </p:nvGrpSpPr>
            <p:grpSpPr bwMode="auto">
              <a:xfrm>
                <a:off x="1140" y="1534"/>
                <a:ext cx="416" cy="550"/>
                <a:chOff x="1140" y="1534"/>
                <a:chExt cx="416" cy="550"/>
              </a:xfrm>
            </p:grpSpPr>
            <p:sp>
              <p:nvSpPr>
                <p:cNvPr id="134" name="Rectangle 68"/>
                <p:cNvSpPr>
                  <a:spLocks noChangeArrowheads="1"/>
                </p:cNvSpPr>
                <p:nvPr/>
              </p:nvSpPr>
              <p:spPr bwMode="auto">
                <a:xfrm>
                  <a:off x="1146" y="1540"/>
                  <a:ext cx="404"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t>李冰杰</a:t>
                  </a:r>
                </a:p>
              </p:txBody>
            </p:sp>
            <p:sp>
              <p:nvSpPr>
                <p:cNvPr id="135" name="Rectangle 69"/>
                <p:cNvSpPr>
                  <a:spLocks noChangeArrowheads="1"/>
                </p:cNvSpPr>
                <p:nvPr/>
              </p:nvSpPr>
              <p:spPr bwMode="auto">
                <a:xfrm>
                  <a:off x="1140" y="1534"/>
                  <a:ext cx="416"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3" name="Group 70"/>
              <p:cNvGrpSpPr/>
              <p:nvPr/>
            </p:nvGrpSpPr>
            <p:grpSpPr bwMode="auto">
              <a:xfrm>
                <a:off x="1556" y="1534"/>
                <a:ext cx="405" cy="550"/>
                <a:chOff x="1556" y="1534"/>
                <a:chExt cx="405" cy="550"/>
              </a:xfrm>
            </p:grpSpPr>
            <p:sp>
              <p:nvSpPr>
                <p:cNvPr id="132" name="Rectangle 71"/>
                <p:cNvSpPr>
                  <a:spLocks noChangeArrowheads="1"/>
                </p:cNvSpPr>
                <p:nvPr/>
              </p:nvSpPr>
              <p:spPr bwMode="auto">
                <a:xfrm>
                  <a:off x="1562" y="1540"/>
                  <a:ext cx="393"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t>女</a:t>
                  </a:r>
                </a:p>
              </p:txBody>
            </p:sp>
            <p:sp>
              <p:nvSpPr>
                <p:cNvPr id="133" name="Rectangle 72"/>
                <p:cNvSpPr>
                  <a:spLocks noChangeArrowheads="1"/>
                </p:cNvSpPr>
                <p:nvPr/>
              </p:nvSpPr>
              <p:spPr bwMode="auto">
                <a:xfrm>
                  <a:off x="1556" y="1534"/>
                  <a:ext cx="405"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4" name="Group 73"/>
              <p:cNvGrpSpPr/>
              <p:nvPr/>
            </p:nvGrpSpPr>
            <p:grpSpPr bwMode="auto">
              <a:xfrm>
                <a:off x="1961" y="1534"/>
                <a:ext cx="405" cy="550"/>
                <a:chOff x="1961" y="1534"/>
                <a:chExt cx="405" cy="550"/>
              </a:xfrm>
            </p:grpSpPr>
            <p:sp>
              <p:nvSpPr>
                <p:cNvPr id="130" name="Rectangle 74"/>
                <p:cNvSpPr>
                  <a:spLocks noChangeArrowheads="1"/>
                </p:cNvSpPr>
                <p:nvPr/>
              </p:nvSpPr>
              <p:spPr bwMode="auto">
                <a:xfrm>
                  <a:off x="1967" y="1540"/>
                  <a:ext cx="393"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a:solidFill>
                        <a:srgbClr val="0000FF"/>
                      </a:solidFill>
                    </a:rPr>
                    <a:t>96</a:t>
                  </a:r>
                  <a:endParaRPr lang="en-US" altLang="zh-CN" sz="2000"/>
                </a:p>
              </p:txBody>
            </p:sp>
            <p:sp>
              <p:nvSpPr>
                <p:cNvPr id="131" name="Rectangle 75"/>
                <p:cNvSpPr>
                  <a:spLocks noChangeArrowheads="1"/>
                </p:cNvSpPr>
                <p:nvPr/>
              </p:nvSpPr>
              <p:spPr bwMode="auto">
                <a:xfrm>
                  <a:off x="1961" y="1534"/>
                  <a:ext cx="405"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5" name="Group 76"/>
              <p:cNvGrpSpPr/>
              <p:nvPr/>
            </p:nvGrpSpPr>
            <p:grpSpPr bwMode="auto">
              <a:xfrm>
                <a:off x="0" y="2090"/>
                <a:ext cx="398" cy="550"/>
                <a:chOff x="0" y="2090"/>
                <a:chExt cx="398" cy="550"/>
              </a:xfrm>
            </p:grpSpPr>
            <p:sp>
              <p:nvSpPr>
                <p:cNvPr id="128" name="Rectangle 77"/>
                <p:cNvSpPr>
                  <a:spLocks noChangeArrowheads="1"/>
                </p:cNvSpPr>
                <p:nvPr/>
              </p:nvSpPr>
              <p:spPr bwMode="auto">
                <a:xfrm>
                  <a:off x="6" y="2096"/>
                  <a:ext cx="386"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a:t>4</a:t>
                  </a:r>
                </a:p>
              </p:txBody>
            </p:sp>
            <p:sp>
              <p:nvSpPr>
                <p:cNvPr id="129" name="Rectangle 78"/>
                <p:cNvSpPr>
                  <a:spLocks noChangeArrowheads="1"/>
                </p:cNvSpPr>
                <p:nvPr/>
              </p:nvSpPr>
              <p:spPr bwMode="auto">
                <a:xfrm>
                  <a:off x="0" y="2090"/>
                  <a:ext cx="398"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6" name="Group 79"/>
              <p:cNvGrpSpPr/>
              <p:nvPr/>
            </p:nvGrpSpPr>
            <p:grpSpPr bwMode="auto">
              <a:xfrm>
                <a:off x="398" y="2090"/>
                <a:ext cx="742" cy="550"/>
                <a:chOff x="398" y="2090"/>
                <a:chExt cx="742" cy="550"/>
              </a:xfrm>
            </p:grpSpPr>
            <p:sp>
              <p:nvSpPr>
                <p:cNvPr id="126" name="Rectangle 80"/>
                <p:cNvSpPr>
                  <a:spLocks noChangeArrowheads="1"/>
                </p:cNvSpPr>
                <p:nvPr/>
              </p:nvSpPr>
              <p:spPr bwMode="auto">
                <a:xfrm>
                  <a:off x="404" y="2096"/>
                  <a:ext cx="730"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dirty="0"/>
                    <a:t>2025010113</a:t>
                  </a:r>
                </a:p>
              </p:txBody>
            </p:sp>
            <p:sp>
              <p:nvSpPr>
                <p:cNvPr id="127" name="Rectangle 81"/>
                <p:cNvSpPr>
                  <a:spLocks noChangeArrowheads="1"/>
                </p:cNvSpPr>
                <p:nvPr/>
              </p:nvSpPr>
              <p:spPr bwMode="auto">
                <a:xfrm>
                  <a:off x="398" y="2090"/>
                  <a:ext cx="742"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7" name="Group 82"/>
              <p:cNvGrpSpPr/>
              <p:nvPr/>
            </p:nvGrpSpPr>
            <p:grpSpPr bwMode="auto">
              <a:xfrm>
                <a:off x="1140" y="2090"/>
                <a:ext cx="416" cy="550"/>
                <a:chOff x="1140" y="2090"/>
                <a:chExt cx="416" cy="550"/>
              </a:xfrm>
            </p:grpSpPr>
            <p:sp>
              <p:nvSpPr>
                <p:cNvPr id="124" name="Rectangle 83"/>
                <p:cNvSpPr>
                  <a:spLocks noChangeArrowheads="1"/>
                </p:cNvSpPr>
                <p:nvPr/>
              </p:nvSpPr>
              <p:spPr bwMode="auto">
                <a:xfrm>
                  <a:off x="1146" y="2096"/>
                  <a:ext cx="404"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t>韩寒</a:t>
                  </a:r>
                </a:p>
              </p:txBody>
            </p:sp>
            <p:sp>
              <p:nvSpPr>
                <p:cNvPr id="125" name="Rectangle 84"/>
                <p:cNvSpPr>
                  <a:spLocks noChangeArrowheads="1"/>
                </p:cNvSpPr>
                <p:nvPr/>
              </p:nvSpPr>
              <p:spPr bwMode="auto">
                <a:xfrm>
                  <a:off x="1140" y="2090"/>
                  <a:ext cx="416"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8" name="Group 85"/>
              <p:cNvGrpSpPr/>
              <p:nvPr/>
            </p:nvGrpSpPr>
            <p:grpSpPr bwMode="auto">
              <a:xfrm>
                <a:off x="1556" y="2090"/>
                <a:ext cx="405" cy="550"/>
                <a:chOff x="1556" y="2090"/>
                <a:chExt cx="405" cy="550"/>
              </a:xfrm>
            </p:grpSpPr>
            <p:sp>
              <p:nvSpPr>
                <p:cNvPr id="122" name="Rectangle 86"/>
                <p:cNvSpPr>
                  <a:spLocks noChangeArrowheads="1"/>
                </p:cNvSpPr>
                <p:nvPr/>
              </p:nvSpPr>
              <p:spPr bwMode="auto">
                <a:xfrm>
                  <a:off x="1562" y="2096"/>
                  <a:ext cx="393"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t>男</a:t>
                  </a:r>
                </a:p>
              </p:txBody>
            </p:sp>
            <p:sp>
              <p:nvSpPr>
                <p:cNvPr id="123" name="Rectangle 87"/>
                <p:cNvSpPr>
                  <a:spLocks noChangeArrowheads="1"/>
                </p:cNvSpPr>
                <p:nvPr/>
              </p:nvSpPr>
              <p:spPr bwMode="auto">
                <a:xfrm>
                  <a:off x="1556" y="2090"/>
                  <a:ext cx="405"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9" name="Group 88"/>
              <p:cNvGrpSpPr/>
              <p:nvPr/>
            </p:nvGrpSpPr>
            <p:grpSpPr bwMode="auto">
              <a:xfrm>
                <a:off x="1961" y="2090"/>
                <a:ext cx="405" cy="550"/>
                <a:chOff x="1961" y="2090"/>
                <a:chExt cx="405" cy="550"/>
              </a:xfrm>
            </p:grpSpPr>
            <p:sp>
              <p:nvSpPr>
                <p:cNvPr id="120" name="Rectangle 89"/>
                <p:cNvSpPr>
                  <a:spLocks noChangeArrowheads="1"/>
                </p:cNvSpPr>
                <p:nvPr/>
              </p:nvSpPr>
              <p:spPr bwMode="auto">
                <a:xfrm>
                  <a:off x="1967" y="2096"/>
                  <a:ext cx="393"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2000">
                      <a:solidFill>
                        <a:srgbClr val="0000FF"/>
                      </a:solidFill>
                    </a:rPr>
                    <a:t>90</a:t>
                  </a:r>
                  <a:endParaRPr lang="en-US" altLang="zh-CN" sz="2000"/>
                </a:p>
              </p:txBody>
            </p:sp>
            <p:sp>
              <p:nvSpPr>
                <p:cNvPr id="121" name="Rectangle 90"/>
                <p:cNvSpPr>
                  <a:spLocks noChangeArrowheads="1"/>
                </p:cNvSpPr>
                <p:nvPr/>
              </p:nvSpPr>
              <p:spPr bwMode="auto">
                <a:xfrm>
                  <a:off x="1961" y="2090"/>
                  <a:ext cx="405" cy="550"/>
                </a:xfrm>
                <a:prstGeom prst="rect">
                  <a:avLst/>
                </a:prstGeom>
                <a:noFill/>
                <a:ln w="7">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94" name="Rectangle 91"/>
            <p:cNvSpPr>
              <a:spLocks noChangeArrowheads="1"/>
            </p:cNvSpPr>
            <p:nvPr/>
          </p:nvSpPr>
          <p:spPr bwMode="auto">
            <a:xfrm>
              <a:off x="-3" y="-3"/>
              <a:ext cx="2372" cy="2646"/>
            </a:xfrm>
            <a:prstGeom prst="rect">
              <a:avLst/>
            </a:prstGeom>
            <a:noFill/>
            <a:ln w="9525">
              <a:solidFill>
                <a:srgbClr val="A0A0A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 calcmode="lin" valueType="num">
                                      <p:cBhvr additive="base">
                                        <p:cTn id="7" dur="500" fill="hold"/>
                                        <p:tgtEl>
                                          <p:spTgt spid="92"/>
                                        </p:tgtEl>
                                        <p:attrNameLst>
                                          <p:attrName>ppt_x</p:attrName>
                                        </p:attrNameLst>
                                      </p:cBhvr>
                                      <p:tavLst>
                                        <p:tav tm="0">
                                          <p:val>
                                            <p:strVal val="0-#ppt_w/2"/>
                                          </p:val>
                                        </p:tav>
                                        <p:tav tm="100000">
                                          <p:val>
                                            <p:strVal val="#ppt_x"/>
                                          </p:val>
                                        </p:tav>
                                      </p:tavLst>
                                    </p:anim>
                                    <p:anim calcmode="lin" valueType="num">
                                      <p:cBhvr additive="base">
                                        <p:cTn id="8" dur="500" fill="hold"/>
                                        <p:tgtEl>
                                          <p:spTgt spid="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p:txBody>
          <a:bodyPr/>
          <a:lstStyle/>
          <a:p>
            <a:pPr fontAlgn="base">
              <a:spcAft>
                <a:spcPct val="0"/>
              </a:spcAft>
              <a:defRPr/>
            </a:pPr>
            <a:r>
              <a:rPr kumimoji="1" sz="4800" b="1" dirty="0" err="1">
                <a:solidFill>
                  <a:schemeClr val="tx2"/>
                </a:solidFill>
                <a:effectLst>
                  <a:outerShdw blurRad="38100" dist="38100" dir="2700000" algn="tl">
                    <a:srgbClr val="C0C0C0"/>
                  </a:outerShdw>
                </a:effectLst>
                <a:latin typeface="Times New Roman" panose="02020603050405020304" pitchFamily="18" charset="0"/>
                <a:ea typeface="楷体_GB2312" pitchFamily="49" charset="-122"/>
                <a:cs typeface="+mn-cs"/>
              </a:rPr>
              <a:t>线性表的抽象数据类型定义</a:t>
            </a:r>
            <a:endParaRPr kumimoji="1" sz="4800" b="1" dirty="0">
              <a:solidFill>
                <a:schemeClr val="tx2"/>
              </a:solidFill>
              <a:effectLst>
                <a:outerShdw blurRad="38100" dist="38100" dir="2700000" algn="tl">
                  <a:srgbClr val="C0C0C0"/>
                </a:outerShdw>
              </a:effectLst>
              <a:latin typeface="Times New Roman" panose="02020603050405020304" pitchFamily="18" charset="0"/>
              <a:ea typeface="楷体_GB2312" pitchFamily="49" charset="-122"/>
              <a:cs typeface="+mn-cs"/>
            </a:endParaRPr>
          </a:p>
        </p:txBody>
      </p:sp>
      <p:sp>
        <p:nvSpPr>
          <p:cNvPr id="27650" name="内容占位符 2"/>
          <p:cNvSpPr>
            <a:spLocks noGrp="1"/>
          </p:cNvSpPr>
          <p:nvPr>
            <p:ph idx="1"/>
          </p:nvPr>
        </p:nvSpPr>
        <p:spPr>
          <a:xfrm>
            <a:off x="335360" y="1825624"/>
            <a:ext cx="11593288" cy="4843735"/>
          </a:xfrm>
        </p:spPr>
        <p:txBody>
          <a:bodyPr>
            <a:normAutofit fontScale="92500" lnSpcReduction="20000"/>
          </a:bodyPr>
          <a:lstStyle/>
          <a:p>
            <a:pPr marL="457200" lvl="1" indent="0" eaLnBrk="1" hangingPunct="1">
              <a:lnSpc>
                <a:spcPct val="110000"/>
              </a:lnSpc>
              <a:buNone/>
            </a:pPr>
            <a:r>
              <a:rPr lang="en-US" altLang="zh-CN" sz="3500" dirty="0">
                <a:latin typeface="Times New Roman" panose="02020603050405020304" pitchFamily="18" charset="0"/>
                <a:ea typeface="华文新魏" panose="02010800040101010101" pitchFamily="2" charset="-122"/>
                <a:cs typeface="Times New Roman" panose="02020603050405020304" pitchFamily="18" charset="0"/>
              </a:rPr>
              <a:t>ADT List {</a:t>
            </a:r>
          </a:p>
          <a:p>
            <a:pPr lvl="1" eaLnBrk="1" hangingPunct="1">
              <a:lnSpc>
                <a:spcPct val="110000"/>
              </a:lnSpc>
            </a:pPr>
            <a:r>
              <a:rPr lang="zh-CN" altLang="en-US" sz="3000"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数据对象</a:t>
            </a:r>
            <a:r>
              <a:rPr lang="zh-CN" altLang="en-US" sz="3000"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D = { a</a:t>
            </a:r>
            <a:r>
              <a:rPr lang="en-US" altLang="zh-CN" sz="3000"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sz="3000" dirty="0" err="1">
                <a:latin typeface="Times New Roman" panose="02020603050405020304" pitchFamily="18" charset="0"/>
                <a:ea typeface="华文新魏" panose="02010800040101010101" pitchFamily="2" charset="-122"/>
                <a:cs typeface="Times New Roman" panose="02020603050405020304" pitchFamily="18" charset="0"/>
              </a:rPr>
              <a:t>a</a:t>
            </a:r>
            <a:r>
              <a:rPr lang="en-US" altLang="zh-CN" sz="3000" baseline="-25000"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3000" dirty="0" err="1">
                <a:latin typeface="Times New Roman" panose="02020603050405020304" pitchFamily="18" charset="0"/>
                <a:ea typeface="华文新魏" panose="02010800040101010101" pitchFamily="2" charset="-122"/>
                <a:cs typeface="Times New Roman" panose="02020603050405020304" pitchFamily="18" charset="0"/>
              </a:rPr>
              <a:t>∈ElemSet</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000"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=1,2,…,n, n≧0 } </a:t>
            </a:r>
            <a:r>
              <a:rPr lang="zh-CN" altLang="en-US" sz="3000"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000" dirty="0" err="1">
                <a:latin typeface="Times New Roman" panose="02020603050405020304" pitchFamily="18" charset="0"/>
                <a:ea typeface="华文新魏" panose="02010800040101010101" pitchFamily="2" charset="-122"/>
                <a:cs typeface="Times New Roman" panose="02020603050405020304" pitchFamily="18" charset="0"/>
              </a:rPr>
              <a:t>ElemSet</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3000" dirty="0">
                <a:latin typeface="Times New Roman" panose="02020603050405020304" pitchFamily="18" charset="0"/>
                <a:ea typeface="华文新魏" panose="02010800040101010101" pitchFamily="2" charset="-122"/>
                <a:cs typeface="Times New Roman" panose="02020603050405020304" pitchFamily="18" charset="0"/>
              </a:rPr>
              <a:t>是</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sz="3000" dirty="0">
                <a:latin typeface="Times New Roman" panose="02020603050405020304" pitchFamily="18" charset="0"/>
                <a:ea typeface="华文新魏" panose="02010800040101010101" pitchFamily="2" charset="-122"/>
                <a:cs typeface="Times New Roman" panose="02020603050405020304" pitchFamily="18" charset="0"/>
              </a:rPr>
              <a:t>个原子表项的有限序列，每个表项的数据类型为</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T</a:t>
            </a:r>
          </a:p>
          <a:p>
            <a:pPr lvl="1" eaLnBrk="1" hangingPunct="1">
              <a:lnSpc>
                <a:spcPct val="110000"/>
              </a:lnSpc>
            </a:pPr>
            <a:r>
              <a:rPr lang="zh-CN" altLang="en-US" sz="3000"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数据关系</a:t>
            </a:r>
            <a:r>
              <a:rPr lang="zh-CN" altLang="en-US" sz="3000"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R = {&lt;a</a:t>
            </a:r>
            <a:r>
              <a:rPr lang="en-US" altLang="zh-CN" sz="3000" baseline="-25000" dirty="0">
                <a:latin typeface="Times New Roman" panose="02020603050405020304" pitchFamily="18" charset="0"/>
                <a:ea typeface="华文新魏" panose="02010800040101010101" pitchFamily="2" charset="-122"/>
                <a:cs typeface="Times New Roman" panose="02020603050405020304" pitchFamily="18" charset="0"/>
              </a:rPr>
              <a:t>i-1</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sz="3000"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&gt; | a</a:t>
            </a:r>
            <a:r>
              <a:rPr lang="en-US" altLang="zh-CN" sz="3000" baseline="-25000" dirty="0">
                <a:latin typeface="Times New Roman" panose="02020603050405020304" pitchFamily="18" charset="0"/>
                <a:ea typeface="华文新魏" panose="02010800040101010101" pitchFamily="2" charset="-122"/>
                <a:cs typeface="Times New Roman" panose="02020603050405020304" pitchFamily="18" charset="0"/>
              </a:rPr>
              <a:t>i-1</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000" dirty="0" err="1">
                <a:latin typeface="Times New Roman" panose="02020603050405020304" pitchFamily="18" charset="0"/>
                <a:ea typeface="华文新魏" panose="02010800040101010101" pitchFamily="2" charset="-122"/>
                <a:cs typeface="Times New Roman" panose="02020603050405020304" pitchFamily="18" charset="0"/>
              </a:rPr>
              <a:t>a</a:t>
            </a:r>
            <a:r>
              <a:rPr lang="en-US" altLang="zh-CN" sz="3000" baseline="-25000"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3000" dirty="0" err="1">
                <a:latin typeface="Times New Roman" panose="02020603050405020304" pitchFamily="18" charset="0"/>
                <a:ea typeface="华文新魏" panose="02010800040101010101" pitchFamily="2" charset="-122"/>
                <a:cs typeface="Times New Roman" panose="02020603050405020304" pitchFamily="18" charset="0"/>
              </a:rPr>
              <a:t>∈D</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000"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3000" dirty="0">
                <a:latin typeface="Times New Roman" panose="02020603050405020304" pitchFamily="18" charset="0"/>
                <a:ea typeface="华文新魏" panose="02010800040101010101" pitchFamily="2" charset="-122"/>
                <a:cs typeface="Times New Roman" panose="02020603050405020304" pitchFamily="18" charset="0"/>
              </a:rPr>
              <a:t>=2,3,…,n }</a:t>
            </a:r>
          </a:p>
          <a:p>
            <a:pPr lvl="1" eaLnBrk="1" hangingPunct="1">
              <a:lnSpc>
                <a:spcPct val="110000"/>
              </a:lnSpc>
            </a:pPr>
            <a:r>
              <a:rPr lang="zh-CN" altLang="en-US" sz="3000"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基本操作</a:t>
            </a:r>
          </a:p>
          <a:p>
            <a:pPr marL="457200" lvl="1" indent="457200" eaLnBrk="1" hangingPunct="1">
              <a:lnSpc>
                <a:spcPct val="110000"/>
              </a:lnSpc>
              <a:buNone/>
            </a:pPr>
            <a:r>
              <a:rPr lang="zh-CN" altLang="en-US" sz="3000" dirty="0">
                <a:latin typeface="Times New Roman" panose="02020603050405020304" pitchFamily="18" charset="0"/>
                <a:ea typeface="华文新魏" panose="02010800040101010101" pitchFamily="2" charset="-122"/>
                <a:cs typeface="Times New Roman" panose="02020603050405020304" pitchFamily="18" charset="0"/>
              </a:rPr>
              <a:t>结构初始化操作</a:t>
            </a:r>
          </a:p>
          <a:p>
            <a:pPr marL="457200" lvl="1" indent="457200" eaLnBrk="1" hangingPunct="1">
              <a:lnSpc>
                <a:spcPct val="110000"/>
              </a:lnSpc>
              <a:buNone/>
            </a:pPr>
            <a:r>
              <a:rPr lang="zh-CN" altLang="en-US" sz="3000" dirty="0">
                <a:latin typeface="Times New Roman" panose="02020603050405020304" pitchFamily="18" charset="0"/>
                <a:ea typeface="华文新魏" panose="02010800040101010101" pitchFamily="2" charset="-122"/>
                <a:cs typeface="Times New Roman" panose="02020603050405020304" pitchFamily="18" charset="0"/>
              </a:rPr>
              <a:t>结构销毁操作</a:t>
            </a:r>
          </a:p>
          <a:p>
            <a:pPr marL="457200" lvl="1" indent="457200" eaLnBrk="1" hangingPunct="1">
              <a:lnSpc>
                <a:spcPct val="110000"/>
              </a:lnSpc>
              <a:buNone/>
            </a:pPr>
            <a:r>
              <a:rPr lang="zh-CN" altLang="en-US" sz="3000" dirty="0">
                <a:latin typeface="Times New Roman" panose="02020603050405020304" pitchFamily="18" charset="0"/>
                <a:ea typeface="华文新魏" panose="02010800040101010101" pitchFamily="2" charset="-122"/>
                <a:cs typeface="Times New Roman" panose="02020603050405020304" pitchFamily="18" charset="0"/>
              </a:rPr>
              <a:t>引用型操作</a:t>
            </a:r>
          </a:p>
          <a:p>
            <a:pPr marL="457200" lvl="1" indent="457200" eaLnBrk="1" hangingPunct="1">
              <a:lnSpc>
                <a:spcPct val="110000"/>
              </a:lnSpc>
              <a:buNone/>
            </a:pPr>
            <a:r>
              <a:rPr lang="zh-CN" altLang="en-US" sz="3500" dirty="0">
                <a:latin typeface="Times New Roman" panose="02020603050405020304" pitchFamily="18" charset="0"/>
                <a:ea typeface="华文新魏" panose="02010800040101010101" pitchFamily="2" charset="-122"/>
                <a:cs typeface="Times New Roman" panose="02020603050405020304" pitchFamily="18" charset="0"/>
              </a:rPr>
              <a:t>加工性操作</a:t>
            </a:r>
            <a:endParaRPr lang="en-US" altLang="zh-CN" sz="3500" dirty="0">
              <a:latin typeface="Times New Roman" panose="02020603050405020304" pitchFamily="18" charset="0"/>
              <a:ea typeface="华文新魏" panose="02010800040101010101" pitchFamily="2" charset="-122"/>
              <a:cs typeface="Times New Roman" panose="02020603050405020304" pitchFamily="18" charset="0"/>
            </a:endParaRPr>
          </a:p>
          <a:p>
            <a:pPr marL="457200" lvl="1" eaLnBrk="1" hangingPunct="1">
              <a:lnSpc>
                <a:spcPct val="110000"/>
              </a:lnSpc>
              <a:buNone/>
            </a:pPr>
            <a:r>
              <a:rPr lang="en-US" altLang="zh-CN" sz="3500" dirty="0">
                <a:latin typeface="Times New Roman" panose="02020603050405020304" pitchFamily="18" charset="0"/>
                <a:ea typeface="华文新魏" panose="02010800040101010101" pitchFamily="2" charset="-122"/>
                <a:cs typeface="Times New Roman" panose="02020603050405020304" pitchFamily="18" charset="0"/>
              </a:rPr>
              <a:t>}//ADT List</a:t>
            </a:r>
          </a:p>
          <a:p>
            <a:pPr lvl="1" eaLnBrk="1" hangingPunct="1">
              <a:lnSpc>
                <a:spcPct val="110000"/>
              </a:lnSpc>
            </a:pPr>
            <a:endParaRPr lang="en-US" altLang="zh-CN" sz="2800" dirty="0">
              <a:latin typeface="Times New Roman" panose="02020603050405020304" pitchFamily="18" charset="0"/>
              <a:ea typeface="华文新魏" panose="02010800040101010101" pitchFamily="2" charset="-122"/>
              <a:cs typeface="Times New Roman" panose="02020603050405020304" pitchFamily="18" charset="0"/>
            </a:endParaRPr>
          </a:p>
          <a:p>
            <a:pPr eaLnBrk="1" hangingPunct="1">
              <a:buFontTx/>
              <a:buNone/>
            </a:pPr>
            <a:endParaRPr lang="zh-CN" altLang="en-US" dirty="0">
              <a:latin typeface="Times New Roman" panose="02020603050405020304" pitchFamily="18" charset="0"/>
              <a:ea typeface="华文新魏" panose="02010800040101010101" pitchFamily="2" charset="-122"/>
              <a:cs typeface="Times New Roman" panose="02020603050405020304" pitchFamily="18" charset="0"/>
            </a:endParaRPr>
          </a:p>
        </p:txBody>
      </p:sp>
    </p:spTree>
  </p:cSld>
  <p:clrMapOvr>
    <a:masterClrMapping/>
  </p:clrMapOvr>
  <p:transition>
    <p:strips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endParaRPr lang="zh-CN" altLang="en-US" dirty="0"/>
          </a:p>
        </p:txBody>
      </p:sp>
      <p:sp>
        <p:nvSpPr>
          <p:cNvPr id="10242" name="Text Box 2"/>
          <p:cNvSpPr txBox="1"/>
          <p:nvPr/>
        </p:nvSpPr>
        <p:spPr>
          <a:xfrm>
            <a:off x="2423592" y="2771620"/>
            <a:ext cx="2611612" cy="11387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2400" dirty="0">
                <a:latin typeface="楷体_GB2312" pitchFamily="49" charset="-122"/>
                <a:ea typeface="楷体_GB2312" pitchFamily="49" charset="-122"/>
              </a:rPr>
              <a:t> </a:t>
            </a:r>
            <a:r>
              <a:rPr lang="zh-CN" altLang="zh-CN" sz="4400" b="1" dirty="0">
                <a:solidFill>
                  <a:srgbClr val="333399"/>
                </a:solidFill>
                <a:ea typeface="楷体_GB2312" pitchFamily="49" charset="-122"/>
              </a:rPr>
              <a:t>InitList( )</a:t>
            </a:r>
            <a:endParaRPr lang="zh-CN" altLang="zh-CN" sz="4400" dirty="0">
              <a:ea typeface="楷体_GB2312" pitchFamily="49" charset="-122"/>
            </a:endParaRPr>
          </a:p>
          <a:p>
            <a:pPr marL="0" indent="0" eaLnBrk="1" hangingPunct="1">
              <a:spcBef>
                <a:spcPct val="0"/>
              </a:spcBef>
              <a:buClrTx/>
              <a:buNone/>
            </a:pPr>
            <a:endParaRPr lang="zh-CN" altLang="zh-CN" sz="2400" dirty="0"/>
          </a:p>
        </p:txBody>
      </p:sp>
      <p:sp>
        <p:nvSpPr>
          <p:cNvPr id="10243" name="Text Box 3"/>
          <p:cNvSpPr txBox="1"/>
          <p:nvPr/>
        </p:nvSpPr>
        <p:spPr>
          <a:xfrm>
            <a:off x="2572386" y="4456430"/>
            <a:ext cx="3001963"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b="1" dirty="0">
                <a:solidFill>
                  <a:srgbClr val="FF0000"/>
                </a:solidFill>
                <a:latin typeface="楷体_GB2312" pitchFamily="49" charset="-122"/>
                <a:ea typeface="楷体_GB2312" pitchFamily="49" charset="-122"/>
              </a:rPr>
              <a:t>操作结果：</a:t>
            </a:r>
            <a:endParaRPr lang="zh-CN" altLang="zh-CN" sz="4400" dirty="0">
              <a:latin typeface="楷体_GB2312" pitchFamily="49" charset="-122"/>
              <a:ea typeface="楷体_GB2312" pitchFamily="49" charset="-122"/>
            </a:endParaRPr>
          </a:p>
        </p:txBody>
      </p:sp>
      <p:sp>
        <p:nvSpPr>
          <p:cNvPr id="10244" name="Text Box 4"/>
          <p:cNvSpPr txBox="1"/>
          <p:nvPr/>
        </p:nvSpPr>
        <p:spPr>
          <a:xfrm>
            <a:off x="5152073" y="4486593"/>
            <a:ext cx="5573713"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latin typeface="楷体_GB2312" pitchFamily="49" charset="-122"/>
                <a:ea typeface="楷体_GB2312" pitchFamily="49" charset="-122"/>
              </a:rPr>
              <a:t>构造一个空的线性表</a:t>
            </a:r>
            <a:r>
              <a:rPr lang="zh-CN" altLang="zh-CN" sz="4000" dirty="0">
                <a:ea typeface="楷体_GB2312" pitchFamily="49" charset="-122"/>
              </a:rPr>
              <a:t>L</a:t>
            </a:r>
            <a:r>
              <a:rPr lang="zh-CN" altLang="zh-CN" sz="4000" dirty="0">
                <a:latin typeface="楷体_GB2312" pitchFamily="49" charset="-122"/>
                <a:ea typeface="楷体_GB2312" pitchFamily="49" charset="-122"/>
              </a:rPr>
              <a:t>。</a:t>
            </a:r>
          </a:p>
        </p:txBody>
      </p:sp>
      <p:sp>
        <p:nvSpPr>
          <p:cNvPr id="10245" name="Text Box 5"/>
          <p:cNvSpPr txBox="1"/>
          <p:nvPr/>
        </p:nvSpPr>
        <p:spPr>
          <a:xfrm>
            <a:off x="2496185" y="1556069"/>
            <a:ext cx="4025900" cy="10064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6000" b="1" dirty="0">
                <a:solidFill>
                  <a:srgbClr val="660033"/>
                </a:solidFill>
                <a:latin typeface="隶书" panose="02010509060101010101" pitchFamily="49" charset="-122"/>
                <a:ea typeface="隶书" panose="02010509060101010101" pitchFamily="49" charset="-122"/>
              </a:rPr>
              <a:t>初始化操作</a:t>
            </a:r>
            <a:endParaRPr lang="zh-CN" altLang="zh-CN" sz="2400" dirty="0"/>
          </a:p>
        </p:txBody>
      </p:sp>
      <p:sp>
        <p:nvSpPr>
          <p:cNvPr id="10246" name="AutoShape 6">
            <a:hlinkClick r:id="" action="ppaction://hlinkshowjump?jump=lastslideviewed"/>
          </p:cNvPr>
          <p:cNvSpPr/>
          <p:nvPr/>
        </p:nvSpPr>
        <p:spPr>
          <a:xfrm>
            <a:off x="10344785" y="6971030"/>
            <a:ext cx="381000" cy="381000"/>
          </a:xfrm>
          <a:prstGeom prst="actionButtonReturn">
            <a:avLst/>
          </a:prstGeom>
          <a:solidFill>
            <a:schemeClr val="bg2"/>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ClrTx/>
              <a:buNone/>
            </a:pPr>
            <a:endParaRPr lang="zh-CN" altLang="zh-CN" sz="3600" b="1" dirty="0"/>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ppt_x"/>
                                          </p:val>
                                        </p:tav>
                                        <p:tav tm="100000">
                                          <p:val>
                                            <p:strVal val="#ppt_x"/>
                                          </p:val>
                                        </p:tav>
                                      </p:tavLst>
                                    </p:anim>
                                    <p:anim calcmode="lin" valueType="num">
                                      <p:cBhvr additive="base">
                                        <p:cTn id="8" dur="500" fill="hold"/>
                                        <p:tgtEl>
                                          <p:spTgt spid="102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nodeType="clickEffect">
                                  <p:stCondLst>
                                    <p:cond delay="0"/>
                                  </p:stCondLst>
                                  <p:childTnLst>
                                    <p:set>
                                      <p:cBhvr>
                                        <p:cTn id="12" dur="1" fill="hold">
                                          <p:stCondLst>
                                            <p:cond delay="0"/>
                                          </p:stCondLst>
                                        </p:cTn>
                                        <p:tgtEl>
                                          <p:spTgt spid="10243"/>
                                        </p:tgtEl>
                                        <p:attrNameLst>
                                          <p:attrName>style.visibility</p:attrName>
                                        </p:attrNameLst>
                                      </p:cBhvr>
                                      <p:to>
                                        <p:strVal val="visible"/>
                                      </p:to>
                                    </p:set>
                                    <p:animEffect transition="in" filter="barn(outHorizontal)">
                                      <p:cBhvr>
                                        <p:cTn id="13" dur="500"/>
                                        <p:tgtEl>
                                          <p:spTgt spid="1024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0244"/>
                                        </p:tgtEl>
                                        <p:attrNameLst>
                                          <p:attrName>style.visibility</p:attrName>
                                        </p:attrNameLst>
                                      </p:cBhvr>
                                      <p:to>
                                        <p:strVal val="visible"/>
                                      </p:to>
                                    </p:set>
                                    <p:animEffect transition="in" filter="wipe(left)">
                                      <p:cBhvr>
                                        <p:cTn id="18" dur="500"/>
                                        <p:tgtEl>
                                          <p:spTgt spid="10244"/>
                                        </p:tgtEl>
                                      </p:cBhvr>
                                    </p:animEffect>
                                  </p:childTnLst>
                                </p:cTn>
                              </p:par>
                            </p:childTnLst>
                          </p:cTn>
                        </p:par>
                        <p:par>
                          <p:cTn id="19" fill="hold">
                            <p:stCondLst>
                              <p:cond delay="500"/>
                            </p:stCondLst>
                            <p:childTnLst>
                              <p:par>
                                <p:cTn id="20" presetID="2" presetClass="entr" presetSubtype="6" fill="hold" nodeType="afterEffect">
                                  <p:stCondLst>
                                    <p:cond delay="0"/>
                                  </p:stCondLst>
                                  <p:childTnLst>
                                    <p:set>
                                      <p:cBhvr>
                                        <p:cTn id="21" dur="1" fill="hold">
                                          <p:stCondLst>
                                            <p:cond delay="0"/>
                                          </p:stCondLst>
                                        </p:cTn>
                                        <p:tgtEl>
                                          <p:spTgt spid="10246"/>
                                        </p:tgtEl>
                                        <p:attrNameLst>
                                          <p:attrName>style.visibility</p:attrName>
                                        </p:attrNameLst>
                                      </p:cBhvr>
                                      <p:to>
                                        <p:strVal val="visible"/>
                                      </p:to>
                                    </p:set>
                                    <p:anim calcmode="lin" valueType="num">
                                      <p:cBhvr additive="base">
                                        <p:cTn id="22" dur="500" fill="hold"/>
                                        <p:tgtEl>
                                          <p:spTgt spid="10246"/>
                                        </p:tgtEl>
                                        <p:attrNameLst>
                                          <p:attrName>ppt_x</p:attrName>
                                        </p:attrNameLst>
                                      </p:cBhvr>
                                      <p:tavLst>
                                        <p:tav tm="0">
                                          <p:val>
                                            <p:strVal val="1+#ppt_w/2"/>
                                          </p:val>
                                        </p:tav>
                                        <p:tav tm="100000">
                                          <p:val>
                                            <p:strVal val="#ppt_x"/>
                                          </p:val>
                                        </p:tav>
                                      </p:tavLst>
                                    </p:anim>
                                    <p:anim calcmode="lin" valueType="num">
                                      <p:cBhvr additive="base">
                                        <p:cTn id="23" dur="500" fill="hold"/>
                                        <p:tgtEl>
                                          <p:spTgt spid="102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P spid="10243" grpId="0"/>
      <p:bldP spid="10244" grpId="0"/>
      <p:bldP spid="1024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p:nvPr/>
        </p:nvSpPr>
        <p:spPr>
          <a:xfrm>
            <a:off x="2133600" y="681039"/>
            <a:ext cx="4946650" cy="10064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2400" b="1" dirty="0">
                <a:latin typeface="楷体_GB2312" pitchFamily="49" charset="-122"/>
                <a:ea typeface="楷体_GB2312" pitchFamily="49" charset="-122"/>
              </a:rPr>
              <a:t> </a:t>
            </a:r>
            <a:r>
              <a:rPr lang="zh-CN" altLang="zh-CN" sz="6000" b="1" dirty="0">
                <a:solidFill>
                  <a:srgbClr val="660033"/>
                </a:solidFill>
                <a:latin typeface="隶书" panose="02010509060101010101" pitchFamily="49" charset="-122"/>
                <a:ea typeface="隶书" panose="02010509060101010101" pitchFamily="49" charset="-122"/>
              </a:rPr>
              <a:t>结构销毁操作</a:t>
            </a:r>
            <a:endParaRPr lang="zh-CN" altLang="zh-CN" sz="2400" dirty="0"/>
          </a:p>
        </p:txBody>
      </p:sp>
      <p:sp>
        <p:nvSpPr>
          <p:cNvPr id="11271" name="AutoShape 7">
            <a:hlinkClick r:id="" action="ppaction://hlinkshowjump?jump=lastslideviewed"/>
          </p:cNvPr>
          <p:cNvSpPr/>
          <p:nvPr/>
        </p:nvSpPr>
        <p:spPr>
          <a:xfrm>
            <a:off x="9829800" y="6096000"/>
            <a:ext cx="457200" cy="457200"/>
          </a:xfrm>
          <a:prstGeom prst="actionButtonReturn">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
        <p:nvSpPr>
          <p:cNvPr id="2" name="文本框 1">
            <a:extLst>
              <a:ext uri="{FF2B5EF4-FFF2-40B4-BE49-F238E27FC236}">
                <a16:creationId xmlns:a16="http://schemas.microsoft.com/office/drawing/2014/main" id="{475A482F-A4D6-98E0-96A9-464F453AE594}"/>
              </a:ext>
            </a:extLst>
          </p:cNvPr>
          <p:cNvSpPr txBox="1"/>
          <p:nvPr/>
        </p:nvSpPr>
        <p:spPr>
          <a:xfrm>
            <a:off x="1775520" y="2348880"/>
            <a:ext cx="8424936" cy="2753574"/>
          </a:xfrm>
          <a:prstGeom prst="rect">
            <a:avLst/>
          </a:prstGeom>
          <a:noFill/>
        </p:spPr>
        <p:txBody>
          <a:bodyPr wrap="square" rtlCol="0">
            <a:spAutoFit/>
          </a:bodyPr>
          <a:lstStyle/>
          <a:p>
            <a:pPr>
              <a:lnSpc>
                <a:spcPct val="110000"/>
              </a:lnSpc>
            </a:pPr>
            <a:r>
              <a:rPr lang="en-US" altLang="zh-CN" sz="4400" b="0" dirty="0" err="1">
                <a:solidFill>
                  <a:schemeClr val="accent1">
                    <a:lumMod val="75000"/>
                  </a:schemeClr>
                </a:solidFill>
                <a:ea typeface="楷体_GB2312" pitchFamily="49" charset="-122"/>
                <a:cs typeface="+mn-cs"/>
              </a:rPr>
              <a:t>FreeList</a:t>
            </a:r>
            <a:r>
              <a:rPr lang="en-US" altLang="zh-CN" sz="4400" b="0" dirty="0">
                <a:solidFill>
                  <a:schemeClr val="accent1">
                    <a:lumMod val="75000"/>
                  </a:schemeClr>
                </a:solidFill>
                <a:ea typeface="楷体_GB2312" pitchFamily="49" charset="-122"/>
                <a:cs typeface="+mn-cs"/>
              </a:rPr>
              <a:t>(L)</a:t>
            </a:r>
            <a:endParaRPr lang="zh-CN" altLang="zh-CN" sz="4400" b="0" dirty="0">
              <a:solidFill>
                <a:schemeClr val="accent1">
                  <a:lumMod val="75000"/>
                </a:schemeClr>
              </a:solidFill>
              <a:ea typeface="楷体_GB2312" pitchFamily="49" charset="-122"/>
              <a:cs typeface="+mn-cs"/>
            </a:endParaRPr>
          </a:p>
          <a:p>
            <a:pPr marL="629285" indent="101600" algn="just">
              <a:lnSpc>
                <a:spcPct val="110000"/>
              </a:lnSpc>
            </a:pPr>
            <a:endParaRPr lang="en-US" altLang="zh-CN" kern="100" dirty="0">
              <a:latin typeface="Courier New" panose="02070309020205020404" pitchFamily="49" charset="0"/>
              <a:cs typeface="Courier New" panose="02070309020205020404" pitchFamily="49" charset="0"/>
            </a:endParaRPr>
          </a:p>
          <a:p>
            <a:pPr marL="628650" indent="-628650" algn="just">
              <a:lnSpc>
                <a:spcPct val="110000"/>
              </a:lnSpc>
            </a:pPr>
            <a:r>
              <a:rPr lang="zh-CN" altLang="zh-CN" kern="100" dirty="0">
                <a:solidFill>
                  <a:srgbClr val="FF0000"/>
                </a:solidFill>
                <a:latin typeface="Courier New" panose="02070309020205020404" pitchFamily="49" charset="0"/>
                <a:cs typeface="Courier New" panose="02070309020205020404" pitchFamily="49" charset="0"/>
              </a:rPr>
              <a:t>初始条件</a:t>
            </a:r>
            <a:r>
              <a:rPr lang="zh-CN" altLang="zh-CN" kern="100" dirty="0">
                <a:latin typeface="Courier New" panose="02070309020205020404" pitchFamily="49" charset="0"/>
                <a:cs typeface="Courier New" panose="02070309020205020404" pitchFamily="49" charset="0"/>
              </a:rPr>
              <a:t>：</a:t>
            </a:r>
            <a:r>
              <a:rPr lang="zh-CN" altLang="zh-CN" sz="4000" b="0" dirty="0">
                <a:solidFill>
                  <a:schemeClr val="tx1"/>
                </a:solidFill>
                <a:ea typeface="楷体_GB2312" pitchFamily="49" charset="-122"/>
                <a:cs typeface="+mn-cs"/>
              </a:rPr>
              <a:t>线性表</a:t>
            </a:r>
            <a:r>
              <a:rPr lang="en-US" altLang="zh-CN" sz="4000" b="0" dirty="0">
                <a:solidFill>
                  <a:schemeClr val="tx1"/>
                </a:solidFill>
                <a:ea typeface="楷体_GB2312" pitchFamily="49" charset="-122"/>
                <a:cs typeface="+mn-cs"/>
              </a:rPr>
              <a:t>L</a:t>
            </a:r>
            <a:r>
              <a:rPr lang="zh-CN" altLang="zh-CN" sz="4000" b="0" dirty="0">
                <a:solidFill>
                  <a:schemeClr val="tx1"/>
                </a:solidFill>
                <a:ea typeface="楷体_GB2312" pitchFamily="49" charset="-122"/>
                <a:cs typeface="+mn-cs"/>
              </a:rPr>
              <a:t>已存在。</a:t>
            </a:r>
          </a:p>
          <a:p>
            <a:pPr marL="87313" indent="-1588" algn="just">
              <a:lnSpc>
                <a:spcPct val="110000"/>
              </a:lnSpc>
            </a:pPr>
            <a:r>
              <a:rPr lang="zh-CN" altLang="zh-CN" kern="100" dirty="0">
                <a:solidFill>
                  <a:srgbClr val="FF0000"/>
                </a:solidFill>
                <a:latin typeface="Courier New" panose="02070309020205020404" pitchFamily="49" charset="0"/>
                <a:cs typeface="Courier New" panose="02070309020205020404" pitchFamily="49" charset="0"/>
              </a:rPr>
              <a:t>操作结果</a:t>
            </a:r>
            <a:r>
              <a:rPr lang="zh-CN" altLang="zh-CN" kern="100" dirty="0">
                <a:latin typeface="Courier New" panose="02070309020205020404" pitchFamily="49" charset="0"/>
                <a:cs typeface="Courier New" panose="02070309020205020404" pitchFamily="49" charset="0"/>
              </a:rPr>
              <a:t>：</a:t>
            </a:r>
            <a:r>
              <a:rPr lang="zh-CN" altLang="zh-CN" sz="4000" b="0" dirty="0">
                <a:solidFill>
                  <a:schemeClr val="tx1"/>
                </a:solidFill>
                <a:ea typeface="楷体_GB2312" pitchFamily="49" charset="-122"/>
                <a:cs typeface="+mn-cs"/>
              </a:rPr>
              <a:t>回收线性表</a:t>
            </a:r>
            <a:r>
              <a:rPr lang="en-US" altLang="zh-CN" sz="4000" b="0" dirty="0">
                <a:solidFill>
                  <a:schemeClr val="tx1"/>
                </a:solidFill>
                <a:ea typeface="楷体_GB2312" pitchFamily="49" charset="-122"/>
                <a:cs typeface="+mn-cs"/>
              </a:rPr>
              <a:t>L</a:t>
            </a:r>
            <a:r>
              <a:rPr lang="zh-CN" altLang="zh-CN" sz="4000" b="0" dirty="0">
                <a:solidFill>
                  <a:schemeClr val="tx1"/>
                </a:solidFill>
                <a:ea typeface="楷体_GB2312" pitchFamily="49" charset="-122"/>
                <a:cs typeface="+mn-cs"/>
              </a:rPr>
              <a:t>，返回</a:t>
            </a:r>
            <a:r>
              <a:rPr lang="en-US" altLang="zh-CN" sz="4000" b="0" dirty="0">
                <a:solidFill>
                  <a:schemeClr val="tx1"/>
                </a:solidFill>
                <a:ea typeface="楷体_GB2312" pitchFamily="49" charset="-122"/>
                <a:cs typeface="+mn-cs"/>
              </a:rPr>
              <a:t>NULL</a:t>
            </a:r>
            <a:endParaRPr lang="zh-CN" altLang="en-US" sz="4000" b="0" dirty="0">
              <a:solidFill>
                <a:schemeClr val="tx1"/>
              </a:solidFill>
              <a:ea typeface="楷体_GB2312" pitchFamily="49" charset="-122"/>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afterEffect">
                                  <p:stCondLst>
                                    <p:cond delay="0"/>
                                  </p:stCondLst>
                                  <p:childTnLst>
                                    <p:set>
                                      <p:cBhvr>
                                        <p:cTn id="6" dur="1" fill="hold">
                                          <p:stCondLst>
                                            <p:cond delay="0"/>
                                          </p:stCondLst>
                                        </p:cTn>
                                        <p:tgtEl>
                                          <p:spTgt spid="11271"/>
                                        </p:tgtEl>
                                        <p:attrNameLst>
                                          <p:attrName>style.visibility</p:attrName>
                                        </p:attrNameLst>
                                      </p:cBhvr>
                                      <p:to>
                                        <p:strVal val="visible"/>
                                      </p:to>
                                    </p:set>
                                    <p:anim calcmode="lin" valueType="num">
                                      <p:cBhvr additive="base">
                                        <p:cTn id="7" dur="500" fill="hold"/>
                                        <p:tgtEl>
                                          <p:spTgt spid="11271"/>
                                        </p:tgtEl>
                                        <p:attrNameLst>
                                          <p:attrName>ppt_x</p:attrName>
                                        </p:attrNameLst>
                                      </p:cBhvr>
                                      <p:tavLst>
                                        <p:tav tm="0">
                                          <p:val>
                                            <p:strVal val="1+#ppt_w/2"/>
                                          </p:val>
                                        </p:tav>
                                        <p:tav tm="100000">
                                          <p:val>
                                            <p:strVal val="#ppt_x"/>
                                          </p:val>
                                        </p:tav>
                                      </p:tavLst>
                                    </p:anim>
                                    <p:anim calcmode="lin" valueType="num">
                                      <p:cBhvr additive="base">
                                        <p:cTn id="8" dur="500" fill="hold"/>
                                        <p:tgtEl>
                                          <p:spTgt spid="112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hlinkClick r:id="rId2" action="ppaction://hlinksldjump"/>
          </p:cNvPr>
          <p:cNvSpPr txBox="1"/>
          <p:nvPr/>
        </p:nvSpPr>
        <p:spPr>
          <a:xfrm>
            <a:off x="2133601" y="533401"/>
            <a:ext cx="3432175"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b="1" dirty="0">
                <a:solidFill>
                  <a:srgbClr val="333399"/>
                </a:solidFill>
                <a:ea typeface="楷体_GB2312" pitchFamily="49" charset="-122"/>
              </a:rPr>
              <a:t>ListEmpty( L )</a:t>
            </a:r>
            <a:endParaRPr lang="zh-CN" altLang="zh-CN" sz="2400" dirty="0">
              <a:solidFill>
                <a:srgbClr val="333399"/>
              </a:solidFill>
            </a:endParaRPr>
          </a:p>
        </p:txBody>
      </p:sp>
      <p:sp>
        <p:nvSpPr>
          <p:cNvPr id="12291" name="Text Box 3">
            <a:hlinkClick r:id="rId3" action="ppaction://hlinksldjump"/>
          </p:cNvPr>
          <p:cNvSpPr txBox="1"/>
          <p:nvPr/>
        </p:nvSpPr>
        <p:spPr>
          <a:xfrm>
            <a:off x="3670727" y="1447800"/>
            <a:ext cx="3490058" cy="72039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indent="558800" algn="just">
              <a:lnSpc>
                <a:spcPct val="110000"/>
              </a:lnSpc>
              <a:buNone/>
            </a:pPr>
            <a:r>
              <a:rPr lang="en-US" altLang="zh-CN" sz="4000" b="1" dirty="0" err="1">
                <a:solidFill>
                  <a:srgbClr val="333399"/>
                </a:solidFill>
                <a:ea typeface="楷体_GB2312" pitchFamily="49" charset="-122"/>
              </a:rPr>
              <a:t>ListLen</a:t>
            </a:r>
            <a:r>
              <a:rPr lang="en-US" altLang="zh-CN" sz="4000" b="1" dirty="0">
                <a:solidFill>
                  <a:srgbClr val="333399"/>
                </a:solidFill>
                <a:ea typeface="楷体_GB2312" pitchFamily="49" charset="-122"/>
              </a:rPr>
              <a:t>(L)</a:t>
            </a:r>
            <a:endParaRPr lang="zh-CN" altLang="zh-CN" sz="4000" b="1" dirty="0">
              <a:solidFill>
                <a:srgbClr val="333399"/>
              </a:solidFill>
              <a:ea typeface="楷体_GB2312" pitchFamily="49" charset="-122"/>
            </a:endParaRPr>
          </a:p>
        </p:txBody>
      </p:sp>
      <p:sp>
        <p:nvSpPr>
          <p:cNvPr id="12292" name="Text Box 4">
            <a:hlinkClick r:id="rId4" action="ppaction://hlinksldjump"/>
          </p:cNvPr>
          <p:cNvSpPr txBox="1"/>
          <p:nvPr/>
        </p:nvSpPr>
        <p:spPr>
          <a:xfrm>
            <a:off x="1905000" y="2286000"/>
            <a:ext cx="5922754" cy="72039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629285" algn="just">
              <a:lnSpc>
                <a:spcPct val="110000"/>
              </a:lnSpc>
              <a:buNone/>
            </a:pPr>
            <a:r>
              <a:rPr lang="en-US" altLang="zh-CN" sz="4000" b="1" dirty="0" err="1">
                <a:solidFill>
                  <a:srgbClr val="333399"/>
                </a:solidFill>
                <a:ea typeface="楷体_GB2312" pitchFamily="49" charset="-122"/>
              </a:rPr>
              <a:t>PrevElem</a:t>
            </a:r>
            <a:r>
              <a:rPr lang="en-US" altLang="zh-CN" sz="4000" b="1" dirty="0">
                <a:solidFill>
                  <a:srgbClr val="333399"/>
                </a:solidFill>
                <a:ea typeface="楷体_GB2312" pitchFamily="49" charset="-122"/>
              </a:rPr>
              <a:t>(L, e)</a:t>
            </a:r>
            <a:endParaRPr lang="zh-CN" altLang="zh-CN" sz="4000" b="1" dirty="0">
              <a:solidFill>
                <a:srgbClr val="333399"/>
              </a:solidFill>
              <a:ea typeface="楷体_GB2312" pitchFamily="49" charset="-122"/>
            </a:endParaRPr>
          </a:p>
        </p:txBody>
      </p:sp>
      <p:sp>
        <p:nvSpPr>
          <p:cNvPr id="12293" name="Text Box 5">
            <a:hlinkClick r:id="rId5" action="ppaction://hlinksldjump"/>
          </p:cNvPr>
          <p:cNvSpPr txBox="1"/>
          <p:nvPr/>
        </p:nvSpPr>
        <p:spPr>
          <a:xfrm>
            <a:off x="5017586" y="3200401"/>
            <a:ext cx="3944350" cy="75270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629285" algn="just">
              <a:lnSpc>
                <a:spcPct val="110000"/>
              </a:lnSpc>
              <a:buNone/>
            </a:pPr>
            <a:r>
              <a:rPr lang="en-US" altLang="zh-CN" sz="4000" b="1" dirty="0" err="1">
                <a:solidFill>
                  <a:srgbClr val="333399"/>
                </a:solidFill>
                <a:ea typeface="楷体_GB2312" pitchFamily="49" charset="-122"/>
              </a:rPr>
              <a:t>NextElem</a:t>
            </a:r>
            <a:r>
              <a:rPr lang="en-US" altLang="zh-CN" sz="4000" b="1" kern="100" dirty="0">
                <a:latin typeface="Courier New" panose="02070309020205020404" pitchFamily="49" charset="0"/>
                <a:ea typeface="宋体" panose="02010600030101010101" pitchFamily="2" charset="-122"/>
                <a:cs typeface="Times New Roman" panose="02020603050405020304" pitchFamily="18" charset="0"/>
              </a:rPr>
              <a:t>(</a:t>
            </a:r>
            <a:r>
              <a:rPr lang="en-US" altLang="zh-CN" sz="4000" b="1" dirty="0">
                <a:solidFill>
                  <a:srgbClr val="333399"/>
                </a:solidFill>
                <a:ea typeface="楷体_GB2312" pitchFamily="49" charset="-122"/>
              </a:rPr>
              <a:t>L, e)</a:t>
            </a:r>
            <a:endParaRPr lang="zh-CN" altLang="zh-CN" sz="4000" b="1" dirty="0">
              <a:solidFill>
                <a:srgbClr val="333399"/>
              </a:solidFill>
              <a:ea typeface="楷体_GB2312" pitchFamily="49" charset="-122"/>
            </a:endParaRPr>
          </a:p>
        </p:txBody>
      </p:sp>
      <p:sp>
        <p:nvSpPr>
          <p:cNvPr id="12294" name="Text Box 6">
            <a:hlinkClick r:id="rId6" action="ppaction://hlinksldjump"/>
          </p:cNvPr>
          <p:cNvSpPr txBox="1"/>
          <p:nvPr/>
        </p:nvSpPr>
        <p:spPr>
          <a:xfrm>
            <a:off x="1905000" y="4038600"/>
            <a:ext cx="3425938" cy="7078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2400" dirty="0">
                <a:latin typeface="楷体_GB2312" pitchFamily="49" charset="-122"/>
                <a:ea typeface="楷体_GB2312" pitchFamily="49" charset="-122"/>
              </a:rPr>
              <a:t> </a:t>
            </a:r>
            <a:r>
              <a:rPr lang="zh-CN" altLang="zh-CN" sz="4000" b="1" dirty="0">
                <a:solidFill>
                  <a:srgbClr val="333399"/>
                </a:solidFill>
                <a:ea typeface="楷体_GB2312" pitchFamily="49" charset="-122"/>
              </a:rPr>
              <a:t>GetElem( L, i)</a:t>
            </a:r>
            <a:endParaRPr lang="zh-CN" altLang="zh-CN" sz="2400" dirty="0"/>
          </a:p>
        </p:txBody>
      </p:sp>
      <p:sp>
        <p:nvSpPr>
          <p:cNvPr id="12295" name="Text Box 7">
            <a:hlinkClick r:id="rId7" action="ppaction://hlinksldjump"/>
          </p:cNvPr>
          <p:cNvSpPr txBox="1"/>
          <p:nvPr/>
        </p:nvSpPr>
        <p:spPr>
          <a:xfrm>
            <a:off x="3581400" y="4876801"/>
            <a:ext cx="6934200"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b="1" dirty="0">
                <a:solidFill>
                  <a:srgbClr val="333399"/>
                </a:solidFill>
                <a:ea typeface="楷体_GB2312" pitchFamily="49" charset="-122"/>
              </a:rPr>
              <a:t>LocateElem( L, e, </a:t>
            </a:r>
            <a:r>
              <a:rPr lang="en-US" altLang="zh-CN" sz="4000" b="1" dirty="0">
                <a:solidFill>
                  <a:srgbClr val="333399"/>
                </a:solidFill>
                <a:ea typeface="楷体_GB2312" pitchFamily="49" charset="-122"/>
              </a:rPr>
              <a:t>equal</a:t>
            </a:r>
            <a:r>
              <a:rPr lang="zh-CN" altLang="zh-CN" sz="4000" b="1" dirty="0">
                <a:solidFill>
                  <a:srgbClr val="333399"/>
                </a:solidFill>
                <a:ea typeface="楷体_GB2312" pitchFamily="49" charset="-122"/>
              </a:rPr>
              <a:t>( ) )</a:t>
            </a:r>
            <a:endParaRPr lang="zh-CN" altLang="zh-CN" sz="4000" b="1" dirty="0">
              <a:solidFill>
                <a:srgbClr val="333399"/>
              </a:solidFill>
            </a:endParaRPr>
          </a:p>
        </p:txBody>
      </p:sp>
      <p:sp>
        <p:nvSpPr>
          <p:cNvPr id="12296" name="Text Box 8">
            <a:hlinkClick r:id="rId8" action="ppaction://hlinksldjump"/>
          </p:cNvPr>
          <p:cNvSpPr txBox="1"/>
          <p:nvPr/>
        </p:nvSpPr>
        <p:spPr>
          <a:xfrm>
            <a:off x="2057401" y="5715000"/>
            <a:ext cx="5281613" cy="1066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b="1" dirty="0">
                <a:solidFill>
                  <a:srgbClr val="333399"/>
                </a:solidFill>
                <a:ea typeface="楷体_GB2312" pitchFamily="49" charset="-122"/>
              </a:rPr>
              <a:t>ListTraverse(L, visit( ))</a:t>
            </a:r>
            <a:endParaRPr lang="zh-CN" altLang="zh-CN" sz="2400" dirty="0">
              <a:ea typeface="楷体_GB2312" pitchFamily="49" charset="-122"/>
            </a:endParaRPr>
          </a:p>
          <a:p>
            <a:pPr marL="0" indent="0" eaLnBrk="1" hangingPunct="1">
              <a:spcBef>
                <a:spcPct val="0"/>
              </a:spcBef>
              <a:buClrTx/>
              <a:buNone/>
            </a:pPr>
            <a:endParaRPr lang="zh-CN" altLang="zh-CN" sz="2400" dirty="0"/>
          </a:p>
        </p:txBody>
      </p:sp>
      <p:sp>
        <p:nvSpPr>
          <p:cNvPr id="12297" name="Text Box 9"/>
          <p:cNvSpPr txBox="1"/>
          <p:nvPr/>
        </p:nvSpPr>
        <p:spPr>
          <a:xfrm>
            <a:off x="4244745" y="1"/>
            <a:ext cx="3297698" cy="76944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ClrTx/>
              <a:buNone/>
            </a:pPr>
            <a:r>
              <a:rPr lang="zh-CN" altLang="zh-CN" sz="4400" b="1" dirty="0">
                <a:solidFill>
                  <a:srgbClr val="660033"/>
                </a:solidFill>
                <a:latin typeface="隶书" panose="02010509060101010101" pitchFamily="49" charset="-122"/>
                <a:ea typeface="隶书" panose="02010509060101010101" pitchFamily="49" charset="-122"/>
              </a:rPr>
              <a:t>引用型操作:</a:t>
            </a:r>
            <a:endParaRPr lang="zh-CN" altLang="zh-CN" sz="2400" dirty="0"/>
          </a:p>
        </p:txBody>
      </p:sp>
      <p:sp>
        <p:nvSpPr>
          <p:cNvPr id="12298" name="AutoShape 10">
            <a:hlinkClick r:id="rId9" action="ppaction://hlinksldjump"/>
          </p:cNvPr>
          <p:cNvSpPr/>
          <p:nvPr/>
        </p:nvSpPr>
        <p:spPr>
          <a:xfrm>
            <a:off x="10058400" y="6248400"/>
            <a:ext cx="381000" cy="381000"/>
          </a:xfrm>
          <a:prstGeom prst="actionButtonBackPrevious">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fill="hold"/>
                                        <p:tgtEl>
                                          <p:spTgt spid="12290"/>
                                        </p:tgtEl>
                                        <p:attrNameLst>
                                          <p:attrName>ppt_x</p:attrName>
                                        </p:attrNameLst>
                                      </p:cBhvr>
                                      <p:tavLst>
                                        <p:tav tm="0">
                                          <p:val>
                                            <p:strVal val="0-#ppt_w/2"/>
                                          </p:val>
                                        </p:tav>
                                        <p:tav tm="100000">
                                          <p:val>
                                            <p:strVal val="#ppt_x"/>
                                          </p:val>
                                        </p:tav>
                                      </p:tavLst>
                                    </p:anim>
                                    <p:anim calcmode="lin" valueType="num">
                                      <p:cBhvr additive="base">
                                        <p:cTn id="8" dur="500" fill="hold"/>
                                        <p:tgtEl>
                                          <p:spTgt spid="1229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2291"/>
                                        </p:tgtEl>
                                        <p:attrNameLst>
                                          <p:attrName>style.visibility</p:attrName>
                                        </p:attrNameLst>
                                      </p:cBhvr>
                                      <p:to>
                                        <p:strVal val="visible"/>
                                      </p:to>
                                    </p:set>
                                    <p:anim calcmode="lin" valueType="num">
                                      <p:cBhvr additive="base">
                                        <p:cTn id="12" dur="500" fill="hold"/>
                                        <p:tgtEl>
                                          <p:spTgt spid="12291"/>
                                        </p:tgtEl>
                                        <p:attrNameLst>
                                          <p:attrName>ppt_x</p:attrName>
                                        </p:attrNameLst>
                                      </p:cBhvr>
                                      <p:tavLst>
                                        <p:tav tm="0">
                                          <p:val>
                                            <p:strVal val="1+#ppt_w/2"/>
                                          </p:val>
                                        </p:tav>
                                        <p:tav tm="100000">
                                          <p:val>
                                            <p:strVal val="#ppt_x"/>
                                          </p:val>
                                        </p:tav>
                                      </p:tavLst>
                                    </p:anim>
                                    <p:anim calcmode="lin" valueType="num">
                                      <p:cBhvr additive="base">
                                        <p:cTn id="13" dur="500" fill="hold"/>
                                        <p:tgtEl>
                                          <p:spTgt spid="12291"/>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12292"/>
                                        </p:tgtEl>
                                        <p:attrNameLst>
                                          <p:attrName>style.visibility</p:attrName>
                                        </p:attrNameLst>
                                      </p:cBhvr>
                                      <p:to>
                                        <p:strVal val="visible"/>
                                      </p:to>
                                    </p:set>
                                    <p:anim calcmode="lin" valueType="num">
                                      <p:cBhvr additive="base">
                                        <p:cTn id="17" dur="500" fill="hold"/>
                                        <p:tgtEl>
                                          <p:spTgt spid="12292"/>
                                        </p:tgtEl>
                                        <p:attrNameLst>
                                          <p:attrName>ppt_x</p:attrName>
                                        </p:attrNameLst>
                                      </p:cBhvr>
                                      <p:tavLst>
                                        <p:tav tm="0">
                                          <p:val>
                                            <p:strVal val="0-#ppt_w/2"/>
                                          </p:val>
                                        </p:tav>
                                        <p:tav tm="100000">
                                          <p:val>
                                            <p:strVal val="#ppt_x"/>
                                          </p:val>
                                        </p:tav>
                                      </p:tavLst>
                                    </p:anim>
                                    <p:anim calcmode="lin" valueType="num">
                                      <p:cBhvr additive="base">
                                        <p:cTn id="18" dur="500" fill="hold"/>
                                        <p:tgtEl>
                                          <p:spTgt spid="12292"/>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12293"/>
                                        </p:tgtEl>
                                        <p:attrNameLst>
                                          <p:attrName>style.visibility</p:attrName>
                                        </p:attrNameLst>
                                      </p:cBhvr>
                                      <p:to>
                                        <p:strVal val="visible"/>
                                      </p:to>
                                    </p:set>
                                    <p:anim calcmode="lin" valueType="num">
                                      <p:cBhvr additive="base">
                                        <p:cTn id="22" dur="500" fill="hold"/>
                                        <p:tgtEl>
                                          <p:spTgt spid="12293"/>
                                        </p:tgtEl>
                                        <p:attrNameLst>
                                          <p:attrName>ppt_x</p:attrName>
                                        </p:attrNameLst>
                                      </p:cBhvr>
                                      <p:tavLst>
                                        <p:tav tm="0">
                                          <p:val>
                                            <p:strVal val="1+#ppt_w/2"/>
                                          </p:val>
                                        </p:tav>
                                        <p:tav tm="100000">
                                          <p:val>
                                            <p:strVal val="#ppt_x"/>
                                          </p:val>
                                        </p:tav>
                                      </p:tavLst>
                                    </p:anim>
                                    <p:anim calcmode="lin" valueType="num">
                                      <p:cBhvr additive="base">
                                        <p:cTn id="23" dur="500" fill="hold"/>
                                        <p:tgtEl>
                                          <p:spTgt spid="12293"/>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12294"/>
                                        </p:tgtEl>
                                        <p:attrNameLst>
                                          <p:attrName>style.visibility</p:attrName>
                                        </p:attrNameLst>
                                      </p:cBhvr>
                                      <p:to>
                                        <p:strVal val="visible"/>
                                      </p:to>
                                    </p:set>
                                    <p:anim calcmode="lin" valueType="num">
                                      <p:cBhvr additive="base">
                                        <p:cTn id="27" dur="500" fill="hold"/>
                                        <p:tgtEl>
                                          <p:spTgt spid="12294"/>
                                        </p:tgtEl>
                                        <p:attrNameLst>
                                          <p:attrName>ppt_x</p:attrName>
                                        </p:attrNameLst>
                                      </p:cBhvr>
                                      <p:tavLst>
                                        <p:tav tm="0">
                                          <p:val>
                                            <p:strVal val="0-#ppt_w/2"/>
                                          </p:val>
                                        </p:tav>
                                        <p:tav tm="100000">
                                          <p:val>
                                            <p:strVal val="#ppt_x"/>
                                          </p:val>
                                        </p:tav>
                                      </p:tavLst>
                                    </p:anim>
                                    <p:anim calcmode="lin" valueType="num">
                                      <p:cBhvr additive="base">
                                        <p:cTn id="28" dur="500" fill="hold"/>
                                        <p:tgtEl>
                                          <p:spTgt spid="12294"/>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2" fill="hold" nodeType="afterEffect">
                                  <p:stCondLst>
                                    <p:cond delay="0"/>
                                  </p:stCondLst>
                                  <p:childTnLst>
                                    <p:set>
                                      <p:cBhvr>
                                        <p:cTn id="31" dur="1" fill="hold">
                                          <p:stCondLst>
                                            <p:cond delay="0"/>
                                          </p:stCondLst>
                                        </p:cTn>
                                        <p:tgtEl>
                                          <p:spTgt spid="12295"/>
                                        </p:tgtEl>
                                        <p:attrNameLst>
                                          <p:attrName>style.visibility</p:attrName>
                                        </p:attrNameLst>
                                      </p:cBhvr>
                                      <p:to>
                                        <p:strVal val="visible"/>
                                      </p:to>
                                    </p:set>
                                    <p:anim calcmode="lin" valueType="num">
                                      <p:cBhvr additive="base">
                                        <p:cTn id="32" dur="500" fill="hold"/>
                                        <p:tgtEl>
                                          <p:spTgt spid="12295"/>
                                        </p:tgtEl>
                                        <p:attrNameLst>
                                          <p:attrName>ppt_x</p:attrName>
                                        </p:attrNameLst>
                                      </p:cBhvr>
                                      <p:tavLst>
                                        <p:tav tm="0">
                                          <p:val>
                                            <p:strVal val="1+#ppt_w/2"/>
                                          </p:val>
                                        </p:tav>
                                        <p:tav tm="100000">
                                          <p:val>
                                            <p:strVal val="#ppt_x"/>
                                          </p:val>
                                        </p:tav>
                                      </p:tavLst>
                                    </p:anim>
                                    <p:anim calcmode="lin" valueType="num">
                                      <p:cBhvr additive="base">
                                        <p:cTn id="33" dur="500" fill="hold"/>
                                        <p:tgtEl>
                                          <p:spTgt spid="12295"/>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nodeType="afterEffect">
                                  <p:stCondLst>
                                    <p:cond delay="0"/>
                                  </p:stCondLst>
                                  <p:childTnLst>
                                    <p:set>
                                      <p:cBhvr>
                                        <p:cTn id="36" dur="1" fill="hold">
                                          <p:stCondLst>
                                            <p:cond delay="0"/>
                                          </p:stCondLst>
                                        </p:cTn>
                                        <p:tgtEl>
                                          <p:spTgt spid="12296"/>
                                        </p:tgtEl>
                                        <p:attrNameLst>
                                          <p:attrName>style.visibility</p:attrName>
                                        </p:attrNameLst>
                                      </p:cBhvr>
                                      <p:to>
                                        <p:strVal val="visible"/>
                                      </p:to>
                                    </p:set>
                                    <p:anim calcmode="lin" valueType="num">
                                      <p:cBhvr additive="base">
                                        <p:cTn id="37" dur="500" fill="hold"/>
                                        <p:tgtEl>
                                          <p:spTgt spid="12296"/>
                                        </p:tgtEl>
                                        <p:attrNameLst>
                                          <p:attrName>ppt_x</p:attrName>
                                        </p:attrNameLst>
                                      </p:cBhvr>
                                      <p:tavLst>
                                        <p:tav tm="0">
                                          <p:val>
                                            <p:strVal val="0-#ppt_w/2"/>
                                          </p:val>
                                        </p:tav>
                                        <p:tav tm="100000">
                                          <p:val>
                                            <p:strVal val="#ppt_x"/>
                                          </p:val>
                                        </p:tav>
                                      </p:tavLst>
                                    </p:anim>
                                    <p:anim calcmode="lin" valueType="num">
                                      <p:cBhvr additive="base">
                                        <p:cTn id="38" dur="500" fill="hold"/>
                                        <p:tgtEl>
                                          <p:spTgt spid="12296"/>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6" fill="hold" nodeType="afterEffect">
                                  <p:stCondLst>
                                    <p:cond delay="0"/>
                                  </p:stCondLst>
                                  <p:childTnLst>
                                    <p:set>
                                      <p:cBhvr>
                                        <p:cTn id="41" dur="1" fill="hold">
                                          <p:stCondLst>
                                            <p:cond delay="0"/>
                                          </p:stCondLst>
                                        </p:cTn>
                                        <p:tgtEl>
                                          <p:spTgt spid="12298"/>
                                        </p:tgtEl>
                                        <p:attrNameLst>
                                          <p:attrName>style.visibility</p:attrName>
                                        </p:attrNameLst>
                                      </p:cBhvr>
                                      <p:to>
                                        <p:strVal val="visible"/>
                                      </p:to>
                                    </p:set>
                                    <p:anim calcmode="lin" valueType="num">
                                      <p:cBhvr additive="base">
                                        <p:cTn id="42" dur="500" fill="hold"/>
                                        <p:tgtEl>
                                          <p:spTgt spid="12298"/>
                                        </p:tgtEl>
                                        <p:attrNameLst>
                                          <p:attrName>ppt_x</p:attrName>
                                        </p:attrNameLst>
                                      </p:cBhvr>
                                      <p:tavLst>
                                        <p:tav tm="0">
                                          <p:val>
                                            <p:strVal val="1+#ppt_w/2"/>
                                          </p:val>
                                        </p:tav>
                                        <p:tav tm="100000">
                                          <p:val>
                                            <p:strVal val="#ppt_x"/>
                                          </p:val>
                                        </p:tav>
                                      </p:tavLst>
                                    </p:anim>
                                    <p:anim calcmode="lin" valueType="num">
                                      <p:cBhvr additive="base">
                                        <p:cTn id="43" dur="500" fill="hold"/>
                                        <p:tgtEl>
                                          <p:spTgt spid="122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1" grpId="0"/>
      <p:bldP spid="12292" grpId="0"/>
      <p:bldP spid="12293" grpId="0"/>
      <p:bldP spid="12294" grpId="0"/>
      <p:bldP spid="12295" grpId="0"/>
      <p:bldP spid="12296" grpId="0"/>
      <p:bldP spid="1229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p:nvPr/>
        </p:nvSpPr>
        <p:spPr>
          <a:xfrm>
            <a:off x="3713163" y="990601"/>
            <a:ext cx="3835602" cy="11387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2400" dirty="0">
                <a:ea typeface="楷体_GB2312" pitchFamily="49" charset="-122"/>
              </a:rPr>
              <a:t> </a:t>
            </a:r>
            <a:r>
              <a:rPr lang="zh-CN" altLang="zh-CN" sz="4400" b="1" dirty="0">
                <a:solidFill>
                  <a:srgbClr val="333399"/>
                </a:solidFill>
                <a:ea typeface="楷体_GB2312" pitchFamily="49" charset="-122"/>
              </a:rPr>
              <a:t>ListEmpty( L )</a:t>
            </a:r>
            <a:endParaRPr lang="zh-CN" altLang="zh-CN" sz="2400" dirty="0">
              <a:ea typeface="楷体_GB2312" pitchFamily="49" charset="-122"/>
            </a:endParaRPr>
          </a:p>
          <a:p>
            <a:pPr marL="0" indent="0" eaLnBrk="1" hangingPunct="1">
              <a:spcBef>
                <a:spcPct val="0"/>
              </a:spcBef>
              <a:buClrTx/>
              <a:buNone/>
            </a:pPr>
            <a:endParaRPr lang="zh-CN" altLang="zh-CN" sz="2400" dirty="0"/>
          </a:p>
        </p:txBody>
      </p:sp>
      <p:sp>
        <p:nvSpPr>
          <p:cNvPr id="13315" name="Text Box 3"/>
          <p:cNvSpPr txBox="1"/>
          <p:nvPr/>
        </p:nvSpPr>
        <p:spPr>
          <a:xfrm>
            <a:off x="1905000" y="2590800"/>
            <a:ext cx="3200400" cy="212365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初始条件：</a:t>
            </a:r>
          </a:p>
          <a:p>
            <a:pPr marL="0" indent="0" eaLnBrk="1" hangingPunct="1">
              <a:spcBef>
                <a:spcPct val="0"/>
              </a:spcBef>
              <a:buClrTx/>
              <a:buNone/>
            </a:pPr>
            <a:endParaRPr lang="zh-CN" altLang="zh-CN" sz="4400" dirty="0">
              <a:solidFill>
                <a:srgbClr val="FF0000"/>
              </a:solidFill>
              <a:latin typeface="楷体_GB2312" pitchFamily="49" charset="-122"/>
              <a:ea typeface="楷体_GB2312" pitchFamily="49" charset="-122"/>
            </a:endParaRPr>
          </a:p>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操作结果：</a:t>
            </a:r>
            <a:endParaRPr lang="zh-CN" altLang="zh-CN" sz="2400" dirty="0">
              <a:solidFill>
                <a:srgbClr val="FF0000"/>
              </a:solidFill>
              <a:latin typeface="楷体_GB2312" pitchFamily="49" charset="-122"/>
              <a:ea typeface="楷体_GB2312" pitchFamily="49" charset="-122"/>
            </a:endParaRPr>
          </a:p>
        </p:txBody>
      </p:sp>
      <p:sp>
        <p:nvSpPr>
          <p:cNvPr id="13316" name="Text Box 4"/>
          <p:cNvSpPr txBox="1"/>
          <p:nvPr/>
        </p:nvSpPr>
        <p:spPr>
          <a:xfrm>
            <a:off x="4648200" y="2743201"/>
            <a:ext cx="4078288"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latin typeface="楷体_GB2312" pitchFamily="49" charset="-122"/>
                <a:ea typeface="楷体_GB2312" pitchFamily="49" charset="-122"/>
              </a:rPr>
              <a:t>线性表</a:t>
            </a:r>
            <a:r>
              <a:rPr lang="zh-CN" altLang="zh-CN" sz="4000" b="1" dirty="0">
                <a:solidFill>
                  <a:srgbClr val="003399"/>
                </a:solidFill>
                <a:ea typeface="楷体_GB2312" pitchFamily="49" charset="-122"/>
              </a:rPr>
              <a:t>L</a:t>
            </a:r>
            <a:r>
              <a:rPr lang="zh-CN" altLang="zh-CN" sz="4000" dirty="0">
                <a:latin typeface="楷体_GB2312" pitchFamily="49" charset="-122"/>
                <a:ea typeface="楷体_GB2312" pitchFamily="49" charset="-122"/>
              </a:rPr>
              <a:t>已存在。</a:t>
            </a:r>
            <a:endParaRPr lang="zh-CN" altLang="zh-CN" sz="2400" dirty="0">
              <a:latin typeface="楷体_GB2312" pitchFamily="49" charset="-122"/>
              <a:ea typeface="楷体_GB2312" pitchFamily="49" charset="-122"/>
            </a:endParaRPr>
          </a:p>
        </p:txBody>
      </p:sp>
      <p:sp>
        <p:nvSpPr>
          <p:cNvPr id="13317" name="Text Box 5"/>
          <p:cNvSpPr txBox="1"/>
          <p:nvPr/>
        </p:nvSpPr>
        <p:spPr>
          <a:xfrm>
            <a:off x="4572001" y="3940175"/>
            <a:ext cx="5091113" cy="15557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0000"/>
              </a:lnSpc>
              <a:spcBef>
                <a:spcPct val="0"/>
              </a:spcBef>
              <a:buClrTx/>
              <a:buNone/>
            </a:pPr>
            <a:r>
              <a:rPr lang="zh-CN" altLang="zh-CN" sz="4000" dirty="0">
                <a:latin typeface="楷体_GB2312" pitchFamily="49" charset="-122"/>
                <a:ea typeface="楷体_GB2312" pitchFamily="49" charset="-122"/>
              </a:rPr>
              <a:t>若</a:t>
            </a:r>
            <a:r>
              <a:rPr lang="zh-CN" altLang="zh-CN" sz="4000" b="1" dirty="0">
                <a:solidFill>
                  <a:srgbClr val="003399"/>
                </a:solidFill>
                <a:ea typeface="楷体_GB2312" pitchFamily="49" charset="-122"/>
              </a:rPr>
              <a:t>L</a:t>
            </a:r>
            <a:r>
              <a:rPr lang="zh-CN" altLang="zh-CN" sz="4000" dirty="0">
                <a:latin typeface="楷体_GB2312" pitchFamily="49" charset="-122"/>
                <a:ea typeface="楷体_GB2312" pitchFamily="49" charset="-122"/>
              </a:rPr>
              <a:t>为空表，则返回</a:t>
            </a:r>
          </a:p>
          <a:p>
            <a:pPr marL="0" indent="0" eaLnBrk="1" hangingPunct="1">
              <a:lnSpc>
                <a:spcPct val="120000"/>
              </a:lnSpc>
              <a:spcBef>
                <a:spcPct val="0"/>
              </a:spcBef>
              <a:buClrTx/>
              <a:buNone/>
            </a:pPr>
            <a:r>
              <a:rPr lang="zh-CN" altLang="zh-CN" sz="4000" dirty="0">
                <a:solidFill>
                  <a:srgbClr val="660066"/>
                </a:solidFill>
                <a:ea typeface="楷体_GB2312" pitchFamily="49" charset="-122"/>
              </a:rPr>
              <a:t>TRUE</a:t>
            </a:r>
            <a:r>
              <a:rPr lang="zh-CN" altLang="zh-CN" sz="4000" dirty="0">
                <a:latin typeface="楷体_GB2312" pitchFamily="49" charset="-122"/>
                <a:ea typeface="楷体_GB2312" pitchFamily="49" charset="-122"/>
              </a:rPr>
              <a:t>，否则</a:t>
            </a:r>
            <a:r>
              <a:rPr lang="zh-CN" altLang="zh-CN" sz="4000" dirty="0">
                <a:solidFill>
                  <a:srgbClr val="660066"/>
                </a:solidFill>
                <a:ea typeface="楷体_GB2312" pitchFamily="49" charset="-122"/>
              </a:rPr>
              <a:t>FALSE</a:t>
            </a:r>
            <a:r>
              <a:rPr lang="zh-CN" altLang="zh-CN" sz="4000" dirty="0">
                <a:latin typeface="楷体_GB2312" pitchFamily="49" charset="-122"/>
                <a:ea typeface="楷体_GB2312" pitchFamily="49" charset="-122"/>
              </a:rPr>
              <a:t>。</a:t>
            </a:r>
          </a:p>
        </p:txBody>
      </p:sp>
      <p:sp>
        <p:nvSpPr>
          <p:cNvPr id="13318" name="AutoShape 6">
            <a:hlinkClick r:id="" action="ppaction://hlinkshowjump?jump=lastslideviewed"/>
          </p:cNvPr>
          <p:cNvSpPr/>
          <p:nvPr/>
        </p:nvSpPr>
        <p:spPr>
          <a:xfrm>
            <a:off x="9753600" y="6019800"/>
            <a:ext cx="457200" cy="457200"/>
          </a:xfrm>
          <a:prstGeom prst="actionButtonReturn">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
        <p:nvSpPr>
          <p:cNvPr id="13319" name="Text Box 7"/>
          <p:cNvSpPr txBox="1"/>
          <p:nvPr/>
        </p:nvSpPr>
        <p:spPr>
          <a:xfrm>
            <a:off x="3810000" y="1600201"/>
            <a:ext cx="3740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solidFill>
                  <a:srgbClr val="660066"/>
                </a:solidFill>
                <a:ea typeface="隶书" panose="02010509060101010101" pitchFamily="49" charset="-122"/>
              </a:rPr>
              <a:t>（线性表判空）</a:t>
            </a:r>
            <a:endParaRPr lang="zh-CN" altLang="zh-CN" sz="24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barn(outHorizontal)">
                                      <p:cBhvr>
                                        <p:cTn id="7" dur="500"/>
                                        <p:tgtEl>
                                          <p:spTgt spid="133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316"/>
                                        </p:tgtEl>
                                        <p:attrNameLst>
                                          <p:attrName>style.visibility</p:attrName>
                                        </p:attrNameLst>
                                      </p:cBhvr>
                                      <p:to>
                                        <p:strVal val="visible"/>
                                      </p:to>
                                    </p:set>
                                    <p:animEffect transition="in" filter="wipe(left)">
                                      <p:cBhvr>
                                        <p:cTn id="12" dur="500"/>
                                        <p:tgtEl>
                                          <p:spTgt spid="133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317"/>
                                        </p:tgtEl>
                                        <p:attrNameLst>
                                          <p:attrName>style.visibility</p:attrName>
                                        </p:attrNameLst>
                                      </p:cBhvr>
                                      <p:to>
                                        <p:strVal val="visible"/>
                                      </p:to>
                                    </p:set>
                                    <p:animEffect transition="in" filter="wipe(left)">
                                      <p:cBhvr>
                                        <p:cTn id="17" dur="500"/>
                                        <p:tgtEl>
                                          <p:spTgt spid="13317"/>
                                        </p:tgtEl>
                                      </p:cBhvr>
                                    </p:animEffect>
                                  </p:childTnLst>
                                </p:cTn>
                              </p:par>
                            </p:childTnLst>
                          </p:cTn>
                        </p:par>
                        <p:par>
                          <p:cTn id="18" fill="hold">
                            <p:stCondLst>
                              <p:cond delay="500"/>
                            </p:stCondLst>
                            <p:childTnLst>
                              <p:par>
                                <p:cTn id="19" presetID="2" presetClass="entr" presetSubtype="6" fill="hold" nodeType="afterEffect">
                                  <p:stCondLst>
                                    <p:cond delay="0"/>
                                  </p:stCondLst>
                                  <p:childTnLst>
                                    <p:set>
                                      <p:cBhvr>
                                        <p:cTn id="20" dur="1" fill="hold">
                                          <p:stCondLst>
                                            <p:cond delay="0"/>
                                          </p:stCondLst>
                                        </p:cTn>
                                        <p:tgtEl>
                                          <p:spTgt spid="13318"/>
                                        </p:tgtEl>
                                        <p:attrNameLst>
                                          <p:attrName>style.visibility</p:attrName>
                                        </p:attrNameLst>
                                      </p:cBhvr>
                                      <p:to>
                                        <p:strVal val="visible"/>
                                      </p:to>
                                    </p:set>
                                    <p:anim calcmode="lin" valueType="num">
                                      <p:cBhvr additive="base">
                                        <p:cTn id="21" dur="500" fill="hold"/>
                                        <p:tgtEl>
                                          <p:spTgt spid="13318"/>
                                        </p:tgtEl>
                                        <p:attrNameLst>
                                          <p:attrName>ppt_x</p:attrName>
                                        </p:attrNameLst>
                                      </p:cBhvr>
                                      <p:tavLst>
                                        <p:tav tm="0">
                                          <p:val>
                                            <p:strVal val="1+#ppt_w/2"/>
                                          </p:val>
                                        </p:tav>
                                        <p:tav tm="100000">
                                          <p:val>
                                            <p:strVal val="#ppt_x"/>
                                          </p:val>
                                        </p:tav>
                                      </p:tavLst>
                                    </p:anim>
                                    <p:anim calcmode="lin" valueType="num">
                                      <p:cBhvr additive="base">
                                        <p:cTn id="22" dur="500" fill="hold"/>
                                        <p:tgtEl>
                                          <p:spTgt spid="133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P spid="13316" grpId="0"/>
      <p:bldP spid="13317" grpId="0"/>
      <p:bldP spid="133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p:nvPr/>
        </p:nvSpPr>
        <p:spPr>
          <a:xfrm>
            <a:off x="3962400" y="762001"/>
            <a:ext cx="3069366" cy="76944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b="1" dirty="0">
                <a:solidFill>
                  <a:srgbClr val="333399"/>
                </a:solidFill>
                <a:ea typeface="楷体_GB2312" pitchFamily="49" charset="-122"/>
              </a:rPr>
              <a:t>ListLen( L )</a:t>
            </a:r>
            <a:endParaRPr lang="zh-CN" altLang="zh-CN" sz="2400" dirty="0">
              <a:solidFill>
                <a:srgbClr val="FF0000"/>
              </a:solidFill>
              <a:latin typeface="楷体_GB2312" pitchFamily="49" charset="-122"/>
              <a:ea typeface="楷体_GB2312" pitchFamily="49" charset="-122"/>
            </a:endParaRPr>
          </a:p>
        </p:txBody>
      </p:sp>
      <p:sp>
        <p:nvSpPr>
          <p:cNvPr id="14339" name="Text Box 3"/>
          <p:cNvSpPr txBox="1"/>
          <p:nvPr/>
        </p:nvSpPr>
        <p:spPr>
          <a:xfrm>
            <a:off x="2819401" y="2895600"/>
            <a:ext cx="3005951" cy="212365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初始条件：</a:t>
            </a:r>
          </a:p>
          <a:p>
            <a:pPr marL="0" indent="0" eaLnBrk="1" hangingPunct="1">
              <a:spcBef>
                <a:spcPct val="0"/>
              </a:spcBef>
              <a:buClrTx/>
              <a:buNone/>
            </a:pPr>
            <a:endParaRPr lang="zh-CN" altLang="zh-CN" sz="4400" dirty="0">
              <a:latin typeface="楷体_GB2312" pitchFamily="49" charset="-122"/>
              <a:ea typeface="楷体_GB2312" pitchFamily="49" charset="-122"/>
            </a:endParaRPr>
          </a:p>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操作结果：</a:t>
            </a:r>
            <a:endParaRPr lang="zh-CN" altLang="zh-CN" sz="2400" dirty="0">
              <a:solidFill>
                <a:srgbClr val="FF0000"/>
              </a:solidFill>
              <a:latin typeface="楷体_GB2312" pitchFamily="49" charset="-122"/>
              <a:ea typeface="楷体_GB2312" pitchFamily="49" charset="-122"/>
            </a:endParaRPr>
          </a:p>
        </p:txBody>
      </p:sp>
      <p:sp>
        <p:nvSpPr>
          <p:cNvPr id="14340" name="Text Box 4"/>
          <p:cNvSpPr txBox="1"/>
          <p:nvPr/>
        </p:nvSpPr>
        <p:spPr>
          <a:xfrm>
            <a:off x="5486401" y="2895601"/>
            <a:ext cx="4511171" cy="113877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dirty="0">
                <a:latin typeface="楷体_GB2312" pitchFamily="49" charset="-122"/>
                <a:ea typeface="楷体_GB2312" pitchFamily="49" charset="-122"/>
              </a:rPr>
              <a:t>线性表</a:t>
            </a:r>
            <a:r>
              <a:rPr lang="zh-CN" altLang="zh-CN" sz="4400" b="1" dirty="0">
                <a:solidFill>
                  <a:srgbClr val="003399"/>
                </a:solidFill>
                <a:ea typeface="楷体_GB2312" pitchFamily="49" charset="-122"/>
              </a:rPr>
              <a:t>L</a:t>
            </a:r>
            <a:r>
              <a:rPr lang="zh-CN" altLang="zh-CN" sz="4400" dirty="0">
                <a:latin typeface="楷体_GB2312" pitchFamily="49" charset="-122"/>
                <a:ea typeface="楷体_GB2312" pitchFamily="49" charset="-122"/>
              </a:rPr>
              <a:t>已存在。</a:t>
            </a:r>
            <a:endParaRPr lang="zh-CN" altLang="zh-CN" sz="2400" dirty="0">
              <a:latin typeface="楷体_GB2312" pitchFamily="49" charset="-122"/>
              <a:ea typeface="楷体_GB2312" pitchFamily="49" charset="-122"/>
            </a:endParaRPr>
          </a:p>
          <a:p>
            <a:pPr marL="0" indent="0" eaLnBrk="1" hangingPunct="1">
              <a:spcBef>
                <a:spcPct val="0"/>
              </a:spcBef>
              <a:buClrTx/>
              <a:buNone/>
            </a:pPr>
            <a:endParaRPr lang="zh-CN" altLang="zh-CN" sz="2400" dirty="0"/>
          </a:p>
        </p:txBody>
      </p:sp>
      <p:sp>
        <p:nvSpPr>
          <p:cNvPr id="14341" name="Text Box 5"/>
          <p:cNvSpPr txBox="1"/>
          <p:nvPr/>
        </p:nvSpPr>
        <p:spPr>
          <a:xfrm>
            <a:off x="5486401" y="4267200"/>
            <a:ext cx="5027613"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dirty="0">
                <a:latin typeface="楷体_GB2312" pitchFamily="49" charset="-122"/>
                <a:ea typeface="楷体_GB2312" pitchFamily="49" charset="-122"/>
              </a:rPr>
              <a:t>返回</a:t>
            </a:r>
            <a:r>
              <a:rPr lang="zh-CN" altLang="zh-CN" sz="4400" b="1" dirty="0">
                <a:solidFill>
                  <a:srgbClr val="003399"/>
                </a:solidFill>
                <a:ea typeface="楷体_GB2312" pitchFamily="49" charset="-122"/>
              </a:rPr>
              <a:t>L</a:t>
            </a:r>
            <a:r>
              <a:rPr lang="zh-CN" altLang="zh-CN" sz="4400" dirty="0">
                <a:latin typeface="楷体_GB2312" pitchFamily="49" charset="-122"/>
                <a:ea typeface="楷体_GB2312" pitchFamily="49" charset="-122"/>
              </a:rPr>
              <a:t>中元素个数。</a:t>
            </a:r>
            <a:endParaRPr lang="zh-CN" altLang="zh-CN" sz="2400" dirty="0">
              <a:latin typeface="楷体_GB2312" pitchFamily="49" charset="-122"/>
              <a:ea typeface="楷体_GB2312" pitchFamily="49" charset="-122"/>
            </a:endParaRPr>
          </a:p>
        </p:txBody>
      </p:sp>
      <p:sp>
        <p:nvSpPr>
          <p:cNvPr id="14342" name="AutoShape 6">
            <a:hlinkClick r:id="" action="ppaction://hlinkshowjump?jump=lastslideviewed"/>
          </p:cNvPr>
          <p:cNvSpPr/>
          <p:nvPr/>
        </p:nvSpPr>
        <p:spPr>
          <a:xfrm>
            <a:off x="9677400" y="5943600"/>
            <a:ext cx="457200" cy="457200"/>
          </a:xfrm>
          <a:prstGeom prst="actionButtonReturn">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
        <p:nvSpPr>
          <p:cNvPr id="14343" name="Text Box 7"/>
          <p:cNvSpPr txBox="1"/>
          <p:nvPr/>
        </p:nvSpPr>
        <p:spPr>
          <a:xfrm>
            <a:off x="3581400" y="1524001"/>
            <a:ext cx="4756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solidFill>
                  <a:srgbClr val="660066"/>
                </a:solidFill>
                <a:ea typeface="隶书" panose="02010509060101010101" pitchFamily="49" charset="-122"/>
              </a:rPr>
              <a:t>（求线性表的长度）</a:t>
            </a:r>
            <a:endParaRPr lang="zh-CN" altLang="zh-CN" sz="2400" dirty="0">
              <a:solidFill>
                <a:srgbClr val="660066"/>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barn(outHorizontal)">
                                      <p:cBhvr>
                                        <p:cTn id="7" dur="500"/>
                                        <p:tgtEl>
                                          <p:spTgt spid="143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340"/>
                                        </p:tgtEl>
                                        <p:attrNameLst>
                                          <p:attrName>style.visibility</p:attrName>
                                        </p:attrNameLst>
                                      </p:cBhvr>
                                      <p:to>
                                        <p:strVal val="visible"/>
                                      </p:to>
                                    </p:set>
                                    <p:animEffect transition="in" filter="wipe(left)">
                                      <p:cBhvr>
                                        <p:cTn id="12" dur="500"/>
                                        <p:tgtEl>
                                          <p:spTgt spid="143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341"/>
                                        </p:tgtEl>
                                        <p:attrNameLst>
                                          <p:attrName>style.visibility</p:attrName>
                                        </p:attrNameLst>
                                      </p:cBhvr>
                                      <p:to>
                                        <p:strVal val="visible"/>
                                      </p:to>
                                    </p:set>
                                    <p:animEffect transition="in" filter="wipe(left)">
                                      <p:cBhvr>
                                        <p:cTn id="17" dur="500"/>
                                        <p:tgtEl>
                                          <p:spTgt spid="14341"/>
                                        </p:tgtEl>
                                      </p:cBhvr>
                                    </p:animEffect>
                                  </p:childTnLst>
                                </p:cTn>
                              </p:par>
                            </p:childTnLst>
                          </p:cTn>
                        </p:par>
                        <p:par>
                          <p:cTn id="18" fill="hold">
                            <p:stCondLst>
                              <p:cond delay="500"/>
                            </p:stCondLst>
                            <p:childTnLst>
                              <p:par>
                                <p:cTn id="19" presetID="2" presetClass="entr" presetSubtype="6" fill="hold" nodeType="afterEffect">
                                  <p:stCondLst>
                                    <p:cond delay="0"/>
                                  </p:stCondLst>
                                  <p:childTnLst>
                                    <p:set>
                                      <p:cBhvr>
                                        <p:cTn id="20" dur="1" fill="hold">
                                          <p:stCondLst>
                                            <p:cond delay="0"/>
                                          </p:stCondLst>
                                        </p:cTn>
                                        <p:tgtEl>
                                          <p:spTgt spid="14342"/>
                                        </p:tgtEl>
                                        <p:attrNameLst>
                                          <p:attrName>style.visibility</p:attrName>
                                        </p:attrNameLst>
                                      </p:cBhvr>
                                      <p:to>
                                        <p:strVal val="visible"/>
                                      </p:to>
                                    </p:set>
                                    <p:anim calcmode="lin" valueType="num">
                                      <p:cBhvr additive="base">
                                        <p:cTn id="21" dur="500" fill="hold"/>
                                        <p:tgtEl>
                                          <p:spTgt spid="14342"/>
                                        </p:tgtEl>
                                        <p:attrNameLst>
                                          <p:attrName>ppt_x</p:attrName>
                                        </p:attrNameLst>
                                      </p:cBhvr>
                                      <p:tavLst>
                                        <p:tav tm="0">
                                          <p:val>
                                            <p:strVal val="1+#ppt_w/2"/>
                                          </p:val>
                                        </p:tav>
                                        <p:tav tm="100000">
                                          <p:val>
                                            <p:strVal val="#ppt_x"/>
                                          </p:val>
                                        </p:tav>
                                      </p:tavLst>
                                    </p:anim>
                                    <p:anim calcmode="lin" valueType="num">
                                      <p:cBhvr additive="base">
                                        <p:cTn id="22" dur="500" fill="hold"/>
                                        <p:tgtEl>
                                          <p:spTgt spid="143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p:bldP spid="14340" grpId="0"/>
      <p:bldP spid="14341" grpId="0"/>
      <p:bldP spid="1434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p:nvPr/>
        </p:nvSpPr>
        <p:spPr>
          <a:xfrm>
            <a:off x="3935760" y="635835"/>
            <a:ext cx="3930307" cy="76944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2400" dirty="0">
                <a:latin typeface="楷体_GB2312" pitchFamily="49" charset="-122"/>
                <a:ea typeface="楷体_GB2312" pitchFamily="49" charset="-122"/>
              </a:rPr>
              <a:t> </a:t>
            </a:r>
            <a:r>
              <a:rPr lang="en-US" altLang="zh-CN" sz="4400" b="1" dirty="0" err="1">
                <a:solidFill>
                  <a:srgbClr val="333399"/>
                </a:solidFill>
                <a:ea typeface="楷体_GB2312" pitchFamily="49" charset="-122"/>
              </a:rPr>
              <a:t>PrevElem</a:t>
            </a:r>
            <a:r>
              <a:rPr lang="en-US" altLang="zh-CN" sz="4400" b="1" dirty="0">
                <a:solidFill>
                  <a:srgbClr val="333399"/>
                </a:solidFill>
                <a:ea typeface="楷体_GB2312" pitchFamily="49" charset="-122"/>
              </a:rPr>
              <a:t>(L, e)</a:t>
            </a:r>
            <a:endParaRPr lang="zh-CN" altLang="zh-CN" sz="4400" b="1" dirty="0">
              <a:solidFill>
                <a:srgbClr val="333399"/>
              </a:solidFill>
              <a:ea typeface="楷体_GB2312" pitchFamily="49" charset="-122"/>
            </a:endParaRPr>
          </a:p>
        </p:txBody>
      </p:sp>
      <p:sp>
        <p:nvSpPr>
          <p:cNvPr id="15363" name="Text Box 3"/>
          <p:cNvSpPr txBox="1"/>
          <p:nvPr/>
        </p:nvSpPr>
        <p:spPr>
          <a:xfrm>
            <a:off x="1676401" y="2393950"/>
            <a:ext cx="3005951" cy="212365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初始条件：</a:t>
            </a:r>
          </a:p>
          <a:p>
            <a:pPr marL="0" indent="0" eaLnBrk="1" hangingPunct="1">
              <a:spcBef>
                <a:spcPct val="0"/>
              </a:spcBef>
              <a:buClrTx/>
              <a:buNone/>
            </a:pPr>
            <a:endParaRPr lang="zh-CN" altLang="zh-CN" sz="4400" dirty="0">
              <a:latin typeface="楷体_GB2312" pitchFamily="49" charset="-122"/>
              <a:ea typeface="楷体_GB2312" pitchFamily="49" charset="-122"/>
            </a:endParaRPr>
          </a:p>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操作结果：</a:t>
            </a:r>
            <a:endParaRPr lang="zh-CN" altLang="zh-CN" sz="2400" dirty="0">
              <a:solidFill>
                <a:srgbClr val="FF0000"/>
              </a:solidFill>
              <a:latin typeface="楷体_GB2312" pitchFamily="49" charset="-122"/>
              <a:ea typeface="楷体_GB2312" pitchFamily="49" charset="-122"/>
            </a:endParaRPr>
          </a:p>
        </p:txBody>
      </p:sp>
      <p:sp>
        <p:nvSpPr>
          <p:cNvPr id="15364" name="Text Box 4"/>
          <p:cNvSpPr txBox="1"/>
          <p:nvPr/>
        </p:nvSpPr>
        <p:spPr>
          <a:xfrm>
            <a:off x="4419600" y="2482850"/>
            <a:ext cx="36639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dirty="0">
                <a:latin typeface="楷体_GB2312" pitchFamily="49" charset="-122"/>
                <a:ea typeface="楷体_GB2312" pitchFamily="49" charset="-122"/>
              </a:rPr>
              <a:t>线性表</a:t>
            </a:r>
            <a:r>
              <a:rPr lang="zh-CN" altLang="zh-CN" sz="3600" dirty="0">
                <a:ea typeface="楷体_GB2312" pitchFamily="49" charset="-122"/>
              </a:rPr>
              <a:t>L</a:t>
            </a:r>
            <a:r>
              <a:rPr lang="zh-CN" altLang="zh-CN" sz="3600" dirty="0">
                <a:latin typeface="楷体_GB2312" pitchFamily="49" charset="-122"/>
                <a:ea typeface="楷体_GB2312" pitchFamily="49" charset="-122"/>
              </a:rPr>
              <a:t>已存在。</a:t>
            </a:r>
            <a:endParaRPr lang="zh-CN" altLang="zh-CN" sz="2400" dirty="0">
              <a:latin typeface="楷体_GB2312" pitchFamily="49" charset="-122"/>
              <a:ea typeface="楷体_GB2312" pitchFamily="49" charset="-122"/>
            </a:endParaRPr>
          </a:p>
        </p:txBody>
      </p:sp>
      <p:sp>
        <p:nvSpPr>
          <p:cNvPr id="15365" name="Text Box 5"/>
          <p:cNvSpPr txBox="1"/>
          <p:nvPr/>
        </p:nvSpPr>
        <p:spPr>
          <a:xfrm>
            <a:off x="4343400" y="3749676"/>
            <a:ext cx="6019800" cy="203004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0000"/>
              </a:lnSpc>
              <a:spcBef>
                <a:spcPct val="0"/>
              </a:spcBef>
              <a:buClrTx/>
              <a:buNone/>
            </a:pPr>
            <a:r>
              <a:rPr lang="zh-CN" altLang="zh-CN" sz="3600" dirty="0">
                <a:latin typeface="楷体_GB2312" pitchFamily="49" charset="-122"/>
                <a:ea typeface="楷体_GB2312" pitchFamily="49" charset="-122"/>
              </a:rPr>
              <a:t>若</a:t>
            </a:r>
            <a:r>
              <a:rPr lang="zh-CN" altLang="zh-CN" sz="3600" dirty="0">
                <a:ea typeface="楷体_GB2312" pitchFamily="49" charset="-122"/>
              </a:rPr>
              <a:t>cur_e</a:t>
            </a:r>
            <a:r>
              <a:rPr lang="zh-CN" altLang="zh-CN" sz="3600" dirty="0">
                <a:latin typeface="楷体_GB2312" pitchFamily="49" charset="-122"/>
                <a:ea typeface="楷体_GB2312" pitchFamily="49" charset="-122"/>
              </a:rPr>
              <a:t>是</a:t>
            </a:r>
            <a:r>
              <a:rPr lang="zh-CN" altLang="zh-CN" sz="3600" dirty="0">
                <a:ea typeface="楷体_GB2312" pitchFamily="49" charset="-122"/>
              </a:rPr>
              <a:t>L</a:t>
            </a:r>
            <a:r>
              <a:rPr lang="zh-CN" altLang="zh-CN" sz="3600" dirty="0">
                <a:latin typeface="楷体_GB2312" pitchFamily="49" charset="-122"/>
                <a:ea typeface="楷体_GB2312" pitchFamily="49" charset="-122"/>
              </a:rPr>
              <a:t>的元素，</a:t>
            </a:r>
            <a:r>
              <a:rPr lang="zh-CN" altLang="en-US" sz="3600" dirty="0">
                <a:latin typeface="楷体_GB2312" pitchFamily="49" charset="-122"/>
                <a:ea typeface="楷体_GB2312" pitchFamily="49" charset="-122"/>
              </a:rPr>
              <a:t>且</a:t>
            </a:r>
            <a:r>
              <a:rPr lang="zh-CN" altLang="zh-CN" sz="3600" dirty="0">
                <a:latin typeface="楷体_GB2312" pitchFamily="49" charset="-122"/>
                <a:ea typeface="楷体_GB2312" pitchFamily="49" charset="-122"/>
              </a:rPr>
              <a:t>不是第一个，则返回它的前驱</a:t>
            </a:r>
            <a:r>
              <a:rPr lang="zh-CN" altLang="en-US" sz="3600" dirty="0">
                <a:latin typeface="楷体_GB2312" pitchFamily="49" charset="-122"/>
                <a:ea typeface="楷体_GB2312" pitchFamily="49" charset="-122"/>
              </a:rPr>
              <a:t>元素值</a:t>
            </a:r>
            <a:r>
              <a:rPr lang="zh-CN" altLang="zh-CN" sz="3600" dirty="0">
                <a:latin typeface="楷体_GB2312" pitchFamily="49" charset="-122"/>
                <a:ea typeface="楷体_GB2312" pitchFamily="49" charset="-122"/>
              </a:rPr>
              <a:t>，否则操作失败</a:t>
            </a:r>
            <a:endParaRPr lang="zh-CN" altLang="zh-CN" sz="4000" dirty="0"/>
          </a:p>
        </p:txBody>
      </p:sp>
      <p:sp>
        <p:nvSpPr>
          <p:cNvPr id="15366" name="AutoShape 6">
            <a:hlinkClick r:id="" action="ppaction://hlinkshowjump?jump=lastslideviewed"/>
          </p:cNvPr>
          <p:cNvSpPr/>
          <p:nvPr/>
        </p:nvSpPr>
        <p:spPr>
          <a:xfrm>
            <a:off x="9982200" y="6172200"/>
            <a:ext cx="381000" cy="381000"/>
          </a:xfrm>
          <a:prstGeom prst="actionButtonReturn">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
        <p:nvSpPr>
          <p:cNvPr id="15367" name="Text Box 7"/>
          <p:cNvSpPr txBox="1"/>
          <p:nvPr/>
        </p:nvSpPr>
        <p:spPr>
          <a:xfrm>
            <a:off x="3041650" y="1431926"/>
            <a:ext cx="5264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solidFill>
                  <a:srgbClr val="660066"/>
                </a:solidFill>
                <a:ea typeface="隶书" panose="02010509060101010101" pitchFamily="49" charset="-122"/>
              </a:rPr>
              <a:t>（求数据元素的前驱）</a:t>
            </a:r>
            <a:endParaRPr lang="zh-CN" altLang="zh-CN" sz="24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barn(outHorizontal)">
                                      <p:cBhvr>
                                        <p:cTn id="7" dur="500"/>
                                        <p:tgtEl>
                                          <p:spTgt spid="153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364"/>
                                        </p:tgtEl>
                                        <p:attrNameLst>
                                          <p:attrName>style.visibility</p:attrName>
                                        </p:attrNameLst>
                                      </p:cBhvr>
                                      <p:to>
                                        <p:strVal val="visible"/>
                                      </p:to>
                                    </p:set>
                                    <p:animEffect transition="in" filter="wipe(left)">
                                      <p:cBhvr>
                                        <p:cTn id="12" dur="500"/>
                                        <p:tgtEl>
                                          <p:spTgt spid="153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365"/>
                                        </p:tgtEl>
                                        <p:attrNameLst>
                                          <p:attrName>style.visibility</p:attrName>
                                        </p:attrNameLst>
                                      </p:cBhvr>
                                      <p:to>
                                        <p:strVal val="visible"/>
                                      </p:to>
                                    </p:set>
                                    <p:animEffect transition="in" filter="wipe(left)">
                                      <p:cBhvr>
                                        <p:cTn id="17" dur="500"/>
                                        <p:tgtEl>
                                          <p:spTgt spid="15365"/>
                                        </p:tgtEl>
                                      </p:cBhvr>
                                    </p:animEffect>
                                  </p:childTnLst>
                                </p:cTn>
                              </p:par>
                            </p:childTnLst>
                          </p:cTn>
                        </p:par>
                        <p:par>
                          <p:cTn id="18" fill="hold">
                            <p:stCondLst>
                              <p:cond delay="500"/>
                            </p:stCondLst>
                            <p:childTnLst>
                              <p:par>
                                <p:cTn id="19" presetID="2" presetClass="entr" presetSubtype="6" fill="hold" nodeType="afterEffect">
                                  <p:stCondLst>
                                    <p:cond delay="0"/>
                                  </p:stCondLst>
                                  <p:childTnLst>
                                    <p:set>
                                      <p:cBhvr>
                                        <p:cTn id="20" dur="1" fill="hold">
                                          <p:stCondLst>
                                            <p:cond delay="0"/>
                                          </p:stCondLst>
                                        </p:cTn>
                                        <p:tgtEl>
                                          <p:spTgt spid="15366"/>
                                        </p:tgtEl>
                                        <p:attrNameLst>
                                          <p:attrName>style.visibility</p:attrName>
                                        </p:attrNameLst>
                                      </p:cBhvr>
                                      <p:to>
                                        <p:strVal val="visible"/>
                                      </p:to>
                                    </p:set>
                                    <p:anim calcmode="lin" valueType="num">
                                      <p:cBhvr additive="base">
                                        <p:cTn id="21" dur="500" fill="hold"/>
                                        <p:tgtEl>
                                          <p:spTgt spid="15366"/>
                                        </p:tgtEl>
                                        <p:attrNameLst>
                                          <p:attrName>ppt_x</p:attrName>
                                        </p:attrNameLst>
                                      </p:cBhvr>
                                      <p:tavLst>
                                        <p:tav tm="0">
                                          <p:val>
                                            <p:strVal val="1+#ppt_w/2"/>
                                          </p:val>
                                        </p:tav>
                                        <p:tav tm="100000">
                                          <p:val>
                                            <p:strVal val="#ppt_x"/>
                                          </p:val>
                                        </p:tav>
                                      </p:tavLst>
                                    </p:anim>
                                    <p:anim calcmode="lin" valueType="num">
                                      <p:cBhvr additive="base">
                                        <p:cTn id="22" dur="500" fill="hold"/>
                                        <p:tgtEl>
                                          <p:spTgt spid="153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P spid="15364" grpId="0"/>
      <p:bldP spid="15365" grpId="0"/>
      <p:bldP spid="1536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p:nvPr/>
        </p:nvSpPr>
        <p:spPr>
          <a:xfrm>
            <a:off x="4100902" y="522627"/>
            <a:ext cx="3990195" cy="76944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b="1" dirty="0">
                <a:solidFill>
                  <a:srgbClr val="333399"/>
                </a:solidFill>
                <a:ea typeface="楷体_GB2312" pitchFamily="49" charset="-122"/>
              </a:rPr>
              <a:t>NextElem( L, </a:t>
            </a:r>
            <a:r>
              <a:rPr lang="en-US" altLang="zh-CN" sz="4400" b="1" dirty="0">
                <a:solidFill>
                  <a:srgbClr val="333399"/>
                </a:solidFill>
                <a:ea typeface="楷体_GB2312" pitchFamily="49" charset="-122"/>
              </a:rPr>
              <a:t>e</a:t>
            </a:r>
            <a:r>
              <a:rPr lang="zh-CN" altLang="zh-CN" sz="4400" b="1" dirty="0">
                <a:solidFill>
                  <a:srgbClr val="333399"/>
                </a:solidFill>
                <a:ea typeface="楷体_GB2312" pitchFamily="49" charset="-122"/>
              </a:rPr>
              <a:t>)</a:t>
            </a:r>
            <a:endParaRPr lang="zh-CN" altLang="zh-CN" sz="4400" dirty="0"/>
          </a:p>
        </p:txBody>
      </p:sp>
      <p:sp>
        <p:nvSpPr>
          <p:cNvPr id="16387" name="Text Box 3"/>
          <p:cNvSpPr txBox="1"/>
          <p:nvPr/>
        </p:nvSpPr>
        <p:spPr>
          <a:xfrm>
            <a:off x="1524001" y="2362200"/>
            <a:ext cx="3005951" cy="212365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初始条件：</a:t>
            </a:r>
          </a:p>
          <a:p>
            <a:pPr marL="0" indent="0" eaLnBrk="1" hangingPunct="1">
              <a:spcBef>
                <a:spcPct val="0"/>
              </a:spcBef>
              <a:buClrTx/>
              <a:buNone/>
            </a:pPr>
            <a:endParaRPr lang="zh-CN" altLang="zh-CN" sz="4400" dirty="0">
              <a:latin typeface="楷体_GB2312" pitchFamily="49" charset="-122"/>
              <a:ea typeface="楷体_GB2312" pitchFamily="49" charset="-122"/>
            </a:endParaRPr>
          </a:p>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操作结果：</a:t>
            </a:r>
          </a:p>
        </p:txBody>
      </p:sp>
      <p:sp>
        <p:nvSpPr>
          <p:cNvPr id="16388" name="Text Box 4"/>
          <p:cNvSpPr txBox="1"/>
          <p:nvPr/>
        </p:nvSpPr>
        <p:spPr>
          <a:xfrm>
            <a:off x="4108450" y="2514601"/>
            <a:ext cx="3663950" cy="11906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dirty="0">
                <a:latin typeface="楷体_GB2312" pitchFamily="49" charset="-122"/>
                <a:ea typeface="楷体_GB2312" pitchFamily="49" charset="-122"/>
              </a:rPr>
              <a:t>线性表</a:t>
            </a:r>
            <a:r>
              <a:rPr lang="zh-CN" altLang="zh-CN" sz="3600" dirty="0">
                <a:ea typeface="楷体_GB2312" pitchFamily="49" charset="-122"/>
              </a:rPr>
              <a:t>L</a:t>
            </a:r>
            <a:r>
              <a:rPr lang="zh-CN" altLang="zh-CN" sz="3600" dirty="0">
                <a:latin typeface="楷体_GB2312" pitchFamily="49" charset="-122"/>
                <a:ea typeface="楷体_GB2312" pitchFamily="49" charset="-122"/>
              </a:rPr>
              <a:t>已存在。</a:t>
            </a:r>
          </a:p>
          <a:p>
            <a:pPr marL="0" indent="0" eaLnBrk="1" hangingPunct="1">
              <a:spcBef>
                <a:spcPct val="0"/>
              </a:spcBef>
              <a:buClrTx/>
              <a:buNone/>
            </a:pPr>
            <a:endParaRPr lang="zh-CN" altLang="zh-CN" sz="3600" dirty="0"/>
          </a:p>
        </p:txBody>
      </p:sp>
      <p:sp>
        <p:nvSpPr>
          <p:cNvPr id="16389" name="Text Box 5">
            <a:hlinkClick r:id="rId2" action="ppaction://hlinksldjump"/>
          </p:cNvPr>
          <p:cNvSpPr txBox="1"/>
          <p:nvPr/>
        </p:nvSpPr>
        <p:spPr>
          <a:xfrm>
            <a:off x="4114800" y="3749676"/>
            <a:ext cx="6019800" cy="203004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0000"/>
              </a:lnSpc>
              <a:spcBef>
                <a:spcPct val="0"/>
              </a:spcBef>
              <a:buClrTx/>
              <a:buNone/>
            </a:pPr>
            <a:r>
              <a:rPr lang="en-US" altLang="zh-CN" sz="3600" dirty="0">
                <a:latin typeface="楷体_GB2312" pitchFamily="49" charset="-122"/>
                <a:ea typeface="楷体_GB2312" pitchFamily="49" charset="-122"/>
              </a:rPr>
              <a:t>e</a:t>
            </a:r>
            <a:r>
              <a:rPr lang="zh-CN" altLang="zh-CN" sz="3600" dirty="0">
                <a:ea typeface="楷体_GB2312" pitchFamily="49" charset="-122"/>
              </a:rPr>
              <a:t>是L</a:t>
            </a:r>
            <a:r>
              <a:rPr lang="zh-CN" altLang="zh-CN" sz="3600" dirty="0">
                <a:latin typeface="楷体_GB2312" pitchFamily="49" charset="-122"/>
                <a:ea typeface="楷体_GB2312" pitchFamily="49" charset="-122"/>
              </a:rPr>
              <a:t>的元素，</a:t>
            </a:r>
            <a:r>
              <a:rPr lang="zh-CN" altLang="en-US" sz="3600" dirty="0">
                <a:latin typeface="楷体_GB2312" pitchFamily="49" charset="-122"/>
                <a:ea typeface="楷体_GB2312" pitchFamily="49" charset="-122"/>
              </a:rPr>
              <a:t>且</a:t>
            </a:r>
            <a:r>
              <a:rPr lang="zh-CN" altLang="zh-CN" sz="3600" dirty="0">
                <a:latin typeface="楷体_GB2312" pitchFamily="49" charset="-122"/>
                <a:ea typeface="楷体_GB2312" pitchFamily="49" charset="-122"/>
              </a:rPr>
              <a:t>不是最后一个，则返回它的后继</a:t>
            </a:r>
            <a:r>
              <a:rPr lang="zh-CN" altLang="en-US" sz="3600" dirty="0">
                <a:latin typeface="楷体_GB2312" pitchFamily="49" charset="-122"/>
                <a:ea typeface="楷体_GB2312" pitchFamily="49" charset="-122"/>
              </a:rPr>
              <a:t>元素值</a:t>
            </a:r>
            <a:r>
              <a:rPr lang="zh-CN" altLang="zh-CN" sz="3600" dirty="0">
                <a:latin typeface="楷体_GB2312" pitchFamily="49" charset="-122"/>
                <a:ea typeface="楷体_GB2312" pitchFamily="49" charset="-122"/>
              </a:rPr>
              <a:t>，否则操作失败</a:t>
            </a:r>
            <a:r>
              <a:rPr lang="zh-CN" altLang="en-US" sz="3600" dirty="0">
                <a:latin typeface="楷体_GB2312" pitchFamily="49" charset="-122"/>
                <a:ea typeface="楷体_GB2312" pitchFamily="49" charset="-122"/>
              </a:rPr>
              <a:t>。</a:t>
            </a:r>
            <a:endParaRPr lang="zh-CN" altLang="zh-CN" sz="3600" dirty="0"/>
          </a:p>
        </p:txBody>
      </p:sp>
      <p:sp>
        <p:nvSpPr>
          <p:cNvPr id="16390" name="AutoShape 6">
            <a:hlinkClick r:id="" action="ppaction://hlinkshowjump?jump=lastslideviewed"/>
          </p:cNvPr>
          <p:cNvSpPr/>
          <p:nvPr/>
        </p:nvSpPr>
        <p:spPr>
          <a:xfrm>
            <a:off x="9982200" y="6172200"/>
            <a:ext cx="381000" cy="381000"/>
          </a:xfrm>
          <a:prstGeom prst="actionButtonReturn">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
        <p:nvSpPr>
          <p:cNvPr id="16391" name="Text Box 7"/>
          <p:cNvSpPr txBox="1"/>
          <p:nvPr/>
        </p:nvSpPr>
        <p:spPr>
          <a:xfrm>
            <a:off x="3194050" y="1219201"/>
            <a:ext cx="5264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solidFill>
                  <a:srgbClr val="660066"/>
                </a:solidFill>
                <a:ea typeface="隶书" panose="02010509060101010101" pitchFamily="49" charset="-122"/>
              </a:rPr>
              <a:t>（求数据元素的后继）</a:t>
            </a:r>
            <a:endParaRPr lang="zh-CN" altLang="zh-CN" sz="24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6387"/>
                                        </p:tgtEl>
                                        <p:attrNameLst>
                                          <p:attrName>style.visibility</p:attrName>
                                        </p:attrNameLst>
                                      </p:cBhvr>
                                      <p:to>
                                        <p:strVal val="visible"/>
                                      </p:to>
                                    </p:set>
                                    <p:animEffect transition="in" filter="barn(outHorizontal)">
                                      <p:cBhvr>
                                        <p:cTn id="7" dur="500"/>
                                        <p:tgtEl>
                                          <p:spTgt spid="163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388"/>
                                        </p:tgtEl>
                                        <p:attrNameLst>
                                          <p:attrName>style.visibility</p:attrName>
                                        </p:attrNameLst>
                                      </p:cBhvr>
                                      <p:to>
                                        <p:strVal val="visible"/>
                                      </p:to>
                                    </p:set>
                                    <p:animEffect transition="in" filter="wipe(left)">
                                      <p:cBhvr>
                                        <p:cTn id="12" dur="500"/>
                                        <p:tgtEl>
                                          <p:spTgt spid="1638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389"/>
                                        </p:tgtEl>
                                        <p:attrNameLst>
                                          <p:attrName>style.visibility</p:attrName>
                                        </p:attrNameLst>
                                      </p:cBhvr>
                                      <p:to>
                                        <p:strVal val="visible"/>
                                      </p:to>
                                    </p:set>
                                    <p:animEffect transition="in" filter="wipe(left)">
                                      <p:cBhvr>
                                        <p:cTn id="17" dur="500"/>
                                        <p:tgtEl>
                                          <p:spTgt spid="16389"/>
                                        </p:tgtEl>
                                      </p:cBhvr>
                                    </p:animEffect>
                                  </p:childTnLst>
                                </p:cTn>
                              </p:par>
                            </p:childTnLst>
                          </p:cTn>
                        </p:par>
                        <p:par>
                          <p:cTn id="18" fill="hold">
                            <p:stCondLst>
                              <p:cond delay="500"/>
                            </p:stCondLst>
                            <p:childTnLst>
                              <p:par>
                                <p:cTn id="19" presetID="2" presetClass="entr" presetSubtype="6" fill="hold" nodeType="afterEffect">
                                  <p:stCondLst>
                                    <p:cond delay="0"/>
                                  </p:stCondLst>
                                  <p:childTnLst>
                                    <p:set>
                                      <p:cBhvr>
                                        <p:cTn id="20" dur="1" fill="hold">
                                          <p:stCondLst>
                                            <p:cond delay="0"/>
                                          </p:stCondLst>
                                        </p:cTn>
                                        <p:tgtEl>
                                          <p:spTgt spid="16390"/>
                                        </p:tgtEl>
                                        <p:attrNameLst>
                                          <p:attrName>style.visibility</p:attrName>
                                        </p:attrNameLst>
                                      </p:cBhvr>
                                      <p:to>
                                        <p:strVal val="visible"/>
                                      </p:to>
                                    </p:set>
                                    <p:anim calcmode="lin" valueType="num">
                                      <p:cBhvr additive="base">
                                        <p:cTn id="21" dur="500" fill="hold"/>
                                        <p:tgtEl>
                                          <p:spTgt spid="16390"/>
                                        </p:tgtEl>
                                        <p:attrNameLst>
                                          <p:attrName>ppt_x</p:attrName>
                                        </p:attrNameLst>
                                      </p:cBhvr>
                                      <p:tavLst>
                                        <p:tav tm="0">
                                          <p:val>
                                            <p:strVal val="1+#ppt_w/2"/>
                                          </p:val>
                                        </p:tav>
                                        <p:tav tm="100000">
                                          <p:val>
                                            <p:strVal val="#ppt_x"/>
                                          </p:val>
                                        </p:tav>
                                      </p:tavLst>
                                    </p:anim>
                                    <p:anim calcmode="lin" valueType="num">
                                      <p:cBhvr additive="base">
                                        <p:cTn id="22" dur="500" fill="hold"/>
                                        <p:tgtEl>
                                          <p:spTgt spid="163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P spid="16388" grpId="0"/>
      <p:bldP spid="16389" grpId="0"/>
      <p:bldP spid="1639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p:nvPr/>
        </p:nvSpPr>
        <p:spPr>
          <a:xfrm>
            <a:off x="3937377" y="690018"/>
            <a:ext cx="3647152" cy="76944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b="1" dirty="0">
                <a:solidFill>
                  <a:srgbClr val="333399"/>
                </a:solidFill>
                <a:ea typeface="楷体_GB2312" pitchFamily="49" charset="-122"/>
              </a:rPr>
              <a:t>GetElem( L, i)</a:t>
            </a:r>
            <a:endParaRPr lang="zh-CN" altLang="zh-CN" sz="2400" dirty="0"/>
          </a:p>
        </p:txBody>
      </p:sp>
      <p:sp>
        <p:nvSpPr>
          <p:cNvPr id="17411" name="Text Box 3"/>
          <p:cNvSpPr txBox="1"/>
          <p:nvPr/>
        </p:nvSpPr>
        <p:spPr>
          <a:xfrm>
            <a:off x="1524001" y="2667001"/>
            <a:ext cx="3172663" cy="280076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2400" dirty="0">
                <a:solidFill>
                  <a:srgbClr val="FF0000"/>
                </a:solidFill>
                <a:latin typeface="楷体_GB2312" pitchFamily="49" charset="-122"/>
                <a:ea typeface="楷体_GB2312" pitchFamily="49" charset="-122"/>
              </a:rPr>
              <a:t> </a:t>
            </a:r>
            <a:r>
              <a:rPr lang="zh-CN" altLang="zh-CN" sz="4400" dirty="0">
                <a:solidFill>
                  <a:srgbClr val="FF0000"/>
                </a:solidFill>
                <a:latin typeface="楷体_GB2312" pitchFamily="49" charset="-122"/>
                <a:ea typeface="楷体_GB2312" pitchFamily="49" charset="-122"/>
              </a:rPr>
              <a:t>初始条件：</a:t>
            </a:r>
          </a:p>
          <a:p>
            <a:pPr marL="0" indent="0" eaLnBrk="1" hangingPunct="1">
              <a:spcBef>
                <a:spcPct val="0"/>
              </a:spcBef>
              <a:buClrTx/>
              <a:buNone/>
            </a:pPr>
            <a:endParaRPr lang="zh-CN" altLang="zh-CN" sz="4400" dirty="0">
              <a:solidFill>
                <a:srgbClr val="FF0000"/>
              </a:solidFill>
              <a:latin typeface="楷体_GB2312" pitchFamily="49" charset="-122"/>
              <a:ea typeface="楷体_GB2312" pitchFamily="49" charset="-122"/>
            </a:endParaRPr>
          </a:p>
          <a:p>
            <a:pPr marL="0" indent="0" eaLnBrk="1" hangingPunct="1">
              <a:spcBef>
                <a:spcPct val="0"/>
              </a:spcBef>
              <a:buClrTx/>
              <a:buNone/>
            </a:pPr>
            <a:endParaRPr lang="zh-CN" altLang="zh-CN" sz="4400" dirty="0">
              <a:solidFill>
                <a:srgbClr val="FF0000"/>
              </a:solidFill>
              <a:latin typeface="楷体_GB2312" pitchFamily="49" charset="-122"/>
              <a:ea typeface="楷体_GB2312" pitchFamily="49" charset="-122"/>
            </a:endParaRPr>
          </a:p>
          <a:p>
            <a:pPr marL="0" indent="0" eaLnBrk="1" hangingPunct="1">
              <a:spcBef>
                <a:spcPct val="0"/>
              </a:spcBef>
              <a:buClrTx/>
              <a:buNone/>
            </a:pPr>
            <a:r>
              <a:rPr lang="zh-CN" altLang="zh-CN" sz="4400" dirty="0">
                <a:latin typeface="楷体_GB2312" pitchFamily="49" charset="-122"/>
                <a:ea typeface="楷体_GB2312" pitchFamily="49" charset="-122"/>
              </a:rPr>
              <a:t> </a:t>
            </a:r>
            <a:r>
              <a:rPr lang="zh-CN" altLang="zh-CN" sz="4400" dirty="0">
                <a:solidFill>
                  <a:srgbClr val="FF0000"/>
                </a:solidFill>
                <a:latin typeface="楷体_GB2312" pitchFamily="49" charset="-122"/>
                <a:ea typeface="楷体_GB2312" pitchFamily="49" charset="-122"/>
              </a:rPr>
              <a:t>操作结果：</a:t>
            </a:r>
          </a:p>
        </p:txBody>
      </p:sp>
      <p:sp>
        <p:nvSpPr>
          <p:cNvPr id="17412" name="Text Box 4"/>
          <p:cNvSpPr txBox="1"/>
          <p:nvPr/>
        </p:nvSpPr>
        <p:spPr>
          <a:xfrm>
            <a:off x="4191000" y="2667000"/>
            <a:ext cx="3956148" cy="147732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5000"/>
              </a:lnSpc>
              <a:spcBef>
                <a:spcPct val="0"/>
              </a:spcBef>
              <a:buClrTx/>
              <a:buNone/>
            </a:pPr>
            <a:r>
              <a:rPr lang="zh-CN" altLang="zh-CN" sz="3600" dirty="0">
                <a:latin typeface="楷体_GB2312" pitchFamily="49" charset="-122"/>
                <a:ea typeface="楷体_GB2312" pitchFamily="49" charset="-122"/>
              </a:rPr>
              <a:t>线性表</a:t>
            </a:r>
            <a:r>
              <a:rPr lang="zh-CN" altLang="zh-CN" sz="3600" b="1" dirty="0">
                <a:solidFill>
                  <a:srgbClr val="660066"/>
                </a:solidFill>
                <a:ea typeface="楷体_GB2312" pitchFamily="49" charset="-122"/>
              </a:rPr>
              <a:t>L</a:t>
            </a:r>
            <a:r>
              <a:rPr lang="zh-CN" altLang="zh-CN" sz="3600" dirty="0">
                <a:latin typeface="楷体_GB2312" pitchFamily="49" charset="-122"/>
                <a:ea typeface="楷体_GB2312" pitchFamily="49" charset="-122"/>
              </a:rPr>
              <a:t>已存在，</a:t>
            </a:r>
          </a:p>
          <a:p>
            <a:pPr marL="0" indent="0" eaLnBrk="1" hangingPunct="1">
              <a:lnSpc>
                <a:spcPct val="125000"/>
              </a:lnSpc>
              <a:spcBef>
                <a:spcPct val="0"/>
              </a:spcBef>
              <a:buClrTx/>
              <a:buNone/>
            </a:pPr>
            <a:r>
              <a:rPr lang="zh-CN" altLang="zh-CN" sz="3600" dirty="0">
                <a:latin typeface="楷体_GB2312" pitchFamily="49" charset="-122"/>
                <a:ea typeface="楷体_GB2312" pitchFamily="49" charset="-122"/>
              </a:rPr>
              <a:t>且 </a:t>
            </a:r>
            <a:r>
              <a:rPr lang="zh-CN" altLang="zh-CN" sz="3600" b="1" dirty="0">
                <a:ea typeface="楷体_GB2312" pitchFamily="49" charset="-122"/>
              </a:rPr>
              <a:t>1≤i≤</a:t>
            </a:r>
            <a:r>
              <a:rPr lang="en-US" altLang="zh-CN" sz="3600" b="1" dirty="0" err="1">
                <a:ea typeface="楷体_GB2312" pitchFamily="49" charset="-122"/>
              </a:rPr>
              <a:t>ListLen</a:t>
            </a:r>
            <a:r>
              <a:rPr lang="zh-CN" altLang="zh-CN" sz="3600" b="1" dirty="0">
                <a:ea typeface="楷体_GB2312" pitchFamily="49" charset="-122"/>
              </a:rPr>
              <a:t>(L)。</a:t>
            </a:r>
          </a:p>
        </p:txBody>
      </p:sp>
      <p:sp>
        <p:nvSpPr>
          <p:cNvPr id="17413" name="Text Box 5"/>
          <p:cNvSpPr txBox="1"/>
          <p:nvPr/>
        </p:nvSpPr>
        <p:spPr>
          <a:xfrm>
            <a:off x="3647728" y="4786303"/>
            <a:ext cx="8397492" cy="140019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629285" indent="101600" algn="just">
              <a:lnSpc>
                <a:spcPct val="110000"/>
              </a:lnSpc>
              <a:buNone/>
            </a:pPr>
            <a:r>
              <a:rPr lang="zh-CN" altLang="zh-CN" sz="3600" dirty="0">
                <a:latin typeface="楷体_GB2312" pitchFamily="49" charset="-122"/>
                <a:ea typeface="楷体_GB2312" pitchFamily="49" charset="-122"/>
              </a:rPr>
              <a:t>返回</a:t>
            </a:r>
            <a:r>
              <a:rPr lang="zh-CN" altLang="zh-CN" sz="3600" b="1" dirty="0">
                <a:solidFill>
                  <a:srgbClr val="003399"/>
                </a:solidFill>
                <a:ea typeface="楷体_GB2312" pitchFamily="49" charset="-122"/>
              </a:rPr>
              <a:t>L</a:t>
            </a:r>
            <a:r>
              <a:rPr lang="zh-CN" altLang="zh-CN" sz="3600" dirty="0">
                <a:latin typeface="楷体_GB2312" pitchFamily="49" charset="-122"/>
                <a:ea typeface="楷体_GB2312" pitchFamily="49" charset="-122"/>
              </a:rPr>
              <a:t>中第 </a:t>
            </a:r>
            <a:r>
              <a:rPr lang="zh-CN" altLang="zh-CN" sz="3600" dirty="0">
                <a:solidFill>
                  <a:srgbClr val="660066"/>
                </a:solidFill>
                <a:ea typeface="楷体_GB2312" pitchFamily="49" charset="-122"/>
              </a:rPr>
              <a:t>i</a:t>
            </a:r>
            <a:r>
              <a:rPr lang="zh-CN" altLang="zh-CN" sz="3600" dirty="0">
                <a:ea typeface="楷体_GB2312" pitchFamily="49" charset="-122"/>
              </a:rPr>
              <a:t> </a:t>
            </a:r>
            <a:r>
              <a:rPr lang="zh-CN" altLang="zh-CN" sz="3600" dirty="0">
                <a:latin typeface="楷体_GB2312" pitchFamily="49" charset="-122"/>
                <a:ea typeface="楷体_GB2312" pitchFamily="49" charset="-122"/>
              </a:rPr>
              <a:t>个元素的值。</a:t>
            </a:r>
            <a:r>
              <a:rPr lang="zh-CN" altLang="zh-CN" sz="3600" b="1" kern="100" dirty="0">
                <a:latin typeface="Courier New" panose="02070309020205020404" pitchFamily="49" charset="0"/>
                <a:ea typeface="宋体" panose="02010600030101010101" pitchFamily="2" charset="-122"/>
                <a:cs typeface="Courier New" panose="02070309020205020404" pitchFamily="49" charset="0"/>
              </a:rPr>
              <a:t>若不存在，</a:t>
            </a:r>
            <a:endParaRPr lang="en-US" altLang="zh-CN" sz="3600" b="1" kern="100" dirty="0">
              <a:latin typeface="Courier New" panose="02070309020205020404" pitchFamily="49" charset="0"/>
              <a:ea typeface="宋体" panose="02010600030101010101" pitchFamily="2" charset="-122"/>
              <a:cs typeface="Courier New" panose="02070309020205020404" pitchFamily="49" charset="0"/>
            </a:endParaRPr>
          </a:p>
          <a:p>
            <a:pPr marL="629285" indent="101600" algn="just">
              <a:lnSpc>
                <a:spcPct val="110000"/>
              </a:lnSpc>
              <a:buNone/>
            </a:pPr>
            <a:r>
              <a:rPr lang="zh-CN" altLang="zh-CN" sz="3600" b="1" kern="100" dirty="0">
                <a:latin typeface="Courier New" panose="02070309020205020404" pitchFamily="49" charset="0"/>
                <a:ea typeface="宋体" panose="02010600030101010101" pitchFamily="2" charset="-122"/>
                <a:cs typeface="Courier New" panose="02070309020205020404" pitchFamily="49" charset="0"/>
              </a:rPr>
              <a:t>则返回出错</a:t>
            </a:r>
            <a:r>
              <a:rPr lang="zh-CN" altLang="en-US" sz="3600" b="1" kern="100" dirty="0">
                <a:latin typeface="Courier New" panose="02070309020205020404" pitchFamily="49" charset="0"/>
                <a:ea typeface="宋体" panose="02010600030101010101" pitchFamily="2" charset="-122"/>
                <a:cs typeface="Courier New" panose="02070309020205020404" pitchFamily="49" charset="0"/>
              </a:rPr>
              <a:t>值。</a:t>
            </a:r>
            <a:endParaRPr lang="zh-CN" altLang="zh-CN" sz="3600" dirty="0">
              <a:latin typeface="楷体_GB2312" pitchFamily="49" charset="-122"/>
              <a:ea typeface="楷体_GB2312" pitchFamily="49" charset="-122"/>
            </a:endParaRPr>
          </a:p>
        </p:txBody>
      </p:sp>
      <p:sp>
        <p:nvSpPr>
          <p:cNvPr id="17414" name="AutoShape 6">
            <a:hlinkClick r:id="" action="ppaction://hlinkshowjump?jump=lastslideviewed"/>
          </p:cNvPr>
          <p:cNvSpPr/>
          <p:nvPr/>
        </p:nvSpPr>
        <p:spPr>
          <a:xfrm>
            <a:off x="9982200" y="6172200"/>
            <a:ext cx="381000" cy="381000"/>
          </a:xfrm>
          <a:prstGeom prst="actionButtonReturn">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
        <p:nvSpPr>
          <p:cNvPr id="17415" name="Text Box 7"/>
          <p:cNvSpPr txBox="1"/>
          <p:nvPr/>
        </p:nvSpPr>
        <p:spPr>
          <a:xfrm>
            <a:off x="2438400" y="1371601"/>
            <a:ext cx="6788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solidFill>
                  <a:srgbClr val="660066"/>
                </a:solidFill>
                <a:ea typeface="隶书" panose="02010509060101010101" pitchFamily="49" charset="-122"/>
              </a:rPr>
              <a:t>（求线性表中某个数据元素）</a:t>
            </a:r>
            <a:endParaRPr lang="zh-CN" altLang="zh-CN" sz="24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barn(outHorizontal)">
                                      <p:cBhvr>
                                        <p:cTn id="7" dur="500"/>
                                        <p:tgtEl>
                                          <p:spTgt spid="174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412"/>
                                        </p:tgtEl>
                                        <p:attrNameLst>
                                          <p:attrName>style.visibility</p:attrName>
                                        </p:attrNameLst>
                                      </p:cBhvr>
                                      <p:to>
                                        <p:strVal val="visible"/>
                                      </p:to>
                                    </p:set>
                                    <p:animEffect transition="in" filter="wipe(left)">
                                      <p:cBhvr>
                                        <p:cTn id="12" dur="500"/>
                                        <p:tgtEl>
                                          <p:spTgt spid="174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413"/>
                                        </p:tgtEl>
                                        <p:attrNameLst>
                                          <p:attrName>style.visibility</p:attrName>
                                        </p:attrNameLst>
                                      </p:cBhvr>
                                      <p:to>
                                        <p:strVal val="visible"/>
                                      </p:to>
                                    </p:set>
                                    <p:animEffect transition="in" filter="wipe(left)">
                                      <p:cBhvr>
                                        <p:cTn id="17" dur="500"/>
                                        <p:tgtEl>
                                          <p:spTgt spid="17413"/>
                                        </p:tgtEl>
                                      </p:cBhvr>
                                    </p:animEffect>
                                  </p:childTnLst>
                                </p:cTn>
                              </p:par>
                            </p:childTnLst>
                          </p:cTn>
                        </p:par>
                        <p:par>
                          <p:cTn id="18" fill="hold">
                            <p:stCondLst>
                              <p:cond delay="500"/>
                            </p:stCondLst>
                            <p:childTnLst>
                              <p:par>
                                <p:cTn id="19" presetID="2" presetClass="entr" presetSubtype="6" fill="hold" nodeType="afterEffect">
                                  <p:stCondLst>
                                    <p:cond delay="0"/>
                                  </p:stCondLst>
                                  <p:childTnLst>
                                    <p:set>
                                      <p:cBhvr>
                                        <p:cTn id="20" dur="1" fill="hold">
                                          <p:stCondLst>
                                            <p:cond delay="0"/>
                                          </p:stCondLst>
                                        </p:cTn>
                                        <p:tgtEl>
                                          <p:spTgt spid="17414"/>
                                        </p:tgtEl>
                                        <p:attrNameLst>
                                          <p:attrName>style.visibility</p:attrName>
                                        </p:attrNameLst>
                                      </p:cBhvr>
                                      <p:to>
                                        <p:strVal val="visible"/>
                                      </p:to>
                                    </p:set>
                                    <p:anim calcmode="lin" valueType="num">
                                      <p:cBhvr additive="base">
                                        <p:cTn id="21" dur="500" fill="hold"/>
                                        <p:tgtEl>
                                          <p:spTgt spid="17414"/>
                                        </p:tgtEl>
                                        <p:attrNameLst>
                                          <p:attrName>ppt_x</p:attrName>
                                        </p:attrNameLst>
                                      </p:cBhvr>
                                      <p:tavLst>
                                        <p:tav tm="0">
                                          <p:val>
                                            <p:strVal val="1+#ppt_w/2"/>
                                          </p:val>
                                        </p:tav>
                                        <p:tav tm="100000">
                                          <p:val>
                                            <p:strVal val="#ppt_x"/>
                                          </p:val>
                                        </p:tav>
                                      </p:tavLst>
                                    </p:anim>
                                    <p:anim calcmode="lin" valueType="num">
                                      <p:cBhvr additive="base">
                                        <p:cTn id="22" dur="500" fill="hold"/>
                                        <p:tgtEl>
                                          <p:spTgt spid="174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17412" grpId="0"/>
      <p:bldP spid="17413" grpId="0"/>
      <p:bldP spid="174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p:nvPr/>
        </p:nvSpPr>
        <p:spPr>
          <a:xfrm>
            <a:off x="2863850" y="405856"/>
            <a:ext cx="6748963" cy="76944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b="1" dirty="0">
                <a:solidFill>
                  <a:srgbClr val="333399"/>
                </a:solidFill>
                <a:ea typeface="楷体_GB2312" pitchFamily="49" charset="-122"/>
              </a:rPr>
              <a:t>LocateElem( L, e, </a:t>
            </a:r>
            <a:r>
              <a:rPr lang="en-US" altLang="zh-CN" sz="4400" b="1" dirty="0">
                <a:solidFill>
                  <a:srgbClr val="333399"/>
                </a:solidFill>
                <a:ea typeface="楷体_GB2312" pitchFamily="49" charset="-122"/>
              </a:rPr>
              <a:t>equal</a:t>
            </a:r>
            <a:r>
              <a:rPr lang="zh-CN" altLang="zh-CN" sz="4400" b="1" dirty="0">
                <a:solidFill>
                  <a:srgbClr val="333399"/>
                </a:solidFill>
                <a:ea typeface="楷体_GB2312" pitchFamily="49" charset="-122"/>
              </a:rPr>
              <a:t>( ) )</a:t>
            </a:r>
            <a:endParaRPr lang="zh-CN" altLang="zh-CN" sz="4400" dirty="0">
              <a:ea typeface="楷体_GB2312" pitchFamily="49" charset="-122"/>
            </a:endParaRPr>
          </a:p>
        </p:txBody>
      </p:sp>
      <p:sp>
        <p:nvSpPr>
          <p:cNvPr id="18435" name="Text Box 3"/>
          <p:cNvSpPr txBox="1"/>
          <p:nvPr/>
        </p:nvSpPr>
        <p:spPr>
          <a:xfrm>
            <a:off x="1600201" y="2012950"/>
            <a:ext cx="3005951" cy="212365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初始条件：</a:t>
            </a:r>
          </a:p>
          <a:p>
            <a:pPr marL="0" indent="0" eaLnBrk="1" hangingPunct="1">
              <a:spcBef>
                <a:spcPct val="0"/>
              </a:spcBef>
              <a:buClrTx/>
              <a:buNone/>
            </a:pPr>
            <a:endParaRPr lang="zh-CN" altLang="zh-CN" sz="4400" dirty="0">
              <a:solidFill>
                <a:srgbClr val="FF0000"/>
              </a:solidFill>
              <a:latin typeface="楷体_GB2312" pitchFamily="49" charset="-122"/>
              <a:ea typeface="楷体_GB2312" pitchFamily="49" charset="-122"/>
            </a:endParaRPr>
          </a:p>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操作结果：</a:t>
            </a:r>
            <a:endParaRPr lang="zh-CN" altLang="zh-CN" sz="2400" dirty="0">
              <a:solidFill>
                <a:srgbClr val="FF0000"/>
              </a:solidFill>
              <a:latin typeface="楷体_GB2312" pitchFamily="49" charset="-122"/>
              <a:ea typeface="楷体_GB2312" pitchFamily="49" charset="-122"/>
            </a:endParaRPr>
          </a:p>
        </p:txBody>
      </p:sp>
      <p:sp>
        <p:nvSpPr>
          <p:cNvPr id="18436" name="Text Box 4"/>
          <p:cNvSpPr txBox="1"/>
          <p:nvPr/>
        </p:nvSpPr>
        <p:spPr>
          <a:xfrm>
            <a:off x="4298950" y="2019300"/>
            <a:ext cx="6292850" cy="1409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0000"/>
              </a:lnSpc>
              <a:spcBef>
                <a:spcPct val="0"/>
              </a:spcBef>
              <a:buClrTx/>
              <a:buNone/>
            </a:pPr>
            <a:r>
              <a:rPr lang="zh-CN" altLang="zh-CN" sz="3600" dirty="0">
                <a:latin typeface="楷体_GB2312" pitchFamily="49" charset="-122"/>
                <a:ea typeface="楷体_GB2312" pitchFamily="49" charset="-122"/>
              </a:rPr>
              <a:t>线性表</a:t>
            </a:r>
            <a:r>
              <a:rPr lang="zh-CN" altLang="zh-CN" sz="3600" b="1" dirty="0">
                <a:solidFill>
                  <a:srgbClr val="003399"/>
                </a:solidFill>
                <a:ea typeface="楷体_GB2312" pitchFamily="49" charset="-122"/>
              </a:rPr>
              <a:t>L</a:t>
            </a:r>
            <a:r>
              <a:rPr lang="zh-CN" altLang="zh-CN" sz="3600" dirty="0">
                <a:latin typeface="楷体_GB2312" pitchFamily="49" charset="-122"/>
                <a:ea typeface="楷体_GB2312" pitchFamily="49" charset="-122"/>
              </a:rPr>
              <a:t>已存在，e为给定值，</a:t>
            </a:r>
          </a:p>
          <a:p>
            <a:pPr marL="0" indent="0" eaLnBrk="1" hangingPunct="1">
              <a:lnSpc>
                <a:spcPct val="120000"/>
              </a:lnSpc>
              <a:spcBef>
                <a:spcPct val="0"/>
              </a:spcBef>
              <a:buClrTx/>
              <a:buNone/>
            </a:pPr>
            <a:r>
              <a:rPr lang="zh-CN" altLang="zh-CN" sz="3600" dirty="0">
                <a:latin typeface="楷体_GB2312" pitchFamily="49" charset="-122"/>
                <a:ea typeface="楷体_GB2312" pitchFamily="49" charset="-122"/>
              </a:rPr>
              <a:t>  </a:t>
            </a:r>
            <a:r>
              <a:rPr lang="en-US" altLang="zh-CN" sz="3600" dirty="0">
                <a:ea typeface="楷体_GB2312" pitchFamily="49" charset="-122"/>
              </a:rPr>
              <a:t>equal</a:t>
            </a:r>
            <a:r>
              <a:rPr lang="zh-CN" altLang="zh-CN" sz="3600" dirty="0">
                <a:ea typeface="楷体_GB2312" pitchFamily="49" charset="-122"/>
              </a:rPr>
              <a:t>( )</a:t>
            </a:r>
            <a:r>
              <a:rPr lang="zh-CN" altLang="zh-CN" sz="3600" dirty="0">
                <a:latin typeface="楷体_GB2312" pitchFamily="49" charset="-122"/>
                <a:ea typeface="楷体_GB2312" pitchFamily="49" charset="-122"/>
              </a:rPr>
              <a:t>是元素判定函数。</a:t>
            </a:r>
            <a:endParaRPr lang="zh-CN" altLang="zh-CN" sz="3600" dirty="0"/>
          </a:p>
        </p:txBody>
      </p:sp>
      <p:sp>
        <p:nvSpPr>
          <p:cNvPr id="18437" name="Text Box 5"/>
          <p:cNvSpPr txBox="1"/>
          <p:nvPr/>
        </p:nvSpPr>
        <p:spPr>
          <a:xfrm>
            <a:off x="4273550" y="3444876"/>
            <a:ext cx="6292850" cy="272732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0000"/>
              </a:lnSpc>
              <a:spcBef>
                <a:spcPct val="0"/>
              </a:spcBef>
              <a:buClrTx/>
              <a:buNone/>
            </a:pPr>
            <a:r>
              <a:rPr lang="zh-CN" altLang="zh-CN" sz="3600" dirty="0">
                <a:latin typeface="楷体_GB2312" pitchFamily="49" charset="-122"/>
                <a:ea typeface="楷体_GB2312" pitchFamily="49" charset="-122"/>
              </a:rPr>
              <a:t>返回</a:t>
            </a:r>
            <a:r>
              <a:rPr lang="zh-CN" altLang="zh-CN" sz="3600" b="1" dirty="0">
                <a:solidFill>
                  <a:srgbClr val="003399"/>
                </a:solidFill>
                <a:ea typeface="楷体_GB2312" pitchFamily="49" charset="-122"/>
              </a:rPr>
              <a:t>L</a:t>
            </a:r>
            <a:r>
              <a:rPr lang="zh-CN" altLang="zh-CN" sz="3600" b="1" dirty="0">
                <a:solidFill>
                  <a:srgbClr val="003399"/>
                </a:solidFill>
                <a:latin typeface="楷体_GB2312" pitchFamily="49" charset="-122"/>
                <a:ea typeface="楷体_GB2312" pitchFamily="49" charset="-122"/>
              </a:rPr>
              <a:t>中第</a:t>
            </a:r>
            <a:r>
              <a:rPr lang="zh-CN" altLang="zh-CN" sz="3600" b="1" dirty="0">
                <a:solidFill>
                  <a:srgbClr val="003399"/>
                </a:solidFill>
                <a:ea typeface="楷体_GB2312" pitchFamily="49" charset="-122"/>
              </a:rPr>
              <a:t>1</a:t>
            </a:r>
            <a:r>
              <a:rPr lang="zh-CN" altLang="zh-CN" sz="3600" b="1" dirty="0">
                <a:solidFill>
                  <a:srgbClr val="003399"/>
                </a:solidFill>
                <a:latin typeface="楷体_GB2312" pitchFamily="49" charset="-122"/>
                <a:ea typeface="楷体_GB2312" pitchFamily="49" charset="-122"/>
              </a:rPr>
              <a:t>个</a:t>
            </a:r>
            <a:r>
              <a:rPr lang="zh-CN" altLang="zh-CN" sz="3600" dirty="0">
                <a:latin typeface="楷体_GB2312" pitchFamily="49" charset="-122"/>
                <a:ea typeface="楷体_GB2312" pitchFamily="49" charset="-122"/>
              </a:rPr>
              <a:t>与</a:t>
            </a:r>
            <a:r>
              <a:rPr lang="zh-CN" altLang="zh-CN" sz="3600" dirty="0">
                <a:solidFill>
                  <a:srgbClr val="660066"/>
                </a:solidFill>
                <a:ea typeface="楷体_GB2312" pitchFamily="49" charset="-122"/>
              </a:rPr>
              <a:t>e</a:t>
            </a:r>
            <a:r>
              <a:rPr lang="zh-CN" altLang="zh-CN" sz="3600" b="1" dirty="0">
                <a:solidFill>
                  <a:srgbClr val="660066"/>
                </a:solidFill>
                <a:latin typeface="楷体_GB2312" pitchFamily="49" charset="-122"/>
                <a:ea typeface="楷体_GB2312" pitchFamily="49" charset="-122"/>
              </a:rPr>
              <a:t>满足</a:t>
            </a:r>
            <a:r>
              <a:rPr lang="zh-CN" altLang="zh-CN" sz="3600" dirty="0">
                <a:solidFill>
                  <a:srgbClr val="660066"/>
                </a:solidFill>
                <a:latin typeface="楷体_GB2312" pitchFamily="49" charset="-122"/>
                <a:ea typeface="楷体_GB2312" pitchFamily="49" charset="-122"/>
              </a:rPr>
              <a:t>关</a:t>
            </a:r>
            <a:r>
              <a:rPr lang="en-US" altLang="zh-CN" sz="3600" dirty="0">
                <a:ea typeface="楷体_GB2312" pitchFamily="49" charset="-122"/>
              </a:rPr>
              <a:t>equal</a:t>
            </a:r>
            <a:r>
              <a:rPr lang="zh-CN" altLang="zh-CN" sz="3600" dirty="0">
                <a:ea typeface="楷体_GB2312" pitchFamily="49" charset="-122"/>
              </a:rPr>
              <a:t>( )</a:t>
            </a:r>
            <a:r>
              <a:rPr lang="zh-CN" altLang="zh-CN" sz="3600" dirty="0">
                <a:latin typeface="楷体_GB2312" pitchFamily="49" charset="-122"/>
                <a:ea typeface="楷体_GB2312" pitchFamily="49" charset="-122"/>
              </a:rPr>
              <a:t>的元素的位序。</a:t>
            </a:r>
          </a:p>
          <a:p>
            <a:pPr marL="0" indent="0" eaLnBrk="1" hangingPunct="1">
              <a:lnSpc>
                <a:spcPct val="120000"/>
              </a:lnSpc>
              <a:spcBef>
                <a:spcPct val="0"/>
              </a:spcBef>
              <a:buClrTx/>
              <a:buNone/>
            </a:pPr>
            <a:r>
              <a:rPr lang="zh-CN" altLang="zh-CN" sz="3600" dirty="0">
                <a:latin typeface="楷体_GB2312" pitchFamily="49" charset="-122"/>
                <a:ea typeface="楷体_GB2312" pitchFamily="49" charset="-122"/>
              </a:rPr>
              <a:t>若这样的元素不存在，则返回值为</a:t>
            </a:r>
            <a:r>
              <a:rPr lang="zh-CN" altLang="zh-CN" sz="3600" dirty="0">
                <a:ea typeface="楷体_GB2312" pitchFamily="49" charset="-122"/>
              </a:rPr>
              <a:t>0</a:t>
            </a:r>
            <a:r>
              <a:rPr lang="zh-CN" altLang="en-US" sz="3600" dirty="0">
                <a:ea typeface="楷体_GB2312" pitchFamily="49" charset="-122"/>
              </a:rPr>
              <a:t>或者</a:t>
            </a:r>
            <a:r>
              <a:rPr lang="en-US" altLang="zh-CN" sz="3600" dirty="0">
                <a:ea typeface="楷体_GB2312" pitchFamily="49" charset="-122"/>
              </a:rPr>
              <a:t>NULL</a:t>
            </a:r>
            <a:r>
              <a:rPr lang="zh-CN" altLang="en-US" sz="3600" dirty="0">
                <a:ea typeface="楷体_GB2312" pitchFamily="49" charset="-122"/>
              </a:rPr>
              <a:t>。</a:t>
            </a:r>
            <a:endParaRPr lang="zh-CN" altLang="zh-CN" sz="3600" dirty="0"/>
          </a:p>
        </p:txBody>
      </p:sp>
      <p:sp>
        <p:nvSpPr>
          <p:cNvPr id="18438" name="AutoShape 6">
            <a:hlinkClick r:id="" action="ppaction://hlinkshowjump?jump=lastslideviewed"/>
          </p:cNvPr>
          <p:cNvSpPr/>
          <p:nvPr/>
        </p:nvSpPr>
        <p:spPr>
          <a:xfrm>
            <a:off x="9982200" y="6172200"/>
            <a:ext cx="381000" cy="381000"/>
          </a:xfrm>
          <a:prstGeom prst="actionButtonReturn">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
        <p:nvSpPr>
          <p:cNvPr id="18439" name="Text Box 7"/>
          <p:cNvSpPr txBox="1"/>
          <p:nvPr/>
        </p:nvSpPr>
        <p:spPr>
          <a:xfrm>
            <a:off x="4298950" y="1140581"/>
            <a:ext cx="3232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solidFill>
                  <a:srgbClr val="660066"/>
                </a:solidFill>
                <a:ea typeface="隶书" panose="02010509060101010101" pitchFamily="49" charset="-122"/>
              </a:rPr>
              <a:t>（定位函数）</a:t>
            </a:r>
            <a:endParaRPr lang="zh-CN" altLang="zh-CN" sz="24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barn(outHorizontal)">
                                      <p:cBhvr>
                                        <p:cTn id="7" dur="500"/>
                                        <p:tgtEl>
                                          <p:spTgt spid="184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436"/>
                                        </p:tgtEl>
                                        <p:attrNameLst>
                                          <p:attrName>style.visibility</p:attrName>
                                        </p:attrNameLst>
                                      </p:cBhvr>
                                      <p:to>
                                        <p:strVal val="visible"/>
                                      </p:to>
                                    </p:set>
                                    <p:animEffect transition="in" filter="wipe(left)">
                                      <p:cBhvr>
                                        <p:cTn id="12" dur="500"/>
                                        <p:tgtEl>
                                          <p:spTgt spid="184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437"/>
                                        </p:tgtEl>
                                        <p:attrNameLst>
                                          <p:attrName>style.visibility</p:attrName>
                                        </p:attrNameLst>
                                      </p:cBhvr>
                                      <p:to>
                                        <p:strVal val="visible"/>
                                      </p:to>
                                    </p:set>
                                    <p:animEffect transition="in" filter="wipe(left)">
                                      <p:cBhvr>
                                        <p:cTn id="17" dur="500"/>
                                        <p:tgtEl>
                                          <p:spTgt spid="18437"/>
                                        </p:tgtEl>
                                      </p:cBhvr>
                                    </p:animEffect>
                                  </p:childTnLst>
                                </p:cTn>
                              </p:par>
                            </p:childTnLst>
                          </p:cTn>
                        </p:par>
                        <p:par>
                          <p:cTn id="18" fill="hold">
                            <p:stCondLst>
                              <p:cond delay="500"/>
                            </p:stCondLst>
                            <p:childTnLst>
                              <p:par>
                                <p:cTn id="19" presetID="2" presetClass="entr" presetSubtype="6" fill="hold" nodeType="afterEffect">
                                  <p:stCondLst>
                                    <p:cond delay="0"/>
                                  </p:stCondLst>
                                  <p:childTnLst>
                                    <p:set>
                                      <p:cBhvr>
                                        <p:cTn id="20" dur="1" fill="hold">
                                          <p:stCondLst>
                                            <p:cond delay="0"/>
                                          </p:stCondLst>
                                        </p:cTn>
                                        <p:tgtEl>
                                          <p:spTgt spid="18438"/>
                                        </p:tgtEl>
                                        <p:attrNameLst>
                                          <p:attrName>style.visibility</p:attrName>
                                        </p:attrNameLst>
                                      </p:cBhvr>
                                      <p:to>
                                        <p:strVal val="visible"/>
                                      </p:to>
                                    </p:set>
                                    <p:anim calcmode="lin" valueType="num">
                                      <p:cBhvr additive="base">
                                        <p:cTn id="21" dur="500" fill="hold"/>
                                        <p:tgtEl>
                                          <p:spTgt spid="18438"/>
                                        </p:tgtEl>
                                        <p:attrNameLst>
                                          <p:attrName>ppt_x</p:attrName>
                                        </p:attrNameLst>
                                      </p:cBhvr>
                                      <p:tavLst>
                                        <p:tav tm="0">
                                          <p:val>
                                            <p:strVal val="1+#ppt_w/2"/>
                                          </p:val>
                                        </p:tav>
                                        <p:tav tm="100000">
                                          <p:val>
                                            <p:strVal val="#ppt_x"/>
                                          </p:val>
                                        </p:tav>
                                      </p:tavLst>
                                    </p:anim>
                                    <p:anim calcmode="lin" valueType="num">
                                      <p:cBhvr additive="base">
                                        <p:cTn id="22" dur="500" fill="hold"/>
                                        <p:tgtEl>
                                          <p:spTgt spid="184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p:bldP spid="18436" grpId="0"/>
      <p:bldP spid="18437" grpId="0"/>
      <p:bldP spid="1843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p:nvPr/>
        </p:nvSpPr>
        <p:spPr>
          <a:xfrm>
            <a:off x="3054350" y="533400"/>
            <a:ext cx="59372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2400" dirty="0">
                <a:latin typeface="楷体_GB2312" pitchFamily="49" charset="-122"/>
                <a:ea typeface="楷体_GB2312" pitchFamily="49" charset="-122"/>
              </a:rPr>
              <a:t> </a:t>
            </a:r>
            <a:r>
              <a:rPr lang="zh-CN" altLang="zh-CN" sz="4400" b="1" dirty="0">
                <a:solidFill>
                  <a:srgbClr val="333399"/>
                </a:solidFill>
                <a:ea typeface="楷体_GB2312" pitchFamily="49" charset="-122"/>
              </a:rPr>
              <a:t>ListTraverse(L, visit( ))</a:t>
            </a:r>
            <a:endParaRPr lang="zh-CN" altLang="zh-CN" sz="4400" dirty="0"/>
          </a:p>
        </p:txBody>
      </p:sp>
      <p:sp>
        <p:nvSpPr>
          <p:cNvPr id="19459" name="Text Box 3"/>
          <p:cNvSpPr txBox="1"/>
          <p:nvPr/>
        </p:nvSpPr>
        <p:spPr>
          <a:xfrm>
            <a:off x="1752601" y="2209800"/>
            <a:ext cx="3005951" cy="212365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初始条件：</a:t>
            </a:r>
          </a:p>
          <a:p>
            <a:pPr marL="0" indent="0" eaLnBrk="1" hangingPunct="1">
              <a:spcBef>
                <a:spcPct val="0"/>
              </a:spcBef>
              <a:buClrTx/>
              <a:buNone/>
            </a:pPr>
            <a:endParaRPr lang="zh-CN" altLang="zh-CN" sz="4400" dirty="0">
              <a:latin typeface="楷体_GB2312" pitchFamily="49" charset="-122"/>
              <a:ea typeface="楷体_GB2312" pitchFamily="49" charset="-122"/>
            </a:endParaRPr>
          </a:p>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操作结果：</a:t>
            </a:r>
          </a:p>
        </p:txBody>
      </p:sp>
      <p:sp>
        <p:nvSpPr>
          <p:cNvPr id="19460" name="Text Box 4"/>
          <p:cNvSpPr txBox="1"/>
          <p:nvPr/>
        </p:nvSpPr>
        <p:spPr>
          <a:xfrm>
            <a:off x="4419600" y="2362201"/>
            <a:ext cx="5149850" cy="11906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dirty="0">
                <a:latin typeface="楷体_GB2312" pitchFamily="49" charset="-122"/>
                <a:ea typeface="楷体_GB2312" pitchFamily="49" charset="-122"/>
              </a:rPr>
              <a:t>线性表</a:t>
            </a:r>
            <a:r>
              <a:rPr lang="zh-CN" altLang="zh-CN" sz="3600" b="1" dirty="0">
                <a:solidFill>
                  <a:srgbClr val="003399"/>
                </a:solidFill>
                <a:ea typeface="楷体_GB2312" pitchFamily="49" charset="-122"/>
              </a:rPr>
              <a:t>L</a:t>
            </a:r>
            <a:r>
              <a:rPr lang="zh-CN" altLang="zh-CN" sz="3600" dirty="0">
                <a:latin typeface="楷体_GB2312" pitchFamily="49" charset="-122"/>
                <a:ea typeface="楷体_GB2312" pitchFamily="49" charset="-122"/>
              </a:rPr>
              <a:t>已存在，</a:t>
            </a:r>
          </a:p>
          <a:p>
            <a:pPr marL="0" indent="0" eaLnBrk="1" hangingPunct="1">
              <a:spcBef>
                <a:spcPct val="0"/>
              </a:spcBef>
              <a:buClrTx/>
              <a:buNone/>
            </a:pPr>
            <a:r>
              <a:rPr lang="zh-CN" altLang="zh-CN" sz="3600" dirty="0">
                <a:ea typeface="楷体_GB2312" pitchFamily="49" charset="-122"/>
              </a:rPr>
              <a:t>Visit() </a:t>
            </a:r>
            <a:r>
              <a:rPr lang="zh-CN" altLang="zh-CN" sz="3600" dirty="0">
                <a:latin typeface="楷体_GB2312" pitchFamily="49" charset="-122"/>
                <a:ea typeface="楷体_GB2312" pitchFamily="49" charset="-122"/>
              </a:rPr>
              <a:t>为某个访问函数。</a:t>
            </a:r>
            <a:endParaRPr lang="zh-CN" altLang="zh-CN" sz="2400" dirty="0">
              <a:latin typeface="楷体_GB2312" pitchFamily="49" charset="-122"/>
              <a:ea typeface="楷体_GB2312" pitchFamily="49" charset="-122"/>
            </a:endParaRPr>
          </a:p>
        </p:txBody>
      </p:sp>
      <p:sp>
        <p:nvSpPr>
          <p:cNvPr id="19461" name="Text Box 5"/>
          <p:cNvSpPr txBox="1"/>
          <p:nvPr/>
        </p:nvSpPr>
        <p:spPr>
          <a:xfrm>
            <a:off x="4343400" y="3657601"/>
            <a:ext cx="5943600" cy="20685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0000"/>
              </a:lnSpc>
              <a:spcBef>
                <a:spcPct val="0"/>
              </a:spcBef>
              <a:buClrTx/>
              <a:buNone/>
            </a:pPr>
            <a:r>
              <a:rPr lang="zh-CN" altLang="zh-CN" sz="3600" b="1" dirty="0">
                <a:solidFill>
                  <a:srgbClr val="003399"/>
                </a:solidFill>
                <a:latin typeface="楷体_GB2312" pitchFamily="49" charset="-122"/>
                <a:ea typeface="楷体_GB2312" pitchFamily="49" charset="-122"/>
              </a:rPr>
              <a:t>依次</a:t>
            </a:r>
            <a:r>
              <a:rPr lang="zh-CN" altLang="zh-CN" sz="3600" dirty="0">
                <a:latin typeface="楷体_GB2312" pitchFamily="49" charset="-122"/>
                <a:ea typeface="楷体_GB2312" pitchFamily="49" charset="-122"/>
              </a:rPr>
              <a:t>对</a:t>
            </a:r>
            <a:r>
              <a:rPr lang="zh-CN" altLang="zh-CN" sz="3600" b="1" dirty="0">
                <a:solidFill>
                  <a:srgbClr val="003399"/>
                </a:solidFill>
                <a:ea typeface="楷体_GB2312" pitchFamily="49" charset="-122"/>
              </a:rPr>
              <a:t>L</a:t>
            </a:r>
            <a:r>
              <a:rPr lang="zh-CN" altLang="zh-CN" sz="3600" dirty="0">
                <a:latin typeface="楷体_GB2312" pitchFamily="49" charset="-122"/>
                <a:ea typeface="楷体_GB2312" pitchFamily="49" charset="-122"/>
              </a:rPr>
              <a:t>的每个元素调用</a:t>
            </a:r>
          </a:p>
          <a:p>
            <a:pPr marL="0" indent="0" eaLnBrk="1" hangingPunct="1">
              <a:lnSpc>
                <a:spcPct val="120000"/>
              </a:lnSpc>
              <a:spcBef>
                <a:spcPct val="0"/>
              </a:spcBef>
              <a:buClrTx/>
              <a:buNone/>
            </a:pPr>
            <a:r>
              <a:rPr lang="zh-CN" altLang="zh-CN" sz="3600" dirty="0">
                <a:latin typeface="楷体_GB2312" pitchFamily="49" charset="-122"/>
                <a:ea typeface="楷体_GB2312" pitchFamily="49" charset="-122"/>
              </a:rPr>
              <a:t>函数</a:t>
            </a:r>
            <a:r>
              <a:rPr lang="zh-CN" altLang="zh-CN" sz="3600" dirty="0">
                <a:ea typeface="楷体_GB2312" pitchFamily="49" charset="-122"/>
              </a:rPr>
              <a:t>visit( )</a:t>
            </a:r>
            <a:r>
              <a:rPr lang="zh-CN" altLang="zh-CN" sz="3600" dirty="0">
                <a:latin typeface="楷体_GB2312" pitchFamily="49" charset="-122"/>
                <a:ea typeface="楷体_GB2312" pitchFamily="49" charset="-122"/>
              </a:rPr>
              <a:t>。一旦</a:t>
            </a:r>
            <a:r>
              <a:rPr lang="zh-CN" altLang="zh-CN" sz="3600" dirty="0">
                <a:ea typeface="楷体_GB2312" pitchFamily="49" charset="-122"/>
              </a:rPr>
              <a:t>visit( )</a:t>
            </a:r>
            <a:r>
              <a:rPr lang="zh-CN" altLang="zh-CN" sz="3600" dirty="0">
                <a:latin typeface="楷体_GB2312" pitchFamily="49" charset="-122"/>
                <a:ea typeface="楷体_GB2312" pitchFamily="49" charset="-122"/>
              </a:rPr>
              <a:t>失败，则操作失败。</a:t>
            </a:r>
            <a:endParaRPr lang="zh-CN" altLang="zh-CN" sz="2400" dirty="0">
              <a:latin typeface="楷体_GB2312" pitchFamily="49" charset="-122"/>
              <a:ea typeface="楷体_GB2312" pitchFamily="49" charset="-122"/>
            </a:endParaRPr>
          </a:p>
        </p:txBody>
      </p:sp>
      <p:sp>
        <p:nvSpPr>
          <p:cNvPr id="19462" name="AutoShape 6">
            <a:hlinkClick r:id="" action="ppaction://hlinkshowjump?jump=lastslideviewed"/>
          </p:cNvPr>
          <p:cNvSpPr/>
          <p:nvPr/>
        </p:nvSpPr>
        <p:spPr>
          <a:xfrm>
            <a:off x="9982200" y="6172200"/>
            <a:ext cx="381000" cy="381000"/>
          </a:xfrm>
          <a:prstGeom prst="actionButtonReturn">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
        <p:nvSpPr>
          <p:cNvPr id="19463" name="Text Box 7"/>
          <p:cNvSpPr txBox="1"/>
          <p:nvPr/>
        </p:nvSpPr>
        <p:spPr>
          <a:xfrm>
            <a:off x="3575050" y="1219201"/>
            <a:ext cx="3740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solidFill>
                  <a:srgbClr val="660066"/>
                </a:solidFill>
                <a:ea typeface="隶书" panose="02010509060101010101" pitchFamily="49" charset="-122"/>
              </a:rPr>
              <a:t>（遍历线性表）</a:t>
            </a:r>
            <a:endParaRPr lang="zh-CN" altLang="zh-CN" sz="24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barn(outHorizontal)">
                                      <p:cBhvr>
                                        <p:cTn id="7" dur="500"/>
                                        <p:tgtEl>
                                          <p:spTgt spid="194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460"/>
                                        </p:tgtEl>
                                        <p:attrNameLst>
                                          <p:attrName>style.visibility</p:attrName>
                                        </p:attrNameLst>
                                      </p:cBhvr>
                                      <p:to>
                                        <p:strVal val="visible"/>
                                      </p:to>
                                    </p:set>
                                    <p:animEffect transition="in" filter="wipe(left)">
                                      <p:cBhvr>
                                        <p:cTn id="12" dur="500"/>
                                        <p:tgtEl>
                                          <p:spTgt spid="194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461"/>
                                        </p:tgtEl>
                                        <p:attrNameLst>
                                          <p:attrName>style.visibility</p:attrName>
                                        </p:attrNameLst>
                                      </p:cBhvr>
                                      <p:to>
                                        <p:strVal val="visible"/>
                                      </p:to>
                                    </p:set>
                                    <p:animEffect transition="in" filter="wipe(left)">
                                      <p:cBhvr>
                                        <p:cTn id="17" dur="500"/>
                                        <p:tgtEl>
                                          <p:spTgt spid="19461"/>
                                        </p:tgtEl>
                                      </p:cBhvr>
                                    </p:animEffect>
                                  </p:childTnLst>
                                </p:cTn>
                              </p:par>
                            </p:childTnLst>
                          </p:cTn>
                        </p:par>
                        <p:par>
                          <p:cTn id="18" fill="hold">
                            <p:stCondLst>
                              <p:cond delay="500"/>
                            </p:stCondLst>
                            <p:childTnLst>
                              <p:par>
                                <p:cTn id="19" presetID="2" presetClass="entr" presetSubtype="6" fill="hold" nodeType="afterEffect">
                                  <p:stCondLst>
                                    <p:cond delay="0"/>
                                  </p:stCondLst>
                                  <p:childTnLst>
                                    <p:set>
                                      <p:cBhvr>
                                        <p:cTn id="20" dur="1" fill="hold">
                                          <p:stCondLst>
                                            <p:cond delay="0"/>
                                          </p:stCondLst>
                                        </p:cTn>
                                        <p:tgtEl>
                                          <p:spTgt spid="19462"/>
                                        </p:tgtEl>
                                        <p:attrNameLst>
                                          <p:attrName>style.visibility</p:attrName>
                                        </p:attrNameLst>
                                      </p:cBhvr>
                                      <p:to>
                                        <p:strVal val="visible"/>
                                      </p:to>
                                    </p:set>
                                    <p:anim calcmode="lin" valueType="num">
                                      <p:cBhvr additive="base">
                                        <p:cTn id="21" dur="500" fill="hold"/>
                                        <p:tgtEl>
                                          <p:spTgt spid="19462"/>
                                        </p:tgtEl>
                                        <p:attrNameLst>
                                          <p:attrName>ppt_x</p:attrName>
                                        </p:attrNameLst>
                                      </p:cBhvr>
                                      <p:tavLst>
                                        <p:tav tm="0">
                                          <p:val>
                                            <p:strVal val="1+#ppt_w/2"/>
                                          </p:val>
                                        </p:tav>
                                        <p:tav tm="100000">
                                          <p:val>
                                            <p:strVal val="#ppt_x"/>
                                          </p:val>
                                        </p:tav>
                                      </p:tavLst>
                                    </p:anim>
                                    <p:anim calcmode="lin" valueType="num">
                                      <p:cBhvr additive="base">
                                        <p:cTn id="22" dur="500" fill="hold"/>
                                        <p:tgtEl>
                                          <p:spTgt spid="194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19460" grpId="0"/>
      <p:bldP spid="19461" grpId="0"/>
      <p:bldP spid="1946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p:nvPr/>
        </p:nvSpPr>
        <p:spPr>
          <a:xfrm>
            <a:off x="2514600" y="609601"/>
            <a:ext cx="4330700" cy="10064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6000" b="1" dirty="0">
                <a:solidFill>
                  <a:srgbClr val="660033"/>
                </a:solidFill>
                <a:latin typeface="隶书" panose="02010509060101010101" pitchFamily="49" charset="-122"/>
                <a:ea typeface="隶书" panose="02010509060101010101" pitchFamily="49" charset="-122"/>
              </a:rPr>
              <a:t>加工型操作</a:t>
            </a:r>
            <a:r>
              <a:rPr lang="zh-CN" altLang="zh-CN" sz="2400" dirty="0">
                <a:latin typeface="楷体_GB2312" pitchFamily="49" charset="-122"/>
                <a:ea typeface="楷体_GB2312" pitchFamily="49" charset="-122"/>
              </a:rPr>
              <a:t>  </a:t>
            </a:r>
            <a:endParaRPr lang="zh-CN" altLang="zh-CN" sz="4800" dirty="0">
              <a:ea typeface="楷体_GB2312" pitchFamily="49" charset="-122"/>
            </a:endParaRPr>
          </a:p>
        </p:txBody>
      </p:sp>
      <p:sp>
        <p:nvSpPr>
          <p:cNvPr id="20483" name="Text Box 3">
            <a:hlinkClick r:id="" action="ppaction://hlinkshowjump?jump=nextslide"/>
          </p:cNvPr>
          <p:cNvSpPr txBox="1"/>
          <p:nvPr/>
        </p:nvSpPr>
        <p:spPr>
          <a:xfrm>
            <a:off x="3276601" y="1905001"/>
            <a:ext cx="3773469" cy="8309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800" b="1" dirty="0">
                <a:solidFill>
                  <a:srgbClr val="333399"/>
                </a:solidFill>
                <a:ea typeface="楷体_GB2312" pitchFamily="49" charset="-122"/>
              </a:rPr>
              <a:t>ClearList( L )</a:t>
            </a:r>
            <a:endParaRPr lang="zh-CN" altLang="zh-CN" sz="2400" dirty="0"/>
          </a:p>
        </p:txBody>
      </p:sp>
      <p:sp>
        <p:nvSpPr>
          <p:cNvPr id="20485" name="Text Box 5">
            <a:hlinkClick r:id="rId2" action="ppaction://hlinksldjump"/>
          </p:cNvPr>
          <p:cNvSpPr txBox="1"/>
          <p:nvPr/>
        </p:nvSpPr>
        <p:spPr>
          <a:xfrm>
            <a:off x="3276600" y="3024923"/>
            <a:ext cx="4969630" cy="120032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800" b="1" dirty="0">
                <a:solidFill>
                  <a:srgbClr val="333399"/>
                </a:solidFill>
                <a:ea typeface="楷体_GB2312" pitchFamily="49" charset="-122"/>
              </a:rPr>
              <a:t>ListInsert( L, i, e )</a:t>
            </a:r>
            <a:endParaRPr lang="zh-CN" altLang="zh-CN" sz="4800" dirty="0">
              <a:ea typeface="楷体_GB2312" pitchFamily="49" charset="-122"/>
            </a:endParaRPr>
          </a:p>
          <a:p>
            <a:pPr marL="0" indent="0" eaLnBrk="1" hangingPunct="1">
              <a:spcBef>
                <a:spcPct val="0"/>
              </a:spcBef>
              <a:buClrTx/>
              <a:buNone/>
            </a:pPr>
            <a:endParaRPr lang="zh-CN" altLang="zh-CN" sz="2400" dirty="0"/>
          </a:p>
        </p:txBody>
      </p:sp>
      <p:sp>
        <p:nvSpPr>
          <p:cNvPr id="20486" name="Text Box 6">
            <a:hlinkClick r:id="rId3" action="ppaction://hlinksldjump"/>
          </p:cNvPr>
          <p:cNvSpPr txBox="1"/>
          <p:nvPr/>
        </p:nvSpPr>
        <p:spPr>
          <a:xfrm>
            <a:off x="3276601" y="4213961"/>
            <a:ext cx="4456669" cy="8309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800" b="1" dirty="0">
                <a:solidFill>
                  <a:srgbClr val="333399"/>
                </a:solidFill>
                <a:ea typeface="楷体_GB2312" pitchFamily="49" charset="-122"/>
              </a:rPr>
              <a:t>ListDelete(L, i)</a:t>
            </a:r>
            <a:r>
              <a:rPr lang="zh-CN" altLang="zh-CN" sz="4800" dirty="0"/>
              <a:t>  </a:t>
            </a:r>
            <a:endParaRPr lang="zh-CN" altLang="zh-CN" sz="2400" dirty="0"/>
          </a:p>
        </p:txBody>
      </p:sp>
      <p:sp>
        <p:nvSpPr>
          <p:cNvPr id="20487" name="AutoShape 7">
            <a:hlinkClick r:id="rId4" action="ppaction://hlinksldjump"/>
          </p:cNvPr>
          <p:cNvSpPr/>
          <p:nvPr/>
        </p:nvSpPr>
        <p:spPr>
          <a:xfrm>
            <a:off x="10058400" y="6248400"/>
            <a:ext cx="381000" cy="381000"/>
          </a:xfrm>
          <a:prstGeom prst="actionButtonBackPrevious">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dissolve">
                                      <p:cBhvr>
                                        <p:cTn id="7" dur="500"/>
                                        <p:tgtEl>
                                          <p:spTgt spid="20483"/>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0485"/>
                                        </p:tgtEl>
                                        <p:attrNameLst>
                                          <p:attrName>style.visibility</p:attrName>
                                        </p:attrNameLst>
                                      </p:cBhvr>
                                      <p:to>
                                        <p:strVal val="visible"/>
                                      </p:to>
                                    </p:set>
                                    <p:animEffect transition="in" filter="dissolve">
                                      <p:cBhvr>
                                        <p:cTn id="11" dur="500"/>
                                        <p:tgtEl>
                                          <p:spTgt spid="20485"/>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20486"/>
                                        </p:tgtEl>
                                        <p:attrNameLst>
                                          <p:attrName>style.visibility</p:attrName>
                                        </p:attrNameLst>
                                      </p:cBhvr>
                                      <p:to>
                                        <p:strVal val="visible"/>
                                      </p:to>
                                    </p:set>
                                    <p:animEffect transition="in" filter="dissolve">
                                      <p:cBhvr>
                                        <p:cTn id="15" dur="500"/>
                                        <p:tgtEl>
                                          <p:spTgt spid="20486"/>
                                        </p:tgtEl>
                                      </p:cBhvr>
                                    </p:animEffect>
                                  </p:childTnLst>
                                </p:cTn>
                              </p:par>
                            </p:childTnLst>
                          </p:cTn>
                        </p:par>
                        <p:par>
                          <p:cTn id="16" fill="hold">
                            <p:stCondLst>
                              <p:cond delay="1500"/>
                            </p:stCondLst>
                            <p:childTnLst>
                              <p:par>
                                <p:cTn id="17" presetID="2" presetClass="entr" presetSubtype="6" fill="hold" nodeType="afterEffect">
                                  <p:stCondLst>
                                    <p:cond delay="0"/>
                                  </p:stCondLst>
                                  <p:childTnLst>
                                    <p:set>
                                      <p:cBhvr>
                                        <p:cTn id="18" dur="1" fill="hold">
                                          <p:stCondLst>
                                            <p:cond delay="0"/>
                                          </p:stCondLst>
                                        </p:cTn>
                                        <p:tgtEl>
                                          <p:spTgt spid="20487"/>
                                        </p:tgtEl>
                                        <p:attrNameLst>
                                          <p:attrName>style.visibility</p:attrName>
                                        </p:attrNameLst>
                                      </p:cBhvr>
                                      <p:to>
                                        <p:strVal val="visible"/>
                                      </p:to>
                                    </p:set>
                                    <p:anim calcmode="lin" valueType="num">
                                      <p:cBhvr additive="base">
                                        <p:cTn id="19" dur="500" fill="hold"/>
                                        <p:tgtEl>
                                          <p:spTgt spid="20487"/>
                                        </p:tgtEl>
                                        <p:attrNameLst>
                                          <p:attrName>ppt_x</p:attrName>
                                        </p:attrNameLst>
                                      </p:cBhvr>
                                      <p:tavLst>
                                        <p:tav tm="0">
                                          <p:val>
                                            <p:strVal val="1+#ppt_w/2"/>
                                          </p:val>
                                        </p:tav>
                                        <p:tav tm="100000">
                                          <p:val>
                                            <p:strVal val="#ppt_x"/>
                                          </p:val>
                                        </p:tav>
                                      </p:tavLst>
                                    </p:anim>
                                    <p:anim calcmode="lin" valueType="num">
                                      <p:cBhvr additive="base">
                                        <p:cTn id="20" dur="500" fill="hold"/>
                                        <p:tgtEl>
                                          <p:spTgt spid="204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P spid="20485" grpId="0"/>
      <p:bldP spid="20486" grpId="0"/>
      <p:bldP spid="2048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p:nvPr/>
        </p:nvSpPr>
        <p:spPr>
          <a:xfrm>
            <a:off x="4429069" y="1272085"/>
            <a:ext cx="3333861" cy="76944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b="1" dirty="0">
                <a:solidFill>
                  <a:srgbClr val="333399"/>
                </a:solidFill>
                <a:ea typeface="楷体_GB2312" pitchFamily="49" charset="-122"/>
              </a:rPr>
              <a:t>ClearList(L )</a:t>
            </a:r>
            <a:endParaRPr lang="zh-CN" altLang="zh-CN" sz="2400" dirty="0"/>
          </a:p>
        </p:txBody>
      </p:sp>
      <p:sp>
        <p:nvSpPr>
          <p:cNvPr id="21507" name="Text Box 3"/>
          <p:cNvSpPr txBox="1"/>
          <p:nvPr/>
        </p:nvSpPr>
        <p:spPr>
          <a:xfrm>
            <a:off x="2895601" y="3505200"/>
            <a:ext cx="3005951" cy="212365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初始条件：</a:t>
            </a:r>
          </a:p>
          <a:p>
            <a:pPr marL="0" indent="0" eaLnBrk="1" hangingPunct="1">
              <a:spcBef>
                <a:spcPct val="0"/>
              </a:spcBef>
              <a:buClrTx/>
              <a:buNone/>
            </a:pPr>
            <a:endParaRPr lang="zh-CN" altLang="zh-CN" sz="4400" dirty="0">
              <a:latin typeface="楷体_GB2312" pitchFamily="49" charset="-122"/>
              <a:ea typeface="楷体_GB2312" pitchFamily="49" charset="-122"/>
            </a:endParaRPr>
          </a:p>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操作结果：</a:t>
            </a:r>
            <a:endParaRPr lang="zh-CN" altLang="zh-CN" sz="2400" dirty="0">
              <a:solidFill>
                <a:srgbClr val="FF0000"/>
              </a:solidFill>
              <a:latin typeface="楷体_GB2312" pitchFamily="49" charset="-122"/>
              <a:ea typeface="楷体_GB2312" pitchFamily="49" charset="-122"/>
            </a:endParaRPr>
          </a:p>
        </p:txBody>
      </p:sp>
      <p:sp>
        <p:nvSpPr>
          <p:cNvPr id="21508" name="Text Box 4"/>
          <p:cNvSpPr txBox="1"/>
          <p:nvPr/>
        </p:nvSpPr>
        <p:spPr>
          <a:xfrm>
            <a:off x="5867400" y="3581401"/>
            <a:ext cx="4078288"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latin typeface="楷体_GB2312" pitchFamily="49" charset="-122"/>
                <a:ea typeface="楷体_GB2312" pitchFamily="49" charset="-122"/>
              </a:rPr>
              <a:t>线性表</a:t>
            </a:r>
            <a:r>
              <a:rPr lang="zh-CN" altLang="zh-CN" sz="4000" b="1" dirty="0">
                <a:solidFill>
                  <a:srgbClr val="003399"/>
                </a:solidFill>
                <a:ea typeface="楷体_GB2312" pitchFamily="49" charset="-122"/>
              </a:rPr>
              <a:t>L</a:t>
            </a:r>
            <a:r>
              <a:rPr lang="zh-CN" altLang="zh-CN" sz="4000" dirty="0">
                <a:latin typeface="楷体_GB2312" pitchFamily="49" charset="-122"/>
                <a:ea typeface="楷体_GB2312" pitchFamily="49" charset="-122"/>
              </a:rPr>
              <a:t>已存在。</a:t>
            </a:r>
            <a:endParaRPr lang="zh-CN" altLang="zh-CN" sz="2400" dirty="0">
              <a:latin typeface="楷体_GB2312" pitchFamily="49" charset="-122"/>
              <a:ea typeface="楷体_GB2312" pitchFamily="49" charset="-122"/>
            </a:endParaRPr>
          </a:p>
        </p:txBody>
      </p:sp>
      <p:sp>
        <p:nvSpPr>
          <p:cNvPr id="21509" name="Text Box 5"/>
          <p:cNvSpPr txBox="1"/>
          <p:nvPr/>
        </p:nvSpPr>
        <p:spPr>
          <a:xfrm>
            <a:off x="5943600" y="4876800"/>
            <a:ext cx="4078288" cy="1066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latin typeface="楷体_GB2312" pitchFamily="49" charset="-122"/>
                <a:ea typeface="楷体_GB2312" pitchFamily="49" charset="-122"/>
              </a:rPr>
              <a:t>将</a:t>
            </a:r>
            <a:r>
              <a:rPr lang="zh-CN" altLang="zh-CN" sz="4000" b="1" dirty="0">
                <a:solidFill>
                  <a:srgbClr val="003399"/>
                </a:solidFill>
                <a:ea typeface="楷体_GB2312" pitchFamily="49" charset="-122"/>
              </a:rPr>
              <a:t>L</a:t>
            </a:r>
            <a:r>
              <a:rPr lang="zh-CN" altLang="zh-CN" sz="4000" dirty="0">
                <a:latin typeface="楷体_GB2312" pitchFamily="49" charset="-122"/>
                <a:ea typeface="楷体_GB2312" pitchFamily="49" charset="-122"/>
              </a:rPr>
              <a:t>重置为空表。</a:t>
            </a:r>
          </a:p>
          <a:p>
            <a:pPr marL="0" indent="0" eaLnBrk="1" hangingPunct="1">
              <a:spcBef>
                <a:spcPct val="0"/>
              </a:spcBef>
              <a:buClrTx/>
              <a:buNone/>
            </a:pPr>
            <a:endParaRPr lang="zh-CN" altLang="zh-CN" sz="2400" dirty="0"/>
          </a:p>
        </p:txBody>
      </p:sp>
      <p:sp>
        <p:nvSpPr>
          <p:cNvPr id="21510" name="Text Box 6"/>
          <p:cNvSpPr txBox="1"/>
          <p:nvPr/>
        </p:nvSpPr>
        <p:spPr>
          <a:xfrm>
            <a:off x="3956050" y="2041526"/>
            <a:ext cx="3740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solidFill>
                  <a:srgbClr val="660066"/>
                </a:solidFill>
                <a:ea typeface="隶书" panose="02010509060101010101" pitchFamily="49" charset="-122"/>
              </a:rPr>
              <a:t>（线性表置空）</a:t>
            </a:r>
            <a:endParaRPr lang="zh-CN" altLang="zh-CN" sz="2400" dirty="0"/>
          </a:p>
        </p:txBody>
      </p:sp>
      <p:sp>
        <p:nvSpPr>
          <p:cNvPr id="21511" name="AutoShape 7">
            <a:hlinkClick r:id="" action="ppaction://hlinkshowjump?jump=lastslideviewed"/>
          </p:cNvPr>
          <p:cNvSpPr/>
          <p:nvPr/>
        </p:nvSpPr>
        <p:spPr>
          <a:xfrm>
            <a:off x="9829800" y="6172200"/>
            <a:ext cx="381000" cy="381000"/>
          </a:xfrm>
          <a:prstGeom prst="actionButtonReturn">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barn(outHorizontal)">
                                      <p:cBhvr>
                                        <p:cTn id="7" dur="500"/>
                                        <p:tgtEl>
                                          <p:spTgt spid="215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508"/>
                                        </p:tgtEl>
                                        <p:attrNameLst>
                                          <p:attrName>style.visibility</p:attrName>
                                        </p:attrNameLst>
                                      </p:cBhvr>
                                      <p:to>
                                        <p:strVal val="visible"/>
                                      </p:to>
                                    </p:set>
                                    <p:animEffect transition="in" filter="wipe(left)">
                                      <p:cBhvr>
                                        <p:cTn id="12" dur="500"/>
                                        <p:tgtEl>
                                          <p:spTgt spid="2150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509"/>
                                        </p:tgtEl>
                                        <p:attrNameLst>
                                          <p:attrName>style.visibility</p:attrName>
                                        </p:attrNameLst>
                                      </p:cBhvr>
                                      <p:to>
                                        <p:strVal val="visible"/>
                                      </p:to>
                                    </p:set>
                                    <p:animEffect transition="in" filter="wipe(left)">
                                      <p:cBhvr>
                                        <p:cTn id="17" dur="500"/>
                                        <p:tgtEl>
                                          <p:spTgt spid="21509"/>
                                        </p:tgtEl>
                                      </p:cBhvr>
                                    </p:animEffect>
                                  </p:childTnLst>
                                </p:cTn>
                              </p:par>
                            </p:childTnLst>
                          </p:cTn>
                        </p:par>
                        <p:par>
                          <p:cTn id="18" fill="hold">
                            <p:stCondLst>
                              <p:cond delay="500"/>
                            </p:stCondLst>
                            <p:childTnLst>
                              <p:par>
                                <p:cTn id="19" presetID="2" presetClass="entr" presetSubtype="6" fill="hold" nodeType="afterEffect">
                                  <p:stCondLst>
                                    <p:cond delay="0"/>
                                  </p:stCondLst>
                                  <p:childTnLst>
                                    <p:set>
                                      <p:cBhvr>
                                        <p:cTn id="20" dur="1" fill="hold">
                                          <p:stCondLst>
                                            <p:cond delay="0"/>
                                          </p:stCondLst>
                                        </p:cTn>
                                        <p:tgtEl>
                                          <p:spTgt spid="21511"/>
                                        </p:tgtEl>
                                        <p:attrNameLst>
                                          <p:attrName>style.visibility</p:attrName>
                                        </p:attrNameLst>
                                      </p:cBhvr>
                                      <p:to>
                                        <p:strVal val="visible"/>
                                      </p:to>
                                    </p:set>
                                    <p:anim calcmode="lin" valueType="num">
                                      <p:cBhvr additive="base">
                                        <p:cTn id="21" dur="500" fill="hold"/>
                                        <p:tgtEl>
                                          <p:spTgt spid="21511"/>
                                        </p:tgtEl>
                                        <p:attrNameLst>
                                          <p:attrName>ppt_x</p:attrName>
                                        </p:attrNameLst>
                                      </p:cBhvr>
                                      <p:tavLst>
                                        <p:tav tm="0">
                                          <p:val>
                                            <p:strVal val="1+#ppt_w/2"/>
                                          </p:val>
                                        </p:tav>
                                        <p:tav tm="100000">
                                          <p:val>
                                            <p:strVal val="#ppt_x"/>
                                          </p:val>
                                        </p:tav>
                                      </p:tavLst>
                                    </p:anim>
                                    <p:anim calcmode="lin" valueType="num">
                                      <p:cBhvr additive="base">
                                        <p:cTn id="22" dur="500" fill="hold"/>
                                        <p:tgtEl>
                                          <p:spTgt spid="215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P spid="21508" grpId="0"/>
      <p:bldP spid="21509" grpId="0"/>
      <p:bldP spid="215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p:nvPr/>
        </p:nvSpPr>
        <p:spPr>
          <a:xfrm>
            <a:off x="3387725" y="609601"/>
            <a:ext cx="4663456" cy="76944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2400" dirty="0">
                <a:latin typeface="楷体_GB2312" pitchFamily="49" charset="-122"/>
                <a:ea typeface="楷体_GB2312" pitchFamily="49" charset="-122"/>
              </a:rPr>
              <a:t> </a:t>
            </a:r>
            <a:r>
              <a:rPr lang="zh-CN" altLang="zh-CN" sz="4400" b="1" dirty="0">
                <a:solidFill>
                  <a:srgbClr val="333399"/>
                </a:solidFill>
                <a:ea typeface="楷体_GB2312" pitchFamily="49" charset="-122"/>
              </a:rPr>
              <a:t>ListInsert( L, i, e )</a:t>
            </a:r>
            <a:endParaRPr lang="zh-CN" altLang="zh-CN" sz="2400" dirty="0">
              <a:ea typeface="楷体_GB2312" pitchFamily="49" charset="-122"/>
            </a:endParaRPr>
          </a:p>
        </p:txBody>
      </p:sp>
      <p:sp>
        <p:nvSpPr>
          <p:cNvPr id="23555" name="Text Box 3"/>
          <p:cNvSpPr txBox="1"/>
          <p:nvPr/>
        </p:nvSpPr>
        <p:spPr>
          <a:xfrm>
            <a:off x="1981200" y="2743200"/>
            <a:ext cx="2978150" cy="2590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solidFill>
                  <a:srgbClr val="FF0000"/>
                </a:solidFill>
                <a:latin typeface="楷体_GB2312" pitchFamily="49" charset="-122"/>
                <a:ea typeface="楷体_GB2312" pitchFamily="49" charset="-122"/>
              </a:rPr>
              <a:t>初始条件：</a:t>
            </a:r>
          </a:p>
          <a:p>
            <a:pPr marL="0" indent="0" eaLnBrk="1" hangingPunct="1">
              <a:spcBef>
                <a:spcPct val="0"/>
              </a:spcBef>
              <a:buClrTx/>
              <a:buNone/>
            </a:pPr>
            <a:endParaRPr lang="zh-CN" altLang="zh-CN" sz="4000" dirty="0">
              <a:solidFill>
                <a:srgbClr val="FF0000"/>
              </a:solidFill>
              <a:latin typeface="楷体_GB2312" pitchFamily="49" charset="-122"/>
              <a:ea typeface="楷体_GB2312" pitchFamily="49" charset="-122"/>
            </a:endParaRPr>
          </a:p>
          <a:p>
            <a:pPr marL="0" indent="0" eaLnBrk="1" hangingPunct="1">
              <a:spcBef>
                <a:spcPct val="0"/>
              </a:spcBef>
              <a:buClrTx/>
              <a:buNone/>
            </a:pPr>
            <a:endParaRPr lang="zh-CN" altLang="zh-CN" sz="4000" b="1" dirty="0">
              <a:latin typeface="楷体_GB2312" pitchFamily="49" charset="-122"/>
              <a:ea typeface="楷体_GB2312" pitchFamily="49" charset="-122"/>
            </a:endParaRPr>
          </a:p>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操作结果：</a:t>
            </a:r>
          </a:p>
        </p:txBody>
      </p:sp>
      <p:sp>
        <p:nvSpPr>
          <p:cNvPr id="23556" name="Text Box 4"/>
          <p:cNvSpPr txBox="1"/>
          <p:nvPr/>
        </p:nvSpPr>
        <p:spPr>
          <a:xfrm>
            <a:off x="4419600" y="2895601"/>
            <a:ext cx="5840060" cy="120032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dirty="0">
                <a:latin typeface="楷体_GB2312" pitchFamily="49" charset="-122"/>
                <a:ea typeface="楷体_GB2312" pitchFamily="49" charset="-122"/>
              </a:rPr>
              <a:t>线性表</a:t>
            </a:r>
            <a:r>
              <a:rPr lang="zh-CN" altLang="zh-CN" sz="3600" b="1" dirty="0">
                <a:solidFill>
                  <a:srgbClr val="003399"/>
                </a:solidFill>
                <a:ea typeface="楷体_GB2312" pitchFamily="49" charset="-122"/>
              </a:rPr>
              <a:t>L</a:t>
            </a:r>
            <a:r>
              <a:rPr lang="zh-CN" altLang="zh-CN" sz="3600" dirty="0">
                <a:latin typeface="楷体_GB2312" pitchFamily="49" charset="-122"/>
                <a:ea typeface="楷体_GB2312" pitchFamily="49" charset="-122"/>
              </a:rPr>
              <a:t>已存在</a:t>
            </a:r>
            <a:r>
              <a:rPr lang="zh-CN" altLang="zh-CN" sz="3600" dirty="0">
                <a:ea typeface="楷体_GB2312" pitchFamily="49" charset="-122"/>
              </a:rPr>
              <a:t>，</a:t>
            </a:r>
          </a:p>
          <a:p>
            <a:pPr marL="0" indent="0" eaLnBrk="1" hangingPunct="1">
              <a:spcBef>
                <a:spcPct val="0"/>
              </a:spcBef>
              <a:buClrTx/>
              <a:buNone/>
            </a:pPr>
            <a:r>
              <a:rPr lang="zh-CN" altLang="zh-CN" sz="3600" dirty="0">
                <a:ea typeface="楷体_GB2312" pitchFamily="49" charset="-122"/>
              </a:rPr>
              <a:t> 且   </a:t>
            </a:r>
            <a:r>
              <a:rPr lang="zh-CN" altLang="zh-CN" sz="3600" b="1" dirty="0">
                <a:solidFill>
                  <a:srgbClr val="660066"/>
                </a:solidFill>
                <a:ea typeface="楷体_GB2312" pitchFamily="49" charset="-122"/>
              </a:rPr>
              <a:t>1≤i≤LengthList(L)+1 </a:t>
            </a:r>
            <a:r>
              <a:rPr lang="zh-CN" altLang="zh-CN" sz="3600" dirty="0">
                <a:latin typeface="楷体_GB2312" pitchFamily="49" charset="-122"/>
                <a:ea typeface="楷体_GB2312" pitchFamily="49" charset="-122"/>
              </a:rPr>
              <a:t>。</a:t>
            </a:r>
          </a:p>
        </p:txBody>
      </p:sp>
      <p:sp>
        <p:nvSpPr>
          <p:cNvPr id="23557" name="Text Box 5"/>
          <p:cNvSpPr txBox="1"/>
          <p:nvPr/>
        </p:nvSpPr>
        <p:spPr>
          <a:xfrm>
            <a:off x="4495800" y="4724401"/>
            <a:ext cx="5467350" cy="11906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dirty="0">
                <a:latin typeface="楷体_GB2312" pitchFamily="49" charset="-122"/>
                <a:ea typeface="楷体_GB2312" pitchFamily="49" charset="-122"/>
              </a:rPr>
              <a:t>在</a:t>
            </a:r>
            <a:r>
              <a:rPr lang="zh-CN" altLang="zh-CN" sz="3600" b="1" dirty="0">
                <a:solidFill>
                  <a:srgbClr val="003399"/>
                </a:solidFill>
                <a:ea typeface="楷体_GB2312" pitchFamily="49" charset="-122"/>
              </a:rPr>
              <a:t>L</a:t>
            </a:r>
            <a:r>
              <a:rPr lang="zh-CN" altLang="zh-CN" sz="3600" dirty="0">
                <a:latin typeface="楷体_GB2312" pitchFamily="49" charset="-122"/>
                <a:ea typeface="楷体_GB2312" pitchFamily="49" charset="-122"/>
              </a:rPr>
              <a:t>的第</a:t>
            </a:r>
            <a:r>
              <a:rPr lang="zh-CN" altLang="zh-CN" sz="3600" b="1" dirty="0">
                <a:solidFill>
                  <a:srgbClr val="003399"/>
                </a:solidFill>
                <a:ea typeface="楷体_GB2312" pitchFamily="49" charset="-122"/>
              </a:rPr>
              <a:t>i</a:t>
            </a:r>
            <a:r>
              <a:rPr lang="zh-CN" altLang="zh-CN" sz="3600" dirty="0">
                <a:latin typeface="楷体_GB2312" pitchFamily="49" charset="-122"/>
                <a:ea typeface="楷体_GB2312" pitchFamily="49" charset="-122"/>
              </a:rPr>
              <a:t>个元素之前</a:t>
            </a:r>
            <a:r>
              <a:rPr lang="zh-CN" altLang="zh-CN" sz="3600" b="1" dirty="0">
                <a:solidFill>
                  <a:srgbClr val="660066"/>
                </a:solidFill>
                <a:latin typeface="楷体_GB2312" pitchFamily="49" charset="-122"/>
                <a:ea typeface="楷体_GB2312" pitchFamily="49" charset="-122"/>
              </a:rPr>
              <a:t>插入</a:t>
            </a:r>
            <a:endParaRPr lang="zh-CN" altLang="zh-CN" sz="3600" dirty="0">
              <a:latin typeface="楷体_GB2312" pitchFamily="49" charset="-122"/>
              <a:ea typeface="楷体_GB2312" pitchFamily="49" charset="-122"/>
            </a:endParaRPr>
          </a:p>
          <a:p>
            <a:pPr marL="0" indent="0" eaLnBrk="1" hangingPunct="1">
              <a:spcBef>
                <a:spcPct val="0"/>
              </a:spcBef>
              <a:buClrTx/>
              <a:buNone/>
            </a:pPr>
            <a:r>
              <a:rPr lang="zh-CN" altLang="zh-CN" sz="3600" dirty="0">
                <a:solidFill>
                  <a:srgbClr val="660066"/>
                </a:solidFill>
                <a:latin typeface="楷体_GB2312" pitchFamily="49" charset="-122"/>
                <a:ea typeface="楷体_GB2312" pitchFamily="49" charset="-122"/>
              </a:rPr>
              <a:t>新的元素</a:t>
            </a:r>
            <a:r>
              <a:rPr lang="zh-CN" altLang="zh-CN" sz="3600" dirty="0">
                <a:solidFill>
                  <a:srgbClr val="660066"/>
                </a:solidFill>
                <a:ea typeface="楷体_GB2312" pitchFamily="49" charset="-122"/>
              </a:rPr>
              <a:t>e</a:t>
            </a:r>
            <a:r>
              <a:rPr lang="zh-CN" altLang="zh-CN" sz="3600" dirty="0">
                <a:ea typeface="楷体_GB2312" pitchFamily="49" charset="-122"/>
              </a:rPr>
              <a:t>，</a:t>
            </a:r>
            <a:r>
              <a:rPr lang="zh-CN" altLang="zh-CN" sz="3600" dirty="0">
                <a:solidFill>
                  <a:srgbClr val="660066"/>
                </a:solidFill>
                <a:ea typeface="楷体_GB2312" pitchFamily="49" charset="-122"/>
              </a:rPr>
              <a:t>L</a:t>
            </a:r>
            <a:r>
              <a:rPr lang="zh-CN" altLang="zh-CN" sz="3600" dirty="0">
                <a:solidFill>
                  <a:srgbClr val="660066"/>
                </a:solidFill>
                <a:latin typeface="楷体_GB2312" pitchFamily="49" charset="-122"/>
                <a:ea typeface="楷体_GB2312" pitchFamily="49" charset="-122"/>
              </a:rPr>
              <a:t>的长度增</a:t>
            </a:r>
            <a:r>
              <a:rPr lang="zh-CN" altLang="zh-CN" sz="3600" dirty="0">
                <a:solidFill>
                  <a:srgbClr val="660066"/>
                </a:solidFill>
                <a:ea typeface="楷体_GB2312" pitchFamily="49" charset="-122"/>
              </a:rPr>
              <a:t>1</a:t>
            </a:r>
            <a:r>
              <a:rPr lang="zh-CN" altLang="zh-CN" sz="3600" dirty="0">
                <a:latin typeface="楷体_GB2312" pitchFamily="49" charset="-122"/>
                <a:ea typeface="楷体_GB2312" pitchFamily="49" charset="-122"/>
              </a:rPr>
              <a:t>。</a:t>
            </a:r>
          </a:p>
        </p:txBody>
      </p:sp>
      <p:sp>
        <p:nvSpPr>
          <p:cNvPr id="23558" name="Text Box 6"/>
          <p:cNvSpPr txBox="1"/>
          <p:nvPr/>
        </p:nvSpPr>
        <p:spPr>
          <a:xfrm>
            <a:off x="3886200" y="1295401"/>
            <a:ext cx="4248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solidFill>
                  <a:srgbClr val="660066"/>
                </a:solidFill>
                <a:ea typeface="隶书" panose="02010509060101010101" pitchFamily="49" charset="-122"/>
              </a:rPr>
              <a:t>（插入数据元素）</a:t>
            </a:r>
            <a:endParaRPr lang="zh-CN" altLang="zh-CN" sz="2400" dirty="0"/>
          </a:p>
        </p:txBody>
      </p:sp>
      <p:sp>
        <p:nvSpPr>
          <p:cNvPr id="23559" name="AutoShape 7">
            <a:hlinkClick r:id="" action="ppaction://hlinkshowjump?jump=lastslideviewed"/>
          </p:cNvPr>
          <p:cNvSpPr/>
          <p:nvPr/>
        </p:nvSpPr>
        <p:spPr>
          <a:xfrm>
            <a:off x="9829800" y="6172200"/>
            <a:ext cx="381000" cy="381000"/>
          </a:xfrm>
          <a:prstGeom prst="actionButtonReturn">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additive="base">
                                        <p:cTn id="7" dur="500" fill="hold"/>
                                        <p:tgtEl>
                                          <p:spTgt spid="23555"/>
                                        </p:tgtEl>
                                        <p:attrNameLst>
                                          <p:attrName>ppt_x</p:attrName>
                                        </p:attrNameLst>
                                      </p:cBhvr>
                                      <p:tavLst>
                                        <p:tav tm="0">
                                          <p:val>
                                            <p:strVal val="0-#ppt_w/2"/>
                                          </p:val>
                                        </p:tav>
                                        <p:tav tm="100000">
                                          <p:val>
                                            <p:strVal val="#ppt_x"/>
                                          </p:val>
                                        </p:tav>
                                      </p:tavLst>
                                    </p:anim>
                                    <p:anim calcmode="lin" valueType="num">
                                      <p:cBhvr additive="base">
                                        <p:cTn id="8" dur="500" fill="hold"/>
                                        <p:tgtEl>
                                          <p:spTgt spid="235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3556"/>
                                        </p:tgtEl>
                                        <p:attrNameLst>
                                          <p:attrName>style.visibility</p:attrName>
                                        </p:attrNameLst>
                                      </p:cBhvr>
                                      <p:to>
                                        <p:strVal val="visible"/>
                                      </p:to>
                                    </p:set>
                                    <p:animEffect transition="in" filter="wipe(left)">
                                      <p:cBhvr>
                                        <p:cTn id="13" dur="500"/>
                                        <p:tgtEl>
                                          <p:spTgt spid="2355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3557"/>
                                        </p:tgtEl>
                                        <p:attrNameLst>
                                          <p:attrName>style.visibility</p:attrName>
                                        </p:attrNameLst>
                                      </p:cBhvr>
                                      <p:to>
                                        <p:strVal val="visible"/>
                                      </p:to>
                                    </p:set>
                                    <p:animEffect transition="in" filter="wipe(left)">
                                      <p:cBhvr>
                                        <p:cTn id="18" dur="500"/>
                                        <p:tgtEl>
                                          <p:spTgt spid="23557"/>
                                        </p:tgtEl>
                                      </p:cBhvr>
                                    </p:animEffect>
                                  </p:childTnLst>
                                </p:cTn>
                              </p:par>
                            </p:childTnLst>
                          </p:cTn>
                        </p:par>
                        <p:par>
                          <p:cTn id="19" fill="hold">
                            <p:stCondLst>
                              <p:cond delay="500"/>
                            </p:stCondLst>
                            <p:childTnLst>
                              <p:par>
                                <p:cTn id="20" presetID="2" presetClass="entr" presetSubtype="6" fill="hold" nodeType="afterEffect">
                                  <p:stCondLst>
                                    <p:cond delay="0"/>
                                  </p:stCondLst>
                                  <p:childTnLst>
                                    <p:set>
                                      <p:cBhvr>
                                        <p:cTn id="21" dur="1" fill="hold">
                                          <p:stCondLst>
                                            <p:cond delay="0"/>
                                          </p:stCondLst>
                                        </p:cTn>
                                        <p:tgtEl>
                                          <p:spTgt spid="23559"/>
                                        </p:tgtEl>
                                        <p:attrNameLst>
                                          <p:attrName>style.visibility</p:attrName>
                                        </p:attrNameLst>
                                      </p:cBhvr>
                                      <p:to>
                                        <p:strVal val="visible"/>
                                      </p:to>
                                    </p:set>
                                    <p:anim calcmode="lin" valueType="num">
                                      <p:cBhvr additive="base">
                                        <p:cTn id="22" dur="500" fill="hold"/>
                                        <p:tgtEl>
                                          <p:spTgt spid="23559"/>
                                        </p:tgtEl>
                                        <p:attrNameLst>
                                          <p:attrName>ppt_x</p:attrName>
                                        </p:attrNameLst>
                                      </p:cBhvr>
                                      <p:tavLst>
                                        <p:tav tm="0">
                                          <p:val>
                                            <p:strVal val="1+#ppt_w/2"/>
                                          </p:val>
                                        </p:tav>
                                        <p:tav tm="100000">
                                          <p:val>
                                            <p:strVal val="#ppt_x"/>
                                          </p:val>
                                        </p:tav>
                                      </p:tavLst>
                                    </p:anim>
                                    <p:anim calcmode="lin" valueType="num">
                                      <p:cBhvr additive="base">
                                        <p:cTn id="23" dur="500" fill="hold"/>
                                        <p:tgtEl>
                                          <p:spTgt spid="235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p:bldP spid="23556" grpId="0"/>
      <p:bldP spid="23557" grpId="0"/>
      <p:bldP spid="2355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p:nvPr/>
        </p:nvSpPr>
        <p:spPr>
          <a:xfrm>
            <a:off x="3454401" y="838201"/>
            <a:ext cx="4195379" cy="76944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b="1" dirty="0">
                <a:solidFill>
                  <a:srgbClr val="333399"/>
                </a:solidFill>
                <a:ea typeface="楷体_GB2312" pitchFamily="49" charset="-122"/>
              </a:rPr>
              <a:t>ListDelete(L, i</a:t>
            </a:r>
            <a:r>
              <a:rPr lang="zh-CN" altLang="en-US" sz="4400" b="1" dirty="0">
                <a:solidFill>
                  <a:srgbClr val="333399"/>
                </a:solidFill>
                <a:ea typeface="楷体_GB2312" pitchFamily="49" charset="-122"/>
              </a:rPr>
              <a:t>）</a:t>
            </a:r>
            <a:endParaRPr lang="zh-CN" altLang="zh-CN" sz="4400" b="1" dirty="0">
              <a:solidFill>
                <a:srgbClr val="333399"/>
              </a:solidFill>
              <a:ea typeface="楷体_GB2312" pitchFamily="49" charset="-122"/>
            </a:endParaRPr>
          </a:p>
        </p:txBody>
      </p:sp>
      <p:sp>
        <p:nvSpPr>
          <p:cNvPr id="24579" name="Text Box 3"/>
          <p:cNvSpPr txBox="1"/>
          <p:nvPr/>
        </p:nvSpPr>
        <p:spPr>
          <a:xfrm>
            <a:off x="2362201" y="2895600"/>
            <a:ext cx="3005951" cy="212365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初始条件：</a:t>
            </a:r>
          </a:p>
          <a:p>
            <a:pPr marL="0" indent="0" eaLnBrk="1" hangingPunct="1">
              <a:spcBef>
                <a:spcPct val="0"/>
              </a:spcBef>
              <a:buClrTx/>
              <a:buNone/>
            </a:pPr>
            <a:endParaRPr lang="zh-CN" altLang="zh-CN" sz="4400" dirty="0">
              <a:solidFill>
                <a:srgbClr val="FF0000"/>
              </a:solidFill>
              <a:latin typeface="楷体_GB2312" pitchFamily="49" charset="-122"/>
              <a:ea typeface="楷体_GB2312" pitchFamily="49" charset="-122"/>
            </a:endParaRPr>
          </a:p>
          <a:p>
            <a:pPr marL="0" indent="0" eaLnBrk="1" hangingPunct="1">
              <a:spcBef>
                <a:spcPct val="0"/>
              </a:spcBef>
              <a:buClrTx/>
              <a:buNone/>
            </a:pPr>
            <a:r>
              <a:rPr lang="zh-CN" altLang="zh-CN" sz="4400" dirty="0">
                <a:solidFill>
                  <a:srgbClr val="FF0000"/>
                </a:solidFill>
                <a:latin typeface="楷体_GB2312" pitchFamily="49" charset="-122"/>
                <a:ea typeface="楷体_GB2312" pitchFamily="49" charset="-122"/>
              </a:rPr>
              <a:t>操作结果：</a:t>
            </a:r>
            <a:endParaRPr lang="zh-CN" altLang="zh-CN" sz="2400" dirty="0">
              <a:solidFill>
                <a:srgbClr val="FF0000"/>
              </a:solidFill>
              <a:latin typeface="楷体_GB2312" pitchFamily="49" charset="-122"/>
              <a:ea typeface="楷体_GB2312" pitchFamily="49" charset="-122"/>
            </a:endParaRPr>
          </a:p>
        </p:txBody>
      </p:sp>
      <p:sp>
        <p:nvSpPr>
          <p:cNvPr id="24580" name="Text Box 4"/>
          <p:cNvSpPr txBox="1"/>
          <p:nvPr/>
        </p:nvSpPr>
        <p:spPr>
          <a:xfrm>
            <a:off x="4876800" y="3048001"/>
            <a:ext cx="5035550" cy="11906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dirty="0">
                <a:latin typeface="楷体_GB2312" pitchFamily="49" charset="-122"/>
                <a:ea typeface="楷体_GB2312" pitchFamily="49" charset="-122"/>
              </a:rPr>
              <a:t>线性表</a:t>
            </a:r>
            <a:r>
              <a:rPr lang="zh-CN" altLang="zh-CN" sz="3600" dirty="0">
                <a:ea typeface="楷体_GB2312" pitchFamily="49" charset="-122"/>
              </a:rPr>
              <a:t>L</a:t>
            </a:r>
            <a:r>
              <a:rPr lang="zh-CN" altLang="zh-CN" sz="3600" dirty="0">
                <a:latin typeface="楷体_GB2312" pitchFamily="49" charset="-122"/>
                <a:ea typeface="楷体_GB2312" pitchFamily="49" charset="-122"/>
              </a:rPr>
              <a:t>已存在且非空，</a:t>
            </a:r>
          </a:p>
          <a:p>
            <a:pPr marL="0" indent="0" eaLnBrk="1" hangingPunct="1">
              <a:spcBef>
                <a:spcPct val="0"/>
              </a:spcBef>
              <a:buClrTx/>
              <a:buNone/>
            </a:pPr>
            <a:r>
              <a:rPr lang="zh-CN" altLang="zh-CN" sz="3600" dirty="0">
                <a:latin typeface="楷体_GB2312" pitchFamily="49" charset="-122"/>
                <a:ea typeface="楷体_GB2312" pitchFamily="49" charset="-122"/>
              </a:rPr>
              <a:t> </a:t>
            </a:r>
            <a:r>
              <a:rPr lang="zh-CN" altLang="zh-CN" sz="3600" b="1" dirty="0">
                <a:ea typeface="楷体_GB2312" pitchFamily="49" charset="-122"/>
              </a:rPr>
              <a:t>1≤i≤LengthList(L) </a:t>
            </a:r>
            <a:r>
              <a:rPr lang="zh-CN" altLang="zh-CN" sz="3600" dirty="0">
                <a:latin typeface="楷体_GB2312" pitchFamily="49" charset="-122"/>
                <a:ea typeface="楷体_GB2312" pitchFamily="49" charset="-122"/>
              </a:rPr>
              <a:t>。</a:t>
            </a:r>
          </a:p>
        </p:txBody>
      </p:sp>
      <p:sp>
        <p:nvSpPr>
          <p:cNvPr id="24581" name="Text Box 5"/>
          <p:cNvSpPr txBox="1"/>
          <p:nvPr/>
        </p:nvSpPr>
        <p:spPr>
          <a:xfrm>
            <a:off x="5029200" y="4419601"/>
            <a:ext cx="5181600" cy="11906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dirty="0">
                <a:latin typeface="楷体_GB2312" pitchFamily="49" charset="-122"/>
                <a:ea typeface="楷体_GB2312" pitchFamily="49" charset="-122"/>
              </a:rPr>
              <a:t>删除</a:t>
            </a:r>
            <a:r>
              <a:rPr lang="zh-CN" altLang="zh-CN" sz="3600" dirty="0">
                <a:ea typeface="楷体_GB2312" pitchFamily="49" charset="-122"/>
              </a:rPr>
              <a:t>L</a:t>
            </a:r>
            <a:r>
              <a:rPr lang="zh-CN" altLang="zh-CN" sz="3600" dirty="0">
                <a:latin typeface="楷体_GB2312" pitchFamily="49" charset="-122"/>
                <a:ea typeface="楷体_GB2312" pitchFamily="49" charset="-122"/>
              </a:rPr>
              <a:t>的第</a:t>
            </a:r>
            <a:r>
              <a:rPr lang="zh-CN" altLang="zh-CN" sz="3600" dirty="0">
                <a:ea typeface="楷体_GB2312" pitchFamily="49" charset="-122"/>
              </a:rPr>
              <a:t>i</a:t>
            </a:r>
            <a:r>
              <a:rPr lang="zh-CN" altLang="zh-CN" sz="3600" dirty="0">
                <a:latin typeface="楷体_GB2312" pitchFamily="49" charset="-122"/>
                <a:ea typeface="楷体_GB2312" pitchFamily="49" charset="-122"/>
              </a:rPr>
              <a:t>个元素，并返回其值，</a:t>
            </a:r>
            <a:r>
              <a:rPr lang="zh-CN" altLang="zh-CN" sz="3600" dirty="0">
                <a:ea typeface="楷体_GB2312" pitchFamily="49" charset="-122"/>
              </a:rPr>
              <a:t>L</a:t>
            </a:r>
            <a:r>
              <a:rPr lang="zh-CN" altLang="zh-CN" sz="3600" dirty="0">
                <a:latin typeface="楷体_GB2312" pitchFamily="49" charset="-122"/>
                <a:ea typeface="楷体_GB2312" pitchFamily="49" charset="-122"/>
              </a:rPr>
              <a:t>的长度减</a:t>
            </a:r>
            <a:r>
              <a:rPr lang="zh-CN" altLang="zh-CN" sz="3600" dirty="0">
                <a:ea typeface="楷体_GB2312" pitchFamily="49" charset="-122"/>
              </a:rPr>
              <a:t>1</a:t>
            </a:r>
            <a:r>
              <a:rPr lang="zh-CN" altLang="zh-CN" sz="3600" dirty="0">
                <a:latin typeface="楷体_GB2312" pitchFamily="49" charset="-122"/>
                <a:ea typeface="楷体_GB2312" pitchFamily="49" charset="-122"/>
              </a:rPr>
              <a:t>。</a:t>
            </a:r>
            <a:endParaRPr lang="zh-CN" altLang="zh-CN" sz="2400" dirty="0">
              <a:latin typeface="楷体_GB2312" pitchFamily="49" charset="-122"/>
              <a:ea typeface="楷体_GB2312" pitchFamily="49" charset="-122"/>
            </a:endParaRPr>
          </a:p>
        </p:txBody>
      </p:sp>
      <p:sp>
        <p:nvSpPr>
          <p:cNvPr id="24582" name="Text Box 6"/>
          <p:cNvSpPr txBox="1"/>
          <p:nvPr/>
        </p:nvSpPr>
        <p:spPr>
          <a:xfrm>
            <a:off x="3905250" y="1508126"/>
            <a:ext cx="4248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solidFill>
                  <a:srgbClr val="660066"/>
                </a:solidFill>
                <a:ea typeface="隶书" panose="02010509060101010101" pitchFamily="49" charset="-122"/>
              </a:rPr>
              <a:t>（删除数据元素）</a:t>
            </a:r>
            <a:endParaRPr lang="zh-CN" altLang="zh-CN" sz="2400" dirty="0"/>
          </a:p>
        </p:txBody>
      </p:sp>
      <p:sp>
        <p:nvSpPr>
          <p:cNvPr id="24583" name="AutoShape 7">
            <a:hlinkClick r:id="" action="ppaction://hlinkshowjump?jump=lastslideviewed"/>
          </p:cNvPr>
          <p:cNvSpPr/>
          <p:nvPr/>
        </p:nvSpPr>
        <p:spPr>
          <a:xfrm>
            <a:off x="9829800" y="6172200"/>
            <a:ext cx="381000" cy="381000"/>
          </a:xfrm>
          <a:prstGeom prst="actionButtonReturn">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4579"/>
                                        </p:tgtEl>
                                        <p:attrNameLst>
                                          <p:attrName>style.visibility</p:attrName>
                                        </p:attrNameLst>
                                      </p:cBhvr>
                                      <p:to>
                                        <p:strVal val="visible"/>
                                      </p:to>
                                    </p:set>
                                    <p:animEffect transition="in" filter="barn(outHorizontal)">
                                      <p:cBhvr>
                                        <p:cTn id="7" dur="500"/>
                                        <p:tgtEl>
                                          <p:spTgt spid="245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580"/>
                                        </p:tgtEl>
                                        <p:attrNameLst>
                                          <p:attrName>style.visibility</p:attrName>
                                        </p:attrNameLst>
                                      </p:cBhvr>
                                      <p:to>
                                        <p:strVal val="visible"/>
                                      </p:to>
                                    </p:set>
                                    <p:animEffect transition="in" filter="wipe(left)">
                                      <p:cBhvr>
                                        <p:cTn id="12" dur="500"/>
                                        <p:tgtEl>
                                          <p:spTgt spid="245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581"/>
                                        </p:tgtEl>
                                        <p:attrNameLst>
                                          <p:attrName>style.visibility</p:attrName>
                                        </p:attrNameLst>
                                      </p:cBhvr>
                                      <p:to>
                                        <p:strVal val="visible"/>
                                      </p:to>
                                    </p:set>
                                    <p:animEffect transition="in" filter="wipe(left)">
                                      <p:cBhvr>
                                        <p:cTn id="17" dur="500"/>
                                        <p:tgtEl>
                                          <p:spTgt spid="24581"/>
                                        </p:tgtEl>
                                      </p:cBhvr>
                                    </p:animEffect>
                                  </p:childTnLst>
                                </p:cTn>
                              </p:par>
                            </p:childTnLst>
                          </p:cTn>
                        </p:par>
                        <p:par>
                          <p:cTn id="18" fill="hold">
                            <p:stCondLst>
                              <p:cond delay="500"/>
                            </p:stCondLst>
                            <p:childTnLst>
                              <p:par>
                                <p:cTn id="19" presetID="2" presetClass="entr" presetSubtype="6" fill="hold" nodeType="afterEffect">
                                  <p:stCondLst>
                                    <p:cond delay="0"/>
                                  </p:stCondLst>
                                  <p:childTnLst>
                                    <p:set>
                                      <p:cBhvr>
                                        <p:cTn id="20" dur="1" fill="hold">
                                          <p:stCondLst>
                                            <p:cond delay="0"/>
                                          </p:stCondLst>
                                        </p:cTn>
                                        <p:tgtEl>
                                          <p:spTgt spid="24583"/>
                                        </p:tgtEl>
                                        <p:attrNameLst>
                                          <p:attrName>style.visibility</p:attrName>
                                        </p:attrNameLst>
                                      </p:cBhvr>
                                      <p:to>
                                        <p:strVal val="visible"/>
                                      </p:to>
                                    </p:set>
                                    <p:anim calcmode="lin" valueType="num">
                                      <p:cBhvr additive="base">
                                        <p:cTn id="21" dur="500" fill="hold"/>
                                        <p:tgtEl>
                                          <p:spTgt spid="24583"/>
                                        </p:tgtEl>
                                        <p:attrNameLst>
                                          <p:attrName>ppt_x</p:attrName>
                                        </p:attrNameLst>
                                      </p:cBhvr>
                                      <p:tavLst>
                                        <p:tav tm="0">
                                          <p:val>
                                            <p:strVal val="1+#ppt_w/2"/>
                                          </p:val>
                                        </p:tav>
                                        <p:tav tm="100000">
                                          <p:val>
                                            <p:strVal val="#ppt_x"/>
                                          </p:val>
                                        </p:tav>
                                      </p:tavLst>
                                    </p:anim>
                                    <p:anim calcmode="lin" valueType="num">
                                      <p:cBhvr additive="base">
                                        <p:cTn id="22" dur="500" fill="hold"/>
                                        <p:tgtEl>
                                          <p:spTgt spid="245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p:bldP spid="24580" grpId="0"/>
      <p:bldP spid="24581" grpId="0"/>
      <p:bldP spid="2458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p:nvPr/>
        </p:nvSpPr>
        <p:spPr>
          <a:xfrm>
            <a:off x="1828800" y="304801"/>
            <a:ext cx="8119530" cy="20481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0"/>
              </a:spcBef>
              <a:buClrTx/>
              <a:buNone/>
            </a:pPr>
            <a:r>
              <a:rPr lang="zh-CN" altLang="zh-CN" sz="4800" dirty="0">
                <a:solidFill>
                  <a:srgbClr val="660033"/>
                </a:solidFill>
                <a:latin typeface="楷体_GB2312" pitchFamily="49" charset="-122"/>
                <a:ea typeface="楷体_GB2312" pitchFamily="49" charset="-122"/>
              </a:rPr>
              <a:t>利用上述定义的</a:t>
            </a:r>
            <a:r>
              <a:rPr lang="zh-CN" altLang="zh-CN" sz="4800" b="1" dirty="0">
                <a:solidFill>
                  <a:srgbClr val="FF0000"/>
                </a:solidFill>
                <a:latin typeface="楷体_GB2312" pitchFamily="49" charset="-122"/>
                <a:ea typeface="楷体_GB2312" pitchFamily="49" charset="-122"/>
              </a:rPr>
              <a:t>线性表</a:t>
            </a:r>
            <a:endParaRPr lang="zh-CN" altLang="zh-CN" sz="4800" dirty="0">
              <a:solidFill>
                <a:srgbClr val="660033"/>
              </a:solidFill>
              <a:latin typeface="楷体_GB2312" pitchFamily="49" charset="-122"/>
              <a:ea typeface="楷体_GB2312" pitchFamily="49" charset="-122"/>
            </a:endParaRPr>
          </a:p>
          <a:p>
            <a:pPr marL="0" indent="0" eaLnBrk="1" hangingPunct="1">
              <a:lnSpc>
                <a:spcPct val="140000"/>
              </a:lnSpc>
              <a:spcBef>
                <a:spcPct val="0"/>
              </a:spcBef>
              <a:buClrTx/>
              <a:buNone/>
            </a:pPr>
            <a:r>
              <a:rPr lang="zh-CN" altLang="zh-CN" sz="4800" dirty="0">
                <a:solidFill>
                  <a:srgbClr val="660033"/>
                </a:solidFill>
                <a:latin typeface="楷体_GB2312" pitchFamily="49" charset="-122"/>
                <a:ea typeface="楷体_GB2312" pitchFamily="49" charset="-122"/>
              </a:rPr>
              <a:t>   可以实现其它更复杂的操作</a:t>
            </a:r>
            <a:endParaRPr lang="zh-CN" altLang="zh-CN" sz="2400" dirty="0"/>
          </a:p>
        </p:txBody>
      </p:sp>
      <p:sp>
        <p:nvSpPr>
          <p:cNvPr id="25606" name="AutoShape 6">
            <a:hlinkClick r:id="rId2" action="ppaction://hlinksldjump" highlightClick="1"/>
          </p:cNvPr>
          <p:cNvSpPr>
            <a:spLocks noChangeArrowheads="1"/>
          </p:cNvSpPr>
          <p:nvPr/>
        </p:nvSpPr>
        <p:spPr bwMode="auto">
          <a:xfrm>
            <a:off x="9677400" y="6096000"/>
            <a:ext cx="685800" cy="381000"/>
          </a:xfrm>
          <a:prstGeom prst="actionButtonBeginning">
            <a:avLst/>
          </a:prstGeom>
          <a:solidFill>
            <a:schemeClr val="bg2"/>
          </a:solidFill>
          <a:ln>
            <a:noFill/>
          </a:ln>
          <a:effectLst>
            <a:prstShdw prst="shdw17" dist="17961" dir="2700000">
              <a:schemeClr val="bg2">
                <a:gamma/>
                <a:shade val="60000"/>
                <a:invGamma/>
              </a:schemeClr>
            </a:prstShdw>
          </a:effectLst>
        </p:spPr>
        <p:txBody>
          <a:bodyPr wrap="none" anchor="ctr"/>
          <a:lstStyle/>
          <a:p>
            <a:pPr>
              <a:defRPr/>
            </a:pPr>
            <a:endParaRPr kumimoji="0" lang="zh-CN" altLang="en-US">
              <a:solidFill>
                <a:schemeClr val="tx1"/>
              </a:solidFill>
              <a:latin typeface="Times New Roman" panose="02020603050405020304" pitchFamily="18" charset="0"/>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iterate type="wd">
                                    <p:tmPct val="100000"/>
                                  </p:iterate>
                                  <p:childTnLst>
                                    <p:set>
                                      <p:cBhvr>
                                        <p:cTn id="6" dur="1" fill="hold">
                                          <p:stCondLst>
                                            <p:cond delay="0"/>
                                          </p:stCondLst>
                                        </p:cTn>
                                        <p:tgtEl>
                                          <p:spTgt spid="25602"/>
                                        </p:tgtEl>
                                        <p:attrNameLst>
                                          <p:attrName>style.visibility</p:attrName>
                                        </p:attrNameLst>
                                      </p:cBhvr>
                                      <p:to>
                                        <p:strVal val="visible"/>
                                      </p:to>
                                    </p:set>
                                    <p:animEffect transition="in" filter="strips(downRight)">
                                      <p:cBhvr>
                                        <p:cTn id="7" dur="300"/>
                                        <p:tgtEl>
                                          <p:spTgt spid="25602"/>
                                        </p:tgtEl>
                                      </p:cBhvr>
                                    </p:animEffect>
                                  </p:childTnLst>
                                </p:cTn>
                              </p:par>
                            </p:childTnLst>
                          </p:cTn>
                        </p:par>
                        <p:par>
                          <p:cTn id="8" fill="hold">
                            <p:stCondLst>
                              <p:cond delay="6900"/>
                            </p:stCondLst>
                            <p:childTnLst>
                              <p:par>
                                <p:cTn id="9" presetID="2" presetClass="entr" presetSubtype="8" fill="hold" nodeType="afterEffect">
                                  <p:stCondLst>
                                    <p:cond delay="0"/>
                                  </p:stCondLst>
                                  <p:childTnLst>
                                    <p:set>
                                      <p:cBhvr>
                                        <p:cTn id="10" dur="1" fill="hold">
                                          <p:stCondLst>
                                            <p:cond delay="0"/>
                                          </p:stCondLst>
                                        </p:cTn>
                                        <p:tgtEl>
                                          <p:spTgt spid="25606"/>
                                        </p:tgtEl>
                                        <p:attrNameLst>
                                          <p:attrName>style.visibility</p:attrName>
                                        </p:attrNameLst>
                                      </p:cBhvr>
                                      <p:to>
                                        <p:strVal val="visible"/>
                                      </p:to>
                                    </p:set>
                                    <p:anim calcmode="lin" valueType="num">
                                      <p:cBhvr additive="base">
                                        <p:cTn id="11" dur="500" fill="hold"/>
                                        <p:tgtEl>
                                          <p:spTgt spid="25606"/>
                                        </p:tgtEl>
                                        <p:attrNameLst>
                                          <p:attrName>ppt_x</p:attrName>
                                        </p:attrNameLst>
                                      </p:cBhvr>
                                      <p:tavLst>
                                        <p:tav tm="0">
                                          <p:val>
                                            <p:strVal val="0-#ppt_w/2"/>
                                          </p:val>
                                        </p:tav>
                                        <p:tav tm="100000">
                                          <p:val>
                                            <p:strVal val="#ppt_x"/>
                                          </p:val>
                                        </p:tav>
                                      </p:tavLst>
                                    </p:anim>
                                    <p:anim calcmode="lin" valueType="num">
                                      <p:cBhvr additive="base">
                                        <p:cTn id="12" dur="500" fill="hold"/>
                                        <p:tgtEl>
                                          <p:spTgt spid="256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9376" y="332741"/>
            <a:ext cx="11449272" cy="5265096"/>
          </a:xfrm>
          <a:prstGeom prst="rect">
            <a:avLst/>
          </a:prstGeom>
          <a:noFill/>
        </p:spPr>
        <p:txBody>
          <a:bodyPr wrap="square" rtlCol="0" anchor="t">
            <a:spAutoFit/>
          </a:bodyPr>
          <a:lstStyle/>
          <a:p>
            <a:pPr>
              <a:lnSpc>
                <a:spcPct val="140000"/>
              </a:lnSpc>
            </a:pPr>
            <a:r>
              <a:rPr lang="zh-CN" altLang="zh-CN" sz="2800" dirty="0">
                <a:latin typeface="楷体_GB2312" pitchFamily="49" charset="-122"/>
                <a:ea typeface="楷体_GB2312" pitchFamily="49" charset="-122"/>
                <a:sym typeface="+mn-ea"/>
              </a:rPr>
              <a:t>  </a:t>
            </a:r>
            <a:r>
              <a:rPr lang="zh-CN" altLang="zh-CN" sz="3200" dirty="0">
                <a:solidFill>
                  <a:srgbClr val="008080"/>
                </a:solidFill>
                <a:latin typeface="楷体_GB2312" pitchFamily="49" charset="-122"/>
                <a:ea typeface="楷体_GB2312" pitchFamily="49" charset="-122"/>
                <a:sym typeface="+mn-ea"/>
              </a:rPr>
              <a:t>假设:有两个非递减序列 </a:t>
            </a:r>
            <a:r>
              <a:rPr lang="zh-CN" altLang="zh-CN" sz="3200" dirty="0">
                <a:solidFill>
                  <a:srgbClr val="008080"/>
                </a:solidFill>
                <a:ea typeface="楷体_GB2312" pitchFamily="49" charset="-122"/>
                <a:sym typeface="+mn-ea"/>
              </a:rPr>
              <a:t>A 和 B 分别用两个线性表 LA 和 LB </a:t>
            </a:r>
            <a:r>
              <a:rPr lang="zh-CN" altLang="zh-CN" sz="3200" dirty="0">
                <a:solidFill>
                  <a:srgbClr val="008080"/>
                </a:solidFill>
                <a:latin typeface="楷体_GB2312" pitchFamily="49" charset="-122"/>
                <a:ea typeface="楷体_GB2312" pitchFamily="49" charset="-122"/>
                <a:sym typeface="+mn-ea"/>
              </a:rPr>
              <a:t>表示，即：线性表中的数据元素即为序列中的成员。</a:t>
            </a:r>
            <a:endParaRPr lang="zh-CN" altLang="zh-CN" sz="3200" dirty="0">
              <a:solidFill>
                <a:srgbClr val="008080"/>
              </a:solidFill>
              <a:latin typeface="楷体_GB2312" pitchFamily="49" charset="-122"/>
              <a:ea typeface="楷体_GB2312" pitchFamily="49" charset="-122"/>
            </a:endParaRPr>
          </a:p>
          <a:p>
            <a:pPr>
              <a:lnSpc>
                <a:spcPct val="140000"/>
              </a:lnSpc>
            </a:pPr>
            <a:r>
              <a:rPr lang="zh-CN" altLang="zh-CN" sz="3200" dirty="0">
                <a:solidFill>
                  <a:srgbClr val="008080"/>
                </a:solidFill>
                <a:latin typeface="楷体_GB2312" pitchFamily="49" charset="-122"/>
                <a:ea typeface="楷体_GB2312" pitchFamily="49" charset="-122"/>
                <a:sym typeface="+mn-ea"/>
              </a:rPr>
              <a:t>  现要求一个用线性表</a:t>
            </a:r>
            <a:r>
              <a:rPr lang="en-US" altLang="zh-CN" sz="3200" dirty="0">
                <a:solidFill>
                  <a:srgbClr val="008080"/>
                </a:solidFill>
                <a:latin typeface="楷体_GB2312" pitchFamily="49" charset="-122"/>
                <a:ea typeface="楷体_GB2312" pitchFamily="49" charset="-122"/>
                <a:sym typeface="+mn-ea"/>
              </a:rPr>
              <a:t>LC</a:t>
            </a:r>
            <a:r>
              <a:rPr lang="zh-CN" altLang="en-US" sz="3200" dirty="0">
                <a:solidFill>
                  <a:srgbClr val="008080"/>
                </a:solidFill>
                <a:latin typeface="楷体_GB2312" pitchFamily="49" charset="-122"/>
                <a:ea typeface="楷体_GB2312" pitchFamily="49" charset="-122"/>
                <a:sym typeface="+mn-ea"/>
              </a:rPr>
              <a:t>表示的</a:t>
            </a:r>
            <a:r>
              <a:rPr lang="zh-CN" altLang="zh-CN" sz="3200" dirty="0">
                <a:solidFill>
                  <a:srgbClr val="008080"/>
                </a:solidFill>
                <a:latin typeface="楷体_GB2312" pitchFamily="49" charset="-122"/>
                <a:ea typeface="楷体_GB2312" pitchFamily="49" charset="-122"/>
                <a:sym typeface="+mn-ea"/>
              </a:rPr>
              <a:t>新的集合</a:t>
            </a:r>
            <a:r>
              <a:rPr lang="en-US" altLang="zh-CN" sz="3200" dirty="0">
                <a:solidFill>
                  <a:srgbClr val="008080"/>
                </a:solidFill>
                <a:latin typeface="楷体_GB2312" pitchFamily="49" charset="-122"/>
                <a:ea typeface="楷体_GB2312" pitchFamily="49" charset="-122"/>
                <a:sym typeface="+mn-ea"/>
              </a:rPr>
              <a:t>C</a:t>
            </a:r>
            <a:r>
              <a:rPr lang="zh-CN" altLang="zh-CN" sz="3200" dirty="0">
                <a:solidFill>
                  <a:srgbClr val="008080"/>
                </a:solidFill>
                <a:ea typeface="楷体_GB2312" pitchFamily="49" charset="-122"/>
                <a:sym typeface="+mn-ea"/>
              </a:rPr>
              <a:t>＝A∪B</a:t>
            </a:r>
            <a:r>
              <a:rPr lang="zh-CN" altLang="zh-CN" dirty="0">
                <a:solidFill>
                  <a:srgbClr val="008080"/>
                </a:solidFill>
                <a:latin typeface="楷体_GB2312" pitchFamily="49" charset="-122"/>
                <a:ea typeface="楷体_GB2312" pitchFamily="49" charset="-122"/>
                <a:sym typeface="+mn-ea"/>
              </a:rPr>
              <a:t>。</a:t>
            </a:r>
          </a:p>
          <a:p>
            <a:pPr>
              <a:lnSpc>
                <a:spcPct val="140000"/>
              </a:lnSpc>
            </a:pPr>
            <a:r>
              <a:rPr lang="en-US" altLang="zh-CN" dirty="0">
                <a:solidFill>
                  <a:srgbClr val="008080"/>
                </a:solidFill>
                <a:latin typeface="楷体_GB2312" pitchFamily="49" charset="-122"/>
                <a:ea typeface="楷体_GB2312" pitchFamily="49" charset="-122"/>
                <a:sym typeface="+mn-ea"/>
              </a:rPr>
              <a:t>  </a:t>
            </a:r>
            <a:r>
              <a:rPr lang="zh-CN" altLang="en-US" dirty="0">
                <a:solidFill>
                  <a:srgbClr val="008080"/>
                </a:solidFill>
                <a:latin typeface="楷体_GB2312" pitchFamily="49" charset="-122"/>
                <a:ea typeface="楷体_GB2312" pitchFamily="49" charset="-122"/>
                <a:sym typeface="+mn-ea"/>
              </a:rPr>
              <a:t>如：</a:t>
            </a:r>
            <a:r>
              <a:rPr lang="en-US" altLang="zh-CN" dirty="0">
                <a:solidFill>
                  <a:srgbClr val="008080"/>
                </a:solidFill>
                <a:latin typeface="楷体_GB2312" pitchFamily="49" charset="-122"/>
                <a:ea typeface="楷体_GB2312" pitchFamily="49" charset="-122"/>
                <a:sym typeface="+mn-ea"/>
              </a:rPr>
              <a:t>LA= (3,5,8,11)</a:t>
            </a:r>
          </a:p>
          <a:p>
            <a:pPr>
              <a:lnSpc>
                <a:spcPct val="140000"/>
              </a:lnSpc>
            </a:pPr>
            <a:r>
              <a:rPr lang="en-US" altLang="zh-CN" dirty="0">
                <a:solidFill>
                  <a:srgbClr val="008080"/>
                </a:solidFill>
                <a:latin typeface="楷体_GB2312" pitchFamily="49" charset="-122"/>
                <a:ea typeface="楷体_GB2312" pitchFamily="49" charset="-122"/>
                <a:sym typeface="+mn-ea"/>
              </a:rPr>
              <a:t>      LB = (2,6,8.9,11,15,20)</a:t>
            </a:r>
          </a:p>
          <a:p>
            <a:pPr>
              <a:lnSpc>
                <a:spcPct val="140000"/>
              </a:lnSpc>
            </a:pPr>
            <a:r>
              <a:rPr lang="en-US" altLang="zh-CN" dirty="0">
                <a:solidFill>
                  <a:srgbClr val="008080"/>
                </a:solidFill>
                <a:latin typeface="楷体_GB2312" pitchFamily="49" charset="-122"/>
                <a:ea typeface="楷体_GB2312" pitchFamily="49" charset="-122"/>
                <a:sym typeface="+mn-ea"/>
              </a:rPr>
              <a:t>  </a:t>
            </a:r>
            <a:r>
              <a:rPr lang="zh-CN" altLang="en-US" dirty="0">
                <a:solidFill>
                  <a:srgbClr val="008080"/>
                </a:solidFill>
                <a:latin typeface="楷体_GB2312" pitchFamily="49" charset="-122"/>
                <a:ea typeface="楷体_GB2312" pitchFamily="49" charset="-122"/>
                <a:sym typeface="+mn-ea"/>
              </a:rPr>
              <a:t>则</a:t>
            </a:r>
            <a:r>
              <a:rPr lang="en-US" altLang="zh-CN" dirty="0">
                <a:solidFill>
                  <a:srgbClr val="008080"/>
                </a:solidFill>
                <a:latin typeface="楷体_GB2312" pitchFamily="49" charset="-122"/>
                <a:ea typeface="楷体_GB2312" pitchFamily="49" charset="-122"/>
                <a:sym typeface="+mn-ea"/>
              </a:rPr>
              <a:t>: LC = (2,3,5,6,8,9,11,15,20)</a:t>
            </a:r>
          </a:p>
          <a:p>
            <a:pPr>
              <a:lnSpc>
                <a:spcPct val="140000"/>
              </a:lnSpc>
            </a:pPr>
            <a:endParaRPr lang="en-US" altLang="zh-CN" dirty="0">
              <a:solidFill>
                <a:srgbClr val="008080"/>
              </a:solidFill>
              <a:latin typeface="楷体_GB2312" pitchFamily="49" charset="-122"/>
              <a:ea typeface="楷体_GB2312" pitchFamily="49" charset="-122"/>
              <a:sym typeface="+mn-ea"/>
            </a:endParaRPr>
          </a:p>
        </p:txBody>
      </p:sp>
    </p:spTree>
  </p:cSld>
  <p:clrMapOvr>
    <a:masterClrMapping/>
  </p:clrMapOvr>
  <p:transition>
    <p:strips dir="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7368" y="1340486"/>
            <a:ext cx="11449272" cy="3790974"/>
          </a:xfrm>
          <a:prstGeom prst="rect">
            <a:avLst/>
          </a:prstGeom>
          <a:noFill/>
        </p:spPr>
        <p:txBody>
          <a:bodyPr wrap="square" rtlCol="0" anchor="t">
            <a:spAutoFit/>
          </a:bodyPr>
          <a:lstStyle/>
          <a:p>
            <a:pPr>
              <a:lnSpc>
                <a:spcPct val="150000"/>
              </a:lnSpc>
            </a:pPr>
            <a:r>
              <a:rPr lang="zh-CN" altLang="zh-CN" dirty="0">
                <a:latin typeface="楷体_GB2312" pitchFamily="49" charset="-122"/>
                <a:ea typeface="楷体_GB2312" pitchFamily="49" charset="-122"/>
                <a:sym typeface="+mn-ea"/>
              </a:rPr>
              <a:t>要求对线性表作如下操作：</a:t>
            </a:r>
          </a:p>
          <a:p>
            <a:pPr marL="457200" indent="-457200">
              <a:lnSpc>
                <a:spcPct val="150000"/>
              </a:lnSpc>
              <a:buFont typeface="Arial" panose="020B0604020202020204" pitchFamily="34" charset="0"/>
              <a:buChar char="•"/>
            </a:pPr>
            <a:r>
              <a:rPr lang="zh-CN" altLang="en-US" sz="3200" dirty="0">
                <a:solidFill>
                  <a:srgbClr val="008080"/>
                </a:solidFill>
                <a:latin typeface="楷体_GB2312" pitchFamily="49" charset="-122"/>
                <a:ea typeface="楷体_GB2312" pitchFamily="49" charset="-122"/>
                <a:sym typeface="+mn-ea"/>
              </a:rPr>
              <a:t>初始化线性表</a:t>
            </a:r>
            <a:r>
              <a:rPr lang="en-US" altLang="zh-CN" sz="3200" dirty="0">
                <a:solidFill>
                  <a:srgbClr val="008080"/>
                </a:solidFill>
                <a:latin typeface="楷体_GB2312" pitchFamily="49" charset="-122"/>
                <a:ea typeface="楷体_GB2312" pitchFamily="49" charset="-122"/>
                <a:sym typeface="+mn-ea"/>
              </a:rPr>
              <a:t>LC</a:t>
            </a:r>
          </a:p>
          <a:p>
            <a:pPr marL="457200" indent="-457200">
              <a:lnSpc>
                <a:spcPct val="150000"/>
              </a:lnSpc>
              <a:buFont typeface="Arial" panose="020B0604020202020204" pitchFamily="34" charset="0"/>
              <a:buChar char="•"/>
            </a:pPr>
            <a:r>
              <a:rPr lang="zh-CN" altLang="en-US" sz="3200" dirty="0">
                <a:solidFill>
                  <a:srgbClr val="008080"/>
                </a:solidFill>
                <a:latin typeface="楷体_GB2312" pitchFamily="49" charset="-122"/>
                <a:ea typeface="楷体_GB2312" pitchFamily="49" charset="-122"/>
                <a:sym typeface="+mn-ea"/>
              </a:rPr>
              <a:t>取</a:t>
            </a:r>
            <a:r>
              <a:rPr lang="en-US" altLang="zh-CN" sz="3200" dirty="0">
                <a:solidFill>
                  <a:srgbClr val="008080"/>
                </a:solidFill>
                <a:latin typeface="楷体_GB2312" pitchFamily="49" charset="-122"/>
                <a:ea typeface="楷体_GB2312" pitchFamily="49" charset="-122"/>
                <a:sym typeface="+mn-ea"/>
              </a:rPr>
              <a:t>LA</a:t>
            </a:r>
            <a:r>
              <a:rPr lang="zh-CN" altLang="en-US" sz="3200" dirty="0">
                <a:solidFill>
                  <a:srgbClr val="008080"/>
                </a:solidFill>
                <a:latin typeface="楷体_GB2312" pitchFamily="49" charset="-122"/>
                <a:ea typeface="楷体_GB2312" pitchFamily="49" charset="-122"/>
                <a:sym typeface="+mn-ea"/>
              </a:rPr>
              <a:t>中第</a:t>
            </a:r>
            <a:r>
              <a:rPr lang="en-US" altLang="zh-CN" sz="3200" dirty="0">
                <a:solidFill>
                  <a:srgbClr val="008080"/>
                </a:solidFill>
                <a:latin typeface="楷体_GB2312" pitchFamily="49" charset="-122"/>
                <a:ea typeface="楷体_GB2312" pitchFamily="49" charset="-122"/>
                <a:sym typeface="+mn-ea"/>
              </a:rPr>
              <a:t>i</a:t>
            </a:r>
            <a:r>
              <a:rPr lang="zh-CN" altLang="en-US" sz="3200" dirty="0">
                <a:solidFill>
                  <a:srgbClr val="008080"/>
                </a:solidFill>
                <a:latin typeface="楷体_GB2312" pitchFamily="49" charset="-122"/>
                <a:ea typeface="楷体_GB2312" pitchFamily="49" charset="-122"/>
                <a:sym typeface="+mn-ea"/>
              </a:rPr>
              <a:t>个和</a:t>
            </a:r>
            <a:r>
              <a:rPr lang="en-US" altLang="zh-CN" sz="3200" dirty="0">
                <a:solidFill>
                  <a:srgbClr val="008080"/>
                </a:solidFill>
                <a:latin typeface="楷体_GB2312" pitchFamily="49" charset="-122"/>
                <a:ea typeface="楷体_GB2312" pitchFamily="49" charset="-122"/>
                <a:sym typeface="+mn-ea"/>
              </a:rPr>
              <a:t>LB</a:t>
            </a:r>
            <a:r>
              <a:rPr lang="zh-CN" altLang="en-US" sz="3200" dirty="0">
                <a:solidFill>
                  <a:srgbClr val="008080"/>
                </a:solidFill>
                <a:latin typeface="楷体_GB2312" pitchFamily="49" charset="-122"/>
                <a:ea typeface="楷体_GB2312" pitchFamily="49" charset="-122"/>
                <a:sym typeface="+mn-ea"/>
              </a:rPr>
              <a:t>中第</a:t>
            </a:r>
            <a:r>
              <a:rPr lang="en-US" altLang="zh-CN" sz="3200" dirty="0">
                <a:solidFill>
                  <a:srgbClr val="008080"/>
                </a:solidFill>
                <a:latin typeface="楷体_GB2312" pitchFamily="49" charset="-122"/>
                <a:ea typeface="楷体_GB2312" pitchFamily="49" charset="-122"/>
                <a:sym typeface="+mn-ea"/>
              </a:rPr>
              <a:t>j</a:t>
            </a:r>
            <a:r>
              <a:rPr lang="zh-CN" altLang="en-US" sz="3200" dirty="0">
                <a:solidFill>
                  <a:srgbClr val="008080"/>
                </a:solidFill>
                <a:latin typeface="楷体_GB2312" pitchFamily="49" charset="-122"/>
                <a:ea typeface="楷体_GB2312" pitchFamily="49" charset="-122"/>
                <a:sym typeface="+mn-ea"/>
              </a:rPr>
              <a:t>元素</a:t>
            </a:r>
            <a:r>
              <a:rPr lang="en-US" altLang="zh-CN" sz="3200" dirty="0">
                <a:solidFill>
                  <a:srgbClr val="008080"/>
                </a:solidFill>
                <a:latin typeface="楷体_GB2312" pitchFamily="49" charset="-122"/>
                <a:ea typeface="楷体_GB2312" pitchFamily="49" charset="-122"/>
                <a:sym typeface="+mn-ea"/>
              </a:rPr>
              <a:t>(i</a:t>
            </a:r>
            <a:r>
              <a:rPr lang="zh-CN" altLang="en-US" sz="3200" dirty="0">
                <a:solidFill>
                  <a:srgbClr val="008080"/>
                </a:solidFill>
                <a:latin typeface="楷体_GB2312" pitchFamily="49" charset="-122"/>
                <a:ea typeface="楷体_GB2312" pitchFamily="49" charset="-122"/>
                <a:sym typeface="+mn-ea"/>
              </a:rPr>
              <a:t>和</a:t>
            </a:r>
            <a:r>
              <a:rPr lang="en-US" altLang="zh-CN" sz="3200" dirty="0">
                <a:solidFill>
                  <a:srgbClr val="008080"/>
                </a:solidFill>
                <a:latin typeface="楷体_GB2312" pitchFamily="49" charset="-122"/>
                <a:ea typeface="楷体_GB2312" pitchFamily="49" charset="-122"/>
                <a:sym typeface="+mn-ea"/>
              </a:rPr>
              <a:t>j</a:t>
            </a:r>
            <a:r>
              <a:rPr lang="zh-CN" altLang="en-US" sz="3200" dirty="0">
                <a:solidFill>
                  <a:srgbClr val="008080"/>
                </a:solidFill>
                <a:latin typeface="楷体_GB2312" pitchFamily="49" charset="-122"/>
                <a:ea typeface="楷体_GB2312" pitchFamily="49" charset="-122"/>
                <a:sym typeface="+mn-ea"/>
              </a:rPr>
              <a:t>初始值均为</a:t>
            </a:r>
            <a:r>
              <a:rPr lang="en-US" altLang="zh-CN" sz="3200" dirty="0">
                <a:solidFill>
                  <a:srgbClr val="008080"/>
                </a:solidFill>
                <a:latin typeface="楷体_GB2312" pitchFamily="49" charset="-122"/>
                <a:ea typeface="楷体_GB2312" pitchFamily="49" charset="-122"/>
                <a:sym typeface="+mn-ea"/>
              </a:rPr>
              <a:t>1</a:t>
            </a:r>
            <a:r>
              <a:rPr lang="zh-CN" altLang="en-US" sz="3200" dirty="0">
                <a:solidFill>
                  <a:srgbClr val="008080"/>
                </a:solidFill>
                <a:latin typeface="楷体_GB2312" pitchFamily="49" charset="-122"/>
                <a:ea typeface="楷体_GB2312" pitchFamily="49" charset="-122"/>
                <a:sym typeface="+mn-ea"/>
              </a:rPr>
              <a:t>），分别为</a:t>
            </a:r>
            <a:r>
              <a:rPr lang="en-US" altLang="zh-CN" sz="3200" dirty="0">
                <a:solidFill>
                  <a:srgbClr val="008080"/>
                </a:solidFill>
                <a:latin typeface="楷体_GB2312" pitchFamily="49" charset="-122"/>
                <a:ea typeface="楷体_GB2312" pitchFamily="49" charset="-122"/>
                <a:sym typeface="+mn-ea"/>
              </a:rPr>
              <a:t>a</a:t>
            </a:r>
            <a:r>
              <a:rPr lang="zh-CN" altLang="en-US" sz="3200" dirty="0">
                <a:solidFill>
                  <a:srgbClr val="008080"/>
                </a:solidFill>
                <a:latin typeface="楷体_GB2312" pitchFamily="49" charset="-122"/>
                <a:ea typeface="楷体_GB2312" pitchFamily="49" charset="-122"/>
                <a:sym typeface="+mn-ea"/>
              </a:rPr>
              <a:t>和</a:t>
            </a:r>
            <a:r>
              <a:rPr lang="en-US" altLang="zh-CN" sz="3200" dirty="0">
                <a:solidFill>
                  <a:srgbClr val="008080"/>
                </a:solidFill>
                <a:latin typeface="楷体_GB2312" pitchFamily="49" charset="-122"/>
                <a:ea typeface="楷体_GB2312" pitchFamily="49" charset="-122"/>
                <a:sym typeface="+mn-ea"/>
              </a:rPr>
              <a:t>b</a:t>
            </a:r>
            <a:r>
              <a:rPr lang="zh-CN" altLang="en-US" sz="3200" dirty="0">
                <a:solidFill>
                  <a:srgbClr val="008080"/>
                </a:solidFill>
                <a:latin typeface="楷体_GB2312" pitchFamily="49" charset="-122"/>
                <a:ea typeface="楷体_GB2312" pitchFamily="49" charset="-122"/>
                <a:sym typeface="+mn-ea"/>
              </a:rPr>
              <a:t>，将其中叫较小者插入到</a:t>
            </a:r>
            <a:r>
              <a:rPr lang="en-US" altLang="zh-CN" sz="3200" dirty="0">
                <a:solidFill>
                  <a:srgbClr val="008080"/>
                </a:solidFill>
                <a:latin typeface="楷体_GB2312" pitchFamily="49" charset="-122"/>
                <a:ea typeface="楷体_GB2312" pitchFamily="49" charset="-122"/>
                <a:sym typeface="+mn-ea"/>
              </a:rPr>
              <a:t>LC</a:t>
            </a:r>
            <a:r>
              <a:rPr lang="zh-CN" altLang="en-US" sz="3200" dirty="0">
                <a:solidFill>
                  <a:srgbClr val="008080"/>
                </a:solidFill>
                <a:latin typeface="楷体_GB2312" pitchFamily="49" charset="-122"/>
                <a:ea typeface="楷体_GB2312" pitchFamily="49" charset="-122"/>
                <a:sym typeface="+mn-ea"/>
              </a:rPr>
              <a:t>中。被插入元素所在线性表下次取的元素序号加</a:t>
            </a:r>
            <a:r>
              <a:rPr lang="en-US" altLang="zh-CN" sz="3200" dirty="0">
                <a:solidFill>
                  <a:srgbClr val="008080"/>
                </a:solidFill>
                <a:latin typeface="楷体_GB2312" pitchFamily="49" charset="-122"/>
                <a:ea typeface="楷体_GB2312" pitchFamily="49" charset="-122"/>
                <a:sym typeface="+mn-ea"/>
              </a:rPr>
              <a:t>1</a:t>
            </a:r>
            <a:r>
              <a:rPr lang="zh-CN" altLang="en-US" sz="3200" dirty="0">
                <a:solidFill>
                  <a:srgbClr val="008080"/>
                </a:solidFill>
                <a:latin typeface="楷体_GB2312" pitchFamily="49" charset="-122"/>
                <a:ea typeface="楷体_GB2312" pitchFamily="49" charset="-122"/>
                <a:sym typeface="+mn-ea"/>
              </a:rPr>
              <a:t>。一直到两个线性表中元素取完为止。</a:t>
            </a:r>
          </a:p>
        </p:txBody>
      </p:sp>
      <p:sp>
        <p:nvSpPr>
          <p:cNvPr id="3" name="文本框 2"/>
          <p:cNvSpPr txBox="1"/>
          <p:nvPr/>
        </p:nvSpPr>
        <p:spPr>
          <a:xfrm>
            <a:off x="2409191" y="404495"/>
            <a:ext cx="4161155" cy="645160"/>
          </a:xfrm>
          <a:prstGeom prst="rect">
            <a:avLst/>
          </a:prstGeom>
          <a:noFill/>
        </p:spPr>
        <p:txBody>
          <a:bodyPr wrap="square" rtlCol="0">
            <a:spAutoFit/>
          </a:bodyPr>
          <a:lstStyle/>
          <a:p>
            <a:r>
              <a:rPr lang="zh-CN" altLang="zh-CN" dirty="0">
                <a:solidFill>
                  <a:srgbClr val="3333CC"/>
                </a:solidFill>
                <a:latin typeface="楷体_GB2312" pitchFamily="49" charset="-122"/>
                <a:ea typeface="楷体_GB2312" pitchFamily="49" charset="-122"/>
                <a:sym typeface="+mn-ea"/>
              </a:rPr>
              <a:t>上述问题可演绎为：</a:t>
            </a:r>
            <a:endParaRPr lang="zh-CN" altLang="en-US"/>
          </a:p>
        </p:txBody>
      </p:sp>
    </p:spTree>
  </p:cSld>
  <p:clrMapOvr>
    <a:masterClrMapping/>
  </p:clrMapOvr>
  <p:transition>
    <p:strips dir="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Text Box 3"/>
          <p:cNvSpPr txBox="1"/>
          <p:nvPr/>
        </p:nvSpPr>
        <p:spPr>
          <a:xfrm>
            <a:off x="407368" y="141289"/>
            <a:ext cx="11449272" cy="6710748"/>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0000"/>
              </a:lnSpc>
              <a:spcBef>
                <a:spcPct val="0"/>
              </a:spcBef>
              <a:buClrTx/>
              <a:buNone/>
            </a:pPr>
            <a:r>
              <a:rPr lang="zh-CN" altLang="zh-CN" sz="2400" b="1" dirty="0">
                <a:solidFill>
                  <a:schemeClr val="tx2"/>
                </a:solidFill>
                <a:ea typeface="楷体_GB2312" pitchFamily="49" charset="-122"/>
              </a:rPr>
              <a:t>void</a:t>
            </a:r>
            <a:r>
              <a:rPr lang="zh-CN" altLang="zh-CN" sz="2400" dirty="0">
                <a:solidFill>
                  <a:schemeClr val="tx2"/>
                </a:solidFill>
                <a:ea typeface="楷体_GB2312" pitchFamily="49" charset="-122"/>
              </a:rPr>
              <a:t> </a:t>
            </a:r>
            <a:r>
              <a:rPr lang="en-US" altLang="zh-CN" sz="2400" dirty="0">
                <a:solidFill>
                  <a:schemeClr val="tx2"/>
                </a:solidFill>
                <a:ea typeface="楷体_GB2312" pitchFamily="49" charset="-122"/>
              </a:rPr>
              <a:t>MergeList</a:t>
            </a:r>
            <a:r>
              <a:rPr lang="zh-CN" altLang="zh-CN" sz="2400" dirty="0">
                <a:solidFill>
                  <a:schemeClr val="tx2"/>
                </a:solidFill>
                <a:ea typeface="楷体_GB2312" pitchFamily="49" charset="-122"/>
              </a:rPr>
              <a:t>(List La, List Lb) </a:t>
            </a:r>
            <a:r>
              <a:rPr lang="zh-CN" altLang="zh-CN" sz="2400" b="1" dirty="0">
                <a:solidFill>
                  <a:schemeClr val="tx2"/>
                </a:solidFill>
                <a:ea typeface="楷体_GB2312" pitchFamily="49" charset="-122"/>
              </a:rPr>
              <a:t>{</a:t>
            </a:r>
            <a:endParaRPr lang="zh-CN" altLang="zh-CN" sz="2400" dirty="0">
              <a:ea typeface="楷体_GB2312" pitchFamily="49" charset="-122"/>
            </a:endParaRPr>
          </a:p>
          <a:p>
            <a:pPr marL="0" indent="0" eaLnBrk="1" hangingPunct="1">
              <a:lnSpc>
                <a:spcPct val="120000"/>
              </a:lnSpc>
              <a:spcBef>
                <a:spcPct val="0"/>
              </a:spcBef>
              <a:buClrTx/>
              <a:buNone/>
            </a:pPr>
            <a:r>
              <a:rPr lang="zh-CN" altLang="zh-CN" sz="2400" dirty="0">
                <a:ea typeface="楷体_GB2312" pitchFamily="49" charset="-122"/>
              </a:rPr>
              <a:t>    </a:t>
            </a:r>
            <a:r>
              <a:rPr lang="en-US" altLang="zh-CN" sz="2400" dirty="0">
                <a:ea typeface="楷体_GB2312" pitchFamily="49" charset="-122"/>
              </a:rPr>
              <a:t> Lc = </a:t>
            </a:r>
            <a:r>
              <a:rPr lang="en-US" altLang="zh-CN" sz="2400" dirty="0" err="1">
                <a:ea typeface="楷体_GB2312" pitchFamily="49" charset="-122"/>
              </a:rPr>
              <a:t>InitList</a:t>
            </a:r>
            <a:r>
              <a:rPr lang="en-US" altLang="zh-CN" sz="2400" dirty="0">
                <a:ea typeface="楷体_GB2312" pitchFamily="49" charset="-122"/>
              </a:rPr>
              <a:t>();</a:t>
            </a:r>
            <a:endParaRPr lang="zh-CN" altLang="zh-CN" sz="2400" dirty="0">
              <a:ea typeface="楷体_GB2312" pitchFamily="49" charset="-122"/>
            </a:endParaRPr>
          </a:p>
          <a:p>
            <a:pPr marL="0" indent="0" eaLnBrk="1" hangingPunct="1">
              <a:lnSpc>
                <a:spcPct val="120000"/>
              </a:lnSpc>
              <a:spcBef>
                <a:spcPct val="0"/>
              </a:spcBef>
              <a:buClrTx/>
              <a:buNone/>
            </a:pPr>
            <a:r>
              <a:rPr lang="zh-CN" altLang="zh-CN" sz="2400" dirty="0">
                <a:ea typeface="楷体_GB2312" pitchFamily="49" charset="-122"/>
              </a:rPr>
              <a:t> </a:t>
            </a:r>
            <a:r>
              <a:rPr lang="en-US" altLang="zh-CN" sz="2400" dirty="0">
                <a:ea typeface="楷体_GB2312" pitchFamily="49" charset="-122"/>
              </a:rPr>
              <a:t>    m</a:t>
            </a:r>
            <a:r>
              <a:rPr lang="zh-CN" altLang="zh-CN" sz="2400" dirty="0">
                <a:ea typeface="楷体_GB2312" pitchFamily="49" charset="-122"/>
              </a:rPr>
              <a:t>= </a:t>
            </a:r>
            <a:r>
              <a:rPr lang="zh-CN" altLang="zh-CN" sz="2400" dirty="0">
                <a:solidFill>
                  <a:srgbClr val="333399"/>
                </a:solidFill>
                <a:ea typeface="楷体_GB2312" pitchFamily="49" charset="-122"/>
              </a:rPr>
              <a:t>ListLen(La)</a:t>
            </a:r>
            <a:r>
              <a:rPr lang="zh-CN" altLang="zh-CN" sz="2400" dirty="0">
                <a:ea typeface="楷体_GB2312" pitchFamily="49" charset="-122"/>
              </a:rPr>
              <a:t>;    </a:t>
            </a:r>
            <a:r>
              <a:rPr lang="zh-CN" altLang="zh-CN" sz="1600" dirty="0">
                <a:ea typeface="楷体_GB2312" pitchFamily="49" charset="-122"/>
              </a:rPr>
              <a:t>// </a:t>
            </a:r>
            <a:r>
              <a:rPr lang="zh-CN" altLang="zh-CN" sz="1600" b="1" dirty="0">
                <a:ea typeface="楷体_GB2312" pitchFamily="49" charset="-122"/>
              </a:rPr>
              <a:t>求线性表的长度</a:t>
            </a:r>
            <a:endParaRPr lang="zh-CN" altLang="zh-CN" sz="2400" dirty="0">
              <a:ea typeface="楷体_GB2312" pitchFamily="49" charset="-122"/>
            </a:endParaRPr>
          </a:p>
          <a:p>
            <a:pPr marL="0" indent="0" eaLnBrk="1" hangingPunct="1">
              <a:lnSpc>
                <a:spcPct val="120000"/>
              </a:lnSpc>
              <a:spcBef>
                <a:spcPct val="0"/>
              </a:spcBef>
              <a:buClrTx/>
              <a:buNone/>
            </a:pPr>
            <a:r>
              <a:rPr lang="zh-CN" altLang="zh-CN" sz="2400" dirty="0">
                <a:ea typeface="楷体_GB2312" pitchFamily="49" charset="-122"/>
              </a:rPr>
              <a:t>    </a:t>
            </a:r>
            <a:r>
              <a:rPr lang="en-US" altLang="zh-CN" sz="2400" dirty="0">
                <a:ea typeface="楷体_GB2312" pitchFamily="49" charset="-122"/>
              </a:rPr>
              <a:t> n</a:t>
            </a:r>
            <a:r>
              <a:rPr lang="zh-CN" altLang="zh-CN" sz="2400" dirty="0">
                <a:ea typeface="楷体_GB2312" pitchFamily="49" charset="-122"/>
              </a:rPr>
              <a:t>= </a:t>
            </a:r>
            <a:r>
              <a:rPr lang="zh-CN" altLang="zh-CN" sz="2400" dirty="0">
                <a:solidFill>
                  <a:srgbClr val="333399"/>
                </a:solidFill>
                <a:ea typeface="楷体_GB2312" pitchFamily="49" charset="-122"/>
              </a:rPr>
              <a:t>ListLen(Lb)</a:t>
            </a:r>
            <a:r>
              <a:rPr lang="zh-CN" altLang="zh-CN" sz="2400" dirty="0">
                <a:ea typeface="楷体_GB2312" pitchFamily="49" charset="-122"/>
              </a:rPr>
              <a:t>; </a:t>
            </a:r>
          </a:p>
          <a:p>
            <a:pPr marL="0" indent="0" eaLnBrk="1" hangingPunct="1">
              <a:lnSpc>
                <a:spcPct val="120000"/>
              </a:lnSpc>
              <a:spcBef>
                <a:spcPct val="0"/>
              </a:spcBef>
              <a:buClrTx/>
              <a:buNone/>
            </a:pPr>
            <a:r>
              <a:rPr lang="zh-CN" altLang="zh-CN" sz="2400" dirty="0">
                <a:ea typeface="楷体_GB2312" pitchFamily="49" charset="-122"/>
              </a:rPr>
              <a:t> </a:t>
            </a:r>
            <a:r>
              <a:rPr lang="en-US" altLang="zh-CN" sz="2400" dirty="0">
                <a:ea typeface="楷体_GB2312" pitchFamily="49" charset="-122"/>
              </a:rPr>
              <a:t>    i= j=1;k=0;</a:t>
            </a:r>
          </a:p>
          <a:p>
            <a:pPr marL="0" indent="0" eaLnBrk="1" hangingPunct="1">
              <a:lnSpc>
                <a:spcPct val="120000"/>
              </a:lnSpc>
              <a:spcBef>
                <a:spcPct val="0"/>
              </a:spcBef>
              <a:buClrTx/>
              <a:buNone/>
            </a:pPr>
            <a:endParaRPr lang="en-US" altLang="zh-CN" sz="2400" dirty="0">
              <a:ea typeface="楷体_GB2312" pitchFamily="49" charset="-122"/>
            </a:endParaRPr>
          </a:p>
          <a:p>
            <a:pPr marL="0" indent="0" eaLnBrk="1" hangingPunct="1">
              <a:lnSpc>
                <a:spcPct val="120000"/>
              </a:lnSpc>
              <a:spcBef>
                <a:spcPct val="0"/>
              </a:spcBef>
              <a:buClrTx/>
              <a:buNone/>
            </a:pPr>
            <a:r>
              <a:rPr lang="en-US" altLang="zh-CN" sz="2400" dirty="0">
                <a:ea typeface="楷体_GB2312" pitchFamily="49" charset="-122"/>
              </a:rPr>
              <a:t>     while(</a:t>
            </a:r>
            <a:r>
              <a:rPr lang="en-US" altLang="zh-CN" sz="2400" dirty="0" err="1">
                <a:ea typeface="楷体_GB2312" pitchFamily="49" charset="-122"/>
              </a:rPr>
              <a:t>i</a:t>
            </a:r>
            <a:r>
              <a:rPr lang="en-US" altLang="zh-CN" sz="2400" dirty="0">
                <a:ea typeface="楷体_GB2312" pitchFamily="49" charset="-122"/>
              </a:rPr>
              <a:t>&lt;=m&amp;&amp;j&lt;=n){//La,Lb</a:t>
            </a:r>
            <a:r>
              <a:rPr lang="zh-CN" altLang="en-US" sz="2400" dirty="0">
                <a:ea typeface="楷体_GB2312" pitchFamily="49" charset="-122"/>
              </a:rPr>
              <a:t>均非空</a:t>
            </a:r>
          </a:p>
          <a:p>
            <a:pPr marL="0" indent="0" eaLnBrk="1" hangingPunct="1">
              <a:lnSpc>
                <a:spcPct val="120000"/>
              </a:lnSpc>
              <a:spcBef>
                <a:spcPct val="0"/>
              </a:spcBef>
              <a:buClrTx/>
              <a:buNone/>
            </a:pPr>
            <a:r>
              <a:rPr lang="zh-CN" altLang="en-US" sz="2400" dirty="0">
                <a:ea typeface="楷体_GB2312" pitchFamily="49" charset="-122"/>
              </a:rPr>
              <a:t> </a:t>
            </a:r>
            <a:r>
              <a:rPr lang="en-US" altLang="zh-CN" sz="2400" dirty="0">
                <a:ea typeface="楷体_GB2312" pitchFamily="49" charset="-122"/>
              </a:rPr>
              <a:t>       a=</a:t>
            </a:r>
            <a:r>
              <a:rPr lang="zh-CN" altLang="zh-CN" sz="2400" dirty="0">
                <a:solidFill>
                  <a:srgbClr val="333399"/>
                </a:solidFill>
                <a:ea typeface="楷体_GB2312" pitchFamily="49" charset="-122"/>
              </a:rPr>
              <a:t>GetElem</a:t>
            </a:r>
            <a:r>
              <a:rPr lang="en-US" altLang="zh-CN" sz="2400" dirty="0">
                <a:ea typeface="楷体_GB2312" pitchFamily="49" charset="-122"/>
              </a:rPr>
              <a:t>(</a:t>
            </a:r>
            <a:r>
              <a:rPr lang="en-US" altLang="zh-CN" sz="2400" dirty="0" err="1">
                <a:ea typeface="楷体_GB2312" pitchFamily="49" charset="-122"/>
              </a:rPr>
              <a:t>La,i</a:t>
            </a:r>
            <a:r>
              <a:rPr lang="en-US" altLang="zh-CN" sz="2400" dirty="0">
                <a:ea typeface="楷体_GB2312" pitchFamily="49" charset="-122"/>
              </a:rPr>
              <a:t>); b=</a:t>
            </a:r>
            <a:r>
              <a:rPr lang="zh-CN" altLang="zh-CN" sz="2400" dirty="0">
                <a:solidFill>
                  <a:srgbClr val="333399"/>
                </a:solidFill>
                <a:ea typeface="楷体_GB2312" pitchFamily="49" charset="-122"/>
              </a:rPr>
              <a:t>GetElem(</a:t>
            </a:r>
            <a:r>
              <a:rPr lang="en-US" altLang="zh-CN" sz="2400" dirty="0" err="1">
                <a:ea typeface="楷体_GB2312" pitchFamily="49" charset="-122"/>
              </a:rPr>
              <a:t>Lb,j</a:t>
            </a:r>
            <a:r>
              <a:rPr lang="en-US" altLang="zh-CN" sz="2400" dirty="0">
                <a:ea typeface="楷体_GB2312" pitchFamily="49" charset="-122"/>
              </a:rPr>
              <a:t>);</a:t>
            </a:r>
          </a:p>
          <a:p>
            <a:pPr marL="0" indent="0" eaLnBrk="1" hangingPunct="1">
              <a:lnSpc>
                <a:spcPct val="120000"/>
              </a:lnSpc>
              <a:spcBef>
                <a:spcPct val="0"/>
              </a:spcBef>
              <a:buClrTx/>
              <a:buNone/>
            </a:pPr>
            <a:r>
              <a:rPr lang="en-US" altLang="zh-CN" sz="2400" dirty="0">
                <a:ea typeface="楷体_GB2312" pitchFamily="49" charset="-122"/>
              </a:rPr>
              <a:t>        if(a&lt;=b)  {</a:t>
            </a:r>
            <a:r>
              <a:rPr lang="zh-CN" altLang="zh-CN" sz="2400" dirty="0">
                <a:solidFill>
                  <a:srgbClr val="333399"/>
                </a:solidFill>
                <a:ea typeface="楷体_GB2312" pitchFamily="49" charset="-122"/>
              </a:rPr>
              <a:t>ListInsert</a:t>
            </a:r>
            <a:r>
              <a:rPr lang="en-US" altLang="zh-CN" sz="2400" dirty="0">
                <a:ea typeface="楷体_GB2312" pitchFamily="49" charset="-122"/>
              </a:rPr>
              <a:t>(Lc,++</a:t>
            </a:r>
            <a:r>
              <a:rPr lang="en-US" altLang="zh-CN" sz="2400" dirty="0" err="1">
                <a:ea typeface="楷体_GB2312" pitchFamily="49" charset="-122"/>
              </a:rPr>
              <a:t>k,a</a:t>
            </a:r>
            <a:r>
              <a:rPr lang="en-US" altLang="zh-CN" sz="2400" dirty="0">
                <a:ea typeface="楷体_GB2312" pitchFamily="49" charset="-122"/>
              </a:rPr>
              <a:t>); ++i;}</a:t>
            </a:r>
          </a:p>
          <a:p>
            <a:pPr marL="0" indent="0" eaLnBrk="1" hangingPunct="1">
              <a:lnSpc>
                <a:spcPct val="120000"/>
              </a:lnSpc>
              <a:spcBef>
                <a:spcPct val="0"/>
              </a:spcBef>
              <a:buClrTx/>
              <a:buNone/>
            </a:pPr>
            <a:r>
              <a:rPr lang="en-US" altLang="zh-CN" sz="2400" dirty="0">
                <a:ea typeface="楷体_GB2312" pitchFamily="49" charset="-122"/>
              </a:rPr>
              <a:t>        else </a:t>
            </a:r>
            <a:r>
              <a:rPr lang="en-US" altLang="zh-CN" sz="2400" dirty="0">
                <a:ea typeface="楷体_GB2312" pitchFamily="49" charset="-122"/>
                <a:sym typeface="+mn-ea"/>
              </a:rPr>
              <a:t>{</a:t>
            </a:r>
            <a:r>
              <a:rPr lang="zh-CN" altLang="zh-CN" sz="2400" dirty="0">
                <a:solidFill>
                  <a:srgbClr val="333399"/>
                </a:solidFill>
                <a:ea typeface="楷体_GB2312" pitchFamily="49" charset="-122"/>
                <a:sym typeface="+mn-ea"/>
              </a:rPr>
              <a:t>ListInsert</a:t>
            </a:r>
            <a:r>
              <a:rPr lang="en-US" altLang="zh-CN" sz="2400" dirty="0">
                <a:ea typeface="楷体_GB2312" pitchFamily="49" charset="-122"/>
                <a:sym typeface="+mn-ea"/>
              </a:rPr>
              <a:t>(Lc,++</a:t>
            </a:r>
            <a:r>
              <a:rPr lang="en-US" altLang="zh-CN" sz="2400" dirty="0" err="1">
                <a:ea typeface="楷体_GB2312" pitchFamily="49" charset="-122"/>
                <a:sym typeface="+mn-ea"/>
              </a:rPr>
              <a:t>k,b</a:t>
            </a:r>
            <a:r>
              <a:rPr lang="en-US" altLang="zh-CN" sz="2400" dirty="0">
                <a:ea typeface="楷体_GB2312" pitchFamily="49" charset="-122"/>
                <a:sym typeface="+mn-ea"/>
              </a:rPr>
              <a:t>); ++j;}</a:t>
            </a:r>
            <a:endParaRPr lang="en-US" altLang="zh-CN" sz="2400" dirty="0">
              <a:ea typeface="楷体_GB2312" pitchFamily="49" charset="-122"/>
            </a:endParaRPr>
          </a:p>
          <a:p>
            <a:pPr marL="0" indent="0" eaLnBrk="1" hangingPunct="1">
              <a:lnSpc>
                <a:spcPct val="120000"/>
              </a:lnSpc>
              <a:spcBef>
                <a:spcPct val="0"/>
              </a:spcBef>
              <a:buClrTx/>
              <a:buNone/>
            </a:pPr>
            <a:r>
              <a:rPr lang="en-US" altLang="zh-CN" sz="2400" dirty="0">
                <a:ea typeface="楷体_GB2312" pitchFamily="49" charset="-122"/>
              </a:rPr>
              <a:t>     }</a:t>
            </a:r>
            <a:r>
              <a:rPr lang="zh-CN" altLang="zh-CN" sz="2400" dirty="0">
                <a:ea typeface="楷体_GB2312" pitchFamily="49" charset="-122"/>
              </a:rPr>
              <a:t>  </a:t>
            </a:r>
          </a:p>
          <a:p>
            <a:pPr marL="0" indent="0" eaLnBrk="1" hangingPunct="1">
              <a:lnSpc>
                <a:spcPct val="120000"/>
              </a:lnSpc>
              <a:spcBef>
                <a:spcPct val="0"/>
              </a:spcBef>
              <a:buClrTx/>
              <a:buNone/>
            </a:pPr>
            <a:r>
              <a:rPr lang="en-US" altLang="zh-CN" sz="2400" dirty="0">
                <a:ea typeface="楷体_GB2312" pitchFamily="49" charset="-122"/>
              </a:rPr>
              <a:t>     while(</a:t>
            </a:r>
            <a:r>
              <a:rPr lang="en-US" altLang="zh-CN" sz="2400" dirty="0" err="1">
                <a:ea typeface="楷体_GB2312" pitchFamily="49" charset="-122"/>
              </a:rPr>
              <a:t>i</a:t>
            </a:r>
            <a:r>
              <a:rPr lang="en-US" altLang="zh-CN" sz="2400" dirty="0">
                <a:ea typeface="楷体_GB2312" pitchFamily="49" charset="-122"/>
              </a:rPr>
              <a:t>&lt;=m) {a =</a:t>
            </a:r>
            <a:r>
              <a:rPr lang="en-US" altLang="zh-CN" sz="2400" dirty="0" err="1">
                <a:ea typeface="楷体_GB2312" pitchFamily="49" charset="-122"/>
              </a:rPr>
              <a:t>GetElem</a:t>
            </a:r>
            <a:r>
              <a:rPr lang="en-US" altLang="zh-CN" sz="2400" dirty="0">
                <a:ea typeface="楷体_GB2312" pitchFamily="49" charset="-122"/>
              </a:rPr>
              <a:t>(</a:t>
            </a:r>
            <a:r>
              <a:rPr lang="en-US" altLang="zh-CN" sz="2400" dirty="0" err="1">
                <a:ea typeface="楷体_GB2312" pitchFamily="49" charset="-122"/>
              </a:rPr>
              <a:t>La,i</a:t>
            </a:r>
            <a:r>
              <a:rPr lang="en-US" altLang="zh-CN" sz="2400" dirty="0">
                <a:ea typeface="楷体_GB2312" pitchFamily="49" charset="-122"/>
              </a:rPr>
              <a:t>++);</a:t>
            </a:r>
            <a:r>
              <a:rPr lang="zh-CN" altLang="zh-CN" sz="2400" dirty="0">
                <a:solidFill>
                  <a:srgbClr val="333399"/>
                </a:solidFill>
                <a:ea typeface="楷体_GB2312" pitchFamily="49" charset="-122"/>
                <a:sym typeface="+mn-ea"/>
              </a:rPr>
              <a:t>ListInsert</a:t>
            </a:r>
            <a:r>
              <a:rPr lang="en-US" altLang="zh-CN" sz="2400" dirty="0">
                <a:ea typeface="楷体_GB2312" pitchFamily="49" charset="-122"/>
                <a:sym typeface="+mn-ea"/>
              </a:rPr>
              <a:t>(Lc,++</a:t>
            </a:r>
            <a:r>
              <a:rPr lang="en-US" altLang="zh-CN" sz="2400" dirty="0" err="1">
                <a:ea typeface="楷体_GB2312" pitchFamily="49" charset="-122"/>
                <a:sym typeface="+mn-ea"/>
              </a:rPr>
              <a:t>k,a</a:t>
            </a:r>
            <a:r>
              <a:rPr lang="en-US" altLang="zh-CN" sz="2400" dirty="0">
                <a:ea typeface="楷体_GB2312" pitchFamily="49" charset="-122"/>
                <a:sym typeface="+mn-ea"/>
              </a:rPr>
              <a:t>);</a:t>
            </a:r>
            <a:r>
              <a:rPr lang="en-US" altLang="zh-CN" sz="2400" dirty="0">
                <a:ea typeface="楷体_GB2312" pitchFamily="49" charset="-122"/>
              </a:rPr>
              <a:t>}</a:t>
            </a:r>
          </a:p>
          <a:p>
            <a:pPr marL="0" indent="0" eaLnBrk="1" hangingPunct="1">
              <a:lnSpc>
                <a:spcPct val="120000"/>
              </a:lnSpc>
              <a:spcBef>
                <a:spcPct val="0"/>
              </a:spcBef>
              <a:buClrTx/>
              <a:buNone/>
            </a:pPr>
            <a:r>
              <a:rPr lang="en-US" altLang="zh-CN" sz="2400" dirty="0">
                <a:ea typeface="楷体_GB2312" pitchFamily="49" charset="-122"/>
              </a:rPr>
              <a:t>     </a:t>
            </a:r>
            <a:r>
              <a:rPr lang="en-US" altLang="zh-CN" sz="2400" dirty="0">
                <a:ea typeface="楷体_GB2312" pitchFamily="49" charset="-122"/>
                <a:sym typeface="+mn-ea"/>
              </a:rPr>
              <a:t>while(j&lt;=n) {b=</a:t>
            </a:r>
            <a:r>
              <a:rPr lang="en-US" altLang="zh-CN" sz="2400" dirty="0" err="1">
                <a:ea typeface="楷体_GB2312" pitchFamily="49" charset="-122"/>
                <a:sym typeface="+mn-ea"/>
              </a:rPr>
              <a:t>GetElem</a:t>
            </a:r>
            <a:r>
              <a:rPr lang="en-US" altLang="zh-CN" sz="2400" dirty="0">
                <a:ea typeface="楷体_GB2312" pitchFamily="49" charset="-122"/>
                <a:sym typeface="+mn-ea"/>
              </a:rPr>
              <a:t>(</a:t>
            </a:r>
            <a:r>
              <a:rPr lang="en-US" altLang="zh-CN" sz="2400" dirty="0" err="1">
                <a:ea typeface="楷体_GB2312" pitchFamily="49" charset="-122"/>
                <a:sym typeface="+mn-ea"/>
              </a:rPr>
              <a:t>Lb,j</a:t>
            </a:r>
            <a:r>
              <a:rPr lang="en-US" altLang="zh-CN" sz="2400" dirty="0">
                <a:ea typeface="楷体_GB2312" pitchFamily="49" charset="-122"/>
                <a:sym typeface="+mn-ea"/>
              </a:rPr>
              <a:t>++);</a:t>
            </a:r>
            <a:r>
              <a:rPr lang="zh-CN" altLang="zh-CN" sz="2400" dirty="0">
                <a:solidFill>
                  <a:srgbClr val="333399"/>
                </a:solidFill>
                <a:ea typeface="楷体_GB2312" pitchFamily="49" charset="-122"/>
                <a:sym typeface="+mn-ea"/>
              </a:rPr>
              <a:t>ListInsert</a:t>
            </a:r>
            <a:r>
              <a:rPr lang="en-US" altLang="zh-CN" sz="2400" dirty="0">
                <a:ea typeface="楷体_GB2312" pitchFamily="49" charset="-122"/>
                <a:sym typeface="+mn-ea"/>
              </a:rPr>
              <a:t>(Lc,++</a:t>
            </a:r>
            <a:r>
              <a:rPr lang="en-US" altLang="zh-CN" sz="2400" dirty="0" err="1">
                <a:ea typeface="楷体_GB2312" pitchFamily="49" charset="-122"/>
                <a:sym typeface="+mn-ea"/>
              </a:rPr>
              <a:t>k,b</a:t>
            </a:r>
            <a:r>
              <a:rPr lang="en-US" altLang="zh-CN" sz="2400" dirty="0">
                <a:ea typeface="楷体_GB2312" pitchFamily="49" charset="-122"/>
                <a:sym typeface="+mn-ea"/>
              </a:rPr>
              <a:t>);}</a:t>
            </a:r>
          </a:p>
          <a:p>
            <a:pPr marL="0" indent="0" eaLnBrk="1" hangingPunct="1">
              <a:lnSpc>
                <a:spcPct val="120000"/>
              </a:lnSpc>
              <a:spcBef>
                <a:spcPct val="0"/>
              </a:spcBef>
              <a:buClrTx/>
              <a:buNone/>
            </a:pPr>
            <a:r>
              <a:rPr lang="en-US" altLang="zh-CN" sz="2400" dirty="0">
                <a:ea typeface="楷体_GB2312" pitchFamily="49" charset="-122"/>
              </a:rPr>
              <a:t>     return Lc;</a:t>
            </a:r>
          </a:p>
          <a:p>
            <a:pPr marL="0" indent="0" eaLnBrk="1" hangingPunct="1">
              <a:lnSpc>
                <a:spcPct val="120000"/>
              </a:lnSpc>
              <a:spcBef>
                <a:spcPct val="0"/>
              </a:spcBef>
              <a:buClrTx/>
              <a:buNone/>
            </a:pPr>
            <a:endParaRPr lang="en-US" altLang="zh-CN" sz="2400" dirty="0">
              <a:ea typeface="楷体_GB2312" pitchFamily="49" charset="-122"/>
            </a:endParaRPr>
          </a:p>
        </p:txBody>
      </p:sp>
      <p:sp>
        <p:nvSpPr>
          <p:cNvPr id="29702" name="Text Box 6"/>
          <p:cNvSpPr txBox="1"/>
          <p:nvPr/>
        </p:nvSpPr>
        <p:spPr>
          <a:xfrm>
            <a:off x="382488" y="6336030"/>
            <a:ext cx="2174240" cy="52197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2800" b="1" dirty="0">
                <a:solidFill>
                  <a:schemeClr val="tx2"/>
                </a:solidFill>
                <a:ea typeface="楷体_GB2312" pitchFamily="49" charset="-122"/>
              </a:rPr>
              <a:t>}</a:t>
            </a:r>
            <a:r>
              <a:rPr lang="zh-CN" altLang="zh-CN" sz="2800" dirty="0">
                <a:solidFill>
                  <a:schemeClr val="tx2"/>
                </a:solidFill>
                <a:ea typeface="楷体_GB2312" pitchFamily="49" charset="-122"/>
              </a:rPr>
              <a:t> // </a:t>
            </a:r>
            <a:r>
              <a:rPr lang="en-US" altLang="zh-CN" sz="2800" dirty="0">
                <a:solidFill>
                  <a:schemeClr val="tx2"/>
                </a:solidFill>
                <a:ea typeface="楷体_GB2312" pitchFamily="49" charset="-122"/>
              </a:rPr>
              <a:t>MergeList</a:t>
            </a:r>
          </a:p>
        </p:txBody>
      </p:sp>
      <p:sp>
        <p:nvSpPr>
          <p:cNvPr id="29703" name="AutoShape 7">
            <a:hlinkClick r:id="rId2" action="ppaction://hlinksldjump"/>
          </p:cNvPr>
          <p:cNvSpPr/>
          <p:nvPr/>
        </p:nvSpPr>
        <p:spPr>
          <a:xfrm>
            <a:off x="10058400" y="6248400"/>
            <a:ext cx="381000" cy="381000"/>
          </a:xfrm>
          <a:prstGeom prst="actionButtonBackPrevious">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iterate type="wd">
                                    <p:tmPct val="100000"/>
                                  </p:iterate>
                                  <p:childTnLst>
                                    <p:set>
                                      <p:cBhvr>
                                        <p:cTn id="6" dur="1" fill="hold">
                                          <p:stCondLst>
                                            <p:cond delay="0"/>
                                          </p:stCondLst>
                                        </p:cTn>
                                        <p:tgtEl>
                                          <p:spTgt spid="29699"/>
                                        </p:tgtEl>
                                        <p:attrNameLst>
                                          <p:attrName>style.visibility</p:attrName>
                                        </p:attrNameLst>
                                      </p:cBhvr>
                                      <p:to>
                                        <p:strVal val="visible"/>
                                      </p:to>
                                    </p:set>
                                    <p:animEffect transition="in" filter="wipe(left)">
                                      <p:cBhvr>
                                        <p:cTn id="7" dur="300"/>
                                        <p:tgtEl>
                                          <p:spTgt spid="29699"/>
                                        </p:tgtEl>
                                      </p:cBhvr>
                                    </p:animEffect>
                                  </p:childTnLst>
                                </p:cTn>
                              </p:par>
                            </p:childTnLst>
                          </p:cTn>
                        </p:par>
                        <p:par>
                          <p:cTn id="8" fill="hold">
                            <p:stCondLst>
                              <p:cond delay="73500"/>
                            </p:stCondLst>
                            <p:childTnLst>
                              <p:par>
                                <p:cTn id="9" presetID="22" presetClass="entr" presetSubtype="8" fill="hold" nodeType="afterEffect">
                                  <p:stCondLst>
                                    <p:cond delay="0"/>
                                  </p:stCondLst>
                                  <p:iterate type="wd">
                                    <p:tmPct val="100000"/>
                                  </p:iterate>
                                  <p:childTnLst>
                                    <p:set>
                                      <p:cBhvr>
                                        <p:cTn id="10" dur="1" fill="hold">
                                          <p:stCondLst>
                                            <p:cond delay="0"/>
                                          </p:stCondLst>
                                        </p:cTn>
                                        <p:tgtEl>
                                          <p:spTgt spid="29702"/>
                                        </p:tgtEl>
                                        <p:attrNameLst>
                                          <p:attrName>style.visibility</p:attrName>
                                        </p:attrNameLst>
                                      </p:cBhvr>
                                      <p:to>
                                        <p:strVal val="visible"/>
                                      </p:to>
                                    </p:set>
                                    <p:animEffect transition="in" filter="wipe(left)">
                                      <p:cBhvr>
                                        <p:cTn id="11" dur="300"/>
                                        <p:tgtEl>
                                          <p:spTgt spid="29702"/>
                                        </p:tgtEl>
                                      </p:cBhvr>
                                    </p:animEffect>
                                  </p:childTnLst>
                                </p:cTn>
                              </p:par>
                            </p:childTnLst>
                          </p:cTn>
                        </p:par>
                        <p:par>
                          <p:cTn id="12" fill="hold">
                            <p:stCondLst>
                              <p:cond delay="74700"/>
                            </p:stCondLst>
                            <p:childTnLst>
                              <p:par>
                                <p:cTn id="13" presetID="2" presetClass="entr" presetSubtype="6" fill="hold" nodeType="afterEffect">
                                  <p:stCondLst>
                                    <p:cond delay="0"/>
                                  </p:stCondLst>
                                  <p:childTnLst>
                                    <p:set>
                                      <p:cBhvr>
                                        <p:cTn id="14" dur="1" fill="hold">
                                          <p:stCondLst>
                                            <p:cond delay="0"/>
                                          </p:stCondLst>
                                        </p:cTn>
                                        <p:tgtEl>
                                          <p:spTgt spid="29703"/>
                                        </p:tgtEl>
                                        <p:attrNameLst>
                                          <p:attrName>style.visibility</p:attrName>
                                        </p:attrNameLst>
                                      </p:cBhvr>
                                      <p:to>
                                        <p:strVal val="visible"/>
                                      </p:to>
                                    </p:set>
                                    <p:anim calcmode="lin" valueType="num">
                                      <p:cBhvr additive="base">
                                        <p:cTn id="15" dur="500" fill="hold"/>
                                        <p:tgtEl>
                                          <p:spTgt spid="29703"/>
                                        </p:tgtEl>
                                        <p:attrNameLst>
                                          <p:attrName>ppt_x</p:attrName>
                                        </p:attrNameLst>
                                      </p:cBhvr>
                                      <p:tavLst>
                                        <p:tav tm="0">
                                          <p:val>
                                            <p:strVal val="1+#ppt_w/2"/>
                                          </p:val>
                                        </p:tav>
                                        <p:tav tm="100000">
                                          <p:val>
                                            <p:strVal val="#ppt_x"/>
                                          </p:val>
                                        </p:tav>
                                      </p:tavLst>
                                    </p:anim>
                                    <p:anim calcmode="lin" valueType="num">
                                      <p:cBhvr additive="base">
                                        <p:cTn id="16" dur="500" fill="hold"/>
                                        <p:tgtEl>
                                          <p:spTgt spid="297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29702" grpId="0"/>
      <p:bldP spid="2970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8" name="Rectangle 4"/>
          <p:cNvSpPr>
            <a:spLocks noChangeArrowheads="1"/>
          </p:cNvSpPr>
          <p:nvPr/>
        </p:nvSpPr>
        <p:spPr bwMode="auto">
          <a:xfrm>
            <a:off x="1524000" y="1773239"/>
            <a:ext cx="9144000" cy="2808287"/>
          </a:xfrm>
          <a:prstGeom prst="rect">
            <a:avLst/>
          </a:prstGeom>
          <a:noFill/>
          <a:ln w="9525">
            <a:noFill/>
            <a:miter lim="800000"/>
          </a:ln>
          <a:effectLst/>
        </p:spPr>
        <p:txBody>
          <a:bodyPr/>
          <a:lstStyle/>
          <a:p>
            <a:pPr marL="342900" indent="-342900" algn="ctr">
              <a:defRPr/>
            </a:pPr>
            <a:r>
              <a:rPr lang="zh-CN" altLang="en-US" sz="4800" dirty="0">
                <a:solidFill>
                  <a:schemeClr val="hlink"/>
                </a:solidFill>
                <a:effectLst>
                  <a:outerShdw blurRad="38100" dist="38100" dir="2700000" algn="tl">
                    <a:srgbClr val="C0C0C0"/>
                  </a:outerShdw>
                </a:effectLst>
                <a:latin typeface="Times New Roman" panose="02020603050405020304" pitchFamily="18" charset="0"/>
                <a:ea typeface="楷体_GB2312" pitchFamily="49" charset="-122"/>
                <a:cs typeface="+mn-cs"/>
              </a:rPr>
              <a:t>线性表的顺序表示和实现</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1108">
                                            <p:txEl>
                                              <p:pRg st="0" end="0"/>
                                            </p:txEl>
                                          </p:spTgt>
                                        </p:tgtEl>
                                        <p:attrNameLst>
                                          <p:attrName>style.visibility</p:attrName>
                                        </p:attrNameLst>
                                      </p:cBhvr>
                                      <p:to>
                                        <p:strVal val="visible"/>
                                      </p:to>
                                    </p:set>
                                    <p:anim calcmode="lin" valueType="num">
                                      <p:cBhvr additive="base">
                                        <p:cTn id="7" dur="500" fill="hold"/>
                                        <p:tgtEl>
                                          <p:spTgt spid="43110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3110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8"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a:lstStyle/>
          <a:p>
            <a:pPr eaLnBrk="1" hangingPunct="1">
              <a:defRPr/>
            </a:pPr>
            <a:r>
              <a:rPr dirty="0">
                <a:solidFill>
                  <a:schemeClr val="tx2"/>
                </a:solidFill>
                <a:effectLst>
                  <a:outerShdw blurRad="38100" dist="38100" dir="2700000" algn="tl">
                    <a:srgbClr val="C0C0C0"/>
                  </a:outerShdw>
                </a:effectLst>
                <a:ea typeface="楷体_GB2312" pitchFamily="49" charset="-122"/>
              </a:rPr>
              <a:t>顺序表的定义</a:t>
            </a:r>
            <a:endParaRPr dirty="0"/>
          </a:p>
        </p:txBody>
      </p:sp>
      <p:sp>
        <p:nvSpPr>
          <p:cNvPr id="503811" name="Rectangle 3"/>
          <p:cNvSpPr>
            <a:spLocks noGrp="1" noChangeArrowheads="1"/>
          </p:cNvSpPr>
          <p:nvPr>
            <p:ph idx="1"/>
          </p:nvPr>
        </p:nvSpPr>
        <p:spPr>
          <a:xfrm>
            <a:off x="479376" y="1341438"/>
            <a:ext cx="11089231" cy="4754562"/>
          </a:xfrm>
        </p:spPr>
        <p:txBody>
          <a:bodyPr/>
          <a:lstStyle/>
          <a:p>
            <a:pPr marL="609600" indent="-609600" eaLnBrk="1" hangingPunct="1">
              <a:buNone/>
              <a:defRPr/>
            </a:pPr>
            <a:endParaRPr lang="zh-CN" altLang="en-US" sz="4000" dirty="0">
              <a:solidFill>
                <a:schemeClr val="tx2"/>
              </a:solidFill>
              <a:effectLst>
                <a:outerShdw blurRad="38100" dist="38100" dir="2700000" algn="tl">
                  <a:srgbClr val="C0C0C0"/>
                </a:outerShdw>
              </a:effectLst>
              <a:ea typeface="楷体_GB2312" pitchFamily="49" charset="-122"/>
              <a:cs typeface="+mn-cs"/>
            </a:endParaRPr>
          </a:p>
          <a:p>
            <a:pPr marL="590550" indent="-533400" eaLnBrk="1" hangingPunct="1">
              <a:buClr>
                <a:schemeClr val="hlink"/>
              </a:buClr>
              <a:buFont typeface="Wingdings" panose="05000000000000000000" pitchFamily="2" charset="2"/>
              <a:buChar char="u"/>
              <a:defRPr/>
            </a:pPr>
            <a:r>
              <a:rPr lang="zh-CN" altLang="en-US" sz="3600" dirty="0">
                <a:solidFill>
                  <a:schemeClr val="hlink"/>
                </a:solidFill>
                <a:effectLst>
                  <a:outerShdw blurRad="38100" dist="38100" dir="2700000" algn="tl">
                    <a:srgbClr val="C0C0C0"/>
                  </a:outerShdw>
                </a:effectLst>
                <a:ea typeface="仿宋_GB2312" pitchFamily="49" charset="-122"/>
                <a:cs typeface="+mn-cs"/>
              </a:rPr>
              <a:t>定义 ：</a:t>
            </a:r>
            <a:r>
              <a:rPr lang="zh-CN" altLang="en-US" sz="3600" dirty="0">
                <a:cs typeface="+mn-cs"/>
              </a:rPr>
              <a:t>把线性表的结点</a:t>
            </a:r>
            <a:r>
              <a:rPr lang="zh-CN" altLang="en-US" sz="3600" dirty="0">
                <a:solidFill>
                  <a:srgbClr val="FF0000"/>
                </a:solidFill>
                <a:cs typeface="+mn-cs"/>
              </a:rPr>
              <a:t>按逻辑顺序</a:t>
            </a:r>
            <a:r>
              <a:rPr lang="zh-CN" altLang="en-US" sz="3600" dirty="0">
                <a:cs typeface="+mn-cs"/>
              </a:rPr>
              <a:t>依次存放在</a:t>
            </a:r>
            <a:r>
              <a:rPr lang="zh-CN" altLang="en-US" sz="3600" dirty="0">
                <a:solidFill>
                  <a:srgbClr val="FF0000"/>
                </a:solidFill>
                <a:cs typeface="+mn-cs"/>
              </a:rPr>
              <a:t>一组地址连续的存储单元</a:t>
            </a:r>
            <a:r>
              <a:rPr lang="zh-CN" altLang="en-US" sz="3600" dirty="0">
                <a:cs typeface="+mn-cs"/>
              </a:rPr>
              <a:t>里。用这种方法存储的线性表简称顺序表。</a:t>
            </a:r>
            <a:r>
              <a:rPr lang="zh-CN" altLang="en-US" sz="3600" dirty="0">
                <a:effectLst>
                  <a:outerShdw blurRad="38100" dist="38100" dir="2700000" algn="tl">
                    <a:srgbClr val="C0C0C0"/>
                  </a:outerShdw>
                </a:effectLst>
                <a:ea typeface="仿宋_GB2312" pitchFamily="49" charset="-122"/>
                <a:cs typeface="+mn-cs"/>
              </a:rPr>
              <a:t>          </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03811">
                                            <p:txEl>
                                              <p:pRg st="1" end="1"/>
                                            </p:txEl>
                                          </p:spTgt>
                                        </p:tgtEl>
                                        <p:attrNameLst>
                                          <p:attrName>style.visibility</p:attrName>
                                        </p:attrNameLst>
                                      </p:cBhvr>
                                      <p:to>
                                        <p:strVal val="visible"/>
                                      </p:to>
                                    </p:set>
                                    <p:anim calcmode="lin" valueType="num">
                                      <p:cBhvr additive="base">
                                        <p:cTn id="7" dur="500" fill="hold"/>
                                        <p:tgtEl>
                                          <p:spTgt spid="503811">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0381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11"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hangingPunct="1">
              <a:defRPr/>
            </a:pPr>
            <a:r>
              <a:rPr dirty="0">
                <a:solidFill>
                  <a:schemeClr val="tx2"/>
                </a:solidFill>
                <a:effectLst>
                  <a:outerShdw blurRad="38100" dist="38100" dir="2700000" algn="tl">
                    <a:srgbClr val="C0C0C0"/>
                  </a:outerShdw>
                </a:effectLst>
                <a:ea typeface="楷体_GB2312" pitchFamily="49" charset="-122"/>
              </a:rPr>
              <a:t>顺序表的特点</a:t>
            </a:r>
            <a:endParaRPr dirty="0"/>
          </a:p>
        </p:txBody>
      </p:sp>
      <p:sp>
        <p:nvSpPr>
          <p:cNvPr id="3" name="内容占位符 2"/>
          <p:cNvSpPr>
            <a:spLocks noGrp="1"/>
          </p:cNvSpPr>
          <p:nvPr>
            <p:ph idx="1"/>
          </p:nvPr>
        </p:nvSpPr>
        <p:spPr>
          <a:xfrm>
            <a:off x="838200" y="1825625"/>
            <a:ext cx="10946432" cy="4351338"/>
          </a:xfrm>
        </p:spPr>
        <p:txBody>
          <a:bodyPr/>
          <a:lstStyle/>
          <a:p>
            <a:pPr marL="590550" indent="-533400" eaLnBrk="1" hangingPunct="1">
              <a:buClr>
                <a:schemeClr val="hlink"/>
              </a:buClr>
              <a:buFont typeface="Wingdings" panose="05000000000000000000" pitchFamily="2" charset="2"/>
              <a:buChar char="u"/>
              <a:defRPr/>
            </a:pPr>
            <a:r>
              <a:rPr lang="zh-CN" altLang="en-US" sz="3200" dirty="0">
                <a:ea typeface="仿宋_GB2312" pitchFamily="49" charset="-122"/>
                <a:cs typeface="+mn-cs"/>
              </a:rPr>
              <a:t>所有元素的逻辑先后顺序与其物理存放顺序一致</a:t>
            </a:r>
            <a:r>
              <a:rPr lang="zh-CN" altLang="en-US" sz="4000" dirty="0">
                <a:effectLst>
                  <a:outerShdw blurRad="38100" dist="38100" dir="2700000" algn="tl">
                    <a:srgbClr val="C0C0C0"/>
                  </a:outerShdw>
                </a:effectLst>
                <a:ea typeface="仿宋_GB2312" pitchFamily="49" charset="-122"/>
                <a:cs typeface="+mn-cs"/>
              </a:rPr>
              <a:t>  </a:t>
            </a:r>
            <a:endParaRPr lang="en-US" altLang="zh-CN" sz="4000" dirty="0">
              <a:effectLst>
                <a:outerShdw blurRad="38100" dist="38100" dir="2700000" algn="tl">
                  <a:srgbClr val="C0C0C0"/>
                </a:outerShdw>
              </a:effectLst>
              <a:ea typeface="仿宋_GB2312" pitchFamily="49" charset="-122"/>
              <a:cs typeface="+mn-cs"/>
            </a:endParaRPr>
          </a:p>
          <a:p>
            <a:pPr marL="590550" indent="-533400" eaLnBrk="1" hangingPunct="1">
              <a:buClr>
                <a:schemeClr val="hlink"/>
              </a:buClr>
              <a:buFont typeface="Wingdings" panose="05000000000000000000" pitchFamily="2" charset="2"/>
              <a:buChar char="u"/>
              <a:defRPr/>
            </a:pPr>
            <a:r>
              <a:rPr lang="zh-CN" altLang="en-US" sz="3200" dirty="0">
                <a:cs typeface="+mn-cs"/>
              </a:rPr>
              <a:t>数据元素之间的关系是以元素在计算机内“</a:t>
            </a:r>
            <a:r>
              <a:rPr lang="zh-CN" altLang="en-US" sz="3200" dirty="0">
                <a:solidFill>
                  <a:srgbClr val="C00000"/>
                </a:solidFill>
                <a:cs typeface="+mn-cs"/>
              </a:rPr>
              <a:t>物理位置相邻</a:t>
            </a:r>
            <a:r>
              <a:rPr lang="zh-CN" altLang="en-US" sz="3200" dirty="0">
                <a:cs typeface="+mn-cs"/>
              </a:rPr>
              <a:t>”来体现</a:t>
            </a:r>
            <a:endParaRPr lang="zh-CN" altLang="en-US" sz="3200" dirty="0">
              <a:solidFill>
                <a:srgbClr val="FF6600"/>
              </a:solidFill>
              <a:effectLst>
                <a:outerShdw blurRad="38100" dist="38100" dir="2700000" algn="tl">
                  <a:srgbClr val="C0C0C0"/>
                </a:outerShdw>
              </a:effectLst>
              <a:ea typeface="仿宋_GB2312" pitchFamily="49" charset="-122"/>
              <a:cs typeface="+mn-cs"/>
            </a:endParaRPr>
          </a:p>
          <a:p>
            <a:pPr marL="590550" indent="-533400" eaLnBrk="1" hangingPunct="1">
              <a:buClr>
                <a:schemeClr val="hlink"/>
              </a:buClr>
              <a:buFont typeface="Wingdings" panose="05000000000000000000" pitchFamily="2" charset="2"/>
              <a:buChar char="u"/>
              <a:defRPr/>
            </a:pPr>
            <a:r>
              <a:rPr lang="zh-CN" altLang="en-US" sz="3200" dirty="0">
                <a:effectLst>
                  <a:outerShdw blurRad="38100" dist="38100" dir="2700000" algn="tl">
                    <a:srgbClr val="C0C0C0"/>
                  </a:outerShdw>
                </a:effectLst>
                <a:ea typeface="仿宋_GB2312" pitchFamily="49" charset="-122"/>
                <a:cs typeface="+mn-cs"/>
              </a:rPr>
              <a:t>可利用一维数组描述存储结构，采用线性表的顺序存储方式</a:t>
            </a:r>
            <a:endParaRPr lang="en-US" altLang="zh-CN" sz="3200" dirty="0">
              <a:effectLst>
                <a:outerShdw blurRad="38100" dist="38100" dir="2700000" algn="tl">
                  <a:srgbClr val="C0C0C0"/>
                </a:outerShdw>
              </a:effectLst>
              <a:ea typeface="仿宋_GB2312" pitchFamily="49" charset="-122"/>
              <a:cs typeface="+mn-cs"/>
            </a:endParaRPr>
          </a:p>
          <a:p>
            <a:pPr marL="590550" indent="-533400" eaLnBrk="1" hangingPunct="1">
              <a:buClr>
                <a:schemeClr val="hlink"/>
              </a:buClr>
              <a:buFont typeface="Wingdings" panose="05000000000000000000" pitchFamily="2" charset="2"/>
              <a:buChar char="u"/>
              <a:defRPr/>
            </a:pPr>
            <a:r>
              <a:rPr lang="zh-CN" altLang="en-US" sz="3200" dirty="0">
                <a:effectLst>
                  <a:outerShdw blurRad="38100" dist="38100" dir="2700000" algn="tl">
                    <a:srgbClr val="C0C0C0"/>
                  </a:outerShdw>
                </a:effectLst>
                <a:ea typeface="仿宋_GB2312" pitchFamily="49" charset="-122"/>
                <a:cs typeface="+mn-cs"/>
              </a:rPr>
              <a:t>插入或删除操作需移动大量的数据元素</a:t>
            </a:r>
          </a:p>
          <a:p>
            <a:pPr eaLnBrk="1" hangingPunct="1">
              <a:defRPr/>
            </a:pPr>
            <a:endParaRPr lang="zh-CN" altLang="en-US" dirty="0">
              <a:cs typeface="+mn-cs"/>
            </a:endParaRPr>
          </a:p>
        </p:txBody>
      </p:sp>
      <p:sp>
        <p:nvSpPr>
          <p:cNvPr id="4" name="Rectangle 4"/>
          <p:cNvSpPr>
            <a:spLocks noChangeArrowheads="1"/>
          </p:cNvSpPr>
          <p:nvPr/>
        </p:nvSpPr>
        <p:spPr bwMode="auto">
          <a:xfrm>
            <a:off x="4578350" y="6089650"/>
            <a:ext cx="4114800" cy="533400"/>
          </a:xfrm>
          <a:prstGeom prst="rect">
            <a:avLst/>
          </a:prstGeom>
          <a:solidFill>
            <a:srgbClr val="FFFFCC"/>
          </a:solidFill>
          <a:ln w="9525">
            <a:solidFill>
              <a:schemeClr val="tx1"/>
            </a:solidFill>
            <a:miter lim="800000"/>
          </a:ln>
          <a:effectLst>
            <a:outerShdw dist="107763" dir="2700000" algn="ctr" rotWithShape="0">
              <a:schemeClr val="bg2"/>
            </a:outerShdw>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34820" name="Text Box 5"/>
          <p:cNvSpPr txBox="1">
            <a:spLocks noChangeArrowheads="1"/>
          </p:cNvSpPr>
          <p:nvPr/>
        </p:nvSpPr>
        <p:spPr bwMode="auto">
          <a:xfrm>
            <a:off x="4654551" y="6089650"/>
            <a:ext cx="4105275" cy="579438"/>
          </a:xfrm>
          <a:prstGeom prst="rect">
            <a:avLst/>
          </a:prstGeom>
          <a:noFill/>
          <a:ln w="9525">
            <a:noFill/>
            <a:miter lim="800000"/>
          </a:ln>
        </p:spPr>
        <p:txBody>
          <a:bodyPr>
            <a:spAutoFit/>
          </a:bodyPr>
          <a:lstStyle/>
          <a:p>
            <a:r>
              <a:rPr lang="zh-CN" altLang="zh-CN" sz="3200">
                <a:latin typeface="Arial" panose="020B0604020202020204" pitchFamily="34" charset="0"/>
              </a:rPr>
              <a:t>25  34  57  16  48  09</a:t>
            </a:r>
            <a:r>
              <a:rPr lang="zh-CN" altLang="zh-CN" sz="3200">
                <a:latin typeface="Times New Roman" panose="02020603050405020304" pitchFamily="18" charset="0"/>
              </a:rPr>
              <a:t> </a:t>
            </a:r>
            <a:endParaRPr lang="zh-CN" altLang="zh-CN" sz="3200" b="0">
              <a:solidFill>
                <a:schemeClr val="tx1"/>
              </a:solidFill>
              <a:latin typeface="Arial Narrow" panose="020B0606020202030204" pitchFamily="34" charset="0"/>
              <a:sym typeface="Symbol" panose="05050102010706020507" pitchFamily="18" charset="2"/>
            </a:endParaRPr>
          </a:p>
        </p:txBody>
      </p:sp>
      <p:sp>
        <p:nvSpPr>
          <p:cNvPr id="6" name="Line 6"/>
          <p:cNvSpPr>
            <a:spLocks noChangeShapeType="1"/>
          </p:cNvSpPr>
          <p:nvPr/>
        </p:nvSpPr>
        <p:spPr bwMode="auto">
          <a:xfrm>
            <a:off x="5264150" y="6089650"/>
            <a:ext cx="0" cy="533400"/>
          </a:xfrm>
          <a:prstGeom prst="line">
            <a:avLst/>
          </a:prstGeom>
          <a:noFill/>
          <a:ln w="28575">
            <a:solidFill>
              <a:schemeClr val="bg2"/>
            </a:solidFill>
            <a:round/>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7" name="Line 7"/>
          <p:cNvSpPr>
            <a:spLocks noChangeShapeType="1"/>
          </p:cNvSpPr>
          <p:nvPr/>
        </p:nvSpPr>
        <p:spPr bwMode="auto">
          <a:xfrm>
            <a:off x="5949950" y="6089650"/>
            <a:ext cx="0" cy="533400"/>
          </a:xfrm>
          <a:prstGeom prst="line">
            <a:avLst/>
          </a:prstGeom>
          <a:noFill/>
          <a:ln w="28575">
            <a:solidFill>
              <a:schemeClr val="bg2"/>
            </a:solidFill>
            <a:round/>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8" name="Line 8"/>
          <p:cNvSpPr>
            <a:spLocks noChangeShapeType="1"/>
          </p:cNvSpPr>
          <p:nvPr/>
        </p:nvSpPr>
        <p:spPr bwMode="auto">
          <a:xfrm>
            <a:off x="7321550" y="6089650"/>
            <a:ext cx="0" cy="533400"/>
          </a:xfrm>
          <a:prstGeom prst="line">
            <a:avLst/>
          </a:prstGeom>
          <a:noFill/>
          <a:ln w="28575">
            <a:solidFill>
              <a:schemeClr val="bg2"/>
            </a:solidFill>
            <a:round/>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9" name="Line 9"/>
          <p:cNvSpPr>
            <a:spLocks noChangeShapeType="1"/>
          </p:cNvSpPr>
          <p:nvPr/>
        </p:nvSpPr>
        <p:spPr bwMode="auto">
          <a:xfrm flipH="1">
            <a:off x="8007350" y="6089650"/>
            <a:ext cx="0" cy="533400"/>
          </a:xfrm>
          <a:prstGeom prst="line">
            <a:avLst/>
          </a:prstGeom>
          <a:noFill/>
          <a:ln w="28575">
            <a:solidFill>
              <a:schemeClr val="bg2"/>
            </a:solidFill>
            <a:round/>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34825" name="Text Box 10"/>
          <p:cNvSpPr txBox="1">
            <a:spLocks noChangeArrowheads="1"/>
          </p:cNvSpPr>
          <p:nvPr/>
        </p:nvSpPr>
        <p:spPr bwMode="auto">
          <a:xfrm>
            <a:off x="4662488" y="5626101"/>
            <a:ext cx="3917950" cy="519113"/>
          </a:xfrm>
          <a:prstGeom prst="rect">
            <a:avLst/>
          </a:prstGeom>
          <a:noFill/>
          <a:ln w="9525">
            <a:noFill/>
            <a:miter lim="800000"/>
          </a:ln>
        </p:spPr>
        <p:txBody>
          <a:bodyPr wrap="none">
            <a:spAutoFit/>
          </a:bodyPr>
          <a:lstStyle/>
          <a:p>
            <a:r>
              <a:rPr lang="zh-CN" altLang="zh-CN" sz="2800" dirty="0">
                <a:solidFill>
                  <a:srgbClr val="009900"/>
                </a:solidFill>
                <a:latin typeface="Times New Roman" panose="02020603050405020304" pitchFamily="18" charset="0"/>
              </a:rPr>
              <a:t>0     1      2      3      4      5 </a:t>
            </a:r>
            <a:endParaRPr lang="zh-CN" altLang="zh-CN" sz="2400" b="0" dirty="0">
              <a:solidFill>
                <a:schemeClr val="tx1"/>
              </a:solidFill>
              <a:latin typeface="Times New Roman" panose="02020603050405020304" pitchFamily="18" charset="0"/>
            </a:endParaRPr>
          </a:p>
        </p:txBody>
      </p:sp>
      <p:sp>
        <p:nvSpPr>
          <p:cNvPr id="34826" name="Text Box 11"/>
          <p:cNvSpPr txBox="1">
            <a:spLocks noChangeArrowheads="1"/>
          </p:cNvSpPr>
          <p:nvPr/>
        </p:nvSpPr>
        <p:spPr bwMode="auto">
          <a:xfrm>
            <a:off x="3467101" y="6089650"/>
            <a:ext cx="1306513" cy="579438"/>
          </a:xfrm>
          <a:prstGeom prst="rect">
            <a:avLst/>
          </a:prstGeom>
          <a:noFill/>
          <a:ln w="9525">
            <a:noFill/>
            <a:miter lim="800000"/>
          </a:ln>
        </p:spPr>
        <p:txBody>
          <a:bodyPr>
            <a:spAutoFit/>
          </a:bodyPr>
          <a:lstStyle/>
          <a:p>
            <a:r>
              <a:rPr lang="en-US" altLang="zh-CN" sz="3200" b="0" dirty="0" err="1">
                <a:latin typeface="Times New Roman" panose="02020603050405020304" pitchFamily="18" charset="0"/>
              </a:rPr>
              <a:t>elems</a:t>
            </a:r>
            <a:endParaRPr lang="en-US" altLang="zh-CN" sz="3200" b="0" dirty="0">
              <a:latin typeface="Times New Roman" panose="02020603050405020304" pitchFamily="18" charset="0"/>
            </a:endParaRPr>
          </a:p>
        </p:txBody>
      </p:sp>
      <p:sp>
        <p:nvSpPr>
          <p:cNvPr id="12" name="Line 12"/>
          <p:cNvSpPr>
            <a:spLocks noChangeShapeType="1"/>
          </p:cNvSpPr>
          <p:nvPr/>
        </p:nvSpPr>
        <p:spPr bwMode="auto">
          <a:xfrm>
            <a:off x="6635750" y="6103938"/>
            <a:ext cx="0" cy="533400"/>
          </a:xfrm>
          <a:prstGeom prst="line">
            <a:avLst/>
          </a:prstGeom>
          <a:noFill/>
          <a:ln w="28575">
            <a:solidFill>
              <a:schemeClr val="bg2"/>
            </a:solidFill>
            <a:round/>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34828" name="Text Box 13"/>
          <p:cNvSpPr txBox="1">
            <a:spLocks noChangeArrowheads="1"/>
          </p:cNvSpPr>
          <p:nvPr/>
        </p:nvSpPr>
        <p:spPr bwMode="auto">
          <a:xfrm>
            <a:off x="4662488" y="5251451"/>
            <a:ext cx="4019550" cy="519113"/>
          </a:xfrm>
          <a:prstGeom prst="rect">
            <a:avLst/>
          </a:prstGeom>
          <a:noFill/>
          <a:ln w="9525">
            <a:noFill/>
            <a:miter lim="800000"/>
          </a:ln>
        </p:spPr>
        <p:txBody>
          <a:bodyPr wrap="none">
            <a:spAutoFit/>
          </a:bodyPr>
          <a:lstStyle/>
          <a:p>
            <a:r>
              <a:rPr lang="en-US" altLang="zh-CN" sz="2800">
                <a:solidFill>
                  <a:srgbClr val="009900"/>
                </a:solidFill>
                <a:latin typeface="Times New Roman" panose="02020603050405020304" pitchFamily="18" charset="0"/>
              </a:rPr>
              <a:t>a</a:t>
            </a:r>
            <a:r>
              <a:rPr lang="en-US" altLang="zh-CN" sz="2800" baseline="-25000">
                <a:solidFill>
                  <a:srgbClr val="009900"/>
                </a:solidFill>
                <a:latin typeface="Times New Roman" panose="02020603050405020304" pitchFamily="18" charset="0"/>
              </a:rPr>
              <a:t>1</a:t>
            </a:r>
            <a:r>
              <a:rPr lang="zh-CN" altLang="zh-CN" sz="2800">
                <a:solidFill>
                  <a:srgbClr val="009900"/>
                </a:solidFill>
                <a:latin typeface="Times New Roman" panose="02020603050405020304" pitchFamily="18" charset="0"/>
              </a:rPr>
              <a:t>    </a:t>
            </a:r>
            <a:r>
              <a:rPr lang="en-US" altLang="zh-CN" sz="2800">
                <a:solidFill>
                  <a:srgbClr val="009900"/>
                </a:solidFill>
                <a:latin typeface="Times New Roman" panose="02020603050405020304" pitchFamily="18" charset="0"/>
              </a:rPr>
              <a:t>a</a:t>
            </a:r>
            <a:r>
              <a:rPr lang="en-US" altLang="zh-CN" sz="2800" baseline="-25000">
                <a:solidFill>
                  <a:srgbClr val="009900"/>
                </a:solidFill>
                <a:latin typeface="Times New Roman" panose="02020603050405020304" pitchFamily="18" charset="0"/>
              </a:rPr>
              <a:t>2</a:t>
            </a:r>
            <a:r>
              <a:rPr lang="zh-CN" altLang="zh-CN" sz="2800">
                <a:solidFill>
                  <a:srgbClr val="009900"/>
                </a:solidFill>
                <a:latin typeface="Times New Roman" panose="02020603050405020304" pitchFamily="18" charset="0"/>
              </a:rPr>
              <a:t>    </a:t>
            </a:r>
            <a:r>
              <a:rPr lang="en-US" altLang="zh-CN" sz="2800">
                <a:solidFill>
                  <a:srgbClr val="009900"/>
                </a:solidFill>
                <a:latin typeface="Times New Roman" panose="02020603050405020304" pitchFamily="18" charset="0"/>
              </a:rPr>
              <a:t>a</a:t>
            </a:r>
            <a:r>
              <a:rPr lang="en-US" altLang="zh-CN" sz="2800" baseline="-25000">
                <a:solidFill>
                  <a:srgbClr val="009900"/>
                </a:solidFill>
                <a:latin typeface="Times New Roman" panose="02020603050405020304" pitchFamily="18" charset="0"/>
              </a:rPr>
              <a:t>3</a:t>
            </a:r>
            <a:r>
              <a:rPr lang="zh-CN" altLang="zh-CN" sz="2800">
                <a:solidFill>
                  <a:srgbClr val="009900"/>
                </a:solidFill>
                <a:latin typeface="Times New Roman" panose="02020603050405020304" pitchFamily="18" charset="0"/>
              </a:rPr>
              <a:t>   </a:t>
            </a:r>
            <a:r>
              <a:rPr lang="en-US" altLang="zh-CN" sz="2800">
                <a:solidFill>
                  <a:srgbClr val="009900"/>
                </a:solidFill>
                <a:latin typeface="Times New Roman" panose="02020603050405020304" pitchFamily="18" charset="0"/>
              </a:rPr>
              <a:t> </a:t>
            </a:r>
            <a:r>
              <a:rPr lang="zh-CN" altLang="zh-CN" sz="2800">
                <a:solidFill>
                  <a:srgbClr val="009900"/>
                </a:solidFill>
                <a:latin typeface="Times New Roman" panose="02020603050405020304" pitchFamily="18" charset="0"/>
              </a:rPr>
              <a:t> </a:t>
            </a:r>
            <a:r>
              <a:rPr lang="en-US" altLang="zh-CN" sz="2800">
                <a:solidFill>
                  <a:srgbClr val="009900"/>
                </a:solidFill>
                <a:latin typeface="Times New Roman" panose="02020603050405020304" pitchFamily="18" charset="0"/>
              </a:rPr>
              <a:t>a</a:t>
            </a:r>
            <a:r>
              <a:rPr lang="en-US" altLang="zh-CN" sz="2800" baseline="-25000">
                <a:solidFill>
                  <a:srgbClr val="009900"/>
                </a:solidFill>
                <a:latin typeface="Times New Roman" panose="02020603050405020304" pitchFamily="18" charset="0"/>
              </a:rPr>
              <a:t>4</a:t>
            </a:r>
            <a:r>
              <a:rPr lang="zh-CN" altLang="zh-CN" sz="2800">
                <a:solidFill>
                  <a:srgbClr val="009900"/>
                </a:solidFill>
                <a:latin typeface="Times New Roman" panose="02020603050405020304" pitchFamily="18" charset="0"/>
              </a:rPr>
              <a:t>    </a:t>
            </a:r>
            <a:r>
              <a:rPr lang="en-US" altLang="zh-CN" sz="2800">
                <a:solidFill>
                  <a:srgbClr val="009900"/>
                </a:solidFill>
                <a:latin typeface="Times New Roman" panose="02020603050405020304" pitchFamily="18" charset="0"/>
              </a:rPr>
              <a:t>a</a:t>
            </a:r>
            <a:r>
              <a:rPr lang="en-US" altLang="zh-CN" sz="2800" baseline="-25000">
                <a:solidFill>
                  <a:srgbClr val="009900"/>
                </a:solidFill>
                <a:latin typeface="Times New Roman" panose="02020603050405020304" pitchFamily="18" charset="0"/>
              </a:rPr>
              <a:t>5</a:t>
            </a:r>
            <a:r>
              <a:rPr lang="zh-CN" altLang="zh-CN" sz="2800">
                <a:solidFill>
                  <a:srgbClr val="009900"/>
                </a:solidFill>
                <a:latin typeface="Times New Roman" panose="02020603050405020304" pitchFamily="18" charset="0"/>
              </a:rPr>
              <a:t>     </a:t>
            </a:r>
            <a:r>
              <a:rPr lang="en-US" altLang="zh-CN" sz="2800">
                <a:solidFill>
                  <a:srgbClr val="009900"/>
                </a:solidFill>
                <a:latin typeface="Times New Roman" panose="02020603050405020304" pitchFamily="18" charset="0"/>
              </a:rPr>
              <a:t>a</a:t>
            </a:r>
            <a:r>
              <a:rPr lang="en-US" altLang="zh-CN" sz="2800" baseline="-25000">
                <a:solidFill>
                  <a:srgbClr val="009900"/>
                </a:solidFill>
                <a:latin typeface="Times New Roman" panose="02020603050405020304" pitchFamily="18" charset="0"/>
              </a:rPr>
              <a:t>6</a:t>
            </a:r>
            <a:r>
              <a:rPr lang="zh-CN" altLang="zh-CN" sz="2800">
                <a:solidFill>
                  <a:srgbClr val="009900"/>
                </a:solidFill>
                <a:latin typeface="Times New Roman" panose="02020603050405020304" pitchFamily="18" charset="0"/>
              </a:rPr>
              <a:t> </a:t>
            </a:r>
            <a:endParaRPr lang="zh-CN" altLang="zh-CN" sz="2400" b="0">
              <a:solidFill>
                <a:schemeClr val="tx1"/>
              </a:solidFill>
              <a:latin typeface="Times New Roman" panose="02020603050405020304" pitchFamily="18" charset="0"/>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p:cNvSpPr>
            <a:spLocks noGrp="1" noChangeArrowheads="1"/>
          </p:cNvSpPr>
          <p:nvPr>
            <p:ph/>
          </p:nvPr>
        </p:nvSpPr>
        <p:spPr>
          <a:xfrm>
            <a:off x="407368" y="2514600"/>
            <a:ext cx="11521280" cy="4154488"/>
          </a:xfrm>
        </p:spPr>
        <p:txBody>
          <a:bodyPr vert="horz" wrap="square" lIns="92075" tIns="46038" rIns="92075" bIns="46038" numCol="1" anchor="t" anchorCtr="0" compatLnSpc="1">
            <a:noAutofit/>
          </a:bodyPr>
          <a:lstStyle/>
          <a:p>
            <a:pPr marL="0" indent="0" eaLnBrk="1" hangingPunct="1">
              <a:lnSpc>
                <a:spcPct val="110000"/>
              </a:lnSpc>
              <a:buNone/>
            </a:pPr>
            <a:r>
              <a:rPr lang="zh-CN" altLang="en-US" sz="3200" dirty="0">
                <a:solidFill>
                  <a:schemeClr val="hlink"/>
                </a:solidFill>
                <a:latin typeface="华文新魏" panose="02010800040101010101" pitchFamily="2" charset="-122"/>
                <a:ea typeface="华文新魏" panose="02010800040101010101" pitchFamily="2" charset="-122"/>
              </a:rPr>
              <a:t>        </a:t>
            </a:r>
            <a:r>
              <a:rPr lang="zh-CN" altLang="en-US" sz="3200" dirty="0">
                <a:solidFill>
                  <a:schemeClr val="folHlink"/>
                </a:solidFill>
                <a:latin typeface="华文新魏" panose="02010800040101010101" pitchFamily="2" charset="-122"/>
                <a:ea typeface="华文新魏" panose="02010800040101010101" pitchFamily="2" charset="-122"/>
              </a:rPr>
              <a:t>在具体的机器环境下</a:t>
            </a:r>
            <a:r>
              <a:rPr lang="zh-CN" altLang="en-US" sz="3200" dirty="0">
                <a:latin typeface="华文新魏" panose="02010800040101010101" pitchFamily="2" charset="-122"/>
                <a:ea typeface="华文新魏" panose="02010800040101010101" pitchFamily="2" charset="-122"/>
              </a:rPr>
              <a:t>：设线性表的每个元素需占用</a:t>
            </a:r>
            <a:r>
              <a:rPr lang="en-US" altLang="zh-CN" sz="3200" i="1" dirty="0">
                <a:latin typeface="华文新魏" panose="02010800040101010101" pitchFamily="2" charset="-122"/>
                <a:ea typeface="华文新魏" panose="02010800040101010101" pitchFamily="2" charset="-122"/>
              </a:rPr>
              <a:t>l</a:t>
            </a:r>
            <a:r>
              <a:rPr lang="zh-CN" altLang="en-US" sz="3200" dirty="0">
                <a:latin typeface="华文新魏" panose="02010800040101010101" pitchFamily="2" charset="-122"/>
                <a:ea typeface="华文新魏" panose="02010800040101010101" pitchFamily="2" charset="-122"/>
              </a:rPr>
              <a:t>个存储单元，以所占的第一个单元的存储地址作为数据元素的存储位置。则线性表中第</a:t>
            </a:r>
            <a:r>
              <a:rPr lang="en-US" altLang="zh-CN" sz="3200" dirty="0">
                <a:latin typeface="华文新魏" panose="02010800040101010101" pitchFamily="2" charset="-122"/>
                <a:ea typeface="华文新魏" panose="02010800040101010101" pitchFamily="2" charset="-122"/>
              </a:rPr>
              <a:t>i+1</a:t>
            </a:r>
            <a:r>
              <a:rPr lang="zh-CN" altLang="en-US" sz="3200" dirty="0">
                <a:latin typeface="华文新魏" panose="02010800040101010101" pitchFamily="2" charset="-122"/>
                <a:ea typeface="华文新魏" panose="02010800040101010101" pitchFamily="2" charset="-122"/>
              </a:rPr>
              <a:t>个数据元素的存储位置</a:t>
            </a:r>
            <a:r>
              <a:rPr lang="en-US" altLang="zh-CN" sz="3200" dirty="0">
                <a:latin typeface="华文新魏" panose="02010800040101010101" pitchFamily="2" charset="-122"/>
                <a:ea typeface="华文新魏" panose="02010800040101010101" pitchFamily="2" charset="-122"/>
              </a:rPr>
              <a:t>LOC(a</a:t>
            </a:r>
            <a:r>
              <a:rPr lang="en-US" altLang="zh-CN" sz="3200" baseline="-24000" dirty="0">
                <a:latin typeface="华文新魏" panose="02010800040101010101" pitchFamily="2" charset="-122"/>
                <a:ea typeface="华文新魏" panose="02010800040101010101" pitchFamily="2" charset="-122"/>
              </a:rPr>
              <a:t>i+1</a:t>
            </a:r>
            <a:r>
              <a:rPr lang="en-US" altLang="zh-CN" sz="3200" dirty="0">
                <a:latin typeface="华文新魏" panose="02010800040101010101" pitchFamily="2" charset="-122"/>
                <a:ea typeface="华文新魏" panose="02010800040101010101" pitchFamily="2" charset="-122"/>
              </a:rPr>
              <a:t>)</a:t>
            </a:r>
            <a:r>
              <a:rPr lang="zh-CN" altLang="en-US" sz="3200" dirty="0">
                <a:latin typeface="华文新魏" panose="02010800040101010101" pitchFamily="2" charset="-122"/>
                <a:ea typeface="华文新魏" panose="02010800040101010101" pitchFamily="2" charset="-122"/>
              </a:rPr>
              <a:t>和第</a:t>
            </a:r>
            <a:r>
              <a:rPr lang="en-US" altLang="zh-CN" sz="3200" dirty="0" err="1">
                <a:latin typeface="华文新魏" panose="02010800040101010101" pitchFamily="2" charset="-122"/>
                <a:ea typeface="华文新魏" panose="02010800040101010101" pitchFamily="2" charset="-122"/>
              </a:rPr>
              <a:t>i</a:t>
            </a:r>
            <a:r>
              <a:rPr lang="zh-CN" altLang="en-US" sz="3200" dirty="0">
                <a:latin typeface="华文新魏" panose="02010800040101010101" pitchFamily="2" charset="-122"/>
                <a:ea typeface="华文新魏" panose="02010800040101010101" pitchFamily="2" charset="-122"/>
              </a:rPr>
              <a:t>个数据元素的存储位置</a:t>
            </a:r>
            <a:r>
              <a:rPr lang="en-US" altLang="zh-CN" sz="3200" dirty="0">
                <a:latin typeface="华文新魏" panose="02010800040101010101" pitchFamily="2" charset="-122"/>
                <a:ea typeface="华文新魏" panose="02010800040101010101" pitchFamily="2" charset="-122"/>
              </a:rPr>
              <a:t>LOC(a</a:t>
            </a:r>
            <a:r>
              <a:rPr lang="en-US" altLang="zh-CN" sz="3200" baseline="-25000" dirty="0">
                <a:latin typeface="华文新魏" panose="02010800040101010101" pitchFamily="2" charset="-122"/>
                <a:ea typeface="华文新魏" panose="02010800040101010101" pitchFamily="2" charset="-122"/>
              </a:rPr>
              <a:t>i</a:t>
            </a:r>
            <a:r>
              <a:rPr lang="en-US" altLang="zh-CN" sz="3200" dirty="0">
                <a:latin typeface="华文新魏" panose="02010800040101010101" pitchFamily="2" charset="-122"/>
                <a:ea typeface="华文新魏" panose="02010800040101010101" pitchFamily="2" charset="-122"/>
              </a:rPr>
              <a:t>)</a:t>
            </a:r>
            <a:r>
              <a:rPr lang="zh-CN" altLang="en-US" sz="3200" dirty="0">
                <a:latin typeface="华文新魏" panose="02010800040101010101" pitchFamily="2" charset="-122"/>
                <a:ea typeface="华文新魏" panose="02010800040101010101" pitchFamily="2" charset="-122"/>
              </a:rPr>
              <a:t>之间满足下列关系：</a:t>
            </a:r>
          </a:p>
          <a:p>
            <a:pPr marL="0" indent="0" eaLnBrk="1" hangingPunct="1">
              <a:lnSpc>
                <a:spcPct val="110000"/>
              </a:lnSpc>
              <a:buNone/>
            </a:pPr>
            <a:r>
              <a:rPr lang="zh-CN" altLang="en-US" sz="3200" dirty="0">
                <a:latin typeface="华文新魏" panose="02010800040101010101" pitchFamily="2" charset="-122"/>
                <a:ea typeface="华文新魏" panose="02010800040101010101" pitchFamily="2" charset="-122"/>
              </a:rPr>
              <a:t>              </a:t>
            </a:r>
            <a:r>
              <a:rPr lang="en-US" altLang="zh-CN" sz="3200" dirty="0">
                <a:latin typeface="华文新魏" panose="02010800040101010101" pitchFamily="2" charset="-122"/>
                <a:ea typeface="华文新魏" panose="02010800040101010101" pitchFamily="2" charset="-122"/>
              </a:rPr>
              <a:t>LOC(a</a:t>
            </a:r>
            <a:r>
              <a:rPr lang="en-US" altLang="zh-CN" sz="3200" baseline="-25000" dirty="0">
                <a:latin typeface="华文新魏" panose="02010800040101010101" pitchFamily="2" charset="-122"/>
                <a:ea typeface="华文新魏" panose="02010800040101010101" pitchFamily="2" charset="-122"/>
              </a:rPr>
              <a:t>i+1</a:t>
            </a:r>
            <a:r>
              <a:rPr lang="en-US" altLang="zh-CN" sz="3200" dirty="0">
                <a:latin typeface="华文新魏" panose="02010800040101010101" pitchFamily="2" charset="-122"/>
                <a:ea typeface="华文新魏" panose="02010800040101010101" pitchFamily="2" charset="-122"/>
              </a:rPr>
              <a:t>)=LOC(a</a:t>
            </a:r>
            <a:r>
              <a:rPr lang="en-US" altLang="zh-CN" sz="3200" baseline="-25000" dirty="0">
                <a:latin typeface="华文新魏" panose="02010800040101010101" pitchFamily="2" charset="-122"/>
                <a:ea typeface="华文新魏" panose="02010800040101010101" pitchFamily="2" charset="-122"/>
              </a:rPr>
              <a:t>i</a:t>
            </a:r>
            <a:r>
              <a:rPr lang="en-US" altLang="zh-CN" sz="3200" dirty="0">
                <a:latin typeface="华文新魏" panose="02010800040101010101" pitchFamily="2" charset="-122"/>
                <a:ea typeface="华文新魏" panose="02010800040101010101" pitchFamily="2" charset="-122"/>
              </a:rPr>
              <a:t>)+</a:t>
            </a:r>
            <a:r>
              <a:rPr lang="en-US" altLang="zh-CN" sz="3200" i="1" dirty="0">
                <a:latin typeface="华文新魏" panose="02010800040101010101" pitchFamily="2" charset="-122"/>
                <a:ea typeface="华文新魏" panose="02010800040101010101" pitchFamily="2" charset="-122"/>
              </a:rPr>
              <a:t>l</a:t>
            </a:r>
          </a:p>
          <a:p>
            <a:pPr marL="0" indent="0" eaLnBrk="1" hangingPunct="1">
              <a:lnSpc>
                <a:spcPct val="110000"/>
              </a:lnSpc>
              <a:buNone/>
            </a:pPr>
            <a:r>
              <a:rPr lang="en-US" altLang="zh-CN" sz="3200" dirty="0">
                <a:latin typeface="华文新魏" panose="02010800040101010101" pitchFamily="2" charset="-122"/>
                <a:ea typeface="华文新魏" panose="02010800040101010101" pitchFamily="2" charset="-122"/>
              </a:rPr>
              <a:t>    </a:t>
            </a:r>
            <a:r>
              <a:rPr lang="zh-CN" altLang="en-US" sz="3200" dirty="0">
                <a:latin typeface="华文新魏" panose="02010800040101010101" pitchFamily="2" charset="-122"/>
                <a:ea typeface="华文新魏" panose="02010800040101010101" pitchFamily="2" charset="-122"/>
              </a:rPr>
              <a:t>线性表的第</a:t>
            </a:r>
            <a:r>
              <a:rPr lang="en-US" altLang="zh-CN" sz="3200" dirty="0" err="1">
                <a:latin typeface="华文新魏" panose="02010800040101010101" pitchFamily="2" charset="-122"/>
                <a:ea typeface="华文新魏" panose="02010800040101010101" pitchFamily="2" charset="-122"/>
              </a:rPr>
              <a:t>i</a:t>
            </a:r>
            <a:r>
              <a:rPr lang="zh-CN" altLang="en-US" sz="3200" dirty="0">
                <a:latin typeface="华文新魏" panose="02010800040101010101" pitchFamily="2" charset="-122"/>
                <a:ea typeface="华文新魏" panose="02010800040101010101" pitchFamily="2" charset="-122"/>
              </a:rPr>
              <a:t>个数据元素</a:t>
            </a:r>
            <a:r>
              <a:rPr lang="en-US" altLang="zh-CN" sz="3200" dirty="0">
                <a:latin typeface="华文新魏" panose="02010800040101010101" pitchFamily="2" charset="-122"/>
                <a:ea typeface="华文新魏" panose="02010800040101010101" pitchFamily="2" charset="-122"/>
              </a:rPr>
              <a:t>a</a:t>
            </a:r>
            <a:r>
              <a:rPr lang="en-US" altLang="zh-CN" sz="3200" baseline="-25000" dirty="0">
                <a:latin typeface="华文新魏" panose="02010800040101010101" pitchFamily="2" charset="-122"/>
                <a:ea typeface="华文新魏" panose="02010800040101010101" pitchFamily="2" charset="-122"/>
              </a:rPr>
              <a:t>i</a:t>
            </a:r>
            <a:r>
              <a:rPr lang="zh-CN" altLang="en-US" sz="3200" dirty="0">
                <a:latin typeface="华文新魏" panose="02010800040101010101" pitchFamily="2" charset="-122"/>
                <a:ea typeface="华文新魏" panose="02010800040101010101" pitchFamily="2" charset="-122"/>
              </a:rPr>
              <a:t>的存储位置为：</a:t>
            </a:r>
          </a:p>
          <a:p>
            <a:pPr marL="0" indent="0" eaLnBrk="1" hangingPunct="1">
              <a:lnSpc>
                <a:spcPct val="110000"/>
              </a:lnSpc>
              <a:buNone/>
            </a:pPr>
            <a:r>
              <a:rPr lang="zh-CN" altLang="en-US" sz="3200" dirty="0">
                <a:latin typeface="华文新魏" panose="02010800040101010101" pitchFamily="2" charset="-122"/>
                <a:ea typeface="华文新魏" panose="02010800040101010101" pitchFamily="2" charset="-122"/>
              </a:rPr>
              <a:t>              </a:t>
            </a:r>
            <a:r>
              <a:rPr lang="en-US" altLang="zh-CN" sz="3200" dirty="0">
                <a:latin typeface="华文新魏" panose="02010800040101010101" pitchFamily="2" charset="-122"/>
                <a:ea typeface="华文新魏" panose="02010800040101010101" pitchFamily="2" charset="-122"/>
              </a:rPr>
              <a:t>LOC(a</a:t>
            </a:r>
            <a:r>
              <a:rPr lang="en-US" altLang="zh-CN" sz="3200" baseline="-25000" dirty="0">
                <a:latin typeface="华文新魏" panose="02010800040101010101" pitchFamily="2" charset="-122"/>
                <a:ea typeface="华文新魏" panose="02010800040101010101" pitchFamily="2" charset="-122"/>
              </a:rPr>
              <a:t>i</a:t>
            </a:r>
            <a:r>
              <a:rPr lang="en-US" altLang="zh-CN" sz="3200" dirty="0">
                <a:latin typeface="华文新魏" panose="02010800040101010101" pitchFamily="2" charset="-122"/>
                <a:ea typeface="华文新魏" panose="02010800040101010101" pitchFamily="2" charset="-122"/>
              </a:rPr>
              <a:t>)=LOC(a</a:t>
            </a:r>
            <a:r>
              <a:rPr lang="en-US" altLang="zh-CN" sz="3200" baseline="-25000" dirty="0">
                <a:latin typeface="华文新魏" panose="02010800040101010101" pitchFamily="2" charset="-122"/>
                <a:ea typeface="华文新魏" panose="02010800040101010101" pitchFamily="2" charset="-122"/>
              </a:rPr>
              <a:t>1</a:t>
            </a:r>
            <a:r>
              <a:rPr lang="en-US" altLang="zh-CN" sz="3200" dirty="0">
                <a:latin typeface="华文新魏" panose="02010800040101010101" pitchFamily="2" charset="-122"/>
                <a:ea typeface="华文新魏" panose="02010800040101010101" pitchFamily="2" charset="-122"/>
              </a:rPr>
              <a:t>)+(i-1)*</a:t>
            </a:r>
            <a:r>
              <a:rPr lang="en-US" altLang="zh-CN" sz="3200" i="1" dirty="0">
                <a:latin typeface="华文新魏" panose="02010800040101010101" pitchFamily="2" charset="-122"/>
                <a:ea typeface="华文新魏" panose="02010800040101010101" pitchFamily="2" charset="-122"/>
              </a:rPr>
              <a:t>l</a:t>
            </a:r>
            <a:r>
              <a:rPr lang="en-US" altLang="zh-CN" dirty="0">
                <a:latin typeface="华文新魏" panose="02010800040101010101" pitchFamily="2" charset="-122"/>
                <a:ea typeface="华文新魏" panose="02010800040101010101" pitchFamily="2" charset="-122"/>
              </a:rPr>
              <a:t>     </a:t>
            </a:r>
          </a:p>
        </p:txBody>
      </p:sp>
      <p:grpSp>
        <p:nvGrpSpPr>
          <p:cNvPr id="35842" name="Group 3"/>
          <p:cNvGrpSpPr/>
          <p:nvPr/>
        </p:nvGrpSpPr>
        <p:grpSpPr bwMode="auto">
          <a:xfrm>
            <a:off x="4079875" y="333376"/>
            <a:ext cx="4471988" cy="2016125"/>
            <a:chOff x="-136" y="6"/>
            <a:chExt cx="2817" cy="1270"/>
          </a:xfrm>
        </p:grpSpPr>
        <p:grpSp>
          <p:nvGrpSpPr>
            <p:cNvPr id="35843" name="Group 4"/>
            <p:cNvGrpSpPr/>
            <p:nvPr/>
          </p:nvGrpSpPr>
          <p:grpSpPr bwMode="auto">
            <a:xfrm>
              <a:off x="-136" y="6"/>
              <a:ext cx="2681" cy="846"/>
              <a:chOff x="-214" y="6"/>
              <a:chExt cx="2681" cy="846"/>
            </a:xfrm>
          </p:grpSpPr>
          <p:grpSp>
            <p:nvGrpSpPr>
              <p:cNvPr id="35845" name="Group 5"/>
              <p:cNvGrpSpPr/>
              <p:nvPr/>
            </p:nvGrpSpPr>
            <p:grpSpPr bwMode="auto">
              <a:xfrm>
                <a:off x="-214" y="420"/>
                <a:ext cx="2681" cy="432"/>
                <a:chOff x="-214" y="0"/>
                <a:chExt cx="2681" cy="432"/>
              </a:xfrm>
            </p:grpSpPr>
            <p:sp>
              <p:nvSpPr>
                <p:cNvPr id="35850" name="Line 6"/>
                <p:cNvSpPr>
                  <a:spLocks noChangeShapeType="1"/>
                </p:cNvSpPr>
                <p:nvPr/>
              </p:nvSpPr>
              <p:spPr bwMode="auto">
                <a:xfrm>
                  <a:off x="2160" y="0"/>
                  <a:ext cx="0" cy="432"/>
                </a:xfrm>
                <a:prstGeom prst="line">
                  <a:avLst/>
                </a:prstGeom>
                <a:noFill/>
                <a:ln w="12700">
                  <a:solidFill>
                    <a:schemeClr val="tx1"/>
                  </a:solidFill>
                  <a:round/>
                </a:ln>
              </p:spPr>
              <p:txBody>
                <a:bodyPr/>
                <a:lstStyle/>
                <a:p>
                  <a:endParaRPr lang="zh-CN" altLang="en-US"/>
                </a:p>
              </p:txBody>
            </p:sp>
            <p:sp>
              <p:nvSpPr>
                <p:cNvPr id="35851" name="Line 7"/>
                <p:cNvSpPr>
                  <a:spLocks noChangeShapeType="1"/>
                </p:cNvSpPr>
                <p:nvPr/>
              </p:nvSpPr>
              <p:spPr bwMode="auto">
                <a:xfrm>
                  <a:off x="336" y="0"/>
                  <a:ext cx="0" cy="432"/>
                </a:xfrm>
                <a:prstGeom prst="line">
                  <a:avLst/>
                </a:prstGeom>
                <a:noFill/>
                <a:ln w="12700">
                  <a:solidFill>
                    <a:schemeClr val="tx1"/>
                  </a:solidFill>
                  <a:round/>
                </a:ln>
              </p:spPr>
              <p:txBody>
                <a:bodyPr/>
                <a:lstStyle/>
                <a:p>
                  <a:endParaRPr lang="zh-CN" altLang="en-US"/>
                </a:p>
              </p:txBody>
            </p:sp>
            <p:sp>
              <p:nvSpPr>
                <p:cNvPr id="35852" name="Line 8"/>
                <p:cNvSpPr>
                  <a:spLocks noChangeShapeType="1"/>
                </p:cNvSpPr>
                <p:nvPr/>
              </p:nvSpPr>
              <p:spPr bwMode="auto">
                <a:xfrm>
                  <a:off x="651" y="0"/>
                  <a:ext cx="0" cy="432"/>
                </a:xfrm>
                <a:prstGeom prst="line">
                  <a:avLst/>
                </a:prstGeom>
                <a:noFill/>
                <a:ln w="12700">
                  <a:solidFill>
                    <a:schemeClr val="tx1"/>
                  </a:solidFill>
                  <a:round/>
                </a:ln>
              </p:spPr>
              <p:txBody>
                <a:bodyPr/>
                <a:lstStyle/>
                <a:p>
                  <a:endParaRPr lang="zh-CN" altLang="en-US"/>
                </a:p>
              </p:txBody>
            </p:sp>
            <p:sp>
              <p:nvSpPr>
                <p:cNvPr id="35853" name="Line 9"/>
                <p:cNvSpPr>
                  <a:spLocks noChangeShapeType="1"/>
                </p:cNvSpPr>
                <p:nvPr/>
              </p:nvSpPr>
              <p:spPr bwMode="auto">
                <a:xfrm>
                  <a:off x="966" y="0"/>
                  <a:ext cx="0" cy="432"/>
                </a:xfrm>
                <a:prstGeom prst="line">
                  <a:avLst/>
                </a:prstGeom>
                <a:noFill/>
                <a:ln w="12700">
                  <a:solidFill>
                    <a:schemeClr val="tx1"/>
                  </a:solidFill>
                  <a:round/>
                </a:ln>
              </p:spPr>
              <p:txBody>
                <a:bodyPr/>
                <a:lstStyle/>
                <a:p>
                  <a:endParaRPr lang="zh-CN" altLang="en-US"/>
                </a:p>
              </p:txBody>
            </p:sp>
            <p:sp>
              <p:nvSpPr>
                <p:cNvPr id="35854" name="Line 10"/>
                <p:cNvSpPr>
                  <a:spLocks noChangeShapeType="1"/>
                </p:cNvSpPr>
                <p:nvPr/>
              </p:nvSpPr>
              <p:spPr bwMode="auto">
                <a:xfrm>
                  <a:off x="1233" y="0"/>
                  <a:ext cx="0" cy="432"/>
                </a:xfrm>
                <a:prstGeom prst="line">
                  <a:avLst/>
                </a:prstGeom>
                <a:noFill/>
                <a:ln w="12700">
                  <a:solidFill>
                    <a:schemeClr val="tx1"/>
                  </a:solidFill>
                  <a:round/>
                </a:ln>
              </p:spPr>
              <p:txBody>
                <a:bodyPr/>
                <a:lstStyle/>
                <a:p>
                  <a:endParaRPr lang="zh-CN" altLang="en-US"/>
                </a:p>
              </p:txBody>
            </p:sp>
            <p:sp>
              <p:nvSpPr>
                <p:cNvPr id="35855" name="Line 11"/>
                <p:cNvSpPr>
                  <a:spLocks noChangeShapeType="1"/>
                </p:cNvSpPr>
                <p:nvPr/>
              </p:nvSpPr>
              <p:spPr bwMode="auto">
                <a:xfrm>
                  <a:off x="1536" y="0"/>
                  <a:ext cx="0" cy="432"/>
                </a:xfrm>
                <a:prstGeom prst="line">
                  <a:avLst/>
                </a:prstGeom>
                <a:noFill/>
                <a:ln w="12700">
                  <a:solidFill>
                    <a:schemeClr val="tx1"/>
                  </a:solidFill>
                  <a:round/>
                </a:ln>
              </p:spPr>
              <p:txBody>
                <a:bodyPr/>
                <a:lstStyle/>
                <a:p>
                  <a:endParaRPr lang="zh-CN" altLang="en-US"/>
                </a:p>
              </p:txBody>
            </p:sp>
            <p:sp>
              <p:nvSpPr>
                <p:cNvPr id="35856" name="Line 12"/>
                <p:cNvSpPr>
                  <a:spLocks noChangeShapeType="1"/>
                </p:cNvSpPr>
                <p:nvPr/>
              </p:nvSpPr>
              <p:spPr bwMode="auto">
                <a:xfrm>
                  <a:off x="1845" y="0"/>
                  <a:ext cx="0" cy="432"/>
                </a:xfrm>
                <a:prstGeom prst="line">
                  <a:avLst/>
                </a:prstGeom>
                <a:noFill/>
                <a:ln w="12700">
                  <a:solidFill>
                    <a:schemeClr val="tx1"/>
                  </a:solidFill>
                  <a:round/>
                </a:ln>
              </p:spPr>
              <p:txBody>
                <a:bodyPr/>
                <a:lstStyle/>
                <a:p>
                  <a:endParaRPr lang="zh-CN" altLang="en-US"/>
                </a:p>
              </p:txBody>
            </p:sp>
            <p:sp>
              <p:nvSpPr>
                <p:cNvPr id="35857" name="Rectangle 13"/>
                <p:cNvSpPr>
                  <a:spLocks noChangeArrowheads="1"/>
                </p:cNvSpPr>
                <p:nvPr/>
              </p:nvSpPr>
              <p:spPr bwMode="auto">
                <a:xfrm>
                  <a:off x="-214" y="0"/>
                  <a:ext cx="2681" cy="432"/>
                </a:xfrm>
                <a:prstGeom prst="rect">
                  <a:avLst/>
                </a:prstGeom>
                <a:noFill/>
                <a:ln w="12700">
                  <a:solidFill>
                    <a:schemeClr val="tx1"/>
                  </a:solidFill>
                  <a:miter lim="800000"/>
                </a:ln>
              </p:spPr>
              <p:txBody>
                <a:bodyPr wrap="none" anchor="ctr"/>
                <a:lstStyle/>
                <a:p>
                  <a:r>
                    <a:rPr lang="zh-CN" altLang="en-US" sz="2800" baseline="-25000" dirty="0">
                      <a:ea typeface="楷体_GB2312"/>
                    </a:rPr>
                    <a:t> </a:t>
                  </a:r>
                  <a:r>
                    <a:rPr lang="en-US" altLang="zh-CN" sz="2800" dirty="0">
                      <a:ea typeface="楷体_GB2312"/>
                    </a:rPr>
                    <a:t>…     a</a:t>
                  </a:r>
                  <a:r>
                    <a:rPr lang="en-US" altLang="zh-CN" sz="2800" baseline="-25000" dirty="0">
                      <a:ea typeface="楷体_GB2312"/>
                    </a:rPr>
                    <a:t>1 </a:t>
                  </a:r>
                  <a:r>
                    <a:rPr lang="en-US" altLang="zh-CN" sz="2800" dirty="0">
                      <a:ea typeface="楷体_GB2312"/>
                    </a:rPr>
                    <a:t>a</a:t>
                  </a:r>
                  <a:r>
                    <a:rPr lang="en-US" altLang="zh-CN" sz="2800" baseline="-25000" dirty="0">
                      <a:ea typeface="楷体_GB2312"/>
                    </a:rPr>
                    <a:t>2  </a:t>
                  </a:r>
                  <a:r>
                    <a:rPr lang="en-US" altLang="zh-CN" sz="2800" dirty="0">
                      <a:ea typeface="楷体_GB2312"/>
                    </a:rPr>
                    <a:t>… a</a:t>
                  </a:r>
                  <a:r>
                    <a:rPr lang="en-US" altLang="zh-CN" sz="2800" baseline="-25000" dirty="0">
                      <a:ea typeface="楷体_GB2312"/>
                    </a:rPr>
                    <a:t>i </a:t>
                  </a:r>
                  <a:r>
                    <a:rPr lang="en-US" altLang="zh-CN" sz="2800" dirty="0">
                      <a:ea typeface="楷体_GB2312"/>
                    </a:rPr>
                    <a:t>…  a</a:t>
                  </a:r>
                  <a:r>
                    <a:rPr lang="en-US" altLang="zh-CN" sz="2800" baseline="-25000" dirty="0">
                      <a:ea typeface="楷体_GB2312"/>
                    </a:rPr>
                    <a:t>n   </a:t>
                  </a:r>
                  <a:r>
                    <a:rPr lang="en-US" altLang="zh-CN" sz="2800" dirty="0">
                      <a:ea typeface="楷体_GB2312"/>
                    </a:rPr>
                    <a:t>…</a:t>
                  </a:r>
                </a:p>
              </p:txBody>
            </p:sp>
          </p:grpSp>
          <p:sp>
            <p:nvSpPr>
              <p:cNvPr id="35846" name="Rectangle 14"/>
              <p:cNvSpPr>
                <a:spLocks noChangeArrowheads="1"/>
              </p:cNvSpPr>
              <p:nvPr/>
            </p:nvSpPr>
            <p:spPr bwMode="auto">
              <a:xfrm>
                <a:off x="58" y="6"/>
                <a:ext cx="589" cy="249"/>
              </a:xfrm>
              <a:prstGeom prst="rect">
                <a:avLst/>
              </a:prstGeom>
              <a:noFill/>
              <a:ln w="9525">
                <a:noFill/>
                <a:miter lim="800000"/>
              </a:ln>
            </p:spPr>
            <p:txBody>
              <a:bodyPr wrap="none" anchor="ctr"/>
              <a:lstStyle/>
              <a:p>
                <a:pPr algn="ctr"/>
                <a:r>
                  <a:rPr lang="en-US" altLang="zh-CN" sz="2400" dirty="0">
                    <a:ea typeface="楷体_GB2312"/>
                  </a:rPr>
                  <a:t>Loc(a</a:t>
                </a:r>
                <a:r>
                  <a:rPr lang="en-US" altLang="zh-CN" sz="2400" baseline="-25000" dirty="0">
                    <a:ea typeface="楷体_GB2312"/>
                  </a:rPr>
                  <a:t>1</a:t>
                </a:r>
                <a:r>
                  <a:rPr lang="en-US" altLang="zh-CN" sz="2400" dirty="0">
                    <a:ea typeface="楷体_GB2312"/>
                  </a:rPr>
                  <a:t>)</a:t>
                </a:r>
              </a:p>
            </p:txBody>
          </p:sp>
          <p:sp>
            <p:nvSpPr>
              <p:cNvPr id="35847" name="Line 15"/>
              <p:cNvSpPr>
                <a:spLocks noChangeShapeType="1"/>
              </p:cNvSpPr>
              <p:nvPr/>
            </p:nvSpPr>
            <p:spPr bwMode="auto">
              <a:xfrm>
                <a:off x="480" y="276"/>
                <a:ext cx="0" cy="144"/>
              </a:xfrm>
              <a:prstGeom prst="line">
                <a:avLst/>
              </a:prstGeom>
              <a:noFill/>
              <a:ln w="12700">
                <a:solidFill>
                  <a:schemeClr val="tx1"/>
                </a:solidFill>
                <a:round/>
                <a:tailEnd type="triangle" w="med" len="med"/>
              </a:ln>
            </p:spPr>
            <p:txBody>
              <a:bodyPr/>
              <a:lstStyle/>
              <a:p>
                <a:endParaRPr lang="zh-CN" altLang="en-US"/>
              </a:p>
            </p:txBody>
          </p:sp>
          <p:sp>
            <p:nvSpPr>
              <p:cNvPr id="35848" name="Rectangle 16"/>
              <p:cNvSpPr>
                <a:spLocks noChangeArrowheads="1"/>
              </p:cNvSpPr>
              <p:nvPr/>
            </p:nvSpPr>
            <p:spPr bwMode="auto">
              <a:xfrm>
                <a:off x="1147" y="6"/>
                <a:ext cx="1165" cy="249"/>
              </a:xfrm>
              <a:prstGeom prst="rect">
                <a:avLst/>
              </a:prstGeom>
              <a:noFill/>
              <a:ln w="9525">
                <a:noFill/>
                <a:miter lim="800000"/>
              </a:ln>
            </p:spPr>
            <p:txBody>
              <a:bodyPr wrap="none" anchor="ctr"/>
              <a:lstStyle/>
              <a:p>
                <a:pPr algn="ctr"/>
                <a:r>
                  <a:rPr lang="en-US" altLang="zh-CN" sz="2400">
                    <a:ea typeface="楷体_GB2312"/>
                  </a:rPr>
                  <a:t>Loc(a</a:t>
                </a:r>
                <a:r>
                  <a:rPr lang="en-US" altLang="zh-CN" sz="2400" baseline="-25000">
                    <a:ea typeface="楷体_GB2312"/>
                  </a:rPr>
                  <a:t>1</a:t>
                </a:r>
                <a:r>
                  <a:rPr lang="en-US" altLang="zh-CN" sz="2400">
                    <a:ea typeface="楷体_GB2312"/>
                  </a:rPr>
                  <a:t>)+(i-1)* </a:t>
                </a:r>
                <a:r>
                  <a:rPr lang="en-US" altLang="zh-CN" sz="2400" i="1">
                    <a:ea typeface="楷体_GB2312"/>
                  </a:rPr>
                  <a:t>l</a:t>
                </a:r>
                <a:r>
                  <a:rPr lang="en-US" altLang="zh-CN" sz="2400">
                    <a:ea typeface="楷体_GB2312"/>
                  </a:rPr>
                  <a:t> </a:t>
                </a:r>
              </a:p>
            </p:txBody>
          </p:sp>
          <p:sp>
            <p:nvSpPr>
              <p:cNvPr id="35849" name="Line 17"/>
              <p:cNvSpPr>
                <a:spLocks noChangeShapeType="1"/>
              </p:cNvSpPr>
              <p:nvPr/>
            </p:nvSpPr>
            <p:spPr bwMode="auto">
              <a:xfrm>
                <a:off x="1374" y="276"/>
                <a:ext cx="0" cy="144"/>
              </a:xfrm>
              <a:prstGeom prst="line">
                <a:avLst/>
              </a:prstGeom>
              <a:noFill/>
              <a:ln w="12700">
                <a:solidFill>
                  <a:schemeClr val="tx1"/>
                </a:solidFill>
                <a:round/>
                <a:tailEnd type="triangle" w="med" len="med"/>
              </a:ln>
            </p:spPr>
            <p:txBody>
              <a:bodyPr/>
              <a:lstStyle/>
              <a:p>
                <a:endParaRPr lang="zh-CN" altLang="en-US"/>
              </a:p>
            </p:txBody>
          </p:sp>
        </p:grpSp>
        <p:sp>
          <p:nvSpPr>
            <p:cNvPr id="62482" name="Rectangle 18"/>
            <p:cNvSpPr>
              <a:spLocks noChangeArrowheads="1"/>
            </p:cNvSpPr>
            <p:nvPr/>
          </p:nvSpPr>
          <p:spPr bwMode="auto">
            <a:xfrm>
              <a:off x="0" y="996"/>
              <a:ext cx="2681" cy="280"/>
            </a:xfrm>
            <a:prstGeom prst="rect">
              <a:avLst/>
            </a:prstGeom>
            <a:noFill/>
            <a:ln w="9525">
              <a:noFill/>
              <a:miter lim="800000"/>
            </a:ln>
            <a:effectLst/>
          </p:spPr>
          <p:txBody>
            <a:bodyPr lIns="92075" tIns="46038" rIns="92075" bIns="46038" anchor="ctr"/>
            <a:lstStyle/>
            <a:p>
              <a:pPr algn="ctr">
                <a:defRPr/>
              </a:pPr>
              <a:r>
                <a:rPr lang="zh-CN" altLang="en-US" sz="2000">
                  <a:latin typeface="Arial" panose="020B0604020202020204" pitchFamily="34" charset="0"/>
                  <a:ea typeface="楷体_GB2312" pitchFamily="49" charset="-122"/>
                  <a:cs typeface="+mn-cs"/>
                </a:rPr>
                <a:t>图</a:t>
              </a:r>
              <a:r>
                <a:rPr lang="en-US" sz="2000">
                  <a:latin typeface="楷体_GB2312" pitchFamily="49" charset="-122"/>
                  <a:ea typeface="楷体_GB2312" pitchFamily="49" charset="-122"/>
                  <a:cs typeface="+mn-cs"/>
                </a:rPr>
                <a:t>2-1</a:t>
              </a:r>
              <a:r>
                <a:rPr lang="en-US" sz="2000">
                  <a:effectLst>
                    <a:outerShdw blurRad="38100" dist="38100" dir="2700000" algn="tl">
                      <a:srgbClr val="000000"/>
                    </a:outerShdw>
                  </a:effectLst>
                  <a:latin typeface="楷体_GB2312" pitchFamily="49" charset="-122"/>
                  <a:ea typeface="楷体_GB2312" pitchFamily="49" charset="-122"/>
                  <a:cs typeface="+mn-cs"/>
                </a:rPr>
                <a:t>   </a:t>
              </a:r>
              <a:r>
                <a:rPr lang="zh-CN" altLang="en-US" sz="2000">
                  <a:latin typeface="楷体_GB2312" pitchFamily="49" charset="-122"/>
                  <a:ea typeface="楷体_GB2312" pitchFamily="49" charset="-122"/>
                  <a:cs typeface="+mn-cs"/>
                </a:rPr>
                <a:t>线性表的顺序存储表示</a:t>
              </a:r>
              <a:endParaRPr lang="zh-CN" altLang="en-US" sz="2000">
                <a:effectLst>
                  <a:outerShdw blurRad="38100" dist="38100" dir="2700000" algn="tl">
                    <a:srgbClr val="000000"/>
                  </a:outerShdw>
                </a:effectLst>
                <a:latin typeface="Arial" panose="020B0604020202020204" pitchFamily="34" charset="0"/>
                <a:ea typeface="楷体_GB2312" pitchFamily="49" charset="-122"/>
                <a:cs typeface="+mn-cs"/>
              </a:endParaRPr>
            </a:p>
          </p:txBody>
        </p:sp>
      </p:gr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2466"/>
                                        </p:tgtEl>
                                        <p:attrNameLst>
                                          <p:attrName>style.visibility</p:attrName>
                                        </p:attrNameLst>
                                      </p:cBhvr>
                                      <p:to>
                                        <p:strVal val="visible"/>
                                      </p:to>
                                    </p:set>
                                    <p:animEffect transition="in" filter="dissolve">
                                      <p:cBhvr>
                                        <p:cTn id="7" dur="500"/>
                                        <p:tgtEl>
                                          <p:spTgt spid="62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p:nvPr>
        </p:nvSpPr>
        <p:spPr/>
        <p:txBody>
          <a:bodyPr>
            <a:normAutofit/>
          </a:bodyPr>
          <a:lstStyle/>
          <a:p>
            <a:endParaRPr lang="zh-CN" altLang="en-US" sz="3600" dirty="0">
              <a:latin typeface="华文新魏" panose="02010800040101010101" pitchFamily="2" charset="-122"/>
              <a:ea typeface="华文新魏" panose="02010800040101010101" pitchFamily="2" charset="-122"/>
            </a:endParaRPr>
          </a:p>
          <a:p>
            <a:pPr marL="0" indent="0">
              <a:buNone/>
            </a:pPr>
            <a:r>
              <a:rPr lang="zh-CN" altLang="en-US" sz="3600" dirty="0">
                <a:latin typeface="华文新魏" panose="02010800040101010101" pitchFamily="2" charset="-122"/>
                <a:ea typeface="华文新魏" panose="02010800040101010101" pitchFamily="2" charset="-122"/>
              </a:rPr>
              <a:t>在高级程序设计语言（如</a:t>
            </a:r>
            <a:r>
              <a:rPr lang="en-US" altLang="zh-CN" sz="3600" dirty="0">
                <a:latin typeface="华文新魏" panose="02010800040101010101" pitchFamily="2" charset="-122"/>
                <a:ea typeface="华文新魏" panose="02010800040101010101" pitchFamily="2" charset="-122"/>
              </a:rPr>
              <a:t>C</a:t>
            </a:r>
            <a:r>
              <a:rPr lang="zh-CN" altLang="en-US" sz="3600" dirty="0">
                <a:latin typeface="华文新魏" panose="02010800040101010101" pitchFamily="2" charset="-122"/>
                <a:ea typeface="华文新魏" panose="02010800040101010101" pitchFamily="2" charset="-122"/>
              </a:rPr>
              <a:t>语言）中的数组类型具有</a:t>
            </a:r>
            <a:r>
              <a:rPr lang="zh-CN" altLang="en-US" sz="3600" dirty="0">
                <a:solidFill>
                  <a:srgbClr val="FF0000"/>
                </a:solidFill>
                <a:latin typeface="华文新魏" panose="02010800040101010101" pitchFamily="2" charset="-122"/>
                <a:ea typeface="华文新魏" panose="02010800040101010101" pitchFamily="2" charset="-122"/>
              </a:rPr>
              <a:t>随机存取</a:t>
            </a:r>
            <a:r>
              <a:rPr lang="zh-CN" altLang="en-US" sz="3600" dirty="0">
                <a:latin typeface="华文新魏" panose="02010800040101010101" pitchFamily="2" charset="-122"/>
                <a:ea typeface="华文新魏" panose="02010800040101010101" pitchFamily="2" charset="-122"/>
              </a:rPr>
              <a:t>的特性。因此通常使用数组来描述数据结构中的顺序存储结构。</a:t>
            </a:r>
          </a:p>
          <a:p>
            <a:pPr marL="0" indent="0">
              <a:buNone/>
            </a:pPr>
            <a:endParaRPr lang="zh-CN" altLang="en-US" sz="3600" dirty="0">
              <a:latin typeface="华文新魏" panose="02010800040101010101" pitchFamily="2" charset="-122"/>
              <a:ea typeface="华文新魏" panose="02010800040101010101" pitchFamily="2" charset="-122"/>
            </a:endParaRPr>
          </a:p>
          <a:p>
            <a:pPr marL="0" indent="0">
              <a:buNone/>
            </a:pPr>
            <a:r>
              <a:rPr lang="zh-CN" altLang="en-US" sz="3600" dirty="0">
                <a:latin typeface="华文新魏" panose="02010800040101010101" pitchFamily="2" charset="-122"/>
                <a:ea typeface="华文新魏" panose="02010800040101010101" pitchFamily="2" charset="-122"/>
              </a:rPr>
              <a:t>由于线性表的长度可变，所需要的存储空间随着问题的不同而不同。可以采用</a:t>
            </a:r>
            <a:r>
              <a:rPr lang="en-US" altLang="zh-CN" sz="3600" dirty="0">
                <a:latin typeface="华文新魏" panose="02010800040101010101" pitchFamily="2" charset="-122"/>
                <a:ea typeface="华文新魏" panose="02010800040101010101" pitchFamily="2" charset="-122"/>
              </a:rPr>
              <a:t>C</a:t>
            </a:r>
            <a:r>
              <a:rPr lang="zh-CN" altLang="en-US" sz="3600" dirty="0">
                <a:latin typeface="华文新魏" panose="02010800040101010101" pitchFamily="2" charset="-122"/>
                <a:ea typeface="华文新魏" panose="02010800040101010101" pitchFamily="2" charset="-122"/>
              </a:rPr>
              <a:t>语言中的</a:t>
            </a:r>
            <a:r>
              <a:rPr lang="zh-CN" altLang="en-US" sz="3600" dirty="0">
                <a:solidFill>
                  <a:srgbClr val="FF0000"/>
                </a:solidFill>
                <a:latin typeface="华文新魏" panose="02010800040101010101" pitchFamily="2" charset="-122"/>
                <a:ea typeface="华文新魏" panose="02010800040101010101" pitchFamily="2" charset="-122"/>
              </a:rPr>
              <a:t>动态</a:t>
            </a:r>
            <a:r>
              <a:rPr lang="zh-CN" altLang="en-US" sz="3600" dirty="0">
                <a:latin typeface="华文新魏" panose="02010800040101010101" pitchFamily="2" charset="-122"/>
                <a:ea typeface="华文新魏" panose="02010800040101010101" pitchFamily="2" charset="-122"/>
              </a:rPr>
              <a:t>分配的一维数组。</a:t>
            </a:r>
          </a:p>
        </p:txBody>
      </p:sp>
    </p:spTree>
  </p:cSld>
  <p:clrMapOvr>
    <a:masterClrMapping/>
  </p:clrMapOvr>
  <p:transition>
    <p:strips dir="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D11AC8F-3D2C-CEB3-2C27-1B3973FA59BA}"/>
              </a:ext>
            </a:extLst>
          </p:cNvPr>
          <p:cNvSpPr>
            <a:spLocks noGrp="1"/>
          </p:cNvSpPr>
          <p:nvPr>
            <p:ph/>
          </p:nvPr>
        </p:nvSpPr>
        <p:spPr>
          <a:xfrm>
            <a:off x="119336" y="609600"/>
            <a:ext cx="11809312" cy="5486400"/>
          </a:xfrm>
        </p:spPr>
        <p:txBody>
          <a:bodyPr>
            <a:normAutofit lnSpcReduction="10000"/>
          </a:bodyPr>
          <a:lstStyle/>
          <a:p>
            <a:pPr indent="320040" algn="just">
              <a:lnSpc>
                <a:spcPct val="120000"/>
              </a:lnSpc>
              <a:spcBef>
                <a:spcPts val="600"/>
              </a:spcBef>
              <a:buNone/>
            </a:pPr>
            <a:r>
              <a:rPr lang="en-US"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 </a:t>
            </a:r>
            <a:r>
              <a:rPr lang="zh-CN"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线性表的动态分配顺序存储结构</a:t>
            </a:r>
            <a:r>
              <a:rPr lang="en-US"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 -----</a:t>
            </a:r>
            <a:endParaRPr lang="zh-CN"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endParaRPr>
          </a:p>
          <a:p>
            <a:pPr indent="321310" algn="just">
              <a:lnSpc>
                <a:spcPct val="120000"/>
              </a:lnSpc>
              <a:buNone/>
            </a:pPr>
            <a:r>
              <a:rPr lang="en-US" altLang="zh-CN" kern="100" dirty="0">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typedef struct {</a:t>
            </a:r>
            <a:endParaRPr lang="zh-CN" altLang="zh-CN" kern="100" dirty="0">
              <a:latin typeface="Times New Roman" panose="02020603050405020304" pitchFamily="18" charset="0"/>
              <a:ea typeface="华文新魏" panose="02010800040101010101" pitchFamily="2" charset="-122"/>
              <a:cs typeface="Times New Roman" panose="02020603050405020304" pitchFamily="18" charset="0"/>
            </a:endParaRPr>
          </a:p>
          <a:p>
            <a:pPr indent="472440" algn="just">
              <a:lnSpc>
                <a:spcPct val="120000"/>
              </a:lnSpc>
              <a:buNone/>
            </a:pPr>
            <a:r>
              <a:rPr lang="en-US" altLang="zh-CN" kern="10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 </a:t>
            </a:r>
            <a:r>
              <a:rPr lang="en-US" altLang="zh-CN" kern="100" dirty="0" err="1">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ElemType</a:t>
            </a:r>
            <a:r>
              <a:rPr lang="en-US" altLang="zh-CN" kern="100" dirty="0">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kern="100" dirty="0" err="1">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elem</a:t>
            </a:r>
            <a:r>
              <a:rPr lang="en-US" altLang="zh-CN" kern="10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    </a:t>
            </a:r>
            <a:r>
              <a:rPr lang="en-US"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 </a:t>
            </a:r>
            <a:r>
              <a:rPr lang="zh-CN"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存储空间基址</a:t>
            </a:r>
          </a:p>
          <a:p>
            <a:pPr indent="474345" algn="just">
              <a:lnSpc>
                <a:spcPct val="120000"/>
              </a:lnSpc>
              <a:buNone/>
            </a:pPr>
            <a:r>
              <a:rPr lang="en-US" altLang="zh-CN" kern="100" dirty="0">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 int       </a:t>
            </a:r>
            <a:r>
              <a:rPr lang="en-US" altLang="zh-CN" kern="100" dirty="0" err="1">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len</a:t>
            </a:r>
            <a:r>
              <a:rPr lang="en-US" altLang="zh-CN" kern="10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     </a:t>
            </a:r>
            <a:r>
              <a:rPr lang="en-US"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 </a:t>
            </a:r>
            <a:r>
              <a:rPr lang="zh-CN"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当前长度</a:t>
            </a:r>
          </a:p>
          <a:p>
            <a:pPr indent="474345" algn="just">
              <a:lnSpc>
                <a:spcPct val="120000"/>
              </a:lnSpc>
              <a:buNone/>
            </a:pPr>
            <a:r>
              <a:rPr lang="en-US" altLang="zh-CN" kern="100" dirty="0">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 int       size</a:t>
            </a:r>
            <a:r>
              <a:rPr lang="en-US" altLang="zh-CN" kern="10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    </a:t>
            </a:r>
            <a:r>
              <a:rPr lang="en-US"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 </a:t>
            </a:r>
            <a:r>
              <a:rPr lang="zh-CN"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当前分配的存储容量，以</a:t>
            </a:r>
            <a:r>
              <a:rPr lang="en-US" altLang="zh-CN" kern="100" dirty="0" err="1">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sizeof</a:t>
            </a:r>
            <a:r>
              <a:rPr lang="en-US"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a:t>
            </a:r>
            <a:r>
              <a:rPr lang="en-US" altLang="zh-CN" kern="100" dirty="0" err="1">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ElemType</a:t>
            </a:r>
            <a:r>
              <a:rPr lang="en-US"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a:t>
            </a:r>
            <a:r>
              <a:rPr lang="zh-CN"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为单位</a:t>
            </a:r>
          </a:p>
          <a:p>
            <a:pPr indent="474345" algn="just">
              <a:lnSpc>
                <a:spcPct val="120000"/>
              </a:lnSpc>
              <a:buNone/>
            </a:pPr>
            <a:r>
              <a:rPr lang="en-US" altLang="zh-CN" kern="10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 </a:t>
            </a:r>
            <a:r>
              <a:rPr lang="en-US" altLang="zh-CN" kern="100" dirty="0">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int       </a:t>
            </a:r>
            <a:r>
              <a:rPr lang="en-US" altLang="zh-CN" kern="100" dirty="0" err="1">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inc</a:t>
            </a:r>
            <a:r>
              <a:rPr lang="en-US" altLang="zh-CN" kern="10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     </a:t>
            </a:r>
            <a:r>
              <a:rPr lang="en-US"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 </a:t>
            </a:r>
            <a:r>
              <a:rPr lang="zh-CN"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每次存储空间扩容的增量</a:t>
            </a:r>
          </a:p>
          <a:p>
            <a:pPr indent="321310" algn="just">
              <a:lnSpc>
                <a:spcPct val="120000"/>
              </a:lnSpc>
              <a:spcAft>
                <a:spcPts val="600"/>
              </a:spcAft>
              <a:buNone/>
            </a:pPr>
            <a:r>
              <a:rPr lang="en-US" altLang="zh-CN" kern="10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 </a:t>
            </a:r>
            <a:r>
              <a:rPr lang="en-US" altLang="zh-CN" kern="100" dirty="0">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kern="100" dirty="0" err="1">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SqList</a:t>
            </a:r>
            <a:r>
              <a:rPr lang="en-US" altLang="zh-CN" kern="100" dirty="0">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 *List</a:t>
            </a:r>
            <a:r>
              <a:rPr lang="en-US" altLang="zh-CN" kern="10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    </a:t>
            </a:r>
            <a:r>
              <a:rPr lang="en-US"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 </a:t>
            </a:r>
            <a:r>
              <a:rPr lang="zh-CN"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顺序表类型</a:t>
            </a:r>
            <a:r>
              <a:rPr lang="en-US"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a:t>
            </a:r>
            <a:r>
              <a:rPr lang="zh-CN"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定义为指针类型，可实现完全动态存储分配和回收</a:t>
            </a:r>
            <a:r>
              <a:rPr lang="en-US"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a:t>
            </a:r>
            <a:endParaRPr lang="zh-CN"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endParaRPr>
          </a:p>
          <a:p>
            <a:pPr indent="320040" algn="just">
              <a:lnSpc>
                <a:spcPct val="120000"/>
              </a:lnSpc>
              <a:spcAft>
                <a:spcPts val="600"/>
              </a:spcAft>
              <a:buNone/>
            </a:pPr>
            <a:r>
              <a:rPr lang="en-US" altLang="zh-CN" kern="100" dirty="0" err="1">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SqList</a:t>
            </a:r>
            <a:r>
              <a:rPr lang="en-US" altLang="zh-CN" kern="100" dirty="0">
                <a:solidFill>
                  <a:srgbClr val="000000"/>
                </a:solidFill>
                <a:latin typeface="华文新魏" panose="02010800040101010101" pitchFamily="2" charset="-122"/>
                <a:ea typeface="华文新魏" panose="02010800040101010101" pitchFamily="2" charset="-122"/>
                <a:cs typeface="Times New Roman" panose="02020603050405020304" pitchFamily="18" charset="0"/>
              </a:rPr>
              <a:t>  L; </a:t>
            </a:r>
            <a:r>
              <a:rPr lang="en-US"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 L</a:t>
            </a:r>
            <a:r>
              <a:rPr lang="zh-CN"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被声明为</a:t>
            </a:r>
            <a:r>
              <a:rPr lang="zh-CN" altLang="zh-CN" kern="100" dirty="0">
                <a:solidFill>
                  <a:srgbClr val="FF0000"/>
                </a:solidFill>
                <a:latin typeface="华文新魏" panose="02010800040101010101" pitchFamily="2" charset="-122"/>
                <a:ea typeface="华文新魏" panose="02010800040101010101" pitchFamily="2" charset="-122"/>
                <a:cs typeface="Times New Roman" panose="02020603050405020304" pitchFamily="18" charset="0"/>
              </a:rPr>
              <a:t>顺序表指针变量</a:t>
            </a:r>
            <a:r>
              <a:rPr lang="zh-CN" altLang="zh-CN" kern="100" dirty="0">
                <a:solidFill>
                  <a:srgbClr val="0070C0"/>
                </a:solidFill>
                <a:latin typeface="华文新魏" panose="02010800040101010101" pitchFamily="2" charset="-122"/>
                <a:ea typeface="华文新魏" panose="02010800040101010101" pitchFamily="2" charset="-122"/>
                <a:cs typeface="Times New Roman" panose="02020603050405020304" pitchFamily="18" charset="0"/>
              </a:rPr>
              <a:t>，须调用初始化操作才能使用</a:t>
            </a:r>
          </a:p>
          <a:p>
            <a:endParaRPr lang="zh-CN" altLang="en-US" dirty="0">
              <a:latin typeface="华文新魏" panose="02010800040101010101" pitchFamily="2" charset="-122"/>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1211477993"/>
      </p:ext>
    </p:extLst>
  </p:cSld>
  <p:clrMapOvr>
    <a:masterClrMapping/>
  </p:clrMapOvr>
  <p:transition>
    <p:strips dir="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p:nvPr/>
        </p:nvSpPr>
        <p:spPr>
          <a:xfrm>
            <a:off x="2286000" y="501650"/>
            <a:ext cx="75501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660033"/>
                </a:solidFill>
                <a:ea typeface="楷体_GB2312" pitchFamily="49" charset="-122"/>
              </a:rPr>
              <a:t>线性表的基本操作在顺序表中的实现</a:t>
            </a:r>
            <a:endParaRPr lang="zh-CN" altLang="zh-CN" sz="3600" dirty="0"/>
          </a:p>
        </p:txBody>
      </p:sp>
      <p:sp>
        <p:nvSpPr>
          <p:cNvPr id="47107" name="Text Box 3">
            <a:hlinkClick r:id="" action="ppaction://hlinkshowjump?jump=nextslide"/>
          </p:cNvPr>
          <p:cNvSpPr txBox="1"/>
          <p:nvPr/>
        </p:nvSpPr>
        <p:spPr>
          <a:xfrm>
            <a:off x="2667001" y="1676401"/>
            <a:ext cx="6270306" cy="6463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990000"/>
                </a:solidFill>
              </a:rPr>
              <a:t>InitList(</a:t>
            </a:r>
            <a:r>
              <a:rPr lang="en-US" altLang="zh-CN" sz="3600" b="1" dirty="0" err="1">
                <a:solidFill>
                  <a:srgbClr val="990000"/>
                </a:solidFill>
              </a:rPr>
              <a:t>size,inc</a:t>
            </a:r>
            <a:r>
              <a:rPr lang="zh-CN" altLang="zh-CN" sz="3600" b="1" dirty="0">
                <a:solidFill>
                  <a:srgbClr val="990000"/>
                </a:solidFill>
              </a:rPr>
              <a:t>)   // </a:t>
            </a:r>
            <a:r>
              <a:rPr lang="zh-CN" altLang="zh-CN" sz="3600" b="1" dirty="0">
                <a:solidFill>
                  <a:srgbClr val="990000"/>
                </a:solidFill>
                <a:ea typeface="楷体_GB2312" pitchFamily="49" charset="-122"/>
              </a:rPr>
              <a:t>结构初始化</a:t>
            </a:r>
            <a:endParaRPr lang="zh-CN" altLang="zh-CN" sz="3600" dirty="0"/>
          </a:p>
        </p:txBody>
      </p:sp>
      <p:sp>
        <p:nvSpPr>
          <p:cNvPr id="47108" name="Text Box 4">
            <a:hlinkClick r:id="rId2" action="ppaction://hlinksldjump"/>
          </p:cNvPr>
          <p:cNvSpPr txBox="1"/>
          <p:nvPr/>
        </p:nvSpPr>
        <p:spPr>
          <a:xfrm>
            <a:off x="2667000" y="2787651"/>
            <a:ext cx="6853158" cy="6463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990000"/>
                </a:solidFill>
              </a:rPr>
              <a:t>LocateElem(L, e, </a:t>
            </a:r>
            <a:r>
              <a:rPr lang="en-US" altLang="zh-CN" sz="3600" b="1" dirty="0">
                <a:solidFill>
                  <a:srgbClr val="990000"/>
                </a:solidFill>
              </a:rPr>
              <a:t>equal</a:t>
            </a:r>
            <a:r>
              <a:rPr lang="zh-CN" altLang="zh-CN" sz="3600" b="1" dirty="0">
                <a:solidFill>
                  <a:srgbClr val="990000"/>
                </a:solidFill>
              </a:rPr>
              <a:t>())   // </a:t>
            </a:r>
            <a:r>
              <a:rPr lang="zh-CN" altLang="zh-CN" sz="3600" b="1" dirty="0">
                <a:solidFill>
                  <a:srgbClr val="990000"/>
                </a:solidFill>
                <a:ea typeface="楷体_GB2312" pitchFamily="49" charset="-122"/>
              </a:rPr>
              <a:t>查找</a:t>
            </a:r>
            <a:endParaRPr lang="zh-CN" altLang="zh-CN" sz="3600" dirty="0"/>
          </a:p>
        </p:txBody>
      </p:sp>
      <p:sp>
        <p:nvSpPr>
          <p:cNvPr id="47109" name="Text Box 5">
            <a:hlinkClick r:id="rId2" action="ppaction://hlinksldjump"/>
          </p:cNvPr>
          <p:cNvSpPr txBox="1"/>
          <p:nvPr/>
        </p:nvSpPr>
        <p:spPr>
          <a:xfrm>
            <a:off x="2667001" y="3930651"/>
            <a:ext cx="6109365" cy="6463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990000"/>
                </a:solidFill>
              </a:rPr>
              <a:t>ListInsert(L, i, e)   // </a:t>
            </a:r>
            <a:r>
              <a:rPr lang="zh-CN" altLang="zh-CN" sz="3600" b="1" dirty="0">
                <a:solidFill>
                  <a:srgbClr val="990000"/>
                </a:solidFill>
                <a:ea typeface="楷体_GB2312" pitchFamily="49" charset="-122"/>
              </a:rPr>
              <a:t>插入元素</a:t>
            </a:r>
            <a:endParaRPr lang="zh-CN" altLang="zh-CN" sz="3600" dirty="0"/>
          </a:p>
        </p:txBody>
      </p:sp>
      <p:sp>
        <p:nvSpPr>
          <p:cNvPr id="47110" name="Text Box 6">
            <a:hlinkClick r:id="rId2" action="ppaction://hlinksldjump"/>
          </p:cNvPr>
          <p:cNvSpPr txBox="1"/>
          <p:nvPr/>
        </p:nvSpPr>
        <p:spPr>
          <a:xfrm>
            <a:off x="2667000" y="5073651"/>
            <a:ext cx="5724644" cy="6463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990000"/>
                </a:solidFill>
              </a:rPr>
              <a:t>ListDelete(L, i)   // </a:t>
            </a:r>
            <a:r>
              <a:rPr lang="zh-CN" altLang="zh-CN" sz="3600" b="1" dirty="0">
                <a:solidFill>
                  <a:srgbClr val="990000"/>
                </a:solidFill>
                <a:ea typeface="楷体_GB2312" pitchFamily="49" charset="-122"/>
              </a:rPr>
              <a:t>删除元素</a:t>
            </a:r>
            <a:endParaRPr lang="zh-CN" altLang="zh-CN" sz="3600" dirty="0"/>
          </a:p>
        </p:txBody>
      </p:sp>
      <p:sp>
        <p:nvSpPr>
          <p:cNvPr id="47111" name="AutoShape 7">
            <a:hlinkClick r:id="rId3" action="ppaction://hlinksldjump" highlightClick="1"/>
          </p:cNvPr>
          <p:cNvSpPr>
            <a:spLocks noChangeArrowheads="1"/>
          </p:cNvSpPr>
          <p:nvPr/>
        </p:nvSpPr>
        <p:spPr bwMode="auto">
          <a:xfrm>
            <a:off x="9677400" y="6096000"/>
            <a:ext cx="685800" cy="381000"/>
          </a:xfrm>
          <a:prstGeom prst="actionButtonBeginning">
            <a:avLst/>
          </a:prstGeom>
          <a:solidFill>
            <a:schemeClr val="bg2"/>
          </a:solidFill>
          <a:ln>
            <a:noFill/>
          </a:ln>
          <a:effectLst>
            <a:prstShdw prst="shdw17" dist="17961" dir="2700000">
              <a:schemeClr val="bg2">
                <a:gamma/>
                <a:shade val="60000"/>
                <a:invGamma/>
              </a:schemeClr>
            </a:prstShdw>
          </a:effectLst>
        </p:spPr>
        <p:txBody>
          <a:bodyPr wrap="none" anchor="ctr"/>
          <a:lstStyle/>
          <a:p>
            <a:pPr>
              <a:defRPr/>
            </a:pPr>
            <a:endParaRPr kumimoji="0" lang="zh-CN" altLang="en-US">
              <a:solidFill>
                <a:schemeClr val="tx1"/>
              </a:solidFill>
              <a:latin typeface="Times New Roman" panose="02020603050405020304" pitchFamily="18" charset="0"/>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47106"/>
                                        </p:tgtEl>
                                        <p:attrNameLst>
                                          <p:attrName>style.visibility</p:attrName>
                                        </p:attrNameLst>
                                      </p:cBhvr>
                                      <p:to>
                                        <p:strVal val="visible"/>
                                      </p:to>
                                    </p:set>
                                    <p:anim calcmode="lin" valueType="num">
                                      <p:cBhvr additive="base">
                                        <p:cTn id="7" dur="500" fill="hold"/>
                                        <p:tgtEl>
                                          <p:spTgt spid="47106"/>
                                        </p:tgtEl>
                                        <p:attrNameLst>
                                          <p:attrName>ppt_x</p:attrName>
                                        </p:attrNameLst>
                                      </p:cBhvr>
                                      <p:tavLst>
                                        <p:tav tm="0">
                                          <p:val>
                                            <p:strVal val="#ppt_x"/>
                                          </p:val>
                                        </p:tav>
                                        <p:tav tm="100000">
                                          <p:val>
                                            <p:strVal val="#ppt_x"/>
                                          </p:val>
                                        </p:tav>
                                      </p:tavLst>
                                    </p:anim>
                                    <p:anim calcmode="lin" valueType="num">
                                      <p:cBhvr additive="base">
                                        <p:cTn id="8" dur="500" fill="hold"/>
                                        <p:tgtEl>
                                          <p:spTgt spid="4710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5" fill="hold" nodeType="clickEffect">
                                  <p:stCondLst>
                                    <p:cond delay="0"/>
                                  </p:stCondLst>
                                  <p:childTnLst>
                                    <p:set>
                                      <p:cBhvr>
                                        <p:cTn id="12" dur="1" fill="hold">
                                          <p:stCondLst>
                                            <p:cond delay="0"/>
                                          </p:stCondLst>
                                        </p:cTn>
                                        <p:tgtEl>
                                          <p:spTgt spid="47107"/>
                                        </p:tgtEl>
                                        <p:attrNameLst>
                                          <p:attrName>style.visibility</p:attrName>
                                        </p:attrNameLst>
                                      </p:cBhvr>
                                      <p:to>
                                        <p:strVal val="visible"/>
                                      </p:to>
                                    </p:set>
                                    <p:animEffect transition="in" filter="checkerboard(down)">
                                      <p:cBhvr>
                                        <p:cTn id="13" dur="500"/>
                                        <p:tgtEl>
                                          <p:spTgt spid="47107"/>
                                        </p:tgtEl>
                                      </p:cBhvr>
                                    </p:animEffect>
                                  </p:childTnLst>
                                </p:cTn>
                              </p:par>
                            </p:childTnLst>
                          </p:cTn>
                        </p:par>
                        <p:par>
                          <p:cTn id="14" fill="hold">
                            <p:stCondLst>
                              <p:cond delay="500"/>
                            </p:stCondLst>
                            <p:childTnLst>
                              <p:par>
                                <p:cTn id="15" presetID="5" presetClass="entr" presetSubtype="5" fill="hold" nodeType="afterEffect">
                                  <p:stCondLst>
                                    <p:cond delay="0"/>
                                  </p:stCondLst>
                                  <p:childTnLst>
                                    <p:set>
                                      <p:cBhvr>
                                        <p:cTn id="16" dur="1" fill="hold">
                                          <p:stCondLst>
                                            <p:cond delay="0"/>
                                          </p:stCondLst>
                                        </p:cTn>
                                        <p:tgtEl>
                                          <p:spTgt spid="47108"/>
                                        </p:tgtEl>
                                        <p:attrNameLst>
                                          <p:attrName>style.visibility</p:attrName>
                                        </p:attrNameLst>
                                      </p:cBhvr>
                                      <p:to>
                                        <p:strVal val="visible"/>
                                      </p:to>
                                    </p:set>
                                    <p:animEffect transition="in" filter="checkerboard(down)">
                                      <p:cBhvr>
                                        <p:cTn id="17" dur="500"/>
                                        <p:tgtEl>
                                          <p:spTgt spid="47108"/>
                                        </p:tgtEl>
                                      </p:cBhvr>
                                    </p:animEffect>
                                  </p:childTnLst>
                                </p:cTn>
                              </p:par>
                            </p:childTnLst>
                          </p:cTn>
                        </p:par>
                        <p:par>
                          <p:cTn id="18" fill="hold">
                            <p:stCondLst>
                              <p:cond delay="1000"/>
                            </p:stCondLst>
                            <p:childTnLst>
                              <p:par>
                                <p:cTn id="19" presetID="5" presetClass="entr" presetSubtype="5" fill="hold" nodeType="afterEffect">
                                  <p:stCondLst>
                                    <p:cond delay="0"/>
                                  </p:stCondLst>
                                  <p:childTnLst>
                                    <p:set>
                                      <p:cBhvr>
                                        <p:cTn id="20" dur="1" fill="hold">
                                          <p:stCondLst>
                                            <p:cond delay="0"/>
                                          </p:stCondLst>
                                        </p:cTn>
                                        <p:tgtEl>
                                          <p:spTgt spid="47109"/>
                                        </p:tgtEl>
                                        <p:attrNameLst>
                                          <p:attrName>style.visibility</p:attrName>
                                        </p:attrNameLst>
                                      </p:cBhvr>
                                      <p:to>
                                        <p:strVal val="visible"/>
                                      </p:to>
                                    </p:set>
                                    <p:animEffect transition="in" filter="checkerboard(down)">
                                      <p:cBhvr>
                                        <p:cTn id="21" dur="500"/>
                                        <p:tgtEl>
                                          <p:spTgt spid="47109"/>
                                        </p:tgtEl>
                                      </p:cBhvr>
                                    </p:animEffect>
                                  </p:childTnLst>
                                </p:cTn>
                              </p:par>
                            </p:childTnLst>
                          </p:cTn>
                        </p:par>
                        <p:par>
                          <p:cTn id="22" fill="hold">
                            <p:stCondLst>
                              <p:cond delay="1500"/>
                            </p:stCondLst>
                            <p:childTnLst>
                              <p:par>
                                <p:cTn id="23" presetID="5" presetClass="entr" presetSubtype="5" fill="hold" nodeType="afterEffect">
                                  <p:stCondLst>
                                    <p:cond delay="0"/>
                                  </p:stCondLst>
                                  <p:childTnLst>
                                    <p:set>
                                      <p:cBhvr>
                                        <p:cTn id="24" dur="1" fill="hold">
                                          <p:stCondLst>
                                            <p:cond delay="0"/>
                                          </p:stCondLst>
                                        </p:cTn>
                                        <p:tgtEl>
                                          <p:spTgt spid="47110"/>
                                        </p:tgtEl>
                                        <p:attrNameLst>
                                          <p:attrName>style.visibility</p:attrName>
                                        </p:attrNameLst>
                                      </p:cBhvr>
                                      <p:to>
                                        <p:strVal val="visible"/>
                                      </p:to>
                                    </p:set>
                                    <p:animEffect transition="in" filter="checkerboard(down)">
                                      <p:cBhvr>
                                        <p:cTn id="25" dur="500"/>
                                        <p:tgtEl>
                                          <p:spTgt spid="47110"/>
                                        </p:tgtEl>
                                      </p:cBhvr>
                                    </p:animEffect>
                                  </p:childTnLst>
                                </p:cTn>
                              </p:par>
                            </p:childTnLst>
                          </p:cTn>
                        </p:par>
                        <p:par>
                          <p:cTn id="26" fill="hold">
                            <p:stCondLst>
                              <p:cond delay="2000"/>
                            </p:stCondLst>
                            <p:childTnLst>
                              <p:par>
                                <p:cTn id="27" presetID="2" presetClass="entr" presetSubtype="8" fill="hold" nodeType="afterEffect">
                                  <p:stCondLst>
                                    <p:cond delay="0"/>
                                  </p:stCondLst>
                                  <p:childTnLst>
                                    <p:set>
                                      <p:cBhvr>
                                        <p:cTn id="28" dur="1" fill="hold">
                                          <p:stCondLst>
                                            <p:cond delay="0"/>
                                          </p:stCondLst>
                                        </p:cTn>
                                        <p:tgtEl>
                                          <p:spTgt spid="47111"/>
                                        </p:tgtEl>
                                        <p:attrNameLst>
                                          <p:attrName>style.visibility</p:attrName>
                                        </p:attrNameLst>
                                      </p:cBhvr>
                                      <p:to>
                                        <p:strVal val="visible"/>
                                      </p:to>
                                    </p:set>
                                    <p:anim calcmode="lin" valueType="num">
                                      <p:cBhvr additive="base">
                                        <p:cTn id="29" dur="500" fill="hold"/>
                                        <p:tgtEl>
                                          <p:spTgt spid="47111"/>
                                        </p:tgtEl>
                                        <p:attrNameLst>
                                          <p:attrName>ppt_x</p:attrName>
                                        </p:attrNameLst>
                                      </p:cBhvr>
                                      <p:tavLst>
                                        <p:tav tm="0">
                                          <p:val>
                                            <p:strVal val="0-#ppt_w/2"/>
                                          </p:val>
                                        </p:tav>
                                        <p:tav tm="100000">
                                          <p:val>
                                            <p:strVal val="#ppt_x"/>
                                          </p:val>
                                        </p:tav>
                                      </p:tavLst>
                                    </p:anim>
                                    <p:anim calcmode="lin" valueType="num">
                                      <p:cBhvr additive="base">
                                        <p:cTn id="30" dur="500" fill="hold"/>
                                        <p:tgtEl>
                                          <p:spTgt spid="471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P spid="47107" grpId="0"/>
      <p:bldP spid="47108" grpId="0"/>
      <p:bldP spid="47109" grpId="0"/>
      <p:bldP spid="47110" grpId="0"/>
      <p:bldP spid="471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0" name="组合 179">
            <a:extLst>
              <a:ext uri="{FF2B5EF4-FFF2-40B4-BE49-F238E27FC236}">
                <a16:creationId xmlns:a16="http://schemas.microsoft.com/office/drawing/2014/main" id="{F48A58F8-4F17-4D17-C126-0DB187A79597}"/>
              </a:ext>
            </a:extLst>
          </p:cNvPr>
          <p:cNvGrpSpPr/>
          <p:nvPr/>
        </p:nvGrpSpPr>
        <p:grpSpPr>
          <a:xfrm>
            <a:off x="5462781" y="4058557"/>
            <a:ext cx="1418871" cy="2248174"/>
            <a:chOff x="5272897" y="4223353"/>
            <a:chExt cx="1418871" cy="2248174"/>
          </a:xfrm>
        </p:grpSpPr>
        <p:sp>
          <p:nvSpPr>
            <p:cNvPr id="142" name="矩形 141">
              <a:extLst>
                <a:ext uri="{FF2B5EF4-FFF2-40B4-BE49-F238E27FC236}">
                  <a16:creationId xmlns:a16="http://schemas.microsoft.com/office/drawing/2014/main" id="{FA96CC4E-CD96-2B6F-5A34-BB5CDF182793}"/>
                </a:ext>
              </a:extLst>
            </p:cNvPr>
            <p:cNvSpPr/>
            <p:nvPr/>
          </p:nvSpPr>
          <p:spPr>
            <a:xfrm>
              <a:off x="6177355" y="4639806"/>
              <a:ext cx="514413"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143" name="矩形 142">
              <a:extLst>
                <a:ext uri="{FF2B5EF4-FFF2-40B4-BE49-F238E27FC236}">
                  <a16:creationId xmlns:a16="http://schemas.microsoft.com/office/drawing/2014/main" id="{E20D878A-99BD-BB9C-719E-CDA37AF9C0D2}"/>
                </a:ext>
              </a:extLst>
            </p:cNvPr>
            <p:cNvSpPr/>
            <p:nvPr/>
          </p:nvSpPr>
          <p:spPr>
            <a:xfrm>
              <a:off x="6177355" y="5100353"/>
              <a:ext cx="514413"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144" name="矩形 143">
              <a:extLst>
                <a:ext uri="{FF2B5EF4-FFF2-40B4-BE49-F238E27FC236}">
                  <a16:creationId xmlns:a16="http://schemas.microsoft.com/office/drawing/2014/main" id="{1E72FCE2-E00E-8E51-CBB7-5AB344B70AA2}"/>
                </a:ext>
              </a:extLst>
            </p:cNvPr>
            <p:cNvSpPr/>
            <p:nvPr/>
          </p:nvSpPr>
          <p:spPr>
            <a:xfrm>
              <a:off x="6177354" y="5557553"/>
              <a:ext cx="514413"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grpSp>
          <p:nvGrpSpPr>
            <p:cNvPr id="179" name="组合 178">
              <a:extLst>
                <a:ext uri="{FF2B5EF4-FFF2-40B4-BE49-F238E27FC236}">
                  <a16:creationId xmlns:a16="http://schemas.microsoft.com/office/drawing/2014/main" id="{559583B3-EA0C-9EB8-339D-85FACBCCDE3E}"/>
                </a:ext>
              </a:extLst>
            </p:cNvPr>
            <p:cNvGrpSpPr/>
            <p:nvPr/>
          </p:nvGrpSpPr>
          <p:grpSpPr>
            <a:xfrm>
              <a:off x="5272897" y="4636459"/>
              <a:ext cx="928968" cy="1784338"/>
              <a:chOff x="5272897" y="4636459"/>
              <a:chExt cx="928968" cy="1784338"/>
            </a:xfrm>
          </p:grpSpPr>
          <p:sp>
            <p:nvSpPr>
              <p:cNvPr id="140" name="文本框 81922">
                <a:extLst>
                  <a:ext uri="{FF2B5EF4-FFF2-40B4-BE49-F238E27FC236}">
                    <a16:creationId xmlns:a16="http://schemas.microsoft.com/office/drawing/2014/main" id="{949A8522-3F2E-E6A2-A946-1690AA6D8F3B}"/>
                  </a:ext>
                </a:extLst>
              </p:cNvPr>
              <p:cNvSpPr txBox="1">
                <a:spLocks noChangeArrowheads="1"/>
              </p:cNvSpPr>
              <p:nvPr/>
            </p:nvSpPr>
            <p:spPr bwMode="auto">
              <a:xfrm>
                <a:off x="5333527" y="4636459"/>
                <a:ext cx="847604"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400" b="1" i="0" u="none" strike="noStrike" kern="1200" cap="none" spc="0" normalizeH="0" baseline="0" noProof="0" dirty="0" err="1">
                    <a:ln>
                      <a:noFill/>
                    </a:ln>
                    <a:solidFill>
                      <a:srgbClr val="4EA72E">
                        <a:lumMod val="50000"/>
                      </a:srgbClr>
                    </a:solidFill>
                    <a:effectLst/>
                    <a:uLnTx/>
                    <a:uFillTx/>
                    <a:latin typeface="Times New Roman" panose="02020603050405020304" pitchFamily="18" charset="0"/>
                    <a:ea typeface="楷体_GB2312" pitchFamily="49" charset="-122"/>
                    <a:cs typeface="+mn-cs"/>
                  </a:rPr>
                  <a:t>elem</a:t>
                </a:r>
                <a:endParaRPr kumimoji="0" lang="zh-CN" altLang="en-US" sz="24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141" name="文本框 81922">
                <a:extLst>
                  <a:ext uri="{FF2B5EF4-FFF2-40B4-BE49-F238E27FC236}">
                    <a16:creationId xmlns:a16="http://schemas.microsoft.com/office/drawing/2014/main" id="{4E79D51F-62C3-9AC6-9BE5-4CC15886CFFD}"/>
                  </a:ext>
                </a:extLst>
              </p:cNvPr>
              <p:cNvSpPr txBox="1">
                <a:spLocks noChangeArrowheads="1"/>
              </p:cNvSpPr>
              <p:nvPr/>
            </p:nvSpPr>
            <p:spPr bwMode="auto">
              <a:xfrm>
                <a:off x="5320074" y="5091776"/>
                <a:ext cx="881791"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400" b="1" i="0" u="none" strike="noStrike" kern="1200" cap="none" spc="0" normalizeH="0" baseline="0" noProof="0" dirty="0" err="1">
                    <a:ln>
                      <a:noFill/>
                    </a:ln>
                    <a:solidFill>
                      <a:srgbClr val="4EA72E">
                        <a:lumMod val="50000"/>
                      </a:srgbClr>
                    </a:solidFill>
                    <a:effectLst/>
                    <a:uLnTx/>
                    <a:uFillTx/>
                    <a:latin typeface="Times New Roman" panose="02020603050405020304" pitchFamily="18" charset="0"/>
                    <a:ea typeface="楷体_GB2312" pitchFamily="49" charset="-122"/>
                    <a:cs typeface="+mn-cs"/>
                  </a:rPr>
                  <a:t>len</a:t>
                </a:r>
                <a:endParaRPr kumimoji="0" lang="zh-CN" altLang="en-US" sz="24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145" name="文本框 81922">
                <a:extLst>
                  <a:ext uri="{FF2B5EF4-FFF2-40B4-BE49-F238E27FC236}">
                    <a16:creationId xmlns:a16="http://schemas.microsoft.com/office/drawing/2014/main" id="{EA44E49D-CD29-5541-AB00-E0DF41365C8C}"/>
                  </a:ext>
                </a:extLst>
              </p:cNvPr>
              <p:cNvSpPr txBox="1">
                <a:spLocks noChangeArrowheads="1"/>
              </p:cNvSpPr>
              <p:nvPr/>
            </p:nvSpPr>
            <p:spPr bwMode="auto">
              <a:xfrm>
                <a:off x="5272897" y="5536131"/>
                <a:ext cx="916714" cy="8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楷体_GB2312" pitchFamily="49" charset="-122"/>
                    <a:cs typeface="+mn-cs"/>
                  </a:rPr>
                  <a:t>size</a:t>
                </a:r>
              </a:p>
              <a:p>
                <a:pPr marL="0" marR="0" lvl="0" indent="0" algn="r" defTabSz="914400" rtl="0" eaLnBrk="1" fontAlgn="auto" latinLnBrk="0" hangingPunct="1">
                  <a:lnSpc>
                    <a:spcPct val="120000"/>
                  </a:lnSpc>
                  <a:spcBef>
                    <a:spcPct val="0"/>
                  </a:spcBef>
                  <a:spcAft>
                    <a:spcPts val="0"/>
                  </a:spcAft>
                  <a:buClrTx/>
                  <a:buSzTx/>
                  <a:buFontTx/>
                  <a:buNone/>
                  <a:tabLst/>
                  <a:defRPr/>
                </a:pPr>
                <a:r>
                  <a:rPr kumimoji="0" lang="en-US" altLang="zh-CN" sz="2400" b="1" i="0" u="none" strike="noStrike" kern="1200" cap="none" spc="0" normalizeH="0" baseline="0" noProof="0" dirty="0" err="1">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inc</a:t>
                </a:r>
                <a:endParaRPr kumimoji="0" lang="zh-CN" altLang="en-US" sz="24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grpSp>
        <p:sp>
          <p:nvSpPr>
            <p:cNvPr id="146" name="文本框 81922">
              <a:extLst>
                <a:ext uri="{FF2B5EF4-FFF2-40B4-BE49-F238E27FC236}">
                  <a16:creationId xmlns:a16="http://schemas.microsoft.com/office/drawing/2014/main" id="{7B8C0649-9C03-4261-9467-544BE4DC8A99}"/>
                </a:ext>
              </a:extLst>
            </p:cNvPr>
            <p:cNvSpPr txBox="1">
              <a:spLocks noChangeArrowheads="1"/>
            </p:cNvSpPr>
            <p:nvPr/>
          </p:nvSpPr>
          <p:spPr bwMode="auto">
            <a:xfrm>
              <a:off x="6172058" y="4223353"/>
              <a:ext cx="472887"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楷体_GB2312" pitchFamily="49" charset="-122"/>
                  <a:cs typeface="+mn-cs"/>
                </a:rPr>
                <a:t>L</a:t>
              </a:r>
              <a:endParaRPr kumimoji="0" lang="zh-CN" altLang="en-US" sz="24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177" name="矩形 176">
              <a:extLst>
                <a:ext uri="{FF2B5EF4-FFF2-40B4-BE49-F238E27FC236}">
                  <a16:creationId xmlns:a16="http://schemas.microsoft.com/office/drawing/2014/main" id="{1E72FCE2-E00E-8E51-CBB7-5AB344B70AA2}"/>
                </a:ext>
              </a:extLst>
            </p:cNvPr>
            <p:cNvSpPr/>
            <p:nvPr/>
          </p:nvSpPr>
          <p:spPr>
            <a:xfrm>
              <a:off x="6177354" y="6014327"/>
              <a:ext cx="514413"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grpSp>
      <p:sp>
        <p:nvSpPr>
          <p:cNvPr id="2" name="灯片编号占位符 1">
            <a:extLst>
              <a:ext uri="{FF2B5EF4-FFF2-40B4-BE49-F238E27FC236}">
                <a16:creationId xmlns:a16="http://schemas.microsoft.com/office/drawing/2014/main" id="{FFBE6771-7741-1E72-6E2A-EA9F5B6462E3}"/>
              </a:ext>
            </a:extLst>
          </p:cNvPr>
          <p:cNvSpPr>
            <a:spLocks noGrp="1"/>
          </p:cNvSpPr>
          <p:nvPr>
            <p:ph type="sldNum" sz="quarter" idx="12"/>
          </p:nvPr>
        </p:nvSpPr>
        <p:spPr>
          <a:xfrm>
            <a:off x="9144000" y="6282593"/>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C0FE0B-717B-41AE-9FA2-CA4BF851D1C3}" type="slidenum">
              <a:rPr kumimoji="0" lang="zh-CN" altLang="en-US" sz="1200" b="0" i="0" u="none" strike="noStrike" kern="1200" cap="none" spc="0" normalizeH="0" baseline="0" noProof="0" smtClean="0">
                <a:ln>
                  <a:noFill/>
                </a:ln>
                <a:solidFill>
                  <a:prstClr val="black">
                    <a:tint val="82000"/>
                  </a:prstClr>
                </a:solidFill>
                <a:effectLst/>
                <a:uLnTx/>
                <a:uFillTx/>
                <a:latin typeface="Times New Roman" panose="020206030504050203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dirty="0">
              <a:ln>
                <a:noFill/>
              </a:ln>
              <a:solidFill>
                <a:prstClr val="black">
                  <a:tint val="82000"/>
                </a:prstClr>
              </a:solidFill>
              <a:effectLst/>
              <a:uLnTx/>
              <a:uFillTx/>
              <a:latin typeface="Times New Roman" panose="02020603050405020304"/>
              <a:ea typeface="宋体" panose="02010600030101010101" pitchFamily="2" charset="-122"/>
              <a:cs typeface="+mn-cs"/>
            </a:endParaRPr>
          </a:p>
        </p:txBody>
      </p:sp>
      <p:sp>
        <p:nvSpPr>
          <p:cNvPr id="147" name="标题 1">
            <a:extLst>
              <a:ext uri="{FF2B5EF4-FFF2-40B4-BE49-F238E27FC236}">
                <a16:creationId xmlns:a16="http://schemas.microsoft.com/office/drawing/2014/main" id="{F0879BFD-A109-A5E5-0E68-CADDBC9486C1}"/>
              </a:ext>
            </a:extLst>
          </p:cNvPr>
          <p:cNvSpPr txBox="1">
            <a:spLocks/>
          </p:cNvSpPr>
          <p:nvPr/>
        </p:nvSpPr>
        <p:spPr>
          <a:xfrm>
            <a:off x="1562671" y="321398"/>
            <a:ext cx="5393300" cy="5590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800" b="1" i="0" u="none" strike="noStrike" kern="1200" cap="none" spc="0" normalizeH="0" baseline="0" noProof="0" dirty="0">
                <a:ln>
                  <a:noFill/>
                </a:ln>
                <a:solidFill>
                  <a:srgbClr val="7030A0"/>
                </a:solidFill>
                <a:effectLst/>
                <a:uLnTx/>
                <a:uFillTx/>
                <a:latin typeface="楷体" panose="02010609060101010101" pitchFamily="49" charset="-122"/>
                <a:ea typeface="楷体" panose="02010609060101010101" pitchFamily="49" charset="-122"/>
                <a:cs typeface="+mj-cs"/>
              </a:rPr>
              <a:t>顺序表的初始化操作</a:t>
            </a:r>
            <a:endParaRPr kumimoji="0" lang="zh-CN" altLang="en-US" sz="2800"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j-cs"/>
            </a:endParaRPr>
          </a:p>
        </p:txBody>
      </p:sp>
      <p:sp>
        <p:nvSpPr>
          <p:cNvPr id="148" name="文本框 147">
            <a:extLst>
              <a:ext uri="{FF2B5EF4-FFF2-40B4-BE49-F238E27FC236}">
                <a16:creationId xmlns:a16="http://schemas.microsoft.com/office/drawing/2014/main" id="{AE2A4D7A-9897-C27C-49B5-0A2930155FE2}"/>
              </a:ext>
            </a:extLst>
          </p:cNvPr>
          <p:cNvSpPr txBox="1"/>
          <p:nvPr/>
        </p:nvSpPr>
        <p:spPr>
          <a:xfrm>
            <a:off x="538177" y="1163541"/>
            <a:ext cx="10585176" cy="469359"/>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SqList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srgbClr val="003399"/>
                </a:solidFill>
                <a:effectLst/>
                <a:uLnTx/>
                <a:uFillTx/>
                <a:latin typeface="Courier New" panose="02070309020205020404" pitchFamily="49" charset="0"/>
                <a:ea typeface="宋体" panose="02010600030101010101" pitchFamily="2" charset="-122"/>
                <a:cs typeface="Courier New" panose="02070309020205020404" pitchFamily="49" charset="0"/>
              </a:rPr>
              <a:t>InitList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 size, </a:t>
            </a:r>
            <a:r>
              <a:rPr kumimoji="0" lang="en-US" altLang="zh-CN" sz="2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inc</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2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49" name="文本框 148">
            <a:extLst>
              <a:ext uri="{FF2B5EF4-FFF2-40B4-BE49-F238E27FC236}">
                <a16:creationId xmlns:a16="http://schemas.microsoft.com/office/drawing/2014/main" id="{5B2DBC4B-EEEC-9E24-69CC-B378755889E6}"/>
              </a:ext>
            </a:extLst>
          </p:cNvPr>
          <p:cNvSpPr txBox="1"/>
          <p:nvPr/>
        </p:nvSpPr>
        <p:spPr>
          <a:xfrm>
            <a:off x="719107" y="3396150"/>
            <a:ext cx="6115722" cy="1669688"/>
          </a:xfrm>
          <a:prstGeom prst="rect">
            <a:avLst/>
          </a:prstGeom>
          <a:noFill/>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L-&gt;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len</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0;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 </a:t>
            </a:r>
            <a:r>
              <a:rPr kumimoji="0" lang="zh-CN" altLang="en-US"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空表长度为</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0</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L-&gt;size = size;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 </a:t>
            </a:r>
            <a:r>
              <a:rPr kumimoji="0" lang="zh-CN" altLang="en-US"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初始分配容量</a:t>
            </a:r>
            <a:endPar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L-&gt;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inc</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inc</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 </a:t>
            </a:r>
            <a:r>
              <a:rPr kumimoji="0" lang="zh-CN" altLang="en-US"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扩容增量</a:t>
            </a:r>
            <a:endPar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 </a:t>
            </a:r>
            <a:r>
              <a:rPr kumimoji="0" lang="zh-CN" altLang="en-US"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返回空表</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L</a:t>
            </a:r>
            <a:endParaRPr kumimoji="0" lang="zh-CN" altLang="en-US"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endParaRPr>
          </a:p>
        </p:txBody>
      </p:sp>
      <p:sp>
        <p:nvSpPr>
          <p:cNvPr id="150" name="文本框 149">
            <a:extLst>
              <a:ext uri="{FF2B5EF4-FFF2-40B4-BE49-F238E27FC236}">
                <a16:creationId xmlns:a16="http://schemas.microsoft.com/office/drawing/2014/main" id="{FBA62774-F72B-75A3-258F-93345752923B}"/>
              </a:ext>
            </a:extLst>
          </p:cNvPr>
          <p:cNvSpPr txBox="1"/>
          <p:nvPr/>
        </p:nvSpPr>
        <p:spPr>
          <a:xfrm>
            <a:off x="6321327" y="1239712"/>
            <a:ext cx="384843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 </a:t>
            </a:r>
            <a:r>
              <a:rPr kumimoji="0" lang="zh-CN" altLang="en-US"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构造并返回一个空的线性表 </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51" name="文本框 150">
            <a:extLst>
              <a:ext uri="{FF2B5EF4-FFF2-40B4-BE49-F238E27FC236}">
                <a16:creationId xmlns:a16="http://schemas.microsoft.com/office/drawing/2014/main" id="{5591B0D9-CBBA-9F30-DF47-ED66CCC6412A}"/>
              </a:ext>
            </a:extLst>
          </p:cNvPr>
          <p:cNvSpPr txBox="1"/>
          <p:nvPr/>
        </p:nvSpPr>
        <p:spPr>
          <a:xfrm>
            <a:off x="705802" y="2422405"/>
            <a:ext cx="10663693" cy="467564"/>
          </a:xfrm>
          <a:prstGeom prst="rect">
            <a:avLst/>
          </a:prstGeom>
          <a:noFill/>
        </p:spPr>
        <p:txBody>
          <a:bodyPr wrap="square">
            <a:spAutoFit/>
          </a:bodyPr>
          <a:lstStyle/>
          <a:p>
            <a:pPr marL="0" marR="0" lvl="0" indent="0" algn="l" defTabSz="1219627" rtl="0" eaLnBrk="1" fontAlgn="auto" latinLnBrk="0" hangingPunct="1">
              <a:lnSpc>
                <a:spcPct val="13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L-&gt;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malloc</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size</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kumimoji="0" lang="en-US" altLang="zh-CN" sz="2000" b="1" i="0" u="none" strike="noStrike" kern="12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52" name="文本框 151">
            <a:extLst>
              <a:ext uri="{FF2B5EF4-FFF2-40B4-BE49-F238E27FC236}">
                <a16:creationId xmlns:a16="http://schemas.microsoft.com/office/drawing/2014/main" id="{E8E9BD9F-645C-429F-C2BD-076541C7659B}"/>
              </a:ext>
            </a:extLst>
          </p:cNvPr>
          <p:cNvSpPr txBox="1"/>
          <p:nvPr/>
        </p:nvSpPr>
        <p:spPr>
          <a:xfrm>
            <a:off x="705803" y="2964640"/>
            <a:ext cx="611572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L-&gt;</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elem</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exit(OVERFLOW);</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53" name="文本框 152">
            <a:extLst>
              <a:ext uri="{FF2B5EF4-FFF2-40B4-BE49-F238E27FC236}">
                <a16:creationId xmlns:a16="http://schemas.microsoft.com/office/drawing/2014/main" id="{2B77C212-BDA6-736D-3A98-D122F6CCD1C6}"/>
              </a:ext>
            </a:extLst>
          </p:cNvPr>
          <p:cNvSpPr txBox="1"/>
          <p:nvPr/>
        </p:nvSpPr>
        <p:spPr>
          <a:xfrm>
            <a:off x="561669" y="5065768"/>
            <a:ext cx="486884"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endParaRPr>
          </a:p>
        </p:txBody>
      </p:sp>
      <p:grpSp>
        <p:nvGrpSpPr>
          <p:cNvPr id="154" name="组合 153">
            <a:extLst>
              <a:ext uri="{FF2B5EF4-FFF2-40B4-BE49-F238E27FC236}">
                <a16:creationId xmlns:a16="http://schemas.microsoft.com/office/drawing/2014/main" id="{6A5B6AC1-FB7F-7058-B6F8-79507E65E67A}"/>
              </a:ext>
            </a:extLst>
          </p:cNvPr>
          <p:cNvGrpSpPr/>
          <p:nvPr/>
        </p:nvGrpSpPr>
        <p:grpSpPr>
          <a:xfrm>
            <a:off x="6624445" y="4073658"/>
            <a:ext cx="4869022" cy="859829"/>
            <a:chOff x="6331649" y="4365898"/>
            <a:chExt cx="4869022" cy="859829"/>
          </a:xfrm>
        </p:grpSpPr>
        <p:sp>
          <p:nvSpPr>
            <p:cNvPr id="155" name="矩形 154">
              <a:extLst>
                <a:ext uri="{FF2B5EF4-FFF2-40B4-BE49-F238E27FC236}">
                  <a16:creationId xmlns:a16="http://schemas.microsoft.com/office/drawing/2014/main" id="{35089036-BDF8-685F-1133-211CE218C283}"/>
                </a:ext>
              </a:extLst>
            </p:cNvPr>
            <p:cNvSpPr/>
            <p:nvPr/>
          </p:nvSpPr>
          <p:spPr>
            <a:xfrm>
              <a:off x="6938459" y="4768527"/>
              <a:ext cx="514413"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156" name="矩形 155">
              <a:extLst>
                <a:ext uri="{FF2B5EF4-FFF2-40B4-BE49-F238E27FC236}">
                  <a16:creationId xmlns:a16="http://schemas.microsoft.com/office/drawing/2014/main" id="{305BCF9A-6D1F-E418-1F5F-71F35FCC4814}"/>
                </a:ext>
              </a:extLst>
            </p:cNvPr>
            <p:cNvSpPr/>
            <p:nvPr/>
          </p:nvSpPr>
          <p:spPr>
            <a:xfrm>
              <a:off x="7452520" y="4767357"/>
              <a:ext cx="514413" cy="458237"/>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157" name="矩形 156">
              <a:extLst>
                <a:ext uri="{FF2B5EF4-FFF2-40B4-BE49-F238E27FC236}">
                  <a16:creationId xmlns:a16="http://schemas.microsoft.com/office/drawing/2014/main" id="{92FEC614-60E6-13AD-C955-0A685E4723E5}"/>
                </a:ext>
              </a:extLst>
            </p:cNvPr>
            <p:cNvSpPr/>
            <p:nvPr/>
          </p:nvSpPr>
          <p:spPr>
            <a:xfrm>
              <a:off x="7966581" y="4768527"/>
              <a:ext cx="514413"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158" name="矩形 157">
              <a:extLst>
                <a:ext uri="{FF2B5EF4-FFF2-40B4-BE49-F238E27FC236}">
                  <a16:creationId xmlns:a16="http://schemas.microsoft.com/office/drawing/2014/main" id="{12E90511-99A2-30B8-ED3C-4C735823FC39}"/>
                </a:ext>
              </a:extLst>
            </p:cNvPr>
            <p:cNvSpPr/>
            <p:nvPr/>
          </p:nvSpPr>
          <p:spPr>
            <a:xfrm>
              <a:off x="8482420" y="4767498"/>
              <a:ext cx="83266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4EA72E">
                      <a:lumMod val="50000"/>
                    </a:srgbClr>
                  </a:solidFill>
                  <a:effectLst/>
                  <a:uLnTx/>
                  <a:uFillTx/>
                  <a:latin typeface="等线" panose="02010600030101010101" pitchFamily="2" charset="-122"/>
                  <a:ea typeface="等线" panose="02010600030101010101" pitchFamily="2" charset="-122"/>
                  <a:cs typeface="+mn-cs"/>
                </a:rPr>
                <a:t>…</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a:ea typeface="宋体" panose="02010600030101010101" pitchFamily="2" charset="-122"/>
                <a:cs typeface="+mn-cs"/>
              </a:endParaRPr>
            </a:p>
          </p:txBody>
        </p:sp>
        <p:sp>
          <p:nvSpPr>
            <p:cNvPr id="159" name="矩形 158">
              <a:extLst>
                <a:ext uri="{FF2B5EF4-FFF2-40B4-BE49-F238E27FC236}">
                  <a16:creationId xmlns:a16="http://schemas.microsoft.com/office/drawing/2014/main" id="{C1D4DC23-B3DB-5610-F6A6-6AA86CE4865F}"/>
                </a:ext>
              </a:extLst>
            </p:cNvPr>
            <p:cNvSpPr/>
            <p:nvPr/>
          </p:nvSpPr>
          <p:spPr>
            <a:xfrm>
              <a:off x="9318997" y="4767497"/>
              <a:ext cx="514413" cy="456707"/>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160" name="矩形 159">
              <a:extLst>
                <a:ext uri="{FF2B5EF4-FFF2-40B4-BE49-F238E27FC236}">
                  <a16:creationId xmlns:a16="http://schemas.microsoft.com/office/drawing/2014/main" id="{44166703-BC12-FFCD-3219-BE0BD5AF9178}"/>
                </a:ext>
              </a:extLst>
            </p:cNvPr>
            <p:cNvSpPr/>
            <p:nvPr/>
          </p:nvSpPr>
          <p:spPr>
            <a:xfrm>
              <a:off x="10635679" y="4767497"/>
              <a:ext cx="514413" cy="456708"/>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161" name="文本框 81922">
              <a:extLst>
                <a:ext uri="{FF2B5EF4-FFF2-40B4-BE49-F238E27FC236}">
                  <a16:creationId xmlns:a16="http://schemas.microsoft.com/office/drawing/2014/main" id="{1DA7AC4F-4E54-E167-25E7-1E910EE5AF97}"/>
                </a:ext>
              </a:extLst>
            </p:cNvPr>
            <p:cNvSpPr txBox="1">
              <a:spLocks noChangeArrowheads="1"/>
            </p:cNvSpPr>
            <p:nvPr/>
          </p:nvSpPr>
          <p:spPr bwMode="auto">
            <a:xfrm>
              <a:off x="6938459" y="4365898"/>
              <a:ext cx="512459"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0</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162" name="文本框 81922">
              <a:extLst>
                <a:ext uri="{FF2B5EF4-FFF2-40B4-BE49-F238E27FC236}">
                  <a16:creationId xmlns:a16="http://schemas.microsoft.com/office/drawing/2014/main" id="{FEF95B61-6FAD-2B23-0271-69A44D84B03B}"/>
                </a:ext>
              </a:extLst>
            </p:cNvPr>
            <p:cNvSpPr txBox="1">
              <a:spLocks noChangeArrowheads="1"/>
            </p:cNvSpPr>
            <p:nvPr/>
          </p:nvSpPr>
          <p:spPr bwMode="auto">
            <a:xfrm>
              <a:off x="7453320" y="4370859"/>
              <a:ext cx="512459"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1</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163" name="文本框 81922">
              <a:extLst>
                <a:ext uri="{FF2B5EF4-FFF2-40B4-BE49-F238E27FC236}">
                  <a16:creationId xmlns:a16="http://schemas.microsoft.com/office/drawing/2014/main" id="{222E1BE1-D4F2-3ABB-019A-39963F6FF5B9}"/>
                </a:ext>
              </a:extLst>
            </p:cNvPr>
            <p:cNvSpPr txBox="1">
              <a:spLocks noChangeArrowheads="1"/>
            </p:cNvSpPr>
            <p:nvPr/>
          </p:nvSpPr>
          <p:spPr bwMode="auto">
            <a:xfrm>
              <a:off x="7964627" y="4365898"/>
              <a:ext cx="512459"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2</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164" name="文本框 81922">
              <a:extLst>
                <a:ext uri="{FF2B5EF4-FFF2-40B4-BE49-F238E27FC236}">
                  <a16:creationId xmlns:a16="http://schemas.microsoft.com/office/drawing/2014/main" id="{B701FF45-3A82-E984-B341-B9367569D874}"/>
                </a:ext>
              </a:extLst>
            </p:cNvPr>
            <p:cNvSpPr txBox="1">
              <a:spLocks noChangeArrowheads="1"/>
            </p:cNvSpPr>
            <p:nvPr/>
          </p:nvSpPr>
          <p:spPr bwMode="auto">
            <a:xfrm>
              <a:off x="8639858" y="4365898"/>
              <a:ext cx="512459" cy="4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等线" panose="02010600030101010101" pitchFamily="2" charset="-122"/>
                  <a:ea typeface="等线" panose="02010600030101010101" pitchFamily="2" charset="-122"/>
                  <a:cs typeface="+mn-cs"/>
                </a:rPr>
                <a:t>…</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165" name="文本框 81922">
              <a:extLst>
                <a:ext uri="{FF2B5EF4-FFF2-40B4-BE49-F238E27FC236}">
                  <a16:creationId xmlns:a16="http://schemas.microsoft.com/office/drawing/2014/main" id="{6923DA4C-3AB3-5021-5A2F-8F102D23DFA5}"/>
                </a:ext>
              </a:extLst>
            </p:cNvPr>
            <p:cNvSpPr txBox="1">
              <a:spLocks noChangeArrowheads="1"/>
            </p:cNvSpPr>
            <p:nvPr/>
          </p:nvSpPr>
          <p:spPr bwMode="auto">
            <a:xfrm>
              <a:off x="9327137" y="4373144"/>
              <a:ext cx="512459"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i</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166" name="矩形 165">
              <a:extLst>
                <a:ext uri="{FF2B5EF4-FFF2-40B4-BE49-F238E27FC236}">
                  <a16:creationId xmlns:a16="http://schemas.microsoft.com/office/drawing/2014/main" id="{F2429491-8C53-0B2D-CB02-273FE0606531}"/>
                </a:ext>
              </a:extLst>
            </p:cNvPr>
            <p:cNvSpPr/>
            <p:nvPr/>
          </p:nvSpPr>
          <p:spPr>
            <a:xfrm>
              <a:off x="9833410" y="4768394"/>
              <a:ext cx="83266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4EA72E">
                      <a:lumMod val="50000"/>
                    </a:srgbClr>
                  </a:solidFill>
                  <a:effectLst/>
                  <a:uLnTx/>
                  <a:uFillTx/>
                  <a:latin typeface="等线" panose="02010600030101010101" pitchFamily="2" charset="-122"/>
                  <a:ea typeface="等线" panose="02010600030101010101" pitchFamily="2" charset="-122"/>
                  <a:cs typeface="+mn-cs"/>
                </a:rPr>
                <a:t>…</a:t>
              </a: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a:ea typeface="宋体" panose="02010600030101010101" pitchFamily="2" charset="-122"/>
                <a:cs typeface="+mn-cs"/>
              </a:endParaRPr>
            </a:p>
          </p:txBody>
        </p:sp>
        <p:sp>
          <p:nvSpPr>
            <p:cNvPr id="167" name="文本框 81922">
              <a:extLst>
                <a:ext uri="{FF2B5EF4-FFF2-40B4-BE49-F238E27FC236}">
                  <a16:creationId xmlns:a16="http://schemas.microsoft.com/office/drawing/2014/main" id="{227DDD05-2F36-0696-89C9-BFDEA1C8FF3A}"/>
                </a:ext>
              </a:extLst>
            </p:cNvPr>
            <p:cNvSpPr txBox="1">
              <a:spLocks noChangeArrowheads="1"/>
            </p:cNvSpPr>
            <p:nvPr/>
          </p:nvSpPr>
          <p:spPr bwMode="auto">
            <a:xfrm>
              <a:off x="9990848" y="4366794"/>
              <a:ext cx="512459" cy="4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等线" panose="02010600030101010101" pitchFamily="2" charset="-122"/>
                  <a:ea typeface="等线" panose="02010600030101010101" pitchFamily="2" charset="-122"/>
                  <a:cs typeface="+mn-cs"/>
                </a:rPr>
                <a:t>…</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168" name="文本框 81922">
              <a:extLst>
                <a:ext uri="{FF2B5EF4-FFF2-40B4-BE49-F238E27FC236}">
                  <a16:creationId xmlns:a16="http://schemas.microsoft.com/office/drawing/2014/main" id="{F06B50DD-0449-6A61-57D9-EA274AF74856}"/>
                </a:ext>
              </a:extLst>
            </p:cNvPr>
            <p:cNvSpPr txBox="1">
              <a:spLocks noChangeArrowheads="1"/>
            </p:cNvSpPr>
            <p:nvPr/>
          </p:nvSpPr>
          <p:spPr bwMode="auto">
            <a:xfrm>
              <a:off x="10688212" y="4365898"/>
              <a:ext cx="512459"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19</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cxnSp>
          <p:nvCxnSpPr>
            <p:cNvPr id="169" name="直接箭头连接符 168">
              <a:extLst>
                <a:ext uri="{FF2B5EF4-FFF2-40B4-BE49-F238E27FC236}">
                  <a16:creationId xmlns:a16="http://schemas.microsoft.com/office/drawing/2014/main" id="{D51882DF-8B4C-B127-B0F7-475F82B5A64B}"/>
                </a:ext>
              </a:extLst>
            </p:cNvPr>
            <p:cNvCxnSpPr>
              <a:cxnSpLocks/>
              <a:endCxn id="155" idx="1"/>
            </p:cNvCxnSpPr>
            <p:nvPr/>
          </p:nvCxnSpPr>
          <p:spPr>
            <a:xfrm>
              <a:off x="6331649" y="4995850"/>
              <a:ext cx="606810" cy="1277"/>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170" name="文本框 169">
            <a:extLst>
              <a:ext uri="{FF2B5EF4-FFF2-40B4-BE49-F238E27FC236}">
                <a16:creationId xmlns:a16="http://schemas.microsoft.com/office/drawing/2014/main" id="{7C3EB873-B4E2-EE83-CADD-B06DA9C9434A}"/>
              </a:ext>
            </a:extLst>
          </p:cNvPr>
          <p:cNvSpPr txBox="1"/>
          <p:nvPr/>
        </p:nvSpPr>
        <p:spPr>
          <a:xfrm>
            <a:off x="8837552" y="2506351"/>
            <a:ext cx="2418277"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 </a:t>
            </a:r>
            <a:r>
              <a:rPr kumimoji="0" lang="zh-CN" altLang="en-US" sz="2000" b="1" i="0" u="none" strike="noStrike" kern="1200" cap="none" spc="0" normalizeH="0" baseline="0" noProof="0" dirty="0">
                <a:ln>
                  <a:noFill/>
                </a:ln>
                <a:solidFill>
                  <a:srgbClr val="008080"/>
                </a:solidFill>
                <a:effectLst/>
                <a:uLnTx/>
                <a:uFillTx/>
                <a:latin typeface="Courier New" panose="02070309020205020404" pitchFamily="49" charset="0"/>
                <a:ea typeface="黑体" panose="02010609060101010101" pitchFamily="49" charset="-122"/>
                <a:cs typeface="Courier New" panose="02070309020205020404" pitchFamily="49" charset="0"/>
              </a:rPr>
              <a:t>分配元素空间</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71" name="文本框 170">
            <a:extLst>
              <a:ext uri="{FF2B5EF4-FFF2-40B4-BE49-F238E27FC236}">
                <a16:creationId xmlns:a16="http://schemas.microsoft.com/office/drawing/2014/main" id="{9BD07275-0420-407C-AB1C-08014BE0B63F}"/>
              </a:ext>
            </a:extLst>
          </p:cNvPr>
          <p:cNvSpPr txBox="1"/>
          <p:nvPr/>
        </p:nvSpPr>
        <p:spPr>
          <a:xfrm>
            <a:off x="6486101" y="4914284"/>
            <a:ext cx="28353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0</a:t>
            </a:r>
            <a:endParaRPr kumimoji="0"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172" name="文本框 171">
            <a:extLst>
              <a:ext uri="{FF2B5EF4-FFF2-40B4-BE49-F238E27FC236}">
                <a16:creationId xmlns:a16="http://schemas.microsoft.com/office/drawing/2014/main" id="{3A1FB0C2-70E5-F508-09D6-94A79FACD66C}"/>
              </a:ext>
            </a:extLst>
          </p:cNvPr>
          <p:cNvSpPr txBox="1"/>
          <p:nvPr/>
        </p:nvSpPr>
        <p:spPr>
          <a:xfrm>
            <a:off x="6359402" y="5407027"/>
            <a:ext cx="568113"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20</a:t>
            </a:r>
            <a:endParaRPr kumimoji="0"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173" name="文本框 172">
            <a:extLst>
              <a:ext uri="{FF2B5EF4-FFF2-40B4-BE49-F238E27FC236}">
                <a16:creationId xmlns:a16="http://schemas.microsoft.com/office/drawing/2014/main" id="{65222778-86F2-6358-5724-80459CB0B57E}"/>
              </a:ext>
            </a:extLst>
          </p:cNvPr>
          <p:cNvSpPr txBox="1"/>
          <p:nvPr/>
        </p:nvSpPr>
        <p:spPr>
          <a:xfrm>
            <a:off x="705802" y="1592177"/>
            <a:ext cx="10663693" cy="467564"/>
          </a:xfrm>
          <a:prstGeom prst="rect">
            <a:avLst/>
          </a:prstGeom>
          <a:noFill/>
        </p:spPr>
        <p:txBody>
          <a:bodyPr wrap="square">
            <a:spAutoFit/>
          </a:bodyPr>
          <a:lstStyle/>
          <a:p>
            <a:pPr marL="0" marR="0" lvl="0" indent="0" algn="l" defTabSz="1219627" rtl="0" eaLnBrk="1" fontAlgn="auto" latinLnBrk="0" hangingPunct="1">
              <a:lnSpc>
                <a:spcPct val="13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srgbClr val="660033"/>
                </a:solidFill>
                <a:effectLst/>
                <a:uLnTx/>
                <a:uFillTx/>
                <a:latin typeface="Courier New" panose="02070309020205020404" pitchFamily="49" charset="0"/>
                <a:ea typeface="宋体" panose="02010600030101010101" pitchFamily="2" charset="-122"/>
                <a:cs typeface="Courier New" panose="02070309020205020404" pitchFamily="49" charset="0"/>
              </a:rPr>
              <a:t>SqList</a:t>
            </a:r>
            <a:r>
              <a:rPr kumimoji="0" lang="en-US" altLang="zh-CN" sz="2000" b="1" i="0" u="none" strike="noStrike" kern="1200" cap="none" spc="0" normalizeH="0" baseline="0" noProof="0" dirty="0">
                <a:ln>
                  <a:noFill/>
                </a:ln>
                <a:solidFill>
                  <a:srgbClr val="660033"/>
                </a:solidFill>
                <a:effectLst/>
                <a:uLnTx/>
                <a:uFillTx/>
                <a:latin typeface="Courier New" panose="02070309020205020404" pitchFamily="49" charset="0"/>
                <a:ea typeface="宋体" panose="02010600030101010101" pitchFamily="2" charset="-122"/>
                <a:cs typeface="Courier New" panose="02070309020205020404" pitchFamily="49" charset="0"/>
              </a:rPr>
              <a:t> L;</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74" name="文本框 150">
            <a:extLst>
              <a:ext uri="{FF2B5EF4-FFF2-40B4-BE49-F238E27FC236}">
                <a16:creationId xmlns:a16="http://schemas.microsoft.com/office/drawing/2014/main" id="{5591B0D9-CBBA-9F30-DF47-ED66CCC6412A}"/>
              </a:ext>
            </a:extLst>
          </p:cNvPr>
          <p:cNvSpPr txBox="1"/>
          <p:nvPr/>
        </p:nvSpPr>
        <p:spPr>
          <a:xfrm>
            <a:off x="716271" y="1958205"/>
            <a:ext cx="10663693" cy="467564"/>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627" rtl="0" eaLnBrk="1" fontAlgn="auto" latinLnBrk="0" hangingPunct="1">
              <a:lnSpc>
                <a:spcPct val="13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 =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SqList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malloc</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 exit(OVERFLOW);</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75" name="文本框 6">
            <a:extLst>
              <a:ext uri="{FF2B5EF4-FFF2-40B4-BE49-F238E27FC236}">
                <a16:creationId xmlns:a16="http://schemas.microsoft.com/office/drawing/2014/main" id="{AC25B33D-FE25-92AE-8AC4-C0ABC6775BBD}"/>
              </a:ext>
            </a:extLst>
          </p:cNvPr>
          <p:cNvSpPr txBox="1"/>
          <p:nvPr/>
        </p:nvSpPr>
        <p:spPr>
          <a:xfrm>
            <a:off x="4974017" y="885745"/>
            <a:ext cx="793899" cy="523220"/>
          </a:xfrm>
          <a:prstGeom prst="rect">
            <a:avLst/>
          </a:prstGeom>
          <a:noFill/>
          <a:ln w="38100" cmpd="sng">
            <a:no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2800" b="0" i="0" u="none" strike="noStrike" kern="1200" cap="none" spc="0" normalizeH="0" baseline="0" noProof="1">
                <a:ln>
                  <a:noFill/>
                </a:ln>
                <a:solidFill>
                  <a:srgbClr val="C00000"/>
                </a:solidFill>
                <a:effectLst>
                  <a:outerShdw blurRad="38100" dist="38100" dir="2700000">
                    <a:srgbClr val="000000"/>
                  </a:outerShdw>
                </a:effectLst>
                <a:uLnTx/>
                <a:uFillTx/>
                <a:latin typeface="Times New Roman" panose="02020603050405020304"/>
                <a:ea typeface="宋体" panose="02010600030101010101" pitchFamily="2" charset="-122"/>
                <a:cs typeface="+mn-cs"/>
              </a:rPr>
              <a:t>10</a:t>
            </a:r>
          </a:p>
        </p:txBody>
      </p:sp>
      <p:sp>
        <p:nvSpPr>
          <p:cNvPr id="176" name="Text Box 78">
            <a:extLst>
              <a:ext uri="{FF2B5EF4-FFF2-40B4-BE49-F238E27FC236}">
                <a16:creationId xmlns:a16="http://schemas.microsoft.com/office/drawing/2014/main" id="{84DA82C8-A1C6-2EA5-5148-CC67A15EC774}"/>
              </a:ext>
            </a:extLst>
          </p:cNvPr>
          <p:cNvSpPr txBox="1">
            <a:spLocks noChangeArrowheads="1"/>
          </p:cNvSpPr>
          <p:nvPr/>
        </p:nvSpPr>
        <p:spPr bwMode="auto">
          <a:xfrm>
            <a:off x="3660833" y="886264"/>
            <a:ext cx="671420" cy="523220"/>
          </a:xfrm>
          <a:prstGeom prst="rect">
            <a:avLst/>
          </a:prstGeom>
          <a:noFill/>
          <a:ln w="38100" cmpd="sng">
            <a:noFill/>
          </a:ln>
        </p:spPr>
        <p:txBody>
          <a:bodyPr wrap="square" anchor="b">
            <a:spAutoFit/>
          </a:bodyPr>
          <a:lstStyle>
            <a:defPPr>
              <a:defRPr lang="zh-CN"/>
            </a:defPPr>
            <a:lvl1pPr algn="ctr" defTabSz="457200" fontAlgn="ctr">
              <a:spcBef>
                <a:spcPct val="50000"/>
              </a:spcBef>
              <a:defRPr sz="2800">
                <a:solidFill>
                  <a:srgbClr val="C00000"/>
                </a:solidFill>
                <a:effectLst>
                  <a:outerShdw blurRad="38100" dist="38100" dir="2700000">
                    <a:srgbClr val="000000"/>
                  </a:outerShdw>
                </a:effectLst>
              </a:defRPr>
            </a:lvl1pPr>
            <a:lvl2pPr defTabSz="457200"/>
            <a:lvl3pPr defTabSz="457200"/>
            <a:lvl4pPr defTabSz="457200"/>
            <a:lvl5pPr defTabSz="457200"/>
            <a:lvl6pPr defTabSz="457200"/>
            <a:lvl7pPr defTabSz="457200"/>
            <a:lvl8pPr defTabSz="457200"/>
            <a:lvl9pPr defTabSz="457200"/>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2800" b="0" i="0" u="none" strike="noStrike" kern="1200" cap="none" spc="0" normalizeH="0" baseline="0" noProof="0" dirty="0">
                <a:ln>
                  <a:noFill/>
                </a:ln>
                <a:solidFill>
                  <a:srgbClr val="C00000"/>
                </a:solidFill>
                <a:effectLst>
                  <a:outerShdw blurRad="38100" dist="38100" dir="2700000">
                    <a:srgbClr val="000000"/>
                  </a:outerShdw>
                </a:effectLst>
                <a:uLnTx/>
                <a:uFillTx/>
                <a:latin typeface="Times New Roman" panose="02020603050405020304"/>
                <a:ea typeface="宋体" panose="02010600030101010101" pitchFamily="2" charset="-122"/>
                <a:cs typeface="+mn-cs"/>
              </a:rPr>
              <a:t>20</a:t>
            </a:r>
          </a:p>
        </p:txBody>
      </p:sp>
      <p:sp>
        <p:nvSpPr>
          <p:cNvPr id="178" name="文本框 171">
            <a:extLst>
              <a:ext uri="{FF2B5EF4-FFF2-40B4-BE49-F238E27FC236}">
                <a16:creationId xmlns:a16="http://schemas.microsoft.com/office/drawing/2014/main" id="{3A1FB0C2-70E5-F508-09D6-94A79FACD66C}"/>
              </a:ext>
            </a:extLst>
          </p:cNvPr>
          <p:cNvSpPr txBox="1"/>
          <p:nvPr/>
        </p:nvSpPr>
        <p:spPr>
          <a:xfrm>
            <a:off x="6359402" y="5863801"/>
            <a:ext cx="568113" cy="36933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10</a:t>
            </a:r>
            <a:endParaRPr kumimoji="0"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Tree>
    <p:extLst>
      <p:ext uri="{BB962C8B-B14F-4D97-AF65-F5344CB8AC3E}">
        <p14:creationId xmlns:p14="http://schemas.microsoft.com/office/powerpoint/2010/main" val="252681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wipe(left)">
                                      <p:cBhvr>
                                        <p:cTn id="7" dur="500"/>
                                        <p:tgtEl>
                                          <p:spTgt spid="14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0"/>
                                        </p:tgtEl>
                                        <p:attrNameLst>
                                          <p:attrName>style.visibility</p:attrName>
                                        </p:attrNameLst>
                                      </p:cBhvr>
                                      <p:to>
                                        <p:strVal val="visible"/>
                                      </p:to>
                                    </p:set>
                                    <p:animEffect transition="in" filter="wipe(left)">
                                      <p:cBhvr>
                                        <p:cTn id="11" dur="500"/>
                                        <p:tgtEl>
                                          <p:spTgt spid="150"/>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grpId="0" nodeType="clickEffect">
                                  <p:stCondLst>
                                    <p:cond delay="0"/>
                                  </p:stCondLst>
                                  <p:childTnLst>
                                    <p:set>
                                      <p:cBhvr>
                                        <p:cTn id="15" dur="1" fill="hold">
                                          <p:stCondLst>
                                            <p:cond delay="0"/>
                                          </p:stCondLst>
                                        </p:cTn>
                                        <p:tgtEl>
                                          <p:spTgt spid="176"/>
                                        </p:tgtEl>
                                        <p:attrNameLst>
                                          <p:attrName>style.visibility</p:attrName>
                                        </p:attrNameLst>
                                      </p:cBhvr>
                                      <p:to>
                                        <p:strVal val="visible"/>
                                      </p:to>
                                    </p:set>
                                    <p:animEffect transition="in" filter="fade">
                                      <p:cBhvr>
                                        <p:cTn id="16" dur="1000"/>
                                        <p:tgtEl>
                                          <p:spTgt spid="176"/>
                                        </p:tgtEl>
                                      </p:cBhvr>
                                    </p:animEffect>
                                    <p:anim calcmode="lin" valueType="num">
                                      <p:cBhvr>
                                        <p:cTn id="17" dur="1000" fill="hold"/>
                                        <p:tgtEl>
                                          <p:spTgt spid="176"/>
                                        </p:tgtEl>
                                        <p:attrNameLst>
                                          <p:attrName>ppt_x</p:attrName>
                                        </p:attrNameLst>
                                      </p:cBhvr>
                                      <p:tavLst>
                                        <p:tav tm="0">
                                          <p:val>
                                            <p:strVal val="#ppt_x"/>
                                          </p:val>
                                        </p:tav>
                                        <p:tav tm="100000">
                                          <p:val>
                                            <p:strVal val="#ppt_x"/>
                                          </p:val>
                                        </p:tav>
                                      </p:tavLst>
                                    </p:anim>
                                    <p:anim calcmode="lin" valueType="num">
                                      <p:cBhvr>
                                        <p:cTn id="18" dur="1000" fill="hold"/>
                                        <p:tgtEl>
                                          <p:spTgt spid="176"/>
                                        </p:tgtEl>
                                        <p:attrNameLst>
                                          <p:attrName>ppt_y</p:attrName>
                                        </p:attrNameLst>
                                      </p:cBhvr>
                                      <p:tavLst>
                                        <p:tav tm="0">
                                          <p:val>
                                            <p:strVal val="#ppt_y-.1"/>
                                          </p:val>
                                        </p:tav>
                                        <p:tav tm="100000">
                                          <p:val>
                                            <p:strVal val="#ppt_y"/>
                                          </p:val>
                                        </p:tav>
                                      </p:tavLst>
                                    </p:anim>
                                  </p:childTnLst>
                                </p:cTn>
                              </p:par>
                            </p:childTnLst>
                          </p:cTn>
                        </p:par>
                        <p:par>
                          <p:cTn id="19" fill="hold">
                            <p:stCondLst>
                              <p:cond delay="1000"/>
                            </p:stCondLst>
                            <p:childTnLst>
                              <p:par>
                                <p:cTn id="20" presetID="47" presetClass="entr" presetSubtype="0" fill="hold" grpId="0" nodeType="afterEffect">
                                  <p:stCondLst>
                                    <p:cond delay="0"/>
                                  </p:stCondLst>
                                  <p:childTnLst>
                                    <p:set>
                                      <p:cBhvr>
                                        <p:cTn id="21" dur="1" fill="hold">
                                          <p:stCondLst>
                                            <p:cond delay="0"/>
                                          </p:stCondLst>
                                        </p:cTn>
                                        <p:tgtEl>
                                          <p:spTgt spid="175"/>
                                        </p:tgtEl>
                                        <p:attrNameLst>
                                          <p:attrName>style.visibility</p:attrName>
                                        </p:attrNameLst>
                                      </p:cBhvr>
                                      <p:to>
                                        <p:strVal val="visible"/>
                                      </p:to>
                                    </p:set>
                                    <p:animEffect transition="in" filter="fade">
                                      <p:cBhvr>
                                        <p:cTn id="22" dur="1000"/>
                                        <p:tgtEl>
                                          <p:spTgt spid="175"/>
                                        </p:tgtEl>
                                      </p:cBhvr>
                                    </p:animEffect>
                                    <p:anim calcmode="lin" valueType="num">
                                      <p:cBhvr>
                                        <p:cTn id="23" dur="1000" fill="hold"/>
                                        <p:tgtEl>
                                          <p:spTgt spid="175"/>
                                        </p:tgtEl>
                                        <p:attrNameLst>
                                          <p:attrName>ppt_x</p:attrName>
                                        </p:attrNameLst>
                                      </p:cBhvr>
                                      <p:tavLst>
                                        <p:tav tm="0">
                                          <p:val>
                                            <p:strVal val="#ppt_x"/>
                                          </p:val>
                                        </p:tav>
                                        <p:tav tm="100000">
                                          <p:val>
                                            <p:strVal val="#ppt_x"/>
                                          </p:val>
                                        </p:tav>
                                      </p:tavLst>
                                    </p:anim>
                                    <p:anim calcmode="lin" valueType="num">
                                      <p:cBhvr>
                                        <p:cTn id="24" dur="1000" fill="hold"/>
                                        <p:tgtEl>
                                          <p:spTgt spid="17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73"/>
                                        </p:tgtEl>
                                        <p:attrNameLst>
                                          <p:attrName>style.visibility</p:attrName>
                                        </p:attrNameLst>
                                      </p:cBhvr>
                                      <p:to>
                                        <p:strVal val="visible"/>
                                      </p:to>
                                    </p:set>
                                    <p:animEffect transition="in" filter="wipe(left)">
                                      <p:cBhvr>
                                        <p:cTn id="29" dur="1000"/>
                                        <p:tgtEl>
                                          <p:spTgt spid="173"/>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174"/>
                                        </p:tgtEl>
                                        <p:attrNameLst>
                                          <p:attrName>style.visibility</p:attrName>
                                        </p:attrNameLst>
                                      </p:cBhvr>
                                      <p:to>
                                        <p:strVal val="visible"/>
                                      </p:to>
                                    </p:set>
                                    <p:animEffect transition="in" filter="wipe(left)">
                                      <p:cBhvr>
                                        <p:cTn id="33" dur="500"/>
                                        <p:tgtEl>
                                          <p:spTgt spid="174"/>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80"/>
                                        </p:tgtEl>
                                        <p:attrNameLst>
                                          <p:attrName>style.visibility</p:attrName>
                                        </p:attrNameLst>
                                      </p:cBhvr>
                                      <p:to>
                                        <p:strVal val="visible"/>
                                      </p:to>
                                    </p:set>
                                    <p:animEffect transition="in" filter="fade">
                                      <p:cBhvr>
                                        <p:cTn id="38" dur="1000"/>
                                        <p:tgtEl>
                                          <p:spTgt spid="180"/>
                                        </p:tgtEl>
                                      </p:cBhvr>
                                    </p:animEffect>
                                    <p:anim calcmode="lin" valueType="num">
                                      <p:cBhvr>
                                        <p:cTn id="39" dur="1000" fill="hold"/>
                                        <p:tgtEl>
                                          <p:spTgt spid="180"/>
                                        </p:tgtEl>
                                        <p:attrNameLst>
                                          <p:attrName>ppt_x</p:attrName>
                                        </p:attrNameLst>
                                      </p:cBhvr>
                                      <p:tavLst>
                                        <p:tav tm="0">
                                          <p:val>
                                            <p:strVal val="#ppt_x"/>
                                          </p:val>
                                        </p:tav>
                                        <p:tav tm="100000">
                                          <p:val>
                                            <p:strVal val="#ppt_x"/>
                                          </p:val>
                                        </p:tav>
                                      </p:tavLst>
                                    </p:anim>
                                    <p:anim calcmode="lin" valueType="num">
                                      <p:cBhvr>
                                        <p:cTn id="40" dur="1000" fill="hold"/>
                                        <p:tgtEl>
                                          <p:spTgt spid="180"/>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51"/>
                                        </p:tgtEl>
                                        <p:attrNameLst>
                                          <p:attrName>style.visibility</p:attrName>
                                        </p:attrNameLst>
                                      </p:cBhvr>
                                      <p:to>
                                        <p:strVal val="visible"/>
                                      </p:to>
                                    </p:set>
                                    <p:animEffect transition="in" filter="wipe(left)">
                                      <p:cBhvr>
                                        <p:cTn id="45" dur="1000"/>
                                        <p:tgtEl>
                                          <p:spTgt spid="151"/>
                                        </p:tgtEl>
                                      </p:cBhvr>
                                    </p:animEffect>
                                  </p:childTnLst>
                                </p:cTn>
                              </p:par>
                            </p:childTnLst>
                          </p:cTn>
                        </p:par>
                        <p:par>
                          <p:cTn id="46" fill="hold">
                            <p:stCondLst>
                              <p:cond delay="1000"/>
                            </p:stCondLst>
                            <p:childTnLst>
                              <p:par>
                                <p:cTn id="47" presetID="22" presetClass="entr" presetSubtype="1" fill="hold" grpId="0" nodeType="afterEffect">
                                  <p:stCondLst>
                                    <p:cond delay="0"/>
                                  </p:stCondLst>
                                  <p:childTnLst>
                                    <p:set>
                                      <p:cBhvr>
                                        <p:cTn id="48" dur="1" fill="hold">
                                          <p:stCondLst>
                                            <p:cond delay="0"/>
                                          </p:stCondLst>
                                        </p:cTn>
                                        <p:tgtEl>
                                          <p:spTgt spid="170"/>
                                        </p:tgtEl>
                                        <p:attrNameLst>
                                          <p:attrName>style.visibility</p:attrName>
                                        </p:attrNameLst>
                                      </p:cBhvr>
                                      <p:to>
                                        <p:strVal val="visible"/>
                                      </p:to>
                                    </p:set>
                                    <p:animEffect transition="in" filter="wipe(up)">
                                      <p:cBhvr>
                                        <p:cTn id="49" dur="500"/>
                                        <p:tgtEl>
                                          <p:spTgt spid="17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54"/>
                                        </p:tgtEl>
                                        <p:attrNameLst>
                                          <p:attrName>style.visibility</p:attrName>
                                        </p:attrNameLst>
                                      </p:cBhvr>
                                      <p:to>
                                        <p:strVal val="visible"/>
                                      </p:to>
                                    </p:set>
                                    <p:animEffect transition="in" filter="wipe(left)">
                                      <p:cBhvr>
                                        <p:cTn id="54" dur="500"/>
                                        <p:tgtEl>
                                          <p:spTgt spid="15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52"/>
                                        </p:tgtEl>
                                        <p:attrNameLst>
                                          <p:attrName>style.visibility</p:attrName>
                                        </p:attrNameLst>
                                      </p:cBhvr>
                                      <p:to>
                                        <p:strVal val="visible"/>
                                      </p:to>
                                    </p:set>
                                    <p:animEffect transition="in" filter="wipe(left)">
                                      <p:cBhvr>
                                        <p:cTn id="59" dur="1000"/>
                                        <p:tgtEl>
                                          <p:spTgt spid="15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49">
                                            <p:txEl>
                                              <p:pRg st="0" end="0"/>
                                            </p:txEl>
                                          </p:spTgt>
                                        </p:tgtEl>
                                        <p:attrNameLst>
                                          <p:attrName>style.visibility</p:attrName>
                                        </p:attrNameLst>
                                      </p:cBhvr>
                                      <p:to>
                                        <p:strVal val="visible"/>
                                      </p:to>
                                    </p:set>
                                    <p:animEffect transition="in" filter="wipe(left)">
                                      <p:cBhvr>
                                        <p:cTn id="64" dur="500"/>
                                        <p:tgtEl>
                                          <p:spTgt spid="149">
                                            <p:txEl>
                                              <p:pRg st="0" end="0"/>
                                            </p:txEl>
                                          </p:spTgt>
                                        </p:tgtEl>
                                      </p:cBhvr>
                                    </p:animEffect>
                                  </p:childTnLst>
                                </p:cTn>
                              </p:par>
                            </p:childTnLst>
                          </p:cTn>
                        </p:par>
                        <p:par>
                          <p:cTn id="65" fill="hold">
                            <p:stCondLst>
                              <p:cond delay="500"/>
                            </p:stCondLst>
                            <p:childTnLst>
                              <p:par>
                                <p:cTn id="66" presetID="53" presetClass="entr" presetSubtype="16" fill="hold" grpId="0" nodeType="afterEffect">
                                  <p:stCondLst>
                                    <p:cond delay="0"/>
                                  </p:stCondLst>
                                  <p:childTnLst>
                                    <p:set>
                                      <p:cBhvr>
                                        <p:cTn id="67" dur="1" fill="hold">
                                          <p:stCondLst>
                                            <p:cond delay="0"/>
                                          </p:stCondLst>
                                        </p:cTn>
                                        <p:tgtEl>
                                          <p:spTgt spid="171"/>
                                        </p:tgtEl>
                                        <p:attrNameLst>
                                          <p:attrName>style.visibility</p:attrName>
                                        </p:attrNameLst>
                                      </p:cBhvr>
                                      <p:to>
                                        <p:strVal val="visible"/>
                                      </p:to>
                                    </p:set>
                                    <p:anim calcmode="lin" valueType="num">
                                      <p:cBhvr>
                                        <p:cTn id="68" dur="500" fill="hold"/>
                                        <p:tgtEl>
                                          <p:spTgt spid="171"/>
                                        </p:tgtEl>
                                        <p:attrNameLst>
                                          <p:attrName>ppt_w</p:attrName>
                                        </p:attrNameLst>
                                      </p:cBhvr>
                                      <p:tavLst>
                                        <p:tav tm="0">
                                          <p:val>
                                            <p:fltVal val="0"/>
                                          </p:val>
                                        </p:tav>
                                        <p:tav tm="100000">
                                          <p:val>
                                            <p:strVal val="#ppt_w"/>
                                          </p:val>
                                        </p:tav>
                                      </p:tavLst>
                                    </p:anim>
                                    <p:anim calcmode="lin" valueType="num">
                                      <p:cBhvr>
                                        <p:cTn id="69" dur="500" fill="hold"/>
                                        <p:tgtEl>
                                          <p:spTgt spid="171"/>
                                        </p:tgtEl>
                                        <p:attrNameLst>
                                          <p:attrName>ppt_h</p:attrName>
                                        </p:attrNameLst>
                                      </p:cBhvr>
                                      <p:tavLst>
                                        <p:tav tm="0">
                                          <p:val>
                                            <p:fltVal val="0"/>
                                          </p:val>
                                        </p:tav>
                                        <p:tav tm="100000">
                                          <p:val>
                                            <p:strVal val="#ppt_h"/>
                                          </p:val>
                                        </p:tav>
                                      </p:tavLst>
                                    </p:anim>
                                    <p:animEffect transition="in" filter="fade">
                                      <p:cBhvr>
                                        <p:cTn id="70" dur="500"/>
                                        <p:tgtEl>
                                          <p:spTgt spid="17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49">
                                            <p:txEl>
                                              <p:pRg st="1" end="1"/>
                                            </p:txEl>
                                          </p:spTgt>
                                        </p:tgtEl>
                                        <p:attrNameLst>
                                          <p:attrName>style.visibility</p:attrName>
                                        </p:attrNameLst>
                                      </p:cBhvr>
                                      <p:to>
                                        <p:strVal val="visible"/>
                                      </p:to>
                                    </p:set>
                                    <p:animEffect transition="in" filter="wipe(left)">
                                      <p:cBhvr>
                                        <p:cTn id="75" dur="500"/>
                                        <p:tgtEl>
                                          <p:spTgt spid="149">
                                            <p:txEl>
                                              <p:pRg st="1" end="1"/>
                                            </p:txEl>
                                          </p:spTgt>
                                        </p:tgtEl>
                                      </p:cBhvr>
                                    </p:animEffect>
                                  </p:childTnLst>
                                </p:cTn>
                              </p:par>
                            </p:childTnLst>
                          </p:cTn>
                        </p:par>
                        <p:par>
                          <p:cTn id="76" fill="hold">
                            <p:stCondLst>
                              <p:cond delay="500"/>
                            </p:stCondLst>
                            <p:childTnLst>
                              <p:par>
                                <p:cTn id="77" presetID="53" presetClass="entr" presetSubtype="16" fill="hold" grpId="0" nodeType="afterEffect">
                                  <p:stCondLst>
                                    <p:cond delay="0"/>
                                  </p:stCondLst>
                                  <p:childTnLst>
                                    <p:set>
                                      <p:cBhvr>
                                        <p:cTn id="78" dur="1" fill="hold">
                                          <p:stCondLst>
                                            <p:cond delay="0"/>
                                          </p:stCondLst>
                                        </p:cTn>
                                        <p:tgtEl>
                                          <p:spTgt spid="172"/>
                                        </p:tgtEl>
                                        <p:attrNameLst>
                                          <p:attrName>style.visibility</p:attrName>
                                        </p:attrNameLst>
                                      </p:cBhvr>
                                      <p:to>
                                        <p:strVal val="visible"/>
                                      </p:to>
                                    </p:set>
                                    <p:anim calcmode="lin" valueType="num">
                                      <p:cBhvr>
                                        <p:cTn id="79" dur="500" fill="hold"/>
                                        <p:tgtEl>
                                          <p:spTgt spid="172"/>
                                        </p:tgtEl>
                                        <p:attrNameLst>
                                          <p:attrName>ppt_w</p:attrName>
                                        </p:attrNameLst>
                                      </p:cBhvr>
                                      <p:tavLst>
                                        <p:tav tm="0">
                                          <p:val>
                                            <p:fltVal val="0"/>
                                          </p:val>
                                        </p:tav>
                                        <p:tav tm="100000">
                                          <p:val>
                                            <p:strVal val="#ppt_w"/>
                                          </p:val>
                                        </p:tav>
                                      </p:tavLst>
                                    </p:anim>
                                    <p:anim calcmode="lin" valueType="num">
                                      <p:cBhvr>
                                        <p:cTn id="80" dur="500" fill="hold"/>
                                        <p:tgtEl>
                                          <p:spTgt spid="172"/>
                                        </p:tgtEl>
                                        <p:attrNameLst>
                                          <p:attrName>ppt_h</p:attrName>
                                        </p:attrNameLst>
                                      </p:cBhvr>
                                      <p:tavLst>
                                        <p:tav tm="0">
                                          <p:val>
                                            <p:fltVal val="0"/>
                                          </p:val>
                                        </p:tav>
                                        <p:tav tm="100000">
                                          <p:val>
                                            <p:strVal val="#ppt_h"/>
                                          </p:val>
                                        </p:tav>
                                      </p:tavLst>
                                    </p:anim>
                                    <p:animEffect transition="in" filter="fade">
                                      <p:cBhvr>
                                        <p:cTn id="81" dur="500"/>
                                        <p:tgtEl>
                                          <p:spTgt spid="17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49">
                                            <p:txEl>
                                              <p:pRg st="2" end="2"/>
                                            </p:txEl>
                                          </p:spTgt>
                                        </p:tgtEl>
                                        <p:attrNameLst>
                                          <p:attrName>style.visibility</p:attrName>
                                        </p:attrNameLst>
                                      </p:cBhvr>
                                      <p:to>
                                        <p:strVal val="visible"/>
                                      </p:to>
                                    </p:set>
                                    <p:animEffect transition="in" filter="wipe(left)">
                                      <p:cBhvr>
                                        <p:cTn id="86" dur="500"/>
                                        <p:tgtEl>
                                          <p:spTgt spid="149">
                                            <p:txEl>
                                              <p:pRg st="2" end="2"/>
                                            </p:txEl>
                                          </p:spTgt>
                                        </p:tgtEl>
                                      </p:cBhvr>
                                    </p:animEffect>
                                  </p:childTnLst>
                                </p:cTn>
                              </p:par>
                            </p:childTnLst>
                          </p:cTn>
                        </p:par>
                        <p:par>
                          <p:cTn id="87" fill="hold">
                            <p:stCondLst>
                              <p:cond delay="500"/>
                            </p:stCondLst>
                            <p:childTnLst>
                              <p:par>
                                <p:cTn id="88" presetID="53" presetClass="entr" presetSubtype="16" fill="hold" grpId="0" nodeType="afterEffect">
                                  <p:stCondLst>
                                    <p:cond delay="0"/>
                                  </p:stCondLst>
                                  <p:childTnLst>
                                    <p:set>
                                      <p:cBhvr>
                                        <p:cTn id="89" dur="1" fill="hold">
                                          <p:stCondLst>
                                            <p:cond delay="0"/>
                                          </p:stCondLst>
                                        </p:cTn>
                                        <p:tgtEl>
                                          <p:spTgt spid="178"/>
                                        </p:tgtEl>
                                        <p:attrNameLst>
                                          <p:attrName>style.visibility</p:attrName>
                                        </p:attrNameLst>
                                      </p:cBhvr>
                                      <p:to>
                                        <p:strVal val="visible"/>
                                      </p:to>
                                    </p:set>
                                    <p:anim calcmode="lin" valueType="num">
                                      <p:cBhvr>
                                        <p:cTn id="90" dur="500" fill="hold"/>
                                        <p:tgtEl>
                                          <p:spTgt spid="178"/>
                                        </p:tgtEl>
                                        <p:attrNameLst>
                                          <p:attrName>ppt_w</p:attrName>
                                        </p:attrNameLst>
                                      </p:cBhvr>
                                      <p:tavLst>
                                        <p:tav tm="0">
                                          <p:val>
                                            <p:fltVal val="0"/>
                                          </p:val>
                                        </p:tav>
                                        <p:tav tm="100000">
                                          <p:val>
                                            <p:strVal val="#ppt_w"/>
                                          </p:val>
                                        </p:tav>
                                      </p:tavLst>
                                    </p:anim>
                                    <p:anim calcmode="lin" valueType="num">
                                      <p:cBhvr>
                                        <p:cTn id="91" dur="500" fill="hold"/>
                                        <p:tgtEl>
                                          <p:spTgt spid="178"/>
                                        </p:tgtEl>
                                        <p:attrNameLst>
                                          <p:attrName>ppt_h</p:attrName>
                                        </p:attrNameLst>
                                      </p:cBhvr>
                                      <p:tavLst>
                                        <p:tav tm="0">
                                          <p:val>
                                            <p:fltVal val="0"/>
                                          </p:val>
                                        </p:tav>
                                        <p:tav tm="100000">
                                          <p:val>
                                            <p:strVal val="#ppt_h"/>
                                          </p:val>
                                        </p:tav>
                                      </p:tavLst>
                                    </p:anim>
                                    <p:animEffect transition="in" filter="fade">
                                      <p:cBhvr>
                                        <p:cTn id="92" dur="500"/>
                                        <p:tgtEl>
                                          <p:spTgt spid="178"/>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49">
                                            <p:txEl>
                                              <p:pRg st="3" end="3"/>
                                            </p:txEl>
                                          </p:spTgt>
                                        </p:tgtEl>
                                        <p:attrNameLst>
                                          <p:attrName>style.visibility</p:attrName>
                                        </p:attrNameLst>
                                      </p:cBhvr>
                                      <p:to>
                                        <p:strVal val="visible"/>
                                      </p:to>
                                    </p:set>
                                    <p:animEffect transition="in" filter="wipe(left)">
                                      <p:cBhvr>
                                        <p:cTn id="97" dur="500"/>
                                        <p:tgtEl>
                                          <p:spTgt spid="149">
                                            <p:txEl>
                                              <p:pRg st="3" end="3"/>
                                            </p:txEl>
                                          </p:spTgt>
                                        </p:tgtEl>
                                      </p:cBhvr>
                                    </p:animEffect>
                                  </p:childTnLst>
                                </p:cTn>
                              </p:par>
                            </p:childTnLst>
                          </p:cTn>
                        </p:par>
                        <p:par>
                          <p:cTn id="98" fill="hold">
                            <p:stCondLst>
                              <p:cond delay="500"/>
                            </p:stCondLst>
                            <p:childTnLst>
                              <p:par>
                                <p:cTn id="99" presetID="22" presetClass="entr" presetSubtype="8" fill="hold" grpId="0" nodeType="afterEffect">
                                  <p:stCondLst>
                                    <p:cond delay="0"/>
                                  </p:stCondLst>
                                  <p:childTnLst>
                                    <p:set>
                                      <p:cBhvr>
                                        <p:cTn id="100" dur="1" fill="hold">
                                          <p:stCondLst>
                                            <p:cond delay="0"/>
                                          </p:stCondLst>
                                        </p:cTn>
                                        <p:tgtEl>
                                          <p:spTgt spid="153"/>
                                        </p:tgtEl>
                                        <p:attrNameLst>
                                          <p:attrName>style.visibility</p:attrName>
                                        </p:attrNameLst>
                                      </p:cBhvr>
                                      <p:to>
                                        <p:strVal val="visible"/>
                                      </p:to>
                                    </p:set>
                                    <p:animEffect transition="in" filter="wipe(left)">
                                      <p:cBhvr>
                                        <p:cTn id="101" dur="10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P spid="149" grpId="0" uiExpand="1" build="p"/>
      <p:bldP spid="150" grpId="0"/>
      <p:bldP spid="151" grpId="0"/>
      <p:bldP spid="152" grpId="0"/>
      <p:bldP spid="153" grpId="0"/>
      <p:bldP spid="170" grpId="0"/>
      <p:bldP spid="171" grpId="0"/>
      <p:bldP spid="172" grpId="0"/>
      <p:bldP spid="173" grpId="0"/>
      <p:bldP spid="174" grpId="0"/>
      <p:bldP spid="175" grpId="0"/>
      <p:bldP spid="176" grpId="0"/>
      <p:bldP spid="17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p:nvPr/>
        </p:nvSpPr>
        <p:spPr>
          <a:xfrm>
            <a:off x="479376" y="908050"/>
            <a:ext cx="4583162" cy="64135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0" i="0" u="none" strike="noStrike" kern="1200" cap="none" spc="0" normalizeH="0" baseline="0" noProof="0" dirty="0">
                <a:ln>
                  <a:noFill/>
                </a:ln>
                <a:solidFill>
                  <a:srgbClr val="000099"/>
                </a:solidFill>
                <a:effectLst/>
                <a:uLnTx/>
                <a:uFillTx/>
                <a:latin typeface="Times New Roman"/>
                <a:ea typeface="宋体"/>
                <a:cs typeface="+mn-cs"/>
              </a:rPr>
              <a:t>例如：顺序表</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grpSp>
        <p:nvGrpSpPr>
          <p:cNvPr id="2" name="Group 3"/>
          <p:cNvGrpSpPr/>
          <p:nvPr/>
        </p:nvGrpSpPr>
        <p:grpSpPr>
          <a:xfrm>
            <a:off x="836865" y="1603754"/>
            <a:ext cx="9191626" cy="787400"/>
            <a:chOff x="0" y="0"/>
            <a:chExt cx="5790" cy="496"/>
          </a:xfrm>
        </p:grpSpPr>
        <p:sp>
          <p:nvSpPr>
            <p:cNvPr id="37933" name="Text Box 4"/>
            <p:cNvSpPr txBox="1"/>
            <p:nvPr/>
          </p:nvSpPr>
          <p:spPr>
            <a:xfrm>
              <a:off x="1081" y="92"/>
              <a:ext cx="3284"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000099"/>
                  </a:solidFill>
                  <a:effectLst/>
                  <a:uLnTx/>
                  <a:uFillTx/>
                  <a:latin typeface="Times New Roman"/>
                  <a:ea typeface="宋体"/>
                  <a:cs typeface="+mn-cs"/>
                </a:rPr>
                <a:t>23   75   41  38   54   62  17</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grpSp>
          <p:nvGrpSpPr>
            <p:cNvPr id="37934" name="Group 5"/>
            <p:cNvGrpSpPr/>
            <p:nvPr/>
          </p:nvGrpSpPr>
          <p:grpSpPr>
            <a:xfrm>
              <a:off x="0" y="0"/>
              <a:ext cx="5790" cy="438"/>
              <a:chOff x="0" y="0"/>
              <a:chExt cx="5790" cy="438"/>
            </a:xfrm>
          </p:grpSpPr>
          <p:grpSp>
            <p:nvGrpSpPr>
              <p:cNvPr id="37935" name="Group 6"/>
              <p:cNvGrpSpPr/>
              <p:nvPr/>
            </p:nvGrpSpPr>
            <p:grpSpPr>
              <a:xfrm>
                <a:off x="990" y="136"/>
                <a:ext cx="4800" cy="302"/>
                <a:chOff x="932" y="-158"/>
                <a:chExt cx="4800" cy="302"/>
              </a:xfrm>
            </p:grpSpPr>
            <p:sp>
              <p:nvSpPr>
                <p:cNvPr id="37937" name="Rectangle 7"/>
                <p:cNvSpPr/>
                <p:nvPr/>
              </p:nvSpPr>
              <p:spPr>
                <a:xfrm>
                  <a:off x="932" y="-158"/>
                  <a:ext cx="4800" cy="288"/>
                </a:xfrm>
                <a:prstGeom prst="rect">
                  <a:avLst/>
                </a:prstGeom>
                <a:noFill/>
                <a:ln w="9525" cap="flat" cmpd="sng">
                  <a:solidFill>
                    <a:srgbClr val="0000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endParaRPr kumimoji="1" lang="zh-CN" altLang="en-US" sz="3600" b="1"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37938" name="Line 8"/>
                <p:cNvSpPr/>
                <p:nvPr/>
              </p:nvSpPr>
              <p:spPr>
                <a:xfrm>
                  <a:off x="1462" y="-144"/>
                  <a:ext cx="0" cy="288"/>
                </a:xfrm>
                <a:prstGeom prst="line">
                  <a:avLst/>
                </a:prstGeom>
                <a:ln w="9525" cap="flat" cmpd="sng">
                  <a:solidFill>
                    <a:srgbClr val="000099"/>
                  </a:solidFill>
                  <a:prstDash val="solid"/>
                  <a:headEnd type="none" w="med" len="med"/>
                  <a:tailEnd type="none" w="med" len="med"/>
                </a:ln>
              </p:spPr>
            </p:sp>
            <p:sp>
              <p:nvSpPr>
                <p:cNvPr id="37939" name="Line 9"/>
                <p:cNvSpPr/>
                <p:nvPr/>
              </p:nvSpPr>
              <p:spPr>
                <a:xfrm>
                  <a:off x="1942" y="-144"/>
                  <a:ext cx="0" cy="288"/>
                </a:xfrm>
                <a:prstGeom prst="line">
                  <a:avLst/>
                </a:prstGeom>
                <a:ln w="9525" cap="flat" cmpd="sng">
                  <a:solidFill>
                    <a:srgbClr val="000099"/>
                  </a:solidFill>
                  <a:prstDash val="solid"/>
                  <a:headEnd type="none" w="med" len="med"/>
                  <a:tailEnd type="none" w="med" len="med"/>
                </a:ln>
              </p:spPr>
            </p:sp>
            <p:sp>
              <p:nvSpPr>
                <p:cNvPr id="37940" name="Line 10"/>
                <p:cNvSpPr/>
                <p:nvPr/>
              </p:nvSpPr>
              <p:spPr>
                <a:xfrm>
                  <a:off x="2422" y="-144"/>
                  <a:ext cx="0" cy="288"/>
                </a:xfrm>
                <a:prstGeom prst="line">
                  <a:avLst/>
                </a:prstGeom>
                <a:ln w="9525" cap="flat" cmpd="sng">
                  <a:solidFill>
                    <a:srgbClr val="000099"/>
                  </a:solidFill>
                  <a:prstDash val="solid"/>
                  <a:headEnd type="none" w="med" len="med"/>
                  <a:tailEnd type="none" w="med" len="med"/>
                </a:ln>
              </p:spPr>
            </p:sp>
            <p:sp>
              <p:nvSpPr>
                <p:cNvPr id="37941" name="Line 11"/>
                <p:cNvSpPr/>
                <p:nvPr/>
              </p:nvSpPr>
              <p:spPr>
                <a:xfrm>
                  <a:off x="2902" y="-144"/>
                  <a:ext cx="0" cy="288"/>
                </a:xfrm>
                <a:prstGeom prst="line">
                  <a:avLst/>
                </a:prstGeom>
                <a:ln w="9525" cap="flat" cmpd="sng">
                  <a:solidFill>
                    <a:srgbClr val="000099"/>
                  </a:solidFill>
                  <a:prstDash val="solid"/>
                  <a:headEnd type="none" w="med" len="med"/>
                  <a:tailEnd type="none" w="med" len="med"/>
                </a:ln>
              </p:spPr>
            </p:sp>
            <p:sp>
              <p:nvSpPr>
                <p:cNvPr id="37942" name="Line 12"/>
                <p:cNvSpPr/>
                <p:nvPr/>
              </p:nvSpPr>
              <p:spPr>
                <a:xfrm>
                  <a:off x="3382" y="-144"/>
                  <a:ext cx="0" cy="288"/>
                </a:xfrm>
                <a:prstGeom prst="line">
                  <a:avLst/>
                </a:prstGeom>
                <a:ln w="9525" cap="flat" cmpd="sng">
                  <a:solidFill>
                    <a:srgbClr val="000099"/>
                  </a:solidFill>
                  <a:prstDash val="solid"/>
                  <a:headEnd type="none" w="med" len="med"/>
                  <a:tailEnd type="none" w="med" len="med"/>
                </a:ln>
              </p:spPr>
            </p:sp>
            <p:sp>
              <p:nvSpPr>
                <p:cNvPr id="37943" name="Line 13"/>
                <p:cNvSpPr/>
                <p:nvPr/>
              </p:nvSpPr>
              <p:spPr>
                <a:xfrm>
                  <a:off x="3862" y="-144"/>
                  <a:ext cx="0" cy="288"/>
                </a:xfrm>
                <a:prstGeom prst="line">
                  <a:avLst/>
                </a:prstGeom>
                <a:ln w="9525" cap="flat" cmpd="sng">
                  <a:solidFill>
                    <a:srgbClr val="000099"/>
                  </a:solidFill>
                  <a:prstDash val="solid"/>
                  <a:headEnd type="none" w="med" len="med"/>
                  <a:tailEnd type="none" w="med" len="med"/>
                </a:ln>
              </p:spPr>
            </p:sp>
            <p:sp>
              <p:nvSpPr>
                <p:cNvPr id="37944" name="Line 14"/>
                <p:cNvSpPr/>
                <p:nvPr/>
              </p:nvSpPr>
              <p:spPr>
                <a:xfrm>
                  <a:off x="4342" y="-144"/>
                  <a:ext cx="0" cy="288"/>
                </a:xfrm>
                <a:prstGeom prst="line">
                  <a:avLst/>
                </a:prstGeom>
                <a:ln w="9525" cap="flat" cmpd="sng">
                  <a:solidFill>
                    <a:srgbClr val="000099"/>
                  </a:solidFill>
                  <a:prstDash val="solid"/>
                  <a:headEnd type="none" w="med" len="med"/>
                  <a:tailEnd type="none" w="med" len="med"/>
                </a:ln>
              </p:spPr>
            </p:sp>
            <p:sp>
              <p:nvSpPr>
                <p:cNvPr id="37945" name="Line 15"/>
                <p:cNvSpPr/>
                <p:nvPr/>
              </p:nvSpPr>
              <p:spPr>
                <a:xfrm>
                  <a:off x="5302" y="-144"/>
                  <a:ext cx="0" cy="288"/>
                </a:xfrm>
                <a:prstGeom prst="line">
                  <a:avLst/>
                </a:prstGeom>
                <a:ln w="9525" cap="flat" cmpd="sng">
                  <a:solidFill>
                    <a:srgbClr val="000099"/>
                  </a:solidFill>
                  <a:prstDash val="solid"/>
                  <a:headEnd type="none" w="med" len="med"/>
                  <a:tailEnd type="none" w="med" len="med"/>
                </a:ln>
              </p:spPr>
            </p:sp>
          </p:grpSp>
          <p:sp>
            <p:nvSpPr>
              <p:cNvPr id="37936" name="Text Box 16"/>
              <p:cNvSpPr txBox="1"/>
              <p:nvPr/>
            </p:nvSpPr>
            <p:spPr>
              <a:xfrm>
                <a:off x="0" y="0"/>
                <a:ext cx="116" cy="40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grpSp>
      </p:grpSp>
      <p:sp>
        <p:nvSpPr>
          <p:cNvPr id="49175" name="Text Box 23"/>
          <p:cNvSpPr txBox="1"/>
          <p:nvPr/>
        </p:nvSpPr>
        <p:spPr>
          <a:xfrm>
            <a:off x="2193925" y="4724400"/>
            <a:ext cx="890588"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4400" b="1" i="0" u="none" strike="noStrike" kern="1200" cap="none" spc="0" normalizeH="0" baseline="0" noProof="0" dirty="0">
                <a:ln>
                  <a:noFill/>
                </a:ln>
                <a:solidFill>
                  <a:srgbClr val="660033"/>
                </a:solidFill>
                <a:effectLst/>
                <a:uLnTx/>
                <a:uFillTx/>
                <a:latin typeface="Times New Roman"/>
                <a:ea typeface="宋体"/>
                <a:cs typeface="+mn-cs"/>
              </a:rPr>
              <a:t>e =</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9176" name="Text Box 24"/>
          <p:cNvSpPr txBox="1"/>
          <p:nvPr/>
        </p:nvSpPr>
        <p:spPr>
          <a:xfrm>
            <a:off x="3168650" y="4821238"/>
            <a:ext cx="6413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CC0000"/>
                </a:solidFill>
                <a:effectLst/>
                <a:uLnTx/>
                <a:uFillTx/>
                <a:latin typeface="Times New Roman"/>
                <a:ea typeface="宋体"/>
                <a:cs typeface="+mn-cs"/>
              </a:rPr>
              <a:t>38</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grpSp>
        <p:nvGrpSpPr>
          <p:cNvPr id="7" name="Group 25"/>
          <p:cNvGrpSpPr/>
          <p:nvPr/>
        </p:nvGrpSpPr>
        <p:grpSpPr>
          <a:xfrm>
            <a:off x="2590800" y="2640013"/>
            <a:ext cx="457200" cy="838200"/>
            <a:chOff x="0" y="0"/>
            <a:chExt cx="288" cy="528"/>
          </a:xfrm>
        </p:grpSpPr>
        <p:sp>
          <p:nvSpPr>
            <p:cNvPr id="37927" name="Line 26"/>
            <p:cNvSpPr/>
            <p:nvPr/>
          </p:nvSpPr>
          <p:spPr>
            <a:xfrm>
              <a:off x="0" y="0"/>
              <a:ext cx="0" cy="480"/>
            </a:xfrm>
            <a:prstGeom prst="line">
              <a:avLst/>
            </a:prstGeom>
            <a:ln w="38100" cap="flat" cmpd="sng">
              <a:solidFill>
                <a:srgbClr val="CC0000"/>
              </a:solidFill>
              <a:prstDash val="solid"/>
              <a:headEnd type="triangle" w="med" len="lg"/>
              <a:tailEnd type="none" w="med" len="med"/>
            </a:ln>
          </p:spPr>
        </p:sp>
        <p:sp>
          <p:nvSpPr>
            <p:cNvPr id="37928" name="Text Box 27"/>
            <p:cNvSpPr txBox="1"/>
            <p:nvPr/>
          </p:nvSpPr>
          <p:spPr>
            <a:xfrm>
              <a:off x="12" y="124"/>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CC0000"/>
                  </a:solidFill>
                  <a:effectLst/>
                  <a:uLnTx/>
                  <a:uFillTx/>
                  <a:latin typeface="Times New Roman"/>
                  <a:ea typeface="宋体"/>
                  <a:cs typeface="+mn-cs"/>
                </a:rPr>
                <a:t>p</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grpSp>
      <p:grpSp>
        <p:nvGrpSpPr>
          <p:cNvPr id="8" name="Group 28"/>
          <p:cNvGrpSpPr/>
          <p:nvPr/>
        </p:nvGrpSpPr>
        <p:grpSpPr>
          <a:xfrm>
            <a:off x="3352800" y="2640013"/>
            <a:ext cx="457200" cy="838200"/>
            <a:chOff x="0" y="0"/>
            <a:chExt cx="288" cy="528"/>
          </a:xfrm>
        </p:grpSpPr>
        <p:sp>
          <p:nvSpPr>
            <p:cNvPr id="37925" name="Line 29"/>
            <p:cNvSpPr/>
            <p:nvPr/>
          </p:nvSpPr>
          <p:spPr>
            <a:xfrm>
              <a:off x="0" y="0"/>
              <a:ext cx="0" cy="480"/>
            </a:xfrm>
            <a:prstGeom prst="line">
              <a:avLst/>
            </a:prstGeom>
            <a:ln w="38100" cap="flat" cmpd="sng">
              <a:solidFill>
                <a:srgbClr val="CC0000"/>
              </a:solidFill>
              <a:prstDash val="solid"/>
              <a:headEnd type="triangle" w="med" len="lg"/>
              <a:tailEnd type="none" w="med" len="med"/>
            </a:ln>
          </p:spPr>
        </p:sp>
        <p:sp>
          <p:nvSpPr>
            <p:cNvPr id="37926" name="Text Box 30"/>
            <p:cNvSpPr txBox="1"/>
            <p:nvPr/>
          </p:nvSpPr>
          <p:spPr>
            <a:xfrm>
              <a:off x="12" y="124"/>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CC0000"/>
                  </a:solidFill>
                  <a:effectLst/>
                  <a:uLnTx/>
                  <a:uFillTx/>
                  <a:latin typeface="Times New Roman"/>
                  <a:ea typeface="宋体"/>
                  <a:cs typeface="+mn-cs"/>
                </a:rPr>
                <a:t>p</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grpSp>
      <p:grpSp>
        <p:nvGrpSpPr>
          <p:cNvPr id="9" name="Group 31"/>
          <p:cNvGrpSpPr/>
          <p:nvPr/>
        </p:nvGrpSpPr>
        <p:grpSpPr>
          <a:xfrm>
            <a:off x="4114800" y="2640013"/>
            <a:ext cx="457200" cy="838200"/>
            <a:chOff x="0" y="0"/>
            <a:chExt cx="288" cy="528"/>
          </a:xfrm>
        </p:grpSpPr>
        <p:sp>
          <p:nvSpPr>
            <p:cNvPr id="37923" name="Line 32"/>
            <p:cNvSpPr/>
            <p:nvPr/>
          </p:nvSpPr>
          <p:spPr>
            <a:xfrm>
              <a:off x="0" y="0"/>
              <a:ext cx="0" cy="480"/>
            </a:xfrm>
            <a:prstGeom prst="line">
              <a:avLst/>
            </a:prstGeom>
            <a:ln w="38100" cap="flat" cmpd="sng">
              <a:solidFill>
                <a:srgbClr val="CC0000"/>
              </a:solidFill>
              <a:prstDash val="solid"/>
              <a:headEnd type="triangle" w="med" len="lg"/>
              <a:tailEnd type="none" w="med" len="med"/>
            </a:ln>
          </p:spPr>
        </p:sp>
        <p:sp>
          <p:nvSpPr>
            <p:cNvPr id="37924" name="Text Box 33"/>
            <p:cNvSpPr txBox="1"/>
            <p:nvPr/>
          </p:nvSpPr>
          <p:spPr>
            <a:xfrm>
              <a:off x="12" y="124"/>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CC0000"/>
                  </a:solidFill>
                  <a:effectLst/>
                  <a:uLnTx/>
                  <a:uFillTx/>
                  <a:latin typeface="Times New Roman"/>
                  <a:ea typeface="宋体"/>
                  <a:cs typeface="+mn-cs"/>
                </a:rPr>
                <a:t>p</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grpSp>
      <p:grpSp>
        <p:nvGrpSpPr>
          <p:cNvPr id="10" name="Group 34"/>
          <p:cNvGrpSpPr/>
          <p:nvPr/>
        </p:nvGrpSpPr>
        <p:grpSpPr>
          <a:xfrm>
            <a:off x="4876800" y="2640013"/>
            <a:ext cx="457200" cy="838200"/>
            <a:chOff x="0" y="0"/>
            <a:chExt cx="288" cy="528"/>
          </a:xfrm>
        </p:grpSpPr>
        <p:sp>
          <p:nvSpPr>
            <p:cNvPr id="37921" name="Line 35"/>
            <p:cNvSpPr/>
            <p:nvPr/>
          </p:nvSpPr>
          <p:spPr>
            <a:xfrm>
              <a:off x="0" y="0"/>
              <a:ext cx="0" cy="480"/>
            </a:xfrm>
            <a:prstGeom prst="line">
              <a:avLst/>
            </a:prstGeom>
            <a:ln w="38100" cap="flat" cmpd="sng">
              <a:solidFill>
                <a:srgbClr val="CC0000"/>
              </a:solidFill>
              <a:prstDash val="solid"/>
              <a:headEnd type="triangle" w="med" len="lg"/>
              <a:tailEnd type="none" w="med" len="med"/>
            </a:ln>
          </p:spPr>
        </p:sp>
        <p:sp>
          <p:nvSpPr>
            <p:cNvPr id="37922" name="Text Box 36"/>
            <p:cNvSpPr txBox="1"/>
            <p:nvPr/>
          </p:nvSpPr>
          <p:spPr>
            <a:xfrm>
              <a:off x="12" y="124"/>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CC0000"/>
                  </a:solidFill>
                  <a:effectLst/>
                  <a:uLnTx/>
                  <a:uFillTx/>
                  <a:latin typeface="Times New Roman"/>
                  <a:ea typeface="宋体"/>
                  <a:cs typeface="+mn-cs"/>
                </a:rPr>
                <a:t>p</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grpSp>
      <p:grpSp>
        <p:nvGrpSpPr>
          <p:cNvPr id="11" name="Group 37"/>
          <p:cNvGrpSpPr/>
          <p:nvPr/>
        </p:nvGrpSpPr>
        <p:grpSpPr>
          <a:xfrm>
            <a:off x="7848600" y="2640013"/>
            <a:ext cx="457200" cy="838200"/>
            <a:chOff x="0" y="0"/>
            <a:chExt cx="288" cy="528"/>
          </a:xfrm>
        </p:grpSpPr>
        <p:sp>
          <p:nvSpPr>
            <p:cNvPr id="37919" name="Line 38"/>
            <p:cNvSpPr/>
            <p:nvPr/>
          </p:nvSpPr>
          <p:spPr>
            <a:xfrm>
              <a:off x="0" y="0"/>
              <a:ext cx="0" cy="480"/>
            </a:xfrm>
            <a:prstGeom prst="line">
              <a:avLst/>
            </a:prstGeom>
            <a:ln w="38100" cap="flat" cmpd="sng">
              <a:solidFill>
                <a:srgbClr val="CC0000"/>
              </a:solidFill>
              <a:prstDash val="solid"/>
              <a:headEnd type="triangle" w="med" len="lg"/>
              <a:tailEnd type="none" w="med" len="med"/>
            </a:ln>
          </p:spPr>
        </p:sp>
        <p:sp>
          <p:nvSpPr>
            <p:cNvPr id="37920" name="Text Box 39"/>
            <p:cNvSpPr txBox="1"/>
            <p:nvPr/>
          </p:nvSpPr>
          <p:spPr>
            <a:xfrm>
              <a:off x="12" y="124"/>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CC0000"/>
                  </a:solidFill>
                  <a:effectLst/>
                  <a:uLnTx/>
                  <a:uFillTx/>
                  <a:latin typeface="Times New Roman"/>
                  <a:ea typeface="宋体"/>
                  <a:cs typeface="+mn-cs"/>
                </a:rPr>
                <a:t>p</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grpSp>
      <p:sp>
        <p:nvSpPr>
          <p:cNvPr id="49192" name="Text Box 40"/>
          <p:cNvSpPr txBox="1"/>
          <p:nvPr/>
        </p:nvSpPr>
        <p:spPr>
          <a:xfrm>
            <a:off x="3352800" y="3768725"/>
            <a:ext cx="3111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009999"/>
                </a:solidFill>
                <a:effectLst/>
                <a:uLnTx/>
                <a:uFillTx/>
                <a:latin typeface="Times New Roman"/>
                <a:ea typeface="宋体"/>
                <a:cs typeface="+mn-cs"/>
              </a:rPr>
              <a:t>i</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9193" name="Text Box 41"/>
          <p:cNvSpPr txBox="1"/>
          <p:nvPr/>
        </p:nvSpPr>
        <p:spPr>
          <a:xfrm>
            <a:off x="3673475" y="3768726"/>
            <a:ext cx="685800" cy="650875"/>
          </a:xfrm>
          <a:prstGeom prst="rect">
            <a:avLst/>
          </a:prstGeom>
          <a:solidFill>
            <a:srgbClr val="CCFFCC"/>
          </a:solidFill>
          <a:ln w="9525" cap="flat" cmpd="sng">
            <a:solidFill>
              <a:srgbClr val="00808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009999"/>
                </a:solidFill>
                <a:effectLst/>
                <a:uLnTx/>
                <a:uFillTx/>
                <a:latin typeface="Times New Roman"/>
                <a:ea typeface="宋体"/>
                <a:cs typeface="+mn-cs"/>
              </a:rPr>
              <a:t>1</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9194" name="Text Box 42"/>
          <p:cNvSpPr txBox="1"/>
          <p:nvPr/>
        </p:nvSpPr>
        <p:spPr>
          <a:xfrm>
            <a:off x="3673475" y="3768726"/>
            <a:ext cx="685800" cy="650875"/>
          </a:xfrm>
          <a:prstGeom prst="rect">
            <a:avLst/>
          </a:prstGeom>
          <a:solidFill>
            <a:srgbClr val="CCFFCC"/>
          </a:solidFill>
          <a:ln w="9525" cap="flat" cmpd="sng">
            <a:solidFill>
              <a:srgbClr val="00808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009999"/>
                </a:solidFill>
                <a:effectLst/>
                <a:uLnTx/>
                <a:uFillTx/>
                <a:latin typeface="Times New Roman"/>
                <a:ea typeface="宋体"/>
                <a:cs typeface="+mn-cs"/>
              </a:rPr>
              <a:t>2</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9195" name="Text Box 43"/>
          <p:cNvSpPr txBox="1"/>
          <p:nvPr/>
        </p:nvSpPr>
        <p:spPr>
          <a:xfrm>
            <a:off x="3673475" y="3768726"/>
            <a:ext cx="685800" cy="650875"/>
          </a:xfrm>
          <a:prstGeom prst="rect">
            <a:avLst/>
          </a:prstGeom>
          <a:solidFill>
            <a:srgbClr val="CCFFCC"/>
          </a:solidFill>
          <a:ln w="9525" cap="flat" cmpd="sng">
            <a:solidFill>
              <a:srgbClr val="00808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009999"/>
                </a:solidFill>
                <a:effectLst/>
                <a:uLnTx/>
                <a:uFillTx/>
                <a:latin typeface="Times New Roman"/>
                <a:ea typeface="宋体"/>
                <a:cs typeface="+mn-cs"/>
              </a:rPr>
              <a:t>3</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9196" name="Text Box 44"/>
          <p:cNvSpPr txBox="1"/>
          <p:nvPr/>
        </p:nvSpPr>
        <p:spPr>
          <a:xfrm>
            <a:off x="3673475" y="3768726"/>
            <a:ext cx="685800" cy="650875"/>
          </a:xfrm>
          <a:prstGeom prst="rect">
            <a:avLst/>
          </a:prstGeom>
          <a:solidFill>
            <a:srgbClr val="CCFFCC"/>
          </a:solidFill>
          <a:ln w="9525" cap="flat" cmpd="sng">
            <a:solidFill>
              <a:srgbClr val="00808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009999"/>
                </a:solidFill>
                <a:effectLst/>
                <a:uLnTx/>
                <a:uFillTx/>
                <a:latin typeface="Times New Roman"/>
                <a:ea typeface="宋体"/>
                <a:cs typeface="+mn-cs"/>
              </a:rPr>
              <a:t>4</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9197" name="Text Box 45"/>
          <p:cNvSpPr txBox="1"/>
          <p:nvPr/>
        </p:nvSpPr>
        <p:spPr>
          <a:xfrm>
            <a:off x="3673475" y="3768726"/>
            <a:ext cx="685800" cy="650875"/>
          </a:xfrm>
          <a:prstGeom prst="rect">
            <a:avLst/>
          </a:prstGeom>
          <a:solidFill>
            <a:srgbClr val="CCFFCC"/>
          </a:solidFill>
          <a:ln w="9525" cap="flat" cmpd="sng">
            <a:solidFill>
              <a:srgbClr val="00808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009999"/>
                </a:solidFill>
                <a:effectLst/>
                <a:uLnTx/>
                <a:uFillTx/>
                <a:latin typeface="Times New Roman"/>
                <a:ea typeface="宋体"/>
                <a:cs typeface="+mn-cs"/>
              </a:rPr>
              <a:t>1</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9198" name="Text Box 46"/>
          <p:cNvSpPr txBox="1"/>
          <p:nvPr/>
        </p:nvSpPr>
        <p:spPr>
          <a:xfrm>
            <a:off x="3673475" y="3768726"/>
            <a:ext cx="685800" cy="650875"/>
          </a:xfrm>
          <a:prstGeom prst="rect">
            <a:avLst/>
          </a:prstGeom>
          <a:solidFill>
            <a:srgbClr val="CCFFCC"/>
          </a:solidFill>
          <a:ln w="9525" cap="flat" cmpd="sng">
            <a:solidFill>
              <a:srgbClr val="00808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009999"/>
                </a:solidFill>
                <a:effectLst/>
                <a:uLnTx/>
                <a:uFillTx/>
                <a:latin typeface="Times New Roman"/>
                <a:ea typeface="宋体"/>
                <a:cs typeface="+mn-cs"/>
              </a:rPr>
              <a:t>8</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9199" name="Text Box 47"/>
          <p:cNvSpPr txBox="1"/>
          <p:nvPr/>
        </p:nvSpPr>
        <p:spPr>
          <a:xfrm>
            <a:off x="3930650" y="4845050"/>
            <a:ext cx="6413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FF0000"/>
                </a:solidFill>
                <a:effectLst/>
                <a:uLnTx/>
                <a:uFillTx/>
                <a:latin typeface="Times New Roman"/>
                <a:ea typeface="宋体"/>
                <a:cs typeface="+mn-cs"/>
              </a:rPr>
              <a:t>50</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sp useBgFill="1">
        <p:nvSpPr>
          <p:cNvPr id="49200" name="Rectangle 48"/>
          <p:cNvSpPr/>
          <p:nvPr/>
        </p:nvSpPr>
        <p:spPr>
          <a:xfrm>
            <a:off x="2362200" y="2640013"/>
            <a:ext cx="609600" cy="838200"/>
          </a:xfrm>
          <a:prstGeom prst="rect">
            <a:avLst/>
          </a:prstGeom>
          <a:ln w="9525">
            <a:noFill/>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endParaRPr kumimoji="1" lang="zh-CN" altLang="en-US" sz="3600" b="1" i="0" u="none" strike="noStrike" kern="1200" cap="none" spc="0" normalizeH="0" baseline="0" noProof="0" dirty="0">
              <a:ln>
                <a:noFill/>
              </a:ln>
              <a:solidFill>
                <a:srgbClr val="000000"/>
              </a:solidFill>
              <a:effectLst/>
              <a:uLnTx/>
              <a:uFillTx/>
              <a:latin typeface="Times New Roman"/>
              <a:ea typeface="宋体"/>
              <a:cs typeface="+mn-cs"/>
            </a:endParaRPr>
          </a:p>
        </p:txBody>
      </p:sp>
      <p:sp useBgFill="1">
        <p:nvSpPr>
          <p:cNvPr id="49201" name="Rectangle 49"/>
          <p:cNvSpPr/>
          <p:nvPr/>
        </p:nvSpPr>
        <p:spPr>
          <a:xfrm>
            <a:off x="3124200" y="2640013"/>
            <a:ext cx="609600" cy="838200"/>
          </a:xfrm>
          <a:prstGeom prst="rect">
            <a:avLst/>
          </a:prstGeom>
          <a:ln w="9525">
            <a:noFill/>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endParaRPr kumimoji="1" lang="zh-CN" altLang="en-US" sz="3600" b="1" i="0" u="none" strike="noStrike" kern="1200" cap="none" spc="0" normalizeH="0" baseline="0" noProof="0" dirty="0">
              <a:ln>
                <a:noFill/>
              </a:ln>
              <a:solidFill>
                <a:srgbClr val="000000"/>
              </a:solidFill>
              <a:effectLst/>
              <a:uLnTx/>
              <a:uFillTx/>
              <a:latin typeface="Times New Roman"/>
              <a:ea typeface="宋体"/>
              <a:cs typeface="+mn-cs"/>
            </a:endParaRPr>
          </a:p>
        </p:txBody>
      </p:sp>
      <p:sp useBgFill="1">
        <p:nvSpPr>
          <p:cNvPr id="49202" name="Rectangle 50"/>
          <p:cNvSpPr/>
          <p:nvPr/>
        </p:nvSpPr>
        <p:spPr>
          <a:xfrm>
            <a:off x="3886200" y="2640013"/>
            <a:ext cx="609600" cy="838200"/>
          </a:xfrm>
          <a:prstGeom prst="rect">
            <a:avLst/>
          </a:prstGeom>
          <a:ln w="9525">
            <a:noFill/>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endParaRPr kumimoji="1" lang="zh-CN" altLang="en-US" sz="3600" b="1" i="0" u="none" strike="noStrike" kern="1200" cap="none" spc="0" normalizeH="0" baseline="0" noProof="0" dirty="0">
              <a:ln>
                <a:noFill/>
              </a:ln>
              <a:solidFill>
                <a:srgbClr val="000000"/>
              </a:solidFill>
              <a:effectLst/>
              <a:uLnTx/>
              <a:uFillTx/>
              <a:latin typeface="Times New Roman"/>
              <a:ea typeface="宋体"/>
              <a:cs typeface="+mn-cs"/>
            </a:endParaRPr>
          </a:p>
        </p:txBody>
      </p:sp>
      <p:sp useBgFill="1">
        <p:nvSpPr>
          <p:cNvPr id="49203" name="Rectangle 51"/>
          <p:cNvSpPr/>
          <p:nvPr/>
        </p:nvSpPr>
        <p:spPr>
          <a:xfrm>
            <a:off x="4648200" y="2640013"/>
            <a:ext cx="609600" cy="838200"/>
          </a:xfrm>
          <a:prstGeom prst="rect">
            <a:avLst/>
          </a:prstGeom>
          <a:ln w="9525">
            <a:noFill/>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endParaRPr kumimoji="1" lang="zh-CN" altLang="en-US" sz="3600" b="1" i="0" u="none" strike="noStrike" kern="1200" cap="none" spc="0" normalizeH="0" baseline="0" noProof="0" dirty="0">
              <a:ln>
                <a:noFill/>
              </a:ln>
              <a:solidFill>
                <a:srgbClr val="000000"/>
              </a:solidFill>
              <a:effectLst/>
              <a:uLnTx/>
              <a:uFillTx/>
              <a:latin typeface="Times New Roman"/>
              <a:ea typeface="宋体"/>
              <a:cs typeface="+mn-cs"/>
            </a:endParaRPr>
          </a:p>
        </p:txBody>
      </p:sp>
      <p:grpSp>
        <p:nvGrpSpPr>
          <p:cNvPr id="12" name="Group 52"/>
          <p:cNvGrpSpPr/>
          <p:nvPr/>
        </p:nvGrpSpPr>
        <p:grpSpPr>
          <a:xfrm>
            <a:off x="2514600" y="2640013"/>
            <a:ext cx="457200" cy="838200"/>
            <a:chOff x="0" y="0"/>
            <a:chExt cx="288" cy="528"/>
          </a:xfrm>
        </p:grpSpPr>
        <p:sp>
          <p:nvSpPr>
            <p:cNvPr id="37917" name="Line 53"/>
            <p:cNvSpPr/>
            <p:nvPr/>
          </p:nvSpPr>
          <p:spPr>
            <a:xfrm>
              <a:off x="0" y="0"/>
              <a:ext cx="0" cy="480"/>
            </a:xfrm>
            <a:prstGeom prst="line">
              <a:avLst/>
            </a:prstGeom>
            <a:ln w="38100" cap="flat" cmpd="sng">
              <a:solidFill>
                <a:srgbClr val="CC0000"/>
              </a:solidFill>
              <a:prstDash val="solid"/>
              <a:headEnd type="triangle" w="med" len="lg"/>
              <a:tailEnd type="none" w="med" len="med"/>
            </a:ln>
          </p:spPr>
        </p:sp>
        <p:sp>
          <p:nvSpPr>
            <p:cNvPr id="37918" name="Text Box 54"/>
            <p:cNvSpPr txBox="1"/>
            <p:nvPr/>
          </p:nvSpPr>
          <p:spPr>
            <a:xfrm>
              <a:off x="12" y="124"/>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CC0000"/>
                  </a:solidFill>
                  <a:effectLst/>
                  <a:uLnTx/>
                  <a:uFillTx/>
                  <a:latin typeface="Times New Roman"/>
                  <a:ea typeface="宋体"/>
                  <a:cs typeface="+mn-cs"/>
                </a:rPr>
                <a:t>p</a:t>
              </a:r>
              <a:endParaRPr kumimoji="1" lang="zh-CN" altLang="zh-CN" sz="3600" b="0" i="0" u="none" strike="noStrike" kern="1200" cap="none" spc="0" normalizeH="0" baseline="0" noProof="0" dirty="0">
                <a:ln>
                  <a:noFill/>
                </a:ln>
                <a:solidFill>
                  <a:srgbClr val="000000"/>
                </a:solidFill>
                <a:effectLst/>
                <a:uLnTx/>
                <a:uFillTx/>
                <a:latin typeface="Times New Roman"/>
                <a:ea typeface="宋体"/>
                <a:cs typeface="+mn-cs"/>
              </a:endParaRPr>
            </a:p>
          </p:txBody>
        </p:sp>
      </p:grpSp>
      <p:sp useBgFill="1">
        <p:nvSpPr>
          <p:cNvPr id="49207" name="Rectangle 55"/>
          <p:cNvSpPr/>
          <p:nvPr/>
        </p:nvSpPr>
        <p:spPr>
          <a:xfrm>
            <a:off x="2362200" y="2640013"/>
            <a:ext cx="609600" cy="838200"/>
          </a:xfrm>
          <a:prstGeom prst="rect">
            <a:avLst/>
          </a:prstGeom>
          <a:ln w="9525">
            <a:noFill/>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endParaRPr kumimoji="1" lang="zh-CN" altLang="en-US" sz="3600" b="1"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9208" name="Text Box 56"/>
          <p:cNvSpPr txBox="1"/>
          <p:nvPr/>
        </p:nvSpPr>
        <p:spPr>
          <a:xfrm>
            <a:off x="5257800" y="5148026"/>
            <a:ext cx="6415105" cy="123668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10000"/>
              </a:lnSpc>
              <a:spcBef>
                <a:spcPct val="0"/>
              </a:spcBef>
              <a:spcAft>
                <a:spcPct val="0"/>
              </a:spcAft>
              <a:buClrTx/>
              <a:buSzTx/>
              <a:buFont typeface="Monotype Sorts" pitchFamily="2" charset="2"/>
              <a:buNone/>
              <a:tabLst/>
              <a:defRPr/>
            </a:pPr>
            <a:r>
              <a:rPr kumimoji="1" lang="zh-CN" altLang="zh-CN" sz="3600" b="0" i="0" u="none" strike="noStrike" kern="1200" cap="none" spc="0" normalizeH="0" baseline="0" noProof="0" dirty="0">
                <a:ln>
                  <a:noFill/>
                </a:ln>
                <a:solidFill>
                  <a:srgbClr val="660033"/>
                </a:solidFill>
                <a:effectLst/>
                <a:uLnTx/>
                <a:uFillTx/>
                <a:latin typeface="隶书" panose="02010509060101010101" pitchFamily="49" charset="-122"/>
                <a:ea typeface="隶书" panose="02010509060101010101" pitchFamily="49" charset="-122"/>
                <a:cs typeface="+mn-cs"/>
              </a:rPr>
              <a:t>可见，基本操作是：将顺序表中的元素逐个和给定值e相比较。</a:t>
            </a:r>
          </a:p>
        </p:txBody>
      </p:sp>
      <p:sp>
        <p:nvSpPr>
          <p:cNvPr id="49209" name="Text Box 57">
            <a:hlinkClick r:id="rId2" action="ppaction://hlinksldjump"/>
          </p:cNvPr>
          <p:cNvSpPr txBox="1"/>
          <p:nvPr/>
        </p:nvSpPr>
        <p:spPr>
          <a:xfrm>
            <a:off x="624501" y="160021"/>
            <a:ext cx="3590290" cy="64516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tabLst/>
              <a:defRPr/>
            </a:pPr>
            <a:r>
              <a:rPr kumimoji="1" lang="zh-CN" altLang="zh-CN" sz="3600" b="1" i="0" u="none" strike="noStrike" kern="1200" cap="none" spc="0" normalizeH="0" baseline="0" noProof="0" dirty="0">
                <a:ln>
                  <a:noFill/>
                </a:ln>
                <a:solidFill>
                  <a:srgbClr val="990000"/>
                </a:solidFill>
                <a:effectLst/>
                <a:uLnTx/>
                <a:uFillTx/>
                <a:latin typeface="Times New Roman"/>
                <a:ea typeface="宋体"/>
                <a:cs typeface="+mn-cs"/>
                <a:sym typeface="+mn-ea"/>
              </a:rPr>
              <a:t>LocateElem</a:t>
            </a:r>
            <a:r>
              <a:rPr kumimoji="1" lang="zh-CN" altLang="zh-CN" sz="3600" b="1" i="0" u="none" strike="noStrike" kern="1200" cap="none" spc="0" normalizeH="0" baseline="0" noProof="0" dirty="0">
                <a:ln>
                  <a:noFill/>
                </a:ln>
                <a:solidFill>
                  <a:srgbClr val="990000"/>
                </a:solidFill>
                <a:effectLst/>
                <a:uLnTx/>
                <a:uFillTx/>
                <a:latin typeface="Times New Roman"/>
                <a:ea typeface="楷体_GB2312" pitchFamily="49" charset="-122"/>
                <a:cs typeface="+mn-cs"/>
              </a:rPr>
              <a:t>查找:</a:t>
            </a:r>
            <a:endParaRPr kumimoji="1" lang="zh-CN" altLang="zh-CN" sz="3600" b="1" i="0" u="none" strike="noStrike" kern="1200" cap="none" spc="0" normalizeH="0" baseline="0" noProof="0" dirty="0">
              <a:ln>
                <a:noFill/>
              </a:ln>
              <a:solidFill>
                <a:srgbClr val="990000"/>
              </a:solidFill>
              <a:effectLst/>
              <a:uLnTx/>
              <a:uFillTx/>
              <a:latin typeface="Times New Roman"/>
              <a:ea typeface="宋体"/>
              <a:cs typeface="+mn-cs"/>
            </a:endParaRPr>
          </a:p>
        </p:txBody>
      </p:sp>
      <p:grpSp>
        <p:nvGrpSpPr>
          <p:cNvPr id="3" name="组合 2">
            <a:extLst>
              <a:ext uri="{FF2B5EF4-FFF2-40B4-BE49-F238E27FC236}">
                <a16:creationId xmlns:a16="http://schemas.microsoft.com/office/drawing/2014/main" id="{4CB06508-F9D4-F605-417F-27CDA5786DB3}"/>
              </a:ext>
            </a:extLst>
          </p:cNvPr>
          <p:cNvGrpSpPr/>
          <p:nvPr/>
        </p:nvGrpSpPr>
        <p:grpSpPr>
          <a:xfrm>
            <a:off x="388946" y="1439726"/>
            <a:ext cx="1418871" cy="2248174"/>
            <a:chOff x="5272897" y="4223353"/>
            <a:chExt cx="1418871" cy="2248174"/>
          </a:xfrm>
        </p:grpSpPr>
        <p:sp>
          <p:nvSpPr>
            <p:cNvPr id="4" name="矩形 3">
              <a:extLst>
                <a:ext uri="{FF2B5EF4-FFF2-40B4-BE49-F238E27FC236}">
                  <a16:creationId xmlns:a16="http://schemas.microsoft.com/office/drawing/2014/main" id="{DF3D1B0A-1207-BC0C-2287-D120166FFB55}"/>
                </a:ext>
              </a:extLst>
            </p:cNvPr>
            <p:cNvSpPr/>
            <p:nvPr/>
          </p:nvSpPr>
          <p:spPr>
            <a:xfrm>
              <a:off x="6177355" y="4639806"/>
              <a:ext cx="514413"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13" name="矩形 12">
              <a:extLst>
                <a:ext uri="{FF2B5EF4-FFF2-40B4-BE49-F238E27FC236}">
                  <a16:creationId xmlns:a16="http://schemas.microsoft.com/office/drawing/2014/main" id="{9B3E6747-4A2F-7D8B-DD0D-C01ED4164E06}"/>
                </a:ext>
              </a:extLst>
            </p:cNvPr>
            <p:cNvSpPr/>
            <p:nvPr/>
          </p:nvSpPr>
          <p:spPr>
            <a:xfrm>
              <a:off x="6177355" y="5100353"/>
              <a:ext cx="514413"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7</a:t>
              </a:r>
              <a:endParaRPr kumimoji="0" lang="zh-CN" altLang="en-US" sz="1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14" name="矩形 13">
              <a:extLst>
                <a:ext uri="{FF2B5EF4-FFF2-40B4-BE49-F238E27FC236}">
                  <a16:creationId xmlns:a16="http://schemas.microsoft.com/office/drawing/2014/main" id="{1B523630-00FE-580C-E4BF-C38E86856566}"/>
                </a:ext>
              </a:extLst>
            </p:cNvPr>
            <p:cNvSpPr/>
            <p:nvPr/>
          </p:nvSpPr>
          <p:spPr>
            <a:xfrm>
              <a:off x="6177354" y="5557553"/>
              <a:ext cx="514413"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20</a:t>
              </a:r>
              <a:endParaRPr kumimoji="0" lang="zh-CN" altLang="en-US" sz="1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grpSp>
          <p:nvGrpSpPr>
            <p:cNvPr id="15" name="组合 14">
              <a:extLst>
                <a:ext uri="{FF2B5EF4-FFF2-40B4-BE49-F238E27FC236}">
                  <a16:creationId xmlns:a16="http://schemas.microsoft.com/office/drawing/2014/main" id="{45F3EE5A-18AD-9066-974F-241C9E28559A}"/>
                </a:ext>
              </a:extLst>
            </p:cNvPr>
            <p:cNvGrpSpPr/>
            <p:nvPr/>
          </p:nvGrpSpPr>
          <p:grpSpPr>
            <a:xfrm>
              <a:off x="5272897" y="4636459"/>
              <a:ext cx="928968" cy="1784338"/>
              <a:chOff x="5272897" y="4636459"/>
              <a:chExt cx="928968" cy="1784338"/>
            </a:xfrm>
          </p:grpSpPr>
          <p:sp>
            <p:nvSpPr>
              <p:cNvPr id="18" name="文本框 81922">
                <a:extLst>
                  <a:ext uri="{FF2B5EF4-FFF2-40B4-BE49-F238E27FC236}">
                    <a16:creationId xmlns:a16="http://schemas.microsoft.com/office/drawing/2014/main" id="{FE34AA08-8935-59BE-78C5-5F6FF6CB5513}"/>
                  </a:ext>
                </a:extLst>
              </p:cNvPr>
              <p:cNvSpPr txBox="1">
                <a:spLocks noChangeArrowheads="1"/>
              </p:cNvSpPr>
              <p:nvPr/>
            </p:nvSpPr>
            <p:spPr bwMode="auto">
              <a:xfrm>
                <a:off x="5333527" y="4636459"/>
                <a:ext cx="847604"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400" b="1" i="0" u="none" strike="noStrike" kern="1200" cap="none" spc="0" normalizeH="0" baseline="0" noProof="0" dirty="0" err="1">
                    <a:ln>
                      <a:noFill/>
                    </a:ln>
                    <a:solidFill>
                      <a:srgbClr val="4EA72E">
                        <a:lumMod val="50000"/>
                      </a:srgbClr>
                    </a:solidFill>
                    <a:effectLst/>
                    <a:uLnTx/>
                    <a:uFillTx/>
                    <a:latin typeface="Times New Roman" panose="02020603050405020304" pitchFamily="18" charset="0"/>
                    <a:ea typeface="楷体_GB2312" pitchFamily="49" charset="-122"/>
                    <a:cs typeface="+mn-cs"/>
                  </a:rPr>
                  <a:t>elem</a:t>
                </a:r>
                <a:endParaRPr kumimoji="0" lang="zh-CN" altLang="en-US" sz="24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19" name="文本框 81922">
                <a:extLst>
                  <a:ext uri="{FF2B5EF4-FFF2-40B4-BE49-F238E27FC236}">
                    <a16:creationId xmlns:a16="http://schemas.microsoft.com/office/drawing/2014/main" id="{9A4644FA-D110-8EAE-EB15-5CD459E91DD6}"/>
                  </a:ext>
                </a:extLst>
              </p:cNvPr>
              <p:cNvSpPr txBox="1">
                <a:spLocks noChangeArrowheads="1"/>
              </p:cNvSpPr>
              <p:nvPr/>
            </p:nvSpPr>
            <p:spPr bwMode="auto">
              <a:xfrm>
                <a:off x="5320074" y="5091776"/>
                <a:ext cx="881791"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400" b="1" i="0" u="none" strike="noStrike" kern="1200" cap="none" spc="0" normalizeH="0" baseline="0" noProof="0" dirty="0" err="1">
                    <a:ln>
                      <a:noFill/>
                    </a:ln>
                    <a:solidFill>
                      <a:srgbClr val="4EA72E">
                        <a:lumMod val="50000"/>
                      </a:srgbClr>
                    </a:solidFill>
                    <a:effectLst/>
                    <a:uLnTx/>
                    <a:uFillTx/>
                    <a:latin typeface="Times New Roman" panose="02020603050405020304" pitchFamily="18" charset="0"/>
                    <a:ea typeface="楷体_GB2312" pitchFamily="49" charset="-122"/>
                    <a:cs typeface="+mn-cs"/>
                  </a:rPr>
                  <a:t>len</a:t>
                </a:r>
                <a:endParaRPr kumimoji="0" lang="zh-CN" altLang="en-US" sz="24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20" name="文本框 81922">
                <a:extLst>
                  <a:ext uri="{FF2B5EF4-FFF2-40B4-BE49-F238E27FC236}">
                    <a16:creationId xmlns:a16="http://schemas.microsoft.com/office/drawing/2014/main" id="{59EAA71C-1373-15DE-B6A2-7A7A500E4D11}"/>
                  </a:ext>
                </a:extLst>
              </p:cNvPr>
              <p:cNvSpPr txBox="1">
                <a:spLocks noChangeArrowheads="1"/>
              </p:cNvSpPr>
              <p:nvPr/>
            </p:nvSpPr>
            <p:spPr bwMode="auto">
              <a:xfrm>
                <a:off x="5272897" y="5536131"/>
                <a:ext cx="916714" cy="8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楷体_GB2312" pitchFamily="49" charset="-122"/>
                    <a:cs typeface="+mn-cs"/>
                  </a:rPr>
                  <a:t>size</a:t>
                </a:r>
              </a:p>
              <a:p>
                <a:pPr marL="0" marR="0" lvl="0" indent="0" algn="r" defTabSz="914400" rtl="0" eaLnBrk="1" fontAlgn="auto" latinLnBrk="0" hangingPunct="1">
                  <a:lnSpc>
                    <a:spcPct val="120000"/>
                  </a:lnSpc>
                  <a:spcBef>
                    <a:spcPct val="0"/>
                  </a:spcBef>
                  <a:spcAft>
                    <a:spcPts val="0"/>
                  </a:spcAft>
                  <a:buClrTx/>
                  <a:buSzTx/>
                  <a:buFontTx/>
                  <a:buNone/>
                  <a:tabLst/>
                  <a:defRPr/>
                </a:pPr>
                <a:r>
                  <a:rPr kumimoji="0" lang="en-US" altLang="zh-CN" sz="2400" b="1" i="0" u="none" strike="noStrike" kern="1200" cap="none" spc="0" normalizeH="0" baseline="0" noProof="0" dirty="0" err="1">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inc</a:t>
                </a:r>
                <a:endParaRPr kumimoji="0" lang="zh-CN" altLang="en-US" sz="24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grpSp>
        <p:sp>
          <p:nvSpPr>
            <p:cNvPr id="16" name="文本框 81922">
              <a:extLst>
                <a:ext uri="{FF2B5EF4-FFF2-40B4-BE49-F238E27FC236}">
                  <a16:creationId xmlns:a16="http://schemas.microsoft.com/office/drawing/2014/main" id="{567C2CC1-9622-54A8-1343-B0E2DA315357}"/>
                </a:ext>
              </a:extLst>
            </p:cNvPr>
            <p:cNvSpPr txBox="1">
              <a:spLocks noChangeArrowheads="1"/>
            </p:cNvSpPr>
            <p:nvPr/>
          </p:nvSpPr>
          <p:spPr bwMode="auto">
            <a:xfrm>
              <a:off x="6172058" y="4223353"/>
              <a:ext cx="472887"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楷体_GB2312" pitchFamily="49" charset="-122"/>
                  <a:cs typeface="+mn-cs"/>
                </a:rPr>
                <a:t>L</a:t>
              </a:r>
              <a:endParaRPr kumimoji="0" lang="zh-CN" altLang="en-US" sz="24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17" name="矩形 16">
              <a:extLst>
                <a:ext uri="{FF2B5EF4-FFF2-40B4-BE49-F238E27FC236}">
                  <a16:creationId xmlns:a16="http://schemas.microsoft.com/office/drawing/2014/main" id="{A6150C0B-DD07-BC82-DA7A-C55777A742C4}"/>
                </a:ext>
              </a:extLst>
            </p:cNvPr>
            <p:cNvSpPr/>
            <p:nvPr/>
          </p:nvSpPr>
          <p:spPr>
            <a:xfrm>
              <a:off x="6177354" y="6014327"/>
              <a:ext cx="514413"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10</a:t>
              </a:r>
              <a:endParaRPr kumimoji="0" lang="zh-CN" altLang="en-US" sz="1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grpSp>
      <p:grpSp>
        <p:nvGrpSpPr>
          <p:cNvPr id="61" name="组合 60">
            <a:extLst>
              <a:ext uri="{FF2B5EF4-FFF2-40B4-BE49-F238E27FC236}">
                <a16:creationId xmlns:a16="http://schemas.microsoft.com/office/drawing/2014/main" id="{AC18096F-9172-6F83-E0E4-69AB74273854}"/>
              </a:ext>
            </a:extLst>
          </p:cNvPr>
          <p:cNvGrpSpPr/>
          <p:nvPr/>
        </p:nvGrpSpPr>
        <p:grpSpPr>
          <a:xfrm>
            <a:off x="1807816" y="1391193"/>
            <a:ext cx="8182705" cy="640936"/>
            <a:chOff x="2127137" y="6414182"/>
            <a:chExt cx="8182705" cy="640936"/>
          </a:xfrm>
        </p:grpSpPr>
        <p:grpSp>
          <p:nvGrpSpPr>
            <p:cNvPr id="54" name="组合 53">
              <a:extLst>
                <a:ext uri="{FF2B5EF4-FFF2-40B4-BE49-F238E27FC236}">
                  <a16:creationId xmlns:a16="http://schemas.microsoft.com/office/drawing/2014/main" id="{743F1708-7DA5-DA10-DEEF-456E26617882}"/>
                </a:ext>
              </a:extLst>
            </p:cNvPr>
            <p:cNvGrpSpPr/>
            <p:nvPr/>
          </p:nvGrpSpPr>
          <p:grpSpPr>
            <a:xfrm>
              <a:off x="2127137" y="6414182"/>
              <a:ext cx="8182705" cy="640936"/>
              <a:chOff x="1760994" y="1366749"/>
              <a:chExt cx="8182705" cy="640936"/>
            </a:xfrm>
          </p:grpSpPr>
          <p:grpSp>
            <p:nvGrpSpPr>
              <p:cNvPr id="21" name="组合 20">
                <a:extLst>
                  <a:ext uri="{FF2B5EF4-FFF2-40B4-BE49-F238E27FC236}">
                    <a16:creationId xmlns:a16="http://schemas.microsoft.com/office/drawing/2014/main" id="{EF9F734D-FAB4-8CA6-22ED-D402C3CD28EB}"/>
                  </a:ext>
                </a:extLst>
              </p:cNvPr>
              <p:cNvGrpSpPr/>
              <p:nvPr/>
            </p:nvGrpSpPr>
            <p:grpSpPr>
              <a:xfrm>
                <a:off x="1760994" y="1366749"/>
                <a:ext cx="8182705" cy="640936"/>
                <a:chOff x="6331649" y="4354914"/>
                <a:chExt cx="4869022" cy="640936"/>
              </a:xfrm>
            </p:grpSpPr>
            <p:sp>
              <p:nvSpPr>
                <p:cNvPr id="28" name="文本框 81922">
                  <a:extLst>
                    <a:ext uri="{FF2B5EF4-FFF2-40B4-BE49-F238E27FC236}">
                      <a16:creationId xmlns:a16="http://schemas.microsoft.com/office/drawing/2014/main" id="{4B9D7D98-73F6-23CA-827A-597E020C1416}"/>
                    </a:ext>
                  </a:extLst>
                </p:cNvPr>
                <p:cNvSpPr txBox="1">
                  <a:spLocks noChangeArrowheads="1"/>
                </p:cNvSpPr>
                <p:nvPr/>
              </p:nvSpPr>
              <p:spPr bwMode="auto">
                <a:xfrm>
                  <a:off x="6654671" y="4354914"/>
                  <a:ext cx="512459"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 0</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29" name="文本框 81922">
                  <a:extLst>
                    <a:ext uri="{FF2B5EF4-FFF2-40B4-BE49-F238E27FC236}">
                      <a16:creationId xmlns:a16="http://schemas.microsoft.com/office/drawing/2014/main" id="{8F761CA8-FD62-6783-FDBF-4938C68D9800}"/>
                    </a:ext>
                  </a:extLst>
                </p:cNvPr>
                <p:cNvSpPr txBox="1">
                  <a:spLocks noChangeArrowheads="1"/>
                </p:cNvSpPr>
                <p:nvPr/>
              </p:nvSpPr>
              <p:spPr bwMode="auto">
                <a:xfrm>
                  <a:off x="7147587" y="4370417"/>
                  <a:ext cx="512459"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1</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30" name="文本框 81922">
                  <a:extLst>
                    <a:ext uri="{FF2B5EF4-FFF2-40B4-BE49-F238E27FC236}">
                      <a16:creationId xmlns:a16="http://schemas.microsoft.com/office/drawing/2014/main" id="{61C3AA08-6494-669F-9904-411AF5EE8E1B}"/>
                    </a:ext>
                  </a:extLst>
                </p:cNvPr>
                <p:cNvSpPr txBox="1">
                  <a:spLocks noChangeArrowheads="1"/>
                </p:cNvSpPr>
                <p:nvPr/>
              </p:nvSpPr>
              <p:spPr bwMode="auto">
                <a:xfrm>
                  <a:off x="7570766" y="4365898"/>
                  <a:ext cx="512459"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2</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31" name="文本框 81922">
                  <a:extLst>
                    <a:ext uri="{FF2B5EF4-FFF2-40B4-BE49-F238E27FC236}">
                      <a16:creationId xmlns:a16="http://schemas.microsoft.com/office/drawing/2014/main" id="{11B0FD4E-5855-A93E-DDA8-EC1E44594C8E}"/>
                    </a:ext>
                  </a:extLst>
                </p:cNvPr>
                <p:cNvSpPr txBox="1">
                  <a:spLocks noChangeArrowheads="1"/>
                </p:cNvSpPr>
                <p:nvPr/>
              </p:nvSpPr>
              <p:spPr bwMode="auto">
                <a:xfrm>
                  <a:off x="8660033" y="4366794"/>
                  <a:ext cx="512459" cy="4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34" name="文本框 81922">
                  <a:extLst>
                    <a:ext uri="{FF2B5EF4-FFF2-40B4-BE49-F238E27FC236}">
                      <a16:creationId xmlns:a16="http://schemas.microsoft.com/office/drawing/2014/main" id="{0512FD7A-7D60-453E-AD3A-E52113F1409D}"/>
                    </a:ext>
                  </a:extLst>
                </p:cNvPr>
                <p:cNvSpPr txBox="1">
                  <a:spLocks noChangeArrowheads="1"/>
                </p:cNvSpPr>
                <p:nvPr/>
              </p:nvSpPr>
              <p:spPr bwMode="auto">
                <a:xfrm>
                  <a:off x="9990848" y="4366794"/>
                  <a:ext cx="512459" cy="4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等线" panose="02010600030101010101" pitchFamily="2" charset="-122"/>
                      <a:ea typeface="等线" panose="02010600030101010101" pitchFamily="2" charset="-122"/>
                      <a:cs typeface="+mn-cs"/>
                    </a:rPr>
                    <a:t>…</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35" name="文本框 81922">
                  <a:extLst>
                    <a:ext uri="{FF2B5EF4-FFF2-40B4-BE49-F238E27FC236}">
                      <a16:creationId xmlns:a16="http://schemas.microsoft.com/office/drawing/2014/main" id="{FF2DB253-17D6-49CD-B43C-695861D46DEE}"/>
                    </a:ext>
                  </a:extLst>
                </p:cNvPr>
                <p:cNvSpPr txBox="1">
                  <a:spLocks noChangeArrowheads="1"/>
                </p:cNvSpPr>
                <p:nvPr/>
              </p:nvSpPr>
              <p:spPr bwMode="auto">
                <a:xfrm>
                  <a:off x="10688212" y="4365898"/>
                  <a:ext cx="512459"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19</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cxnSp>
              <p:nvCxnSpPr>
                <p:cNvPr id="36" name="直接箭头连接符 35">
                  <a:extLst>
                    <a:ext uri="{FF2B5EF4-FFF2-40B4-BE49-F238E27FC236}">
                      <a16:creationId xmlns:a16="http://schemas.microsoft.com/office/drawing/2014/main" id="{126ADABD-4D5B-341C-0CDF-BD50D5553D19}"/>
                    </a:ext>
                  </a:extLst>
                </p:cNvPr>
                <p:cNvCxnSpPr>
                  <a:cxnSpLocks/>
                  <a:endCxn id="37937" idx="1"/>
                </p:cNvCxnSpPr>
                <p:nvPr/>
              </p:nvCxnSpPr>
              <p:spPr>
                <a:xfrm flipV="1">
                  <a:off x="6331649" y="4972105"/>
                  <a:ext cx="334830" cy="23745"/>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53" name="文本框 81922">
                <a:extLst>
                  <a:ext uri="{FF2B5EF4-FFF2-40B4-BE49-F238E27FC236}">
                    <a16:creationId xmlns:a16="http://schemas.microsoft.com/office/drawing/2014/main" id="{E0F9F5D3-CA8B-38DE-F781-335EE3CBBD78}"/>
                  </a:ext>
                </a:extLst>
              </p:cNvPr>
              <p:cNvSpPr txBox="1">
                <a:spLocks noChangeArrowheads="1"/>
              </p:cNvSpPr>
              <p:nvPr/>
            </p:nvSpPr>
            <p:spPr bwMode="auto">
              <a:xfrm>
                <a:off x="4630583" y="1380152"/>
                <a:ext cx="861220"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3</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grpSp>
        <p:sp>
          <p:nvSpPr>
            <p:cNvPr id="56" name="文本框 81922">
              <a:extLst>
                <a:ext uri="{FF2B5EF4-FFF2-40B4-BE49-F238E27FC236}">
                  <a16:creationId xmlns:a16="http://schemas.microsoft.com/office/drawing/2014/main" id="{FC20F6C4-82B6-5E71-CD86-4EA223C3B8FE}"/>
                </a:ext>
              </a:extLst>
            </p:cNvPr>
            <p:cNvSpPr txBox="1">
              <a:spLocks noChangeArrowheads="1"/>
            </p:cNvSpPr>
            <p:nvPr/>
          </p:nvSpPr>
          <p:spPr bwMode="auto">
            <a:xfrm>
              <a:off x="5783899" y="6429685"/>
              <a:ext cx="861220"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4</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58" name="文本框 81922">
              <a:extLst>
                <a:ext uri="{FF2B5EF4-FFF2-40B4-BE49-F238E27FC236}">
                  <a16:creationId xmlns:a16="http://schemas.microsoft.com/office/drawing/2014/main" id="{5508BDFA-C019-897F-A493-C9E887F03FFE}"/>
                </a:ext>
              </a:extLst>
            </p:cNvPr>
            <p:cNvSpPr txBox="1">
              <a:spLocks noChangeArrowheads="1"/>
            </p:cNvSpPr>
            <p:nvPr/>
          </p:nvSpPr>
          <p:spPr bwMode="auto">
            <a:xfrm>
              <a:off x="6569038" y="6457426"/>
              <a:ext cx="861220"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5</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sp>
          <p:nvSpPr>
            <p:cNvPr id="60" name="文本框 81922">
              <a:extLst>
                <a:ext uri="{FF2B5EF4-FFF2-40B4-BE49-F238E27FC236}">
                  <a16:creationId xmlns:a16="http://schemas.microsoft.com/office/drawing/2014/main" id="{E72B8A20-56EE-7D05-FC78-37F9DE8B3743}"/>
                </a:ext>
              </a:extLst>
            </p:cNvPr>
            <p:cNvSpPr txBox="1">
              <a:spLocks noChangeArrowheads="1"/>
            </p:cNvSpPr>
            <p:nvPr/>
          </p:nvSpPr>
          <p:spPr bwMode="auto">
            <a:xfrm>
              <a:off x="7346020" y="6440038"/>
              <a:ext cx="861220"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5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rPr>
                <a:t>6</a:t>
              </a:r>
              <a:endParaRPr kumimoji="0" lang="zh-CN" altLang="en-US" sz="2200" b="1" i="0" u="none" strike="noStrike" kern="1200" cap="none" spc="0" normalizeH="0" baseline="0" noProof="0" dirty="0">
                <a:ln>
                  <a:noFill/>
                </a:ln>
                <a:solidFill>
                  <a:srgbClr val="4EA72E">
                    <a:lumMod val="50000"/>
                  </a:srgbClr>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nodeType="withEffect">
                                  <p:stCondLst>
                                    <p:cond delay="0"/>
                                  </p:stCondLst>
                                  <p:childTnLst>
                                    <p:set>
                                      <p:cBhvr>
                                        <p:cTn id="6" dur="1" fill="hold">
                                          <p:stCondLst>
                                            <p:cond delay="0"/>
                                          </p:stCondLst>
                                        </p:cTn>
                                        <p:tgtEl>
                                          <p:spTgt spid="49209"/>
                                        </p:tgtEl>
                                        <p:attrNameLst>
                                          <p:attrName>style.visibility</p:attrName>
                                        </p:attrNameLst>
                                      </p:cBhvr>
                                      <p:to>
                                        <p:strVal val="visible"/>
                                      </p:to>
                                    </p:set>
                                    <p:animEffect transition="in" filter="checkerboard(down)">
                                      <p:cBhvr>
                                        <p:cTn id="7" dur="500"/>
                                        <p:tgtEl>
                                          <p:spTgt spid="4920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1"/>
                                        </p:tgtEl>
                                        <p:attrNameLst>
                                          <p:attrName>style.visibility</p:attrName>
                                        </p:attrNameLst>
                                      </p:cBhvr>
                                      <p:to>
                                        <p:strVal val="visible"/>
                                      </p:to>
                                    </p:set>
                                    <p:anim calcmode="lin" valueType="num">
                                      <p:cBhvr additive="base">
                                        <p:cTn id="12" dur="500" fill="hold"/>
                                        <p:tgtEl>
                                          <p:spTgt spid="61"/>
                                        </p:tgtEl>
                                        <p:attrNameLst>
                                          <p:attrName>ppt_x</p:attrName>
                                        </p:attrNameLst>
                                      </p:cBhvr>
                                      <p:tavLst>
                                        <p:tav tm="0">
                                          <p:val>
                                            <p:strVal val="#ppt_x"/>
                                          </p:val>
                                        </p:tav>
                                        <p:tav tm="100000">
                                          <p:val>
                                            <p:strVal val="#ppt_x"/>
                                          </p:val>
                                        </p:tav>
                                      </p:tavLst>
                                    </p:anim>
                                    <p:anim calcmode="lin" valueType="num">
                                      <p:cBhvr additive="base">
                                        <p:cTn id="13" dur="500" fill="hold"/>
                                        <p:tgtEl>
                                          <p:spTgt spid="61"/>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ppt_x"/>
                                          </p:val>
                                        </p:tav>
                                        <p:tav tm="100000">
                                          <p:val>
                                            <p:strVal val="#ppt_x"/>
                                          </p:val>
                                        </p:tav>
                                      </p:tavLst>
                                    </p:anim>
                                    <p:anim calcmode="lin" valueType="num">
                                      <p:cBhvr additive="base">
                                        <p:cTn id="17" dur="500" fill="hold"/>
                                        <p:tgtEl>
                                          <p:spTgt spid="2"/>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ppt_x"/>
                                          </p:val>
                                        </p:tav>
                                        <p:tav tm="100000">
                                          <p:val>
                                            <p:strVal val="#ppt_x"/>
                                          </p:val>
                                        </p:tav>
                                      </p:tavLst>
                                    </p:anim>
                                    <p:anim calcmode="lin" valueType="num">
                                      <p:cBhvr additive="base">
                                        <p:cTn id="21" dur="500" fill="hold"/>
                                        <p:tgtEl>
                                          <p:spTgt spid="3"/>
                                        </p:tgtEl>
                                        <p:attrNameLst>
                                          <p:attrName>ppt_y</p:attrName>
                                        </p:attrNameLst>
                                      </p:cBhvr>
                                      <p:tavLst>
                                        <p:tav tm="0">
                                          <p:val>
                                            <p:strVal val="1+#ppt_h/2"/>
                                          </p:val>
                                        </p:tav>
                                        <p:tav tm="100000">
                                          <p:val>
                                            <p:strVal val="#ppt_y"/>
                                          </p:val>
                                        </p:tav>
                                      </p:tavLst>
                                    </p:anim>
                                  </p:childTnLst>
                                </p:cTn>
                              </p:par>
                              <p:par>
                                <p:cTn id="22" presetID="2" presetClass="entr" presetSubtype="4" fill="hold" grpId="1" nodeType="withEffect">
                                  <p:stCondLst>
                                    <p:cond delay="0"/>
                                  </p:stCondLst>
                                  <p:childTnLst>
                                    <p:set>
                                      <p:cBhvr>
                                        <p:cTn id="23" dur="1" fill="hold">
                                          <p:stCondLst>
                                            <p:cond delay="0"/>
                                          </p:stCondLst>
                                        </p:cTn>
                                        <p:tgtEl>
                                          <p:spTgt spid="49154"/>
                                        </p:tgtEl>
                                        <p:attrNameLst>
                                          <p:attrName>style.visibility</p:attrName>
                                        </p:attrNameLst>
                                      </p:cBhvr>
                                      <p:to>
                                        <p:strVal val="visible"/>
                                      </p:to>
                                    </p:set>
                                    <p:anim calcmode="lin" valueType="num">
                                      <p:cBhvr additive="base">
                                        <p:cTn id="24" dur="500" fill="hold"/>
                                        <p:tgtEl>
                                          <p:spTgt spid="49154"/>
                                        </p:tgtEl>
                                        <p:attrNameLst>
                                          <p:attrName>ppt_x</p:attrName>
                                        </p:attrNameLst>
                                      </p:cBhvr>
                                      <p:tavLst>
                                        <p:tav tm="0">
                                          <p:val>
                                            <p:strVal val="#ppt_x"/>
                                          </p:val>
                                        </p:tav>
                                        <p:tav tm="100000">
                                          <p:val>
                                            <p:strVal val="#ppt_x"/>
                                          </p:val>
                                        </p:tav>
                                      </p:tavLst>
                                    </p:anim>
                                    <p:anim calcmode="lin" valueType="num">
                                      <p:cBhvr additive="base">
                                        <p:cTn id="25" dur="500" fill="hold"/>
                                        <p:tgtEl>
                                          <p:spTgt spid="4915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1" nodeType="clickEffect">
                                  <p:stCondLst>
                                    <p:cond delay="0"/>
                                  </p:stCondLst>
                                  <p:childTnLst>
                                    <p:set>
                                      <p:cBhvr>
                                        <p:cTn id="29" dur="1" fill="hold">
                                          <p:stCondLst>
                                            <p:cond delay="0"/>
                                          </p:stCondLst>
                                        </p:cTn>
                                        <p:tgtEl>
                                          <p:spTgt spid="49175"/>
                                        </p:tgtEl>
                                        <p:attrNameLst>
                                          <p:attrName>style.visibility</p:attrName>
                                        </p:attrNameLst>
                                      </p:cBhvr>
                                      <p:to>
                                        <p:strVal val="visible"/>
                                      </p:to>
                                    </p:set>
                                    <p:animEffect transition="in" filter="fade">
                                      <p:cBhvr>
                                        <p:cTn id="30" dur="1000"/>
                                        <p:tgtEl>
                                          <p:spTgt spid="49175"/>
                                        </p:tgtEl>
                                      </p:cBhvr>
                                    </p:animEffect>
                                    <p:anim calcmode="lin" valueType="num">
                                      <p:cBhvr>
                                        <p:cTn id="31" dur="1000" fill="hold"/>
                                        <p:tgtEl>
                                          <p:spTgt spid="49175"/>
                                        </p:tgtEl>
                                        <p:attrNameLst>
                                          <p:attrName>ppt_x</p:attrName>
                                        </p:attrNameLst>
                                      </p:cBhvr>
                                      <p:tavLst>
                                        <p:tav tm="0">
                                          <p:val>
                                            <p:strVal val="#ppt_x"/>
                                          </p:val>
                                        </p:tav>
                                        <p:tav tm="100000">
                                          <p:val>
                                            <p:strVal val="#ppt_x"/>
                                          </p:val>
                                        </p:tav>
                                      </p:tavLst>
                                    </p:anim>
                                    <p:anim calcmode="lin" valueType="num">
                                      <p:cBhvr>
                                        <p:cTn id="32" dur="1000" fill="hold"/>
                                        <p:tgtEl>
                                          <p:spTgt spid="49175"/>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1" nodeType="clickEffect">
                                  <p:stCondLst>
                                    <p:cond delay="0"/>
                                  </p:stCondLst>
                                  <p:childTnLst>
                                    <p:set>
                                      <p:cBhvr>
                                        <p:cTn id="36" dur="1" fill="hold">
                                          <p:stCondLst>
                                            <p:cond delay="0"/>
                                          </p:stCondLst>
                                        </p:cTn>
                                        <p:tgtEl>
                                          <p:spTgt spid="49176"/>
                                        </p:tgtEl>
                                        <p:attrNameLst>
                                          <p:attrName>style.visibility</p:attrName>
                                        </p:attrNameLst>
                                      </p:cBhvr>
                                      <p:to>
                                        <p:strVal val="visible"/>
                                      </p:to>
                                    </p:set>
                                    <p:anim calcmode="lin" valueType="num">
                                      <p:cBhvr additive="base">
                                        <p:cTn id="37" dur="500" fill="hold"/>
                                        <p:tgtEl>
                                          <p:spTgt spid="49176"/>
                                        </p:tgtEl>
                                        <p:attrNameLst>
                                          <p:attrName>ppt_x</p:attrName>
                                        </p:attrNameLst>
                                      </p:cBhvr>
                                      <p:tavLst>
                                        <p:tav tm="0">
                                          <p:val>
                                            <p:strVal val="#ppt_x"/>
                                          </p:val>
                                        </p:tav>
                                        <p:tav tm="100000">
                                          <p:val>
                                            <p:strVal val="#ppt_x"/>
                                          </p:val>
                                        </p:tav>
                                      </p:tavLst>
                                    </p:anim>
                                    <p:anim calcmode="lin" valueType="num">
                                      <p:cBhvr additive="base">
                                        <p:cTn id="38" dur="500" fill="hold"/>
                                        <p:tgtEl>
                                          <p:spTgt spid="4917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down)">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49192"/>
                                        </p:tgtEl>
                                        <p:attrNameLst>
                                          <p:attrName>style.visibility</p:attrName>
                                        </p:attrNameLst>
                                      </p:cBhvr>
                                      <p:to>
                                        <p:strVal val="visible"/>
                                      </p:to>
                                    </p:set>
                                    <p:animEffect transition="in" filter="wipe(left)">
                                      <p:cBhvr>
                                        <p:cTn id="48" dur="500"/>
                                        <p:tgtEl>
                                          <p:spTgt spid="49192"/>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49193"/>
                                        </p:tgtEl>
                                        <p:attrNameLst>
                                          <p:attrName>style.visibility</p:attrName>
                                        </p:attrNameLst>
                                      </p:cBhvr>
                                      <p:to>
                                        <p:strVal val="visible"/>
                                      </p:to>
                                    </p:set>
                                    <p:animEffect transition="in" filter="wipe(left)">
                                      <p:cBhvr>
                                        <p:cTn id="52" dur="500"/>
                                        <p:tgtEl>
                                          <p:spTgt spid="4919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9200"/>
                                        </p:tgtEl>
                                        <p:attrNameLst>
                                          <p:attrName>style.visibility</p:attrName>
                                        </p:attrNameLst>
                                      </p:cBhvr>
                                      <p:to>
                                        <p:strVal val="visible"/>
                                      </p:to>
                                    </p:set>
                                    <p:animEffect transition="in" filter="wipe(left)">
                                      <p:cBhvr>
                                        <p:cTn id="57" dur="500"/>
                                        <p:tgtEl>
                                          <p:spTgt spid="49200"/>
                                        </p:tgtEl>
                                      </p:cBhvr>
                                    </p:animEffect>
                                  </p:childTnLst>
                                </p:cTn>
                              </p:par>
                            </p:childTnLst>
                          </p:cTn>
                        </p:par>
                        <p:par>
                          <p:cTn id="58" fill="hold">
                            <p:stCondLst>
                              <p:cond delay="500"/>
                            </p:stCondLst>
                            <p:childTnLst>
                              <p:par>
                                <p:cTn id="59" presetID="12" presetClass="entr" presetSubtype="8" fill="hold" nodeType="after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slide(fromLeft)">
                                      <p:cBhvr>
                                        <p:cTn id="61" dur="500"/>
                                        <p:tgtEl>
                                          <p:spTgt spid="8"/>
                                        </p:tgtEl>
                                      </p:cBhvr>
                                    </p:animEffect>
                                  </p:childTnLst>
                                </p:cTn>
                              </p:par>
                            </p:childTnLst>
                          </p:cTn>
                        </p:par>
                        <p:par>
                          <p:cTn id="62" fill="hold">
                            <p:stCondLst>
                              <p:cond delay="1000"/>
                            </p:stCondLst>
                            <p:childTnLst>
                              <p:par>
                                <p:cTn id="63" presetID="22" presetClass="entr" presetSubtype="8" fill="hold" nodeType="afterEffect">
                                  <p:stCondLst>
                                    <p:cond delay="0"/>
                                  </p:stCondLst>
                                  <p:childTnLst>
                                    <p:set>
                                      <p:cBhvr>
                                        <p:cTn id="64" dur="1" fill="hold">
                                          <p:stCondLst>
                                            <p:cond delay="0"/>
                                          </p:stCondLst>
                                        </p:cTn>
                                        <p:tgtEl>
                                          <p:spTgt spid="49194"/>
                                        </p:tgtEl>
                                        <p:attrNameLst>
                                          <p:attrName>style.visibility</p:attrName>
                                        </p:attrNameLst>
                                      </p:cBhvr>
                                      <p:to>
                                        <p:strVal val="visible"/>
                                      </p:to>
                                    </p:set>
                                    <p:animEffect transition="in" filter="wipe(left)">
                                      <p:cBhvr>
                                        <p:cTn id="65" dur="500"/>
                                        <p:tgtEl>
                                          <p:spTgt spid="4919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49201"/>
                                        </p:tgtEl>
                                        <p:attrNameLst>
                                          <p:attrName>style.visibility</p:attrName>
                                        </p:attrNameLst>
                                      </p:cBhvr>
                                      <p:to>
                                        <p:strVal val="visible"/>
                                      </p:to>
                                    </p:set>
                                    <p:animEffect transition="in" filter="wipe(left)">
                                      <p:cBhvr>
                                        <p:cTn id="70" dur="500"/>
                                        <p:tgtEl>
                                          <p:spTgt spid="49201"/>
                                        </p:tgtEl>
                                      </p:cBhvr>
                                    </p:animEffect>
                                  </p:childTnLst>
                                </p:cTn>
                              </p:par>
                            </p:childTnLst>
                          </p:cTn>
                        </p:par>
                        <p:par>
                          <p:cTn id="71" fill="hold">
                            <p:stCondLst>
                              <p:cond delay="500"/>
                            </p:stCondLst>
                            <p:childTnLst>
                              <p:par>
                                <p:cTn id="72" presetID="12" presetClass="entr" presetSubtype="8" fill="hold" nodeType="afterEffect">
                                  <p:stCondLst>
                                    <p:cond delay="0"/>
                                  </p:stCondLst>
                                  <p:childTnLst>
                                    <p:set>
                                      <p:cBhvr>
                                        <p:cTn id="73" dur="1" fill="hold">
                                          <p:stCondLst>
                                            <p:cond delay="0"/>
                                          </p:stCondLst>
                                        </p:cTn>
                                        <p:tgtEl>
                                          <p:spTgt spid="9"/>
                                        </p:tgtEl>
                                        <p:attrNameLst>
                                          <p:attrName>style.visibility</p:attrName>
                                        </p:attrNameLst>
                                      </p:cBhvr>
                                      <p:to>
                                        <p:strVal val="visible"/>
                                      </p:to>
                                    </p:set>
                                    <p:animEffect transition="in" filter="slide(fromLeft)">
                                      <p:cBhvr>
                                        <p:cTn id="74" dur="500"/>
                                        <p:tgtEl>
                                          <p:spTgt spid="9"/>
                                        </p:tgtEl>
                                      </p:cBhvr>
                                    </p:animEffect>
                                  </p:childTnLst>
                                </p:cTn>
                              </p:par>
                            </p:childTnLst>
                          </p:cTn>
                        </p:par>
                        <p:par>
                          <p:cTn id="75" fill="hold">
                            <p:stCondLst>
                              <p:cond delay="1000"/>
                            </p:stCondLst>
                            <p:childTnLst>
                              <p:par>
                                <p:cTn id="76" presetID="22" presetClass="entr" presetSubtype="8" fill="hold" nodeType="afterEffect">
                                  <p:stCondLst>
                                    <p:cond delay="0"/>
                                  </p:stCondLst>
                                  <p:childTnLst>
                                    <p:set>
                                      <p:cBhvr>
                                        <p:cTn id="77" dur="1" fill="hold">
                                          <p:stCondLst>
                                            <p:cond delay="0"/>
                                          </p:stCondLst>
                                        </p:cTn>
                                        <p:tgtEl>
                                          <p:spTgt spid="49195"/>
                                        </p:tgtEl>
                                        <p:attrNameLst>
                                          <p:attrName>style.visibility</p:attrName>
                                        </p:attrNameLst>
                                      </p:cBhvr>
                                      <p:to>
                                        <p:strVal val="visible"/>
                                      </p:to>
                                    </p:set>
                                    <p:animEffect transition="in" filter="wipe(left)">
                                      <p:cBhvr>
                                        <p:cTn id="78" dur="500"/>
                                        <p:tgtEl>
                                          <p:spTgt spid="4919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49202"/>
                                        </p:tgtEl>
                                        <p:attrNameLst>
                                          <p:attrName>style.visibility</p:attrName>
                                        </p:attrNameLst>
                                      </p:cBhvr>
                                      <p:to>
                                        <p:strVal val="visible"/>
                                      </p:to>
                                    </p:set>
                                    <p:animEffect transition="in" filter="wipe(left)">
                                      <p:cBhvr>
                                        <p:cTn id="83" dur="500"/>
                                        <p:tgtEl>
                                          <p:spTgt spid="49202"/>
                                        </p:tgtEl>
                                      </p:cBhvr>
                                    </p:animEffect>
                                  </p:childTnLst>
                                </p:cTn>
                              </p:par>
                            </p:childTnLst>
                          </p:cTn>
                        </p:par>
                        <p:par>
                          <p:cTn id="84" fill="hold">
                            <p:stCondLst>
                              <p:cond delay="500"/>
                            </p:stCondLst>
                            <p:childTnLst>
                              <p:par>
                                <p:cTn id="85" presetID="12" presetClass="entr" presetSubtype="8" fill="hold" nodeType="afterEffect">
                                  <p:stCondLst>
                                    <p:cond delay="0"/>
                                  </p:stCondLst>
                                  <p:childTnLst>
                                    <p:set>
                                      <p:cBhvr>
                                        <p:cTn id="86" dur="1" fill="hold">
                                          <p:stCondLst>
                                            <p:cond delay="0"/>
                                          </p:stCondLst>
                                        </p:cTn>
                                        <p:tgtEl>
                                          <p:spTgt spid="10"/>
                                        </p:tgtEl>
                                        <p:attrNameLst>
                                          <p:attrName>style.visibility</p:attrName>
                                        </p:attrNameLst>
                                      </p:cBhvr>
                                      <p:to>
                                        <p:strVal val="visible"/>
                                      </p:to>
                                    </p:set>
                                    <p:animEffect transition="in" filter="slide(fromLeft)">
                                      <p:cBhvr>
                                        <p:cTn id="87" dur="500"/>
                                        <p:tgtEl>
                                          <p:spTgt spid="10"/>
                                        </p:tgtEl>
                                      </p:cBhvr>
                                    </p:animEffect>
                                  </p:childTnLst>
                                </p:cTn>
                              </p:par>
                            </p:childTnLst>
                          </p:cTn>
                        </p:par>
                        <p:par>
                          <p:cTn id="88" fill="hold">
                            <p:stCondLst>
                              <p:cond delay="1000"/>
                            </p:stCondLst>
                            <p:childTnLst>
                              <p:par>
                                <p:cTn id="89" presetID="22" presetClass="entr" presetSubtype="8" fill="hold" nodeType="afterEffect">
                                  <p:stCondLst>
                                    <p:cond delay="0"/>
                                  </p:stCondLst>
                                  <p:childTnLst>
                                    <p:set>
                                      <p:cBhvr>
                                        <p:cTn id="90" dur="1" fill="hold">
                                          <p:stCondLst>
                                            <p:cond delay="0"/>
                                          </p:stCondLst>
                                        </p:cTn>
                                        <p:tgtEl>
                                          <p:spTgt spid="49196"/>
                                        </p:tgtEl>
                                        <p:attrNameLst>
                                          <p:attrName>style.visibility</p:attrName>
                                        </p:attrNameLst>
                                      </p:cBhvr>
                                      <p:to>
                                        <p:strVal val="visible"/>
                                      </p:to>
                                    </p:set>
                                    <p:animEffect transition="in" filter="wipe(left)">
                                      <p:cBhvr>
                                        <p:cTn id="91" dur="500"/>
                                        <p:tgtEl>
                                          <p:spTgt spid="49196"/>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49199"/>
                                        </p:tgtEl>
                                        <p:attrNameLst>
                                          <p:attrName>style.visibility</p:attrName>
                                        </p:attrNameLst>
                                      </p:cBhvr>
                                      <p:to>
                                        <p:strVal val="visible"/>
                                      </p:to>
                                    </p:set>
                                    <p:animEffect transition="in" filter="wipe(left)">
                                      <p:cBhvr>
                                        <p:cTn id="96" dur="500"/>
                                        <p:tgtEl>
                                          <p:spTgt spid="4919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49203"/>
                                        </p:tgtEl>
                                        <p:attrNameLst>
                                          <p:attrName>style.visibility</p:attrName>
                                        </p:attrNameLst>
                                      </p:cBhvr>
                                      <p:to>
                                        <p:strVal val="visible"/>
                                      </p:to>
                                    </p:set>
                                    <p:animEffect transition="in" filter="wipe(left)">
                                      <p:cBhvr>
                                        <p:cTn id="101" dur="500"/>
                                        <p:tgtEl>
                                          <p:spTgt spid="49203"/>
                                        </p:tgtEl>
                                      </p:cBhvr>
                                    </p:animEffect>
                                  </p:childTnLst>
                                </p:cTn>
                              </p:par>
                            </p:childTnLst>
                          </p:cTn>
                        </p:par>
                        <p:par>
                          <p:cTn id="102" fill="hold">
                            <p:stCondLst>
                              <p:cond delay="500"/>
                            </p:stCondLst>
                            <p:childTnLst>
                              <p:par>
                                <p:cTn id="103" presetID="12" presetClass="entr" presetSubtype="8" fill="hold" nodeType="afterEffect">
                                  <p:stCondLst>
                                    <p:cond delay="0"/>
                                  </p:stCondLst>
                                  <p:childTnLst>
                                    <p:set>
                                      <p:cBhvr>
                                        <p:cTn id="104" dur="1" fill="hold">
                                          <p:stCondLst>
                                            <p:cond delay="0"/>
                                          </p:stCondLst>
                                        </p:cTn>
                                        <p:tgtEl>
                                          <p:spTgt spid="12"/>
                                        </p:tgtEl>
                                        <p:attrNameLst>
                                          <p:attrName>style.visibility</p:attrName>
                                        </p:attrNameLst>
                                      </p:cBhvr>
                                      <p:to>
                                        <p:strVal val="visible"/>
                                      </p:to>
                                    </p:set>
                                    <p:animEffect transition="in" filter="slide(fromLeft)">
                                      <p:cBhvr>
                                        <p:cTn id="105" dur="500"/>
                                        <p:tgtEl>
                                          <p:spTgt spid="12"/>
                                        </p:tgtEl>
                                      </p:cBhvr>
                                    </p:animEffect>
                                  </p:childTnLst>
                                </p:cTn>
                              </p:par>
                            </p:childTnLst>
                          </p:cTn>
                        </p:par>
                        <p:par>
                          <p:cTn id="106" fill="hold">
                            <p:stCondLst>
                              <p:cond delay="1000"/>
                            </p:stCondLst>
                            <p:childTnLst>
                              <p:par>
                                <p:cTn id="107" presetID="22" presetClass="entr" presetSubtype="8" fill="hold" nodeType="afterEffect">
                                  <p:stCondLst>
                                    <p:cond delay="0"/>
                                  </p:stCondLst>
                                  <p:childTnLst>
                                    <p:set>
                                      <p:cBhvr>
                                        <p:cTn id="108" dur="1" fill="hold">
                                          <p:stCondLst>
                                            <p:cond delay="0"/>
                                          </p:stCondLst>
                                        </p:cTn>
                                        <p:tgtEl>
                                          <p:spTgt spid="49197"/>
                                        </p:tgtEl>
                                        <p:attrNameLst>
                                          <p:attrName>style.visibility</p:attrName>
                                        </p:attrNameLst>
                                      </p:cBhvr>
                                      <p:to>
                                        <p:strVal val="visible"/>
                                      </p:to>
                                    </p:set>
                                    <p:animEffect transition="in" filter="wipe(left)">
                                      <p:cBhvr>
                                        <p:cTn id="109" dur="500"/>
                                        <p:tgtEl>
                                          <p:spTgt spid="49197"/>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49207"/>
                                        </p:tgtEl>
                                        <p:attrNameLst>
                                          <p:attrName>style.visibility</p:attrName>
                                        </p:attrNameLst>
                                      </p:cBhvr>
                                      <p:to>
                                        <p:strVal val="visible"/>
                                      </p:to>
                                    </p:set>
                                    <p:animEffect transition="in" filter="wipe(left)">
                                      <p:cBhvr>
                                        <p:cTn id="114" dur="500"/>
                                        <p:tgtEl>
                                          <p:spTgt spid="49207"/>
                                        </p:tgtEl>
                                      </p:cBhvr>
                                    </p:animEffect>
                                  </p:childTnLst>
                                </p:cTn>
                              </p:par>
                            </p:childTnLst>
                          </p:cTn>
                        </p:par>
                        <p:par>
                          <p:cTn id="115" fill="hold">
                            <p:stCondLst>
                              <p:cond delay="500"/>
                            </p:stCondLst>
                            <p:childTnLst>
                              <p:par>
                                <p:cTn id="116" presetID="12" presetClass="entr" presetSubtype="8" fill="hold" nodeType="afterEffect">
                                  <p:stCondLst>
                                    <p:cond delay="0"/>
                                  </p:stCondLst>
                                  <p:childTnLst>
                                    <p:set>
                                      <p:cBhvr>
                                        <p:cTn id="117" dur="1" fill="hold">
                                          <p:stCondLst>
                                            <p:cond delay="0"/>
                                          </p:stCondLst>
                                        </p:cTn>
                                        <p:tgtEl>
                                          <p:spTgt spid="11"/>
                                        </p:tgtEl>
                                        <p:attrNameLst>
                                          <p:attrName>style.visibility</p:attrName>
                                        </p:attrNameLst>
                                      </p:cBhvr>
                                      <p:to>
                                        <p:strVal val="visible"/>
                                      </p:to>
                                    </p:set>
                                    <p:animEffect transition="in" filter="slide(fromLeft)">
                                      <p:cBhvr>
                                        <p:cTn id="118" dur="500"/>
                                        <p:tgtEl>
                                          <p:spTgt spid="11"/>
                                        </p:tgtEl>
                                      </p:cBhvr>
                                    </p:animEffect>
                                  </p:childTnLst>
                                </p:cTn>
                              </p:par>
                            </p:childTnLst>
                          </p:cTn>
                        </p:par>
                        <p:par>
                          <p:cTn id="119" fill="hold">
                            <p:stCondLst>
                              <p:cond delay="1000"/>
                            </p:stCondLst>
                            <p:childTnLst>
                              <p:par>
                                <p:cTn id="120" presetID="22" presetClass="entr" presetSubtype="8" fill="hold" nodeType="afterEffect">
                                  <p:stCondLst>
                                    <p:cond delay="0"/>
                                  </p:stCondLst>
                                  <p:childTnLst>
                                    <p:set>
                                      <p:cBhvr>
                                        <p:cTn id="121" dur="1" fill="hold">
                                          <p:stCondLst>
                                            <p:cond delay="0"/>
                                          </p:stCondLst>
                                        </p:cTn>
                                        <p:tgtEl>
                                          <p:spTgt spid="49198"/>
                                        </p:tgtEl>
                                        <p:attrNameLst>
                                          <p:attrName>style.visibility</p:attrName>
                                        </p:attrNameLst>
                                      </p:cBhvr>
                                      <p:to>
                                        <p:strVal val="visible"/>
                                      </p:to>
                                    </p:set>
                                    <p:animEffect transition="in" filter="wipe(left)">
                                      <p:cBhvr>
                                        <p:cTn id="122" dur="500"/>
                                        <p:tgtEl>
                                          <p:spTgt spid="49198"/>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49208"/>
                                        </p:tgtEl>
                                        <p:attrNameLst>
                                          <p:attrName>style.visibility</p:attrName>
                                        </p:attrNameLst>
                                      </p:cBhvr>
                                      <p:to>
                                        <p:strVal val="visible"/>
                                      </p:to>
                                    </p:set>
                                    <p:animEffect transition="in" filter="wipe(left)">
                                      <p:cBhvr>
                                        <p:cTn id="127" dur="500"/>
                                        <p:tgtEl>
                                          <p:spTgt spid="49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54" grpId="1"/>
      <p:bldP spid="49175" grpId="0"/>
      <p:bldP spid="49175" grpId="1"/>
      <p:bldP spid="49176" grpId="0"/>
      <p:bldP spid="49176" grpId="1"/>
      <p:bldP spid="49192" grpId="0"/>
      <p:bldP spid="49193" grpId="0" animBg="1"/>
      <p:bldP spid="49194" grpId="0" animBg="1"/>
      <p:bldP spid="49195" grpId="0" animBg="1"/>
      <p:bldP spid="49196" grpId="0" animBg="1"/>
      <p:bldP spid="49197" grpId="0" animBg="1"/>
      <p:bldP spid="49198" grpId="0" animBg="1"/>
      <p:bldP spid="49199" grpId="0"/>
      <p:bldP spid="49200" grpId="0" animBg="1"/>
      <p:bldP spid="49201" grpId="0" animBg="1"/>
      <p:bldP spid="49202" grpId="0" animBg="1"/>
      <p:bldP spid="49203" grpId="0" animBg="1"/>
      <p:bldP spid="49207" grpId="0" animBg="1"/>
      <p:bldP spid="49208" grpId="0"/>
      <p:bldP spid="4920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p:nvPr/>
        </p:nvSpPr>
        <p:spPr>
          <a:xfrm>
            <a:off x="263352" y="209550"/>
            <a:ext cx="11449272" cy="647626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15000"/>
              </a:lnSpc>
              <a:spcBef>
                <a:spcPct val="0"/>
              </a:spcBef>
              <a:buClrTx/>
              <a:buNone/>
            </a:pPr>
            <a:r>
              <a:rPr lang="zh-CN" altLang="en-US" sz="2400" dirty="0"/>
              <a:t> </a:t>
            </a:r>
            <a:r>
              <a:rPr lang="zh-CN" altLang="en-US" b="1" dirty="0"/>
              <a:t>int</a:t>
            </a:r>
            <a:r>
              <a:rPr lang="zh-CN" altLang="en-US" dirty="0"/>
              <a:t> LocateElem (SqList L, ElemType e, </a:t>
            </a:r>
            <a:endParaRPr lang="en-US" altLang="zh-CN" dirty="0"/>
          </a:p>
          <a:p>
            <a:pPr marL="0" indent="0" eaLnBrk="1" hangingPunct="1">
              <a:lnSpc>
                <a:spcPct val="115000"/>
              </a:lnSpc>
              <a:spcBef>
                <a:spcPct val="0"/>
              </a:spcBef>
              <a:buClrTx/>
              <a:buNone/>
            </a:pPr>
            <a:r>
              <a:rPr lang="en-US" altLang="zh-CN" b="1" dirty="0"/>
              <a:t>                                 </a:t>
            </a:r>
            <a:r>
              <a:rPr lang="zh-CN" altLang="en-US" b="1" dirty="0"/>
              <a:t>Status</a:t>
            </a:r>
            <a:r>
              <a:rPr lang="zh-CN" altLang="en-US" dirty="0"/>
              <a:t> (*</a:t>
            </a:r>
            <a:r>
              <a:rPr lang="en-US" altLang="zh-CN" dirty="0"/>
              <a:t>equal</a:t>
            </a:r>
            <a:r>
              <a:rPr lang="zh-CN" altLang="en-US" dirty="0"/>
              <a:t>)(ElemType, ElemType)) </a:t>
            </a:r>
            <a:r>
              <a:rPr lang="zh-CN" altLang="en-US" b="1" dirty="0"/>
              <a:t>{</a:t>
            </a:r>
            <a:endParaRPr lang="zh-CN" altLang="en-US" sz="3600" b="1" dirty="0"/>
          </a:p>
          <a:p>
            <a:pPr marL="0" indent="0" eaLnBrk="1" hangingPunct="1">
              <a:lnSpc>
                <a:spcPct val="115000"/>
              </a:lnSpc>
              <a:spcBef>
                <a:spcPct val="0"/>
              </a:spcBef>
              <a:buClrTx/>
              <a:buNone/>
            </a:pPr>
            <a:r>
              <a:rPr lang="zh-CN" altLang="en-US" sz="3600" b="1" dirty="0"/>
              <a:t>   </a:t>
            </a:r>
            <a:r>
              <a:rPr lang="zh-CN" altLang="en-US" sz="2800" b="1" dirty="0">
                <a:ea typeface="楷体_GB2312" pitchFamily="49" charset="-122"/>
              </a:rPr>
              <a:t>//</a:t>
            </a:r>
            <a:r>
              <a:rPr lang="zh-CN" altLang="en-US" sz="2800" b="1" dirty="0">
                <a:latin typeface="楷体_GB2312" pitchFamily="49" charset="-122"/>
                <a:ea typeface="楷体_GB2312" pitchFamily="49" charset="-122"/>
              </a:rPr>
              <a:t> 在顺序表中查询第一个满足判定条件的数据元素，</a:t>
            </a:r>
          </a:p>
          <a:p>
            <a:pPr marL="0" indent="0" eaLnBrk="1" hangingPunct="1">
              <a:lnSpc>
                <a:spcPct val="120000"/>
              </a:lnSpc>
              <a:spcBef>
                <a:spcPct val="0"/>
              </a:spcBef>
              <a:buClrTx/>
              <a:buNone/>
            </a:pPr>
            <a:r>
              <a:rPr lang="zh-CN" altLang="en-US" sz="2800" b="1" dirty="0">
                <a:latin typeface="楷体_GB2312" pitchFamily="49" charset="-122"/>
                <a:ea typeface="楷体_GB2312" pitchFamily="49" charset="-122"/>
              </a:rPr>
              <a:t>  </a:t>
            </a:r>
            <a:r>
              <a:rPr lang="zh-CN" altLang="en-US" sz="2800" b="1" dirty="0">
                <a:ea typeface="楷体_GB2312" pitchFamily="49" charset="-122"/>
              </a:rPr>
              <a:t>//</a:t>
            </a:r>
            <a:r>
              <a:rPr lang="zh-CN" altLang="en-US" sz="2800" b="1" dirty="0">
                <a:latin typeface="楷体_GB2312" pitchFamily="49" charset="-122"/>
                <a:ea typeface="楷体_GB2312" pitchFamily="49" charset="-122"/>
              </a:rPr>
              <a:t> 若存在，则返回它的位序，否则返回 0</a:t>
            </a:r>
            <a:endParaRPr lang="zh-CN" altLang="en-US" sz="3600" dirty="0"/>
          </a:p>
          <a:p>
            <a:pPr marL="0" indent="0" eaLnBrk="1" hangingPunct="1">
              <a:lnSpc>
                <a:spcPct val="120000"/>
              </a:lnSpc>
              <a:spcBef>
                <a:spcPct val="0"/>
              </a:spcBef>
              <a:buClrTx/>
              <a:buNone/>
            </a:pPr>
            <a:endParaRPr lang="zh-CN" altLang="en-US" b="1" dirty="0"/>
          </a:p>
          <a:p>
            <a:pPr marL="0" indent="0" eaLnBrk="1" hangingPunct="1">
              <a:lnSpc>
                <a:spcPct val="120000"/>
              </a:lnSpc>
              <a:spcBef>
                <a:spcPct val="0"/>
              </a:spcBef>
              <a:buClrTx/>
              <a:buNone/>
            </a:pPr>
            <a:endParaRPr lang="zh-CN" altLang="en-US" b="1" dirty="0"/>
          </a:p>
          <a:p>
            <a:pPr marL="0" indent="0" eaLnBrk="1" hangingPunct="1">
              <a:lnSpc>
                <a:spcPct val="120000"/>
              </a:lnSpc>
              <a:spcBef>
                <a:spcPct val="0"/>
              </a:spcBef>
              <a:buClrTx/>
              <a:buNone/>
            </a:pPr>
            <a:endParaRPr lang="zh-CN" altLang="en-US" b="1" dirty="0"/>
          </a:p>
          <a:p>
            <a:pPr marL="0" indent="0" eaLnBrk="1" hangingPunct="1">
              <a:lnSpc>
                <a:spcPct val="120000"/>
              </a:lnSpc>
              <a:spcBef>
                <a:spcPct val="0"/>
              </a:spcBef>
              <a:buClrTx/>
              <a:buNone/>
            </a:pPr>
            <a:endParaRPr lang="zh-CN" altLang="en-US" b="1" dirty="0"/>
          </a:p>
          <a:p>
            <a:pPr marL="0" indent="0" eaLnBrk="1" hangingPunct="1">
              <a:lnSpc>
                <a:spcPct val="120000"/>
              </a:lnSpc>
              <a:spcBef>
                <a:spcPct val="0"/>
              </a:spcBef>
              <a:buClrTx/>
              <a:buNone/>
            </a:pPr>
            <a:endParaRPr lang="zh-CN" altLang="en-US" b="1" dirty="0"/>
          </a:p>
          <a:p>
            <a:pPr marL="0" indent="0" eaLnBrk="1" hangingPunct="1">
              <a:lnSpc>
                <a:spcPct val="120000"/>
              </a:lnSpc>
              <a:spcBef>
                <a:spcPct val="0"/>
              </a:spcBef>
              <a:buClrTx/>
              <a:buNone/>
            </a:pPr>
            <a:endParaRPr lang="zh-CN" altLang="en-US" b="1" dirty="0"/>
          </a:p>
          <a:p>
            <a:pPr marL="0" indent="0" eaLnBrk="1" hangingPunct="1">
              <a:lnSpc>
                <a:spcPct val="120000"/>
              </a:lnSpc>
              <a:spcBef>
                <a:spcPct val="0"/>
              </a:spcBef>
              <a:buClrTx/>
              <a:buNone/>
            </a:pPr>
            <a:r>
              <a:rPr lang="zh-CN" altLang="en-US" b="1" dirty="0"/>
              <a:t>}</a:t>
            </a:r>
            <a:r>
              <a:rPr lang="zh-CN" altLang="en-US" dirty="0"/>
              <a:t> // LocateElem</a:t>
            </a:r>
          </a:p>
        </p:txBody>
      </p:sp>
      <p:sp>
        <p:nvSpPr>
          <p:cNvPr id="50179" name="Text Box 3"/>
          <p:cNvSpPr txBox="1"/>
          <p:nvPr/>
        </p:nvSpPr>
        <p:spPr>
          <a:xfrm>
            <a:off x="7779131" y="6129405"/>
            <a:ext cx="2012089" cy="6463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dirty="0"/>
              <a:t>  </a:t>
            </a:r>
            <a:r>
              <a:rPr lang="zh-CN" altLang="zh-CN" sz="3600" b="1" dirty="0"/>
              <a:t>O( </a:t>
            </a:r>
            <a:r>
              <a:rPr lang="en-US" altLang="zh-CN" sz="3600" b="1" dirty="0" err="1"/>
              <a:t>L.len</a:t>
            </a:r>
            <a:r>
              <a:rPr lang="zh-CN" altLang="zh-CN" sz="3600" b="1" dirty="0"/>
              <a:t>)</a:t>
            </a:r>
            <a:endParaRPr lang="zh-CN" altLang="zh-CN" sz="4400" dirty="0"/>
          </a:p>
        </p:txBody>
      </p:sp>
      <p:sp>
        <p:nvSpPr>
          <p:cNvPr id="50180" name="Text Box 4"/>
          <p:cNvSpPr txBox="1"/>
          <p:nvPr/>
        </p:nvSpPr>
        <p:spPr>
          <a:xfrm>
            <a:off x="5791200" y="5516564"/>
            <a:ext cx="4279900"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b="1" dirty="0">
                <a:ea typeface="隶书" panose="02010509060101010101" pitchFamily="49" charset="-122"/>
              </a:rPr>
              <a:t>算法的</a:t>
            </a:r>
            <a:r>
              <a:rPr lang="zh-CN" altLang="zh-CN" b="1" dirty="0">
                <a:solidFill>
                  <a:srgbClr val="FF0000"/>
                </a:solidFill>
                <a:ea typeface="隶书" panose="02010509060101010101" pitchFamily="49" charset="-122"/>
              </a:rPr>
              <a:t>时间复杂度</a:t>
            </a:r>
            <a:r>
              <a:rPr lang="zh-CN" altLang="zh-CN" b="1" dirty="0">
                <a:ea typeface="隶书" panose="02010509060101010101" pitchFamily="49" charset="-122"/>
              </a:rPr>
              <a:t>为：</a:t>
            </a:r>
            <a:endParaRPr lang="zh-CN" altLang="zh-CN" sz="2400" dirty="0"/>
          </a:p>
        </p:txBody>
      </p:sp>
      <p:sp>
        <p:nvSpPr>
          <p:cNvPr id="50181" name="Rectangle 5"/>
          <p:cNvSpPr/>
          <p:nvPr/>
        </p:nvSpPr>
        <p:spPr>
          <a:xfrm>
            <a:off x="2087564" y="2500314"/>
            <a:ext cx="8326437" cy="12334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10000"/>
              </a:lnSpc>
              <a:spcBef>
                <a:spcPct val="0"/>
              </a:spcBef>
              <a:buClrTx/>
              <a:buNone/>
            </a:pPr>
            <a:r>
              <a:rPr lang="zh-CN" altLang="zh-CN" dirty="0">
                <a:solidFill>
                  <a:srgbClr val="009999"/>
                </a:solidFill>
              </a:rPr>
              <a:t>i = 1;           </a:t>
            </a:r>
            <a:r>
              <a:rPr lang="zh-CN" altLang="zh-CN" sz="2800" b="1" dirty="0">
                <a:solidFill>
                  <a:srgbClr val="009999"/>
                </a:solidFill>
                <a:ea typeface="楷体_GB2312" pitchFamily="49" charset="-122"/>
              </a:rPr>
              <a:t>//</a:t>
            </a:r>
            <a:r>
              <a:rPr lang="zh-CN" altLang="zh-CN" sz="2800" b="1" dirty="0">
                <a:solidFill>
                  <a:srgbClr val="009999"/>
                </a:solidFill>
                <a:latin typeface="楷体_GB2312" pitchFamily="49" charset="-122"/>
                <a:ea typeface="楷体_GB2312" pitchFamily="49" charset="-122"/>
              </a:rPr>
              <a:t> i 的初值为第 1 元素的位序</a:t>
            </a:r>
            <a:endParaRPr lang="zh-CN" altLang="zh-CN" dirty="0"/>
          </a:p>
          <a:p>
            <a:pPr marL="0" indent="0" eaLnBrk="1" hangingPunct="1">
              <a:lnSpc>
                <a:spcPct val="110000"/>
              </a:lnSpc>
              <a:spcBef>
                <a:spcPct val="0"/>
              </a:spcBef>
              <a:buClrTx/>
              <a:buNone/>
            </a:pPr>
            <a:r>
              <a:rPr lang="zh-CN" altLang="zh-CN" dirty="0">
                <a:solidFill>
                  <a:srgbClr val="990000"/>
                </a:solidFill>
              </a:rPr>
              <a:t>p = L.elem;</a:t>
            </a:r>
            <a:r>
              <a:rPr lang="zh-CN" altLang="zh-CN" sz="3600" dirty="0">
                <a:solidFill>
                  <a:srgbClr val="990000"/>
                </a:solidFill>
              </a:rPr>
              <a:t>      </a:t>
            </a:r>
            <a:r>
              <a:rPr lang="zh-CN" altLang="zh-CN" sz="2800" b="1" dirty="0">
                <a:solidFill>
                  <a:srgbClr val="990000"/>
                </a:solidFill>
                <a:ea typeface="楷体_GB2312" pitchFamily="49" charset="-122"/>
              </a:rPr>
              <a:t>//</a:t>
            </a:r>
            <a:r>
              <a:rPr lang="zh-CN" altLang="zh-CN" sz="2800" b="1" dirty="0">
                <a:solidFill>
                  <a:srgbClr val="990000"/>
                </a:solidFill>
                <a:latin typeface="楷体_GB2312" pitchFamily="49" charset="-122"/>
                <a:ea typeface="楷体_GB2312" pitchFamily="49" charset="-122"/>
              </a:rPr>
              <a:t> p 的初值为第 1 元素的存储位置</a:t>
            </a:r>
            <a:endParaRPr lang="zh-CN" altLang="zh-CN" dirty="0"/>
          </a:p>
        </p:txBody>
      </p:sp>
      <p:sp>
        <p:nvSpPr>
          <p:cNvPr id="50182" name="Rectangle 6"/>
          <p:cNvSpPr/>
          <p:nvPr/>
        </p:nvSpPr>
        <p:spPr>
          <a:xfrm>
            <a:off x="2057401" y="3686175"/>
            <a:ext cx="7106241" cy="122495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15000"/>
              </a:lnSpc>
              <a:spcBef>
                <a:spcPct val="0"/>
              </a:spcBef>
              <a:buClrTx/>
              <a:buNone/>
            </a:pPr>
            <a:r>
              <a:rPr lang="zh-CN" altLang="zh-CN" b="1" dirty="0"/>
              <a:t>while</a:t>
            </a:r>
            <a:r>
              <a:rPr lang="zh-CN" altLang="zh-CN" dirty="0"/>
              <a:t> </a:t>
            </a:r>
            <a:r>
              <a:rPr lang="zh-CN" altLang="zh-CN" dirty="0">
                <a:solidFill>
                  <a:srgbClr val="6600CC"/>
                </a:solidFill>
              </a:rPr>
              <a:t>(</a:t>
            </a:r>
            <a:r>
              <a:rPr lang="zh-CN" altLang="zh-CN" dirty="0">
                <a:solidFill>
                  <a:srgbClr val="FF0000"/>
                </a:solidFill>
              </a:rPr>
              <a:t>i &lt;= L</a:t>
            </a:r>
            <a:r>
              <a:rPr lang="en-US" altLang="zh-CN" dirty="0">
                <a:solidFill>
                  <a:srgbClr val="FF0000"/>
                </a:solidFill>
              </a:rPr>
              <a:t>-&gt;</a:t>
            </a:r>
            <a:r>
              <a:rPr lang="zh-CN" altLang="zh-CN" dirty="0">
                <a:solidFill>
                  <a:srgbClr val="FF0000"/>
                </a:solidFill>
              </a:rPr>
              <a:t> </a:t>
            </a:r>
            <a:r>
              <a:rPr lang="en-US" altLang="zh-CN" dirty="0">
                <a:solidFill>
                  <a:srgbClr val="FF0000"/>
                </a:solidFill>
              </a:rPr>
              <a:t>l</a:t>
            </a:r>
            <a:r>
              <a:rPr lang="zh-CN" altLang="zh-CN" dirty="0">
                <a:solidFill>
                  <a:srgbClr val="FF0000"/>
                </a:solidFill>
              </a:rPr>
              <a:t>en</a:t>
            </a:r>
            <a:r>
              <a:rPr lang="zh-CN" altLang="zh-CN" b="1" dirty="0">
                <a:solidFill>
                  <a:srgbClr val="6600CC"/>
                </a:solidFill>
              </a:rPr>
              <a:t>&amp;&amp; </a:t>
            </a:r>
            <a:r>
              <a:rPr lang="zh-CN" altLang="zh-CN" b="1" dirty="0">
                <a:solidFill>
                  <a:srgbClr val="00B0F0"/>
                </a:solidFill>
              </a:rPr>
              <a:t>!</a:t>
            </a:r>
            <a:r>
              <a:rPr lang="zh-CN" altLang="zh-CN" dirty="0">
                <a:solidFill>
                  <a:srgbClr val="00B0F0"/>
                </a:solidFill>
              </a:rPr>
              <a:t>(*</a:t>
            </a:r>
            <a:r>
              <a:rPr lang="en-US" altLang="zh-CN" dirty="0">
                <a:solidFill>
                  <a:srgbClr val="00B0F0"/>
                </a:solidFill>
              </a:rPr>
              <a:t>equal</a:t>
            </a:r>
            <a:r>
              <a:rPr lang="zh-CN" altLang="zh-CN" dirty="0">
                <a:solidFill>
                  <a:srgbClr val="00B0F0"/>
                </a:solidFill>
              </a:rPr>
              <a:t>)(*p++, e)</a:t>
            </a:r>
            <a:r>
              <a:rPr lang="zh-CN" altLang="zh-CN" dirty="0">
                <a:solidFill>
                  <a:srgbClr val="6600CC"/>
                </a:solidFill>
              </a:rPr>
              <a:t>)</a:t>
            </a:r>
            <a:r>
              <a:rPr lang="zh-CN" altLang="zh-CN" dirty="0"/>
              <a:t> </a:t>
            </a:r>
            <a:endParaRPr lang="en-US" altLang="zh-CN" dirty="0"/>
          </a:p>
          <a:p>
            <a:pPr marL="0" indent="0" eaLnBrk="1" hangingPunct="1">
              <a:lnSpc>
                <a:spcPct val="115000"/>
              </a:lnSpc>
              <a:spcBef>
                <a:spcPct val="0"/>
              </a:spcBef>
              <a:buClrTx/>
              <a:buNone/>
            </a:pPr>
            <a:r>
              <a:rPr lang="en-US" altLang="zh-CN" dirty="0"/>
              <a:t>                       </a:t>
            </a:r>
            <a:r>
              <a:rPr lang="zh-CN" altLang="zh-CN" dirty="0"/>
              <a:t> ++i;</a:t>
            </a:r>
          </a:p>
        </p:txBody>
      </p:sp>
      <p:sp>
        <p:nvSpPr>
          <p:cNvPr id="50183" name="Rectangle 7"/>
          <p:cNvSpPr/>
          <p:nvPr/>
        </p:nvSpPr>
        <p:spPr>
          <a:xfrm>
            <a:off x="2133601" y="4800600"/>
            <a:ext cx="4024435" cy="122495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15000"/>
              </a:lnSpc>
              <a:spcBef>
                <a:spcPct val="0"/>
              </a:spcBef>
              <a:buClrTx/>
              <a:buNone/>
            </a:pPr>
            <a:r>
              <a:rPr lang="zh-CN" altLang="zh-CN" b="1" dirty="0">
                <a:solidFill>
                  <a:srgbClr val="990000"/>
                </a:solidFill>
              </a:rPr>
              <a:t>if</a:t>
            </a:r>
            <a:r>
              <a:rPr lang="zh-CN" altLang="zh-CN" dirty="0">
                <a:solidFill>
                  <a:srgbClr val="990000"/>
                </a:solidFill>
              </a:rPr>
              <a:t> (i &lt;= L</a:t>
            </a:r>
            <a:r>
              <a:rPr lang="en-US" altLang="zh-CN" dirty="0">
                <a:solidFill>
                  <a:srgbClr val="990000"/>
                </a:solidFill>
              </a:rPr>
              <a:t>-&gt;</a:t>
            </a:r>
            <a:r>
              <a:rPr lang="zh-CN" altLang="zh-CN" dirty="0">
                <a:solidFill>
                  <a:srgbClr val="990000"/>
                </a:solidFill>
              </a:rPr>
              <a:t>len)  </a:t>
            </a:r>
            <a:r>
              <a:rPr lang="zh-CN" altLang="zh-CN" b="1" dirty="0">
                <a:solidFill>
                  <a:srgbClr val="990000"/>
                </a:solidFill>
              </a:rPr>
              <a:t>return</a:t>
            </a:r>
            <a:r>
              <a:rPr lang="zh-CN" altLang="zh-CN" dirty="0">
                <a:solidFill>
                  <a:srgbClr val="990000"/>
                </a:solidFill>
              </a:rPr>
              <a:t> i;</a:t>
            </a:r>
            <a:endParaRPr lang="zh-CN" altLang="zh-CN" dirty="0"/>
          </a:p>
          <a:p>
            <a:pPr marL="0" indent="0" eaLnBrk="1" hangingPunct="1">
              <a:lnSpc>
                <a:spcPct val="115000"/>
              </a:lnSpc>
              <a:spcBef>
                <a:spcPct val="0"/>
              </a:spcBef>
              <a:buClrTx/>
              <a:buNone/>
            </a:pPr>
            <a:r>
              <a:rPr lang="zh-CN" altLang="zh-CN" b="1" dirty="0">
                <a:solidFill>
                  <a:srgbClr val="009999"/>
                </a:solidFill>
              </a:rPr>
              <a:t>else  return</a:t>
            </a:r>
            <a:r>
              <a:rPr lang="zh-CN" altLang="zh-CN" dirty="0">
                <a:solidFill>
                  <a:srgbClr val="009999"/>
                </a:solidFill>
              </a:rPr>
              <a:t> 0;</a:t>
            </a:r>
          </a:p>
        </p:txBody>
      </p:sp>
      <p:sp>
        <p:nvSpPr>
          <p:cNvPr id="50185" name="AutoShape 9">
            <a:hlinkClick r:id="rId2" action="ppaction://hlinksldjump"/>
          </p:cNvPr>
          <p:cNvSpPr/>
          <p:nvPr/>
        </p:nvSpPr>
        <p:spPr>
          <a:xfrm>
            <a:off x="10058400" y="6248400"/>
            <a:ext cx="381000" cy="381000"/>
          </a:xfrm>
          <a:prstGeom prst="actionButtonBackPrevious">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nodeType="after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checkerboard(down)">
                                      <p:cBhvr>
                                        <p:cTn id="7" dur="500"/>
                                        <p:tgtEl>
                                          <p:spTgt spid="501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iterate type="lt">
                                    <p:tmPct val="100000"/>
                                  </p:iterate>
                                  <p:childTnLst>
                                    <p:set>
                                      <p:cBhvr>
                                        <p:cTn id="11" dur="1" fill="hold">
                                          <p:stCondLst>
                                            <p:cond delay="0"/>
                                          </p:stCondLst>
                                        </p:cTn>
                                        <p:tgtEl>
                                          <p:spTgt spid="50181"/>
                                        </p:tgtEl>
                                        <p:attrNameLst>
                                          <p:attrName>style.visibility</p:attrName>
                                        </p:attrNameLst>
                                      </p:cBhvr>
                                      <p:to>
                                        <p:strVal val="visible"/>
                                      </p:to>
                                    </p:set>
                                    <p:animEffect transition="in" filter="wipe(left)">
                                      <p:cBhvr>
                                        <p:cTn id="12" dur="75"/>
                                        <p:tgtEl>
                                          <p:spTgt spid="5018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iterate type="lt">
                                    <p:tmPct val="100000"/>
                                  </p:iterate>
                                  <p:childTnLst>
                                    <p:set>
                                      <p:cBhvr>
                                        <p:cTn id="16" dur="1" fill="hold">
                                          <p:stCondLst>
                                            <p:cond delay="0"/>
                                          </p:stCondLst>
                                        </p:cTn>
                                        <p:tgtEl>
                                          <p:spTgt spid="50182"/>
                                        </p:tgtEl>
                                        <p:attrNameLst>
                                          <p:attrName>style.visibility</p:attrName>
                                        </p:attrNameLst>
                                      </p:cBhvr>
                                      <p:to>
                                        <p:strVal val="visible"/>
                                      </p:to>
                                    </p:set>
                                    <p:animEffect transition="in" filter="wipe(left)">
                                      <p:cBhvr>
                                        <p:cTn id="17" dur="75"/>
                                        <p:tgtEl>
                                          <p:spTgt spid="501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iterate type="lt">
                                    <p:tmPct val="100000"/>
                                  </p:iterate>
                                  <p:childTnLst>
                                    <p:set>
                                      <p:cBhvr>
                                        <p:cTn id="21" dur="1" fill="hold">
                                          <p:stCondLst>
                                            <p:cond delay="0"/>
                                          </p:stCondLst>
                                        </p:cTn>
                                        <p:tgtEl>
                                          <p:spTgt spid="50183"/>
                                        </p:tgtEl>
                                        <p:attrNameLst>
                                          <p:attrName>style.visibility</p:attrName>
                                        </p:attrNameLst>
                                      </p:cBhvr>
                                      <p:to>
                                        <p:strVal val="visible"/>
                                      </p:to>
                                    </p:set>
                                    <p:animEffect transition="in" filter="wipe(left)">
                                      <p:cBhvr>
                                        <p:cTn id="22" dur="75"/>
                                        <p:tgtEl>
                                          <p:spTgt spid="5018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50180"/>
                                        </p:tgtEl>
                                        <p:attrNameLst>
                                          <p:attrName>style.visibility</p:attrName>
                                        </p:attrNameLst>
                                      </p:cBhvr>
                                      <p:to>
                                        <p:strVal val="visible"/>
                                      </p:to>
                                    </p:set>
                                    <p:anim calcmode="lin" valueType="num">
                                      <p:cBhvr additive="base">
                                        <p:cTn id="27" dur="500" fill="hold"/>
                                        <p:tgtEl>
                                          <p:spTgt spid="50180"/>
                                        </p:tgtEl>
                                        <p:attrNameLst>
                                          <p:attrName>ppt_x</p:attrName>
                                        </p:attrNameLst>
                                      </p:cBhvr>
                                      <p:tavLst>
                                        <p:tav tm="0">
                                          <p:val>
                                            <p:strVal val="1+#ppt_w/2"/>
                                          </p:val>
                                        </p:tav>
                                        <p:tav tm="100000">
                                          <p:val>
                                            <p:strVal val="#ppt_x"/>
                                          </p:val>
                                        </p:tav>
                                      </p:tavLst>
                                    </p:anim>
                                    <p:anim calcmode="lin" valueType="num">
                                      <p:cBhvr additive="base">
                                        <p:cTn id="28" dur="500" fill="hold"/>
                                        <p:tgtEl>
                                          <p:spTgt spid="50180"/>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50179"/>
                                        </p:tgtEl>
                                        <p:attrNameLst>
                                          <p:attrName>style.visibility</p:attrName>
                                        </p:attrNameLst>
                                      </p:cBhvr>
                                      <p:to>
                                        <p:strVal val="visible"/>
                                      </p:to>
                                    </p:set>
                                    <p:animEffect transition="in" filter="wipe(left)">
                                      <p:cBhvr>
                                        <p:cTn id="33" dur="500"/>
                                        <p:tgtEl>
                                          <p:spTgt spid="50179"/>
                                        </p:tgtEl>
                                      </p:cBhvr>
                                    </p:animEffect>
                                  </p:childTnLst>
                                </p:cTn>
                              </p:par>
                            </p:childTnLst>
                          </p:cTn>
                        </p:par>
                        <p:par>
                          <p:cTn id="34" fill="hold">
                            <p:stCondLst>
                              <p:cond delay="500"/>
                            </p:stCondLst>
                            <p:childTnLst>
                              <p:par>
                                <p:cTn id="35" presetID="2" presetClass="entr" presetSubtype="6" fill="hold" nodeType="afterEffect">
                                  <p:stCondLst>
                                    <p:cond delay="0"/>
                                  </p:stCondLst>
                                  <p:childTnLst>
                                    <p:set>
                                      <p:cBhvr>
                                        <p:cTn id="36" dur="1" fill="hold">
                                          <p:stCondLst>
                                            <p:cond delay="0"/>
                                          </p:stCondLst>
                                        </p:cTn>
                                        <p:tgtEl>
                                          <p:spTgt spid="50185"/>
                                        </p:tgtEl>
                                        <p:attrNameLst>
                                          <p:attrName>style.visibility</p:attrName>
                                        </p:attrNameLst>
                                      </p:cBhvr>
                                      <p:to>
                                        <p:strVal val="visible"/>
                                      </p:to>
                                    </p:set>
                                    <p:anim calcmode="lin" valueType="num">
                                      <p:cBhvr additive="base">
                                        <p:cTn id="37" dur="500" fill="hold"/>
                                        <p:tgtEl>
                                          <p:spTgt spid="50185"/>
                                        </p:tgtEl>
                                        <p:attrNameLst>
                                          <p:attrName>ppt_x</p:attrName>
                                        </p:attrNameLst>
                                      </p:cBhvr>
                                      <p:tavLst>
                                        <p:tav tm="0">
                                          <p:val>
                                            <p:strVal val="1+#ppt_w/2"/>
                                          </p:val>
                                        </p:tav>
                                        <p:tav tm="100000">
                                          <p:val>
                                            <p:strVal val="#ppt_x"/>
                                          </p:val>
                                        </p:tav>
                                      </p:tavLst>
                                    </p:anim>
                                    <p:anim calcmode="lin" valueType="num">
                                      <p:cBhvr additive="base">
                                        <p:cTn id="38" dur="500" fill="hold"/>
                                        <p:tgtEl>
                                          <p:spTgt spid="501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p:bldP spid="50179" grpId="0"/>
      <p:bldP spid="50180" grpId="0"/>
      <p:bldP spid="50181" grpId="0"/>
      <p:bldP spid="50182" grpId="0"/>
      <p:bldP spid="50183" grpId="0"/>
      <p:bldP spid="5018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5D6D9F6-E9A9-C6C1-596A-E5544F28076C}"/>
              </a:ext>
            </a:extLst>
          </p:cNvPr>
          <p:cNvSpPr txBox="1"/>
          <p:nvPr/>
        </p:nvSpPr>
        <p:spPr>
          <a:xfrm>
            <a:off x="407368" y="478413"/>
            <a:ext cx="11665296" cy="6247864"/>
          </a:xfrm>
          <a:prstGeom prst="rect">
            <a:avLst/>
          </a:prstGeom>
          <a:noFill/>
        </p:spPr>
        <p:txBody>
          <a:bodyPr wrap="square" rtlCol="0">
            <a:spAutoFit/>
          </a:bodyPr>
          <a:lstStyle/>
          <a:p>
            <a:r>
              <a:rPr lang="zh-CN" altLang="en-US" sz="3200" dirty="0">
                <a:solidFill>
                  <a:schemeClr val="tx1"/>
                </a:solidFill>
              </a:rPr>
              <a:t>在顺序表中插入和删除数据时会涉及到</a:t>
            </a:r>
            <a:r>
              <a:rPr lang="zh-CN" altLang="en-US" sz="3200" dirty="0">
                <a:solidFill>
                  <a:srgbClr val="FF0000"/>
                </a:solidFill>
              </a:rPr>
              <a:t>连续存储空间</a:t>
            </a:r>
            <a:r>
              <a:rPr lang="zh-CN" altLang="en-US" sz="3200" dirty="0">
                <a:solidFill>
                  <a:schemeClr val="tx1"/>
                </a:solidFill>
              </a:rPr>
              <a:t>数据的移动。在</a:t>
            </a:r>
            <a:r>
              <a:rPr lang="en-US" altLang="zh-CN" sz="3200" dirty="0">
                <a:solidFill>
                  <a:schemeClr val="tx1"/>
                </a:solidFill>
              </a:rPr>
              <a:t>C</a:t>
            </a:r>
            <a:r>
              <a:rPr lang="zh-CN" altLang="en-US" sz="3200" dirty="0">
                <a:solidFill>
                  <a:schemeClr val="tx1"/>
                </a:solidFill>
              </a:rPr>
              <a:t>语言</a:t>
            </a:r>
            <a:r>
              <a:rPr lang="zh-CN" altLang="zh-CN" sz="3200" dirty="0">
                <a:solidFill>
                  <a:schemeClr val="tx1"/>
                </a:solidFill>
              </a:rPr>
              <a:t> &lt;string.h&gt;memcpy 和 memmove</a:t>
            </a:r>
            <a:r>
              <a:rPr lang="zh-CN" altLang="en-US" sz="3200" dirty="0">
                <a:solidFill>
                  <a:schemeClr val="tx1"/>
                </a:solidFill>
              </a:rPr>
              <a:t>两个内存拷贝函数。</a:t>
            </a:r>
            <a:endParaRPr lang="en-US" altLang="zh-CN" sz="3200" dirty="0">
              <a:solidFill>
                <a:schemeClr val="tx1"/>
              </a:solidFill>
            </a:endParaRPr>
          </a:p>
          <a:p>
            <a:r>
              <a:rPr lang="en-US" altLang="zh-CN" sz="3200" dirty="0" err="1">
                <a:solidFill>
                  <a:schemeClr val="tx1"/>
                </a:solidFill>
              </a:rPr>
              <a:t>memcpy</a:t>
            </a:r>
            <a:r>
              <a:rPr lang="zh-CN" altLang="en-US" sz="3200" dirty="0">
                <a:solidFill>
                  <a:schemeClr val="tx1"/>
                </a:solidFill>
              </a:rPr>
              <a:t>是 </a:t>
            </a:r>
            <a:r>
              <a:rPr lang="en-US" altLang="zh-CN" sz="3200" dirty="0">
                <a:solidFill>
                  <a:schemeClr val="tx1"/>
                </a:solidFill>
              </a:rPr>
              <a:t>memory copy</a:t>
            </a:r>
            <a:r>
              <a:rPr lang="zh-CN" altLang="en-US" sz="3200" dirty="0">
                <a:solidFill>
                  <a:schemeClr val="tx1"/>
                </a:solidFill>
              </a:rPr>
              <a:t>的缩写</a:t>
            </a:r>
            <a:endParaRPr lang="en-US" altLang="zh-CN" sz="3200" dirty="0">
              <a:solidFill>
                <a:schemeClr val="tx1"/>
              </a:solidFill>
            </a:endParaRPr>
          </a:p>
          <a:p>
            <a:r>
              <a:rPr lang="en-US" altLang="zh-CN" sz="3200" dirty="0" err="1">
                <a:solidFill>
                  <a:schemeClr val="tx1"/>
                </a:solidFill>
              </a:rPr>
              <a:t>memmove</a:t>
            </a:r>
            <a:r>
              <a:rPr lang="zh-CN" altLang="en-US" sz="3200" dirty="0">
                <a:solidFill>
                  <a:schemeClr val="tx1"/>
                </a:solidFill>
              </a:rPr>
              <a:t>是 </a:t>
            </a:r>
            <a:r>
              <a:rPr lang="en-US" altLang="zh-CN" sz="3200" dirty="0">
                <a:solidFill>
                  <a:schemeClr val="tx1"/>
                </a:solidFill>
              </a:rPr>
              <a:t>memory move</a:t>
            </a:r>
            <a:r>
              <a:rPr lang="zh-CN" altLang="en-US" sz="3200" dirty="0">
                <a:solidFill>
                  <a:schemeClr val="tx1"/>
                </a:solidFill>
              </a:rPr>
              <a:t>的缩写</a:t>
            </a:r>
            <a:endParaRPr lang="en-US" altLang="zh-CN" sz="3200" dirty="0">
              <a:solidFill>
                <a:schemeClr val="tx1"/>
              </a:solidFill>
            </a:endParaRPr>
          </a:p>
          <a:p>
            <a:r>
              <a:rPr lang="zh-CN" altLang="en-US" sz="3200" dirty="0">
                <a:solidFill>
                  <a:schemeClr val="tx1"/>
                </a:solidFill>
              </a:rPr>
              <a:t>函数原型</a:t>
            </a:r>
            <a:endParaRPr lang="en-US" altLang="zh-CN" sz="3200" dirty="0">
              <a:solidFill>
                <a:schemeClr val="tx1"/>
              </a:solidFill>
            </a:endParaRPr>
          </a:p>
          <a:p>
            <a:r>
              <a:rPr lang="en-US" altLang="zh-CN" sz="3200" dirty="0">
                <a:solidFill>
                  <a:schemeClr val="tx1"/>
                </a:solidFill>
              </a:rPr>
              <a:t>void *</a:t>
            </a:r>
            <a:r>
              <a:rPr lang="en-US" altLang="zh-CN" sz="3200" dirty="0" err="1">
                <a:solidFill>
                  <a:schemeClr val="tx1"/>
                </a:solidFill>
              </a:rPr>
              <a:t>memcpy</a:t>
            </a:r>
            <a:r>
              <a:rPr lang="en-US" altLang="zh-CN" sz="3200" dirty="0">
                <a:solidFill>
                  <a:schemeClr val="tx1"/>
                </a:solidFill>
              </a:rPr>
              <a:t>(void *</a:t>
            </a:r>
            <a:r>
              <a:rPr lang="en-US" altLang="zh-CN" sz="3200" dirty="0" err="1">
                <a:solidFill>
                  <a:schemeClr val="tx1"/>
                </a:solidFill>
              </a:rPr>
              <a:t>dest</a:t>
            </a:r>
            <a:r>
              <a:rPr lang="en-US" altLang="zh-CN" sz="3200" dirty="0">
                <a:solidFill>
                  <a:schemeClr val="tx1"/>
                </a:solidFill>
              </a:rPr>
              <a:t>, const void *</a:t>
            </a:r>
            <a:r>
              <a:rPr lang="en-US" altLang="zh-CN" sz="3200" dirty="0" err="1">
                <a:solidFill>
                  <a:schemeClr val="tx1"/>
                </a:solidFill>
              </a:rPr>
              <a:t>src</a:t>
            </a:r>
            <a:r>
              <a:rPr lang="en-US" altLang="zh-CN" sz="3200" dirty="0">
                <a:solidFill>
                  <a:schemeClr val="tx1"/>
                </a:solidFill>
              </a:rPr>
              <a:t>, </a:t>
            </a:r>
            <a:r>
              <a:rPr lang="en-US" altLang="zh-CN" sz="3200" dirty="0" err="1">
                <a:solidFill>
                  <a:schemeClr val="tx1"/>
                </a:solidFill>
              </a:rPr>
              <a:t>size_t</a:t>
            </a:r>
            <a:r>
              <a:rPr lang="en-US" altLang="zh-CN" sz="3200" dirty="0">
                <a:solidFill>
                  <a:schemeClr val="tx1"/>
                </a:solidFill>
              </a:rPr>
              <a:t> n);</a:t>
            </a:r>
          </a:p>
          <a:p>
            <a:r>
              <a:rPr lang="en-US" altLang="zh-CN" sz="3200" dirty="0">
                <a:solidFill>
                  <a:schemeClr val="tx1"/>
                </a:solidFill>
              </a:rPr>
              <a:t>void *</a:t>
            </a:r>
            <a:r>
              <a:rPr lang="en-US" altLang="zh-CN" sz="3200" dirty="0" err="1">
                <a:solidFill>
                  <a:schemeClr val="tx1"/>
                </a:solidFill>
              </a:rPr>
              <a:t>memmove</a:t>
            </a:r>
            <a:r>
              <a:rPr lang="en-US" altLang="zh-CN" sz="3200" dirty="0">
                <a:solidFill>
                  <a:schemeClr val="tx1"/>
                </a:solidFill>
              </a:rPr>
              <a:t>(void *</a:t>
            </a:r>
            <a:r>
              <a:rPr lang="en-US" altLang="zh-CN" sz="3200" dirty="0" err="1">
                <a:solidFill>
                  <a:schemeClr val="tx1"/>
                </a:solidFill>
              </a:rPr>
              <a:t>dest</a:t>
            </a:r>
            <a:r>
              <a:rPr lang="en-US" altLang="zh-CN" sz="3200" dirty="0">
                <a:solidFill>
                  <a:schemeClr val="tx1"/>
                </a:solidFill>
              </a:rPr>
              <a:t>, const void *</a:t>
            </a:r>
            <a:r>
              <a:rPr lang="en-US" altLang="zh-CN" sz="3200" dirty="0" err="1">
                <a:solidFill>
                  <a:schemeClr val="tx1"/>
                </a:solidFill>
              </a:rPr>
              <a:t>src</a:t>
            </a:r>
            <a:r>
              <a:rPr lang="en-US" altLang="zh-CN" sz="3200" dirty="0">
                <a:solidFill>
                  <a:schemeClr val="tx1"/>
                </a:solidFill>
              </a:rPr>
              <a:t>, </a:t>
            </a:r>
            <a:r>
              <a:rPr lang="en-US" altLang="zh-CN" sz="3200" dirty="0" err="1">
                <a:solidFill>
                  <a:schemeClr val="tx1"/>
                </a:solidFill>
              </a:rPr>
              <a:t>size_t</a:t>
            </a:r>
            <a:r>
              <a:rPr lang="en-US" altLang="zh-CN" sz="3200" dirty="0">
                <a:solidFill>
                  <a:schemeClr val="tx1"/>
                </a:solidFill>
              </a:rPr>
              <a:t> n);</a:t>
            </a:r>
          </a:p>
          <a:p>
            <a:pPr lvl="0"/>
            <a:r>
              <a:rPr lang="zh-CN" altLang="zh-CN" b="0" dirty="0"/>
              <a:t>dest：目标地址（拷贝到哪）</a:t>
            </a:r>
          </a:p>
          <a:p>
            <a:pPr lvl="0"/>
            <a:r>
              <a:rPr lang="zh-CN" altLang="zh-CN" b="0" dirty="0"/>
              <a:t>src：源地址（从哪拷贝）</a:t>
            </a:r>
          </a:p>
          <a:p>
            <a:pPr lvl="0"/>
            <a:r>
              <a:rPr lang="zh-CN" altLang="zh-CN" b="0" dirty="0"/>
              <a:t>n：要拷贝的字节数</a:t>
            </a:r>
          </a:p>
          <a:p>
            <a:pPr lvl="0"/>
            <a:r>
              <a:rPr lang="zh-CN" altLang="zh-CN" b="0" dirty="0"/>
              <a:t>返回值：都是 dest 的指针</a:t>
            </a:r>
          </a:p>
        </p:txBody>
      </p:sp>
    </p:spTree>
    <p:extLst>
      <p:ext uri="{BB962C8B-B14F-4D97-AF65-F5344CB8AC3E}">
        <p14:creationId xmlns:p14="http://schemas.microsoft.com/office/powerpoint/2010/main" val="1337276718"/>
      </p:ext>
    </p:extLst>
  </p:cSld>
  <p:clrMapOvr>
    <a:masterClrMapping/>
  </p:clrMapOvr>
  <p:transition>
    <p:strips dir="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69C9AB5-9338-D2F9-74EE-99634B6984C5}"/>
              </a:ext>
            </a:extLst>
          </p:cNvPr>
          <p:cNvSpPr txBox="1"/>
          <p:nvPr/>
        </p:nvSpPr>
        <p:spPr>
          <a:xfrm>
            <a:off x="767408" y="908720"/>
            <a:ext cx="11161240" cy="3539430"/>
          </a:xfrm>
          <a:prstGeom prst="rect">
            <a:avLst/>
          </a:prstGeom>
          <a:noFill/>
        </p:spPr>
        <p:txBody>
          <a:bodyPr wrap="square" rtlCol="0">
            <a:spAutoFit/>
          </a:bodyPr>
          <a:lstStyle/>
          <a:p>
            <a:r>
              <a:rPr lang="zh-CN" altLang="zh-CN" sz="2800" dirty="0">
                <a:solidFill>
                  <a:schemeClr val="tx1"/>
                </a:solidFill>
              </a:rPr>
              <a:t>核心区别：内存重叠</a:t>
            </a:r>
          </a:p>
          <a:p>
            <a:r>
              <a:rPr lang="zh-CN" altLang="zh-CN" sz="2800" b="0" dirty="0">
                <a:solidFill>
                  <a:srgbClr val="FF0000"/>
                </a:solidFill>
              </a:rPr>
              <a:t>memcpy</a:t>
            </a:r>
            <a:r>
              <a:rPr lang="zh-CN" altLang="zh-CN" sz="2800" b="0" dirty="0">
                <a:solidFill>
                  <a:schemeClr val="tx1"/>
                </a:solidFill>
              </a:rPr>
              <a:t>：假设源和目标内存区域</a:t>
            </a:r>
            <a:r>
              <a:rPr lang="zh-CN" altLang="zh-CN" sz="2800" dirty="0">
                <a:solidFill>
                  <a:schemeClr val="tx1"/>
                </a:solidFill>
              </a:rPr>
              <a:t>不重叠</a:t>
            </a:r>
            <a:r>
              <a:rPr lang="zh-CN" altLang="zh-CN" sz="2800" b="0" dirty="0">
                <a:solidFill>
                  <a:schemeClr val="tx1"/>
                </a:solidFill>
              </a:rPr>
              <a:t>，通常用最简单的循环从前往后逐字节拷贝，速度较快。如果两块内存有重叠，拷贝过程中源数据可能被提前覆盖，导致结果出错。</a:t>
            </a:r>
          </a:p>
          <a:p>
            <a:r>
              <a:rPr lang="zh-CN" altLang="zh-CN" sz="2800" b="0" dirty="0">
                <a:solidFill>
                  <a:srgbClr val="FF0000"/>
                </a:solidFill>
              </a:rPr>
              <a:t>memmove</a:t>
            </a:r>
            <a:r>
              <a:rPr lang="zh-CN" altLang="zh-CN" sz="2800" b="0" dirty="0">
                <a:solidFill>
                  <a:schemeClr val="tx1"/>
                </a:solidFill>
              </a:rPr>
              <a:t>：会先判断源和目标的位置关系。如果目标在源的前面，就从前往后拷贝；如果目标在源的后面，就从后往前拷贝，从而保证即使重叠也能得到正确结果。</a:t>
            </a:r>
          </a:p>
          <a:p>
            <a:endParaRPr lang="zh-CN" altLang="en-US" sz="2800" dirty="0">
              <a:solidFill>
                <a:schemeClr val="tx1"/>
              </a:solidFill>
            </a:endParaRPr>
          </a:p>
        </p:txBody>
      </p:sp>
      <p:sp>
        <p:nvSpPr>
          <p:cNvPr id="3" name="文本框 2">
            <a:extLst>
              <a:ext uri="{FF2B5EF4-FFF2-40B4-BE49-F238E27FC236}">
                <a16:creationId xmlns:a16="http://schemas.microsoft.com/office/drawing/2014/main" id="{82CE6050-4AEE-45CF-83EC-D7E95999C86F}"/>
              </a:ext>
            </a:extLst>
          </p:cNvPr>
          <p:cNvSpPr txBox="1"/>
          <p:nvPr/>
        </p:nvSpPr>
        <p:spPr>
          <a:xfrm>
            <a:off x="713328" y="4077072"/>
            <a:ext cx="11233248" cy="1077218"/>
          </a:xfrm>
          <a:prstGeom prst="rect">
            <a:avLst/>
          </a:prstGeom>
          <a:noFill/>
        </p:spPr>
        <p:txBody>
          <a:bodyPr wrap="square" rtlCol="0">
            <a:spAutoFit/>
          </a:bodyPr>
          <a:lstStyle/>
          <a:p>
            <a:r>
              <a:rPr lang="zh-CN" altLang="en-US" sz="3200" b="0" dirty="0">
                <a:solidFill>
                  <a:schemeClr val="tx1"/>
                </a:solidFill>
              </a:rPr>
              <a:t>如</a:t>
            </a:r>
            <a:r>
              <a:rPr lang="zh-CN" altLang="zh-CN" sz="3200" b="0" dirty="0">
                <a:solidFill>
                  <a:schemeClr val="tx1"/>
                </a:solidFill>
              </a:rPr>
              <a:t>int arr[5] = {1, 2, 3, 4, 5};，现在想把前 3 个元素拷贝到从第 2 个元素开始的位置</a:t>
            </a:r>
            <a:r>
              <a:rPr lang="zh-CN" altLang="en-US" sz="3200" b="0" dirty="0">
                <a:solidFill>
                  <a:schemeClr val="tx1"/>
                </a:solidFill>
              </a:rPr>
              <a:t>。使用</a:t>
            </a:r>
            <a:r>
              <a:rPr lang="en-US" altLang="zh-CN" sz="3200" b="0" dirty="0" err="1">
                <a:solidFill>
                  <a:schemeClr val="tx1"/>
                </a:solidFill>
              </a:rPr>
              <a:t>memcpy</a:t>
            </a:r>
            <a:r>
              <a:rPr lang="zh-CN" altLang="en-US" sz="3200" b="0" dirty="0">
                <a:solidFill>
                  <a:schemeClr val="tx1"/>
                </a:solidFill>
              </a:rPr>
              <a:t>会出错</a:t>
            </a:r>
            <a:endParaRPr lang="zh-CN" altLang="en-US" sz="3200" dirty="0">
              <a:solidFill>
                <a:schemeClr val="tx1"/>
              </a:solidFill>
            </a:endParaRPr>
          </a:p>
        </p:txBody>
      </p:sp>
      <p:sp>
        <p:nvSpPr>
          <p:cNvPr id="4" name="文本框 3">
            <a:extLst>
              <a:ext uri="{FF2B5EF4-FFF2-40B4-BE49-F238E27FC236}">
                <a16:creationId xmlns:a16="http://schemas.microsoft.com/office/drawing/2014/main" id="{B5974CCF-90BA-B47F-2964-9B08274802CD}"/>
              </a:ext>
            </a:extLst>
          </p:cNvPr>
          <p:cNvSpPr txBox="1"/>
          <p:nvPr/>
        </p:nvSpPr>
        <p:spPr>
          <a:xfrm>
            <a:off x="767408" y="5301208"/>
            <a:ext cx="10225136" cy="1200329"/>
          </a:xfrm>
          <a:prstGeom prst="rect">
            <a:avLst/>
          </a:prstGeom>
          <a:noFill/>
        </p:spPr>
        <p:txBody>
          <a:bodyPr wrap="square" rtlCol="0">
            <a:spAutoFit/>
          </a:bodyPr>
          <a:lstStyle/>
          <a:p>
            <a:pPr lvl="0"/>
            <a:r>
              <a:rPr lang="zh-CN" altLang="zh-CN" dirty="0">
                <a:solidFill>
                  <a:schemeClr val="tx1"/>
                </a:solidFill>
              </a:rPr>
              <a:t>不确定是否重叠时，一律用 </a:t>
            </a:r>
            <a:r>
              <a:rPr lang="zh-CN" altLang="zh-CN" b="0" dirty="0">
                <a:solidFill>
                  <a:schemeClr val="tx1"/>
                </a:solidFill>
              </a:rPr>
              <a:t>memmove，更安全。</a:t>
            </a:r>
          </a:p>
          <a:p>
            <a:pPr lvl="0"/>
            <a:r>
              <a:rPr lang="zh-CN" altLang="zh-CN" b="0" dirty="0">
                <a:solidFill>
                  <a:schemeClr val="tx1"/>
                </a:solidFill>
              </a:rPr>
              <a:t>确定不重叠、且对性能有要求时，用 memcpy</a:t>
            </a:r>
          </a:p>
        </p:txBody>
      </p:sp>
    </p:spTree>
    <p:extLst>
      <p:ext uri="{BB962C8B-B14F-4D97-AF65-F5344CB8AC3E}">
        <p14:creationId xmlns:p14="http://schemas.microsoft.com/office/powerpoint/2010/main" val="2011648859"/>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p:nvPr/>
        </p:nvSpPr>
        <p:spPr>
          <a:xfrm>
            <a:off x="767408" y="998538"/>
            <a:ext cx="9258509" cy="170739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5000"/>
              </a:lnSpc>
              <a:spcBef>
                <a:spcPct val="0"/>
              </a:spcBef>
              <a:buClrTx/>
              <a:buNone/>
            </a:pPr>
            <a:r>
              <a:rPr lang="zh-CN" altLang="zh-CN" sz="4400" dirty="0">
                <a:solidFill>
                  <a:srgbClr val="008080"/>
                </a:solidFill>
                <a:ea typeface="楷体_GB2312" pitchFamily="49" charset="-122"/>
              </a:rPr>
              <a:t>线性表</a:t>
            </a:r>
            <a:r>
              <a:rPr lang="zh-CN" altLang="zh-CN" sz="4400" dirty="0">
                <a:ea typeface="楷体_GB2312" pitchFamily="49" charset="-122"/>
              </a:rPr>
              <a:t>操作</a:t>
            </a:r>
          </a:p>
          <a:p>
            <a:pPr marL="0" indent="0" eaLnBrk="1" hangingPunct="1">
              <a:lnSpc>
                <a:spcPct val="125000"/>
              </a:lnSpc>
              <a:spcBef>
                <a:spcPct val="0"/>
              </a:spcBef>
              <a:buClrTx/>
              <a:buNone/>
            </a:pPr>
            <a:r>
              <a:rPr lang="zh-CN" altLang="zh-CN" sz="4400" dirty="0">
                <a:ea typeface="楷体_GB2312" pitchFamily="49" charset="-122"/>
              </a:rPr>
              <a:t>           </a:t>
            </a:r>
            <a:r>
              <a:rPr lang="zh-CN" altLang="zh-CN" sz="4400" b="1" dirty="0">
                <a:solidFill>
                  <a:srgbClr val="003399"/>
                </a:solidFill>
                <a:ea typeface="楷体_GB2312" pitchFamily="49" charset="-122"/>
              </a:rPr>
              <a:t>ListInsert</a:t>
            </a:r>
            <a:r>
              <a:rPr lang="zh-CN" altLang="zh-CN" sz="4400" b="1" dirty="0">
                <a:solidFill>
                  <a:srgbClr val="003399"/>
                </a:solidFill>
              </a:rPr>
              <a:t>(L, i, e)</a:t>
            </a:r>
            <a:r>
              <a:rPr lang="zh-CN" altLang="zh-CN" sz="4400" dirty="0">
                <a:ea typeface="楷体_GB2312" pitchFamily="49" charset="-122"/>
              </a:rPr>
              <a:t>的实现：</a:t>
            </a:r>
            <a:endParaRPr lang="zh-CN" altLang="zh-CN" sz="4400" dirty="0"/>
          </a:p>
        </p:txBody>
      </p:sp>
      <p:sp>
        <p:nvSpPr>
          <p:cNvPr id="51203" name="Text Box 3"/>
          <p:cNvSpPr txBox="1"/>
          <p:nvPr/>
        </p:nvSpPr>
        <p:spPr>
          <a:xfrm>
            <a:off x="551384" y="3357563"/>
            <a:ext cx="3626916" cy="64135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FF0000"/>
                </a:solidFill>
                <a:ea typeface="楷体_GB2312" pitchFamily="49" charset="-122"/>
              </a:rPr>
              <a:t>首先分析:</a:t>
            </a:r>
            <a:endParaRPr lang="zh-CN" altLang="zh-CN" sz="3600" dirty="0">
              <a:solidFill>
                <a:srgbClr val="FF0000"/>
              </a:solidFill>
              <a:ea typeface="楷体_GB2312" pitchFamily="49" charset="-122"/>
            </a:endParaRPr>
          </a:p>
        </p:txBody>
      </p:sp>
      <p:sp>
        <p:nvSpPr>
          <p:cNvPr id="51204" name="Text Box 4"/>
          <p:cNvSpPr txBox="1"/>
          <p:nvPr/>
        </p:nvSpPr>
        <p:spPr>
          <a:xfrm>
            <a:off x="1343473" y="4021139"/>
            <a:ext cx="9099104" cy="240982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0"/>
              </a:spcBef>
              <a:buClrTx/>
              <a:buNone/>
            </a:pPr>
            <a:r>
              <a:rPr lang="zh-CN" altLang="zh-CN" sz="4000" dirty="0">
                <a:ea typeface="楷体_GB2312" pitchFamily="49" charset="-122"/>
              </a:rPr>
              <a:t>插入元素时，</a:t>
            </a:r>
          </a:p>
          <a:p>
            <a:pPr marL="0" indent="0" eaLnBrk="1" hangingPunct="1">
              <a:lnSpc>
                <a:spcPct val="140000"/>
              </a:lnSpc>
              <a:spcBef>
                <a:spcPct val="0"/>
              </a:spcBef>
              <a:buClrTx/>
              <a:buNone/>
            </a:pPr>
            <a:r>
              <a:rPr lang="zh-CN" altLang="zh-CN" sz="4000" dirty="0">
                <a:ea typeface="楷体_GB2312" pitchFamily="49" charset="-122"/>
              </a:rPr>
              <a:t>线性表的</a:t>
            </a:r>
            <a:r>
              <a:rPr lang="zh-CN" altLang="zh-CN" sz="4000" b="1" dirty="0">
                <a:ea typeface="楷体_GB2312" pitchFamily="49" charset="-122"/>
              </a:rPr>
              <a:t>逻辑结构</a:t>
            </a:r>
            <a:r>
              <a:rPr lang="zh-CN" altLang="zh-CN" sz="4000" b="1" dirty="0">
                <a:solidFill>
                  <a:srgbClr val="003399"/>
                </a:solidFill>
                <a:ea typeface="楷体_GB2312" pitchFamily="49" charset="-122"/>
              </a:rPr>
              <a:t>发生什么变化</a:t>
            </a:r>
            <a:r>
              <a:rPr lang="zh-CN" altLang="zh-CN" sz="4000" dirty="0">
                <a:ea typeface="楷体_GB2312" pitchFamily="49" charset="-122"/>
              </a:rPr>
              <a:t>？</a:t>
            </a:r>
          </a:p>
          <a:p>
            <a:pPr marL="0" indent="0" eaLnBrk="1" hangingPunct="1">
              <a:spcBef>
                <a:spcPct val="0"/>
              </a:spcBef>
              <a:buClrTx/>
              <a:buNone/>
            </a:pPr>
            <a:endParaRPr lang="zh-CN" altLang="zh-CN" sz="40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51202"/>
                                        </p:tgtEl>
                                        <p:attrNameLst>
                                          <p:attrName>style.visibility</p:attrName>
                                        </p:attrNameLst>
                                      </p:cBhvr>
                                      <p:to>
                                        <p:strVal val="visible"/>
                                      </p:to>
                                    </p:set>
                                    <p:anim calcmode="lin" valueType="num">
                                      <p:cBhvr additive="base">
                                        <p:cTn id="7" dur="500" fill="hold"/>
                                        <p:tgtEl>
                                          <p:spTgt spid="51202"/>
                                        </p:tgtEl>
                                        <p:attrNameLst>
                                          <p:attrName>ppt_x</p:attrName>
                                        </p:attrNameLst>
                                      </p:cBhvr>
                                      <p:tavLst>
                                        <p:tav tm="0">
                                          <p:val>
                                            <p:strVal val="#ppt_x"/>
                                          </p:val>
                                        </p:tav>
                                        <p:tav tm="100000">
                                          <p:val>
                                            <p:strVal val="#ppt_x"/>
                                          </p:val>
                                        </p:tav>
                                      </p:tavLst>
                                    </p:anim>
                                    <p:anim calcmode="lin" valueType="num">
                                      <p:cBhvr additive="base">
                                        <p:cTn id="8" dur="500" fill="hold"/>
                                        <p:tgtEl>
                                          <p:spTgt spid="5120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51203"/>
                                        </p:tgtEl>
                                        <p:attrNameLst>
                                          <p:attrName>style.visibility</p:attrName>
                                        </p:attrNameLst>
                                      </p:cBhvr>
                                      <p:to>
                                        <p:strVal val="visible"/>
                                      </p:to>
                                    </p:set>
                                    <p:animEffect transition="in" filter="wipe(left)">
                                      <p:cBhvr>
                                        <p:cTn id="13" dur="500"/>
                                        <p:tgtEl>
                                          <p:spTgt spid="5120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iterate type="wd">
                                    <p:tmPct val="100000"/>
                                  </p:iterate>
                                  <p:childTnLst>
                                    <p:set>
                                      <p:cBhvr>
                                        <p:cTn id="17" dur="1" fill="hold">
                                          <p:stCondLst>
                                            <p:cond delay="0"/>
                                          </p:stCondLst>
                                        </p:cTn>
                                        <p:tgtEl>
                                          <p:spTgt spid="51204"/>
                                        </p:tgtEl>
                                        <p:attrNameLst>
                                          <p:attrName>style.visibility</p:attrName>
                                        </p:attrNameLst>
                                      </p:cBhvr>
                                      <p:to>
                                        <p:strVal val="visible"/>
                                      </p:to>
                                    </p:set>
                                    <p:animEffect transition="in" filter="wipe(left)">
                                      <p:cBhvr>
                                        <p:cTn id="18" dur="300"/>
                                        <p:tgtEl>
                                          <p:spTgt spid="5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P spid="51203" grpId="0"/>
      <p:bldP spid="5120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hangingPunct="1">
              <a:defRPr/>
            </a:pPr>
            <a:r>
              <a:rPr dirty="0">
                <a:solidFill>
                  <a:schemeClr val="hlink"/>
                </a:solidFill>
                <a:effectLst>
                  <a:outerShdw blurRad="38100" dist="38100" dir="2700000" algn="tl">
                    <a:srgbClr val="C0C0C0"/>
                  </a:outerShdw>
                </a:effectLst>
              </a:rPr>
              <a:t>顺序表的插入</a:t>
            </a:r>
            <a:endParaRPr dirty="0"/>
          </a:p>
        </p:txBody>
      </p:sp>
      <p:sp>
        <p:nvSpPr>
          <p:cNvPr id="3" name="内容占位符 2"/>
          <p:cNvSpPr>
            <a:spLocks noGrp="1"/>
          </p:cNvSpPr>
          <p:nvPr>
            <p:ph idx="1"/>
          </p:nvPr>
        </p:nvSpPr>
        <p:spPr>
          <a:xfrm>
            <a:off x="838200" y="1341438"/>
            <a:ext cx="11162456" cy="5327922"/>
          </a:xfrm>
        </p:spPr>
        <p:txBody>
          <a:bodyPr>
            <a:noAutofit/>
          </a:bodyPr>
          <a:lstStyle/>
          <a:p>
            <a:pPr marL="0" indent="0" eaLnBrk="1" hangingPunct="1">
              <a:lnSpc>
                <a:spcPct val="110000"/>
              </a:lnSpc>
              <a:buNone/>
              <a:defRPr/>
            </a:pPr>
            <a:r>
              <a:rPr lang="zh-CN" altLang="en-US" sz="3200" dirty="0">
                <a:latin typeface="华文新魏" panose="02010800040101010101" pitchFamily="2" charset="-122"/>
                <a:ea typeface="华文新魏" panose="02010800040101010101" pitchFamily="2" charset="-122"/>
              </a:rPr>
              <a:t>在线性表 </a:t>
            </a:r>
            <a:r>
              <a:rPr lang="en-US" altLang="zh-CN" sz="3200" dirty="0">
                <a:latin typeface="华文新魏" panose="02010800040101010101" pitchFamily="2" charset="-122"/>
                <a:ea typeface="华文新魏" panose="02010800040101010101" pitchFamily="2" charset="-122"/>
              </a:rPr>
              <a:t>L= (a</a:t>
            </a:r>
            <a:r>
              <a:rPr lang="en-US" altLang="zh-CN" sz="3200" baseline="-25000" dirty="0">
                <a:latin typeface="华文新魏" panose="02010800040101010101" pitchFamily="2" charset="-122"/>
                <a:ea typeface="华文新魏" panose="02010800040101010101" pitchFamily="2" charset="-122"/>
              </a:rPr>
              <a:t>1</a:t>
            </a:r>
            <a:r>
              <a:rPr lang="zh-CN" altLang="en-US" sz="3200" dirty="0">
                <a:latin typeface="华文新魏" panose="02010800040101010101" pitchFamily="2" charset="-122"/>
                <a:ea typeface="华文新魏" panose="02010800040101010101" pitchFamily="2" charset="-122"/>
              </a:rPr>
              <a:t>，</a:t>
            </a:r>
            <a:r>
              <a:rPr lang="en-US" altLang="zh-CN" sz="3200" dirty="0">
                <a:latin typeface="华文新魏" panose="02010800040101010101" pitchFamily="2" charset="-122"/>
                <a:ea typeface="华文新魏" panose="02010800040101010101" pitchFamily="2" charset="-122"/>
              </a:rPr>
              <a:t>…a </a:t>
            </a:r>
            <a:r>
              <a:rPr lang="en-US" altLang="zh-CN" sz="3200" baseline="-25000" dirty="0">
                <a:latin typeface="华文新魏" panose="02010800040101010101" pitchFamily="2" charset="-122"/>
                <a:ea typeface="华文新魏" panose="02010800040101010101" pitchFamily="2" charset="-122"/>
              </a:rPr>
              <a:t>i-1</a:t>
            </a:r>
            <a:r>
              <a:rPr lang="zh-CN" altLang="en-US" sz="3200" dirty="0">
                <a:latin typeface="华文新魏" panose="02010800040101010101" pitchFamily="2" charset="-122"/>
                <a:ea typeface="华文新魏" panose="02010800040101010101" pitchFamily="2" charset="-122"/>
              </a:rPr>
              <a:t>，</a:t>
            </a:r>
            <a:r>
              <a:rPr lang="en-US" altLang="zh-CN" sz="3200" dirty="0" err="1">
                <a:latin typeface="华文新魏" panose="02010800040101010101" pitchFamily="2" charset="-122"/>
                <a:ea typeface="华文新魏" panose="02010800040101010101" pitchFamily="2" charset="-122"/>
              </a:rPr>
              <a:t>a</a:t>
            </a:r>
            <a:r>
              <a:rPr lang="en-US" altLang="zh-CN" sz="3200" baseline="-25000" dirty="0" err="1">
                <a:latin typeface="华文新魏" panose="02010800040101010101" pitchFamily="2" charset="-122"/>
                <a:ea typeface="华文新魏" panose="02010800040101010101" pitchFamily="2" charset="-122"/>
              </a:rPr>
              <a:t>i</a:t>
            </a:r>
            <a:r>
              <a:rPr lang="zh-CN" altLang="en-US" sz="3200" dirty="0">
                <a:latin typeface="华文新魏" panose="02010800040101010101" pitchFamily="2" charset="-122"/>
                <a:ea typeface="华文新魏" panose="02010800040101010101" pitchFamily="2" charset="-122"/>
              </a:rPr>
              <a:t>， </a:t>
            </a:r>
            <a:r>
              <a:rPr lang="en-US" altLang="zh-CN" sz="3200" dirty="0">
                <a:latin typeface="华文新魏" panose="02010800040101010101" pitchFamily="2" charset="-122"/>
                <a:ea typeface="华文新魏" panose="02010800040101010101" pitchFamily="2" charset="-122"/>
              </a:rPr>
              <a:t>a</a:t>
            </a:r>
            <a:r>
              <a:rPr lang="en-US" altLang="zh-CN" sz="3200" baseline="-25000" dirty="0">
                <a:latin typeface="华文新魏" panose="02010800040101010101" pitchFamily="2" charset="-122"/>
                <a:ea typeface="华文新魏" panose="02010800040101010101" pitchFamily="2" charset="-122"/>
              </a:rPr>
              <a:t>i+1</a:t>
            </a:r>
            <a:r>
              <a:rPr lang="zh-CN" altLang="en-US" sz="3200" dirty="0">
                <a:latin typeface="华文新魏" panose="02010800040101010101" pitchFamily="2" charset="-122"/>
                <a:ea typeface="华文新魏" panose="02010800040101010101" pitchFamily="2" charset="-122"/>
              </a:rPr>
              <a:t>，</a:t>
            </a:r>
            <a:r>
              <a:rPr lang="en-US" altLang="zh-CN" sz="3200" dirty="0">
                <a:latin typeface="华文新魏" panose="02010800040101010101" pitchFamily="2" charset="-122"/>
                <a:ea typeface="华文新魏" panose="02010800040101010101" pitchFamily="2" charset="-122"/>
              </a:rPr>
              <a:t>…</a:t>
            </a:r>
            <a:r>
              <a:rPr lang="zh-CN" altLang="en-US" sz="3200" dirty="0">
                <a:latin typeface="华文新魏" panose="02010800040101010101" pitchFamily="2" charset="-122"/>
                <a:ea typeface="华文新魏" panose="02010800040101010101" pitchFamily="2" charset="-122"/>
              </a:rPr>
              <a:t>，</a:t>
            </a:r>
            <a:r>
              <a:rPr lang="en-US" altLang="zh-CN" sz="3200" dirty="0">
                <a:latin typeface="华文新魏" panose="02010800040101010101" pitchFamily="2" charset="-122"/>
                <a:ea typeface="华文新魏" panose="02010800040101010101" pitchFamily="2" charset="-122"/>
              </a:rPr>
              <a:t>a</a:t>
            </a:r>
            <a:r>
              <a:rPr lang="en-US" altLang="zh-CN" sz="3200" baseline="-25000" dirty="0">
                <a:latin typeface="华文新魏" panose="02010800040101010101" pitchFamily="2" charset="-122"/>
                <a:ea typeface="华文新魏" panose="02010800040101010101" pitchFamily="2" charset="-122"/>
              </a:rPr>
              <a:t>n</a:t>
            </a:r>
            <a:r>
              <a:rPr lang="en-US" altLang="zh-CN" sz="3200" dirty="0">
                <a:latin typeface="华文新魏" panose="02010800040101010101" pitchFamily="2" charset="-122"/>
                <a:ea typeface="华文新魏" panose="02010800040101010101" pitchFamily="2" charset="-122"/>
              </a:rPr>
              <a:t>) </a:t>
            </a:r>
            <a:r>
              <a:rPr lang="zh-CN" altLang="en-US" sz="3200" dirty="0">
                <a:latin typeface="华文新魏" panose="02010800040101010101" pitchFamily="2" charset="-122"/>
                <a:ea typeface="华文新魏" panose="02010800040101010101" pitchFamily="2" charset="-122"/>
              </a:rPr>
              <a:t>中的第</a:t>
            </a:r>
            <a:r>
              <a:rPr lang="en-US" altLang="zh-CN" sz="3200" dirty="0" err="1">
                <a:latin typeface="华文新魏" panose="02010800040101010101" pitchFamily="2" charset="-122"/>
                <a:ea typeface="华文新魏" panose="02010800040101010101" pitchFamily="2" charset="-122"/>
              </a:rPr>
              <a:t>i</a:t>
            </a:r>
            <a:r>
              <a:rPr lang="en-US" altLang="zh-CN" sz="3200" dirty="0">
                <a:latin typeface="华文新魏" panose="02010800040101010101" pitchFamily="2" charset="-122"/>
                <a:ea typeface="华文新魏" panose="02010800040101010101" pitchFamily="2" charset="-122"/>
              </a:rPr>
              <a:t>(1≦i≦n+1)</a:t>
            </a:r>
            <a:r>
              <a:rPr lang="zh-CN" altLang="en-US" sz="3200" dirty="0">
                <a:latin typeface="华文新魏" panose="02010800040101010101" pitchFamily="2" charset="-122"/>
                <a:ea typeface="华文新魏" panose="02010800040101010101" pitchFamily="2" charset="-122"/>
              </a:rPr>
              <a:t>个位置前插入一个新结点</a:t>
            </a:r>
            <a:r>
              <a:rPr lang="en-US" altLang="zh-CN" sz="3200" dirty="0">
                <a:latin typeface="华文新魏" panose="02010800040101010101" pitchFamily="2" charset="-122"/>
                <a:ea typeface="华文新魏" panose="02010800040101010101" pitchFamily="2" charset="-122"/>
              </a:rPr>
              <a:t>e</a:t>
            </a:r>
            <a:r>
              <a:rPr lang="zh-CN" altLang="en-US" sz="3200" dirty="0">
                <a:latin typeface="华文新魏" panose="02010800040101010101" pitchFamily="2" charset="-122"/>
                <a:ea typeface="华文新魏" panose="02010800040101010101" pitchFamily="2" charset="-122"/>
              </a:rPr>
              <a:t>，使其成为线性表：</a:t>
            </a:r>
          </a:p>
          <a:p>
            <a:pPr marL="0" indent="0" eaLnBrk="1" hangingPunct="1">
              <a:lnSpc>
                <a:spcPct val="110000"/>
              </a:lnSpc>
              <a:buNone/>
              <a:defRPr/>
            </a:pPr>
            <a:r>
              <a:rPr lang="zh-CN" altLang="en-US" sz="3200" dirty="0">
                <a:latin typeface="华文新魏" panose="02010800040101010101" pitchFamily="2" charset="-122"/>
                <a:ea typeface="华文新魏" panose="02010800040101010101" pitchFamily="2" charset="-122"/>
              </a:rPr>
              <a:t>      </a:t>
            </a:r>
            <a:r>
              <a:rPr lang="en-US" altLang="zh-CN" sz="3200" dirty="0">
                <a:latin typeface="华文新魏" panose="02010800040101010101" pitchFamily="2" charset="-122"/>
                <a:ea typeface="华文新魏" panose="02010800040101010101" pitchFamily="2" charset="-122"/>
              </a:rPr>
              <a:t>L=(a</a:t>
            </a:r>
            <a:r>
              <a:rPr lang="en-US" altLang="zh-CN" sz="3200" baseline="-25000" dirty="0">
                <a:latin typeface="华文新魏" panose="02010800040101010101" pitchFamily="2" charset="-122"/>
                <a:ea typeface="华文新魏" panose="02010800040101010101" pitchFamily="2" charset="-122"/>
              </a:rPr>
              <a:t>1</a:t>
            </a:r>
            <a:r>
              <a:rPr lang="zh-CN" altLang="en-US" sz="3200" dirty="0">
                <a:latin typeface="华文新魏" panose="02010800040101010101" pitchFamily="2" charset="-122"/>
                <a:ea typeface="华文新魏" panose="02010800040101010101" pitchFamily="2" charset="-122"/>
              </a:rPr>
              <a:t>，</a:t>
            </a:r>
            <a:r>
              <a:rPr lang="en-US" altLang="zh-CN" sz="3200" dirty="0">
                <a:latin typeface="华文新魏" panose="02010800040101010101" pitchFamily="2" charset="-122"/>
                <a:ea typeface="华文新魏" panose="02010800040101010101" pitchFamily="2" charset="-122"/>
              </a:rPr>
              <a:t>…a </a:t>
            </a:r>
            <a:r>
              <a:rPr lang="en-US" altLang="zh-CN" sz="3200" baseline="-25000" dirty="0">
                <a:latin typeface="华文新魏" panose="02010800040101010101" pitchFamily="2" charset="-122"/>
                <a:ea typeface="华文新魏" panose="02010800040101010101" pitchFamily="2" charset="-122"/>
              </a:rPr>
              <a:t>i-1</a:t>
            </a:r>
            <a:r>
              <a:rPr lang="zh-CN" altLang="en-US" sz="3200" dirty="0">
                <a:latin typeface="华文新魏" panose="02010800040101010101" pitchFamily="2" charset="-122"/>
                <a:ea typeface="华文新魏" panose="02010800040101010101" pitchFamily="2" charset="-122"/>
              </a:rPr>
              <a:t>，</a:t>
            </a:r>
            <a:r>
              <a:rPr lang="en-US" altLang="zh-CN" sz="3200" dirty="0">
                <a:solidFill>
                  <a:schemeClr val="tx2"/>
                </a:solidFill>
                <a:latin typeface="华文新魏" panose="02010800040101010101" pitchFamily="2" charset="-122"/>
                <a:ea typeface="华文新魏" panose="02010800040101010101" pitchFamily="2" charset="-122"/>
              </a:rPr>
              <a:t>e</a:t>
            </a:r>
            <a:r>
              <a:rPr lang="zh-CN" altLang="en-US" sz="3200" dirty="0">
                <a:latin typeface="华文新魏" panose="02010800040101010101" pitchFamily="2" charset="-122"/>
                <a:ea typeface="华文新魏" panose="02010800040101010101" pitchFamily="2" charset="-122"/>
              </a:rPr>
              <a:t>，</a:t>
            </a:r>
            <a:r>
              <a:rPr lang="en-US" altLang="zh-CN" sz="3200" dirty="0" err="1">
                <a:latin typeface="华文新魏" panose="02010800040101010101" pitchFamily="2" charset="-122"/>
                <a:ea typeface="华文新魏" panose="02010800040101010101" pitchFamily="2" charset="-122"/>
              </a:rPr>
              <a:t>a</a:t>
            </a:r>
            <a:r>
              <a:rPr lang="en-US" altLang="zh-CN" sz="3200" baseline="-25000" dirty="0" err="1">
                <a:latin typeface="华文新魏" panose="02010800040101010101" pitchFamily="2" charset="-122"/>
                <a:ea typeface="华文新魏" panose="02010800040101010101" pitchFamily="2" charset="-122"/>
              </a:rPr>
              <a:t>i</a:t>
            </a:r>
            <a:r>
              <a:rPr lang="zh-CN" altLang="en-US" sz="3200" dirty="0">
                <a:latin typeface="华文新魏" panose="02010800040101010101" pitchFamily="2" charset="-122"/>
                <a:ea typeface="华文新魏" panose="02010800040101010101" pitchFamily="2" charset="-122"/>
              </a:rPr>
              <a:t>，</a:t>
            </a:r>
            <a:r>
              <a:rPr lang="en-US" altLang="zh-CN" sz="3200" dirty="0">
                <a:latin typeface="华文新魏" panose="02010800040101010101" pitchFamily="2" charset="-122"/>
                <a:ea typeface="华文新魏" panose="02010800040101010101" pitchFamily="2" charset="-122"/>
              </a:rPr>
              <a:t>a</a:t>
            </a:r>
            <a:r>
              <a:rPr lang="en-US" altLang="zh-CN" sz="3200" baseline="-25000" dirty="0">
                <a:latin typeface="华文新魏" panose="02010800040101010101" pitchFamily="2" charset="-122"/>
                <a:ea typeface="华文新魏" panose="02010800040101010101" pitchFamily="2" charset="-122"/>
              </a:rPr>
              <a:t>i+1</a:t>
            </a:r>
            <a:r>
              <a:rPr lang="zh-CN" altLang="en-US" sz="3200" dirty="0">
                <a:latin typeface="华文新魏" panose="02010800040101010101" pitchFamily="2" charset="-122"/>
                <a:ea typeface="华文新魏" panose="02010800040101010101" pitchFamily="2" charset="-122"/>
              </a:rPr>
              <a:t>，</a:t>
            </a:r>
            <a:r>
              <a:rPr lang="en-US" altLang="zh-CN" sz="3200" dirty="0">
                <a:latin typeface="华文新魏" panose="02010800040101010101" pitchFamily="2" charset="-122"/>
                <a:ea typeface="华文新魏" panose="02010800040101010101" pitchFamily="2" charset="-122"/>
              </a:rPr>
              <a:t>…</a:t>
            </a:r>
            <a:r>
              <a:rPr lang="zh-CN" altLang="en-US" sz="3200" dirty="0">
                <a:latin typeface="华文新魏" panose="02010800040101010101" pitchFamily="2" charset="-122"/>
                <a:ea typeface="华文新魏" panose="02010800040101010101" pitchFamily="2" charset="-122"/>
              </a:rPr>
              <a:t>，</a:t>
            </a:r>
            <a:r>
              <a:rPr lang="en-US" altLang="zh-CN" sz="3200" dirty="0">
                <a:latin typeface="华文新魏" panose="02010800040101010101" pitchFamily="2" charset="-122"/>
                <a:ea typeface="华文新魏" panose="02010800040101010101" pitchFamily="2" charset="-122"/>
              </a:rPr>
              <a:t>a</a:t>
            </a:r>
            <a:r>
              <a:rPr lang="en-US" altLang="zh-CN" sz="3200" baseline="-25000" dirty="0">
                <a:latin typeface="华文新魏" panose="02010800040101010101" pitchFamily="2" charset="-122"/>
                <a:ea typeface="华文新魏" panose="02010800040101010101" pitchFamily="2" charset="-122"/>
              </a:rPr>
              <a:t>n</a:t>
            </a:r>
            <a:r>
              <a:rPr lang="en-US" altLang="zh-CN" sz="3200" dirty="0">
                <a:latin typeface="华文新魏" panose="02010800040101010101" pitchFamily="2" charset="-122"/>
                <a:ea typeface="华文新魏" panose="02010800040101010101" pitchFamily="2" charset="-122"/>
              </a:rPr>
              <a:t>) </a:t>
            </a:r>
          </a:p>
          <a:p>
            <a:pPr marL="0" indent="0" eaLnBrk="1" hangingPunct="1">
              <a:lnSpc>
                <a:spcPct val="110000"/>
              </a:lnSpc>
              <a:buNone/>
              <a:defRPr/>
            </a:pPr>
            <a:r>
              <a:rPr lang="en-US" altLang="zh-CN" sz="3200" dirty="0">
                <a:solidFill>
                  <a:srgbClr val="008000"/>
                </a:solidFill>
                <a:latin typeface="华文新魏" panose="02010800040101010101" pitchFamily="2" charset="-122"/>
                <a:ea typeface="华文新魏" panose="02010800040101010101" pitchFamily="2" charset="-122"/>
              </a:rPr>
              <a:t> </a:t>
            </a:r>
            <a:r>
              <a:rPr lang="zh-CN" altLang="en-US" sz="3200" dirty="0">
                <a:solidFill>
                  <a:srgbClr val="008000"/>
                </a:solidFill>
                <a:latin typeface="华文新魏" panose="02010800040101010101" pitchFamily="2" charset="-122"/>
                <a:ea typeface="华文新魏" panose="02010800040101010101" pitchFamily="2" charset="-122"/>
              </a:rPr>
              <a:t>实现步骤</a:t>
            </a:r>
            <a:endParaRPr lang="en-US" altLang="zh-CN" sz="3200" dirty="0">
              <a:solidFill>
                <a:srgbClr val="008000"/>
              </a:solidFill>
              <a:latin typeface="华文新魏" panose="02010800040101010101" pitchFamily="2" charset="-122"/>
              <a:ea typeface="华文新魏" panose="02010800040101010101" pitchFamily="2" charset="-122"/>
            </a:endParaRPr>
          </a:p>
          <a:p>
            <a:pPr marL="355600" lvl="1" indent="0" eaLnBrk="1" hangingPunct="1">
              <a:lnSpc>
                <a:spcPct val="110000"/>
              </a:lnSpc>
              <a:defRPr/>
            </a:pPr>
            <a:r>
              <a:rPr lang="zh-CN" altLang="en-US" sz="2800" dirty="0">
                <a:latin typeface="华文新魏" panose="02010800040101010101" pitchFamily="2" charset="-122"/>
                <a:ea typeface="华文新魏" panose="02010800040101010101" pitchFamily="2" charset="-122"/>
              </a:rPr>
              <a:t>    线性表是否满？</a:t>
            </a:r>
          </a:p>
          <a:p>
            <a:pPr marL="355600" lvl="1" indent="0" eaLnBrk="1" hangingPunct="1">
              <a:lnSpc>
                <a:spcPct val="110000"/>
              </a:lnSpc>
              <a:defRPr/>
            </a:pPr>
            <a:r>
              <a:rPr lang="zh-CN" altLang="en-US" sz="2800" dirty="0">
                <a:latin typeface="华文新魏" panose="02010800040101010101" pitchFamily="2" charset="-122"/>
                <a:ea typeface="华文新魏" panose="02010800040101010101" pitchFamily="2" charset="-122"/>
              </a:rPr>
              <a:t>    插入位置是否合法？</a:t>
            </a:r>
          </a:p>
          <a:p>
            <a:pPr marL="355600" lvl="1" indent="0" eaLnBrk="1" hangingPunct="1">
              <a:lnSpc>
                <a:spcPct val="110000"/>
              </a:lnSpc>
              <a:defRPr/>
            </a:pPr>
            <a:r>
              <a:rPr lang="zh-CN" altLang="en-US" sz="2800" dirty="0">
                <a:latin typeface="华文新魏" panose="02010800040101010101" pitchFamily="2" charset="-122"/>
                <a:ea typeface="华文新魏" panose="02010800040101010101" pitchFamily="2" charset="-122"/>
              </a:rPr>
              <a:t>    将线性表L中的第i个至第n个结点后移一个位置。</a:t>
            </a:r>
          </a:p>
          <a:p>
            <a:pPr marL="355600" lvl="1" indent="0" eaLnBrk="1" hangingPunct="1">
              <a:lnSpc>
                <a:spcPct val="110000"/>
              </a:lnSpc>
              <a:defRPr/>
            </a:pPr>
            <a:r>
              <a:rPr lang="zh-CN" altLang="en-US" sz="2800" dirty="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  </a:t>
            </a:r>
            <a:r>
              <a:rPr lang="zh-CN" altLang="en-US" sz="2800" dirty="0">
                <a:latin typeface="华文新魏" panose="02010800040101010101" pitchFamily="2" charset="-122"/>
                <a:ea typeface="华文新魏" panose="02010800040101010101" pitchFamily="2" charset="-122"/>
              </a:rPr>
              <a:t>将结点e插入到结点a</a:t>
            </a:r>
            <a:r>
              <a:rPr lang="zh-CN" altLang="en-US" sz="2800" baseline="-25000" dirty="0">
                <a:latin typeface="华文新魏" panose="02010800040101010101" pitchFamily="2" charset="-122"/>
                <a:ea typeface="华文新魏" panose="02010800040101010101" pitchFamily="2" charset="-122"/>
              </a:rPr>
              <a:t>i-1</a:t>
            </a:r>
            <a:r>
              <a:rPr lang="zh-CN" altLang="en-US" sz="2800" dirty="0">
                <a:latin typeface="华文新魏" panose="02010800040101010101" pitchFamily="2" charset="-122"/>
                <a:ea typeface="华文新魏" panose="02010800040101010101" pitchFamily="2" charset="-122"/>
              </a:rPr>
              <a:t>之后。</a:t>
            </a:r>
          </a:p>
          <a:p>
            <a:pPr marL="355600" lvl="1" indent="0" eaLnBrk="1" hangingPunct="1">
              <a:lnSpc>
                <a:spcPct val="110000"/>
              </a:lnSpc>
              <a:defRPr/>
            </a:pPr>
            <a:r>
              <a:rPr lang="zh-CN" altLang="en-US" sz="2800" dirty="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  </a:t>
            </a:r>
            <a:r>
              <a:rPr lang="zh-CN" altLang="en-US" sz="2800" dirty="0">
                <a:latin typeface="华文新魏" panose="02010800040101010101" pitchFamily="2" charset="-122"/>
                <a:ea typeface="华文新魏" panose="02010800040101010101" pitchFamily="2" charset="-122"/>
              </a:rPr>
              <a:t>线性表长度加1。</a:t>
            </a:r>
          </a:p>
          <a:p>
            <a:pPr eaLnBrk="1" hangingPunct="1">
              <a:defRPr/>
            </a:pPr>
            <a:endParaRPr lang="zh-CN" altLang="en-US" sz="3200" dirty="0">
              <a:latin typeface="华文新魏" panose="02010800040101010101" pitchFamily="2" charset="-122"/>
              <a:ea typeface="华文新魏" panose="0201080004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F37B9C9-6DE2-A779-8852-F7A5E459908A}"/>
              </a:ext>
            </a:extLst>
          </p:cNvPr>
          <p:cNvSpPr>
            <a:spLocks noGrp="1"/>
          </p:cNvSpPr>
          <p:nvPr>
            <p:ph type="sldNum" sz="quarter" idx="4294967295"/>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C0FE0B-717B-41AE-9FA2-CA4BF851D1C3}" type="slidenum">
              <a:rPr kumimoji="0" lang="zh-CN" altLang="en-US" sz="1200" b="0" i="0" u="none" strike="noStrike" kern="1200" cap="none" spc="0" normalizeH="0" baseline="0" noProof="0" smtClean="0">
                <a:ln>
                  <a:noFill/>
                </a:ln>
                <a:solidFill>
                  <a:prstClr val="black">
                    <a:tint val="82000"/>
                  </a:prstClr>
                </a:solidFill>
                <a:effectLst/>
                <a:uLnTx/>
                <a:uFillTx/>
                <a:latin typeface="Times New Roman" panose="020206030504050203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dirty="0">
              <a:ln>
                <a:noFill/>
              </a:ln>
              <a:solidFill>
                <a:prstClr val="black">
                  <a:tint val="82000"/>
                </a:prstClr>
              </a:solidFill>
              <a:effectLst/>
              <a:uLnTx/>
              <a:uFillTx/>
              <a:latin typeface="Times New Roman" panose="02020603050405020304"/>
              <a:ea typeface="宋体" panose="02010600030101010101" pitchFamily="2" charset="-122"/>
              <a:cs typeface="+mn-cs"/>
            </a:endParaRPr>
          </a:p>
        </p:txBody>
      </p:sp>
      <p:sp>
        <p:nvSpPr>
          <p:cNvPr id="53" name="Text Box 2">
            <a:extLst>
              <a:ext uri="{FF2B5EF4-FFF2-40B4-BE49-F238E27FC236}">
                <a16:creationId xmlns:a16="http://schemas.microsoft.com/office/drawing/2014/main" id="{522CE07C-7B84-B441-4D57-3EDEC530A759}"/>
              </a:ext>
            </a:extLst>
          </p:cNvPr>
          <p:cNvSpPr txBox="1">
            <a:spLocks noChangeArrowheads="1"/>
          </p:cNvSpPr>
          <p:nvPr/>
        </p:nvSpPr>
        <p:spPr bwMode="auto">
          <a:xfrm>
            <a:off x="263352" y="865291"/>
            <a:ext cx="1178463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Status</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ListInsert</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SqList</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 </a:t>
            </a:r>
            <a:r>
              <a:rPr kumimoji="0" lang="en-US" altLang="zh-CN" sz="2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 || </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&lt;1 || </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&gt;L-&gt;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len+1</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ERROR; </a:t>
            </a:r>
            <a:r>
              <a:rPr kumimoji="0" lang="en-US" altLang="zh-CN" sz="2200" b="0" i="0" u="none" strike="noStrike" kern="1200" cap="none" spc="0" normalizeH="0" baseline="0" noProof="0" dirty="0">
                <a:ln>
                  <a:noFill/>
                </a:ln>
                <a:solidFill>
                  <a:srgbClr val="0070C0"/>
                </a:solidFill>
                <a:effectLst/>
                <a:uLnTx/>
                <a:uFillTx/>
                <a:latin typeface="Courier New" panose="02070309020205020404" pitchFamily="49" charset="0"/>
                <a:ea typeface="黑体" panose="02010609060101010101" pitchFamily="49" charset="-122"/>
                <a:cs typeface="Courier New" panose="02070309020205020404" pitchFamily="49" charset="0"/>
              </a:rPr>
              <a:t>// </a:t>
            </a:r>
            <a:r>
              <a:rPr kumimoji="0" lang="zh-CN" altLang="en-US" sz="2200" b="0" i="0" u="none" strike="noStrike" kern="1200" cap="none" spc="0" normalizeH="0" baseline="0" noProof="0" dirty="0">
                <a:ln>
                  <a:noFill/>
                </a:ln>
                <a:solidFill>
                  <a:srgbClr val="0070C0"/>
                </a:solidFill>
                <a:effectLst/>
                <a:uLnTx/>
                <a:uFillTx/>
                <a:latin typeface="Courier New" panose="02070309020205020404" pitchFamily="49" charset="0"/>
                <a:ea typeface="黑体" panose="02010609060101010101" pitchFamily="49" charset="-122"/>
                <a:cs typeface="Courier New" panose="02070309020205020404" pitchFamily="49" charset="0"/>
              </a:rPr>
              <a:t>若插入位置不合法，报错</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1" i="0" u="none" strike="noStrike" kern="1200" cap="none" spc="0" normalizeH="0" baseline="0" noProof="0" dirty="0">
              <a:ln>
                <a:noFill/>
              </a:ln>
              <a:solidFill>
                <a:srgbClr val="CC33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1" i="0" u="none" strike="noStrike" kern="1200" cap="none" spc="0" normalizeH="0" baseline="0" noProof="0" dirty="0">
              <a:ln>
                <a:noFill/>
              </a:ln>
              <a:solidFill>
                <a:srgbClr val="CC33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1" i="0" u="none" strike="noStrike" kern="1200" cap="none" spc="0" normalizeH="0" baseline="0" noProof="0" dirty="0">
              <a:ln>
                <a:noFill/>
              </a:ln>
              <a:solidFill>
                <a:srgbClr val="CC33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1" i="0" u="none" strike="noStrike" kern="1200" cap="none" spc="0" normalizeH="0" baseline="0" noProof="0" dirty="0">
              <a:ln>
                <a:noFill/>
              </a:ln>
              <a:solidFill>
                <a:srgbClr val="CC33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1" i="0" u="none" strike="noStrike" kern="1200" cap="none" spc="0" normalizeH="0" baseline="0" noProof="0" dirty="0">
              <a:ln>
                <a:noFill/>
              </a:ln>
              <a:solidFill>
                <a:srgbClr val="CC33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1" i="0" u="none" strike="noStrike" kern="1200" cap="none" spc="0" normalizeH="0" baseline="0" noProof="0" dirty="0">
              <a:ln>
                <a:noFill/>
              </a:ln>
              <a:solidFill>
                <a:srgbClr val="CC33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1" i="0" u="none" strike="noStrike" kern="1200" cap="none" spc="0" normalizeH="0" baseline="0" noProof="0" dirty="0">
              <a:ln>
                <a:noFill/>
              </a:ln>
              <a:solidFill>
                <a:srgbClr val="CC33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1" i="0" u="none" strike="noStrike" kern="1200" cap="none" spc="0" normalizeH="0" baseline="0" noProof="0" dirty="0">
              <a:ln>
                <a:noFill/>
              </a:ln>
              <a:solidFill>
                <a:srgbClr val="CC33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1" i="0" u="none" strike="noStrike" kern="1200" cap="none" spc="0" normalizeH="0" baseline="0" noProof="0" dirty="0">
              <a:ln>
                <a:noFill/>
              </a:ln>
              <a:solidFill>
                <a:srgbClr val="CC33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a:ln>
                  <a:noFill/>
                </a:ln>
                <a:solidFill>
                  <a:srgbClr val="0070C0"/>
                </a:solidFill>
                <a:effectLst/>
                <a:uLnTx/>
                <a:uFillTx/>
                <a:latin typeface="Courier New" panose="02070309020205020404" pitchFamily="49" charset="0"/>
                <a:ea typeface="楷体_GB2312" pitchFamily="49" charset="-122"/>
                <a:cs typeface="Courier New" panose="02070309020205020404" pitchFamily="49" charset="0"/>
              </a:rPr>
              <a:t>// </a:t>
            </a:r>
            <a:r>
              <a:rPr kumimoji="0" lang="en-US" altLang="zh-CN" sz="2200" b="1" i="0" u="none" strike="noStrike" kern="1200" cap="none" spc="0" normalizeH="0" baseline="0" noProof="0" dirty="0" err="1">
                <a:ln>
                  <a:noFill/>
                </a:ln>
                <a:solidFill>
                  <a:srgbClr val="0070C0"/>
                </a:solidFill>
                <a:effectLst/>
                <a:uLnTx/>
                <a:uFillTx/>
                <a:latin typeface="Courier New" panose="02070309020205020404" pitchFamily="49" charset="0"/>
                <a:ea typeface="楷体_GB2312" pitchFamily="49" charset="-122"/>
                <a:cs typeface="Courier New" panose="02070309020205020404" pitchFamily="49" charset="0"/>
              </a:rPr>
              <a:t>ListInsert</a:t>
            </a:r>
            <a:r>
              <a:rPr kumimoji="0" lang="en-US" altLang="zh-CN" sz="2200" b="1" i="0" u="none" strike="noStrike" kern="1200" cap="none" spc="0" normalizeH="0" baseline="0" noProof="0" dirty="0">
                <a:ln>
                  <a:noFill/>
                </a:ln>
                <a:solidFill>
                  <a:srgbClr val="0070C0"/>
                </a:solidFill>
                <a:effectLst/>
                <a:uLnTx/>
                <a:uFillTx/>
                <a:latin typeface="Courier New" panose="02070309020205020404" pitchFamily="49" charset="0"/>
                <a:ea typeface="楷体_GB2312" pitchFamily="49" charset="-122"/>
                <a:cs typeface="Courier New" panose="02070309020205020404" pitchFamily="49" charset="0"/>
              </a:rPr>
              <a:t>                         </a:t>
            </a:r>
          </a:p>
        </p:txBody>
      </p:sp>
      <p:sp>
        <p:nvSpPr>
          <p:cNvPr id="54" name="文本框 53">
            <a:extLst>
              <a:ext uri="{FF2B5EF4-FFF2-40B4-BE49-F238E27FC236}">
                <a16:creationId xmlns:a16="http://schemas.microsoft.com/office/drawing/2014/main" id="{4840FE91-A979-4E10-6A9C-81D4213DCC2F}"/>
              </a:ext>
            </a:extLst>
          </p:cNvPr>
          <p:cNvSpPr txBox="1"/>
          <p:nvPr/>
        </p:nvSpPr>
        <p:spPr>
          <a:xfrm>
            <a:off x="7183692" y="4235686"/>
            <a:ext cx="594480" cy="584774"/>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rPr>
              <a:t>A</a:t>
            </a:r>
          </a:p>
        </p:txBody>
      </p:sp>
      <p:sp>
        <p:nvSpPr>
          <p:cNvPr id="55" name="文本框 6">
            <a:extLst>
              <a:ext uri="{FF2B5EF4-FFF2-40B4-BE49-F238E27FC236}">
                <a16:creationId xmlns:a16="http://schemas.microsoft.com/office/drawing/2014/main" id="{745B434E-C3B8-4916-7DCC-C2097D9DB74D}"/>
              </a:ext>
            </a:extLst>
          </p:cNvPr>
          <p:cNvSpPr txBox="1"/>
          <p:nvPr/>
        </p:nvSpPr>
        <p:spPr>
          <a:xfrm>
            <a:off x="7772579" y="4235686"/>
            <a:ext cx="594481" cy="584774"/>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rPr>
              <a:t>C</a:t>
            </a:r>
          </a:p>
        </p:txBody>
      </p:sp>
      <p:sp>
        <p:nvSpPr>
          <p:cNvPr id="56" name="文本框 7">
            <a:extLst>
              <a:ext uri="{FF2B5EF4-FFF2-40B4-BE49-F238E27FC236}">
                <a16:creationId xmlns:a16="http://schemas.microsoft.com/office/drawing/2014/main" id="{C1A31AED-358A-7041-9149-EF3BE6B35EE6}"/>
              </a:ext>
            </a:extLst>
          </p:cNvPr>
          <p:cNvSpPr txBox="1"/>
          <p:nvPr/>
        </p:nvSpPr>
        <p:spPr>
          <a:xfrm>
            <a:off x="8372719" y="4235684"/>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rPr>
              <a:t>E</a:t>
            </a:r>
          </a:p>
        </p:txBody>
      </p:sp>
      <p:sp>
        <p:nvSpPr>
          <p:cNvPr id="57" name="Text Box 78">
            <a:extLst>
              <a:ext uri="{FF2B5EF4-FFF2-40B4-BE49-F238E27FC236}">
                <a16:creationId xmlns:a16="http://schemas.microsoft.com/office/drawing/2014/main" id="{74E499CF-F500-B716-C266-87B4880620DD}"/>
              </a:ext>
            </a:extLst>
          </p:cNvPr>
          <p:cNvSpPr txBox="1">
            <a:spLocks noChangeArrowheads="1"/>
          </p:cNvSpPr>
          <p:nvPr/>
        </p:nvSpPr>
        <p:spPr bwMode="auto">
          <a:xfrm>
            <a:off x="5805296" y="4754849"/>
            <a:ext cx="51375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en-US" altLang="zh-CN" sz="24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zh-CN" altLang="en-US"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元素下标：</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0    </a:t>
            </a:r>
            <a:r>
              <a:rPr kumimoji="0" lang="en-US" altLang="zh-CN" sz="18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1    </a:t>
            </a:r>
            <a:r>
              <a:rPr kumimoji="0" lang="en-US" altLang="zh-CN" sz="18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2     </a:t>
            </a:r>
            <a:r>
              <a:rPr kumimoji="0" lang="en-US" altLang="zh-CN" sz="18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3    </a:t>
            </a:r>
            <a:r>
              <a:rPr kumimoji="0" lang="en-US" altLang="zh-CN" sz="18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4  </a:t>
            </a:r>
            <a:r>
              <a:rPr kumimoji="0" lang="en-US" altLang="zh-CN" sz="18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5 </a:t>
            </a:r>
          </a:p>
        </p:txBody>
      </p:sp>
      <p:sp>
        <p:nvSpPr>
          <p:cNvPr id="58" name="Text Box 78">
            <a:extLst>
              <a:ext uri="{FF2B5EF4-FFF2-40B4-BE49-F238E27FC236}">
                <a16:creationId xmlns:a16="http://schemas.microsoft.com/office/drawing/2014/main" id="{BED611AC-B623-D5E5-BBDA-20E8FD872D5A}"/>
              </a:ext>
            </a:extLst>
          </p:cNvPr>
          <p:cNvSpPr txBox="1">
            <a:spLocks noChangeArrowheads="1"/>
          </p:cNvSpPr>
          <p:nvPr/>
        </p:nvSpPr>
        <p:spPr bwMode="auto">
          <a:xfrm>
            <a:off x="5964033" y="3853614"/>
            <a:ext cx="53160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插入位置：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1        2   </a:t>
            </a:r>
            <a:r>
              <a:rPr kumimoji="0" lang="en-US" altLang="zh-CN" sz="18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 3       4    </a:t>
            </a:r>
            <a:r>
              <a:rPr kumimoji="0" lang="en-US" altLang="zh-CN" sz="18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5        6      7 </a:t>
            </a:r>
          </a:p>
        </p:txBody>
      </p:sp>
      <p:sp>
        <p:nvSpPr>
          <p:cNvPr id="59" name="文本框 7">
            <a:extLst>
              <a:ext uri="{FF2B5EF4-FFF2-40B4-BE49-F238E27FC236}">
                <a16:creationId xmlns:a16="http://schemas.microsoft.com/office/drawing/2014/main" id="{C006310D-7244-02DA-93F9-69F242CD5A19}"/>
              </a:ext>
            </a:extLst>
          </p:cNvPr>
          <p:cNvSpPr txBox="1"/>
          <p:nvPr/>
        </p:nvSpPr>
        <p:spPr>
          <a:xfrm>
            <a:off x="8964486" y="4235684"/>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rPr>
              <a:t>G</a:t>
            </a:r>
          </a:p>
        </p:txBody>
      </p:sp>
      <p:sp>
        <p:nvSpPr>
          <p:cNvPr id="60" name="文本框 7">
            <a:extLst>
              <a:ext uri="{FF2B5EF4-FFF2-40B4-BE49-F238E27FC236}">
                <a16:creationId xmlns:a16="http://schemas.microsoft.com/office/drawing/2014/main" id="{A4CEC693-83FE-E2D1-36EC-9097345F8B2E}"/>
              </a:ext>
            </a:extLst>
          </p:cNvPr>
          <p:cNvSpPr txBox="1"/>
          <p:nvPr/>
        </p:nvSpPr>
        <p:spPr>
          <a:xfrm>
            <a:off x="9561385" y="4235684"/>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rPr>
              <a:t>D</a:t>
            </a:r>
          </a:p>
        </p:txBody>
      </p:sp>
      <p:sp>
        <p:nvSpPr>
          <p:cNvPr id="61" name="文本框 7">
            <a:extLst>
              <a:ext uri="{FF2B5EF4-FFF2-40B4-BE49-F238E27FC236}">
                <a16:creationId xmlns:a16="http://schemas.microsoft.com/office/drawing/2014/main" id="{214E5A5E-E80D-BB09-10CF-DF0F3B73624A}"/>
              </a:ext>
            </a:extLst>
          </p:cNvPr>
          <p:cNvSpPr txBox="1"/>
          <p:nvPr/>
        </p:nvSpPr>
        <p:spPr>
          <a:xfrm>
            <a:off x="10149360" y="4235684"/>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rPr>
              <a:t>B</a:t>
            </a:r>
          </a:p>
        </p:txBody>
      </p:sp>
      <p:grpSp>
        <p:nvGrpSpPr>
          <p:cNvPr id="62" name="组合 61">
            <a:extLst>
              <a:ext uri="{FF2B5EF4-FFF2-40B4-BE49-F238E27FC236}">
                <a16:creationId xmlns:a16="http://schemas.microsoft.com/office/drawing/2014/main" id="{87297E8F-1395-46CF-18F7-86E26454F059}"/>
              </a:ext>
            </a:extLst>
          </p:cNvPr>
          <p:cNvGrpSpPr/>
          <p:nvPr/>
        </p:nvGrpSpPr>
        <p:grpSpPr>
          <a:xfrm>
            <a:off x="4310107" y="3900661"/>
            <a:ext cx="1600648" cy="1791400"/>
            <a:chOff x="4988208" y="4350797"/>
            <a:chExt cx="1600648" cy="1791400"/>
          </a:xfrm>
        </p:grpSpPr>
        <p:sp>
          <p:nvSpPr>
            <p:cNvPr id="63" name="文本框 81922">
              <a:extLst>
                <a:ext uri="{FF2B5EF4-FFF2-40B4-BE49-F238E27FC236}">
                  <a16:creationId xmlns:a16="http://schemas.microsoft.com/office/drawing/2014/main" id="{E946D0DE-2CD3-4F6C-BA8F-F6292E352013}"/>
                </a:ext>
              </a:extLst>
            </p:cNvPr>
            <p:cNvSpPr txBox="1">
              <a:spLocks noChangeArrowheads="1"/>
            </p:cNvSpPr>
            <p:nvPr/>
          </p:nvSpPr>
          <p:spPr bwMode="auto">
            <a:xfrm>
              <a:off x="5091063" y="4763903"/>
              <a:ext cx="987156" cy="46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400" b="1" i="0" u="none" strike="noStrike" kern="1200" cap="none" spc="0" normalizeH="0" baseline="0" noProof="0" dirty="0" err="1">
                  <a:ln>
                    <a:noFill/>
                  </a:ln>
                  <a:solidFill>
                    <a:srgbClr val="008080"/>
                  </a:solidFill>
                  <a:effectLst/>
                  <a:uLnTx/>
                  <a:uFillTx/>
                  <a:latin typeface="Times New Roman" panose="02020603050405020304"/>
                  <a:ea typeface="宋体" panose="02010600030101010101" pitchFamily="2" charset="-122"/>
                  <a:cs typeface="+mn-cs"/>
                </a:rPr>
                <a:t>elem</a:t>
              </a:r>
              <a:endParaRPr kumimoji="0" lang="zh-CN" altLang="en-US" sz="24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endParaRPr>
            </a:p>
          </p:txBody>
        </p:sp>
        <p:sp>
          <p:nvSpPr>
            <p:cNvPr id="64" name="文本框 81922">
              <a:extLst>
                <a:ext uri="{FF2B5EF4-FFF2-40B4-BE49-F238E27FC236}">
                  <a16:creationId xmlns:a16="http://schemas.microsoft.com/office/drawing/2014/main" id="{16307666-188E-3599-B51A-33D09EADB32D}"/>
                </a:ext>
              </a:extLst>
            </p:cNvPr>
            <p:cNvSpPr txBox="1">
              <a:spLocks noChangeArrowheads="1"/>
            </p:cNvSpPr>
            <p:nvPr/>
          </p:nvSpPr>
          <p:spPr bwMode="auto">
            <a:xfrm>
              <a:off x="4988208" y="5219220"/>
              <a:ext cx="1110746" cy="46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 typeface="Monotype Sorts" pitchFamily="2" charset="2"/>
                <a:buNone/>
                <a:tabLst/>
                <a:defRPr/>
              </a:pPr>
              <a:r>
                <a:rPr kumimoji="0" lang="en-US" altLang="zh-CN" sz="2400" b="1" i="0" u="none" strike="noStrike" kern="1200" cap="none" spc="0" normalizeH="0" baseline="0" noProof="0" dirty="0" err="1">
                  <a:ln>
                    <a:noFill/>
                  </a:ln>
                  <a:solidFill>
                    <a:srgbClr val="008080"/>
                  </a:solidFill>
                  <a:effectLst/>
                  <a:uLnTx/>
                  <a:uFillTx/>
                  <a:latin typeface="Times New Roman" panose="02020603050405020304"/>
                  <a:ea typeface="宋体" panose="02010600030101010101" pitchFamily="2" charset="-122"/>
                  <a:cs typeface="+mn-cs"/>
                </a:rPr>
                <a:t>len</a:t>
              </a:r>
              <a:endParaRPr kumimoji="0" lang="zh-CN" altLang="en-US" sz="24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endParaRPr>
            </a:p>
          </p:txBody>
        </p:sp>
        <p:sp>
          <p:nvSpPr>
            <p:cNvPr id="65" name="矩形 64">
              <a:extLst>
                <a:ext uri="{FF2B5EF4-FFF2-40B4-BE49-F238E27FC236}">
                  <a16:creationId xmlns:a16="http://schemas.microsoft.com/office/drawing/2014/main" id="{9D04E9E5-703E-DA05-7302-983C4B7B2C63}"/>
                </a:ext>
              </a:extLst>
            </p:cNvPr>
            <p:cNvSpPr/>
            <p:nvPr/>
          </p:nvSpPr>
          <p:spPr>
            <a:xfrm>
              <a:off x="6074443" y="4767250"/>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66" name="矩形 65">
              <a:extLst>
                <a:ext uri="{FF2B5EF4-FFF2-40B4-BE49-F238E27FC236}">
                  <a16:creationId xmlns:a16="http://schemas.microsoft.com/office/drawing/2014/main" id="{A7761788-7DA9-17E3-2AB7-0582E2D29C07}"/>
                </a:ext>
              </a:extLst>
            </p:cNvPr>
            <p:cNvSpPr/>
            <p:nvPr/>
          </p:nvSpPr>
          <p:spPr>
            <a:xfrm>
              <a:off x="6074443" y="52277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67" name="矩形 66">
              <a:extLst>
                <a:ext uri="{FF2B5EF4-FFF2-40B4-BE49-F238E27FC236}">
                  <a16:creationId xmlns:a16="http://schemas.microsoft.com/office/drawing/2014/main" id="{55066CF8-E82C-898D-9C15-25613776D1C0}"/>
                </a:ext>
              </a:extLst>
            </p:cNvPr>
            <p:cNvSpPr/>
            <p:nvPr/>
          </p:nvSpPr>
          <p:spPr>
            <a:xfrm>
              <a:off x="6074442" y="56849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68" name="文本框 81922">
              <a:extLst>
                <a:ext uri="{FF2B5EF4-FFF2-40B4-BE49-F238E27FC236}">
                  <a16:creationId xmlns:a16="http://schemas.microsoft.com/office/drawing/2014/main" id="{4C211460-F074-4946-94E9-4D3D154F347F}"/>
                </a:ext>
              </a:extLst>
            </p:cNvPr>
            <p:cNvSpPr txBox="1">
              <a:spLocks noChangeArrowheads="1"/>
            </p:cNvSpPr>
            <p:nvPr/>
          </p:nvSpPr>
          <p:spPr bwMode="auto">
            <a:xfrm>
              <a:off x="5019055" y="5663575"/>
              <a:ext cx="1067644" cy="46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 typeface="Monotype Sorts" pitchFamily="2" charset="2"/>
                <a:buNone/>
                <a:tabLst/>
                <a:defRPr/>
              </a:pPr>
              <a:r>
                <a:rPr kumimoji="0" lang="en-US" altLang="zh-CN" sz="24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size</a:t>
              </a:r>
              <a:endParaRPr kumimoji="0" lang="zh-CN" altLang="en-US" sz="24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endParaRPr>
            </a:p>
          </p:txBody>
        </p:sp>
        <p:sp>
          <p:nvSpPr>
            <p:cNvPr id="69" name="文本框 81922">
              <a:extLst>
                <a:ext uri="{FF2B5EF4-FFF2-40B4-BE49-F238E27FC236}">
                  <a16:creationId xmlns:a16="http://schemas.microsoft.com/office/drawing/2014/main" id="{364E8E1A-11A6-1A56-5398-3C66CCC1156F}"/>
                </a:ext>
              </a:extLst>
            </p:cNvPr>
            <p:cNvSpPr txBox="1">
              <a:spLocks noChangeArrowheads="1"/>
            </p:cNvSpPr>
            <p:nvPr/>
          </p:nvSpPr>
          <p:spPr bwMode="auto">
            <a:xfrm>
              <a:off x="6069146" y="4350797"/>
              <a:ext cx="472887"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srgbClr val="008080"/>
                  </a:solidFill>
                  <a:effectLst/>
                  <a:uLnTx/>
                  <a:uFillTx/>
                  <a:latin typeface="Times New Roman" panose="02020603050405020304" pitchFamily="18" charset="0"/>
                  <a:ea typeface="楷体_GB2312" pitchFamily="49" charset="-122"/>
                  <a:cs typeface="+mn-cs"/>
                </a:rPr>
                <a:t>L</a:t>
              </a:r>
              <a:endParaRPr kumimoji="0" lang="zh-CN" altLang="en-US" sz="2400" b="1" i="0" u="none" strike="noStrike" kern="1200" cap="none" spc="0" normalizeH="0" baseline="0" noProof="0" dirty="0">
                <a:ln>
                  <a:noFill/>
                </a:ln>
                <a:solidFill>
                  <a:srgbClr val="008080"/>
                </a:solidFill>
                <a:effectLst/>
                <a:uLnTx/>
                <a:uFillTx/>
                <a:latin typeface="Times New Roman" panose="02020603050405020304" pitchFamily="18" charset="0"/>
                <a:ea typeface="宋体" panose="02010600030101010101" pitchFamily="2" charset="-122"/>
                <a:cs typeface="+mn-cs"/>
              </a:endParaRPr>
            </a:p>
          </p:txBody>
        </p:sp>
      </p:grpSp>
      <p:sp>
        <p:nvSpPr>
          <p:cNvPr id="70" name="文本框 7">
            <a:extLst>
              <a:ext uri="{FF2B5EF4-FFF2-40B4-BE49-F238E27FC236}">
                <a16:creationId xmlns:a16="http://schemas.microsoft.com/office/drawing/2014/main" id="{65D3D95D-541B-681D-4C78-C9A9BA894149}"/>
              </a:ext>
            </a:extLst>
          </p:cNvPr>
          <p:cNvSpPr txBox="1"/>
          <p:nvPr/>
        </p:nvSpPr>
        <p:spPr>
          <a:xfrm>
            <a:off x="5504432" y="4739685"/>
            <a:ext cx="283537" cy="523220"/>
          </a:xfrm>
          <a:prstGeom prst="rect">
            <a:avLst/>
          </a:prstGeom>
          <a:noFill/>
        </p:spPr>
        <p:txBody>
          <a:bodyPr wrap="square" rtlCol="0">
            <a:spAutoFit/>
          </a:bodyPr>
          <a:ls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6</a:t>
            </a:r>
            <a:endParaRPr kumimoji="0" lang="zh-CN" altLang="en-US" sz="2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71" name="文本框 40">
            <a:extLst>
              <a:ext uri="{FF2B5EF4-FFF2-40B4-BE49-F238E27FC236}">
                <a16:creationId xmlns:a16="http://schemas.microsoft.com/office/drawing/2014/main" id="{67B92140-F4F3-6DDD-15FF-1E5D3F1507EA}"/>
              </a:ext>
            </a:extLst>
          </p:cNvPr>
          <p:cNvSpPr txBox="1"/>
          <p:nvPr/>
        </p:nvSpPr>
        <p:spPr>
          <a:xfrm>
            <a:off x="5383871" y="5229670"/>
            <a:ext cx="568113" cy="430887"/>
          </a:xfrm>
          <a:prstGeom prst="rect">
            <a:avLst/>
          </a:prstGeom>
          <a:noFill/>
        </p:spPr>
        <p:txBody>
          <a:bodyPr wrap="square" lIns="0" tIns="0" rIns="0" bIns="0" rtlCol="0">
            <a:spAutoFit/>
          </a:bodyPr>
          <a:ls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6</a:t>
            </a:r>
            <a:endParaRPr kumimoji="0" lang="zh-CN" altLang="en-US" sz="2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cxnSp>
        <p:nvCxnSpPr>
          <p:cNvPr id="72" name="直接箭头连接符 71">
            <a:extLst>
              <a:ext uri="{FF2B5EF4-FFF2-40B4-BE49-F238E27FC236}">
                <a16:creationId xmlns:a16="http://schemas.microsoft.com/office/drawing/2014/main" id="{1D4B0847-8E1B-6BF2-46E6-E3CA19D5EF3A}"/>
              </a:ext>
            </a:extLst>
          </p:cNvPr>
          <p:cNvCxnSpPr>
            <a:cxnSpLocks/>
          </p:cNvCxnSpPr>
          <p:nvPr/>
        </p:nvCxnSpPr>
        <p:spPr>
          <a:xfrm>
            <a:off x="5647174" y="4542406"/>
            <a:ext cx="1536518" cy="0"/>
          </a:xfrm>
          <a:prstGeom prst="straightConnector1">
            <a:avLst/>
          </a:prstGeom>
          <a:ln w="38100">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73" name="Text Box 78">
            <a:extLst>
              <a:ext uri="{FF2B5EF4-FFF2-40B4-BE49-F238E27FC236}">
                <a16:creationId xmlns:a16="http://schemas.microsoft.com/office/drawing/2014/main" id="{7A232F0B-7499-2A89-3BF9-0EB0ADC18217}"/>
              </a:ext>
            </a:extLst>
          </p:cNvPr>
          <p:cNvSpPr txBox="1">
            <a:spLocks noChangeArrowheads="1"/>
          </p:cNvSpPr>
          <p:nvPr/>
        </p:nvSpPr>
        <p:spPr bwMode="auto">
          <a:xfrm>
            <a:off x="362627" y="5150854"/>
            <a:ext cx="3573133" cy="1015663"/>
          </a:xfrm>
          <a:prstGeom prst="rect">
            <a:avLst/>
          </a:prstGeom>
          <a:solidFill>
            <a:schemeClr val="accent3">
              <a:lumMod val="20000"/>
              <a:lumOff val="80000"/>
            </a:schemeClr>
          </a:solidFill>
          <a:ln>
            <a:noFill/>
          </a:ln>
          <a:effec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算法分三个步骤：</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457200" marR="0" lvl="0" indent="-457200" algn="l" defTabSz="457200" rtl="0" eaLnBrk="1" fontAlgn="auto" latinLnBrk="0" hangingPunct="1">
              <a:lnSpc>
                <a:spcPct val="100000"/>
              </a:lnSpc>
              <a:spcBef>
                <a:spcPct val="50000"/>
              </a:spcBef>
              <a:spcAft>
                <a:spcPts val="0"/>
              </a:spcAft>
              <a:buClrTx/>
              <a:buSzTx/>
              <a:buFontTx/>
              <a:buAutoNum type="arabicPeriod"/>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插入位置合法性检查</a:t>
            </a:r>
            <a:endParaRPr kumimoji="0" lang="en-US" altLang="zh-CN" sz="24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4" name="矩形: 圆角 73">
            <a:extLst>
              <a:ext uri="{FF2B5EF4-FFF2-40B4-BE49-F238E27FC236}">
                <a16:creationId xmlns:a16="http://schemas.microsoft.com/office/drawing/2014/main" id="{7ACCDC6A-EC53-7BD3-0E0C-1E5ACF3D305A}"/>
              </a:ext>
            </a:extLst>
          </p:cNvPr>
          <p:cNvSpPr/>
          <p:nvPr/>
        </p:nvSpPr>
        <p:spPr>
          <a:xfrm>
            <a:off x="1423431" y="255181"/>
            <a:ext cx="3960440" cy="501780"/>
          </a:xfrm>
          <a:prstGeom prst="roundRect">
            <a:avLst/>
          </a:prstGeom>
          <a:solidFill>
            <a:schemeClr val="tx2">
              <a:lumMod val="10000"/>
              <a:lumOff val="90000"/>
            </a:schemeClr>
          </a:solidFill>
          <a:ln>
            <a:solidFill>
              <a:schemeClr val="tx2">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cs typeface="+mn-cs"/>
              </a:rPr>
              <a:t>顺序表的插入</a:t>
            </a:r>
          </a:p>
        </p:txBody>
      </p:sp>
      <p:cxnSp>
        <p:nvCxnSpPr>
          <p:cNvPr id="75" name="直接连接符 74">
            <a:extLst>
              <a:ext uri="{FF2B5EF4-FFF2-40B4-BE49-F238E27FC236}">
                <a16:creationId xmlns:a16="http://schemas.microsoft.com/office/drawing/2014/main" id="{4B70C218-EFA1-B5A6-C2EA-897D12EADA98}"/>
              </a:ext>
            </a:extLst>
          </p:cNvPr>
          <p:cNvCxnSpPr/>
          <p:nvPr/>
        </p:nvCxnSpPr>
        <p:spPr>
          <a:xfrm>
            <a:off x="3536645" y="1238946"/>
            <a:ext cx="152226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C0D5E549-24DE-074A-655E-4AF52FAAE07C}"/>
              </a:ext>
            </a:extLst>
          </p:cNvPr>
          <p:cNvCxnSpPr>
            <a:cxnSpLocks/>
          </p:cNvCxnSpPr>
          <p:nvPr/>
        </p:nvCxnSpPr>
        <p:spPr>
          <a:xfrm>
            <a:off x="5248078" y="1252353"/>
            <a:ext cx="847922"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A2194F10-9BC3-9312-DBA2-8CDC6D2F4363}"/>
              </a:ext>
            </a:extLst>
          </p:cNvPr>
          <p:cNvCxnSpPr>
            <a:cxnSpLocks/>
          </p:cNvCxnSpPr>
          <p:nvPr/>
        </p:nvCxnSpPr>
        <p:spPr>
          <a:xfrm>
            <a:off x="6410841" y="1238946"/>
            <a:ext cx="168422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3876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fade">
                                      <p:cBhvr>
                                        <p:cTn id="7" dur="1000"/>
                                        <p:tgtEl>
                                          <p:spTgt spid="53">
                                            <p:txEl>
                                              <p:pRg st="0" end="0"/>
                                            </p:txEl>
                                          </p:spTgt>
                                        </p:tgtEl>
                                      </p:cBhvr>
                                    </p:animEffect>
                                    <p:anim calcmode="lin" valueType="num">
                                      <p:cBhvr>
                                        <p:cTn id="8" dur="1000" fill="hold"/>
                                        <p:tgtEl>
                                          <p:spTgt spid="5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53">
                                            <p:txEl>
                                              <p:pRg st="11" end="11"/>
                                            </p:txEl>
                                          </p:spTgt>
                                        </p:tgtEl>
                                        <p:attrNameLst>
                                          <p:attrName>style.visibility</p:attrName>
                                        </p:attrNameLst>
                                      </p:cBhvr>
                                      <p:to>
                                        <p:strVal val="visible"/>
                                      </p:to>
                                    </p:set>
                                    <p:animEffect transition="in" filter="fade">
                                      <p:cBhvr>
                                        <p:cTn id="13" dur="1000"/>
                                        <p:tgtEl>
                                          <p:spTgt spid="53">
                                            <p:txEl>
                                              <p:pRg st="11" end="11"/>
                                            </p:txEl>
                                          </p:spTgt>
                                        </p:tgtEl>
                                      </p:cBhvr>
                                    </p:animEffect>
                                    <p:anim calcmode="lin" valueType="num">
                                      <p:cBhvr>
                                        <p:cTn id="14" dur="1000" fill="hold"/>
                                        <p:tgtEl>
                                          <p:spTgt spid="53">
                                            <p:txEl>
                                              <p:pRg st="11" end="11"/>
                                            </p:txEl>
                                          </p:spTgt>
                                        </p:tgtEl>
                                        <p:attrNameLst>
                                          <p:attrName>ppt_x</p:attrName>
                                        </p:attrNameLst>
                                      </p:cBhvr>
                                      <p:tavLst>
                                        <p:tav tm="0">
                                          <p:val>
                                            <p:strVal val="#ppt_x"/>
                                          </p:val>
                                        </p:tav>
                                        <p:tav tm="100000">
                                          <p:val>
                                            <p:strVal val="#ppt_x"/>
                                          </p:val>
                                        </p:tav>
                                      </p:tavLst>
                                    </p:anim>
                                    <p:anim calcmode="lin" valueType="num">
                                      <p:cBhvr>
                                        <p:cTn id="15" dur="1000" fill="hold"/>
                                        <p:tgtEl>
                                          <p:spTgt spid="5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75"/>
                                        </p:tgtEl>
                                        <p:attrNameLst>
                                          <p:attrName>style.visibility</p:attrName>
                                        </p:attrNameLst>
                                      </p:cBhvr>
                                      <p:to>
                                        <p:strVal val="visible"/>
                                      </p:to>
                                    </p:set>
                                    <p:anim calcmode="lin" valueType="num">
                                      <p:cBhvr>
                                        <p:cTn id="20" dur="1000" fill="hold"/>
                                        <p:tgtEl>
                                          <p:spTgt spid="75"/>
                                        </p:tgtEl>
                                        <p:attrNameLst>
                                          <p:attrName>ppt_w</p:attrName>
                                        </p:attrNameLst>
                                      </p:cBhvr>
                                      <p:tavLst>
                                        <p:tav tm="0">
                                          <p:val>
                                            <p:fltVal val="0"/>
                                          </p:val>
                                        </p:tav>
                                        <p:tav tm="100000">
                                          <p:val>
                                            <p:strVal val="#ppt_w"/>
                                          </p:val>
                                        </p:tav>
                                      </p:tavLst>
                                    </p:anim>
                                    <p:anim calcmode="lin" valueType="num">
                                      <p:cBhvr>
                                        <p:cTn id="21" dur="1000" fill="hold"/>
                                        <p:tgtEl>
                                          <p:spTgt spid="75"/>
                                        </p:tgtEl>
                                        <p:attrNameLst>
                                          <p:attrName>ppt_h</p:attrName>
                                        </p:attrNameLst>
                                      </p:cBhvr>
                                      <p:tavLst>
                                        <p:tav tm="0">
                                          <p:val>
                                            <p:fltVal val="0"/>
                                          </p:val>
                                        </p:tav>
                                        <p:tav tm="100000">
                                          <p:val>
                                            <p:strVal val="#ppt_h"/>
                                          </p:val>
                                        </p:tav>
                                      </p:tavLst>
                                    </p:anim>
                                    <p:anim calcmode="lin" valueType="num">
                                      <p:cBhvr>
                                        <p:cTn id="22" dur="1000" fill="hold"/>
                                        <p:tgtEl>
                                          <p:spTgt spid="75"/>
                                        </p:tgtEl>
                                        <p:attrNameLst>
                                          <p:attrName>style.rotation</p:attrName>
                                        </p:attrNameLst>
                                      </p:cBhvr>
                                      <p:tavLst>
                                        <p:tav tm="0">
                                          <p:val>
                                            <p:fltVal val="90"/>
                                          </p:val>
                                        </p:tav>
                                        <p:tav tm="100000">
                                          <p:val>
                                            <p:fltVal val="0"/>
                                          </p:val>
                                        </p:tav>
                                      </p:tavLst>
                                    </p:anim>
                                    <p:animEffect transition="in" filter="fade">
                                      <p:cBhvr>
                                        <p:cTn id="23" dur="1000"/>
                                        <p:tgtEl>
                                          <p:spTgt spid="75"/>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76"/>
                                        </p:tgtEl>
                                        <p:attrNameLst>
                                          <p:attrName>style.visibility</p:attrName>
                                        </p:attrNameLst>
                                      </p:cBhvr>
                                      <p:to>
                                        <p:strVal val="visible"/>
                                      </p:to>
                                    </p:set>
                                    <p:anim calcmode="lin" valueType="num">
                                      <p:cBhvr>
                                        <p:cTn id="28" dur="1000" fill="hold"/>
                                        <p:tgtEl>
                                          <p:spTgt spid="76"/>
                                        </p:tgtEl>
                                        <p:attrNameLst>
                                          <p:attrName>ppt_w</p:attrName>
                                        </p:attrNameLst>
                                      </p:cBhvr>
                                      <p:tavLst>
                                        <p:tav tm="0">
                                          <p:val>
                                            <p:fltVal val="0"/>
                                          </p:val>
                                        </p:tav>
                                        <p:tav tm="100000">
                                          <p:val>
                                            <p:strVal val="#ppt_w"/>
                                          </p:val>
                                        </p:tav>
                                      </p:tavLst>
                                    </p:anim>
                                    <p:anim calcmode="lin" valueType="num">
                                      <p:cBhvr>
                                        <p:cTn id="29" dur="1000" fill="hold"/>
                                        <p:tgtEl>
                                          <p:spTgt spid="76"/>
                                        </p:tgtEl>
                                        <p:attrNameLst>
                                          <p:attrName>ppt_h</p:attrName>
                                        </p:attrNameLst>
                                      </p:cBhvr>
                                      <p:tavLst>
                                        <p:tav tm="0">
                                          <p:val>
                                            <p:fltVal val="0"/>
                                          </p:val>
                                        </p:tav>
                                        <p:tav tm="100000">
                                          <p:val>
                                            <p:strVal val="#ppt_h"/>
                                          </p:val>
                                        </p:tav>
                                      </p:tavLst>
                                    </p:anim>
                                    <p:anim calcmode="lin" valueType="num">
                                      <p:cBhvr>
                                        <p:cTn id="30" dur="1000" fill="hold"/>
                                        <p:tgtEl>
                                          <p:spTgt spid="76"/>
                                        </p:tgtEl>
                                        <p:attrNameLst>
                                          <p:attrName>style.rotation</p:attrName>
                                        </p:attrNameLst>
                                      </p:cBhvr>
                                      <p:tavLst>
                                        <p:tav tm="0">
                                          <p:val>
                                            <p:fltVal val="90"/>
                                          </p:val>
                                        </p:tav>
                                        <p:tav tm="100000">
                                          <p:val>
                                            <p:fltVal val="0"/>
                                          </p:val>
                                        </p:tav>
                                      </p:tavLst>
                                    </p:anim>
                                    <p:animEffect transition="in" filter="fade">
                                      <p:cBhvr>
                                        <p:cTn id="31" dur="1000"/>
                                        <p:tgtEl>
                                          <p:spTgt spid="76"/>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77"/>
                                        </p:tgtEl>
                                        <p:attrNameLst>
                                          <p:attrName>style.visibility</p:attrName>
                                        </p:attrNameLst>
                                      </p:cBhvr>
                                      <p:to>
                                        <p:strVal val="visible"/>
                                      </p:to>
                                    </p:set>
                                    <p:anim calcmode="lin" valueType="num">
                                      <p:cBhvr>
                                        <p:cTn id="36" dur="1000" fill="hold"/>
                                        <p:tgtEl>
                                          <p:spTgt spid="77"/>
                                        </p:tgtEl>
                                        <p:attrNameLst>
                                          <p:attrName>ppt_w</p:attrName>
                                        </p:attrNameLst>
                                      </p:cBhvr>
                                      <p:tavLst>
                                        <p:tav tm="0">
                                          <p:val>
                                            <p:fltVal val="0"/>
                                          </p:val>
                                        </p:tav>
                                        <p:tav tm="100000">
                                          <p:val>
                                            <p:strVal val="#ppt_w"/>
                                          </p:val>
                                        </p:tav>
                                      </p:tavLst>
                                    </p:anim>
                                    <p:anim calcmode="lin" valueType="num">
                                      <p:cBhvr>
                                        <p:cTn id="37" dur="1000" fill="hold"/>
                                        <p:tgtEl>
                                          <p:spTgt spid="77"/>
                                        </p:tgtEl>
                                        <p:attrNameLst>
                                          <p:attrName>ppt_h</p:attrName>
                                        </p:attrNameLst>
                                      </p:cBhvr>
                                      <p:tavLst>
                                        <p:tav tm="0">
                                          <p:val>
                                            <p:fltVal val="0"/>
                                          </p:val>
                                        </p:tav>
                                        <p:tav tm="100000">
                                          <p:val>
                                            <p:strVal val="#ppt_h"/>
                                          </p:val>
                                        </p:tav>
                                      </p:tavLst>
                                    </p:anim>
                                    <p:anim calcmode="lin" valueType="num">
                                      <p:cBhvr>
                                        <p:cTn id="38" dur="1000" fill="hold"/>
                                        <p:tgtEl>
                                          <p:spTgt spid="77"/>
                                        </p:tgtEl>
                                        <p:attrNameLst>
                                          <p:attrName>style.rotation</p:attrName>
                                        </p:attrNameLst>
                                      </p:cBhvr>
                                      <p:tavLst>
                                        <p:tav tm="0">
                                          <p:val>
                                            <p:fltVal val="90"/>
                                          </p:val>
                                        </p:tav>
                                        <p:tav tm="100000">
                                          <p:val>
                                            <p:fltVal val="0"/>
                                          </p:val>
                                        </p:tav>
                                      </p:tavLst>
                                    </p:anim>
                                    <p:animEffect transition="in" filter="fade">
                                      <p:cBhvr>
                                        <p:cTn id="39" dur="1000"/>
                                        <p:tgtEl>
                                          <p:spTgt spid="7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62"/>
                                        </p:tgtEl>
                                        <p:attrNameLst>
                                          <p:attrName>style.visibility</p:attrName>
                                        </p:attrNameLst>
                                      </p:cBhvr>
                                      <p:to>
                                        <p:strVal val="visible"/>
                                      </p:to>
                                    </p:set>
                                    <p:animEffect transition="in" filter="wipe(up)">
                                      <p:cBhvr>
                                        <p:cTn id="44" dur="500"/>
                                        <p:tgtEl>
                                          <p:spTgt spid="6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72"/>
                                        </p:tgtEl>
                                        <p:attrNameLst>
                                          <p:attrName>style.visibility</p:attrName>
                                        </p:attrNameLst>
                                      </p:cBhvr>
                                      <p:to>
                                        <p:strVal val="visible"/>
                                      </p:to>
                                    </p:set>
                                    <p:animEffect transition="in" filter="wipe(left)">
                                      <p:cBhvr>
                                        <p:cTn id="49" dur="500"/>
                                        <p:tgtEl>
                                          <p:spTgt spid="72"/>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54"/>
                                        </p:tgtEl>
                                        <p:attrNameLst>
                                          <p:attrName>style.visibility</p:attrName>
                                        </p:attrNameLst>
                                      </p:cBhvr>
                                      <p:to>
                                        <p:strVal val="visible"/>
                                      </p:to>
                                    </p:set>
                                    <p:animEffect transition="in" filter="wipe(left)">
                                      <p:cBhvr>
                                        <p:cTn id="53" dur="500"/>
                                        <p:tgtEl>
                                          <p:spTgt spid="54"/>
                                        </p:tgtEl>
                                      </p:cBhvr>
                                    </p:animEffect>
                                  </p:childTnLst>
                                </p:cTn>
                              </p:par>
                            </p:childTnLst>
                          </p:cTn>
                        </p:par>
                        <p:par>
                          <p:cTn id="54" fill="hold">
                            <p:stCondLst>
                              <p:cond delay="1000"/>
                            </p:stCondLst>
                            <p:childTnLst>
                              <p:par>
                                <p:cTn id="55" presetID="10" presetClass="entr" presetSubtype="0" fill="hold" grpId="0" nodeType="afterEffect">
                                  <p:stCondLst>
                                    <p:cond delay="0"/>
                                  </p:stCondLst>
                                  <p:childTnLst>
                                    <p:set>
                                      <p:cBhvr>
                                        <p:cTn id="56" dur="1" fill="hold">
                                          <p:stCondLst>
                                            <p:cond delay="0"/>
                                          </p:stCondLst>
                                        </p:cTn>
                                        <p:tgtEl>
                                          <p:spTgt spid="55"/>
                                        </p:tgtEl>
                                        <p:attrNameLst>
                                          <p:attrName>style.visibility</p:attrName>
                                        </p:attrNameLst>
                                      </p:cBhvr>
                                      <p:to>
                                        <p:strVal val="visible"/>
                                      </p:to>
                                    </p:set>
                                    <p:animEffect transition="in" filter="fade">
                                      <p:cBhvr>
                                        <p:cTn id="57" dur="500"/>
                                        <p:tgtEl>
                                          <p:spTgt spid="5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fade">
                                      <p:cBhvr>
                                        <p:cTn id="60" dur="500"/>
                                        <p:tgtEl>
                                          <p:spTgt spid="5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fade">
                                      <p:cBhvr>
                                        <p:cTn id="63" dur="500"/>
                                        <p:tgtEl>
                                          <p:spTgt spid="5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0"/>
                                        </p:tgtEl>
                                        <p:attrNameLst>
                                          <p:attrName>style.visibility</p:attrName>
                                        </p:attrNameLst>
                                      </p:cBhvr>
                                      <p:to>
                                        <p:strVal val="visible"/>
                                      </p:to>
                                    </p:set>
                                    <p:animEffect transition="in" filter="fade">
                                      <p:cBhvr>
                                        <p:cTn id="66" dur="500"/>
                                        <p:tgtEl>
                                          <p:spTgt spid="6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fade">
                                      <p:cBhvr>
                                        <p:cTn id="69" dur="500"/>
                                        <p:tgtEl>
                                          <p:spTgt spid="61"/>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57"/>
                                        </p:tgtEl>
                                        <p:attrNameLst>
                                          <p:attrName>style.visibility</p:attrName>
                                        </p:attrNameLst>
                                      </p:cBhvr>
                                      <p:to>
                                        <p:strVal val="visible"/>
                                      </p:to>
                                    </p:set>
                                    <p:animEffect transition="in" filter="wipe(left)">
                                      <p:cBhvr>
                                        <p:cTn id="73" dur="500"/>
                                        <p:tgtEl>
                                          <p:spTgt spid="57"/>
                                        </p:tgtEl>
                                      </p:cBhvr>
                                    </p:animEffect>
                                  </p:childTnLst>
                                </p:cTn>
                              </p:par>
                            </p:childTnLst>
                          </p:cTn>
                        </p:par>
                      </p:childTnLst>
                    </p:cTn>
                  </p:par>
                  <p:par>
                    <p:cTn id="74" fill="hold">
                      <p:stCondLst>
                        <p:cond delay="indefinite"/>
                      </p:stCondLst>
                      <p:childTnLst>
                        <p:par>
                          <p:cTn id="75" fill="hold">
                            <p:stCondLst>
                              <p:cond delay="0"/>
                            </p:stCondLst>
                            <p:childTnLst>
                              <p:par>
                                <p:cTn id="76" presetID="31" presetClass="entr" presetSubtype="0" fill="hold" grpId="0" nodeType="clickEffect">
                                  <p:stCondLst>
                                    <p:cond delay="0"/>
                                  </p:stCondLst>
                                  <p:childTnLst>
                                    <p:set>
                                      <p:cBhvr>
                                        <p:cTn id="77" dur="1" fill="hold">
                                          <p:stCondLst>
                                            <p:cond delay="0"/>
                                          </p:stCondLst>
                                        </p:cTn>
                                        <p:tgtEl>
                                          <p:spTgt spid="70"/>
                                        </p:tgtEl>
                                        <p:attrNameLst>
                                          <p:attrName>style.visibility</p:attrName>
                                        </p:attrNameLst>
                                      </p:cBhvr>
                                      <p:to>
                                        <p:strVal val="visible"/>
                                      </p:to>
                                    </p:set>
                                    <p:anim calcmode="lin" valueType="num">
                                      <p:cBhvr>
                                        <p:cTn id="78" dur="1000" fill="hold"/>
                                        <p:tgtEl>
                                          <p:spTgt spid="70"/>
                                        </p:tgtEl>
                                        <p:attrNameLst>
                                          <p:attrName>ppt_w</p:attrName>
                                        </p:attrNameLst>
                                      </p:cBhvr>
                                      <p:tavLst>
                                        <p:tav tm="0">
                                          <p:val>
                                            <p:fltVal val="0"/>
                                          </p:val>
                                        </p:tav>
                                        <p:tav tm="100000">
                                          <p:val>
                                            <p:strVal val="#ppt_w"/>
                                          </p:val>
                                        </p:tav>
                                      </p:tavLst>
                                    </p:anim>
                                    <p:anim calcmode="lin" valueType="num">
                                      <p:cBhvr>
                                        <p:cTn id="79" dur="1000" fill="hold"/>
                                        <p:tgtEl>
                                          <p:spTgt spid="70"/>
                                        </p:tgtEl>
                                        <p:attrNameLst>
                                          <p:attrName>ppt_h</p:attrName>
                                        </p:attrNameLst>
                                      </p:cBhvr>
                                      <p:tavLst>
                                        <p:tav tm="0">
                                          <p:val>
                                            <p:fltVal val="0"/>
                                          </p:val>
                                        </p:tav>
                                        <p:tav tm="100000">
                                          <p:val>
                                            <p:strVal val="#ppt_h"/>
                                          </p:val>
                                        </p:tav>
                                      </p:tavLst>
                                    </p:anim>
                                    <p:anim calcmode="lin" valueType="num">
                                      <p:cBhvr>
                                        <p:cTn id="80" dur="1000" fill="hold"/>
                                        <p:tgtEl>
                                          <p:spTgt spid="70"/>
                                        </p:tgtEl>
                                        <p:attrNameLst>
                                          <p:attrName>style.rotation</p:attrName>
                                        </p:attrNameLst>
                                      </p:cBhvr>
                                      <p:tavLst>
                                        <p:tav tm="0">
                                          <p:val>
                                            <p:fltVal val="90"/>
                                          </p:val>
                                        </p:tav>
                                        <p:tav tm="100000">
                                          <p:val>
                                            <p:fltVal val="0"/>
                                          </p:val>
                                        </p:tav>
                                      </p:tavLst>
                                    </p:anim>
                                    <p:animEffect transition="in" filter="fade">
                                      <p:cBhvr>
                                        <p:cTn id="81" dur="1000"/>
                                        <p:tgtEl>
                                          <p:spTgt spid="70"/>
                                        </p:tgtEl>
                                      </p:cBhvr>
                                    </p:animEffect>
                                  </p:childTnLst>
                                </p:cTn>
                              </p:par>
                            </p:childTnLst>
                          </p:cTn>
                        </p:par>
                      </p:childTnLst>
                    </p:cTn>
                  </p:par>
                  <p:par>
                    <p:cTn id="82" fill="hold">
                      <p:stCondLst>
                        <p:cond delay="indefinite"/>
                      </p:stCondLst>
                      <p:childTnLst>
                        <p:par>
                          <p:cTn id="83" fill="hold">
                            <p:stCondLst>
                              <p:cond delay="0"/>
                            </p:stCondLst>
                            <p:childTnLst>
                              <p:par>
                                <p:cTn id="84" presetID="31" presetClass="entr" presetSubtype="0" fill="hold" grpId="0" nodeType="clickEffect">
                                  <p:stCondLst>
                                    <p:cond delay="0"/>
                                  </p:stCondLst>
                                  <p:childTnLst>
                                    <p:set>
                                      <p:cBhvr>
                                        <p:cTn id="85" dur="1" fill="hold">
                                          <p:stCondLst>
                                            <p:cond delay="0"/>
                                          </p:stCondLst>
                                        </p:cTn>
                                        <p:tgtEl>
                                          <p:spTgt spid="71"/>
                                        </p:tgtEl>
                                        <p:attrNameLst>
                                          <p:attrName>style.visibility</p:attrName>
                                        </p:attrNameLst>
                                      </p:cBhvr>
                                      <p:to>
                                        <p:strVal val="visible"/>
                                      </p:to>
                                    </p:set>
                                    <p:anim calcmode="lin" valueType="num">
                                      <p:cBhvr>
                                        <p:cTn id="86" dur="1000" fill="hold"/>
                                        <p:tgtEl>
                                          <p:spTgt spid="71"/>
                                        </p:tgtEl>
                                        <p:attrNameLst>
                                          <p:attrName>ppt_w</p:attrName>
                                        </p:attrNameLst>
                                      </p:cBhvr>
                                      <p:tavLst>
                                        <p:tav tm="0">
                                          <p:val>
                                            <p:fltVal val="0"/>
                                          </p:val>
                                        </p:tav>
                                        <p:tav tm="100000">
                                          <p:val>
                                            <p:strVal val="#ppt_w"/>
                                          </p:val>
                                        </p:tav>
                                      </p:tavLst>
                                    </p:anim>
                                    <p:anim calcmode="lin" valueType="num">
                                      <p:cBhvr>
                                        <p:cTn id="87" dur="1000" fill="hold"/>
                                        <p:tgtEl>
                                          <p:spTgt spid="71"/>
                                        </p:tgtEl>
                                        <p:attrNameLst>
                                          <p:attrName>ppt_h</p:attrName>
                                        </p:attrNameLst>
                                      </p:cBhvr>
                                      <p:tavLst>
                                        <p:tav tm="0">
                                          <p:val>
                                            <p:fltVal val="0"/>
                                          </p:val>
                                        </p:tav>
                                        <p:tav tm="100000">
                                          <p:val>
                                            <p:strVal val="#ppt_h"/>
                                          </p:val>
                                        </p:tav>
                                      </p:tavLst>
                                    </p:anim>
                                    <p:anim calcmode="lin" valueType="num">
                                      <p:cBhvr>
                                        <p:cTn id="88" dur="1000" fill="hold"/>
                                        <p:tgtEl>
                                          <p:spTgt spid="71"/>
                                        </p:tgtEl>
                                        <p:attrNameLst>
                                          <p:attrName>style.rotation</p:attrName>
                                        </p:attrNameLst>
                                      </p:cBhvr>
                                      <p:tavLst>
                                        <p:tav tm="0">
                                          <p:val>
                                            <p:fltVal val="90"/>
                                          </p:val>
                                        </p:tav>
                                        <p:tav tm="100000">
                                          <p:val>
                                            <p:fltVal val="0"/>
                                          </p:val>
                                        </p:tav>
                                      </p:tavLst>
                                    </p:anim>
                                    <p:animEffect transition="in" filter="fade">
                                      <p:cBhvr>
                                        <p:cTn id="89" dur="1000"/>
                                        <p:tgtEl>
                                          <p:spTgt spid="71"/>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grpId="0" nodeType="clickEffect">
                                  <p:stCondLst>
                                    <p:cond delay="0"/>
                                  </p:stCondLst>
                                  <p:childTnLst>
                                    <p:set>
                                      <p:cBhvr>
                                        <p:cTn id="93" dur="1" fill="hold">
                                          <p:stCondLst>
                                            <p:cond delay="0"/>
                                          </p:stCondLst>
                                        </p:cTn>
                                        <p:tgtEl>
                                          <p:spTgt spid="73"/>
                                        </p:tgtEl>
                                        <p:attrNameLst>
                                          <p:attrName>style.visibility</p:attrName>
                                        </p:attrNameLst>
                                      </p:cBhvr>
                                      <p:to>
                                        <p:strVal val="visible"/>
                                      </p:to>
                                    </p:set>
                                    <p:animEffect transition="in" filter="wipe(up)">
                                      <p:cBhvr>
                                        <p:cTn id="94" dur="500"/>
                                        <p:tgtEl>
                                          <p:spTgt spid="73"/>
                                        </p:tgtEl>
                                      </p:cBhvr>
                                    </p:animEffect>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nodeType="clickEffect">
                                  <p:stCondLst>
                                    <p:cond delay="0"/>
                                  </p:stCondLst>
                                  <p:childTnLst>
                                    <p:set>
                                      <p:cBhvr>
                                        <p:cTn id="98" dur="1" fill="hold">
                                          <p:stCondLst>
                                            <p:cond delay="0"/>
                                          </p:stCondLst>
                                        </p:cTn>
                                        <p:tgtEl>
                                          <p:spTgt spid="53">
                                            <p:txEl>
                                              <p:pRg st="1" end="1"/>
                                            </p:txEl>
                                          </p:spTgt>
                                        </p:tgtEl>
                                        <p:attrNameLst>
                                          <p:attrName>style.visibility</p:attrName>
                                        </p:attrNameLst>
                                      </p:cBhvr>
                                      <p:to>
                                        <p:strVal val="visible"/>
                                      </p:to>
                                    </p:set>
                                    <p:animEffect transition="in" filter="fade">
                                      <p:cBhvr>
                                        <p:cTn id="99" dur="1000"/>
                                        <p:tgtEl>
                                          <p:spTgt spid="53">
                                            <p:txEl>
                                              <p:pRg st="1" end="1"/>
                                            </p:txEl>
                                          </p:spTgt>
                                        </p:tgtEl>
                                      </p:cBhvr>
                                    </p:animEffect>
                                    <p:anim calcmode="lin" valueType="num">
                                      <p:cBhvr>
                                        <p:cTn id="100" dur="1000" fill="hold"/>
                                        <p:tgtEl>
                                          <p:spTgt spid="53">
                                            <p:txEl>
                                              <p:pRg st="1" end="1"/>
                                            </p:txEl>
                                          </p:spTgt>
                                        </p:tgtEl>
                                        <p:attrNameLst>
                                          <p:attrName>ppt_x</p:attrName>
                                        </p:attrNameLst>
                                      </p:cBhvr>
                                      <p:tavLst>
                                        <p:tav tm="0">
                                          <p:val>
                                            <p:strVal val="#ppt_x"/>
                                          </p:val>
                                        </p:tav>
                                        <p:tav tm="100000">
                                          <p:val>
                                            <p:strVal val="#ppt_x"/>
                                          </p:val>
                                        </p:tav>
                                      </p:tavLst>
                                    </p:anim>
                                    <p:anim calcmode="lin" valueType="num">
                                      <p:cBhvr>
                                        <p:cTn id="101" dur="1000" fill="hold"/>
                                        <p:tgtEl>
                                          <p:spTgt spid="5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58"/>
                                        </p:tgtEl>
                                        <p:attrNameLst>
                                          <p:attrName>style.visibility</p:attrName>
                                        </p:attrNameLst>
                                      </p:cBhvr>
                                      <p:to>
                                        <p:strVal val="visible"/>
                                      </p:to>
                                    </p:set>
                                    <p:animEffect transition="in" filter="wipe(left)">
                                      <p:cBhvr>
                                        <p:cTn id="10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56" grpId="0" animBg="1"/>
      <p:bldP spid="57" grpId="0"/>
      <p:bldP spid="58" grpId="0"/>
      <p:bldP spid="59" grpId="0" animBg="1"/>
      <p:bldP spid="60" grpId="0" animBg="1"/>
      <p:bldP spid="61" grpId="0" animBg="1"/>
      <p:bldP spid="70" grpId="0"/>
      <p:bldP spid="71" grpId="0"/>
      <p:bldP spid="7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5C415A87-5E1F-4F65-859D-0C7BA4584586}"/>
              </a:ext>
            </a:extLst>
          </p:cNvPr>
          <p:cNvSpPr txBox="1">
            <a:spLocks noChangeArrowheads="1"/>
          </p:cNvSpPr>
          <p:nvPr/>
        </p:nvSpPr>
        <p:spPr bwMode="auto">
          <a:xfrm>
            <a:off x="238672" y="811146"/>
            <a:ext cx="11689976"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200" b="1" dirty="0">
                <a:latin typeface="Courier New" panose="02070309020205020404" pitchFamily="49" charset="0"/>
                <a:cs typeface="Courier New" panose="02070309020205020404" pitchFamily="49" charset="0"/>
              </a:rPr>
              <a:t> </a:t>
            </a:r>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Status</a:t>
            </a: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ListInsert</a:t>
            </a:r>
            <a:r>
              <a:rPr lang="en-US" altLang="zh-CN" sz="2200" b="1" dirty="0">
                <a:latin typeface="Courier New" panose="02070309020205020404" pitchFamily="49" charset="0"/>
                <a:cs typeface="Courier New" panose="02070309020205020404" pitchFamily="49" charset="0"/>
              </a:rPr>
              <a:t>(</a:t>
            </a:r>
            <a:r>
              <a:rPr lang="en-US" altLang="zh-CN" sz="2200" b="1" dirty="0" err="1">
                <a:latin typeface="Courier New" panose="02070309020205020404" pitchFamily="49" charset="0"/>
                <a:cs typeface="Courier New" panose="02070309020205020404" pitchFamily="49" charset="0"/>
              </a:rPr>
              <a:t>SqList</a:t>
            </a:r>
            <a:r>
              <a:rPr lang="en-US" altLang="zh-CN" sz="2200" b="1" dirty="0">
                <a:latin typeface="Courier New" panose="02070309020205020404" pitchFamily="49" charset="0"/>
                <a:cs typeface="Courier New" panose="02070309020205020404" pitchFamily="49" charset="0"/>
              </a:rPr>
              <a:t> L, </a:t>
            </a:r>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i</a:t>
            </a: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ElemType</a:t>
            </a:r>
            <a:r>
              <a:rPr lang="en-US" altLang="zh-CN" sz="2200" b="1" dirty="0">
                <a:latin typeface="Courier New" panose="02070309020205020404" pitchFamily="49" charset="0"/>
                <a:cs typeface="Courier New" panose="02070309020205020404" pitchFamily="49" charset="0"/>
              </a:rPr>
              <a:t> e) </a:t>
            </a:r>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2200" b="1" dirty="0">
                <a:latin typeface="Courier New" panose="02070309020205020404" pitchFamily="49" charset="0"/>
                <a:cs typeface="Courier New" panose="02070309020205020404" pitchFamily="49" charset="0"/>
              </a:rPr>
              <a:t>    </a:t>
            </a:r>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2200" b="1" dirty="0">
                <a:latin typeface="Courier New" panose="02070309020205020404" pitchFamily="49" charset="0"/>
                <a:cs typeface="Courier New" panose="02070309020205020404" pitchFamily="49" charset="0"/>
              </a:rPr>
              <a:t> (!L || </a:t>
            </a:r>
            <a:r>
              <a:rPr lang="en-US" altLang="zh-CN" sz="2200" b="1" dirty="0" err="1">
                <a:latin typeface="Courier New" panose="02070309020205020404" pitchFamily="49" charset="0"/>
                <a:cs typeface="Courier New" panose="02070309020205020404" pitchFamily="49" charset="0"/>
              </a:rPr>
              <a:t>i</a:t>
            </a:r>
            <a:r>
              <a:rPr lang="en-US" altLang="zh-CN" sz="2200" b="1" dirty="0">
                <a:latin typeface="Courier New" panose="02070309020205020404" pitchFamily="49" charset="0"/>
                <a:cs typeface="Courier New" panose="02070309020205020404" pitchFamily="49" charset="0"/>
              </a:rPr>
              <a:t>&lt;1 </a:t>
            </a:r>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2200" b="1" dirty="0">
                <a:latin typeface="Courier New" panose="02070309020205020404" pitchFamily="49" charset="0"/>
                <a:cs typeface="Courier New" panose="02070309020205020404" pitchFamily="49" charset="0"/>
              </a:rPr>
              <a:t> </a:t>
            </a:r>
            <a:r>
              <a:rPr lang="en-US" altLang="zh-CN" sz="2200" b="1" dirty="0" err="1">
                <a:latin typeface="Courier New" panose="02070309020205020404" pitchFamily="49" charset="0"/>
                <a:cs typeface="Courier New" panose="02070309020205020404" pitchFamily="49" charset="0"/>
              </a:rPr>
              <a:t>i</a:t>
            </a:r>
            <a:r>
              <a:rPr lang="en-US" altLang="zh-CN" sz="2200" b="1" dirty="0">
                <a:latin typeface="Courier New" panose="02070309020205020404" pitchFamily="49" charset="0"/>
                <a:cs typeface="Courier New" panose="02070309020205020404" pitchFamily="49" charset="0"/>
              </a:rPr>
              <a:t>&gt;L-&gt;</a:t>
            </a:r>
            <a:r>
              <a:rPr lang="en-US" altLang="zh-CN" sz="2200" b="1" dirty="0" err="1">
                <a:latin typeface="Courier New" panose="02070309020205020404" pitchFamily="49" charset="0"/>
                <a:cs typeface="Courier New" panose="02070309020205020404" pitchFamily="49" charset="0"/>
              </a:rPr>
              <a:t>len+1</a:t>
            </a:r>
            <a:r>
              <a:rPr lang="en-US" altLang="zh-CN" sz="2200" b="1" dirty="0">
                <a:latin typeface="Courier New" panose="02070309020205020404" pitchFamily="49" charset="0"/>
                <a:cs typeface="Courier New" panose="02070309020205020404" pitchFamily="49" charset="0"/>
              </a:rPr>
              <a:t>) </a:t>
            </a:r>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2200" b="1" dirty="0">
                <a:latin typeface="Courier New" panose="02070309020205020404" pitchFamily="49" charset="0"/>
                <a:cs typeface="Courier New" panose="02070309020205020404" pitchFamily="49" charset="0"/>
              </a:rPr>
              <a:t> ERROR; </a:t>
            </a:r>
            <a:r>
              <a:rPr lang="en-US" altLang="zh-CN" sz="2200" dirty="0">
                <a:solidFill>
                  <a:srgbClr val="0070C0"/>
                </a:solidFill>
                <a:latin typeface="Courier New" panose="02070309020205020404" pitchFamily="49" charset="0"/>
                <a:ea typeface="黑体" panose="02010609060101010101" pitchFamily="49" charset="-122"/>
                <a:cs typeface="Courier New" panose="02070309020205020404" pitchFamily="49" charset="0"/>
              </a:rPr>
              <a:t>// </a:t>
            </a:r>
            <a:r>
              <a:rPr lang="zh-CN" altLang="en-US" sz="2200" dirty="0">
                <a:solidFill>
                  <a:srgbClr val="0070C0"/>
                </a:solidFill>
                <a:latin typeface="Courier New" panose="02070309020205020404" pitchFamily="49" charset="0"/>
                <a:ea typeface="黑体" panose="02010609060101010101" pitchFamily="49" charset="-122"/>
                <a:cs typeface="Courier New" panose="02070309020205020404" pitchFamily="49" charset="0"/>
              </a:rPr>
              <a:t>若插入位置不合法，报错</a:t>
            </a:r>
          </a:p>
          <a:p>
            <a:r>
              <a:rPr lang="zh-CN" altLang="en-US" sz="2200" b="1" dirty="0">
                <a:latin typeface="Courier New" panose="02070309020205020404" pitchFamily="49" charset="0"/>
                <a:cs typeface="Courier New" panose="02070309020205020404" pitchFamily="49" charset="0"/>
              </a:rPr>
              <a:t>    </a:t>
            </a:r>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 </a:t>
            </a:r>
            <a:r>
              <a:rPr lang="en-US" altLang="zh-CN" sz="2200" b="1" dirty="0">
                <a:latin typeface="Courier New" panose="02070309020205020404" pitchFamily="49" charset="0"/>
                <a:cs typeface="Courier New" panose="02070309020205020404" pitchFamily="49" charset="0"/>
              </a:rPr>
              <a:t>(L-&gt;</a:t>
            </a:r>
            <a:r>
              <a:rPr lang="en-US" altLang="zh-CN" sz="2200" b="1" dirty="0" err="1">
                <a:latin typeface="Courier New" panose="02070309020205020404" pitchFamily="49" charset="0"/>
                <a:cs typeface="Courier New" panose="02070309020205020404" pitchFamily="49" charset="0"/>
              </a:rPr>
              <a:t>len</a:t>
            </a:r>
            <a:r>
              <a:rPr lang="en-US" altLang="zh-CN" sz="2200" b="1" dirty="0">
                <a:latin typeface="Courier New" panose="02070309020205020404" pitchFamily="49" charset="0"/>
                <a:cs typeface="Courier New" panose="02070309020205020404" pitchFamily="49" charset="0"/>
              </a:rPr>
              <a:t> &gt;= L-&gt;size) </a:t>
            </a:r>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2200" b="1" dirty="0">
                <a:latin typeface="Courier New" panose="02070309020205020404" pitchFamily="49" charset="0"/>
                <a:cs typeface="Courier New" panose="02070309020205020404" pitchFamily="49" charset="0"/>
              </a:rPr>
              <a:t>          </a:t>
            </a:r>
            <a:r>
              <a:rPr lang="en-US" altLang="zh-CN" sz="2200" dirty="0">
                <a:solidFill>
                  <a:srgbClr val="0070C0"/>
                </a:solidFill>
                <a:latin typeface="Courier New" panose="02070309020205020404" pitchFamily="49" charset="0"/>
                <a:ea typeface="黑体" panose="02010609060101010101" pitchFamily="49" charset="-122"/>
                <a:cs typeface="Courier New" panose="02070309020205020404" pitchFamily="49" charset="0"/>
              </a:rPr>
              <a:t>// </a:t>
            </a:r>
            <a:r>
              <a:rPr lang="zh-CN" altLang="en-US" sz="2200" dirty="0">
                <a:solidFill>
                  <a:srgbClr val="0070C0"/>
                </a:solidFill>
                <a:latin typeface="Courier New" panose="02070309020205020404" pitchFamily="49" charset="0"/>
                <a:ea typeface="黑体" panose="02010609060101010101" pitchFamily="49" charset="-122"/>
                <a:cs typeface="Courier New" panose="02070309020205020404" pitchFamily="49" charset="0"/>
              </a:rPr>
              <a:t>若当前存储空间已满，则增加空间</a:t>
            </a:r>
          </a:p>
          <a:p>
            <a:r>
              <a:rPr lang="zh-CN" altLang="en-US" sz="2200" b="1" dirty="0">
                <a:latin typeface="Courier New" panose="02070309020205020404" pitchFamily="49" charset="0"/>
                <a:cs typeface="Courier New" panose="02070309020205020404" pitchFamily="49" charset="0"/>
              </a:rPr>
              <a:t>       </a:t>
            </a:r>
            <a:r>
              <a:rPr lang="en-US" altLang="zh-CN" sz="2200" b="1" dirty="0">
                <a:latin typeface="Courier New" panose="02070309020205020404" pitchFamily="49" charset="0"/>
                <a:cs typeface="Courier New" panose="02070309020205020404" pitchFamily="49" charset="0"/>
              </a:rPr>
              <a:t>L-&gt;</a:t>
            </a:r>
            <a:r>
              <a:rPr lang="en-US" altLang="zh-CN" sz="2200" b="1" dirty="0" err="1">
                <a:latin typeface="Courier New" panose="02070309020205020404" pitchFamily="49" charset="0"/>
                <a:cs typeface="Courier New" panose="02070309020205020404" pitchFamily="49" charset="0"/>
              </a:rPr>
              <a:t>elem</a:t>
            </a:r>
            <a:r>
              <a:rPr lang="en-US" altLang="zh-CN" sz="2200" b="1" dirty="0">
                <a:latin typeface="Courier New" panose="02070309020205020404" pitchFamily="49" charset="0"/>
                <a:cs typeface="Courier New" panose="02070309020205020404" pitchFamily="49" charset="0"/>
              </a:rPr>
              <a:t> = (</a:t>
            </a:r>
            <a:r>
              <a:rPr lang="en-US" altLang="zh-CN" sz="2200" b="1" dirty="0" err="1">
                <a:latin typeface="Courier New" panose="02070309020205020404" pitchFamily="49" charset="0"/>
                <a:cs typeface="Courier New" panose="02070309020205020404" pitchFamily="49" charset="0"/>
              </a:rPr>
              <a:t>ElemType</a:t>
            </a:r>
            <a:r>
              <a:rPr lang="en-US" altLang="zh-CN" sz="2200" b="1" dirty="0">
                <a:latin typeface="Courier New" panose="02070309020205020404" pitchFamily="49" charset="0"/>
                <a:cs typeface="Courier New" panose="02070309020205020404" pitchFamily="49" charset="0"/>
              </a:rPr>
              <a:t>*)</a:t>
            </a:r>
            <a:r>
              <a:rPr lang="en-US" altLang="zh-CN" sz="22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realloc</a:t>
            </a:r>
            <a:r>
              <a:rPr lang="en-US" altLang="zh-CN" sz="2200" b="1" dirty="0">
                <a:latin typeface="Courier New" panose="02070309020205020404" pitchFamily="49" charset="0"/>
                <a:cs typeface="Courier New" panose="02070309020205020404" pitchFamily="49" charset="0"/>
              </a:rPr>
              <a:t>(L-&gt;</a:t>
            </a:r>
            <a:r>
              <a:rPr lang="en-US" altLang="zh-CN" sz="2200" b="1" dirty="0" err="1">
                <a:latin typeface="Courier New" panose="02070309020205020404" pitchFamily="49" charset="0"/>
                <a:cs typeface="Courier New" panose="02070309020205020404" pitchFamily="49" charset="0"/>
              </a:rPr>
              <a:t>elem</a:t>
            </a:r>
            <a:r>
              <a:rPr lang="en-US" altLang="zh-CN" sz="2200" b="1" dirty="0">
                <a:latin typeface="Courier New" panose="02070309020205020404" pitchFamily="49" charset="0"/>
                <a:cs typeface="Courier New" panose="02070309020205020404" pitchFamily="49" charset="0"/>
              </a:rPr>
              <a:t>,                                     </a:t>
            </a:r>
          </a:p>
          <a:p>
            <a:r>
              <a:rPr lang="en-US" altLang="zh-CN" sz="2200" b="1" dirty="0">
                <a:latin typeface="Courier New" panose="02070309020205020404" pitchFamily="49" charset="0"/>
                <a:cs typeface="Courier New" panose="02070309020205020404" pitchFamily="49" charset="0"/>
              </a:rPr>
              <a:t>                   (L-&gt;size + L-&gt;</a:t>
            </a:r>
            <a:r>
              <a:rPr lang="en-US" altLang="zh-CN" sz="2200" b="1" dirty="0" err="1">
                <a:latin typeface="Courier New" panose="02070309020205020404" pitchFamily="49" charset="0"/>
                <a:cs typeface="Courier New" panose="02070309020205020404" pitchFamily="49" charset="0"/>
              </a:rPr>
              <a:t>inc</a:t>
            </a:r>
            <a:r>
              <a:rPr lang="en-US" altLang="zh-CN" sz="2200" b="1" dirty="0">
                <a:latin typeface="Courier New" panose="02070309020205020404" pitchFamily="49" charset="0"/>
                <a:cs typeface="Courier New" panose="02070309020205020404" pitchFamily="49" charset="0"/>
              </a:rPr>
              <a:t>)*</a:t>
            </a:r>
            <a:r>
              <a:rPr lang="en-US" altLang="zh-CN" sz="22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2200" b="1" dirty="0">
                <a:latin typeface="Courier New" panose="02070309020205020404" pitchFamily="49" charset="0"/>
                <a:cs typeface="Courier New" panose="02070309020205020404" pitchFamily="49" charset="0"/>
              </a:rPr>
              <a:t>(</a:t>
            </a:r>
            <a:r>
              <a:rPr lang="en-US" altLang="zh-CN" sz="2200" b="1" dirty="0" err="1">
                <a:latin typeface="Courier New" panose="02070309020205020404" pitchFamily="49" charset="0"/>
                <a:cs typeface="Courier New" panose="02070309020205020404" pitchFamily="49" charset="0"/>
              </a:rPr>
              <a:t>ElemType</a:t>
            </a:r>
            <a:r>
              <a:rPr lang="en-US" altLang="zh-CN" sz="2200" b="1" dirty="0">
                <a:latin typeface="Courier New" panose="02070309020205020404" pitchFamily="49" charset="0"/>
                <a:cs typeface="Courier New" panose="02070309020205020404" pitchFamily="49" charset="0"/>
              </a:rPr>
              <a:t>));</a:t>
            </a:r>
          </a:p>
          <a:p>
            <a:r>
              <a:rPr lang="en-US" altLang="zh-CN" sz="2200" b="1" dirty="0">
                <a:latin typeface="Courier New" panose="02070309020205020404" pitchFamily="49" charset="0"/>
                <a:cs typeface="Courier New" panose="02070309020205020404" pitchFamily="49" charset="0"/>
              </a:rPr>
              <a:t>       </a:t>
            </a:r>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 </a:t>
            </a:r>
            <a:r>
              <a:rPr lang="en-US" altLang="zh-CN" sz="2200" b="1" dirty="0">
                <a:latin typeface="Courier New" panose="02070309020205020404" pitchFamily="49" charset="0"/>
                <a:cs typeface="Courier New" panose="02070309020205020404" pitchFamily="49" charset="0"/>
              </a:rPr>
              <a:t>(</a:t>
            </a:r>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2200" b="1" dirty="0">
                <a:latin typeface="Courier New" panose="02070309020205020404" pitchFamily="49" charset="0"/>
                <a:cs typeface="Courier New" panose="02070309020205020404" pitchFamily="49" charset="0"/>
              </a:rPr>
              <a:t>L-&gt;</a:t>
            </a:r>
            <a:r>
              <a:rPr lang="en-US" altLang="zh-CN" sz="2200" b="1" dirty="0" err="1">
                <a:latin typeface="Courier New" panose="02070309020205020404" pitchFamily="49" charset="0"/>
                <a:cs typeface="Courier New" panose="02070309020205020404" pitchFamily="49" charset="0"/>
              </a:rPr>
              <a:t>elem</a:t>
            </a:r>
            <a:r>
              <a:rPr lang="en-US" altLang="zh-CN" sz="2200" b="1" dirty="0">
                <a:latin typeface="Courier New" panose="02070309020205020404" pitchFamily="49" charset="0"/>
                <a:cs typeface="Courier New" panose="02070309020205020404" pitchFamily="49" charset="0"/>
              </a:rPr>
              <a:t>) </a:t>
            </a:r>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2200" b="1" dirty="0">
                <a:latin typeface="Courier New" panose="02070309020205020404" pitchFamily="49" charset="0"/>
                <a:cs typeface="Courier New" panose="02070309020205020404" pitchFamily="49" charset="0"/>
              </a:rPr>
              <a:t>(OVERFLOW);  </a:t>
            </a:r>
            <a:r>
              <a:rPr lang="en-US" altLang="zh-CN" sz="2200" dirty="0">
                <a:solidFill>
                  <a:srgbClr val="0070C0"/>
                </a:solidFill>
                <a:latin typeface="Courier New" panose="02070309020205020404" pitchFamily="49" charset="0"/>
                <a:ea typeface="黑体" panose="02010609060101010101" pitchFamily="49" charset="-122"/>
                <a:cs typeface="Courier New" panose="02070309020205020404" pitchFamily="49" charset="0"/>
              </a:rPr>
              <a:t>// </a:t>
            </a:r>
            <a:r>
              <a:rPr lang="zh-CN" altLang="en-US" sz="2200" dirty="0">
                <a:solidFill>
                  <a:srgbClr val="0070C0"/>
                </a:solidFill>
                <a:latin typeface="Courier New" panose="02070309020205020404" pitchFamily="49" charset="0"/>
                <a:ea typeface="黑体" panose="02010609060101010101" pitchFamily="49" charset="-122"/>
                <a:cs typeface="Courier New" panose="02070309020205020404" pitchFamily="49" charset="0"/>
              </a:rPr>
              <a:t>若存储分配失败，报错</a:t>
            </a:r>
          </a:p>
          <a:p>
            <a:r>
              <a:rPr lang="en-US" altLang="zh-CN" sz="2200" b="1" dirty="0">
                <a:latin typeface="Courier New" panose="02070309020205020404" pitchFamily="49" charset="0"/>
                <a:cs typeface="Courier New" panose="02070309020205020404" pitchFamily="49" charset="0"/>
              </a:rPr>
              <a:t>       L-&gt;size += L-&gt;</a:t>
            </a:r>
            <a:r>
              <a:rPr lang="en-US" altLang="zh-CN" sz="2200" b="1" dirty="0" err="1">
                <a:latin typeface="Courier New" panose="02070309020205020404" pitchFamily="49" charset="0"/>
                <a:cs typeface="Courier New" panose="02070309020205020404" pitchFamily="49" charset="0"/>
              </a:rPr>
              <a:t>inc</a:t>
            </a:r>
            <a:r>
              <a:rPr lang="en-US" altLang="zh-CN" sz="2200" b="1" dirty="0">
                <a:latin typeface="Courier New" panose="02070309020205020404" pitchFamily="49" charset="0"/>
                <a:cs typeface="Courier New" panose="02070309020205020404" pitchFamily="49" charset="0"/>
              </a:rPr>
              <a:t>;             </a:t>
            </a:r>
            <a:r>
              <a:rPr lang="en-US" altLang="zh-CN" sz="2200" dirty="0">
                <a:solidFill>
                  <a:srgbClr val="0070C0"/>
                </a:solidFill>
                <a:latin typeface="Courier New" panose="02070309020205020404" pitchFamily="49" charset="0"/>
                <a:ea typeface="黑体" panose="02010609060101010101" pitchFamily="49" charset="-122"/>
                <a:cs typeface="Courier New" panose="02070309020205020404" pitchFamily="49" charset="0"/>
              </a:rPr>
              <a:t>// </a:t>
            </a:r>
            <a:r>
              <a:rPr lang="zh-CN" altLang="en-US" sz="2200" dirty="0">
                <a:solidFill>
                  <a:srgbClr val="0070C0"/>
                </a:solidFill>
                <a:latin typeface="Courier New" panose="02070309020205020404" pitchFamily="49" charset="0"/>
                <a:ea typeface="黑体" panose="02010609060101010101" pitchFamily="49" charset="-122"/>
                <a:cs typeface="Courier New" panose="02070309020205020404" pitchFamily="49" charset="0"/>
              </a:rPr>
              <a:t>更新存储容量</a:t>
            </a:r>
          </a:p>
          <a:p>
            <a:r>
              <a:rPr lang="zh-CN" altLang="en-US" sz="2200" b="1" dirty="0">
                <a:latin typeface="Courier New" panose="02070309020205020404" pitchFamily="49" charset="0"/>
                <a:cs typeface="Courier New" panose="02070309020205020404" pitchFamily="49" charset="0"/>
              </a:rPr>
              <a:t>    </a:t>
            </a:r>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2200" b="1" dirty="0">
                <a:latin typeface="Courier New" panose="02070309020205020404" pitchFamily="49" charset="0"/>
                <a:cs typeface="Courier New" panose="02070309020205020404" pitchFamily="49" charset="0"/>
              </a:rPr>
              <a:t>    </a:t>
            </a:r>
            <a:r>
              <a:rPr lang="en-US" altLang="zh-CN" sz="2200" dirty="0">
                <a:solidFill>
                  <a:srgbClr val="0070C0"/>
                </a:solidFill>
                <a:latin typeface="Courier New" panose="02070309020205020404" pitchFamily="49" charset="0"/>
                <a:ea typeface="黑体" panose="02010609060101010101" pitchFamily="49" charset="-122"/>
                <a:cs typeface="Courier New" panose="02070309020205020404" pitchFamily="49" charset="0"/>
              </a:rPr>
              <a:t>//</a:t>
            </a:r>
            <a:r>
              <a:rPr lang="zh-CN" altLang="en-US" sz="2200" dirty="0">
                <a:solidFill>
                  <a:srgbClr val="0070C0"/>
                </a:solidFill>
                <a:latin typeface="Courier New" panose="02070309020205020404" pitchFamily="49" charset="0"/>
                <a:ea typeface="黑体" panose="02010609060101010101" pitchFamily="49" charset="-122"/>
                <a:cs typeface="Courier New" panose="02070309020205020404" pitchFamily="49" charset="0"/>
              </a:rPr>
              <a:t>插入元素 </a:t>
            </a:r>
            <a:r>
              <a:rPr lang="en-US" altLang="zh-CN" sz="2200" b="1" dirty="0">
                <a:solidFill>
                  <a:srgbClr val="CC3300"/>
                </a:solidFill>
                <a:latin typeface="Courier New" panose="02070309020205020404" pitchFamily="49" charset="0"/>
                <a:ea typeface="黑体" panose="02010609060101010101" pitchFamily="49" charset="-122"/>
                <a:cs typeface="Courier New" panose="02070309020205020404" pitchFamily="49" charset="0"/>
              </a:rPr>
              <a:t>e</a:t>
            </a:r>
          </a:p>
          <a:p>
            <a:r>
              <a:rPr lang="en-US" altLang="zh-CN" sz="2200" b="1" dirty="0">
                <a:solidFill>
                  <a:srgbClr val="993366"/>
                </a:solidFill>
                <a:latin typeface="Courier New" panose="02070309020205020404" pitchFamily="49" charset="0"/>
                <a:cs typeface="Courier New" panose="02070309020205020404" pitchFamily="49" charset="0"/>
              </a:rPr>
              <a:t>      </a:t>
            </a:r>
            <a:r>
              <a:rPr lang="en-US" altLang="zh-CN" sz="22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2200" b="1" dirty="0">
                <a:latin typeface="Courier New" panose="02070309020205020404" pitchFamily="49" charset="0"/>
                <a:cs typeface="Courier New" panose="02070309020205020404" pitchFamily="49" charset="0"/>
              </a:rPr>
              <a:t> </a:t>
            </a:r>
            <a:r>
              <a:rPr lang="en-US" altLang="zh-CN" sz="2200" b="1" dirty="0">
                <a:solidFill>
                  <a:srgbClr val="0070C0"/>
                </a:solidFill>
                <a:latin typeface="Courier New" panose="02070309020205020404" pitchFamily="49" charset="0"/>
                <a:ea typeface="黑体" panose="02010609060101010101" pitchFamily="49" charset="-122"/>
                <a:cs typeface="Courier New" panose="02070309020205020404" pitchFamily="49" charset="0"/>
              </a:rPr>
              <a:t>// </a:t>
            </a:r>
            <a:r>
              <a:rPr lang="en-US" altLang="zh-CN" sz="2200" b="1" dirty="0" err="1">
                <a:solidFill>
                  <a:srgbClr val="0070C0"/>
                </a:solidFill>
                <a:latin typeface="Courier New" panose="02070309020205020404" pitchFamily="49" charset="0"/>
                <a:ea typeface="黑体" panose="02010609060101010101" pitchFamily="49" charset="-122"/>
                <a:cs typeface="Courier New" panose="02070309020205020404" pitchFamily="49" charset="0"/>
              </a:rPr>
              <a:t>ListInsert_Sq</a:t>
            </a:r>
            <a:r>
              <a:rPr lang="en-US" altLang="zh-CN" sz="2200" b="1" dirty="0">
                <a:solidFill>
                  <a:srgbClr val="0070C0"/>
                </a:solidFill>
                <a:latin typeface="Courier New" panose="02070309020205020404" pitchFamily="49" charset="0"/>
                <a:ea typeface="黑体" panose="02010609060101010101" pitchFamily="49" charset="-122"/>
                <a:cs typeface="Courier New" panose="02070309020205020404" pitchFamily="49" charset="0"/>
              </a:rPr>
              <a:t>                         </a:t>
            </a:r>
          </a:p>
        </p:txBody>
      </p:sp>
      <p:cxnSp>
        <p:nvCxnSpPr>
          <p:cNvPr id="5" name="直接连接符 4">
            <a:extLst>
              <a:ext uri="{FF2B5EF4-FFF2-40B4-BE49-F238E27FC236}">
                <a16:creationId xmlns:a16="http://schemas.microsoft.com/office/drawing/2014/main" id="{E0385431-6C8D-492A-B140-27235C946ADD}"/>
              </a:ext>
            </a:extLst>
          </p:cNvPr>
          <p:cNvCxnSpPr>
            <a:cxnSpLocks/>
          </p:cNvCxnSpPr>
          <p:nvPr/>
        </p:nvCxnSpPr>
        <p:spPr>
          <a:xfrm>
            <a:off x="5375920" y="2492896"/>
            <a:ext cx="104201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C7570F41-A84A-46B6-88DC-A625F00B6143}"/>
              </a:ext>
            </a:extLst>
          </p:cNvPr>
          <p:cNvGrpSpPr/>
          <p:nvPr/>
        </p:nvGrpSpPr>
        <p:grpSpPr>
          <a:xfrm>
            <a:off x="6428027" y="4123234"/>
            <a:ext cx="3552690" cy="923218"/>
            <a:chOff x="6428027" y="4123234"/>
            <a:chExt cx="3552690" cy="923218"/>
          </a:xfrm>
        </p:grpSpPr>
        <p:sp>
          <p:nvSpPr>
            <p:cNvPr id="7" name="Text Box 78">
              <a:extLst>
                <a:ext uri="{FF2B5EF4-FFF2-40B4-BE49-F238E27FC236}">
                  <a16:creationId xmlns:a16="http://schemas.microsoft.com/office/drawing/2014/main" id="{7E5A7129-77D7-4272-A7FC-59A14021F8FA}"/>
                </a:ext>
              </a:extLst>
            </p:cNvPr>
            <p:cNvSpPr txBox="1">
              <a:spLocks noChangeArrowheads="1"/>
            </p:cNvSpPr>
            <p:nvPr/>
          </p:nvSpPr>
          <p:spPr bwMode="auto">
            <a:xfrm>
              <a:off x="6558954" y="4646342"/>
              <a:ext cx="34032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ct val="50000"/>
                </a:spcBef>
              </a:pPr>
              <a:r>
                <a:rPr lang="en-US" altLang="zh-CN" sz="2000" b="1" dirty="0">
                  <a:solidFill>
                    <a:srgbClr val="008080"/>
                  </a:solidFill>
                </a:rPr>
                <a:t>0    </a:t>
              </a:r>
              <a:r>
                <a:rPr lang="en-US" altLang="zh-CN" b="1" dirty="0">
                  <a:solidFill>
                    <a:srgbClr val="008080"/>
                  </a:solidFill>
                </a:rPr>
                <a:t>    </a:t>
              </a:r>
              <a:r>
                <a:rPr lang="en-US" altLang="zh-CN" sz="2000" b="1" dirty="0">
                  <a:solidFill>
                    <a:srgbClr val="008080"/>
                  </a:solidFill>
                </a:rPr>
                <a:t>1    </a:t>
              </a:r>
              <a:r>
                <a:rPr lang="en-US" altLang="zh-CN" b="1" dirty="0">
                  <a:solidFill>
                    <a:srgbClr val="008080"/>
                  </a:solidFill>
                </a:rPr>
                <a:t>    </a:t>
              </a:r>
              <a:r>
                <a:rPr lang="en-US" altLang="zh-CN" sz="2000" b="1" dirty="0">
                  <a:solidFill>
                    <a:srgbClr val="008080"/>
                  </a:solidFill>
                </a:rPr>
                <a:t>2    </a:t>
              </a:r>
              <a:r>
                <a:rPr lang="en-US" altLang="zh-CN" sz="1600" b="1" dirty="0">
                  <a:solidFill>
                    <a:srgbClr val="008080"/>
                  </a:solidFill>
                </a:rPr>
                <a:t>    </a:t>
              </a:r>
              <a:r>
                <a:rPr lang="en-US" altLang="zh-CN" sz="2000" b="1" dirty="0">
                  <a:solidFill>
                    <a:srgbClr val="008080"/>
                  </a:solidFill>
                </a:rPr>
                <a:t>3    </a:t>
              </a:r>
              <a:r>
                <a:rPr lang="en-US" altLang="zh-CN" sz="1600" b="1" dirty="0">
                  <a:solidFill>
                    <a:srgbClr val="008080"/>
                  </a:solidFill>
                </a:rPr>
                <a:t>    </a:t>
              </a:r>
              <a:r>
                <a:rPr lang="en-US" altLang="zh-CN" sz="2000" b="1" dirty="0">
                  <a:solidFill>
                    <a:srgbClr val="008080"/>
                  </a:solidFill>
                </a:rPr>
                <a:t>4    </a:t>
              </a:r>
              <a:r>
                <a:rPr lang="en-US" altLang="zh-CN" sz="1600" b="1" dirty="0">
                  <a:solidFill>
                    <a:srgbClr val="008080"/>
                  </a:solidFill>
                </a:rPr>
                <a:t>    </a:t>
              </a:r>
              <a:r>
                <a:rPr lang="en-US" altLang="zh-CN" sz="2000" b="1" dirty="0">
                  <a:solidFill>
                    <a:srgbClr val="008080"/>
                  </a:solidFill>
                </a:rPr>
                <a:t>5</a:t>
              </a:r>
            </a:p>
          </p:txBody>
        </p:sp>
        <p:grpSp>
          <p:nvGrpSpPr>
            <p:cNvPr id="8" name="组合 7">
              <a:extLst>
                <a:ext uri="{FF2B5EF4-FFF2-40B4-BE49-F238E27FC236}">
                  <a16:creationId xmlns:a16="http://schemas.microsoft.com/office/drawing/2014/main" id="{2D7065D3-8CE8-48BF-9C29-3B6F863E2FC9}"/>
                </a:ext>
              </a:extLst>
            </p:cNvPr>
            <p:cNvGrpSpPr/>
            <p:nvPr/>
          </p:nvGrpSpPr>
          <p:grpSpPr>
            <a:xfrm>
              <a:off x="6428027" y="4123234"/>
              <a:ext cx="3552690" cy="584776"/>
              <a:chOff x="6428027" y="4123234"/>
              <a:chExt cx="3552690" cy="584776"/>
            </a:xfrm>
          </p:grpSpPr>
          <p:sp>
            <p:nvSpPr>
              <p:cNvPr id="9" name="文本框 4">
                <a:extLst>
                  <a:ext uri="{FF2B5EF4-FFF2-40B4-BE49-F238E27FC236}">
                    <a16:creationId xmlns:a16="http://schemas.microsoft.com/office/drawing/2014/main" id="{79B4CD37-90C3-44D8-A7C5-8F7799396D61}"/>
                  </a:ext>
                </a:extLst>
              </p:cNvPr>
              <p:cNvSpPr txBox="1"/>
              <p:nvPr/>
            </p:nvSpPr>
            <p:spPr>
              <a:xfrm>
                <a:off x="6428027" y="4123236"/>
                <a:ext cx="594480" cy="584774"/>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eaLnBrk="1" fontAlgn="ctr" hangingPunct="1">
                  <a:spcBef>
                    <a:spcPct val="50000"/>
                  </a:spcBef>
                  <a:defRPr/>
                </a:pPr>
                <a:r>
                  <a:rPr lang="en-US" altLang="zh-CN" sz="3200" noProof="1">
                    <a:solidFill>
                      <a:srgbClr val="0000CC"/>
                    </a:solidFill>
                    <a:effectLst>
                      <a:outerShdw blurRad="38100" dist="38100" dir="2700000">
                        <a:srgbClr val="000000"/>
                      </a:outerShdw>
                    </a:effectLst>
                  </a:rPr>
                  <a:t>A</a:t>
                </a:r>
              </a:p>
            </p:txBody>
          </p:sp>
          <p:sp>
            <p:nvSpPr>
              <p:cNvPr id="10" name="文本框 6">
                <a:extLst>
                  <a:ext uri="{FF2B5EF4-FFF2-40B4-BE49-F238E27FC236}">
                    <a16:creationId xmlns:a16="http://schemas.microsoft.com/office/drawing/2014/main" id="{863449EB-C75A-49A8-9BA1-D9EA699F3FC2}"/>
                  </a:ext>
                </a:extLst>
              </p:cNvPr>
              <p:cNvSpPr txBox="1"/>
              <p:nvPr/>
            </p:nvSpPr>
            <p:spPr>
              <a:xfrm>
                <a:off x="7016914" y="4123236"/>
                <a:ext cx="594481" cy="584774"/>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3200" noProof="1">
                    <a:solidFill>
                      <a:srgbClr val="0000CC"/>
                    </a:solidFill>
                    <a:effectLst>
                      <a:outerShdw blurRad="38100" dist="38100" dir="2700000">
                        <a:srgbClr val="000000"/>
                      </a:outerShdw>
                    </a:effectLst>
                  </a:rPr>
                  <a:t>C</a:t>
                </a:r>
              </a:p>
            </p:txBody>
          </p:sp>
          <p:sp>
            <p:nvSpPr>
              <p:cNvPr id="11" name="文本框 7">
                <a:extLst>
                  <a:ext uri="{FF2B5EF4-FFF2-40B4-BE49-F238E27FC236}">
                    <a16:creationId xmlns:a16="http://schemas.microsoft.com/office/drawing/2014/main" id="{E89DD05A-557C-4789-B408-EDA9A93F4495}"/>
                  </a:ext>
                </a:extLst>
              </p:cNvPr>
              <p:cNvSpPr txBox="1"/>
              <p:nvPr/>
            </p:nvSpPr>
            <p:spPr>
              <a:xfrm>
                <a:off x="7617054" y="4123234"/>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3200" noProof="1">
                    <a:solidFill>
                      <a:srgbClr val="0000CC"/>
                    </a:solidFill>
                    <a:effectLst>
                      <a:outerShdw blurRad="38100" dist="38100" dir="2700000">
                        <a:srgbClr val="000000"/>
                      </a:outerShdw>
                    </a:effectLst>
                  </a:rPr>
                  <a:t>E</a:t>
                </a:r>
              </a:p>
            </p:txBody>
          </p:sp>
          <p:sp>
            <p:nvSpPr>
              <p:cNvPr id="12" name="文本框 7">
                <a:extLst>
                  <a:ext uri="{FF2B5EF4-FFF2-40B4-BE49-F238E27FC236}">
                    <a16:creationId xmlns:a16="http://schemas.microsoft.com/office/drawing/2014/main" id="{1A2F8A2C-BEE2-4309-BFEE-4704479D3E93}"/>
                  </a:ext>
                </a:extLst>
              </p:cNvPr>
              <p:cNvSpPr txBox="1"/>
              <p:nvPr/>
            </p:nvSpPr>
            <p:spPr>
              <a:xfrm>
                <a:off x="8208821" y="4123234"/>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3200" noProof="1">
                    <a:solidFill>
                      <a:srgbClr val="0000CC"/>
                    </a:solidFill>
                    <a:effectLst>
                      <a:outerShdw blurRad="38100" dist="38100" dir="2700000">
                        <a:srgbClr val="000000"/>
                      </a:outerShdw>
                    </a:effectLst>
                  </a:rPr>
                  <a:t>G</a:t>
                </a:r>
              </a:p>
            </p:txBody>
          </p:sp>
          <p:sp>
            <p:nvSpPr>
              <p:cNvPr id="13" name="文本框 7">
                <a:extLst>
                  <a:ext uri="{FF2B5EF4-FFF2-40B4-BE49-F238E27FC236}">
                    <a16:creationId xmlns:a16="http://schemas.microsoft.com/office/drawing/2014/main" id="{3AC07BDF-FF1E-4B64-A6AE-42D8152D975F}"/>
                  </a:ext>
                </a:extLst>
              </p:cNvPr>
              <p:cNvSpPr txBox="1"/>
              <p:nvPr/>
            </p:nvSpPr>
            <p:spPr>
              <a:xfrm>
                <a:off x="8805720" y="4123234"/>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3200" noProof="1">
                    <a:solidFill>
                      <a:srgbClr val="0000CC"/>
                    </a:solidFill>
                    <a:effectLst>
                      <a:outerShdw blurRad="38100" dist="38100" dir="2700000">
                        <a:srgbClr val="000000"/>
                      </a:outerShdw>
                    </a:effectLst>
                  </a:rPr>
                  <a:t>D</a:t>
                </a:r>
              </a:p>
            </p:txBody>
          </p:sp>
          <p:sp>
            <p:nvSpPr>
              <p:cNvPr id="14" name="文本框 7">
                <a:extLst>
                  <a:ext uri="{FF2B5EF4-FFF2-40B4-BE49-F238E27FC236}">
                    <a16:creationId xmlns:a16="http://schemas.microsoft.com/office/drawing/2014/main" id="{BB66DD24-327D-4381-BB6B-D9500F77E34C}"/>
                  </a:ext>
                </a:extLst>
              </p:cNvPr>
              <p:cNvSpPr txBox="1"/>
              <p:nvPr/>
            </p:nvSpPr>
            <p:spPr>
              <a:xfrm>
                <a:off x="9393695" y="4123234"/>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3200" noProof="1">
                    <a:solidFill>
                      <a:srgbClr val="0000CC"/>
                    </a:solidFill>
                    <a:effectLst>
                      <a:outerShdw blurRad="38100" dist="38100" dir="2700000">
                        <a:srgbClr val="000000"/>
                      </a:outerShdw>
                    </a:effectLst>
                  </a:rPr>
                  <a:t>B</a:t>
                </a:r>
              </a:p>
            </p:txBody>
          </p:sp>
        </p:grpSp>
      </p:grpSp>
      <p:sp>
        <p:nvSpPr>
          <p:cNvPr id="15" name="文本框 4">
            <a:extLst>
              <a:ext uri="{FF2B5EF4-FFF2-40B4-BE49-F238E27FC236}">
                <a16:creationId xmlns:a16="http://schemas.microsoft.com/office/drawing/2014/main" id="{E2376274-7BB6-4BC7-ACD4-E90596963B09}"/>
              </a:ext>
            </a:extLst>
          </p:cNvPr>
          <p:cNvSpPr txBox="1"/>
          <p:nvPr/>
        </p:nvSpPr>
        <p:spPr>
          <a:xfrm>
            <a:off x="6428027" y="5490973"/>
            <a:ext cx="594480" cy="584774"/>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eaLnBrk="1" fontAlgn="ctr" hangingPunct="1">
              <a:spcBef>
                <a:spcPct val="50000"/>
              </a:spcBef>
              <a:defRPr/>
            </a:pPr>
            <a:r>
              <a:rPr lang="en-US" altLang="zh-CN" sz="3200" noProof="1">
                <a:solidFill>
                  <a:srgbClr val="0000CC"/>
                </a:solidFill>
                <a:effectLst>
                  <a:outerShdw blurRad="38100" dist="38100" dir="2700000">
                    <a:srgbClr val="000000"/>
                  </a:outerShdw>
                </a:effectLst>
              </a:rPr>
              <a:t>A</a:t>
            </a:r>
          </a:p>
        </p:txBody>
      </p:sp>
      <p:sp>
        <p:nvSpPr>
          <p:cNvPr id="16" name="文本框 6">
            <a:extLst>
              <a:ext uri="{FF2B5EF4-FFF2-40B4-BE49-F238E27FC236}">
                <a16:creationId xmlns:a16="http://schemas.microsoft.com/office/drawing/2014/main" id="{53C3C4A8-A784-4EE8-84E4-895E55C16282}"/>
              </a:ext>
            </a:extLst>
          </p:cNvPr>
          <p:cNvSpPr txBox="1"/>
          <p:nvPr/>
        </p:nvSpPr>
        <p:spPr>
          <a:xfrm>
            <a:off x="7016914" y="5490973"/>
            <a:ext cx="594481" cy="584774"/>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3200" noProof="1">
                <a:solidFill>
                  <a:srgbClr val="0000CC"/>
                </a:solidFill>
                <a:effectLst>
                  <a:outerShdw blurRad="38100" dist="38100" dir="2700000">
                    <a:srgbClr val="000000"/>
                  </a:outerShdw>
                </a:effectLst>
              </a:rPr>
              <a:t>C</a:t>
            </a:r>
          </a:p>
        </p:txBody>
      </p:sp>
      <p:sp>
        <p:nvSpPr>
          <p:cNvPr id="17" name="文本框 7">
            <a:extLst>
              <a:ext uri="{FF2B5EF4-FFF2-40B4-BE49-F238E27FC236}">
                <a16:creationId xmlns:a16="http://schemas.microsoft.com/office/drawing/2014/main" id="{ED8C3AA4-C85C-49C2-97E1-475278BD9F0B}"/>
              </a:ext>
            </a:extLst>
          </p:cNvPr>
          <p:cNvSpPr txBox="1"/>
          <p:nvPr/>
        </p:nvSpPr>
        <p:spPr>
          <a:xfrm>
            <a:off x="7617054" y="5490971"/>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3200" noProof="1">
                <a:solidFill>
                  <a:srgbClr val="0000CC"/>
                </a:solidFill>
                <a:effectLst>
                  <a:outerShdw blurRad="38100" dist="38100" dir="2700000">
                    <a:srgbClr val="000000"/>
                  </a:outerShdw>
                </a:effectLst>
              </a:rPr>
              <a:t>E</a:t>
            </a:r>
          </a:p>
        </p:txBody>
      </p:sp>
      <p:sp>
        <p:nvSpPr>
          <p:cNvPr id="20" name="Text Box 78">
            <a:extLst>
              <a:ext uri="{FF2B5EF4-FFF2-40B4-BE49-F238E27FC236}">
                <a16:creationId xmlns:a16="http://schemas.microsoft.com/office/drawing/2014/main" id="{1A20BAC6-E193-4652-95AE-3FAF92C74718}"/>
              </a:ext>
            </a:extLst>
          </p:cNvPr>
          <p:cNvSpPr txBox="1">
            <a:spLocks noChangeArrowheads="1"/>
          </p:cNvSpPr>
          <p:nvPr/>
        </p:nvSpPr>
        <p:spPr bwMode="auto">
          <a:xfrm>
            <a:off x="6581510" y="6027137"/>
            <a:ext cx="53194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ct val="50000"/>
              </a:spcBef>
            </a:pPr>
            <a:r>
              <a:rPr lang="en-US" altLang="zh-CN" sz="2000" b="1" dirty="0">
                <a:solidFill>
                  <a:srgbClr val="008080"/>
                </a:solidFill>
              </a:rPr>
              <a:t>0    </a:t>
            </a:r>
            <a:r>
              <a:rPr lang="en-US" altLang="zh-CN" sz="1600" b="1" dirty="0">
                <a:solidFill>
                  <a:srgbClr val="008080"/>
                </a:solidFill>
              </a:rPr>
              <a:t>    </a:t>
            </a:r>
            <a:r>
              <a:rPr lang="en-US" altLang="zh-CN" sz="2000" b="1" dirty="0">
                <a:solidFill>
                  <a:srgbClr val="008080"/>
                </a:solidFill>
              </a:rPr>
              <a:t>1     </a:t>
            </a:r>
            <a:r>
              <a:rPr lang="en-US" altLang="zh-CN" sz="1600" b="1" dirty="0">
                <a:solidFill>
                  <a:srgbClr val="008080"/>
                </a:solidFill>
              </a:rPr>
              <a:t>   </a:t>
            </a:r>
            <a:r>
              <a:rPr lang="en-US" altLang="zh-CN" sz="2000" b="1" dirty="0">
                <a:solidFill>
                  <a:srgbClr val="008080"/>
                </a:solidFill>
              </a:rPr>
              <a:t>2     </a:t>
            </a:r>
            <a:r>
              <a:rPr lang="en-US" altLang="zh-CN" sz="1600" b="1" dirty="0">
                <a:solidFill>
                  <a:srgbClr val="008080"/>
                </a:solidFill>
              </a:rPr>
              <a:t>   </a:t>
            </a:r>
            <a:r>
              <a:rPr lang="en-US" altLang="zh-CN" sz="2000" b="1" dirty="0">
                <a:solidFill>
                  <a:srgbClr val="008080"/>
                </a:solidFill>
              </a:rPr>
              <a:t>3     </a:t>
            </a:r>
            <a:r>
              <a:rPr lang="en-US" altLang="zh-CN" sz="1600" b="1" dirty="0">
                <a:solidFill>
                  <a:srgbClr val="008080"/>
                </a:solidFill>
              </a:rPr>
              <a:t>   </a:t>
            </a:r>
            <a:r>
              <a:rPr lang="en-US" altLang="zh-CN" sz="2000" b="1" dirty="0">
                <a:solidFill>
                  <a:srgbClr val="008080"/>
                </a:solidFill>
              </a:rPr>
              <a:t>4     </a:t>
            </a:r>
            <a:r>
              <a:rPr lang="en-US" altLang="zh-CN" sz="1600" b="1" dirty="0">
                <a:solidFill>
                  <a:srgbClr val="008080"/>
                </a:solidFill>
              </a:rPr>
              <a:t>   </a:t>
            </a:r>
            <a:r>
              <a:rPr lang="en-US" altLang="zh-CN" sz="2000" b="1" dirty="0">
                <a:solidFill>
                  <a:srgbClr val="008080"/>
                </a:solidFill>
              </a:rPr>
              <a:t>5     </a:t>
            </a:r>
            <a:r>
              <a:rPr lang="en-US" altLang="zh-CN" sz="1600" b="1" dirty="0">
                <a:solidFill>
                  <a:srgbClr val="008080"/>
                </a:solidFill>
              </a:rPr>
              <a:t>   </a:t>
            </a:r>
            <a:r>
              <a:rPr lang="en-US" altLang="zh-CN" sz="2000" b="1" dirty="0">
                <a:solidFill>
                  <a:srgbClr val="008080"/>
                </a:solidFill>
              </a:rPr>
              <a:t>6     </a:t>
            </a:r>
            <a:r>
              <a:rPr lang="en-US" altLang="zh-CN" sz="1600" b="1" dirty="0">
                <a:solidFill>
                  <a:srgbClr val="008080"/>
                </a:solidFill>
              </a:rPr>
              <a:t>   </a:t>
            </a:r>
            <a:r>
              <a:rPr lang="en-US" altLang="zh-CN" sz="2000" b="1" dirty="0">
                <a:solidFill>
                  <a:srgbClr val="008080"/>
                </a:solidFill>
              </a:rPr>
              <a:t>7     </a:t>
            </a:r>
            <a:r>
              <a:rPr lang="en-US" altLang="zh-CN" sz="1600" b="1" dirty="0">
                <a:solidFill>
                  <a:srgbClr val="008080"/>
                </a:solidFill>
              </a:rPr>
              <a:t>   </a:t>
            </a:r>
            <a:r>
              <a:rPr lang="en-US" altLang="zh-CN" sz="2000" b="1" dirty="0">
                <a:solidFill>
                  <a:srgbClr val="008080"/>
                </a:solidFill>
              </a:rPr>
              <a:t>8</a:t>
            </a:r>
          </a:p>
        </p:txBody>
      </p:sp>
      <p:sp>
        <p:nvSpPr>
          <p:cNvPr id="21" name="文本框 7">
            <a:extLst>
              <a:ext uri="{FF2B5EF4-FFF2-40B4-BE49-F238E27FC236}">
                <a16:creationId xmlns:a16="http://schemas.microsoft.com/office/drawing/2014/main" id="{44B97223-7DE2-4BC0-95E7-4E7D89D5FF45}"/>
              </a:ext>
            </a:extLst>
          </p:cNvPr>
          <p:cNvSpPr txBox="1"/>
          <p:nvPr/>
        </p:nvSpPr>
        <p:spPr>
          <a:xfrm>
            <a:off x="8208821" y="5490971"/>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3200" noProof="1">
                <a:solidFill>
                  <a:srgbClr val="0000CC"/>
                </a:solidFill>
                <a:effectLst>
                  <a:outerShdw blurRad="38100" dist="38100" dir="2700000">
                    <a:srgbClr val="000000"/>
                  </a:outerShdw>
                </a:effectLst>
              </a:rPr>
              <a:t>G</a:t>
            </a:r>
          </a:p>
        </p:txBody>
      </p:sp>
      <p:sp>
        <p:nvSpPr>
          <p:cNvPr id="22" name="文本框 7">
            <a:extLst>
              <a:ext uri="{FF2B5EF4-FFF2-40B4-BE49-F238E27FC236}">
                <a16:creationId xmlns:a16="http://schemas.microsoft.com/office/drawing/2014/main" id="{A6585F84-FAC0-4983-8AD4-4DB5C6F70AC8}"/>
              </a:ext>
            </a:extLst>
          </p:cNvPr>
          <p:cNvSpPr txBox="1"/>
          <p:nvPr/>
        </p:nvSpPr>
        <p:spPr>
          <a:xfrm>
            <a:off x="8805720" y="5490971"/>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3200" noProof="1">
                <a:solidFill>
                  <a:srgbClr val="0000CC"/>
                </a:solidFill>
                <a:effectLst>
                  <a:outerShdw blurRad="38100" dist="38100" dir="2700000">
                    <a:srgbClr val="000000"/>
                  </a:outerShdw>
                </a:effectLst>
              </a:rPr>
              <a:t>D</a:t>
            </a:r>
          </a:p>
        </p:txBody>
      </p:sp>
      <p:sp>
        <p:nvSpPr>
          <p:cNvPr id="23" name="文本框 7">
            <a:extLst>
              <a:ext uri="{FF2B5EF4-FFF2-40B4-BE49-F238E27FC236}">
                <a16:creationId xmlns:a16="http://schemas.microsoft.com/office/drawing/2014/main" id="{CC9B7EAB-BB89-4C13-B2F6-C1EB0061F39F}"/>
              </a:ext>
            </a:extLst>
          </p:cNvPr>
          <p:cNvSpPr txBox="1"/>
          <p:nvPr/>
        </p:nvSpPr>
        <p:spPr>
          <a:xfrm>
            <a:off x="9393695" y="5490971"/>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3200" noProof="1">
                <a:solidFill>
                  <a:srgbClr val="0000CC"/>
                </a:solidFill>
                <a:effectLst>
                  <a:outerShdw blurRad="38100" dist="38100" dir="2700000">
                    <a:srgbClr val="000000"/>
                  </a:outerShdw>
                </a:effectLst>
              </a:rPr>
              <a:t>B</a:t>
            </a:r>
          </a:p>
        </p:txBody>
      </p:sp>
      <p:sp>
        <p:nvSpPr>
          <p:cNvPr id="24" name="文本框 7">
            <a:extLst>
              <a:ext uri="{FF2B5EF4-FFF2-40B4-BE49-F238E27FC236}">
                <a16:creationId xmlns:a16="http://schemas.microsoft.com/office/drawing/2014/main" id="{A4F1F5B0-0ACD-40CC-8C02-52BC43EDB061}"/>
              </a:ext>
            </a:extLst>
          </p:cNvPr>
          <p:cNvSpPr txBox="1"/>
          <p:nvPr/>
        </p:nvSpPr>
        <p:spPr>
          <a:xfrm>
            <a:off x="9981670" y="5490971"/>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endParaRPr lang="en-US" altLang="zh-CN" sz="3200" noProof="1">
              <a:solidFill>
                <a:srgbClr val="0000CC"/>
              </a:solidFill>
              <a:effectLst>
                <a:outerShdw blurRad="38100" dist="38100" dir="2700000">
                  <a:srgbClr val="000000"/>
                </a:outerShdw>
              </a:effectLst>
            </a:endParaRPr>
          </a:p>
        </p:txBody>
      </p:sp>
      <p:sp>
        <p:nvSpPr>
          <p:cNvPr id="25" name="文本框 7">
            <a:extLst>
              <a:ext uri="{FF2B5EF4-FFF2-40B4-BE49-F238E27FC236}">
                <a16:creationId xmlns:a16="http://schemas.microsoft.com/office/drawing/2014/main" id="{94B1C121-827B-4E8B-BD48-BD308539C6D2}"/>
              </a:ext>
            </a:extLst>
          </p:cNvPr>
          <p:cNvSpPr txBox="1"/>
          <p:nvPr/>
        </p:nvSpPr>
        <p:spPr>
          <a:xfrm>
            <a:off x="10569645" y="5490971"/>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endParaRPr lang="en-US" altLang="zh-CN" sz="3200" noProof="1">
              <a:solidFill>
                <a:srgbClr val="0000CC"/>
              </a:solidFill>
              <a:effectLst>
                <a:outerShdw blurRad="38100" dist="38100" dir="2700000">
                  <a:srgbClr val="000000"/>
                </a:outerShdw>
              </a:effectLst>
            </a:endParaRPr>
          </a:p>
        </p:txBody>
      </p:sp>
      <p:sp>
        <p:nvSpPr>
          <p:cNvPr id="26" name="文本框 7">
            <a:extLst>
              <a:ext uri="{FF2B5EF4-FFF2-40B4-BE49-F238E27FC236}">
                <a16:creationId xmlns:a16="http://schemas.microsoft.com/office/drawing/2014/main" id="{3EF5AE44-83FE-495F-8039-42E0B65143C7}"/>
              </a:ext>
            </a:extLst>
          </p:cNvPr>
          <p:cNvSpPr txBox="1"/>
          <p:nvPr/>
        </p:nvSpPr>
        <p:spPr>
          <a:xfrm>
            <a:off x="11156667" y="5490971"/>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endParaRPr lang="en-US" altLang="zh-CN" sz="3200" noProof="1">
              <a:solidFill>
                <a:srgbClr val="0000CC"/>
              </a:solidFill>
              <a:effectLst>
                <a:outerShdw blurRad="38100" dist="38100" dir="2700000">
                  <a:srgbClr val="000000"/>
                </a:outerShdw>
              </a:effectLst>
            </a:endParaRPr>
          </a:p>
        </p:txBody>
      </p:sp>
      <p:grpSp>
        <p:nvGrpSpPr>
          <p:cNvPr id="27" name="组合 26">
            <a:extLst>
              <a:ext uri="{FF2B5EF4-FFF2-40B4-BE49-F238E27FC236}">
                <a16:creationId xmlns:a16="http://schemas.microsoft.com/office/drawing/2014/main" id="{A12E496E-FC06-422D-83C4-CCF6F1453208}"/>
              </a:ext>
            </a:extLst>
          </p:cNvPr>
          <p:cNvGrpSpPr/>
          <p:nvPr/>
        </p:nvGrpSpPr>
        <p:grpSpPr>
          <a:xfrm>
            <a:off x="4248764" y="3764678"/>
            <a:ext cx="1569801" cy="1791400"/>
            <a:chOff x="5019055" y="4350797"/>
            <a:chExt cx="1569801" cy="1791400"/>
          </a:xfrm>
        </p:grpSpPr>
        <p:sp>
          <p:nvSpPr>
            <p:cNvPr id="28" name="文本框 81922">
              <a:extLst>
                <a:ext uri="{FF2B5EF4-FFF2-40B4-BE49-F238E27FC236}">
                  <a16:creationId xmlns:a16="http://schemas.microsoft.com/office/drawing/2014/main" id="{C742AF9C-C1C9-4392-A4D9-9E7C9653F37D}"/>
                </a:ext>
              </a:extLst>
            </p:cNvPr>
            <p:cNvSpPr txBox="1">
              <a:spLocks noChangeArrowheads="1"/>
            </p:cNvSpPr>
            <p:nvPr/>
          </p:nvSpPr>
          <p:spPr bwMode="auto">
            <a:xfrm>
              <a:off x="5091063" y="4763903"/>
              <a:ext cx="987156" cy="46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105000"/>
                </a:lnSpc>
                <a:spcBef>
                  <a:spcPct val="0"/>
                </a:spcBef>
                <a:buClrTx/>
                <a:buFontTx/>
                <a:buNone/>
              </a:pPr>
              <a:r>
                <a:rPr lang="en-US" altLang="zh-CN" sz="2400" b="1" dirty="0" err="1">
                  <a:solidFill>
                    <a:srgbClr val="008080"/>
                  </a:solidFill>
                  <a:latin typeface="+mn-lt"/>
                  <a:ea typeface="+mn-ea"/>
                </a:rPr>
                <a:t>elem</a:t>
              </a:r>
              <a:endParaRPr lang="zh-CN" altLang="en-US" sz="2400" b="1" dirty="0">
                <a:solidFill>
                  <a:srgbClr val="008080"/>
                </a:solidFill>
                <a:latin typeface="+mn-lt"/>
                <a:ea typeface="+mn-ea"/>
              </a:endParaRPr>
            </a:p>
          </p:txBody>
        </p:sp>
        <p:sp>
          <p:nvSpPr>
            <p:cNvPr id="29" name="文本框 81922">
              <a:extLst>
                <a:ext uri="{FF2B5EF4-FFF2-40B4-BE49-F238E27FC236}">
                  <a16:creationId xmlns:a16="http://schemas.microsoft.com/office/drawing/2014/main" id="{125A5308-428C-44DD-A594-3ECC3FB6D1AC}"/>
                </a:ext>
              </a:extLst>
            </p:cNvPr>
            <p:cNvSpPr txBox="1">
              <a:spLocks noChangeArrowheads="1"/>
            </p:cNvSpPr>
            <p:nvPr/>
          </p:nvSpPr>
          <p:spPr bwMode="auto">
            <a:xfrm>
              <a:off x="5436354" y="5219220"/>
              <a:ext cx="662599" cy="46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r">
                <a:lnSpc>
                  <a:spcPct val="105000"/>
                </a:lnSpc>
                <a:spcBef>
                  <a:spcPct val="0"/>
                </a:spcBef>
                <a:buClrTx/>
                <a:buNone/>
              </a:pPr>
              <a:r>
                <a:rPr lang="en-US" altLang="zh-CN" sz="2400" b="1" dirty="0" err="1">
                  <a:solidFill>
                    <a:srgbClr val="008080"/>
                  </a:solidFill>
                  <a:latin typeface="+mn-lt"/>
                  <a:ea typeface="+mn-ea"/>
                </a:rPr>
                <a:t>len</a:t>
              </a:r>
              <a:endParaRPr lang="zh-CN" altLang="en-US" sz="2400" b="1" dirty="0">
                <a:solidFill>
                  <a:srgbClr val="008080"/>
                </a:solidFill>
                <a:latin typeface="+mn-lt"/>
                <a:ea typeface="+mn-ea"/>
              </a:endParaRPr>
            </a:p>
          </p:txBody>
        </p:sp>
        <p:sp>
          <p:nvSpPr>
            <p:cNvPr id="30" name="矩形 29">
              <a:extLst>
                <a:ext uri="{FF2B5EF4-FFF2-40B4-BE49-F238E27FC236}">
                  <a16:creationId xmlns:a16="http://schemas.microsoft.com/office/drawing/2014/main" id="{D93993E7-6EEA-4265-BEB7-C58003236C20}"/>
                </a:ext>
              </a:extLst>
            </p:cNvPr>
            <p:cNvSpPr/>
            <p:nvPr/>
          </p:nvSpPr>
          <p:spPr>
            <a:xfrm>
              <a:off x="6074443" y="4767250"/>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a:p>
          </p:txBody>
        </p:sp>
        <p:sp>
          <p:nvSpPr>
            <p:cNvPr id="31" name="矩形 30">
              <a:extLst>
                <a:ext uri="{FF2B5EF4-FFF2-40B4-BE49-F238E27FC236}">
                  <a16:creationId xmlns:a16="http://schemas.microsoft.com/office/drawing/2014/main" id="{678101C6-980A-4CBD-8C95-126E0D92022C}"/>
                </a:ext>
              </a:extLst>
            </p:cNvPr>
            <p:cNvSpPr/>
            <p:nvPr/>
          </p:nvSpPr>
          <p:spPr>
            <a:xfrm>
              <a:off x="6074443" y="52277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32" name="矩形 31">
              <a:extLst>
                <a:ext uri="{FF2B5EF4-FFF2-40B4-BE49-F238E27FC236}">
                  <a16:creationId xmlns:a16="http://schemas.microsoft.com/office/drawing/2014/main" id="{015F8ACB-09A4-4EAB-9EDA-50B8BBE930D9}"/>
                </a:ext>
              </a:extLst>
            </p:cNvPr>
            <p:cNvSpPr/>
            <p:nvPr/>
          </p:nvSpPr>
          <p:spPr>
            <a:xfrm>
              <a:off x="6074442" y="56849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33" name="文本框 81922">
              <a:extLst>
                <a:ext uri="{FF2B5EF4-FFF2-40B4-BE49-F238E27FC236}">
                  <a16:creationId xmlns:a16="http://schemas.microsoft.com/office/drawing/2014/main" id="{34D44A79-4041-42B7-A0C2-423CDAA6701A}"/>
                </a:ext>
              </a:extLst>
            </p:cNvPr>
            <p:cNvSpPr txBox="1">
              <a:spLocks noChangeArrowheads="1"/>
            </p:cNvSpPr>
            <p:nvPr/>
          </p:nvSpPr>
          <p:spPr bwMode="auto">
            <a:xfrm>
              <a:off x="5019055" y="5663575"/>
              <a:ext cx="1067644" cy="46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r">
                <a:lnSpc>
                  <a:spcPct val="105000"/>
                </a:lnSpc>
                <a:spcBef>
                  <a:spcPct val="0"/>
                </a:spcBef>
                <a:buClrTx/>
                <a:buNone/>
              </a:pPr>
              <a:r>
                <a:rPr lang="en-US" altLang="zh-CN" sz="2400" b="1" dirty="0">
                  <a:solidFill>
                    <a:srgbClr val="008080"/>
                  </a:solidFill>
                  <a:latin typeface="+mn-lt"/>
                  <a:ea typeface="+mn-ea"/>
                </a:rPr>
                <a:t>size</a:t>
              </a:r>
              <a:endParaRPr lang="zh-CN" altLang="en-US" sz="2400" b="1" dirty="0">
                <a:solidFill>
                  <a:srgbClr val="008080"/>
                </a:solidFill>
                <a:latin typeface="+mn-lt"/>
                <a:ea typeface="+mn-ea"/>
              </a:endParaRPr>
            </a:p>
          </p:txBody>
        </p:sp>
        <p:sp>
          <p:nvSpPr>
            <p:cNvPr id="34" name="文本框 81922">
              <a:extLst>
                <a:ext uri="{FF2B5EF4-FFF2-40B4-BE49-F238E27FC236}">
                  <a16:creationId xmlns:a16="http://schemas.microsoft.com/office/drawing/2014/main" id="{79E9DFAC-5A75-48F9-A53F-5CC3B15AA20D}"/>
                </a:ext>
              </a:extLst>
            </p:cNvPr>
            <p:cNvSpPr txBox="1">
              <a:spLocks noChangeArrowheads="1"/>
            </p:cNvSpPr>
            <p:nvPr/>
          </p:nvSpPr>
          <p:spPr bwMode="auto">
            <a:xfrm>
              <a:off x="6069146" y="4350797"/>
              <a:ext cx="472887"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105000"/>
                </a:lnSpc>
                <a:spcBef>
                  <a:spcPct val="0"/>
                </a:spcBef>
                <a:buClrTx/>
                <a:buFontTx/>
                <a:buNone/>
              </a:pPr>
              <a:r>
                <a:rPr lang="en-US" altLang="zh-CN" sz="2400" b="1" dirty="0">
                  <a:solidFill>
                    <a:srgbClr val="008080"/>
                  </a:solidFill>
                  <a:ea typeface="楷体_GB2312" pitchFamily="49" charset="-122"/>
                </a:rPr>
                <a:t>L</a:t>
              </a:r>
              <a:endParaRPr lang="zh-CN" altLang="en-US" sz="2400" b="1" dirty="0">
                <a:solidFill>
                  <a:srgbClr val="008080"/>
                </a:solidFill>
              </a:endParaRPr>
            </a:p>
          </p:txBody>
        </p:sp>
      </p:grpSp>
      <p:sp>
        <p:nvSpPr>
          <p:cNvPr id="35" name="文本框 7">
            <a:extLst>
              <a:ext uri="{FF2B5EF4-FFF2-40B4-BE49-F238E27FC236}">
                <a16:creationId xmlns:a16="http://schemas.microsoft.com/office/drawing/2014/main" id="{65F616F6-6C63-499B-915A-08A24B625F08}"/>
              </a:ext>
            </a:extLst>
          </p:cNvPr>
          <p:cNvSpPr txBox="1"/>
          <p:nvPr/>
        </p:nvSpPr>
        <p:spPr>
          <a:xfrm>
            <a:off x="5452423" y="4603702"/>
            <a:ext cx="283537" cy="523220"/>
          </a:xfrm>
          <a:prstGeom prst="rect">
            <a:avLst/>
          </a:prstGeom>
          <a:noFill/>
        </p:spPr>
        <p:txBody>
          <a:bodyPr wrap="square" rtlCol="0">
            <a:spAutoFit/>
          </a:bodyPr>
          <a:ls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a:lstStyle>
          <a:p>
            <a:pPr algn="ctr"/>
            <a:r>
              <a:rPr lang="en-US" altLang="zh-CN" sz="2800" b="1" dirty="0">
                <a:solidFill>
                  <a:srgbClr val="C00000"/>
                </a:solidFill>
              </a:rPr>
              <a:t>6</a:t>
            </a:r>
            <a:endParaRPr lang="zh-CN" altLang="en-US" sz="2800" b="1" dirty="0">
              <a:solidFill>
                <a:srgbClr val="C00000"/>
              </a:solidFill>
            </a:endParaRPr>
          </a:p>
        </p:txBody>
      </p:sp>
      <p:sp>
        <p:nvSpPr>
          <p:cNvPr id="36" name="文本框 40">
            <a:extLst>
              <a:ext uri="{FF2B5EF4-FFF2-40B4-BE49-F238E27FC236}">
                <a16:creationId xmlns:a16="http://schemas.microsoft.com/office/drawing/2014/main" id="{79CE6739-9259-49B2-99F9-0A6304DEEB04}"/>
              </a:ext>
            </a:extLst>
          </p:cNvPr>
          <p:cNvSpPr txBox="1"/>
          <p:nvPr/>
        </p:nvSpPr>
        <p:spPr>
          <a:xfrm>
            <a:off x="5311863" y="5093687"/>
            <a:ext cx="568113" cy="430887"/>
          </a:xfrm>
          <a:prstGeom prst="rect">
            <a:avLst/>
          </a:prstGeom>
          <a:noFill/>
        </p:spPr>
        <p:txBody>
          <a:bodyPr wrap="square" lIns="0" tIns="0" rIns="0" bIns="0" rtlCol="0">
            <a:spAutoFit/>
          </a:bodyPr>
          <a:ls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a:lstStyle>
          <a:p>
            <a:pPr algn="ctr"/>
            <a:r>
              <a:rPr lang="en-US" altLang="zh-CN" sz="2800" b="1" dirty="0">
                <a:solidFill>
                  <a:srgbClr val="C00000"/>
                </a:solidFill>
              </a:rPr>
              <a:t>6</a:t>
            </a:r>
            <a:endParaRPr lang="zh-CN" altLang="en-US" sz="2800" b="1" dirty="0">
              <a:solidFill>
                <a:srgbClr val="C00000"/>
              </a:solidFill>
            </a:endParaRPr>
          </a:p>
        </p:txBody>
      </p:sp>
      <p:cxnSp>
        <p:nvCxnSpPr>
          <p:cNvPr id="37" name="直接箭头连接符 36">
            <a:extLst>
              <a:ext uri="{FF2B5EF4-FFF2-40B4-BE49-F238E27FC236}">
                <a16:creationId xmlns:a16="http://schemas.microsoft.com/office/drawing/2014/main" id="{987507B1-FCA8-418D-B5DB-341CBBDCE632}"/>
              </a:ext>
            </a:extLst>
          </p:cNvPr>
          <p:cNvCxnSpPr>
            <a:cxnSpLocks/>
          </p:cNvCxnSpPr>
          <p:nvPr/>
        </p:nvCxnSpPr>
        <p:spPr>
          <a:xfrm flipV="1">
            <a:off x="5561357" y="4395475"/>
            <a:ext cx="869690" cy="14256"/>
          </a:xfrm>
          <a:prstGeom prst="straightConnector1">
            <a:avLst/>
          </a:prstGeom>
          <a:ln w="38100">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30180CD3-92C1-43A9-AD0C-16AD7750F13A}"/>
              </a:ext>
            </a:extLst>
          </p:cNvPr>
          <p:cNvCxnSpPr>
            <a:cxnSpLocks/>
            <a:endCxn id="15" idx="1"/>
          </p:cNvCxnSpPr>
          <p:nvPr/>
        </p:nvCxnSpPr>
        <p:spPr>
          <a:xfrm>
            <a:off x="5551480" y="4429743"/>
            <a:ext cx="876547" cy="1353617"/>
          </a:xfrm>
          <a:prstGeom prst="straightConnector1">
            <a:avLst/>
          </a:prstGeom>
          <a:ln w="38100">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9" name="文本框 40">
            <a:extLst>
              <a:ext uri="{FF2B5EF4-FFF2-40B4-BE49-F238E27FC236}">
                <a16:creationId xmlns:a16="http://schemas.microsoft.com/office/drawing/2014/main" id="{6B2D4682-F2BD-46BD-A454-2A4F8211021F}"/>
              </a:ext>
            </a:extLst>
          </p:cNvPr>
          <p:cNvSpPr txBox="1"/>
          <p:nvPr/>
        </p:nvSpPr>
        <p:spPr>
          <a:xfrm>
            <a:off x="5317327" y="5099006"/>
            <a:ext cx="568113" cy="430887"/>
          </a:xfrm>
          <a:prstGeom prst="rect">
            <a:avLst/>
          </a:prstGeom>
          <a:noFill/>
        </p:spPr>
        <p:txBody>
          <a:bodyPr wrap="square" lIns="0" tIns="0" rIns="0" bIns="0" rtlCol="0">
            <a:spAutoFit/>
          </a:bodyPr>
          <a:ls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a:lstStyle>
          <a:p>
            <a:pPr algn="ctr"/>
            <a:r>
              <a:rPr lang="en-US" altLang="zh-CN" sz="2800" b="1" dirty="0">
                <a:solidFill>
                  <a:srgbClr val="C00000"/>
                </a:solidFill>
              </a:rPr>
              <a:t>9</a:t>
            </a:r>
            <a:endParaRPr lang="zh-CN" altLang="en-US" sz="2800" b="1" dirty="0">
              <a:solidFill>
                <a:srgbClr val="C00000"/>
              </a:solidFill>
            </a:endParaRPr>
          </a:p>
        </p:txBody>
      </p:sp>
      <p:sp>
        <p:nvSpPr>
          <p:cNvPr id="40" name="Text Box 78">
            <a:extLst>
              <a:ext uri="{FF2B5EF4-FFF2-40B4-BE49-F238E27FC236}">
                <a16:creationId xmlns:a16="http://schemas.microsoft.com/office/drawing/2014/main" id="{D7A8FE3F-D6F1-439E-97F0-60F49EC08B5F}"/>
              </a:ext>
            </a:extLst>
          </p:cNvPr>
          <p:cNvSpPr txBox="1">
            <a:spLocks noChangeArrowheads="1"/>
          </p:cNvSpPr>
          <p:nvPr/>
        </p:nvSpPr>
        <p:spPr bwMode="auto">
          <a:xfrm>
            <a:off x="322428" y="5309489"/>
            <a:ext cx="3337481" cy="938719"/>
          </a:xfrm>
          <a:prstGeom prst="rect">
            <a:avLst/>
          </a:prstGeom>
          <a:solidFill>
            <a:schemeClr val="accent3">
              <a:lumMod val="20000"/>
              <a:lumOff val="80000"/>
            </a:schemeClr>
          </a:solidFill>
          <a:ln>
            <a:noFill/>
          </a:ln>
          <a:effec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ct val="50000"/>
              </a:spcBef>
            </a:pPr>
            <a:r>
              <a:rPr lang="en-US" altLang="zh-CN" sz="2200" b="1" dirty="0">
                <a:solidFill>
                  <a:schemeClr val="tx1"/>
                </a:solidFill>
              </a:rPr>
              <a:t>2. </a:t>
            </a:r>
            <a:r>
              <a:rPr lang="zh-CN" altLang="en-US" sz="2200" b="1" dirty="0">
                <a:solidFill>
                  <a:schemeClr val="tx1"/>
                </a:solidFill>
              </a:rPr>
              <a:t>若存储空间已满，</a:t>
            </a:r>
            <a:endParaRPr lang="en-US" altLang="zh-CN" sz="2200" b="1" dirty="0">
              <a:solidFill>
                <a:schemeClr val="tx1"/>
              </a:solidFill>
            </a:endParaRPr>
          </a:p>
          <a:p>
            <a:pPr>
              <a:spcBef>
                <a:spcPct val="50000"/>
              </a:spcBef>
            </a:pPr>
            <a:r>
              <a:rPr lang="en-US" altLang="zh-CN" sz="2200" b="1" dirty="0"/>
              <a:t>    </a:t>
            </a:r>
            <a:r>
              <a:rPr lang="zh-CN" altLang="en-US" sz="2200" b="1" dirty="0">
                <a:solidFill>
                  <a:schemeClr val="tx1"/>
                </a:solidFill>
              </a:rPr>
              <a:t>则需增加</a:t>
            </a:r>
            <a:r>
              <a:rPr lang="en-US" altLang="zh-CN" sz="2200" b="1" dirty="0" err="1">
                <a:solidFill>
                  <a:schemeClr val="tx1"/>
                </a:solidFill>
              </a:rPr>
              <a:t>空间</a:t>
            </a:r>
            <a:endParaRPr lang="zh-CN" altLang="en-US" sz="2200" b="1" dirty="0">
              <a:solidFill>
                <a:schemeClr val="tx1"/>
              </a:solidFill>
            </a:endParaRPr>
          </a:p>
        </p:txBody>
      </p:sp>
      <p:sp>
        <p:nvSpPr>
          <p:cNvPr id="41" name="矩形: 圆角 40">
            <a:extLst>
              <a:ext uri="{FF2B5EF4-FFF2-40B4-BE49-F238E27FC236}">
                <a16:creationId xmlns:a16="http://schemas.microsoft.com/office/drawing/2014/main" id="{98B39973-0003-4BC7-8C06-6060C8B0D065}"/>
              </a:ext>
            </a:extLst>
          </p:cNvPr>
          <p:cNvSpPr/>
          <p:nvPr/>
        </p:nvSpPr>
        <p:spPr>
          <a:xfrm>
            <a:off x="1441543" y="218620"/>
            <a:ext cx="4642117" cy="503138"/>
          </a:xfrm>
          <a:prstGeom prst="roundRect">
            <a:avLst/>
          </a:prstGeom>
          <a:solidFill>
            <a:schemeClr val="tx2">
              <a:lumMod val="10000"/>
              <a:lumOff val="90000"/>
            </a:schemeClr>
          </a:solidFill>
          <a:ln>
            <a:solidFill>
              <a:schemeClr val="tx2">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600" b="1" dirty="0">
                <a:solidFill>
                  <a:srgbClr val="2D04FC"/>
                </a:solidFill>
                <a:effectLst>
                  <a:outerShdw blurRad="38100" dist="38100" dir="2700000" algn="tl">
                    <a:srgbClr val="000000">
                      <a:alpha val="43137"/>
                    </a:srgbClr>
                  </a:outerShdw>
                </a:effectLst>
                <a:latin typeface="+mn-ea"/>
              </a:rPr>
              <a:t>顺序表的插入</a:t>
            </a:r>
            <a:r>
              <a:rPr lang="en-US" altLang="zh-CN" sz="2600" b="1" dirty="0">
                <a:solidFill>
                  <a:srgbClr val="2D04FC"/>
                </a:solidFill>
                <a:effectLst>
                  <a:outerShdw blurRad="38100" dist="38100" dir="2700000" algn="tl">
                    <a:srgbClr val="000000">
                      <a:alpha val="43137"/>
                    </a:srgbClr>
                  </a:outerShdw>
                </a:effectLst>
                <a:latin typeface="+mn-ea"/>
              </a:rPr>
              <a:t>(</a:t>
            </a:r>
            <a:r>
              <a:rPr lang="zh-CN" altLang="en-US" sz="2600" b="1" dirty="0">
                <a:solidFill>
                  <a:srgbClr val="2D04FC"/>
                </a:solidFill>
                <a:effectLst>
                  <a:outerShdw blurRad="38100" dist="38100" dir="2700000" algn="tl">
                    <a:srgbClr val="000000">
                      <a:alpha val="43137"/>
                    </a:srgbClr>
                  </a:outerShdw>
                </a:effectLst>
                <a:latin typeface="+mn-ea"/>
              </a:rPr>
              <a:t>续）</a:t>
            </a:r>
          </a:p>
        </p:txBody>
      </p:sp>
    </p:spTree>
    <p:extLst>
      <p:ext uri="{BB962C8B-B14F-4D97-AF65-F5344CB8AC3E}">
        <p14:creationId xmlns:p14="http://schemas.microsoft.com/office/powerpoint/2010/main" val="600412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1000"/>
                                        <p:tgtEl>
                                          <p:spTgt spid="4">
                                            <p:txEl>
                                              <p:pRg st="2" end="2"/>
                                            </p:txEl>
                                          </p:spTgt>
                                        </p:tgtEl>
                                      </p:cBhvr>
                                    </p:animEffect>
                                    <p:anim calcmode="lin" valueType="num">
                                      <p:cBhvr>
                                        <p:cTn id="2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42" presetClass="entr" presetSubtype="0" fill="hold" nodeType="after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animEffect transition="in" filter="fade">
                                      <p:cBhvr>
                                        <p:cTn id="33" dur="1000"/>
                                        <p:tgtEl>
                                          <p:spTgt spid="4">
                                            <p:txEl>
                                              <p:pRg st="7" end="7"/>
                                            </p:txEl>
                                          </p:spTgt>
                                        </p:tgtEl>
                                      </p:cBhvr>
                                    </p:animEffect>
                                    <p:anim calcmode="lin" valueType="num">
                                      <p:cBhvr>
                                        <p:cTn id="34"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8" presetClass="emph" presetSubtype="0" fill="hold" grpId="1" nodeType="clickEffect">
                                  <p:stCondLst>
                                    <p:cond delay="0"/>
                                  </p:stCondLst>
                                  <p:childTnLst>
                                    <p:animRot by="21600000">
                                      <p:cBhvr>
                                        <p:cTn id="39" dur="1500" fill="hold"/>
                                        <p:tgtEl>
                                          <p:spTgt spid="35"/>
                                        </p:tgtEl>
                                        <p:attrNameLst>
                                          <p:attrName>r</p:attrName>
                                        </p:attrNameLst>
                                      </p:cBhvr>
                                    </p:animRot>
                                  </p:childTnLst>
                                </p:cTn>
                              </p:par>
                              <p:par>
                                <p:cTn id="40" presetID="8" presetClass="emph" presetSubtype="0" fill="hold" grpId="2" nodeType="withEffect">
                                  <p:stCondLst>
                                    <p:cond delay="0"/>
                                  </p:stCondLst>
                                  <p:childTnLst>
                                    <p:animRot by="21600000">
                                      <p:cBhvr>
                                        <p:cTn id="41" dur="1500" fill="hold"/>
                                        <p:tgtEl>
                                          <p:spTgt spid="36"/>
                                        </p:tgtEl>
                                        <p:attrNameLst>
                                          <p:attrName>r</p:attrName>
                                        </p:attrNameLst>
                                      </p:cBhvr>
                                    </p:animRo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4">
                                            <p:txEl>
                                              <p:pRg st="3" end="3"/>
                                            </p:txEl>
                                          </p:spTgt>
                                        </p:tgtEl>
                                        <p:attrNameLst>
                                          <p:attrName>style.visibility</p:attrName>
                                        </p:attrNameLst>
                                      </p:cBhvr>
                                      <p:to>
                                        <p:strVal val="visible"/>
                                      </p:to>
                                    </p:set>
                                    <p:animEffect transition="in" filter="fade">
                                      <p:cBhvr>
                                        <p:cTn id="46" dur="1000"/>
                                        <p:tgtEl>
                                          <p:spTgt spid="4">
                                            <p:txEl>
                                              <p:pRg st="3" end="3"/>
                                            </p:txEl>
                                          </p:spTgt>
                                        </p:tgtEl>
                                      </p:cBhvr>
                                    </p:animEffect>
                                    <p:anim calcmode="lin" valueType="num">
                                      <p:cBhvr>
                                        <p:cTn id="4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3" end="3"/>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4">
                                            <p:txEl>
                                              <p:pRg st="4" end="4"/>
                                            </p:txEl>
                                          </p:spTgt>
                                        </p:tgtEl>
                                        <p:attrNameLst>
                                          <p:attrName>style.visibility</p:attrName>
                                        </p:attrNameLst>
                                      </p:cBhvr>
                                      <p:to>
                                        <p:strVal val="visible"/>
                                      </p:to>
                                    </p:set>
                                    <p:animEffect transition="in" filter="fade">
                                      <p:cBhvr>
                                        <p:cTn id="51" dur="1000"/>
                                        <p:tgtEl>
                                          <p:spTgt spid="4">
                                            <p:txEl>
                                              <p:pRg st="4" end="4"/>
                                            </p:txEl>
                                          </p:spTgt>
                                        </p:tgtEl>
                                      </p:cBhvr>
                                    </p:animEffect>
                                    <p:anim calcmode="lin" valueType="num">
                                      <p:cBhvr>
                                        <p:cTn id="5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31" presetClass="entr" presetSubtype="0" fill="hold" nodeType="clickEffect">
                                  <p:stCondLst>
                                    <p:cond delay="0"/>
                                  </p:stCondLst>
                                  <p:childTnLst>
                                    <p:set>
                                      <p:cBhvr>
                                        <p:cTn id="57" dur="1" fill="hold">
                                          <p:stCondLst>
                                            <p:cond delay="0"/>
                                          </p:stCondLst>
                                        </p:cTn>
                                        <p:tgtEl>
                                          <p:spTgt spid="5"/>
                                        </p:tgtEl>
                                        <p:attrNameLst>
                                          <p:attrName>style.visibility</p:attrName>
                                        </p:attrNameLst>
                                      </p:cBhvr>
                                      <p:to>
                                        <p:strVal val="visible"/>
                                      </p:to>
                                    </p:set>
                                    <p:anim calcmode="lin" valueType="num">
                                      <p:cBhvr>
                                        <p:cTn id="58" dur="1000" fill="hold"/>
                                        <p:tgtEl>
                                          <p:spTgt spid="5"/>
                                        </p:tgtEl>
                                        <p:attrNameLst>
                                          <p:attrName>ppt_w</p:attrName>
                                        </p:attrNameLst>
                                      </p:cBhvr>
                                      <p:tavLst>
                                        <p:tav tm="0">
                                          <p:val>
                                            <p:fltVal val="0"/>
                                          </p:val>
                                        </p:tav>
                                        <p:tav tm="100000">
                                          <p:val>
                                            <p:strVal val="#ppt_w"/>
                                          </p:val>
                                        </p:tav>
                                      </p:tavLst>
                                    </p:anim>
                                    <p:anim calcmode="lin" valueType="num">
                                      <p:cBhvr>
                                        <p:cTn id="59" dur="1000" fill="hold"/>
                                        <p:tgtEl>
                                          <p:spTgt spid="5"/>
                                        </p:tgtEl>
                                        <p:attrNameLst>
                                          <p:attrName>ppt_h</p:attrName>
                                        </p:attrNameLst>
                                      </p:cBhvr>
                                      <p:tavLst>
                                        <p:tav tm="0">
                                          <p:val>
                                            <p:fltVal val="0"/>
                                          </p:val>
                                        </p:tav>
                                        <p:tav tm="100000">
                                          <p:val>
                                            <p:strVal val="#ppt_h"/>
                                          </p:val>
                                        </p:tav>
                                      </p:tavLst>
                                    </p:anim>
                                    <p:anim calcmode="lin" valueType="num">
                                      <p:cBhvr>
                                        <p:cTn id="60" dur="1000" fill="hold"/>
                                        <p:tgtEl>
                                          <p:spTgt spid="5"/>
                                        </p:tgtEl>
                                        <p:attrNameLst>
                                          <p:attrName>style.rotation</p:attrName>
                                        </p:attrNameLst>
                                      </p:cBhvr>
                                      <p:tavLst>
                                        <p:tav tm="0">
                                          <p:val>
                                            <p:fltVal val="90"/>
                                          </p:val>
                                        </p:tav>
                                        <p:tav tm="100000">
                                          <p:val>
                                            <p:fltVal val="0"/>
                                          </p:val>
                                        </p:tav>
                                      </p:tavLst>
                                    </p:anim>
                                    <p:animEffect transition="in" filter="fade">
                                      <p:cBhvr>
                                        <p:cTn id="61" dur="1000"/>
                                        <p:tgtEl>
                                          <p:spTgt spid="5"/>
                                        </p:tgtEl>
                                      </p:cBhvr>
                                    </p:animEffect>
                                  </p:childTnLst>
                                </p:cTn>
                              </p:par>
                            </p:childTnLst>
                          </p:cTn>
                        </p:par>
                        <p:par>
                          <p:cTn id="62" fill="hold">
                            <p:stCondLst>
                              <p:cond delay="1000"/>
                            </p:stCondLst>
                            <p:childTnLst>
                              <p:par>
                                <p:cTn id="63" presetID="22" presetClass="entr" presetSubtype="8" fill="hold" nodeType="afterEffect">
                                  <p:stCondLst>
                                    <p:cond delay="0"/>
                                  </p:stCondLst>
                                  <p:childTnLst>
                                    <p:set>
                                      <p:cBhvr>
                                        <p:cTn id="64" dur="1" fill="hold">
                                          <p:stCondLst>
                                            <p:cond delay="0"/>
                                          </p:stCondLst>
                                        </p:cTn>
                                        <p:tgtEl>
                                          <p:spTgt spid="38"/>
                                        </p:tgtEl>
                                        <p:attrNameLst>
                                          <p:attrName>style.visibility</p:attrName>
                                        </p:attrNameLst>
                                      </p:cBhvr>
                                      <p:to>
                                        <p:strVal val="visible"/>
                                      </p:to>
                                    </p:set>
                                    <p:animEffect transition="in" filter="wipe(left)">
                                      <p:cBhvr>
                                        <p:cTn id="65" dur="500"/>
                                        <p:tgtEl>
                                          <p:spTgt spid="38"/>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wipe(left)">
                                      <p:cBhvr>
                                        <p:cTn id="68" dur="500"/>
                                        <p:tgtEl>
                                          <p:spTgt spid="15"/>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500"/>
                                        <p:tgtEl>
                                          <p:spTgt spid="16"/>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wipe(left)">
                                      <p:cBhvr>
                                        <p:cTn id="74" dur="500"/>
                                        <p:tgtEl>
                                          <p:spTgt spid="17"/>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wipe(left)">
                                      <p:cBhvr>
                                        <p:cTn id="77" dur="500"/>
                                        <p:tgtEl>
                                          <p:spTgt spid="21"/>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wipe(left)">
                                      <p:cBhvr>
                                        <p:cTn id="80" dur="500"/>
                                        <p:tgtEl>
                                          <p:spTgt spid="22"/>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wipe(left)">
                                      <p:cBhvr>
                                        <p:cTn id="83" dur="500"/>
                                        <p:tgtEl>
                                          <p:spTgt spid="23"/>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wipe(left)">
                                      <p:cBhvr>
                                        <p:cTn id="86" dur="500"/>
                                        <p:tgtEl>
                                          <p:spTgt spid="24"/>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wipe(left)">
                                      <p:cBhvr>
                                        <p:cTn id="89" dur="500"/>
                                        <p:tgtEl>
                                          <p:spTgt spid="25"/>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wipe(left)">
                                      <p:cBhvr>
                                        <p:cTn id="92" dur="500"/>
                                        <p:tgtEl>
                                          <p:spTgt spid="26"/>
                                        </p:tgtEl>
                                      </p:cBhvr>
                                    </p:animEffect>
                                  </p:childTnLst>
                                </p:cTn>
                              </p:par>
                            </p:childTnLst>
                          </p:cTn>
                        </p:par>
                        <p:par>
                          <p:cTn id="93" fill="hold">
                            <p:stCondLst>
                              <p:cond delay="1500"/>
                            </p:stCondLst>
                            <p:childTnLst>
                              <p:par>
                                <p:cTn id="94" presetID="22" presetClass="entr" presetSubtype="8" fill="hold" grpId="0" nodeType="after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wipe(left)">
                                      <p:cBhvr>
                                        <p:cTn id="96" dur="500"/>
                                        <p:tgtEl>
                                          <p:spTgt spid="20"/>
                                        </p:tgtEl>
                                      </p:cBhvr>
                                    </p:animEffect>
                                  </p:childTnLst>
                                </p:cTn>
                              </p:par>
                            </p:childTnLst>
                          </p:cTn>
                        </p:par>
                        <p:par>
                          <p:cTn id="97" fill="hold">
                            <p:stCondLst>
                              <p:cond delay="2000"/>
                            </p:stCondLst>
                            <p:childTnLst>
                              <p:par>
                                <p:cTn id="98" presetID="22" presetClass="exit" presetSubtype="2" fill="hold" nodeType="afterEffect">
                                  <p:stCondLst>
                                    <p:cond delay="0"/>
                                  </p:stCondLst>
                                  <p:childTnLst>
                                    <p:animEffect transition="out" filter="wipe(right)">
                                      <p:cBhvr>
                                        <p:cTn id="99" dur="500"/>
                                        <p:tgtEl>
                                          <p:spTgt spid="6"/>
                                        </p:tgtEl>
                                      </p:cBhvr>
                                    </p:animEffect>
                                    <p:set>
                                      <p:cBhvr>
                                        <p:cTn id="100" dur="1" fill="hold">
                                          <p:stCondLst>
                                            <p:cond delay="499"/>
                                          </p:stCondLst>
                                        </p:cTn>
                                        <p:tgtEl>
                                          <p:spTgt spid="6"/>
                                        </p:tgtEl>
                                        <p:attrNameLst>
                                          <p:attrName>style.visibility</p:attrName>
                                        </p:attrNameLst>
                                      </p:cBhvr>
                                      <p:to>
                                        <p:strVal val="hidden"/>
                                      </p:to>
                                    </p:set>
                                  </p:childTnLst>
                                </p:cTn>
                              </p:par>
                            </p:childTnLst>
                          </p:cTn>
                        </p:par>
                        <p:par>
                          <p:cTn id="101" fill="hold">
                            <p:stCondLst>
                              <p:cond delay="2500"/>
                            </p:stCondLst>
                            <p:childTnLst>
                              <p:par>
                                <p:cTn id="102" presetID="22" presetClass="exit" presetSubtype="2" fill="hold" nodeType="afterEffect">
                                  <p:stCondLst>
                                    <p:cond delay="0"/>
                                  </p:stCondLst>
                                  <p:childTnLst>
                                    <p:animEffect transition="out" filter="wipe(right)">
                                      <p:cBhvr>
                                        <p:cTn id="103" dur="500"/>
                                        <p:tgtEl>
                                          <p:spTgt spid="37"/>
                                        </p:tgtEl>
                                      </p:cBhvr>
                                    </p:animEffect>
                                    <p:set>
                                      <p:cBhvr>
                                        <p:cTn id="104" dur="1" fill="hold">
                                          <p:stCondLst>
                                            <p:cond delay="499"/>
                                          </p:stCondLst>
                                        </p:cTn>
                                        <p:tgtEl>
                                          <p:spTgt spid="37"/>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nodeType="clickEffect">
                                  <p:stCondLst>
                                    <p:cond delay="0"/>
                                  </p:stCondLst>
                                  <p:childTnLst>
                                    <p:set>
                                      <p:cBhvr>
                                        <p:cTn id="108" dur="1" fill="hold">
                                          <p:stCondLst>
                                            <p:cond delay="0"/>
                                          </p:stCondLst>
                                        </p:cTn>
                                        <p:tgtEl>
                                          <p:spTgt spid="4">
                                            <p:txEl>
                                              <p:pRg st="5" end="5"/>
                                            </p:txEl>
                                          </p:spTgt>
                                        </p:tgtEl>
                                        <p:attrNameLst>
                                          <p:attrName>style.visibility</p:attrName>
                                        </p:attrNameLst>
                                      </p:cBhvr>
                                      <p:to>
                                        <p:strVal val="visible"/>
                                      </p:to>
                                    </p:set>
                                    <p:animEffect transition="in" filter="fade">
                                      <p:cBhvr>
                                        <p:cTn id="109" dur="1000"/>
                                        <p:tgtEl>
                                          <p:spTgt spid="4">
                                            <p:txEl>
                                              <p:pRg st="5" end="5"/>
                                            </p:txEl>
                                          </p:spTgt>
                                        </p:tgtEl>
                                      </p:cBhvr>
                                    </p:animEffect>
                                    <p:anim calcmode="lin" valueType="num">
                                      <p:cBhvr>
                                        <p:cTn id="110"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11"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nodeType="clickEffect">
                                  <p:stCondLst>
                                    <p:cond delay="0"/>
                                  </p:stCondLst>
                                  <p:childTnLst>
                                    <p:set>
                                      <p:cBhvr>
                                        <p:cTn id="115" dur="1" fill="hold">
                                          <p:stCondLst>
                                            <p:cond delay="0"/>
                                          </p:stCondLst>
                                        </p:cTn>
                                        <p:tgtEl>
                                          <p:spTgt spid="4">
                                            <p:txEl>
                                              <p:pRg st="6" end="6"/>
                                            </p:txEl>
                                          </p:spTgt>
                                        </p:tgtEl>
                                        <p:attrNameLst>
                                          <p:attrName>style.visibility</p:attrName>
                                        </p:attrNameLst>
                                      </p:cBhvr>
                                      <p:to>
                                        <p:strVal val="visible"/>
                                      </p:to>
                                    </p:set>
                                    <p:animEffect transition="in" filter="fade">
                                      <p:cBhvr>
                                        <p:cTn id="116" dur="1000"/>
                                        <p:tgtEl>
                                          <p:spTgt spid="4">
                                            <p:txEl>
                                              <p:pRg st="6" end="6"/>
                                            </p:txEl>
                                          </p:spTgt>
                                        </p:tgtEl>
                                      </p:cBhvr>
                                    </p:animEffect>
                                    <p:anim calcmode="lin" valueType="num">
                                      <p:cBhvr>
                                        <p:cTn id="117"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18"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par>
                          <p:cTn id="119" fill="hold">
                            <p:stCondLst>
                              <p:cond delay="1000"/>
                            </p:stCondLst>
                            <p:childTnLst>
                              <p:par>
                                <p:cTn id="120" presetID="22" presetClass="exit" presetSubtype="4" fill="hold" grpId="1" nodeType="afterEffect">
                                  <p:stCondLst>
                                    <p:cond delay="0"/>
                                  </p:stCondLst>
                                  <p:childTnLst>
                                    <p:animEffect transition="out" filter="wipe(down)">
                                      <p:cBhvr>
                                        <p:cTn id="121" dur="500"/>
                                        <p:tgtEl>
                                          <p:spTgt spid="36"/>
                                        </p:tgtEl>
                                      </p:cBhvr>
                                    </p:animEffect>
                                    <p:set>
                                      <p:cBhvr>
                                        <p:cTn id="122" dur="1" fill="hold">
                                          <p:stCondLst>
                                            <p:cond delay="499"/>
                                          </p:stCondLst>
                                        </p:cTn>
                                        <p:tgtEl>
                                          <p:spTgt spid="36"/>
                                        </p:tgtEl>
                                        <p:attrNameLst>
                                          <p:attrName>style.visibility</p:attrName>
                                        </p:attrNameLst>
                                      </p:cBhvr>
                                      <p:to>
                                        <p:strVal val="hidden"/>
                                      </p:to>
                                    </p:set>
                                  </p:childTnLst>
                                </p:cTn>
                              </p:par>
                            </p:childTnLst>
                          </p:cTn>
                        </p:par>
                        <p:par>
                          <p:cTn id="123" fill="hold">
                            <p:stCondLst>
                              <p:cond delay="1500"/>
                            </p:stCondLst>
                            <p:childTnLst>
                              <p:par>
                                <p:cTn id="124" presetID="22" presetClass="entr" presetSubtype="4" fill="hold" grpId="0" nodeType="afterEffect">
                                  <p:stCondLst>
                                    <p:cond delay="0"/>
                                  </p:stCondLst>
                                  <p:childTnLst>
                                    <p:set>
                                      <p:cBhvr>
                                        <p:cTn id="125" dur="1" fill="hold">
                                          <p:stCondLst>
                                            <p:cond delay="0"/>
                                          </p:stCondLst>
                                        </p:cTn>
                                        <p:tgtEl>
                                          <p:spTgt spid="39"/>
                                        </p:tgtEl>
                                        <p:attrNameLst>
                                          <p:attrName>style.visibility</p:attrName>
                                        </p:attrNameLst>
                                      </p:cBhvr>
                                      <p:to>
                                        <p:strVal val="visible"/>
                                      </p:to>
                                    </p:set>
                                    <p:animEffect transition="in" filter="wipe(down)">
                                      <p:cBhvr>
                                        <p:cTn id="126" dur="500"/>
                                        <p:tgtEl>
                                          <p:spTgt spid="39"/>
                                        </p:tgtEl>
                                      </p:cBhvr>
                                    </p:animEffect>
                                  </p:childTnLst>
                                </p:cTn>
                              </p:par>
                            </p:childTnLst>
                          </p:cTn>
                        </p:par>
                        <p:par>
                          <p:cTn id="127" fill="hold">
                            <p:stCondLst>
                              <p:cond delay="2000"/>
                            </p:stCondLst>
                            <p:childTnLst>
                              <p:par>
                                <p:cTn id="128" presetID="42" presetClass="entr" presetSubtype="0" fill="hold" nodeType="afterEffect">
                                  <p:stCondLst>
                                    <p:cond delay="0"/>
                                  </p:stCondLst>
                                  <p:childTnLst>
                                    <p:set>
                                      <p:cBhvr>
                                        <p:cTn id="129" dur="1" fill="hold">
                                          <p:stCondLst>
                                            <p:cond delay="0"/>
                                          </p:stCondLst>
                                        </p:cTn>
                                        <p:tgtEl>
                                          <p:spTgt spid="4">
                                            <p:txEl>
                                              <p:pRg st="8" end="8"/>
                                            </p:txEl>
                                          </p:spTgt>
                                        </p:tgtEl>
                                        <p:attrNameLst>
                                          <p:attrName>style.visibility</p:attrName>
                                        </p:attrNameLst>
                                      </p:cBhvr>
                                      <p:to>
                                        <p:strVal val="visible"/>
                                      </p:to>
                                    </p:set>
                                    <p:animEffect transition="in" filter="fade">
                                      <p:cBhvr>
                                        <p:cTn id="130" dur="1000"/>
                                        <p:tgtEl>
                                          <p:spTgt spid="4">
                                            <p:txEl>
                                              <p:pRg st="8" end="8"/>
                                            </p:txEl>
                                          </p:spTgt>
                                        </p:tgtEl>
                                      </p:cBhvr>
                                    </p:animEffect>
                                    <p:anim calcmode="lin" valueType="num">
                                      <p:cBhvr>
                                        <p:cTn id="131"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32" dur="1000" fill="hold"/>
                                        <p:tgtEl>
                                          <p:spTgt spid="4">
                                            <p:txEl>
                                              <p:pRg st="8" end="8"/>
                                            </p:txEl>
                                          </p:spTgt>
                                        </p:tgtEl>
                                        <p:attrNameLst>
                                          <p:attrName>ppt_y</p:attrName>
                                        </p:attrNameLst>
                                      </p:cBhvr>
                                      <p:tavLst>
                                        <p:tav tm="0">
                                          <p:val>
                                            <p:strVal val="#ppt_y+.1"/>
                                          </p:val>
                                        </p:tav>
                                        <p:tav tm="100000">
                                          <p:val>
                                            <p:strVal val="#ppt_y"/>
                                          </p:val>
                                        </p:tav>
                                      </p:tavLst>
                                    </p:anim>
                                  </p:childTnLst>
                                </p:cTn>
                              </p:par>
                              <p:par>
                                <p:cTn id="133" presetID="42" presetClass="entr" presetSubtype="0" fill="hold" nodeType="withEffect">
                                  <p:stCondLst>
                                    <p:cond delay="0"/>
                                  </p:stCondLst>
                                  <p:childTnLst>
                                    <p:set>
                                      <p:cBhvr>
                                        <p:cTn id="134" dur="1" fill="hold">
                                          <p:stCondLst>
                                            <p:cond delay="0"/>
                                          </p:stCondLst>
                                        </p:cTn>
                                        <p:tgtEl>
                                          <p:spTgt spid="4">
                                            <p:txEl>
                                              <p:pRg st="9" end="9"/>
                                            </p:txEl>
                                          </p:spTgt>
                                        </p:tgtEl>
                                        <p:attrNameLst>
                                          <p:attrName>style.visibility</p:attrName>
                                        </p:attrNameLst>
                                      </p:cBhvr>
                                      <p:to>
                                        <p:strVal val="visible"/>
                                      </p:to>
                                    </p:set>
                                    <p:animEffect transition="in" filter="fade">
                                      <p:cBhvr>
                                        <p:cTn id="135" dur="1000"/>
                                        <p:tgtEl>
                                          <p:spTgt spid="4">
                                            <p:txEl>
                                              <p:pRg st="9" end="9"/>
                                            </p:txEl>
                                          </p:spTgt>
                                        </p:tgtEl>
                                      </p:cBhvr>
                                    </p:animEffect>
                                    <p:anim calcmode="lin" valueType="num">
                                      <p:cBhvr>
                                        <p:cTn id="136"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37"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20" grpId="0"/>
      <p:bldP spid="21" grpId="0" animBg="1"/>
      <p:bldP spid="22" grpId="0" animBg="1"/>
      <p:bldP spid="23" grpId="0" animBg="1"/>
      <p:bldP spid="24" grpId="0" animBg="1"/>
      <p:bldP spid="25" grpId="0" animBg="1"/>
      <p:bldP spid="26" grpId="0" animBg="1"/>
      <p:bldP spid="35" grpId="0"/>
      <p:bldP spid="35" grpId="1"/>
      <p:bldP spid="36" grpId="0"/>
      <p:bldP spid="36" grpId="1"/>
      <p:bldP spid="36" grpId="2"/>
      <p:bldP spid="3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53E7CF4-BDCF-0A04-E4D6-FCC41270EC56}"/>
              </a:ext>
            </a:extLst>
          </p:cNvPr>
          <p:cNvSpPr>
            <a:spLocks noGrp="1"/>
          </p:cNvSpPr>
          <p:nvPr>
            <p:ph type="sldNum" sz="quarter" idx="4294967295"/>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C0FE0B-717B-41AE-9FA2-CA4BF851D1C3}" type="slidenum">
              <a:rPr kumimoji="0" lang="zh-CN" altLang="en-US" sz="1200" b="0" i="0" u="none" strike="noStrike" kern="1200" cap="none" spc="0" normalizeH="0" baseline="0" noProof="0" smtClean="0">
                <a:ln>
                  <a:noFill/>
                </a:ln>
                <a:solidFill>
                  <a:prstClr val="black">
                    <a:tint val="82000"/>
                  </a:prstClr>
                </a:solidFill>
                <a:effectLst/>
                <a:uLnTx/>
                <a:uFillTx/>
                <a:latin typeface="Times New Roman" panose="020206030504050203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tint val="82000"/>
                </a:prstClr>
              </a:solidFill>
              <a:effectLst/>
              <a:uLnTx/>
              <a:uFillTx/>
              <a:latin typeface="Times New Roman" panose="02020603050405020304"/>
              <a:ea typeface="宋体" panose="02010600030101010101" pitchFamily="2" charset="-122"/>
              <a:cs typeface="+mn-cs"/>
            </a:endParaRPr>
          </a:p>
        </p:txBody>
      </p:sp>
      <p:sp>
        <p:nvSpPr>
          <p:cNvPr id="3" name="文本框 7">
            <a:extLst>
              <a:ext uri="{FF2B5EF4-FFF2-40B4-BE49-F238E27FC236}">
                <a16:creationId xmlns:a16="http://schemas.microsoft.com/office/drawing/2014/main" id="{8D259568-13F2-42C0-179C-4AD6419F7058}"/>
              </a:ext>
            </a:extLst>
          </p:cNvPr>
          <p:cNvSpPr txBox="1"/>
          <p:nvPr/>
        </p:nvSpPr>
        <p:spPr>
          <a:xfrm>
            <a:off x="9787521" y="5097863"/>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endPar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endParaRPr>
          </a:p>
        </p:txBody>
      </p:sp>
      <p:sp>
        <p:nvSpPr>
          <p:cNvPr id="4" name="文本框 7">
            <a:extLst>
              <a:ext uri="{FF2B5EF4-FFF2-40B4-BE49-F238E27FC236}">
                <a16:creationId xmlns:a16="http://schemas.microsoft.com/office/drawing/2014/main" id="{34A061AC-A572-2831-5164-0CAEF45FA3FD}"/>
              </a:ext>
            </a:extLst>
          </p:cNvPr>
          <p:cNvSpPr txBox="1"/>
          <p:nvPr/>
        </p:nvSpPr>
        <p:spPr>
          <a:xfrm>
            <a:off x="8014672" y="5097863"/>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endPar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endParaRPr>
          </a:p>
        </p:txBody>
      </p:sp>
      <p:sp>
        <p:nvSpPr>
          <p:cNvPr id="5" name="文本框 7">
            <a:extLst>
              <a:ext uri="{FF2B5EF4-FFF2-40B4-BE49-F238E27FC236}">
                <a16:creationId xmlns:a16="http://schemas.microsoft.com/office/drawing/2014/main" id="{40386BDA-65F8-1721-D62E-0DA554FD495D}"/>
              </a:ext>
            </a:extLst>
          </p:cNvPr>
          <p:cNvSpPr txBox="1"/>
          <p:nvPr/>
        </p:nvSpPr>
        <p:spPr>
          <a:xfrm>
            <a:off x="8611571" y="5097863"/>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endPar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endParaRPr>
          </a:p>
        </p:txBody>
      </p:sp>
      <p:sp>
        <p:nvSpPr>
          <p:cNvPr id="6" name="文本框 7">
            <a:extLst>
              <a:ext uri="{FF2B5EF4-FFF2-40B4-BE49-F238E27FC236}">
                <a16:creationId xmlns:a16="http://schemas.microsoft.com/office/drawing/2014/main" id="{3B302C9D-CFBA-EC86-7AEF-3EC099CB0793}"/>
              </a:ext>
            </a:extLst>
          </p:cNvPr>
          <p:cNvSpPr txBox="1"/>
          <p:nvPr/>
        </p:nvSpPr>
        <p:spPr>
          <a:xfrm>
            <a:off x="9199546" y="5097863"/>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endPar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endParaRPr>
          </a:p>
        </p:txBody>
      </p:sp>
      <p:sp>
        <p:nvSpPr>
          <p:cNvPr id="7" name="Text Box 2">
            <a:extLst>
              <a:ext uri="{FF2B5EF4-FFF2-40B4-BE49-F238E27FC236}">
                <a16:creationId xmlns:a16="http://schemas.microsoft.com/office/drawing/2014/main" id="{F05BEBC9-9022-2F52-F1EA-E109D56B7E4E}"/>
              </a:ext>
            </a:extLst>
          </p:cNvPr>
          <p:cNvSpPr txBox="1">
            <a:spLocks noChangeArrowheads="1"/>
          </p:cNvSpPr>
          <p:nvPr/>
        </p:nvSpPr>
        <p:spPr bwMode="auto">
          <a:xfrm>
            <a:off x="850813" y="792645"/>
            <a:ext cx="10490373" cy="3168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Status</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ListInsert</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SqList</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 </a:t>
            </a:r>
            <a:r>
              <a:rPr kumimoji="0" lang="en-US" altLang="zh-CN" sz="2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 </a:t>
            </a:r>
            <a:r>
              <a:rPr kumimoji="0" lang="en-US" altLang="zh-CN" sz="2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200" b="1" i="0" u="none" strike="noStrike" kern="1200" cap="none" spc="0" normalizeH="0" baseline="0" noProof="0" dirty="0">
                <a:ln>
                  <a:noFill/>
                </a:ln>
                <a:solidFill>
                  <a:srgbClr val="993366"/>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memmove</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(L-&gt;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elem+i</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L-&gt;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elem+i-1</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(L-&gt;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len-i+1</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0" noProof="0" dirty="0">
                <a:ln>
                  <a:noFill/>
                </a:ln>
                <a:solidFill>
                  <a:srgbClr val="0070C0"/>
                </a:solidFill>
                <a:effectLst/>
                <a:uLnTx/>
                <a:uFillTx/>
                <a:latin typeface="Courier New" panose="02070309020205020404" pitchFamily="49" charset="0"/>
                <a:ea typeface="黑体" panose="02010609060101010101" pitchFamily="49" charset="-122"/>
                <a:cs typeface="Courier New" panose="02070309020205020404" pitchFamily="49" charset="0"/>
              </a:rPr>
              <a:t>//</a:t>
            </a:r>
            <a:r>
              <a:rPr kumimoji="0" lang="zh-CN" altLang="zh-CN" sz="2200" b="0" i="0" u="none" strike="noStrike" kern="1200" cap="none" spc="0" normalizeH="0" baseline="0" noProof="0" dirty="0">
                <a:ln>
                  <a:noFill/>
                </a:ln>
                <a:solidFill>
                  <a:srgbClr val="0070C0"/>
                </a:solidFill>
                <a:effectLst/>
                <a:uLnTx/>
                <a:uFillTx/>
                <a:latin typeface="Courier New" panose="02070309020205020404" pitchFamily="49" charset="0"/>
                <a:ea typeface="黑体" panose="02010609060101010101" pitchFamily="49" charset="-122"/>
                <a:cs typeface="Courier New" panose="02070309020205020404" pitchFamily="49" charset="0"/>
              </a:rPr>
              <a:t>“腾位”后移</a:t>
            </a:r>
            <a:r>
              <a:rPr kumimoji="0" lang="en-US" altLang="zh-CN" sz="2200" b="0" i="0" u="none" strike="noStrike" kern="1200" cap="none" spc="0" normalizeH="0" baseline="0" noProof="0" dirty="0">
                <a:ln>
                  <a:noFill/>
                </a:ln>
                <a:solidFill>
                  <a:srgbClr val="0070C0"/>
                </a:solidFill>
                <a:effectLst/>
                <a:uLnTx/>
                <a:uFillTx/>
                <a:latin typeface="Courier New" panose="02070309020205020404" pitchFamily="49" charset="0"/>
                <a:ea typeface="黑体" panose="02010609060101010101" pitchFamily="49" charset="-122"/>
                <a:cs typeface="Courier New" panose="02070309020205020404" pitchFamily="49" charset="0"/>
              </a:rPr>
              <a:t>1</a:t>
            </a:r>
            <a:r>
              <a:rPr kumimoji="0" lang="zh-CN" altLang="zh-CN" sz="2200" b="0" i="0" u="none" strike="noStrike" kern="1200" cap="none" spc="0" normalizeH="0" baseline="0" noProof="0" dirty="0">
                <a:ln>
                  <a:noFill/>
                </a:ln>
                <a:solidFill>
                  <a:srgbClr val="0070C0"/>
                </a:solidFill>
                <a:effectLst/>
                <a:uLnTx/>
                <a:uFillTx/>
                <a:latin typeface="Courier New" panose="02070309020205020404" pitchFamily="49" charset="0"/>
                <a:ea typeface="黑体" panose="02010609060101010101" pitchFamily="49" charset="-122"/>
                <a:cs typeface="Courier New" panose="02070309020205020404" pitchFamily="49" charset="0"/>
              </a:rPr>
              <a:t>位</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L-&gt;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-1] = e; </a:t>
            </a:r>
            <a:r>
              <a:rPr kumimoji="0" lang="en-US" altLang="zh-CN" sz="2200" b="0" i="0" u="none" strike="noStrike" kern="1200" cap="none" spc="0" normalizeH="0" baseline="0" noProof="0" dirty="0">
                <a:ln>
                  <a:noFill/>
                </a:ln>
                <a:solidFill>
                  <a:srgbClr val="0070C0"/>
                </a:solidFill>
                <a:effectLst/>
                <a:uLnTx/>
                <a:uFillTx/>
                <a:latin typeface="Courier New" panose="02070309020205020404" pitchFamily="49" charset="0"/>
                <a:ea typeface="黑体" panose="02010609060101010101" pitchFamily="49" charset="-122"/>
                <a:cs typeface="Courier New" panose="02070309020205020404" pitchFamily="49" charset="0"/>
              </a:rPr>
              <a:t>// </a:t>
            </a:r>
            <a:r>
              <a:rPr kumimoji="0" lang="zh-CN" altLang="en-US" sz="2200" b="0" i="0" u="none" strike="noStrike" kern="1200" cap="none" spc="0" normalizeH="0" baseline="0" noProof="0" dirty="0">
                <a:ln>
                  <a:noFill/>
                </a:ln>
                <a:solidFill>
                  <a:srgbClr val="0070C0"/>
                </a:solidFill>
                <a:effectLst/>
                <a:uLnTx/>
                <a:uFillTx/>
                <a:latin typeface="Courier New" panose="02070309020205020404" pitchFamily="49" charset="0"/>
                <a:ea typeface="黑体" panose="02010609060101010101" pitchFamily="49" charset="-122"/>
                <a:cs typeface="Courier New" panose="02070309020205020404" pitchFamily="49" charset="0"/>
              </a:rPr>
              <a:t>插入 </a:t>
            </a:r>
            <a:r>
              <a:rPr kumimoji="0" lang="en-US" altLang="zh-CN" sz="2200" b="1" i="0" u="none" strike="noStrike" kern="1200" cap="none" spc="0" normalizeH="0" baseline="0" noProof="0" dirty="0">
                <a:ln>
                  <a:noFill/>
                </a:ln>
                <a:solidFill>
                  <a:srgbClr val="CC33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rPr>
              <a:t>e</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srgbClr val="993366"/>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L-&gt;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len</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0" noProof="0" dirty="0">
                <a:ln>
                  <a:noFill/>
                </a:ln>
                <a:solidFill>
                  <a:srgbClr val="0070C0"/>
                </a:solidFill>
                <a:effectLst/>
                <a:uLnTx/>
                <a:uFillTx/>
                <a:latin typeface="Courier New" panose="02070309020205020404" pitchFamily="49" charset="0"/>
                <a:ea typeface="黑体" panose="02010609060101010101" pitchFamily="49" charset="-122"/>
                <a:cs typeface="Courier New" panose="02070309020205020404" pitchFamily="49" charset="0"/>
              </a:rPr>
              <a:t>// </a:t>
            </a:r>
            <a:r>
              <a:rPr kumimoji="0" lang="zh-CN" altLang="en-US" sz="2200" b="0" i="0" u="none" strike="noStrike" kern="1200" cap="none" spc="0" normalizeH="0" baseline="0" noProof="0" dirty="0">
                <a:ln>
                  <a:noFill/>
                </a:ln>
                <a:solidFill>
                  <a:srgbClr val="0070C0"/>
                </a:solidFill>
                <a:effectLst/>
                <a:uLnTx/>
                <a:uFillTx/>
                <a:latin typeface="Courier New" panose="02070309020205020404" pitchFamily="49" charset="0"/>
                <a:ea typeface="黑体" panose="02010609060101010101" pitchFamily="49" charset="-122"/>
                <a:cs typeface="Courier New" panose="02070309020205020404" pitchFamily="49" charset="0"/>
              </a:rPr>
              <a:t>表长增 </a:t>
            </a:r>
            <a:r>
              <a:rPr kumimoji="0" lang="en-US" altLang="zh-CN" sz="2200" b="1" i="0" u="none" strike="noStrike" kern="1200" cap="none" spc="0" normalizeH="0" baseline="0" noProof="0" dirty="0">
                <a:ln>
                  <a:noFill/>
                </a:ln>
                <a:solidFill>
                  <a:srgbClr val="CC33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rPr>
              <a:t>1</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OK;</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a:ln>
                  <a:noFill/>
                </a:ln>
                <a:solidFill>
                  <a:srgbClr val="0070C0"/>
                </a:solidFill>
                <a:effectLst/>
                <a:uLnTx/>
                <a:uFillTx/>
                <a:latin typeface="Courier New" panose="02070309020205020404" pitchFamily="49" charset="0"/>
                <a:ea typeface="黑体" panose="02010609060101010101" pitchFamily="49" charset="-122"/>
                <a:cs typeface="Courier New" panose="02070309020205020404" pitchFamily="49" charset="0"/>
              </a:rPr>
              <a:t>// </a:t>
            </a:r>
            <a:r>
              <a:rPr kumimoji="0" lang="en-US" altLang="zh-CN" sz="2200" b="1" i="0" u="none" strike="noStrike" kern="1200" cap="none" spc="0" normalizeH="0" baseline="0" noProof="0" dirty="0" err="1">
                <a:ln>
                  <a:noFill/>
                </a:ln>
                <a:solidFill>
                  <a:srgbClr val="0070C0"/>
                </a:solidFill>
                <a:effectLst/>
                <a:uLnTx/>
                <a:uFillTx/>
                <a:latin typeface="Courier New" panose="02070309020205020404" pitchFamily="49" charset="0"/>
                <a:ea typeface="黑体" panose="02010609060101010101" pitchFamily="49" charset="-122"/>
                <a:cs typeface="Courier New" panose="02070309020205020404" pitchFamily="49" charset="0"/>
              </a:rPr>
              <a:t>ListInsert</a:t>
            </a:r>
            <a:r>
              <a:rPr kumimoji="0" lang="en-US" altLang="zh-CN" sz="2200" b="1" i="0" u="none" strike="noStrike" kern="1200" cap="none" spc="0" normalizeH="0" baseline="0" noProof="0" dirty="0">
                <a:ln>
                  <a:noFill/>
                </a:ln>
                <a:solidFill>
                  <a:srgbClr val="0070C0"/>
                </a:solidFill>
                <a:effectLst/>
                <a:uLnTx/>
                <a:uFillTx/>
                <a:latin typeface="Courier New" panose="02070309020205020404" pitchFamily="49" charset="0"/>
                <a:ea typeface="黑体" panose="02010609060101010101" pitchFamily="49" charset="-122"/>
                <a:cs typeface="Courier New" panose="02070309020205020404" pitchFamily="49" charset="0"/>
              </a:rPr>
              <a:t>                         </a:t>
            </a:r>
          </a:p>
        </p:txBody>
      </p:sp>
      <p:cxnSp>
        <p:nvCxnSpPr>
          <p:cNvPr id="8" name="直接箭头连接符 7">
            <a:extLst>
              <a:ext uri="{FF2B5EF4-FFF2-40B4-BE49-F238E27FC236}">
                <a16:creationId xmlns:a16="http://schemas.microsoft.com/office/drawing/2014/main" id="{45044A4F-23A5-7D6C-34D6-A3FA6A17AD87}"/>
              </a:ext>
            </a:extLst>
          </p:cNvPr>
          <p:cNvCxnSpPr>
            <a:cxnSpLocks/>
          </p:cNvCxnSpPr>
          <p:nvPr/>
        </p:nvCxnSpPr>
        <p:spPr>
          <a:xfrm>
            <a:off x="8203522" y="4517831"/>
            <a:ext cx="0" cy="573501"/>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9" name="Text Box 78">
            <a:extLst>
              <a:ext uri="{FF2B5EF4-FFF2-40B4-BE49-F238E27FC236}">
                <a16:creationId xmlns:a16="http://schemas.microsoft.com/office/drawing/2014/main" id="{A606010A-7DE6-8D6C-9C2D-3215165651AF}"/>
              </a:ext>
            </a:extLst>
          </p:cNvPr>
          <p:cNvSpPr txBox="1">
            <a:spLocks noChangeArrowheads="1"/>
          </p:cNvSpPr>
          <p:nvPr/>
        </p:nvSpPr>
        <p:spPr bwMode="auto">
          <a:xfrm>
            <a:off x="7915490" y="3933056"/>
            <a:ext cx="6714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en-US" altLang="zh-CN" sz="32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q</a:t>
            </a:r>
          </a:p>
        </p:txBody>
      </p:sp>
      <p:sp>
        <p:nvSpPr>
          <p:cNvPr id="10" name="文本框 6">
            <a:extLst>
              <a:ext uri="{FF2B5EF4-FFF2-40B4-BE49-F238E27FC236}">
                <a16:creationId xmlns:a16="http://schemas.microsoft.com/office/drawing/2014/main" id="{309FB614-E029-899F-5E4F-8975C62C6395}"/>
              </a:ext>
            </a:extLst>
          </p:cNvPr>
          <p:cNvSpPr txBox="1"/>
          <p:nvPr/>
        </p:nvSpPr>
        <p:spPr>
          <a:xfrm>
            <a:off x="9067709" y="5105219"/>
            <a:ext cx="793899" cy="584775"/>
          </a:xfrm>
          <a:prstGeom prst="rect">
            <a:avLst/>
          </a:prstGeom>
          <a:noFill/>
          <a:ln w="38100" cmpd="sng">
            <a:no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rPr>
              <a:t>B</a:t>
            </a:r>
          </a:p>
        </p:txBody>
      </p:sp>
      <p:cxnSp>
        <p:nvCxnSpPr>
          <p:cNvPr id="11" name="直接箭头连接符 10">
            <a:extLst>
              <a:ext uri="{FF2B5EF4-FFF2-40B4-BE49-F238E27FC236}">
                <a16:creationId xmlns:a16="http://schemas.microsoft.com/office/drawing/2014/main" id="{2739C210-639D-3CA3-5637-43E629351581}"/>
              </a:ext>
            </a:extLst>
          </p:cNvPr>
          <p:cNvCxnSpPr>
            <a:cxnSpLocks/>
          </p:cNvCxnSpPr>
          <p:nvPr/>
        </p:nvCxnSpPr>
        <p:spPr>
          <a:xfrm>
            <a:off x="9521400" y="4517831"/>
            <a:ext cx="0" cy="573501"/>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2" name="Text Box 78">
            <a:extLst>
              <a:ext uri="{FF2B5EF4-FFF2-40B4-BE49-F238E27FC236}">
                <a16:creationId xmlns:a16="http://schemas.microsoft.com/office/drawing/2014/main" id="{3EBEF5A7-3096-76BA-158E-8779A36C4924}"/>
              </a:ext>
            </a:extLst>
          </p:cNvPr>
          <p:cNvSpPr txBox="1">
            <a:spLocks noChangeArrowheads="1"/>
          </p:cNvSpPr>
          <p:nvPr/>
        </p:nvSpPr>
        <p:spPr bwMode="auto">
          <a:xfrm>
            <a:off x="9355650" y="3933056"/>
            <a:ext cx="6714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en-US" altLang="zh-CN" sz="32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p</a:t>
            </a:r>
          </a:p>
        </p:txBody>
      </p:sp>
      <p:sp>
        <p:nvSpPr>
          <p:cNvPr id="13" name="文本框 6">
            <a:extLst>
              <a:ext uri="{FF2B5EF4-FFF2-40B4-BE49-F238E27FC236}">
                <a16:creationId xmlns:a16="http://schemas.microsoft.com/office/drawing/2014/main" id="{C5A2587E-1F4A-B684-02DF-91216BB3B382}"/>
              </a:ext>
            </a:extLst>
          </p:cNvPr>
          <p:cNvSpPr txBox="1"/>
          <p:nvPr/>
        </p:nvSpPr>
        <p:spPr>
          <a:xfrm>
            <a:off x="8508132" y="5097863"/>
            <a:ext cx="793899" cy="584775"/>
          </a:xfrm>
          <a:prstGeom prst="rect">
            <a:avLst/>
          </a:prstGeom>
          <a:noFill/>
          <a:ln w="38100" cmpd="sng">
            <a:no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rPr>
              <a:t>D</a:t>
            </a:r>
          </a:p>
        </p:txBody>
      </p:sp>
      <p:sp>
        <p:nvSpPr>
          <p:cNvPr id="14" name="文本框 6">
            <a:extLst>
              <a:ext uri="{FF2B5EF4-FFF2-40B4-BE49-F238E27FC236}">
                <a16:creationId xmlns:a16="http://schemas.microsoft.com/office/drawing/2014/main" id="{990F5C25-491E-93D2-1EFB-71E08DA6F37D}"/>
              </a:ext>
            </a:extLst>
          </p:cNvPr>
          <p:cNvSpPr txBox="1"/>
          <p:nvPr/>
        </p:nvSpPr>
        <p:spPr>
          <a:xfrm>
            <a:off x="7899554" y="5105219"/>
            <a:ext cx="793899" cy="584775"/>
          </a:xfrm>
          <a:prstGeom prst="rect">
            <a:avLst/>
          </a:prstGeom>
          <a:noFill/>
          <a:ln w="38100" cmpd="sng">
            <a:no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rPr>
              <a:t>G</a:t>
            </a:r>
          </a:p>
        </p:txBody>
      </p:sp>
      <p:sp>
        <p:nvSpPr>
          <p:cNvPr id="15" name="文本框 6">
            <a:extLst>
              <a:ext uri="{FF2B5EF4-FFF2-40B4-BE49-F238E27FC236}">
                <a16:creationId xmlns:a16="http://schemas.microsoft.com/office/drawing/2014/main" id="{AC25B33D-FE25-92AE-8AC4-C0ABC6775BBD}"/>
              </a:ext>
            </a:extLst>
          </p:cNvPr>
          <p:cNvSpPr txBox="1"/>
          <p:nvPr/>
        </p:nvSpPr>
        <p:spPr>
          <a:xfrm>
            <a:off x="8038641" y="457082"/>
            <a:ext cx="793899" cy="584775"/>
          </a:xfrm>
          <a:prstGeom prst="rect">
            <a:avLst/>
          </a:prstGeom>
          <a:noFill/>
          <a:ln w="38100" cmpd="sng">
            <a:no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0" i="0" u="none" strike="noStrike" kern="1200" cap="none" spc="0" normalizeH="0" baseline="0" noProof="1">
                <a:ln>
                  <a:noFill/>
                </a:ln>
                <a:solidFill>
                  <a:srgbClr val="C00000"/>
                </a:solidFill>
                <a:effectLst>
                  <a:outerShdw blurRad="38100" dist="38100" dir="2700000">
                    <a:srgbClr val="000000"/>
                  </a:outerShdw>
                </a:effectLst>
                <a:uLnTx/>
                <a:uFillTx/>
                <a:latin typeface="Times New Roman" panose="02020603050405020304"/>
                <a:ea typeface="宋体" panose="02010600030101010101" pitchFamily="2" charset="-122"/>
                <a:cs typeface="+mn-cs"/>
              </a:rPr>
              <a:t>H</a:t>
            </a:r>
          </a:p>
        </p:txBody>
      </p:sp>
      <p:sp>
        <p:nvSpPr>
          <p:cNvPr id="16" name="Text Box 78">
            <a:extLst>
              <a:ext uri="{FF2B5EF4-FFF2-40B4-BE49-F238E27FC236}">
                <a16:creationId xmlns:a16="http://schemas.microsoft.com/office/drawing/2014/main" id="{84DA82C8-A1C6-2EA5-5148-CC67A15EC774}"/>
              </a:ext>
            </a:extLst>
          </p:cNvPr>
          <p:cNvSpPr txBox="1">
            <a:spLocks noChangeArrowheads="1"/>
          </p:cNvSpPr>
          <p:nvPr/>
        </p:nvSpPr>
        <p:spPr bwMode="auto">
          <a:xfrm>
            <a:off x="6053008" y="470324"/>
            <a:ext cx="6714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4</a:t>
            </a:r>
          </a:p>
        </p:txBody>
      </p:sp>
      <p:sp>
        <p:nvSpPr>
          <p:cNvPr id="17" name="文本框 4">
            <a:extLst>
              <a:ext uri="{FF2B5EF4-FFF2-40B4-BE49-F238E27FC236}">
                <a16:creationId xmlns:a16="http://schemas.microsoft.com/office/drawing/2014/main" id="{AB7356D3-048C-BFC7-85A2-07CB5E94528A}"/>
              </a:ext>
            </a:extLst>
          </p:cNvPr>
          <p:cNvSpPr txBox="1"/>
          <p:nvPr/>
        </p:nvSpPr>
        <p:spPr>
          <a:xfrm>
            <a:off x="6233878" y="5097865"/>
            <a:ext cx="594480" cy="584774"/>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rPr>
              <a:t>A</a:t>
            </a:r>
          </a:p>
        </p:txBody>
      </p:sp>
      <p:sp>
        <p:nvSpPr>
          <p:cNvPr id="18" name="文本框 6">
            <a:extLst>
              <a:ext uri="{FF2B5EF4-FFF2-40B4-BE49-F238E27FC236}">
                <a16:creationId xmlns:a16="http://schemas.microsoft.com/office/drawing/2014/main" id="{22E4A3EC-D895-4C67-0289-F42861DD9E30}"/>
              </a:ext>
            </a:extLst>
          </p:cNvPr>
          <p:cNvSpPr txBox="1"/>
          <p:nvPr/>
        </p:nvSpPr>
        <p:spPr>
          <a:xfrm>
            <a:off x="6822765" y="5097865"/>
            <a:ext cx="594481" cy="584774"/>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rPr>
              <a:t>C</a:t>
            </a:r>
          </a:p>
        </p:txBody>
      </p:sp>
      <p:sp>
        <p:nvSpPr>
          <p:cNvPr id="19" name="文本框 7">
            <a:extLst>
              <a:ext uri="{FF2B5EF4-FFF2-40B4-BE49-F238E27FC236}">
                <a16:creationId xmlns:a16="http://schemas.microsoft.com/office/drawing/2014/main" id="{8AF9F2D5-3932-4EAF-C2BB-368B975EDCCA}"/>
              </a:ext>
            </a:extLst>
          </p:cNvPr>
          <p:cNvSpPr txBox="1"/>
          <p:nvPr/>
        </p:nvSpPr>
        <p:spPr>
          <a:xfrm>
            <a:off x="7422905" y="5097863"/>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r>
              <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rPr>
              <a:t>E</a:t>
            </a:r>
          </a:p>
        </p:txBody>
      </p:sp>
      <p:sp>
        <p:nvSpPr>
          <p:cNvPr id="20" name="Text Box 78">
            <a:extLst>
              <a:ext uri="{FF2B5EF4-FFF2-40B4-BE49-F238E27FC236}">
                <a16:creationId xmlns:a16="http://schemas.microsoft.com/office/drawing/2014/main" id="{0DE24794-0F87-B185-F0B2-BCC1FFFC4E70}"/>
              </a:ext>
            </a:extLst>
          </p:cNvPr>
          <p:cNvSpPr txBox="1">
            <a:spLocks noChangeArrowheads="1"/>
          </p:cNvSpPr>
          <p:nvPr/>
        </p:nvSpPr>
        <p:spPr bwMode="auto">
          <a:xfrm>
            <a:off x="6343427" y="5636572"/>
            <a:ext cx="52061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0    </a:t>
            </a:r>
            <a:r>
              <a:rPr kumimoji="0" lang="en-US" altLang="zh-CN" sz="16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1     </a:t>
            </a:r>
            <a:r>
              <a:rPr kumimoji="0" lang="en-US" altLang="zh-CN" sz="16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2    </a:t>
            </a:r>
            <a:r>
              <a:rPr kumimoji="0" lang="en-US" altLang="zh-CN" sz="16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3    </a:t>
            </a:r>
            <a:r>
              <a:rPr kumimoji="0" lang="en-US" altLang="zh-CN" sz="16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4    </a:t>
            </a:r>
            <a:r>
              <a:rPr kumimoji="0" lang="en-US" altLang="zh-CN" sz="16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5    </a:t>
            </a:r>
            <a:r>
              <a:rPr kumimoji="0" lang="en-US" altLang="zh-CN" sz="16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6    </a:t>
            </a:r>
            <a:r>
              <a:rPr kumimoji="0" lang="en-US" altLang="zh-CN" sz="16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7    </a:t>
            </a:r>
            <a:r>
              <a:rPr kumimoji="0" lang="en-US" altLang="zh-CN" sz="16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8</a:t>
            </a:r>
          </a:p>
        </p:txBody>
      </p:sp>
      <p:sp>
        <p:nvSpPr>
          <p:cNvPr id="21" name="文本框 7">
            <a:extLst>
              <a:ext uri="{FF2B5EF4-FFF2-40B4-BE49-F238E27FC236}">
                <a16:creationId xmlns:a16="http://schemas.microsoft.com/office/drawing/2014/main" id="{EAF511FF-3156-F0B8-6E9D-4C7FAFC95300}"/>
              </a:ext>
            </a:extLst>
          </p:cNvPr>
          <p:cNvSpPr txBox="1"/>
          <p:nvPr/>
        </p:nvSpPr>
        <p:spPr>
          <a:xfrm>
            <a:off x="10375496" y="5097863"/>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endPar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endParaRPr>
          </a:p>
        </p:txBody>
      </p:sp>
      <p:sp>
        <p:nvSpPr>
          <p:cNvPr id="22" name="文本框 7">
            <a:extLst>
              <a:ext uri="{FF2B5EF4-FFF2-40B4-BE49-F238E27FC236}">
                <a16:creationId xmlns:a16="http://schemas.microsoft.com/office/drawing/2014/main" id="{9520B77D-B504-9E12-7BAF-A7D41F2C5688}"/>
              </a:ext>
            </a:extLst>
          </p:cNvPr>
          <p:cNvSpPr txBox="1"/>
          <p:nvPr/>
        </p:nvSpPr>
        <p:spPr>
          <a:xfrm>
            <a:off x="10962518" y="5097863"/>
            <a:ext cx="587022" cy="584775"/>
          </a:xfrm>
          <a:prstGeom prst="rect">
            <a:avLst/>
          </a:prstGeom>
          <a:solidFill>
            <a:srgbClr val="CCFFFF"/>
          </a:solidFill>
          <a:ln w="381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ctr" latinLnBrk="0" hangingPunct="1">
              <a:lnSpc>
                <a:spcPct val="100000"/>
              </a:lnSpc>
              <a:spcBef>
                <a:spcPct val="50000"/>
              </a:spcBef>
              <a:spcAft>
                <a:spcPts val="0"/>
              </a:spcAft>
              <a:buClrTx/>
              <a:buSzTx/>
              <a:buFontTx/>
              <a:buNone/>
              <a:tabLst/>
              <a:defRPr/>
            </a:pPr>
            <a:endParaRPr kumimoji="0" lang="en-US" altLang="zh-CN" sz="3200" b="0" i="0" u="none" strike="noStrike" kern="1200" cap="none" spc="0" normalizeH="0" baseline="0" noProof="1">
              <a:ln>
                <a:noFill/>
              </a:ln>
              <a:solidFill>
                <a:srgbClr val="0000CC"/>
              </a:solidFill>
              <a:effectLst>
                <a:outerShdw blurRad="38100" dist="38100" dir="2700000">
                  <a:srgbClr val="000000"/>
                </a:outerShdw>
              </a:effectLst>
              <a:uLnTx/>
              <a:uFillTx/>
              <a:latin typeface="Times New Roman" panose="02020603050405020304"/>
              <a:ea typeface="宋体" panose="02010600030101010101" pitchFamily="2" charset="-122"/>
              <a:cs typeface="+mn-cs"/>
            </a:endParaRPr>
          </a:p>
        </p:txBody>
      </p:sp>
      <p:grpSp>
        <p:nvGrpSpPr>
          <p:cNvPr id="23" name="组合 22">
            <a:extLst>
              <a:ext uri="{FF2B5EF4-FFF2-40B4-BE49-F238E27FC236}">
                <a16:creationId xmlns:a16="http://schemas.microsoft.com/office/drawing/2014/main" id="{F9E6E16A-AEA9-1308-11C0-0862386D8C2F}"/>
              </a:ext>
            </a:extLst>
          </p:cNvPr>
          <p:cNvGrpSpPr/>
          <p:nvPr/>
        </p:nvGrpSpPr>
        <p:grpSpPr>
          <a:xfrm>
            <a:off x="4075031" y="4733855"/>
            <a:ext cx="1574546" cy="1791400"/>
            <a:chOff x="5014310" y="4350797"/>
            <a:chExt cx="1574546" cy="1791400"/>
          </a:xfrm>
        </p:grpSpPr>
        <p:sp>
          <p:nvSpPr>
            <p:cNvPr id="24" name="文本框 81922">
              <a:extLst>
                <a:ext uri="{FF2B5EF4-FFF2-40B4-BE49-F238E27FC236}">
                  <a16:creationId xmlns:a16="http://schemas.microsoft.com/office/drawing/2014/main" id="{B7F22B86-8767-BBAF-B6E5-655CC8A6C3EA}"/>
                </a:ext>
              </a:extLst>
            </p:cNvPr>
            <p:cNvSpPr txBox="1">
              <a:spLocks noChangeArrowheads="1"/>
            </p:cNvSpPr>
            <p:nvPr/>
          </p:nvSpPr>
          <p:spPr bwMode="auto">
            <a:xfrm>
              <a:off x="5091063" y="4763903"/>
              <a:ext cx="987156" cy="46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400" b="1" i="0" u="none" strike="noStrike" kern="1200" cap="none" spc="0" normalizeH="0" baseline="0" noProof="0" dirty="0" err="1">
                  <a:ln>
                    <a:noFill/>
                  </a:ln>
                  <a:solidFill>
                    <a:srgbClr val="008080"/>
                  </a:solidFill>
                  <a:effectLst/>
                  <a:uLnTx/>
                  <a:uFillTx/>
                  <a:latin typeface="Times New Roman" panose="02020603050405020304"/>
                  <a:ea typeface="宋体" panose="02010600030101010101" pitchFamily="2" charset="-122"/>
                  <a:cs typeface="+mn-cs"/>
                </a:rPr>
                <a:t>elem</a:t>
              </a:r>
              <a:endParaRPr kumimoji="0" lang="zh-CN" altLang="en-US" sz="24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endParaRPr>
            </a:p>
          </p:txBody>
        </p:sp>
        <p:sp>
          <p:nvSpPr>
            <p:cNvPr id="25" name="文本框 81922">
              <a:extLst>
                <a:ext uri="{FF2B5EF4-FFF2-40B4-BE49-F238E27FC236}">
                  <a16:creationId xmlns:a16="http://schemas.microsoft.com/office/drawing/2014/main" id="{DF77F785-D9BC-5DFE-FE44-199873CF4FC8}"/>
                </a:ext>
              </a:extLst>
            </p:cNvPr>
            <p:cNvSpPr txBox="1">
              <a:spLocks noChangeArrowheads="1"/>
            </p:cNvSpPr>
            <p:nvPr/>
          </p:nvSpPr>
          <p:spPr bwMode="auto">
            <a:xfrm>
              <a:off x="5014310" y="5219220"/>
              <a:ext cx="1084644" cy="46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 typeface="Monotype Sorts" pitchFamily="2" charset="2"/>
                <a:buNone/>
                <a:tabLst/>
                <a:defRPr/>
              </a:pPr>
              <a:r>
                <a:rPr kumimoji="0" lang="en-US" altLang="zh-CN" sz="24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length</a:t>
              </a:r>
              <a:endParaRPr kumimoji="0" lang="zh-CN" altLang="en-US" sz="24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endParaRPr>
            </a:p>
          </p:txBody>
        </p:sp>
        <p:sp>
          <p:nvSpPr>
            <p:cNvPr id="26" name="矩形 25">
              <a:extLst>
                <a:ext uri="{FF2B5EF4-FFF2-40B4-BE49-F238E27FC236}">
                  <a16:creationId xmlns:a16="http://schemas.microsoft.com/office/drawing/2014/main" id="{EC62519A-DF50-7D73-8388-FF47966FEDDF}"/>
                </a:ext>
              </a:extLst>
            </p:cNvPr>
            <p:cNvSpPr/>
            <p:nvPr/>
          </p:nvSpPr>
          <p:spPr>
            <a:xfrm>
              <a:off x="6074443" y="4767250"/>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27" name="矩形 26">
              <a:extLst>
                <a:ext uri="{FF2B5EF4-FFF2-40B4-BE49-F238E27FC236}">
                  <a16:creationId xmlns:a16="http://schemas.microsoft.com/office/drawing/2014/main" id="{073A0D20-8970-0382-60C7-9F2DB860E5D8}"/>
                </a:ext>
              </a:extLst>
            </p:cNvPr>
            <p:cNvSpPr/>
            <p:nvPr/>
          </p:nvSpPr>
          <p:spPr>
            <a:xfrm>
              <a:off x="6074443" y="52277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28" name="矩形 27">
              <a:extLst>
                <a:ext uri="{FF2B5EF4-FFF2-40B4-BE49-F238E27FC236}">
                  <a16:creationId xmlns:a16="http://schemas.microsoft.com/office/drawing/2014/main" id="{A3FC4EE1-01B8-E98B-268F-1BD79C29D905}"/>
                </a:ext>
              </a:extLst>
            </p:cNvPr>
            <p:cNvSpPr/>
            <p:nvPr/>
          </p:nvSpPr>
          <p:spPr>
            <a:xfrm>
              <a:off x="6074442" y="56849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29" name="文本框 81922">
              <a:extLst>
                <a:ext uri="{FF2B5EF4-FFF2-40B4-BE49-F238E27FC236}">
                  <a16:creationId xmlns:a16="http://schemas.microsoft.com/office/drawing/2014/main" id="{2D0AEDAA-A392-7F6B-B14A-CD5E84D92BE9}"/>
                </a:ext>
              </a:extLst>
            </p:cNvPr>
            <p:cNvSpPr txBox="1">
              <a:spLocks noChangeArrowheads="1"/>
            </p:cNvSpPr>
            <p:nvPr/>
          </p:nvSpPr>
          <p:spPr bwMode="auto">
            <a:xfrm>
              <a:off x="5019055" y="5663575"/>
              <a:ext cx="1067644" cy="46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 typeface="Monotype Sorts" pitchFamily="2" charset="2"/>
                <a:buNone/>
                <a:tabLst/>
                <a:defRPr/>
              </a:pPr>
              <a:r>
                <a:rPr kumimoji="0" lang="en-US" altLang="zh-CN" sz="24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size</a:t>
              </a:r>
              <a:endParaRPr kumimoji="0" lang="zh-CN" altLang="en-US" sz="24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endParaRPr>
            </a:p>
          </p:txBody>
        </p:sp>
        <p:sp>
          <p:nvSpPr>
            <p:cNvPr id="30" name="文本框 81922">
              <a:extLst>
                <a:ext uri="{FF2B5EF4-FFF2-40B4-BE49-F238E27FC236}">
                  <a16:creationId xmlns:a16="http://schemas.microsoft.com/office/drawing/2014/main" id="{952772D2-FBD0-A06C-7825-1D8200A736DF}"/>
                </a:ext>
              </a:extLst>
            </p:cNvPr>
            <p:cNvSpPr txBox="1">
              <a:spLocks noChangeArrowheads="1"/>
            </p:cNvSpPr>
            <p:nvPr/>
          </p:nvSpPr>
          <p:spPr bwMode="auto">
            <a:xfrm>
              <a:off x="6069146" y="4350797"/>
              <a:ext cx="472887"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srgbClr val="008080"/>
                  </a:solidFill>
                  <a:effectLst/>
                  <a:uLnTx/>
                  <a:uFillTx/>
                  <a:latin typeface="Times New Roman" panose="02020603050405020304" pitchFamily="18" charset="0"/>
                  <a:ea typeface="楷体_GB2312" pitchFamily="49" charset="-122"/>
                  <a:cs typeface="+mn-cs"/>
                </a:rPr>
                <a:t>L</a:t>
              </a:r>
              <a:endParaRPr kumimoji="0" lang="zh-CN" altLang="en-US" sz="2400" b="1" i="0" u="none" strike="noStrike" kern="1200" cap="none" spc="0" normalizeH="0" baseline="0" noProof="0" dirty="0">
                <a:ln>
                  <a:noFill/>
                </a:ln>
                <a:solidFill>
                  <a:srgbClr val="008080"/>
                </a:solidFill>
                <a:effectLst/>
                <a:uLnTx/>
                <a:uFillTx/>
                <a:latin typeface="Times New Roman" panose="02020603050405020304" pitchFamily="18" charset="0"/>
                <a:ea typeface="宋体" panose="02010600030101010101" pitchFamily="2" charset="-122"/>
                <a:cs typeface="+mn-cs"/>
              </a:endParaRPr>
            </a:p>
          </p:txBody>
        </p:sp>
      </p:grpSp>
      <p:sp>
        <p:nvSpPr>
          <p:cNvPr id="31" name="文本框 7">
            <a:extLst>
              <a:ext uri="{FF2B5EF4-FFF2-40B4-BE49-F238E27FC236}">
                <a16:creationId xmlns:a16="http://schemas.microsoft.com/office/drawing/2014/main" id="{D882C481-F089-823F-9AE1-A1E9CCA93044}"/>
              </a:ext>
            </a:extLst>
          </p:cNvPr>
          <p:cNvSpPr txBox="1"/>
          <p:nvPr/>
        </p:nvSpPr>
        <p:spPr>
          <a:xfrm>
            <a:off x="5268500" y="6049575"/>
            <a:ext cx="283537" cy="523220"/>
          </a:xfrm>
          <a:prstGeom prst="rect">
            <a:avLst/>
          </a:prstGeom>
          <a:noFill/>
        </p:spPr>
        <p:txBody>
          <a:bodyPr wrap="square" rtlCol="0">
            <a:spAutoFit/>
          </a:bodyPr>
          <a:ls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9</a:t>
            </a:r>
            <a:endParaRPr kumimoji="0" lang="zh-CN" altLang="en-US" sz="2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32" name="文本框 40">
            <a:extLst>
              <a:ext uri="{FF2B5EF4-FFF2-40B4-BE49-F238E27FC236}">
                <a16:creationId xmlns:a16="http://schemas.microsoft.com/office/drawing/2014/main" id="{AC3AD318-9FE8-8764-A767-8464F97B94B4}"/>
              </a:ext>
            </a:extLst>
          </p:cNvPr>
          <p:cNvSpPr txBox="1"/>
          <p:nvPr/>
        </p:nvSpPr>
        <p:spPr>
          <a:xfrm>
            <a:off x="5115129" y="5610483"/>
            <a:ext cx="568113" cy="430887"/>
          </a:xfrm>
          <a:prstGeom prst="rect">
            <a:avLst/>
          </a:prstGeom>
          <a:noFill/>
        </p:spPr>
        <p:txBody>
          <a:bodyPr wrap="square" lIns="0" tIns="0" rIns="0" bIns="0" rtlCol="0">
            <a:spAutoFit/>
          </a:bodyPr>
          <a:ls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6</a:t>
            </a:r>
            <a:endParaRPr kumimoji="0" lang="zh-CN" altLang="en-US" sz="2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33" name="文本框 40">
            <a:extLst>
              <a:ext uri="{FF2B5EF4-FFF2-40B4-BE49-F238E27FC236}">
                <a16:creationId xmlns:a16="http://schemas.microsoft.com/office/drawing/2014/main" id="{E49511A6-BC5D-98DE-30B8-05DEC081723B}"/>
              </a:ext>
            </a:extLst>
          </p:cNvPr>
          <p:cNvSpPr txBox="1"/>
          <p:nvPr/>
        </p:nvSpPr>
        <p:spPr>
          <a:xfrm>
            <a:off x="5093401" y="5635814"/>
            <a:ext cx="568113" cy="430887"/>
          </a:xfrm>
          <a:prstGeom prst="rect">
            <a:avLst/>
          </a:prstGeom>
          <a:noFill/>
        </p:spPr>
        <p:txBody>
          <a:bodyPr wrap="square" lIns="0" tIns="0" rIns="0" bIns="0" rtlCol="0">
            <a:spAutoFit/>
          </a:bodyPr>
          <a:ls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7</a:t>
            </a:r>
            <a:endParaRPr kumimoji="0" lang="zh-CN" altLang="en-US" sz="28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cxnSp>
        <p:nvCxnSpPr>
          <p:cNvPr id="34" name="直接箭头连接符 33">
            <a:extLst>
              <a:ext uri="{FF2B5EF4-FFF2-40B4-BE49-F238E27FC236}">
                <a16:creationId xmlns:a16="http://schemas.microsoft.com/office/drawing/2014/main" id="{2A764E7D-B30E-8447-62C7-066B464E0E71}"/>
              </a:ext>
            </a:extLst>
          </p:cNvPr>
          <p:cNvCxnSpPr>
            <a:cxnSpLocks/>
            <a:endCxn id="17" idx="1"/>
          </p:cNvCxnSpPr>
          <p:nvPr/>
        </p:nvCxnSpPr>
        <p:spPr>
          <a:xfrm>
            <a:off x="5377457" y="5390251"/>
            <a:ext cx="856421" cy="1"/>
          </a:xfrm>
          <a:prstGeom prst="straightConnector1">
            <a:avLst/>
          </a:prstGeom>
          <a:ln w="38100">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0F5F25D0-5259-47B7-E31C-61BD48ADCDFB}"/>
              </a:ext>
            </a:extLst>
          </p:cNvPr>
          <p:cNvSpPr txBox="1"/>
          <p:nvPr/>
        </p:nvSpPr>
        <p:spPr>
          <a:xfrm>
            <a:off x="5995791" y="2425350"/>
            <a:ext cx="5539976" cy="1238352"/>
          </a:xfrm>
          <a:prstGeom prst="rect">
            <a:avLst/>
          </a:prstGeom>
          <a:solidFill>
            <a:schemeClr val="accent6">
              <a:lumMod val="20000"/>
              <a:lumOff val="80000"/>
            </a:schemeClr>
          </a:solidFill>
        </p:spPr>
        <p:txBody>
          <a:bodyPr wrap="square" rtlCol="0">
            <a:sp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 </a:t>
            </a:r>
            <a:r>
              <a:rPr kumimoji="0" lang="en-US" altLang="zh-CN" sz="2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 </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j = </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-1;</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 </a:t>
            </a:r>
            <a:r>
              <a:rPr kumimoji="0" lang="en-US" altLang="zh-CN" sz="2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for </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=L-&gt;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len</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-1; </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&gt;=j; --</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L-&gt;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[i+1] = L-&gt;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2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2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6" name="矩形: 圆角 35">
            <a:extLst>
              <a:ext uri="{FF2B5EF4-FFF2-40B4-BE49-F238E27FC236}">
                <a16:creationId xmlns:a16="http://schemas.microsoft.com/office/drawing/2014/main" id="{47862B5A-CDB2-FAF0-7B78-DE777D83D067}"/>
              </a:ext>
            </a:extLst>
          </p:cNvPr>
          <p:cNvSpPr/>
          <p:nvPr/>
        </p:nvSpPr>
        <p:spPr>
          <a:xfrm>
            <a:off x="1308059" y="207106"/>
            <a:ext cx="4543011" cy="537999"/>
          </a:xfrm>
          <a:prstGeom prst="roundRect">
            <a:avLst/>
          </a:prstGeom>
          <a:solidFill>
            <a:schemeClr val="tx2">
              <a:lumMod val="10000"/>
              <a:lumOff val="90000"/>
            </a:schemeClr>
          </a:solidFill>
          <a:ln>
            <a:solidFill>
              <a:schemeClr val="tx2">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cs typeface="+mn-cs"/>
              </a:rPr>
              <a:t>顺序表的插入</a:t>
            </a:r>
            <a:r>
              <a:rPr kumimoji="0" lang="en-US" altLang="zh-CN" sz="26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cs typeface="+mn-cs"/>
              </a:rPr>
              <a:t>(</a:t>
            </a:r>
            <a:r>
              <a:rPr kumimoji="0" lang="zh-CN" altLang="en-US" sz="26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cs typeface="+mn-cs"/>
              </a:rPr>
              <a:t>续</a:t>
            </a:r>
            <a:r>
              <a:rPr kumimoji="0" lang="en-US" altLang="zh-CN" sz="26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cs typeface="+mn-cs"/>
              </a:rPr>
              <a:t>)</a:t>
            </a:r>
            <a:endParaRPr kumimoji="0" lang="zh-CN" altLang="en-US" sz="26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cs typeface="+mn-cs"/>
            </a:endParaRPr>
          </a:p>
        </p:txBody>
      </p:sp>
      <p:sp>
        <p:nvSpPr>
          <p:cNvPr id="37" name="Text Box 78">
            <a:extLst>
              <a:ext uri="{FF2B5EF4-FFF2-40B4-BE49-F238E27FC236}">
                <a16:creationId xmlns:a16="http://schemas.microsoft.com/office/drawing/2014/main" id="{E323CB8A-4F71-08E0-24D3-3F89CB5FE855}"/>
              </a:ext>
            </a:extLst>
          </p:cNvPr>
          <p:cNvSpPr txBox="1">
            <a:spLocks noChangeArrowheads="1"/>
          </p:cNvSpPr>
          <p:nvPr/>
        </p:nvSpPr>
        <p:spPr bwMode="auto">
          <a:xfrm>
            <a:off x="322428" y="5309489"/>
            <a:ext cx="3337481" cy="430887"/>
          </a:xfrm>
          <a:prstGeom prst="rect">
            <a:avLst/>
          </a:prstGeom>
          <a:solidFill>
            <a:schemeClr val="accent3">
              <a:lumMod val="20000"/>
              <a:lumOff val="80000"/>
            </a:schemeClr>
          </a:solidFill>
          <a:ln>
            <a:noFill/>
          </a:ln>
          <a:effec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sym typeface="+mn-ea"/>
              </a:rPr>
              <a:t>3. </a:t>
            </a:r>
            <a:r>
              <a:rPr kumimoji="0" lang="zh-CN" altLang="en-US" sz="22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sym typeface="+mn-ea"/>
              </a:rPr>
              <a:t>在第 </a:t>
            </a:r>
            <a:r>
              <a:rPr kumimoji="0" lang="en-US" altLang="zh-CN" sz="22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sym typeface="+mn-ea"/>
              </a:rPr>
              <a:t>i</a:t>
            </a:r>
            <a:r>
              <a:rPr kumimoji="0" lang="en-US" altLang="zh-CN" sz="22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sym typeface="+mn-ea"/>
              </a:rPr>
              <a:t> </a:t>
            </a:r>
            <a:r>
              <a:rPr kumimoji="0" lang="zh-CN" altLang="en-US" sz="22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sym typeface="+mn-ea"/>
              </a:rPr>
              <a:t>位置插入元素 </a:t>
            </a:r>
            <a:r>
              <a:rPr kumimoji="0" lang="en-US" altLang="zh-CN" sz="22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sym typeface="+mn-ea"/>
              </a:rPr>
              <a:t>e</a:t>
            </a:r>
            <a:endParaRPr kumimoji="0" lang="zh-CN" altLang="en-US" sz="22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8" name="矩形 37">
            <a:extLst>
              <a:ext uri="{FF2B5EF4-FFF2-40B4-BE49-F238E27FC236}">
                <a16:creationId xmlns:a16="http://schemas.microsoft.com/office/drawing/2014/main" id="{EF5E42BA-BFCD-5AA9-0249-43D9775E384E}"/>
              </a:ext>
            </a:extLst>
          </p:cNvPr>
          <p:cNvSpPr/>
          <p:nvPr/>
        </p:nvSpPr>
        <p:spPr>
          <a:xfrm>
            <a:off x="1105319" y="1637881"/>
            <a:ext cx="7330272" cy="739929"/>
          </a:xfrm>
          <a:prstGeom prst="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39" name="箭头: 上下 38">
            <a:extLst>
              <a:ext uri="{FF2B5EF4-FFF2-40B4-BE49-F238E27FC236}">
                <a16:creationId xmlns:a16="http://schemas.microsoft.com/office/drawing/2014/main" id="{93C7FD85-EFC2-BB1A-5EE5-B4FC03CABC42}"/>
              </a:ext>
            </a:extLst>
          </p:cNvPr>
          <p:cNvSpPr/>
          <p:nvPr/>
        </p:nvSpPr>
        <p:spPr>
          <a:xfrm rot="19017141">
            <a:off x="5814305" y="2245425"/>
            <a:ext cx="296426" cy="452175"/>
          </a:xfrm>
          <a:prstGeom prst="upDownArrow">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Tree>
    <p:extLst>
      <p:ext uri="{BB962C8B-B14F-4D97-AF65-F5344CB8AC3E}">
        <p14:creationId xmlns:p14="http://schemas.microsoft.com/office/powerpoint/2010/main" val="323349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37">
                                            <p:txEl>
                                              <p:pRg st="0" end="0"/>
                                            </p:txEl>
                                          </p:spTgt>
                                        </p:tgtEl>
                                        <p:attrNameLst>
                                          <p:attrName>style.visibility</p:attrName>
                                        </p:attrNameLst>
                                      </p:cBhvr>
                                      <p:to>
                                        <p:strVal val="visible"/>
                                      </p:to>
                                    </p:set>
                                    <p:animEffect transition="in" filter="wipe(up)">
                                      <p:cBhvr>
                                        <p:cTn id="43" dur="500"/>
                                        <p:tgtEl>
                                          <p:spTgt spid="37">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1" presetClass="entr" presetSubtype="0" fill="hold" grpId="0" nodeType="clickEffect">
                                  <p:stCondLst>
                                    <p:cond delay="0"/>
                                  </p:stCondLst>
                                  <p:childTnLst>
                                    <p:set>
                                      <p:cBhvr>
                                        <p:cTn id="47" dur="1" fill="hold">
                                          <p:stCondLst>
                                            <p:cond delay="0"/>
                                          </p:stCondLst>
                                        </p:cTn>
                                        <p:tgtEl>
                                          <p:spTgt spid="16"/>
                                        </p:tgtEl>
                                        <p:attrNameLst>
                                          <p:attrName>style.visibility</p:attrName>
                                        </p:attrNameLst>
                                      </p:cBhvr>
                                      <p:to>
                                        <p:strVal val="visible"/>
                                      </p:to>
                                    </p:set>
                                    <p:anim calcmode="lin" valueType="num">
                                      <p:cBhvr>
                                        <p:cTn id="48" dur="1000" fill="hold"/>
                                        <p:tgtEl>
                                          <p:spTgt spid="16"/>
                                        </p:tgtEl>
                                        <p:attrNameLst>
                                          <p:attrName>ppt_w</p:attrName>
                                        </p:attrNameLst>
                                      </p:cBhvr>
                                      <p:tavLst>
                                        <p:tav tm="0">
                                          <p:val>
                                            <p:fltVal val="0"/>
                                          </p:val>
                                        </p:tav>
                                        <p:tav tm="100000">
                                          <p:val>
                                            <p:strVal val="#ppt_w"/>
                                          </p:val>
                                        </p:tav>
                                      </p:tavLst>
                                    </p:anim>
                                    <p:anim calcmode="lin" valueType="num">
                                      <p:cBhvr>
                                        <p:cTn id="49" dur="1000" fill="hold"/>
                                        <p:tgtEl>
                                          <p:spTgt spid="16"/>
                                        </p:tgtEl>
                                        <p:attrNameLst>
                                          <p:attrName>ppt_h</p:attrName>
                                        </p:attrNameLst>
                                      </p:cBhvr>
                                      <p:tavLst>
                                        <p:tav tm="0">
                                          <p:val>
                                            <p:fltVal val="0"/>
                                          </p:val>
                                        </p:tav>
                                        <p:tav tm="100000">
                                          <p:val>
                                            <p:strVal val="#ppt_h"/>
                                          </p:val>
                                        </p:tav>
                                      </p:tavLst>
                                    </p:anim>
                                    <p:anim calcmode="lin" valueType="num">
                                      <p:cBhvr>
                                        <p:cTn id="50" dur="1000" fill="hold"/>
                                        <p:tgtEl>
                                          <p:spTgt spid="16"/>
                                        </p:tgtEl>
                                        <p:attrNameLst>
                                          <p:attrName>style.rotation</p:attrName>
                                        </p:attrNameLst>
                                      </p:cBhvr>
                                      <p:tavLst>
                                        <p:tav tm="0">
                                          <p:val>
                                            <p:fltVal val="90"/>
                                          </p:val>
                                        </p:tav>
                                        <p:tav tm="100000">
                                          <p:val>
                                            <p:fltVal val="0"/>
                                          </p:val>
                                        </p:tav>
                                      </p:tavLst>
                                    </p:anim>
                                    <p:animEffect transition="in" filter="fade">
                                      <p:cBhvr>
                                        <p:cTn id="51" dur="1000"/>
                                        <p:tgtEl>
                                          <p:spTgt spid="16"/>
                                        </p:tgtEl>
                                      </p:cBhvr>
                                    </p:animEffect>
                                  </p:childTnLst>
                                </p:cTn>
                              </p:par>
                            </p:childTnLst>
                          </p:cTn>
                        </p:par>
                        <p:par>
                          <p:cTn id="52" fill="hold">
                            <p:stCondLst>
                              <p:cond delay="1000"/>
                            </p:stCondLst>
                            <p:childTnLst>
                              <p:par>
                                <p:cTn id="53" presetID="31" presetClass="entr" presetSubtype="0"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p:cTn id="55" dur="1000" fill="hold"/>
                                        <p:tgtEl>
                                          <p:spTgt spid="15"/>
                                        </p:tgtEl>
                                        <p:attrNameLst>
                                          <p:attrName>ppt_w</p:attrName>
                                        </p:attrNameLst>
                                      </p:cBhvr>
                                      <p:tavLst>
                                        <p:tav tm="0">
                                          <p:val>
                                            <p:fltVal val="0"/>
                                          </p:val>
                                        </p:tav>
                                        <p:tav tm="100000">
                                          <p:val>
                                            <p:strVal val="#ppt_w"/>
                                          </p:val>
                                        </p:tav>
                                      </p:tavLst>
                                    </p:anim>
                                    <p:anim calcmode="lin" valueType="num">
                                      <p:cBhvr>
                                        <p:cTn id="56" dur="1000" fill="hold"/>
                                        <p:tgtEl>
                                          <p:spTgt spid="15"/>
                                        </p:tgtEl>
                                        <p:attrNameLst>
                                          <p:attrName>ppt_h</p:attrName>
                                        </p:attrNameLst>
                                      </p:cBhvr>
                                      <p:tavLst>
                                        <p:tav tm="0">
                                          <p:val>
                                            <p:fltVal val="0"/>
                                          </p:val>
                                        </p:tav>
                                        <p:tav tm="100000">
                                          <p:val>
                                            <p:strVal val="#ppt_h"/>
                                          </p:val>
                                        </p:tav>
                                      </p:tavLst>
                                    </p:anim>
                                    <p:anim calcmode="lin" valueType="num">
                                      <p:cBhvr>
                                        <p:cTn id="57" dur="1000" fill="hold"/>
                                        <p:tgtEl>
                                          <p:spTgt spid="15"/>
                                        </p:tgtEl>
                                        <p:attrNameLst>
                                          <p:attrName>style.rotation</p:attrName>
                                        </p:attrNameLst>
                                      </p:cBhvr>
                                      <p:tavLst>
                                        <p:tav tm="0">
                                          <p:val>
                                            <p:fltVal val="90"/>
                                          </p:val>
                                        </p:tav>
                                        <p:tav tm="100000">
                                          <p:val>
                                            <p:fltVal val="0"/>
                                          </p:val>
                                        </p:tav>
                                      </p:tavLst>
                                    </p:anim>
                                    <p:animEffect transition="in" filter="fade">
                                      <p:cBhvr>
                                        <p:cTn id="58" dur="1000"/>
                                        <p:tgtEl>
                                          <p:spTgt spid="15"/>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7">
                                            <p:txEl>
                                              <p:pRg st="2" end="2"/>
                                            </p:txEl>
                                          </p:spTgt>
                                        </p:tgtEl>
                                        <p:attrNameLst>
                                          <p:attrName>style.visibility</p:attrName>
                                        </p:attrNameLst>
                                      </p:cBhvr>
                                      <p:to>
                                        <p:strVal val="visible"/>
                                      </p:to>
                                    </p:set>
                                    <p:animEffect transition="in" filter="fade">
                                      <p:cBhvr>
                                        <p:cTn id="63" dur="1000"/>
                                        <p:tgtEl>
                                          <p:spTgt spid="7">
                                            <p:txEl>
                                              <p:pRg st="2" end="2"/>
                                            </p:txEl>
                                          </p:spTgt>
                                        </p:tgtEl>
                                      </p:cBhvr>
                                    </p:animEffect>
                                    <p:anim calcmode="lin" valueType="num">
                                      <p:cBhvr>
                                        <p:cTn id="64"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par>
                          <p:cTn id="66" fill="hold">
                            <p:stCondLst>
                              <p:cond delay="1000"/>
                            </p:stCondLst>
                            <p:childTnLst>
                              <p:par>
                                <p:cTn id="67" presetID="42" presetClass="entr" presetSubtype="0" fill="hold" nodeType="afterEffect">
                                  <p:stCondLst>
                                    <p:cond delay="0"/>
                                  </p:stCondLst>
                                  <p:childTnLst>
                                    <p:set>
                                      <p:cBhvr>
                                        <p:cTn id="68" dur="1" fill="hold">
                                          <p:stCondLst>
                                            <p:cond delay="0"/>
                                          </p:stCondLst>
                                        </p:cTn>
                                        <p:tgtEl>
                                          <p:spTgt spid="7">
                                            <p:txEl>
                                              <p:pRg st="3" end="3"/>
                                            </p:txEl>
                                          </p:spTgt>
                                        </p:tgtEl>
                                        <p:attrNameLst>
                                          <p:attrName>style.visibility</p:attrName>
                                        </p:attrNameLst>
                                      </p:cBhvr>
                                      <p:to>
                                        <p:strVal val="visible"/>
                                      </p:to>
                                    </p:set>
                                    <p:animEffect transition="in" filter="fade">
                                      <p:cBhvr>
                                        <p:cTn id="69" dur="1000"/>
                                        <p:tgtEl>
                                          <p:spTgt spid="7">
                                            <p:txEl>
                                              <p:pRg st="3" end="3"/>
                                            </p:txEl>
                                          </p:spTgt>
                                        </p:tgtEl>
                                      </p:cBhvr>
                                    </p:animEffect>
                                    <p:anim calcmode="lin" valueType="num">
                                      <p:cBhvr>
                                        <p:cTn id="7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71"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38"/>
                                        </p:tgtEl>
                                        <p:attrNameLst>
                                          <p:attrName>style.visibility</p:attrName>
                                        </p:attrNameLst>
                                      </p:cBhvr>
                                      <p:to>
                                        <p:strVal val="visible"/>
                                      </p:to>
                                    </p:set>
                                    <p:animEffect transition="in" filter="wipe(up)">
                                      <p:cBhvr>
                                        <p:cTn id="76" dur="500"/>
                                        <p:tgtEl>
                                          <p:spTgt spid="38"/>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wipe(left)">
                                      <p:cBhvr>
                                        <p:cTn id="81" dur="1500"/>
                                        <p:tgtEl>
                                          <p:spTgt spid="35"/>
                                        </p:tgtEl>
                                      </p:cBhvr>
                                    </p:animEffect>
                                  </p:childTnLst>
                                </p:cTn>
                              </p:par>
                            </p:childTnLst>
                          </p:cTn>
                        </p:par>
                        <p:par>
                          <p:cTn id="82" fill="hold">
                            <p:stCondLst>
                              <p:cond delay="1500"/>
                            </p:stCondLst>
                            <p:childTnLst>
                              <p:par>
                                <p:cTn id="83" presetID="53" presetClass="entr" presetSubtype="16" fill="hold" grpId="0" nodeType="afterEffect">
                                  <p:stCondLst>
                                    <p:cond delay="0"/>
                                  </p:stCondLst>
                                  <p:childTnLst>
                                    <p:set>
                                      <p:cBhvr>
                                        <p:cTn id="84" dur="1" fill="hold">
                                          <p:stCondLst>
                                            <p:cond delay="0"/>
                                          </p:stCondLst>
                                        </p:cTn>
                                        <p:tgtEl>
                                          <p:spTgt spid="39"/>
                                        </p:tgtEl>
                                        <p:attrNameLst>
                                          <p:attrName>style.visibility</p:attrName>
                                        </p:attrNameLst>
                                      </p:cBhvr>
                                      <p:to>
                                        <p:strVal val="visible"/>
                                      </p:to>
                                    </p:set>
                                    <p:anim calcmode="lin" valueType="num">
                                      <p:cBhvr>
                                        <p:cTn id="85" dur="1000" fill="hold"/>
                                        <p:tgtEl>
                                          <p:spTgt spid="39"/>
                                        </p:tgtEl>
                                        <p:attrNameLst>
                                          <p:attrName>ppt_w</p:attrName>
                                        </p:attrNameLst>
                                      </p:cBhvr>
                                      <p:tavLst>
                                        <p:tav tm="0">
                                          <p:val>
                                            <p:fltVal val="0"/>
                                          </p:val>
                                        </p:tav>
                                        <p:tav tm="100000">
                                          <p:val>
                                            <p:strVal val="#ppt_w"/>
                                          </p:val>
                                        </p:tav>
                                      </p:tavLst>
                                    </p:anim>
                                    <p:anim calcmode="lin" valueType="num">
                                      <p:cBhvr>
                                        <p:cTn id="86" dur="1000" fill="hold"/>
                                        <p:tgtEl>
                                          <p:spTgt spid="39"/>
                                        </p:tgtEl>
                                        <p:attrNameLst>
                                          <p:attrName>ppt_h</p:attrName>
                                        </p:attrNameLst>
                                      </p:cBhvr>
                                      <p:tavLst>
                                        <p:tav tm="0">
                                          <p:val>
                                            <p:fltVal val="0"/>
                                          </p:val>
                                        </p:tav>
                                        <p:tav tm="100000">
                                          <p:val>
                                            <p:strVal val="#ppt_h"/>
                                          </p:val>
                                        </p:tav>
                                      </p:tavLst>
                                    </p:anim>
                                    <p:animEffect transition="in" filter="fade">
                                      <p:cBhvr>
                                        <p:cTn id="87" dur="1000"/>
                                        <p:tgtEl>
                                          <p:spTgt spid="39"/>
                                        </p:tgtEl>
                                      </p:cBhvr>
                                    </p:animEffect>
                                  </p:childTnLst>
                                </p:cTn>
                              </p:par>
                            </p:childTnLst>
                          </p:cTn>
                        </p:par>
                      </p:childTnLst>
                    </p:cTn>
                  </p:par>
                  <p:par>
                    <p:cTn id="88" fill="hold">
                      <p:stCondLst>
                        <p:cond delay="indefinite"/>
                      </p:stCondLst>
                      <p:childTnLst>
                        <p:par>
                          <p:cTn id="89" fill="hold">
                            <p:stCondLst>
                              <p:cond delay="0"/>
                            </p:stCondLst>
                            <p:childTnLst>
                              <p:par>
                                <p:cTn id="90" presetID="47" presetClass="entr" presetSubtype="0" fill="hold" nodeType="clickEffect">
                                  <p:stCondLst>
                                    <p:cond delay="0"/>
                                  </p:stCondLst>
                                  <p:childTnLst>
                                    <p:set>
                                      <p:cBhvr>
                                        <p:cTn id="91" dur="1" fill="hold">
                                          <p:stCondLst>
                                            <p:cond delay="0"/>
                                          </p:stCondLst>
                                        </p:cTn>
                                        <p:tgtEl>
                                          <p:spTgt spid="8"/>
                                        </p:tgtEl>
                                        <p:attrNameLst>
                                          <p:attrName>style.visibility</p:attrName>
                                        </p:attrNameLst>
                                      </p:cBhvr>
                                      <p:to>
                                        <p:strVal val="visible"/>
                                      </p:to>
                                    </p:set>
                                    <p:animEffect transition="in" filter="fade">
                                      <p:cBhvr>
                                        <p:cTn id="92" dur="1000"/>
                                        <p:tgtEl>
                                          <p:spTgt spid="8"/>
                                        </p:tgtEl>
                                      </p:cBhvr>
                                    </p:animEffect>
                                    <p:anim calcmode="lin" valueType="num">
                                      <p:cBhvr>
                                        <p:cTn id="93" dur="1000" fill="hold"/>
                                        <p:tgtEl>
                                          <p:spTgt spid="8"/>
                                        </p:tgtEl>
                                        <p:attrNameLst>
                                          <p:attrName>ppt_x</p:attrName>
                                        </p:attrNameLst>
                                      </p:cBhvr>
                                      <p:tavLst>
                                        <p:tav tm="0">
                                          <p:val>
                                            <p:strVal val="#ppt_x"/>
                                          </p:val>
                                        </p:tav>
                                        <p:tav tm="100000">
                                          <p:val>
                                            <p:strVal val="#ppt_x"/>
                                          </p:val>
                                        </p:tav>
                                      </p:tavLst>
                                    </p:anim>
                                    <p:anim calcmode="lin" valueType="num">
                                      <p:cBhvr>
                                        <p:cTn id="94" dur="1000" fill="hold"/>
                                        <p:tgtEl>
                                          <p:spTgt spid="8"/>
                                        </p:tgtEl>
                                        <p:attrNameLst>
                                          <p:attrName>ppt_y</p:attrName>
                                        </p:attrNameLst>
                                      </p:cBhvr>
                                      <p:tavLst>
                                        <p:tav tm="0">
                                          <p:val>
                                            <p:strVal val="#ppt_y-.1"/>
                                          </p:val>
                                        </p:tav>
                                        <p:tav tm="100000">
                                          <p:val>
                                            <p:strVal val="#ppt_y"/>
                                          </p:val>
                                        </p:tav>
                                      </p:tavLst>
                                    </p:anim>
                                  </p:childTnLst>
                                </p:cTn>
                              </p:par>
                              <p:par>
                                <p:cTn id="95" presetID="47" presetClass="entr" presetSubtype="0" fill="hold" grpId="0" nodeType="withEffect">
                                  <p:stCondLst>
                                    <p:cond delay="0"/>
                                  </p:stCondLst>
                                  <p:childTnLst>
                                    <p:set>
                                      <p:cBhvr>
                                        <p:cTn id="96" dur="1" fill="hold">
                                          <p:stCondLst>
                                            <p:cond delay="0"/>
                                          </p:stCondLst>
                                        </p:cTn>
                                        <p:tgtEl>
                                          <p:spTgt spid="9"/>
                                        </p:tgtEl>
                                        <p:attrNameLst>
                                          <p:attrName>style.visibility</p:attrName>
                                        </p:attrNameLst>
                                      </p:cBhvr>
                                      <p:to>
                                        <p:strVal val="visible"/>
                                      </p:to>
                                    </p:set>
                                    <p:animEffect transition="in" filter="fade">
                                      <p:cBhvr>
                                        <p:cTn id="97" dur="1000"/>
                                        <p:tgtEl>
                                          <p:spTgt spid="9"/>
                                        </p:tgtEl>
                                      </p:cBhvr>
                                    </p:animEffect>
                                    <p:anim calcmode="lin" valueType="num">
                                      <p:cBhvr>
                                        <p:cTn id="98" dur="1000" fill="hold"/>
                                        <p:tgtEl>
                                          <p:spTgt spid="9"/>
                                        </p:tgtEl>
                                        <p:attrNameLst>
                                          <p:attrName>ppt_x</p:attrName>
                                        </p:attrNameLst>
                                      </p:cBhvr>
                                      <p:tavLst>
                                        <p:tav tm="0">
                                          <p:val>
                                            <p:strVal val="#ppt_x"/>
                                          </p:val>
                                        </p:tav>
                                        <p:tav tm="100000">
                                          <p:val>
                                            <p:strVal val="#ppt_x"/>
                                          </p:val>
                                        </p:tav>
                                      </p:tavLst>
                                    </p:anim>
                                    <p:anim calcmode="lin" valueType="num">
                                      <p:cBhvr>
                                        <p:cTn id="99" dur="1000" fill="hold"/>
                                        <p:tgtEl>
                                          <p:spTgt spid="9"/>
                                        </p:tgtEl>
                                        <p:attrNameLst>
                                          <p:attrName>ppt_y</p:attrName>
                                        </p:attrNameLst>
                                      </p:cBhvr>
                                      <p:tavLst>
                                        <p:tav tm="0">
                                          <p:val>
                                            <p:strVal val="#ppt_y-.1"/>
                                          </p:val>
                                        </p:tav>
                                        <p:tav tm="100000">
                                          <p:val>
                                            <p:strVal val="#ppt_y"/>
                                          </p:val>
                                        </p:tav>
                                      </p:tavLst>
                                    </p:anim>
                                  </p:childTnLst>
                                </p:cTn>
                              </p:par>
                            </p:childTnLst>
                          </p:cTn>
                        </p:par>
                        <p:par>
                          <p:cTn id="100" fill="hold">
                            <p:stCondLst>
                              <p:cond delay="1000"/>
                            </p:stCondLst>
                            <p:childTnLst>
                              <p:par>
                                <p:cTn id="101" presetID="47" presetClass="entr" presetSubtype="0" fill="hold" nodeType="afterEffect">
                                  <p:stCondLst>
                                    <p:cond delay="0"/>
                                  </p:stCondLst>
                                  <p:childTnLst>
                                    <p:set>
                                      <p:cBhvr>
                                        <p:cTn id="102" dur="1" fill="hold">
                                          <p:stCondLst>
                                            <p:cond delay="0"/>
                                          </p:stCondLst>
                                        </p:cTn>
                                        <p:tgtEl>
                                          <p:spTgt spid="11"/>
                                        </p:tgtEl>
                                        <p:attrNameLst>
                                          <p:attrName>style.visibility</p:attrName>
                                        </p:attrNameLst>
                                      </p:cBhvr>
                                      <p:to>
                                        <p:strVal val="visible"/>
                                      </p:to>
                                    </p:set>
                                    <p:animEffect transition="in" filter="fade">
                                      <p:cBhvr>
                                        <p:cTn id="103" dur="1000"/>
                                        <p:tgtEl>
                                          <p:spTgt spid="11"/>
                                        </p:tgtEl>
                                      </p:cBhvr>
                                    </p:animEffect>
                                    <p:anim calcmode="lin" valueType="num">
                                      <p:cBhvr>
                                        <p:cTn id="104" dur="1000" fill="hold"/>
                                        <p:tgtEl>
                                          <p:spTgt spid="11"/>
                                        </p:tgtEl>
                                        <p:attrNameLst>
                                          <p:attrName>ppt_x</p:attrName>
                                        </p:attrNameLst>
                                      </p:cBhvr>
                                      <p:tavLst>
                                        <p:tav tm="0">
                                          <p:val>
                                            <p:strVal val="#ppt_x"/>
                                          </p:val>
                                        </p:tav>
                                        <p:tav tm="100000">
                                          <p:val>
                                            <p:strVal val="#ppt_x"/>
                                          </p:val>
                                        </p:tav>
                                      </p:tavLst>
                                    </p:anim>
                                    <p:anim calcmode="lin" valueType="num">
                                      <p:cBhvr>
                                        <p:cTn id="105" dur="1000" fill="hold"/>
                                        <p:tgtEl>
                                          <p:spTgt spid="11"/>
                                        </p:tgtEl>
                                        <p:attrNameLst>
                                          <p:attrName>ppt_y</p:attrName>
                                        </p:attrNameLst>
                                      </p:cBhvr>
                                      <p:tavLst>
                                        <p:tav tm="0">
                                          <p:val>
                                            <p:strVal val="#ppt_y-.1"/>
                                          </p:val>
                                        </p:tav>
                                        <p:tav tm="100000">
                                          <p:val>
                                            <p:strVal val="#ppt_y"/>
                                          </p:val>
                                        </p:tav>
                                      </p:tavLst>
                                    </p:anim>
                                  </p:childTnLst>
                                </p:cTn>
                              </p:par>
                              <p:par>
                                <p:cTn id="106" presetID="47" presetClass="entr" presetSubtype="0" fill="hold" grpId="0" nodeType="withEffect">
                                  <p:stCondLst>
                                    <p:cond delay="0"/>
                                  </p:stCondLst>
                                  <p:childTnLst>
                                    <p:set>
                                      <p:cBhvr>
                                        <p:cTn id="107" dur="1" fill="hold">
                                          <p:stCondLst>
                                            <p:cond delay="0"/>
                                          </p:stCondLst>
                                        </p:cTn>
                                        <p:tgtEl>
                                          <p:spTgt spid="12"/>
                                        </p:tgtEl>
                                        <p:attrNameLst>
                                          <p:attrName>style.visibility</p:attrName>
                                        </p:attrNameLst>
                                      </p:cBhvr>
                                      <p:to>
                                        <p:strVal val="visible"/>
                                      </p:to>
                                    </p:set>
                                    <p:animEffect transition="in" filter="fade">
                                      <p:cBhvr>
                                        <p:cTn id="108" dur="1000"/>
                                        <p:tgtEl>
                                          <p:spTgt spid="12"/>
                                        </p:tgtEl>
                                      </p:cBhvr>
                                    </p:animEffect>
                                    <p:anim calcmode="lin" valueType="num">
                                      <p:cBhvr>
                                        <p:cTn id="109" dur="1000" fill="hold"/>
                                        <p:tgtEl>
                                          <p:spTgt spid="12"/>
                                        </p:tgtEl>
                                        <p:attrNameLst>
                                          <p:attrName>ppt_x</p:attrName>
                                        </p:attrNameLst>
                                      </p:cBhvr>
                                      <p:tavLst>
                                        <p:tav tm="0">
                                          <p:val>
                                            <p:strVal val="#ppt_x"/>
                                          </p:val>
                                        </p:tav>
                                        <p:tav tm="100000">
                                          <p:val>
                                            <p:strVal val="#ppt_x"/>
                                          </p:val>
                                        </p:tav>
                                      </p:tavLst>
                                    </p:anim>
                                    <p:anim calcmode="lin" valueType="num">
                                      <p:cBhvr>
                                        <p:cTn id="110" dur="1000" fill="hold"/>
                                        <p:tgtEl>
                                          <p:spTgt spid="12"/>
                                        </p:tgtEl>
                                        <p:attrNameLst>
                                          <p:attrName>ppt_y</p:attrName>
                                        </p:attrNameLst>
                                      </p:cBhvr>
                                      <p:tavLst>
                                        <p:tav tm="0">
                                          <p:val>
                                            <p:strVal val="#ppt_y-.1"/>
                                          </p:val>
                                        </p:tav>
                                        <p:tav tm="100000">
                                          <p:val>
                                            <p:strVal val="#ppt_y"/>
                                          </p:val>
                                        </p:tav>
                                      </p:tavLst>
                                    </p:anim>
                                  </p:childTnLst>
                                </p:cTn>
                              </p:par>
                            </p:childTnLst>
                          </p:cTn>
                        </p:par>
                        <p:par>
                          <p:cTn id="111" fill="hold">
                            <p:stCondLst>
                              <p:cond delay="2000"/>
                            </p:stCondLst>
                            <p:childTnLst>
                              <p:par>
                                <p:cTn id="112" presetID="26" presetClass="emph" presetSubtype="0" fill="hold" grpId="2" nodeType="afterEffect">
                                  <p:stCondLst>
                                    <p:cond delay="0"/>
                                  </p:stCondLst>
                                  <p:childTnLst>
                                    <p:animEffect transition="out" filter="fade">
                                      <p:cBhvr>
                                        <p:cTn id="113" dur="500" tmFilter="0, 0; .2, .5; .8, .5; 1, 0"/>
                                        <p:tgtEl>
                                          <p:spTgt spid="10"/>
                                        </p:tgtEl>
                                      </p:cBhvr>
                                    </p:animEffect>
                                    <p:animScale>
                                      <p:cBhvr>
                                        <p:cTn id="114" dur="250" autoRev="1" fill="hold"/>
                                        <p:tgtEl>
                                          <p:spTgt spid="10"/>
                                        </p:tgtEl>
                                      </p:cBhvr>
                                      <p:by x="105000" y="105000"/>
                                    </p:animScale>
                                  </p:childTnLst>
                                </p:cTn>
                              </p:par>
                            </p:childTnLst>
                          </p:cTn>
                        </p:par>
                        <p:par>
                          <p:cTn id="115" fill="hold">
                            <p:stCondLst>
                              <p:cond delay="2500"/>
                            </p:stCondLst>
                            <p:childTnLst>
                              <p:par>
                                <p:cTn id="116" presetID="42" presetClass="path" presetSubtype="0" accel="50000" decel="50000" fill="hold" grpId="1" nodeType="afterEffect">
                                  <p:stCondLst>
                                    <p:cond delay="0"/>
                                  </p:stCondLst>
                                  <p:childTnLst>
                                    <p:animMotion origin="layout" path="M -2.08333E-6 2.96296E-6 L 0.04818 2.96296E-6 " pathEditMode="relative" rAng="0" ptsTypes="AA">
                                      <p:cBhvr>
                                        <p:cTn id="117" dur="2000" fill="hold"/>
                                        <p:tgtEl>
                                          <p:spTgt spid="10"/>
                                        </p:tgtEl>
                                        <p:attrNameLst>
                                          <p:attrName>ppt_x</p:attrName>
                                          <p:attrName>ppt_y</p:attrName>
                                        </p:attrNameLst>
                                      </p:cBhvr>
                                      <p:rCtr x="2409" y="0"/>
                                    </p:animMotion>
                                  </p:childTnLst>
                                </p:cTn>
                              </p:par>
                            </p:childTnLst>
                          </p:cTn>
                        </p:par>
                      </p:childTnLst>
                    </p:cTn>
                  </p:par>
                  <p:par>
                    <p:cTn id="118" fill="hold">
                      <p:stCondLst>
                        <p:cond delay="indefinite"/>
                      </p:stCondLst>
                      <p:childTnLst>
                        <p:par>
                          <p:cTn id="119" fill="hold">
                            <p:stCondLst>
                              <p:cond delay="0"/>
                            </p:stCondLst>
                            <p:childTnLst>
                              <p:par>
                                <p:cTn id="120" presetID="42" presetClass="path" presetSubtype="0" accel="50000" decel="50000" fill="hold" nodeType="clickEffect">
                                  <p:stCondLst>
                                    <p:cond delay="0"/>
                                  </p:stCondLst>
                                  <p:childTnLst>
                                    <p:animMotion origin="layout" path="M 4.16667E-7 -2.96296E-6 L -0.04818 -0.00139 " pathEditMode="relative" rAng="0" ptsTypes="AA">
                                      <p:cBhvr>
                                        <p:cTn id="121" dur="2000" fill="hold"/>
                                        <p:tgtEl>
                                          <p:spTgt spid="11"/>
                                        </p:tgtEl>
                                        <p:attrNameLst>
                                          <p:attrName>ppt_x</p:attrName>
                                          <p:attrName>ppt_y</p:attrName>
                                        </p:attrNameLst>
                                      </p:cBhvr>
                                      <p:rCtr x="-2409" y="-69"/>
                                    </p:animMotion>
                                  </p:childTnLst>
                                </p:cTn>
                              </p:par>
                              <p:par>
                                <p:cTn id="122" presetID="42" presetClass="path" presetSubtype="0" accel="50000" decel="50000" fill="hold" grpId="1" nodeType="withEffect">
                                  <p:stCondLst>
                                    <p:cond delay="0"/>
                                  </p:stCondLst>
                                  <p:childTnLst>
                                    <p:animMotion origin="layout" path="M -1.66667E-6 -3.7037E-6 L -0.05508 0.00695 " pathEditMode="relative" rAng="0" ptsTypes="AA">
                                      <p:cBhvr>
                                        <p:cTn id="123" dur="2000" fill="hold"/>
                                        <p:tgtEl>
                                          <p:spTgt spid="12"/>
                                        </p:tgtEl>
                                        <p:attrNameLst>
                                          <p:attrName>ppt_x</p:attrName>
                                          <p:attrName>ppt_y</p:attrName>
                                        </p:attrNameLst>
                                      </p:cBhvr>
                                      <p:rCtr x="-2760" y="347"/>
                                    </p:animMotion>
                                  </p:childTnLst>
                                </p:cTn>
                              </p:par>
                            </p:childTnLst>
                          </p:cTn>
                        </p:par>
                        <p:par>
                          <p:cTn id="124" fill="hold">
                            <p:stCondLst>
                              <p:cond delay="2000"/>
                            </p:stCondLst>
                            <p:childTnLst>
                              <p:par>
                                <p:cTn id="125" presetID="26" presetClass="emph" presetSubtype="0" fill="hold" grpId="2" nodeType="afterEffect">
                                  <p:stCondLst>
                                    <p:cond delay="0"/>
                                  </p:stCondLst>
                                  <p:childTnLst>
                                    <p:animEffect transition="out" filter="fade">
                                      <p:cBhvr>
                                        <p:cTn id="126" dur="500" tmFilter="0, 0; .2, .5; .8, .5; 1, 0"/>
                                        <p:tgtEl>
                                          <p:spTgt spid="13"/>
                                        </p:tgtEl>
                                      </p:cBhvr>
                                    </p:animEffect>
                                    <p:animScale>
                                      <p:cBhvr>
                                        <p:cTn id="127" dur="250" autoRev="1" fill="hold"/>
                                        <p:tgtEl>
                                          <p:spTgt spid="13"/>
                                        </p:tgtEl>
                                      </p:cBhvr>
                                      <p:by x="105000" y="105000"/>
                                    </p:animScale>
                                  </p:childTnLst>
                                </p:cTn>
                              </p:par>
                            </p:childTnLst>
                          </p:cTn>
                        </p:par>
                        <p:par>
                          <p:cTn id="128" fill="hold">
                            <p:stCondLst>
                              <p:cond delay="2500"/>
                            </p:stCondLst>
                            <p:childTnLst>
                              <p:par>
                                <p:cTn id="129" presetID="42" presetClass="path" presetSubtype="0" accel="50000" decel="50000" fill="hold" grpId="1" nodeType="afterEffect">
                                  <p:stCondLst>
                                    <p:cond delay="0"/>
                                  </p:stCondLst>
                                  <p:childTnLst>
                                    <p:animMotion origin="layout" path="M 1.45833E-6 3.7037E-7 L 0.04583 0.00116 " pathEditMode="relative" rAng="0" ptsTypes="AA">
                                      <p:cBhvr>
                                        <p:cTn id="130" dur="2000" fill="hold"/>
                                        <p:tgtEl>
                                          <p:spTgt spid="13"/>
                                        </p:tgtEl>
                                        <p:attrNameLst>
                                          <p:attrName>ppt_x</p:attrName>
                                          <p:attrName>ppt_y</p:attrName>
                                        </p:attrNameLst>
                                      </p:cBhvr>
                                      <p:rCtr x="2292" y="46"/>
                                    </p:animMotion>
                                  </p:childTnLst>
                                </p:cTn>
                              </p:par>
                            </p:childTnLst>
                          </p:cTn>
                        </p:par>
                        <p:par>
                          <p:cTn id="131" fill="hold">
                            <p:stCondLst>
                              <p:cond delay="4500"/>
                            </p:stCondLst>
                            <p:childTnLst>
                              <p:par>
                                <p:cTn id="132" presetID="42" presetClass="path" presetSubtype="0" accel="50000" decel="50000" fill="hold" nodeType="afterEffect">
                                  <p:stCondLst>
                                    <p:cond delay="0"/>
                                  </p:stCondLst>
                                  <p:childTnLst>
                                    <p:animMotion origin="layout" path="M -0.04818 -0.00139 L -0.0944 0.00139 " pathEditMode="relative" rAng="0" ptsTypes="AA">
                                      <p:cBhvr>
                                        <p:cTn id="133" dur="2000" fill="hold"/>
                                        <p:tgtEl>
                                          <p:spTgt spid="11"/>
                                        </p:tgtEl>
                                        <p:attrNameLst>
                                          <p:attrName>ppt_x</p:attrName>
                                          <p:attrName>ppt_y</p:attrName>
                                        </p:attrNameLst>
                                      </p:cBhvr>
                                      <p:rCtr x="-2318" y="139"/>
                                    </p:animMotion>
                                  </p:childTnLst>
                                </p:cTn>
                              </p:par>
                              <p:par>
                                <p:cTn id="134" presetID="42" presetClass="path" presetSubtype="0" accel="50000" decel="50000" fill="hold" grpId="2" nodeType="withEffect">
                                  <p:stCondLst>
                                    <p:cond delay="0"/>
                                  </p:stCondLst>
                                  <p:childTnLst>
                                    <p:animMotion origin="layout" path="M -0.05508 0.00695 L -0.097 0.00718 " pathEditMode="relative" rAng="0" ptsTypes="AA">
                                      <p:cBhvr>
                                        <p:cTn id="135" dur="2000" fill="hold"/>
                                        <p:tgtEl>
                                          <p:spTgt spid="12"/>
                                        </p:tgtEl>
                                        <p:attrNameLst>
                                          <p:attrName>ppt_x</p:attrName>
                                          <p:attrName>ppt_y</p:attrName>
                                        </p:attrNameLst>
                                      </p:cBhvr>
                                      <p:rCtr x="-2096" y="0"/>
                                    </p:animMotion>
                                  </p:childTnLst>
                                </p:cTn>
                              </p:par>
                            </p:childTnLst>
                          </p:cTn>
                        </p:par>
                        <p:par>
                          <p:cTn id="136" fill="hold">
                            <p:stCondLst>
                              <p:cond delay="6500"/>
                            </p:stCondLst>
                            <p:childTnLst>
                              <p:par>
                                <p:cTn id="137" presetID="42" presetClass="path" presetSubtype="0" accel="50000" decel="50000" fill="hold" grpId="1" nodeType="afterEffect">
                                  <p:stCondLst>
                                    <p:cond delay="0"/>
                                  </p:stCondLst>
                                  <p:childTnLst>
                                    <p:animMotion origin="layout" path="M 1.25E-6 2.96296E-6 L 0.05 -0.00116 " pathEditMode="relative" rAng="0" ptsTypes="AA">
                                      <p:cBhvr>
                                        <p:cTn id="138" dur="2000" fill="hold"/>
                                        <p:tgtEl>
                                          <p:spTgt spid="14"/>
                                        </p:tgtEl>
                                        <p:attrNameLst>
                                          <p:attrName>ppt_x</p:attrName>
                                          <p:attrName>ppt_y</p:attrName>
                                        </p:attrNameLst>
                                      </p:cBhvr>
                                      <p:rCtr x="2500" y="-69"/>
                                    </p:animMotion>
                                  </p:childTnLst>
                                </p:cTn>
                              </p:par>
                            </p:childTnLst>
                          </p:cTn>
                        </p:par>
                        <p:par>
                          <p:cTn id="139" fill="hold">
                            <p:stCondLst>
                              <p:cond delay="8500"/>
                            </p:stCondLst>
                            <p:childTnLst>
                              <p:par>
                                <p:cTn id="140" presetID="42" presetClass="path" presetSubtype="0" accel="50000" decel="50000" fill="hold" nodeType="afterEffect">
                                  <p:stCondLst>
                                    <p:cond delay="0"/>
                                  </p:stCondLst>
                                  <p:childTnLst>
                                    <p:animMotion origin="layout" path="M -0.0944 0.00139 L -0.14948 -0.00092 " pathEditMode="relative" rAng="0" ptsTypes="AA">
                                      <p:cBhvr>
                                        <p:cTn id="141" dur="2000" fill="hold"/>
                                        <p:tgtEl>
                                          <p:spTgt spid="11"/>
                                        </p:tgtEl>
                                        <p:attrNameLst>
                                          <p:attrName>ppt_x</p:attrName>
                                          <p:attrName>ppt_y</p:attrName>
                                        </p:attrNameLst>
                                      </p:cBhvr>
                                      <p:rCtr x="-2760" y="-116"/>
                                    </p:animMotion>
                                  </p:childTnLst>
                                </p:cTn>
                              </p:par>
                              <p:par>
                                <p:cTn id="142" presetID="42" presetClass="path" presetSubtype="0" accel="50000" decel="50000" fill="hold" grpId="3" nodeType="withEffect">
                                  <p:stCondLst>
                                    <p:cond delay="0"/>
                                  </p:stCondLst>
                                  <p:childTnLst>
                                    <p:animMotion origin="layout" path="M -0.097 0.00718 L -0.16497 0.00718 " pathEditMode="relative" rAng="0" ptsTypes="AA">
                                      <p:cBhvr>
                                        <p:cTn id="143" dur="2000" fill="hold"/>
                                        <p:tgtEl>
                                          <p:spTgt spid="12"/>
                                        </p:tgtEl>
                                        <p:attrNameLst>
                                          <p:attrName>ppt_x</p:attrName>
                                          <p:attrName>ppt_y</p:attrName>
                                        </p:attrNameLst>
                                      </p:cBhvr>
                                      <p:rCtr x="-3398" y="0"/>
                                    </p:animMotion>
                                  </p:childTnLst>
                                </p:cTn>
                              </p:par>
                            </p:childTnLst>
                          </p:cTn>
                        </p:par>
                      </p:childTnLst>
                    </p:cTn>
                  </p:par>
                  <p:par>
                    <p:cTn id="144" fill="hold">
                      <p:stCondLst>
                        <p:cond delay="indefinite"/>
                      </p:stCondLst>
                      <p:childTnLst>
                        <p:par>
                          <p:cTn id="145" fill="hold">
                            <p:stCondLst>
                              <p:cond delay="0"/>
                            </p:stCondLst>
                            <p:childTnLst>
                              <p:par>
                                <p:cTn id="146" presetID="42" presetClass="entr" presetSubtype="0" fill="hold" nodeType="clickEffect">
                                  <p:stCondLst>
                                    <p:cond delay="0"/>
                                  </p:stCondLst>
                                  <p:childTnLst>
                                    <p:set>
                                      <p:cBhvr>
                                        <p:cTn id="147" dur="1" fill="hold">
                                          <p:stCondLst>
                                            <p:cond delay="0"/>
                                          </p:stCondLst>
                                        </p:cTn>
                                        <p:tgtEl>
                                          <p:spTgt spid="7">
                                            <p:txEl>
                                              <p:pRg st="4" end="4"/>
                                            </p:txEl>
                                          </p:spTgt>
                                        </p:tgtEl>
                                        <p:attrNameLst>
                                          <p:attrName>style.visibility</p:attrName>
                                        </p:attrNameLst>
                                      </p:cBhvr>
                                      <p:to>
                                        <p:strVal val="visible"/>
                                      </p:to>
                                    </p:set>
                                    <p:animEffect transition="in" filter="fade">
                                      <p:cBhvr>
                                        <p:cTn id="148" dur="1000"/>
                                        <p:tgtEl>
                                          <p:spTgt spid="7">
                                            <p:txEl>
                                              <p:pRg st="4" end="4"/>
                                            </p:txEl>
                                          </p:spTgt>
                                        </p:tgtEl>
                                      </p:cBhvr>
                                    </p:animEffect>
                                    <p:anim calcmode="lin" valueType="num">
                                      <p:cBhvr>
                                        <p:cTn id="14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50"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par>
                          <p:cTn id="151" fill="hold">
                            <p:stCondLst>
                              <p:cond delay="1000"/>
                            </p:stCondLst>
                            <p:childTnLst>
                              <p:par>
                                <p:cTn id="152" presetID="42" presetClass="path" presetSubtype="0" accel="50000" decel="50000" fill="hold" grpId="1" nodeType="afterEffect">
                                  <p:stCondLst>
                                    <p:cond delay="0"/>
                                  </p:stCondLst>
                                  <p:childTnLst>
                                    <p:animMotion origin="layout" path="M 2.91667E-6 7.40741E-7 L -0.01146 0.67777 " pathEditMode="relative" rAng="0" ptsTypes="AA">
                                      <p:cBhvr>
                                        <p:cTn id="153" dur="2000" fill="hold"/>
                                        <p:tgtEl>
                                          <p:spTgt spid="15"/>
                                        </p:tgtEl>
                                        <p:attrNameLst>
                                          <p:attrName>ppt_x</p:attrName>
                                          <p:attrName>ppt_y</p:attrName>
                                        </p:attrNameLst>
                                      </p:cBhvr>
                                      <p:rCtr x="-573" y="34097"/>
                                    </p:animMotion>
                                  </p:childTnLst>
                                </p:cTn>
                              </p:par>
                            </p:childTnLst>
                          </p:cTn>
                        </p:par>
                      </p:childTnLst>
                    </p:cTn>
                  </p:par>
                  <p:par>
                    <p:cTn id="154" fill="hold">
                      <p:stCondLst>
                        <p:cond delay="indefinite"/>
                      </p:stCondLst>
                      <p:childTnLst>
                        <p:par>
                          <p:cTn id="155" fill="hold">
                            <p:stCondLst>
                              <p:cond delay="0"/>
                            </p:stCondLst>
                            <p:childTnLst>
                              <p:par>
                                <p:cTn id="156" presetID="42" presetClass="entr" presetSubtype="0" fill="hold" nodeType="clickEffect">
                                  <p:stCondLst>
                                    <p:cond delay="0"/>
                                  </p:stCondLst>
                                  <p:childTnLst>
                                    <p:set>
                                      <p:cBhvr>
                                        <p:cTn id="157" dur="1" fill="hold">
                                          <p:stCondLst>
                                            <p:cond delay="0"/>
                                          </p:stCondLst>
                                        </p:cTn>
                                        <p:tgtEl>
                                          <p:spTgt spid="7">
                                            <p:txEl>
                                              <p:pRg st="5" end="5"/>
                                            </p:txEl>
                                          </p:spTgt>
                                        </p:tgtEl>
                                        <p:attrNameLst>
                                          <p:attrName>style.visibility</p:attrName>
                                        </p:attrNameLst>
                                      </p:cBhvr>
                                      <p:to>
                                        <p:strVal val="visible"/>
                                      </p:to>
                                    </p:set>
                                    <p:animEffect transition="in" filter="fade">
                                      <p:cBhvr>
                                        <p:cTn id="158" dur="1000"/>
                                        <p:tgtEl>
                                          <p:spTgt spid="7">
                                            <p:txEl>
                                              <p:pRg st="5" end="5"/>
                                            </p:txEl>
                                          </p:spTgt>
                                        </p:tgtEl>
                                      </p:cBhvr>
                                    </p:animEffect>
                                    <p:anim calcmode="lin" valueType="num">
                                      <p:cBhvr>
                                        <p:cTn id="159"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60"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par>
                          <p:cTn id="161" fill="hold">
                            <p:stCondLst>
                              <p:cond delay="1000"/>
                            </p:stCondLst>
                            <p:childTnLst>
                              <p:par>
                                <p:cTn id="162" presetID="22" presetClass="exit" presetSubtype="4" fill="hold" grpId="1" nodeType="afterEffect">
                                  <p:stCondLst>
                                    <p:cond delay="0"/>
                                  </p:stCondLst>
                                  <p:childTnLst>
                                    <p:animEffect transition="out" filter="wipe(down)">
                                      <p:cBhvr>
                                        <p:cTn id="163" dur="500"/>
                                        <p:tgtEl>
                                          <p:spTgt spid="32"/>
                                        </p:tgtEl>
                                      </p:cBhvr>
                                    </p:animEffect>
                                    <p:set>
                                      <p:cBhvr>
                                        <p:cTn id="164" dur="1" fill="hold">
                                          <p:stCondLst>
                                            <p:cond delay="499"/>
                                          </p:stCondLst>
                                        </p:cTn>
                                        <p:tgtEl>
                                          <p:spTgt spid="32"/>
                                        </p:tgtEl>
                                        <p:attrNameLst>
                                          <p:attrName>style.visibility</p:attrName>
                                        </p:attrNameLst>
                                      </p:cBhvr>
                                      <p:to>
                                        <p:strVal val="hidden"/>
                                      </p:to>
                                    </p:set>
                                  </p:childTnLst>
                                </p:cTn>
                              </p:par>
                            </p:childTnLst>
                          </p:cTn>
                        </p:par>
                        <p:par>
                          <p:cTn id="165" fill="hold">
                            <p:stCondLst>
                              <p:cond delay="1500"/>
                            </p:stCondLst>
                            <p:childTnLst>
                              <p:par>
                                <p:cTn id="166" presetID="22" presetClass="entr" presetSubtype="4" fill="hold" grpId="0" nodeType="afterEffect">
                                  <p:stCondLst>
                                    <p:cond delay="0"/>
                                  </p:stCondLst>
                                  <p:childTnLst>
                                    <p:set>
                                      <p:cBhvr>
                                        <p:cTn id="167" dur="1" fill="hold">
                                          <p:stCondLst>
                                            <p:cond delay="0"/>
                                          </p:stCondLst>
                                        </p:cTn>
                                        <p:tgtEl>
                                          <p:spTgt spid="33"/>
                                        </p:tgtEl>
                                        <p:attrNameLst>
                                          <p:attrName>style.visibility</p:attrName>
                                        </p:attrNameLst>
                                      </p:cBhvr>
                                      <p:to>
                                        <p:strVal val="visible"/>
                                      </p:to>
                                    </p:set>
                                    <p:animEffect transition="in" filter="wipe(down)">
                                      <p:cBhvr>
                                        <p:cTn id="168" dur="500"/>
                                        <p:tgtEl>
                                          <p:spTgt spid="33"/>
                                        </p:tgtEl>
                                      </p:cBhvr>
                                    </p:animEffect>
                                  </p:childTnLst>
                                </p:cTn>
                              </p:par>
                            </p:childTnLst>
                          </p:cTn>
                        </p:par>
                        <p:par>
                          <p:cTn id="169" fill="hold">
                            <p:stCondLst>
                              <p:cond delay="2000"/>
                            </p:stCondLst>
                            <p:childTnLst>
                              <p:par>
                                <p:cTn id="170" presetID="42" presetClass="entr" presetSubtype="0" fill="hold" nodeType="afterEffect">
                                  <p:stCondLst>
                                    <p:cond delay="0"/>
                                  </p:stCondLst>
                                  <p:childTnLst>
                                    <p:set>
                                      <p:cBhvr>
                                        <p:cTn id="171" dur="1" fill="hold">
                                          <p:stCondLst>
                                            <p:cond delay="0"/>
                                          </p:stCondLst>
                                        </p:cTn>
                                        <p:tgtEl>
                                          <p:spTgt spid="7">
                                            <p:txEl>
                                              <p:pRg st="6" end="6"/>
                                            </p:txEl>
                                          </p:spTgt>
                                        </p:tgtEl>
                                        <p:attrNameLst>
                                          <p:attrName>style.visibility</p:attrName>
                                        </p:attrNameLst>
                                      </p:cBhvr>
                                      <p:to>
                                        <p:strVal val="visible"/>
                                      </p:to>
                                    </p:set>
                                    <p:animEffect transition="in" filter="fade">
                                      <p:cBhvr>
                                        <p:cTn id="172" dur="1000"/>
                                        <p:tgtEl>
                                          <p:spTgt spid="7">
                                            <p:txEl>
                                              <p:pRg st="6" end="6"/>
                                            </p:txEl>
                                          </p:spTgt>
                                        </p:tgtEl>
                                      </p:cBhvr>
                                    </p:animEffect>
                                    <p:anim calcmode="lin" valueType="num">
                                      <p:cBhvr>
                                        <p:cTn id="173"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74"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75" fill="hold">
                      <p:stCondLst>
                        <p:cond delay="indefinite"/>
                      </p:stCondLst>
                      <p:childTnLst>
                        <p:par>
                          <p:cTn id="176" fill="hold">
                            <p:stCondLst>
                              <p:cond delay="0"/>
                            </p:stCondLst>
                            <p:childTnLst>
                              <p:par>
                                <p:cTn id="177" presetID="32" presetClass="emph" presetSubtype="0" fill="hold" grpId="1" nodeType="clickEffect">
                                  <p:stCondLst>
                                    <p:cond delay="0"/>
                                  </p:stCondLst>
                                  <p:childTnLst>
                                    <p:animRot by="120000">
                                      <p:cBhvr>
                                        <p:cTn id="178" dur="100" fill="hold">
                                          <p:stCondLst>
                                            <p:cond delay="0"/>
                                          </p:stCondLst>
                                        </p:cTn>
                                        <p:tgtEl>
                                          <p:spTgt spid="35"/>
                                        </p:tgtEl>
                                        <p:attrNameLst>
                                          <p:attrName>r</p:attrName>
                                        </p:attrNameLst>
                                      </p:cBhvr>
                                    </p:animRot>
                                    <p:animRot by="-240000">
                                      <p:cBhvr>
                                        <p:cTn id="179" dur="200" fill="hold">
                                          <p:stCondLst>
                                            <p:cond delay="200"/>
                                          </p:stCondLst>
                                        </p:cTn>
                                        <p:tgtEl>
                                          <p:spTgt spid="35"/>
                                        </p:tgtEl>
                                        <p:attrNameLst>
                                          <p:attrName>r</p:attrName>
                                        </p:attrNameLst>
                                      </p:cBhvr>
                                    </p:animRot>
                                    <p:animRot by="240000">
                                      <p:cBhvr>
                                        <p:cTn id="180" dur="200" fill="hold">
                                          <p:stCondLst>
                                            <p:cond delay="400"/>
                                          </p:stCondLst>
                                        </p:cTn>
                                        <p:tgtEl>
                                          <p:spTgt spid="35"/>
                                        </p:tgtEl>
                                        <p:attrNameLst>
                                          <p:attrName>r</p:attrName>
                                        </p:attrNameLst>
                                      </p:cBhvr>
                                    </p:animRot>
                                    <p:animRot by="-240000">
                                      <p:cBhvr>
                                        <p:cTn id="181" dur="200" fill="hold">
                                          <p:stCondLst>
                                            <p:cond delay="600"/>
                                          </p:stCondLst>
                                        </p:cTn>
                                        <p:tgtEl>
                                          <p:spTgt spid="35"/>
                                        </p:tgtEl>
                                        <p:attrNameLst>
                                          <p:attrName>r</p:attrName>
                                        </p:attrNameLst>
                                      </p:cBhvr>
                                    </p:animRot>
                                    <p:animRot by="120000">
                                      <p:cBhvr>
                                        <p:cTn id="182" dur="200" fill="hold">
                                          <p:stCondLst>
                                            <p:cond delay="800"/>
                                          </p:stCondLst>
                                        </p:cTn>
                                        <p:tgtEl>
                                          <p:spTgt spid="3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9" grpId="0"/>
      <p:bldP spid="10" grpId="0"/>
      <p:bldP spid="10" grpId="1"/>
      <p:bldP spid="10" grpId="2"/>
      <p:bldP spid="12" grpId="0"/>
      <p:bldP spid="12" grpId="1"/>
      <p:bldP spid="12" grpId="2"/>
      <p:bldP spid="12" grpId="3"/>
      <p:bldP spid="13" grpId="0"/>
      <p:bldP spid="13" grpId="1"/>
      <p:bldP spid="13" grpId="2"/>
      <p:bldP spid="14" grpId="0"/>
      <p:bldP spid="14" grpId="1"/>
      <p:bldP spid="15" grpId="0"/>
      <p:bldP spid="15" grpId="1"/>
      <p:bldP spid="16" grpId="0"/>
      <p:bldP spid="17" grpId="0" animBg="1"/>
      <p:bldP spid="18" grpId="0" animBg="1"/>
      <p:bldP spid="19" grpId="0" animBg="1"/>
      <p:bldP spid="20" grpId="0"/>
      <p:bldP spid="21" grpId="0" animBg="1"/>
      <p:bldP spid="22" grpId="0" animBg="1"/>
      <p:bldP spid="31" grpId="0"/>
      <p:bldP spid="32" grpId="0"/>
      <p:bldP spid="32" grpId="1"/>
      <p:bldP spid="33" grpId="0"/>
      <p:bldP spid="35" grpId="0" animBg="1"/>
      <p:bldP spid="35" grpId="1" animBg="1"/>
      <p:bldP spid="38" grpId="0" animBg="1"/>
      <p:bldP spid="3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2"/>
          <p:cNvSpPr>
            <a:spLocks noGrp="1"/>
          </p:cNvSpPr>
          <p:nvPr>
            <p:ph type="title"/>
          </p:nvPr>
        </p:nvSpPr>
        <p:spPr>
          <a:xfrm>
            <a:off x="335360" y="79135"/>
            <a:ext cx="10515600" cy="1325563"/>
          </a:xfrm>
        </p:spPr>
        <p:txBody>
          <a:bodyPr/>
          <a:lstStyle/>
          <a:p>
            <a:pPr eaLnBrk="1" hangingPunct="1"/>
            <a:r>
              <a:rPr dirty="0" err="1"/>
              <a:t>插入操作</a:t>
            </a:r>
            <a:r>
              <a:rPr lang="en-US" altLang="zh-CN" dirty="0" err="1"/>
              <a:t>-</a:t>
            </a:r>
            <a:r>
              <a:rPr dirty="0" err="1"/>
              <a:t>时间复杂度分析</a:t>
            </a:r>
            <a:endParaRPr dirty="0"/>
          </a:p>
        </p:txBody>
      </p:sp>
      <p:sp>
        <p:nvSpPr>
          <p:cNvPr id="69634" name="Rectangle 2"/>
          <p:cNvSpPr>
            <a:spLocks noGrp="1" noChangeArrowheads="1"/>
          </p:cNvSpPr>
          <p:nvPr>
            <p:ph idx="4294967295"/>
          </p:nvPr>
        </p:nvSpPr>
        <p:spPr>
          <a:xfrm>
            <a:off x="0" y="1196975"/>
            <a:ext cx="11856640" cy="5256213"/>
          </a:xfrm>
        </p:spPr>
        <p:txBody>
          <a:bodyPr vert="horz" wrap="square" lIns="92075" tIns="46038" rIns="92075" bIns="46038" numCol="1" anchor="t" anchorCtr="0" compatLnSpc="1">
            <a:normAutofit lnSpcReduction="10000"/>
          </a:bodyPr>
          <a:lstStyle/>
          <a:p>
            <a:pPr marL="0" indent="0" eaLnBrk="1" hangingPunct="1">
              <a:buNone/>
            </a:pPr>
            <a:r>
              <a:rPr lang="zh-CN" altLang="en-US" dirty="0">
                <a:solidFill>
                  <a:srgbClr val="C00000"/>
                </a:solidFill>
              </a:rPr>
              <a:t>  </a:t>
            </a:r>
            <a:r>
              <a:rPr lang="zh-CN" altLang="en-US" dirty="0">
                <a:solidFill>
                  <a:srgbClr val="008000"/>
                </a:solidFill>
                <a:latin typeface="宋体" panose="02010600030101010101" pitchFamily="2" charset="-122"/>
              </a:rPr>
              <a:t>用结点的移动来估计算法的时间复杂度。</a:t>
            </a:r>
            <a:endParaRPr lang="en-US" altLang="zh-CN" dirty="0">
              <a:solidFill>
                <a:srgbClr val="008000"/>
              </a:solidFill>
              <a:latin typeface="宋体" panose="02010600030101010101" pitchFamily="2" charset="-122"/>
            </a:endParaRPr>
          </a:p>
          <a:p>
            <a:pPr marL="0" indent="0" eaLnBrk="1" hangingPunct="1">
              <a:buNone/>
            </a:pPr>
            <a:r>
              <a:rPr lang="zh-CN" altLang="en-US" dirty="0">
                <a:ea typeface="仿宋_GB2312"/>
                <a:cs typeface="仿宋_GB2312"/>
              </a:rPr>
              <a:t>      在表中第 </a:t>
            </a:r>
            <a:r>
              <a:rPr lang="en-US" altLang="zh-CN" i="1" dirty="0" err="1">
                <a:ea typeface="仿宋_GB2312"/>
                <a:cs typeface="仿宋_GB2312"/>
              </a:rPr>
              <a:t>i</a:t>
            </a:r>
            <a:r>
              <a:rPr lang="en-US" altLang="zh-CN" i="1" dirty="0">
                <a:ea typeface="仿宋_GB2312"/>
                <a:cs typeface="仿宋_GB2312"/>
              </a:rPr>
              <a:t> </a:t>
            </a:r>
            <a:r>
              <a:rPr lang="zh-CN" altLang="en-US" dirty="0">
                <a:ea typeface="仿宋_GB2312"/>
                <a:cs typeface="仿宋_GB2312"/>
              </a:rPr>
              <a:t>个位置插入，</a:t>
            </a:r>
            <a:r>
              <a:rPr lang="en-US" altLang="zh-CN" dirty="0" err="1">
                <a:ea typeface="仿宋_GB2312"/>
                <a:cs typeface="仿宋_GB2312"/>
              </a:rPr>
              <a:t>从L.</a:t>
            </a:r>
            <a:r>
              <a:rPr lang="en-US" altLang="zh-CN" dirty="0" err="1">
                <a:ea typeface="仿宋_GB2312"/>
                <a:cs typeface="仿宋_GB2312"/>
                <a:sym typeface="+mn-ea"/>
              </a:rPr>
              <a:t>elem</a:t>
            </a:r>
            <a:r>
              <a:rPr lang="en-US" altLang="zh-CN" dirty="0">
                <a:ea typeface="仿宋_GB2312"/>
                <a:cs typeface="仿宋_GB2312"/>
              </a:rPr>
              <a:t>[i-1] </a:t>
            </a:r>
            <a:r>
              <a:rPr lang="en-US" altLang="zh-CN" dirty="0" err="1">
                <a:ea typeface="仿宋_GB2312"/>
                <a:cs typeface="仿宋_GB2312"/>
              </a:rPr>
              <a:t>到L.</a:t>
            </a:r>
            <a:r>
              <a:rPr lang="en-US" altLang="zh-CN" dirty="0" err="1">
                <a:ea typeface="仿宋_GB2312"/>
                <a:cs typeface="仿宋_GB2312"/>
                <a:sym typeface="+mn-ea"/>
              </a:rPr>
              <a:t>elem</a:t>
            </a:r>
            <a:r>
              <a:rPr lang="en-US" altLang="zh-CN" dirty="0">
                <a:ea typeface="仿宋_GB2312"/>
                <a:cs typeface="仿宋_GB2312"/>
              </a:rPr>
              <a:t>[n-1] 成</a:t>
            </a:r>
            <a:r>
              <a:rPr lang="zh-CN" altLang="en-US" dirty="0">
                <a:ea typeface="仿宋_GB2312"/>
                <a:cs typeface="仿宋_GB2312"/>
              </a:rPr>
              <a:t>块后移，移动（</a:t>
            </a:r>
            <a:r>
              <a:rPr lang="en-US" altLang="zh-CN" i="1" dirty="0">
                <a:ea typeface="仿宋_GB2312"/>
                <a:cs typeface="仿宋_GB2312"/>
              </a:rPr>
              <a:t>n</a:t>
            </a:r>
            <a:r>
              <a:rPr lang="en-US" altLang="zh-CN" dirty="0">
                <a:latin typeface="Courier New" panose="02070309020205020404" pitchFamily="49" charset="0"/>
                <a:ea typeface="仿宋_GB2312"/>
                <a:cs typeface="仿宋_GB2312"/>
              </a:rPr>
              <a:t>-</a:t>
            </a:r>
            <a:r>
              <a:rPr lang="en-US" altLang="zh-CN" dirty="0">
                <a:ea typeface="仿宋_GB2312"/>
                <a:cs typeface="仿宋_GB2312"/>
              </a:rPr>
              <a:t>1</a:t>
            </a:r>
            <a:r>
              <a:rPr lang="zh-CN" altLang="en-US" dirty="0">
                <a:ea typeface="仿宋_GB2312"/>
                <a:cs typeface="仿宋_GB2312"/>
              </a:rPr>
              <a:t>）</a:t>
            </a:r>
            <a:r>
              <a:rPr lang="en-US" altLang="zh-CN" dirty="0">
                <a:latin typeface="Courier New" panose="02070309020205020404" pitchFamily="49" charset="0"/>
                <a:ea typeface="仿宋_GB2312"/>
                <a:cs typeface="仿宋_GB2312"/>
              </a:rPr>
              <a:t>-</a:t>
            </a:r>
            <a:r>
              <a:rPr lang="en-US" altLang="zh-CN" dirty="0">
                <a:ea typeface="仿宋_GB2312"/>
                <a:cs typeface="仿宋_GB2312"/>
              </a:rPr>
              <a:t>(</a:t>
            </a:r>
            <a:r>
              <a:rPr lang="en-US" altLang="zh-CN" i="1" dirty="0">
                <a:ea typeface="仿宋_GB2312"/>
                <a:cs typeface="仿宋_GB2312"/>
              </a:rPr>
              <a:t>i</a:t>
            </a:r>
            <a:r>
              <a:rPr lang="en-US" altLang="zh-CN" dirty="0">
                <a:latin typeface="Courier New" panose="02070309020205020404" pitchFamily="49" charset="0"/>
                <a:ea typeface="仿宋_GB2312"/>
                <a:cs typeface="仿宋_GB2312"/>
              </a:rPr>
              <a:t>-</a:t>
            </a:r>
            <a:r>
              <a:rPr lang="en-US" altLang="zh-CN" dirty="0">
                <a:ea typeface="仿宋_GB2312"/>
                <a:cs typeface="仿宋_GB2312"/>
              </a:rPr>
              <a:t>1)+1 = </a:t>
            </a:r>
            <a:r>
              <a:rPr lang="en-US" altLang="zh-CN" i="1" dirty="0">
                <a:solidFill>
                  <a:schemeClr val="tx2"/>
                </a:solidFill>
                <a:ea typeface="仿宋_GB2312"/>
                <a:cs typeface="仿宋_GB2312"/>
              </a:rPr>
              <a:t>n</a:t>
            </a:r>
            <a:r>
              <a:rPr lang="en-US" altLang="zh-CN" dirty="0">
                <a:solidFill>
                  <a:schemeClr val="tx2"/>
                </a:solidFill>
                <a:latin typeface="Courier New" panose="02070309020205020404" pitchFamily="49" charset="0"/>
                <a:ea typeface="仿宋_GB2312"/>
                <a:cs typeface="仿宋_GB2312"/>
              </a:rPr>
              <a:t>-</a:t>
            </a:r>
            <a:r>
              <a:rPr lang="en-US" altLang="zh-CN" i="1" dirty="0">
                <a:solidFill>
                  <a:schemeClr val="tx2"/>
                </a:solidFill>
                <a:ea typeface="仿宋_GB2312"/>
                <a:cs typeface="仿宋_GB2312"/>
              </a:rPr>
              <a:t>i</a:t>
            </a:r>
            <a:r>
              <a:rPr lang="en-US" altLang="zh-CN" dirty="0">
                <a:solidFill>
                  <a:schemeClr val="tx2"/>
                </a:solidFill>
                <a:ea typeface="仿宋_GB2312"/>
                <a:cs typeface="仿宋_GB2312"/>
              </a:rPr>
              <a:t>+1</a:t>
            </a:r>
            <a:r>
              <a:rPr lang="zh-CN" altLang="en-US" dirty="0">
                <a:ea typeface="仿宋_GB2312"/>
                <a:cs typeface="仿宋_GB2312"/>
              </a:rPr>
              <a:t>项。</a:t>
            </a:r>
          </a:p>
          <a:p>
            <a:pPr marL="0" indent="0" eaLnBrk="1" hangingPunct="1">
              <a:buNone/>
            </a:pPr>
            <a:r>
              <a:rPr lang="en-US" altLang="zh-CN" dirty="0">
                <a:latin typeface="宋体" panose="02010600030101010101" pitchFamily="2" charset="-122"/>
              </a:rPr>
              <a:t>   </a:t>
            </a:r>
            <a:r>
              <a:rPr lang="zh-CN" altLang="en-US" dirty="0">
                <a:latin typeface="宋体" panose="02010600030101010101" pitchFamily="2" charset="-122"/>
              </a:rPr>
              <a:t>设</a:t>
            </a:r>
            <a:r>
              <a:rPr lang="zh-CN" altLang="en-US" dirty="0"/>
              <a:t>在线性表</a:t>
            </a:r>
            <a:r>
              <a:rPr lang="en-US" altLang="zh-CN" dirty="0"/>
              <a:t>L</a:t>
            </a:r>
            <a:r>
              <a:rPr lang="zh-CN" altLang="en-US" dirty="0"/>
              <a:t>中的</a:t>
            </a:r>
            <a:r>
              <a:rPr lang="zh-CN" altLang="en-US" dirty="0">
                <a:latin typeface="宋体" panose="02010600030101010101" pitchFamily="2" charset="-122"/>
              </a:rPr>
              <a:t>第</a:t>
            </a:r>
            <a:r>
              <a:rPr lang="en-US" altLang="zh-CN" dirty="0" err="1"/>
              <a:t>i</a:t>
            </a:r>
            <a:r>
              <a:rPr lang="zh-CN" altLang="en-US" dirty="0"/>
              <a:t>个</a:t>
            </a:r>
            <a:r>
              <a:rPr lang="zh-CN" altLang="en-US" dirty="0">
                <a:latin typeface="宋体" panose="02010600030101010101" pitchFamily="2" charset="-122"/>
              </a:rPr>
              <a:t>元素之前插入结点的概率为</a:t>
            </a:r>
            <a:r>
              <a:rPr lang="en-US" altLang="zh-CN" dirty="0"/>
              <a:t>P</a:t>
            </a:r>
            <a:r>
              <a:rPr lang="en-US" altLang="zh-CN" baseline="-25000" dirty="0"/>
              <a:t>i</a:t>
            </a:r>
            <a:r>
              <a:rPr lang="zh-CN" altLang="en-US" dirty="0">
                <a:latin typeface="宋体" panose="02010600030101010101" pitchFamily="2" charset="-122"/>
              </a:rPr>
              <a:t>，不失一般性，设各个位置插入是等概率，则</a:t>
            </a:r>
            <a:r>
              <a:rPr lang="en-US" altLang="zh-CN" dirty="0"/>
              <a:t>P</a:t>
            </a:r>
            <a:r>
              <a:rPr lang="en-US" altLang="zh-CN" baseline="-25000" dirty="0"/>
              <a:t>i</a:t>
            </a:r>
            <a:r>
              <a:rPr lang="en-US" altLang="zh-CN" dirty="0"/>
              <a:t>=1/(n+1)</a:t>
            </a:r>
            <a:endParaRPr lang="zh-CN" altLang="en-US" dirty="0">
              <a:latin typeface="宋体" panose="02010600030101010101" pitchFamily="2" charset="-122"/>
            </a:endParaRPr>
          </a:p>
          <a:p>
            <a:pPr marL="0" indent="0" eaLnBrk="1" hangingPunct="1">
              <a:lnSpc>
                <a:spcPct val="110000"/>
              </a:lnSpc>
              <a:buNone/>
            </a:pPr>
            <a:r>
              <a:rPr lang="zh-CN" altLang="en-US" dirty="0"/>
              <a:t>      总的平均移动次数：</a:t>
            </a:r>
            <a:endParaRPr lang="en-US" altLang="zh-CN" dirty="0"/>
          </a:p>
          <a:p>
            <a:pPr marL="0" indent="0" eaLnBrk="1" hangingPunct="1">
              <a:lnSpc>
                <a:spcPct val="110000"/>
              </a:lnSpc>
              <a:buNone/>
            </a:pPr>
            <a:r>
              <a:rPr lang="zh-CN" altLang="en-US" dirty="0"/>
              <a:t> </a:t>
            </a:r>
            <a:r>
              <a:rPr lang="en-US" altLang="zh-CN" dirty="0" err="1"/>
              <a:t>E</a:t>
            </a:r>
            <a:r>
              <a:rPr lang="en-US" altLang="zh-CN" baseline="-25000" dirty="0" err="1"/>
              <a:t>insert</a:t>
            </a:r>
            <a:r>
              <a:rPr lang="en-US" altLang="zh-CN" dirty="0"/>
              <a:t>=</a:t>
            </a:r>
            <a:r>
              <a:rPr lang="en-US" altLang="zh-CN" dirty="0">
                <a:ea typeface="Arial Unicode MS" panose="020B0604020202020204" charset="-122"/>
                <a:cs typeface="Arial Unicode MS" panose="020B0604020202020204" charset="-122"/>
              </a:rPr>
              <a:t>∑p</a:t>
            </a:r>
            <a:r>
              <a:rPr lang="en-US" altLang="zh-CN" baseline="-25000" dirty="0">
                <a:ea typeface="Arial Unicode MS" panose="020B0604020202020204" charset="-122"/>
                <a:cs typeface="Arial Unicode MS" panose="020B0604020202020204" charset="-122"/>
              </a:rPr>
              <a:t>i</a:t>
            </a:r>
            <a:r>
              <a:rPr lang="en-US" altLang="zh-CN" dirty="0">
                <a:ea typeface="Arial Unicode MS" panose="020B0604020202020204" charset="-122"/>
                <a:cs typeface="Arial Unicode MS" panose="020B0604020202020204" charset="-122"/>
              </a:rPr>
              <a:t>*(n-i+1)  </a:t>
            </a:r>
            <a:r>
              <a:rPr lang="en-US" altLang="zh-CN" dirty="0"/>
              <a:t>(1≦i≦n+1) =n/2</a:t>
            </a:r>
          </a:p>
          <a:p>
            <a:pPr marL="0" indent="0" eaLnBrk="1" hangingPunct="1">
              <a:lnSpc>
                <a:spcPct val="110000"/>
              </a:lnSpc>
              <a:buNone/>
            </a:pPr>
            <a:endParaRPr lang="en-US" altLang="zh-CN" dirty="0">
              <a:solidFill>
                <a:srgbClr val="FF0000"/>
              </a:solidFill>
            </a:endParaRPr>
          </a:p>
          <a:p>
            <a:pPr marL="0" indent="0" eaLnBrk="1" hangingPunct="1">
              <a:lnSpc>
                <a:spcPct val="110000"/>
              </a:lnSpc>
              <a:buNone/>
            </a:pPr>
            <a:r>
              <a:rPr lang="zh-CN" altLang="en-US" dirty="0">
                <a:solidFill>
                  <a:srgbClr val="FF0000"/>
                </a:solidFill>
              </a:rPr>
              <a:t>算法的平均时间复杂度为</a:t>
            </a:r>
            <a:r>
              <a:rPr lang="en-US" altLang="zh-CN" dirty="0">
                <a:solidFill>
                  <a:srgbClr val="FF0000"/>
                </a:solidFill>
              </a:rPr>
              <a:t>O(n)</a:t>
            </a:r>
            <a:r>
              <a:rPr lang="zh-CN" altLang="en-US" dirty="0">
                <a:solidFill>
                  <a:srgbClr val="FF0000"/>
                </a:solidFill>
              </a:rPr>
              <a:t>。</a:t>
            </a:r>
            <a:endParaRPr lang="en-US" altLang="zh-CN" dirty="0">
              <a:solidFill>
                <a:srgbClr val="FF0000"/>
              </a:solidFill>
              <a:latin typeface="宋体" panose="02010600030101010101" pitchFamily="2" charset="-122"/>
            </a:endParaRPr>
          </a:p>
          <a:p>
            <a:pPr marL="0" indent="0" eaLnBrk="1" hangingPunct="1">
              <a:lnSpc>
                <a:spcPct val="110000"/>
              </a:lnSpc>
              <a:buNone/>
            </a:pPr>
            <a:r>
              <a:rPr lang="en-US" altLang="zh-CN" dirty="0">
                <a:latin typeface="宋体" panose="02010600030101010101" pitchFamily="2" charset="-122"/>
              </a:rPr>
              <a:t>   </a:t>
            </a:r>
            <a:r>
              <a:rPr lang="zh-CN" altLang="en-US" dirty="0"/>
              <a:t>在顺序表上做插入运算，平均要移动表中一半结点。当表长</a:t>
            </a:r>
            <a:r>
              <a:rPr lang="en-US" altLang="zh-CN" dirty="0"/>
              <a:t>n</a:t>
            </a:r>
            <a:r>
              <a:rPr lang="zh-CN" altLang="en-US" dirty="0"/>
              <a:t>较大时，算法的效率相当低。</a:t>
            </a:r>
            <a:endParaRPr lang="en-US" altLang="zh-CN" dirty="0"/>
          </a:p>
          <a:p>
            <a:pPr marL="0" indent="0" eaLnBrk="1" hangingPunct="1">
              <a:lnSpc>
                <a:spcPct val="110000"/>
              </a:lnSpc>
              <a:buNone/>
            </a:pPr>
            <a:endParaRPr lang="en-US" altLang="zh-CN" dirty="0"/>
          </a:p>
          <a:p>
            <a:pPr marL="0" indent="0" eaLnBrk="1" hangingPunct="1">
              <a:lnSpc>
                <a:spcPct val="110000"/>
              </a:lnSpc>
              <a:buNone/>
            </a:pPr>
            <a:endParaRPr lang="zh-CN" altLang="en-US" dirty="0"/>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3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9634">
                                            <p:txEl>
                                              <p:pRg st="3" end="3"/>
                                            </p:txEl>
                                          </p:spTgt>
                                        </p:tgtEl>
                                        <p:attrNameLst>
                                          <p:attrName>style.visibility</p:attrName>
                                        </p:attrNameLst>
                                      </p:cBhvr>
                                      <p:to>
                                        <p:strVal val="visible"/>
                                      </p:to>
                                    </p:set>
                                    <p:animEffect transition="in" filter="fade">
                                      <p:cBhvr>
                                        <p:cTn id="15" dur="2000"/>
                                        <p:tgtEl>
                                          <p:spTgt spid="6963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9634">
                                            <p:txEl>
                                              <p:pRg st="4" end="4"/>
                                            </p:txEl>
                                          </p:spTgt>
                                        </p:tgtEl>
                                        <p:attrNameLst>
                                          <p:attrName>style.visibility</p:attrName>
                                        </p:attrNameLst>
                                      </p:cBhvr>
                                      <p:to>
                                        <p:strVal val="visible"/>
                                      </p:to>
                                    </p:set>
                                    <p:animEffect transition="in" filter="fade">
                                      <p:cBhvr>
                                        <p:cTn id="20" dur="2000"/>
                                        <p:tgtEl>
                                          <p:spTgt spid="69634">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9634">
                                            <p:txEl>
                                              <p:pRg st="6" end="6"/>
                                            </p:txEl>
                                          </p:spTgt>
                                        </p:tgtEl>
                                        <p:attrNameLst>
                                          <p:attrName>style.visibility</p:attrName>
                                        </p:attrNameLst>
                                      </p:cBhvr>
                                      <p:to>
                                        <p:strVal val="visible"/>
                                      </p:to>
                                    </p:set>
                                    <p:animEffect transition="in" filter="fade">
                                      <p:cBhvr>
                                        <p:cTn id="25" dur="2000"/>
                                        <p:tgtEl>
                                          <p:spTgt spid="69634">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9634">
                                            <p:txEl>
                                              <p:pRg st="7" end="7"/>
                                            </p:txEl>
                                          </p:spTgt>
                                        </p:tgtEl>
                                        <p:attrNameLst>
                                          <p:attrName>style.visibility</p:attrName>
                                        </p:attrNameLst>
                                      </p:cBhvr>
                                      <p:to>
                                        <p:strVal val="visible"/>
                                      </p:to>
                                    </p:set>
                                    <p:animEffect transition="in" filter="fade">
                                      <p:cBhvr>
                                        <p:cTn id="30" dur="2000"/>
                                        <p:tgtEl>
                                          <p:spTgt spid="6963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p:nvPr/>
        </p:nvSpPr>
        <p:spPr>
          <a:xfrm>
            <a:off x="1905001" y="585788"/>
            <a:ext cx="6927730" cy="164968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90000"/>
              </a:lnSpc>
              <a:spcBef>
                <a:spcPct val="0"/>
              </a:spcBef>
              <a:buClrTx/>
              <a:buNone/>
              <a:defRPr/>
            </a:pPr>
            <a:r>
              <a:rPr lang="zh-CN" altLang="zh-CN" sz="4400" b="1" dirty="0">
                <a:solidFill>
                  <a:schemeClr val="hlink"/>
                </a:solidFill>
                <a:effectLst>
                  <a:outerShdw blurRad="38100" dist="38100" dir="2700000" algn="tl">
                    <a:srgbClr val="C0C0C0"/>
                  </a:outerShdw>
                </a:effectLst>
                <a:latin typeface="+mj-lt"/>
                <a:ea typeface="+mj-ea"/>
                <a:cs typeface="+mj-cs"/>
              </a:rPr>
              <a:t>线性表操作</a:t>
            </a:r>
          </a:p>
          <a:p>
            <a:pPr marL="0" indent="0" eaLnBrk="1" hangingPunct="1">
              <a:lnSpc>
                <a:spcPct val="140000"/>
              </a:lnSpc>
              <a:spcBef>
                <a:spcPct val="0"/>
              </a:spcBef>
              <a:buClrTx/>
              <a:buNone/>
            </a:pPr>
            <a:r>
              <a:rPr lang="zh-CN" altLang="zh-CN" sz="4400" dirty="0">
                <a:ea typeface="楷体_GB2312" pitchFamily="49" charset="-122"/>
              </a:rPr>
              <a:t>         </a:t>
            </a:r>
            <a:r>
              <a:rPr lang="zh-CN" altLang="zh-CN" sz="4400" b="1" dirty="0">
                <a:solidFill>
                  <a:srgbClr val="003399"/>
                </a:solidFill>
                <a:ea typeface="楷体_GB2312" pitchFamily="49" charset="-122"/>
              </a:rPr>
              <a:t>ListDelete</a:t>
            </a:r>
            <a:r>
              <a:rPr lang="zh-CN" altLang="zh-CN" sz="4400" b="1" dirty="0">
                <a:solidFill>
                  <a:srgbClr val="003399"/>
                </a:solidFill>
              </a:rPr>
              <a:t>(L, i)</a:t>
            </a:r>
            <a:r>
              <a:rPr lang="zh-CN" altLang="zh-CN" sz="4400" dirty="0">
                <a:ea typeface="楷体_GB2312" pitchFamily="49" charset="-122"/>
              </a:rPr>
              <a:t>的实现</a:t>
            </a:r>
            <a:r>
              <a:rPr lang="zh-CN" altLang="zh-CN" sz="4400" dirty="0"/>
              <a:t>：</a:t>
            </a:r>
            <a:endParaRPr lang="zh-CN" altLang="zh-CN" sz="2400" dirty="0"/>
          </a:p>
        </p:txBody>
      </p:sp>
      <p:sp>
        <p:nvSpPr>
          <p:cNvPr id="57347" name="Text Box 3"/>
          <p:cNvSpPr txBox="1"/>
          <p:nvPr/>
        </p:nvSpPr>
        <p:spPr>
          <a:xfrm>
            <a:off x="1905000" y="2895600"/>
            <a:ext cx="29781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dirty="0">
                <a:solidFill>
                  <a:srgbClr val="FF0000"/>
                </a:solidFill>
                <a:ea typeface="楷体_GB2312" pitchFamily="49" charset="-122"/>
              </a:rPr>
              <a:t>首先分析：</a:t>
            </a:r>
            <a:endParaRPr lang="zh-CN" altLang="zh-CN" sz="2400" dirty="0">
              <a:solidFill>
                <a:srgbClr val="FF0000"/>
              </a:solidFill>
              <a:ea typeface="楷体_GB2312" pitchFamily="49" charset="-122"/>
            </a:endParaRPr>
          </a:p>
        </p:txBody>
      </p:sp>
      <p:sp>
        <p:nvSpPr>
          <p:cNvPr id="57348" name="Text Box 4"/>
          <p:cNvSpPr txBox="1"/>
          <p:nvPr/>
        </p:nvSpPr>
        <p:spPr>
          <a:xfrm>
            <a:off x="2514600" y="3717926"/>
            <a:ext cx="7804150" cy="16160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5000"/>
              </a:lnSpc>
              <a:spcBef>
                <a:spcPct val="0"/>
              </a:spcBef>
              <a:buClrTx/>
              <a:buNone/>
            </a:pPr>
            <a:r>
              <a:rPr lang="zh-CN" altLang="zh-CN" sz="4000" dirty="0">
                <a:ea typeface="楷体_GB2312" pitchFamily="49" charset="-122"/>
              </a:rPr>
              <a:t>删除元素时，</a:t>
            </a:r>
          </a:p>
          <a:p>
            <a:pPr marL="0" indent="0" eaLnBrk="1" hangingPunct="1">
              <a:lnSpc>
                <a:spcPct val="125000"/>
              </a:lnSpc>
              <a:spcBef>
                <a:spcPct val="0"/>
              </a:spcBef>
              <a:buClrTx/>
              <a:buNone/>
            </a:pPr>
            <a:r>
              <a:rPr lang="zh-CN" altLang="zh-CN" sz="4000" dirty="0">
                <a:ea typeface="楷体_GB2312" pitchFamily="49" charset="-122"/>
              </a:rPr>
              <a:t>线性表的逻辑结构发生什么变化？</a:t>
            </a:r>
            <a:endParaRPr lang="zh-CN" altLang="zh-CN" sz="40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57346"/>
                                        </p:tgtEl>
                                        <p:attrNameLst>
                                          <p:attrName>style.visibility</p:attrName>
                                        </p:attrNameLst>
                                      </p:cBhvr>
                                      <p:to>
                                        <p:strVal val="visible"/>
                                      </p:to>
                                    </p:set>
                                    <p:anim calcmode="lin" valueType="num">
                                      <p:cBhvr additive="base">
                                        <p:cTn id="7" dur="500" fill="hold"/>
                                        <p:tgtEl>
                                          <p:spTgt spid="57346"/>
                                        </p:tgtEl>
                                        <p:attrNameLst>
                                          <p:attrName>ppt_x</p:attrName>
                                        </p:attrNameLst>
                                      </p:cBhvr>
                                      <p:tavLst>
                                        <p:tav tm="0">
                                          <p:val>
                                            <p:strVal val="#ppt_x"/>
                                          </p:val>
                                        </p:tav>
                                        <p:tav tm="100000">
                                          <p:val>
                                            <p:strVal val="#ppt_x"/>
                                          </p:val>
                                        </p:tav>
                                      </p:tavLst>
                                    </p:anim>
                                    <p:anim calcmode="lin" valueType="num">
                                      <p:cBhvr additive="base">
                                        <p:cTn id="8" dur="500" fill="hold"/>
                                        <p:tgtEl>
                                          <p:spTgt spid="5734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7347"/>
                                        </p:tgtEl>
                                        <p:attrNameLst>
                                          <p:attrName>style.visibility</p:attrName>
                                        </p:attrNameLst>
                                      </p:cBhvr>
                                      <p:to>
                                        <p:strVal val="visible"/>
                                      </p:to>
                                    </p:set>
                                    <p:anim calcmode="lin" valueType="num">
                                      <p:cBhvr additive="base">
                                        <p:cTn id="13" dur="500" fill="hold"/>
                                        <p:tgtEl>
                                          <p:spTgt spid="57347"/>
                                        </p:tgtEl>
                                        <p:attrNameLst>
                                          <p:attrName>ppt_x</p:attrName>
                                        </p:attrNameLst>
                                      </p:cBhvr>
                                      <p:tavLst>
                                        <p:tav tm="0">
                                          <p:val>
                                            <p:strVal val="0-#ppt_w/2"/>
                                          </p:val>
                                        </p:tav>
                                        <p:tav tm="100000">
                                          <p:val>
                                            <p:strVal val="#ppt_x"/>
                                          </p:val>
                                        </p:tav>
                                      </p:tavLst>
                                    </p:anim>
                                    <p:anim calcmode="lin" valueType="num">
                                      <p:cBhvr additive="base">
                                        <p:cTn id="14" dur="500" fill="hold"/>
                                        <p:tgtEl>
                                          <p:spTgt spid="573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7348"/>
                                        </p:tgtEl>
                                        <p:attrNameLst>
                                          <p:attrName>style.visibility</p:attrName>
                                        </p:attrNameLst>
                                      </p:cBhvr>
                                      <p:to>
                                        <p:strVal val="visible"/>
                                      </p:to>
                                    </p:set>
                                    <p:animEffect transition="in" filter="wipe(left)">
                                      <p:cBhvr>
                                        <p:cTn id="19" dur="500"/>
                                        <p:tgtEl>
                                          <p:spTgt spid="57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p:bldP spid="57347" grpId="0"/>
      <p:bldP spid="5734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a:spLocks noGrp="1"/>
          </p:cNvSpPr>
          <p:nvPr>
            <p:ph type="title"/>
          </p:nvPr>
        </p:nvSpPr>
        <p:spPr/>
        <p:txBody>
          <a:bodyPr/>
          <a:lstStyle/>
          <a:p>
            <a:pPr eaLnBrk="1" hangingPunct="1"/>
            <a:r>
              <a:rPr b="1" dirty="0" err="1"/>
              <a:t>顺序表的删除</a:t>
            </a:r>
            <a:endParaRPr b="1" dirty="0"/>
          </a:p>
        </p:txBody>
      </p:sp>
      <p:sp>
        <p:nvSpPr>
          <p:cNvPr id="54275" name="内容占位符 2"/>
          <p:cNvSpPr>
            <a:spLocks noGrp="1"/>
          </p:cNvSpPr>
          <p:nvPr>
            <p:ph idx="1"/>
          </p:nvPr>
        </p:nvSpPr>
        <p:spPr/>
        <p:txBody>
          <a:bodyPr>
            <a:noAutofit/>
          </a:bodyPr>
          <a:lstStyle/>
          <a:p>
            <a:pPr marL="0" indent="0" eaLnBrk="1" hangingPunct="1">
              <a:lnSpc>
                <a:spcPct val="110000"/>
              </a:lnSpc>
              <a:buNone/>
            </a:pPr>
            <a:r>
              <a:rPr lang="zh-CN" altLang="en-US" sz="3200" dirty="0">
                <a:latin typeface="宋体" panose="02010600030101010101" pitchFamily="2" charset="-122"/>
              </a:rPr>
              <a:t>在线性表 </a:t>
            </a:r>
            <a:r>
              <a:rPr lang="en-US" altLang="zh-CN" sz="3200" dirty="0"/>
              <a:t>L=(a</a:t>
            </a:r>
            <a:r>
              <a:rPr lang="en-US" altLang="zh-CN" sz="3200" baseline="-25000" dirty="0"/>
              <a:t>1</a:t>
            </a:r>
            <a:r>
              <a:rPr lang="zh-CN" altLang="en-US" sz="3200" dirty="0"/>
              <a:t>，</a:t>
            </a:r>
            <a:r>
              <a:rPr lang="en-US" altLang="zh-CN" sz="3200" dirty="0">
                <a:latin typeface="Arial" panose="020B0604020202020204" pitchFamily="34" charset="0"/>
              </a:rPr>
              <a:t>…</a:t>
            </a:r>
            <a:r>
              <a:rPr lang="en-US" altLang="zh-CN" sz="3200" dirty="0"/>
              <a:t>a </a:t>
            </a:r>
            <a:r>
              <a:rPr lang="en-US" altLang="zh-CN" sz="3200" baseline="-25000" dirty="0"/>
              <a:t>i-1</a:t>
            </a:r>
            <a:r>
              <a:rPr lang="zh-CN" altLang="en-US" sz="3200" dirty="0"/>
              <a:t>，</a:t>
            </a:r>
            <a:r>
              <a:rPr lang="en-US" altLang="zh-CN" sz="3200" dirty="0"/>
              <a:t>a</a:t>
            </a:r>
            <a:r>
              <a:rPr lang="en-US" altLang="zh-CN" sz="3200" baseline="-25000" dirty="0"/>
              <a:t>i</a:t>
            </a:r>
            <a:r>
              <a:rPr lang="zh-CN" altLang="en-US" sz="3200" dirty="0"/>
              <a:t>， </a:t>
            </a:r>
            <a:r>
              <a:rPr lang="en-US" altLang="zh-CN" sz="3200" dirty="0"/>
              <a:t>a</a:t>
            </a:r>
            <a:r>
              <a:rPr lang="en-US" altLang="zh-CN" sz="3200" baseline="-25000" dirty="0"/>
              <a:t>i+1</a:t>
            </a:r>
            <a:r>
              <a:rPr lang="zh-CN" altLang="en-US" sz="3200" dirty="0"/>
              <a:t>，</a:t>
            </a:r>
            <a:r>
              <a:rPr lang="en-US" altLang="zh-CN" sz="3200" dirty="0">
                <a:latin typeface="Arial" panose="020B0604020202020204" pitchFamily="34" charset="0"/>
              </a:rPr>
              <a:t>…</a:t>
            </a:r>
            <a:r>
              <a:rPr lang="zh-CN" altLang="en-US" sz="3200" dirty="0"/>
              <a:t>，</a:t>
            </a:r>
            <a:r>
              <a:rPr lang="en-US" altLang="zh-CN" sz="3200" dirty="0"/>
              <a:t>a</a:t>
            </a:r>
            <a:r>
              <a:rPr lang="en-US" altLang="zh-CN" sz="3200" baseline="-25000" dirty="0"/>
              <a:t>n</a:t>
            </a:r>
            <a:r>
              <a:rPr lang="en-US" altLang="zh-CN" sz="3200" dirty="0"/>
              <a:t>) </a:t>
            </a:r>
            <a:r>
              <a:rPr lang="zh-CN" altLang="en-US" sz="3200" dirty="0"/>
              <a:t>中删除结点</a:t>
            </a:r>
            <a:r>
              <a:rPr lang="en-US" altLang="zh-CN" sz="3200" dirty="0"/>
              <a:t>a</a:t>
            </a:r>
            <a:r>
              <a:rPr lang="en-US" altLang="zh-CN" sz="3200" baseline="-25000" dirty="0"/>
              <a:t>i</a:t>
            </a:r>
            <a:r>
              <a:rPr lang="en-US" altLang="zh-CN" sz="3200" dirty="0"/>
              <a:t>(1≦i≦n)</a:t>
            </a:r>
            <a:r>
              <a:rPr lang="zh-CN" altLang="en-US" sz="3200" dirty="0">
                <a:latin typeface="宋体" panose="02010600030101010101" pitchFamily="2" charset="-122"/>
              </a:rPr>
              <a:t>，使其成为线性表</a:t>
            </a:r>
            <a:r>
              <a:rPr lang="zh-CN" altLang="en-US" sz="3200" dirty="0"/>
              <a:t>：</a:t>
            </a:r>
          </a:p>
          <a:p>
            <a:pPr marL="0" indent="0" eaLnBrk="1" hangingPunct="1">
              <a:lnSpc>
                <a:spcPct val="110000"/>
              </a:lnSpc>
              <a:buNone/>
            </a:pPr>
            <a:r>
              <a:rPr lang="zh-CN" altLang="en-US" sz="3200" dirty="0"/>
              <a:t>           </a:t>
            </a:r>
            <a:r>
              <a:rPr lang="en-US" altLang="zh-CN" sz="3200" dirty="0"/>
              <a:t>L= (a</a:t>
            </a:r>
            <a:r>
              <a:rPr lang="en-US" altLang="zh-CN" sz="3200" baseline="-25000" dirty="0"/>
              <a:t>1</a:t>
            </a:r>
            <a:r>
              <a:rPr lang="zh-CN" altLang="en-US" sz="3200" dirty="0"/>
              <a:t>，</a:t>
            </a:r>
            <a:r>
              <a:rPr lang="en-US" altLang="zh-CN" sz="3200" dirty="0">
                <a:latin typeface="Arial" panose="020B0604020202020204" pitchFamily="34" charset="0"/>
              </a:rPr>
              <a:t>…</a:t>
            </a:r>
            <a:r>
              <a:rPr lang="en-US" altLang="zh-CN" sz="3200" dirty="0"/>
              <a:t>a</a:t>
            </a:r>
            <a:r>
              <a:rPr lang="en-US" altLang="zh-CN" sz="3200" baseline="-25000" dirty="0"/>
              <a:t>i-1</a:t>
            </a:r>
            <a:r>
              <a:rPr lang="zh-CN" altLang="en-US" sz="3200" dirty="0"/>
              <a:t>，</a:t>
            </a:r>
            <a:r>
              <a:rPr lang="en-US" altLang="zh-CN" sz="3200" dirty="0"/>
              <a:t>a</a:t>
            </a:r>
            <a:r>
              <a:rPr lang="en-US" altLang="zh-CN" sz="3200" baseline="-25000" dirty="0"/>
              <a:t>i+1</a:t>
            </a:r>
            <a:r>
              <a:rPr lang="zh-CN" altLang="en-US" sz="3200" dirty="0"/>
              <a:t>，</a:t>
            </a:r>
            <a:r>
              <a:rPr lang="en-US" altLang="zh-CN" sz="3200" dirty="0">
                <a:latin typeface="Arial" panose="020B0604020202020204" pitchFamily="34" charset="0"/>
              </a:rPr>
              <a:t>…</a:t>
            </a:r>
            <a:r>
              <a:rPr lang="zh-CN" altLang="en-US" sz="3200" dirty="0"/>
              <a:t>，</a:t>
            </a:r>
            <a:r>
              <a:rPr lang="en-US" altLang="zh-CN" sz="3200" dirty="0"/>
              <a:t>a</a:t>
            </a:r>
            <a:r>
              <a:rPr lang="en-US" altLang="zh-CN" sz="3200" baseline="-25000" dirty="0"/>
              <a:t>n</a:t>
            </a:r>
            <a:r>
              <a:rPr lang="en-US" altLang="zh-CN" sz="3200" dirty="0"/>
              <a:t>)</a:t>
            </a:r>
          </a:p>
          <a:p>
            <a:pPr marL="0" indent="0" eaLnBrk="1" hangingPunct="1">
              <a:lnSpc>
                <a:spcPct val="110000"/>
              </a:lnSpc>
              <a:buNone/>
            </a:pPr>
            <a:r>
              <a:rPr lang="en-US" altLang="zh-CN" sz="3200" dirty="0">
                <a:solidFill>
                  <a:schemeClr val="hlink"/>
                </a:solidFill>
              </a:rPr>
              <a:t> </a:t>
            </a:r>
            <a:r>
              <a:rPr lang="zh-CN" altLang="en-US" sz="3200" dirty="0">
                <a:solidFill>
                  <a:srgbClr val="008000"/>
                </a:solidFill>
              </a:rPr>
              <a:t>实现步骤</a:t>
            </a:r>
            <a:endParaRPr lang="en-US" altLang="zh-CN" sz="3200" dirty="0">
              <a:solidFill>
                <a:srgbClr val="008000"/>
              </a:solidFill>
            </a:endParaRPr>
          </a:p>
          <a:p>
            <a:pPr marL="400050" lvl="1" indent="0" eaLnBrk="1" hangingPunct="1">
              <a:lnSpc>
                <a:spcPct val="110000"/>
              </a:lnSpc>
            </a:pPr>
            <a:r>
              <a:rPr lang="zh-CN" altLang="en-US" sz="2800" dirty="0"/>
              <a:t>删除位置是否合法？</a:t>
            </a:r>
            <a:endParaRPr lang="en-US" altLang="zh-CN" sz="2800" dirty="0"/>
          </a:p>
          <a:p>
            <a:pPr marL="400050" lvl="1" indent="0" eaLnBrk="1" hangingPunct="1">
              <a:lnSpc>
                <a:spcPct val="110000"/>
              </a:lnSpc>
            </a:pPr>
            <a:r>
              <a:rPr lang="zh-CN" altLang="en-US" sz="2800" dirty="0"/>
              <a:t>将线性表</a:t>
            </a:r>
            <a:r>
              <a:rPr lang="en-US" altLang="zh-CN" sz="2800" dirty="0"/>
              <a:t>L</a:t>
            </a:r>
            <a:r>
              <a:rPr lang="zh-CN" altLang="en-US" sz="2800" dirty="0"/>
              <a:t>中的</a:t>
            </a:r>
            <a:r>
              <a:rPr lang="zh-CN" altLang="en-US" sz="2800" dirty="0">
                <a:latin typeface="宋体" panose="02010600030101010101" pitchFamily="2" charset="-122"/>
              </a:rPr>
              <a:t>第</a:t>
            </a:r>
            <a:r>
              <a:rPr lang="en-US" altLang="zh-CN" sz="2800" dirty="0"/>
              <a:t>i+1</a:t>
            </a:r>
            <a:r>
              <a:rPr lang="zh-CN" altLang="en-US" sz="2800" dirty="0"/>
              <a:t>个至第</a:t>
            </a:r>
            <a:r>
              <a:rPr lang="en-US" altLang="zh-CN" sz="2800" dirty="0"/>
              <a:t>n</a:t>
            </a:r>
            <a:r>
              <a:rPr lang="zh-CN" altLang="en-US" sz="2800" dirty="0">
                <a:latin typeface="宋体" panose="02010600030101010101" pitchFamily="2" charset="-122"/>
              </a:rPr>
              <a:t>个结点依此向前移动一个位置。</a:t>
            </a:r>
            <a:endParaRPr lang="en-US" altLang="zh-CN" sz="2800" dirty="0">
              <a:latin typeface="宋体" panose="02010600030101010101" pitchFamily="2" charset="-122"/>
            </a:endParaRPr>
          </a:p>
          <a:p>
            <a:pPr marL="400050" lvl="1" indent="0" eaLnBrk="1" hangingPunct="1">
              <a:lnSpc>
                <a:spcPct val="110000"/>
              </a:lnSpc>
            </a:pPr>
            <a:r>
              <a:rPr lang="zh-CN" altLang="en-US" sz="2800" dirty="0">
                <a:latin typeface="宋体" panose="02010600030101010101" pitchFamily="2" charset="-122"/>
              </a:rPr>
              <a:t>线性表长度减</a:t>
            </a:r>
            <a:r>
              <a:rPr lang="en-US" altLang="zh-CN" sz="2800" dirty="0"/>
              <a:t>1</a:t>
            </a:r>
            <a:endParaRPr lang="zh-CN" altLang="en-US" sz="2800" dirty="0"/>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2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D1F86D18-B1D8-F58E-AAE7-1BC802D7592F}"/>
              </a:ext>
            </a:extLst>
          </p:cNvPr>
          <p:cNvSpPr>
            <a:spLocks noChangeArrowheads="1"/>
          </p:cNvSpPr>
          <p:nvPr/>
        </p:nvSpPr>
        <p:spPr bwMode="auto">
          <a:xfrm>
            <a:off x="7211115" y="4169619"/>
            <a:ext cx="529949" cy="428402"/>
          </a:xfrm>
          <a:prstGeom prst="rect">
            <a:avLst/>
          </a:prstGeom>
          <a:solidFill>
            <a:schemeClr val="bg1">
              <a:lumMod val="95000"/>
            </a:schemeClr>
          </a:solidFill>
          <a:ln w="25400">
            <a:no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rPr>
              <a:t>0</a:t>
            </a:r>
            <a:endParaRPr kumimoji="0" lang="zh-CN" altLang="en-US"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
        <p:nvSpPr>
          <p:cNvPr id="22" name="矩形 27">
            <a:extLst>
              <a:ext uri="{FF2B5EF4-FFF2-40B4-BE49-F238E27FC236}">
                <a16:creationId xmlns:a16="http://schemas.microsoft.com/office/drawing/2014/main" id="{C4DFD519-6570-E99E-50E1-F89E402B2287}"/>
              </a:ext>
            </a:extLst>
          </p:cNvPr>
          <p:cNvSpPr>
            <a:spLocks noChangeArrowheads="1"/>
          </p:cNvSpPr>
          <p:nvPr/>
        </p:nvSpPr>
        <p:spPr bwMode="auto">
          <a:xfrm>
            <a:off x="7741064" y="4169619"/>
            <a:ext cx="529949" cy="428402"/>
          </a:xfrm>
          <a:prstGeom prst="rect">
            <a:avLst/>
          </a:prstGeom>
          <a:solidFill>
            <a:schemeClr val="bg1">
              <a:lumMod val="95000"/>
            </a:schemeClr>
          </a:solidFill>
          <a:ln w="25400">
            <a:no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rPr>
              <a:t>1</a:t>
            </a:r>
            <a:endParaRPr kumimoji="0" lang="zh-CN" altLang="en-US"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
        <p:nvSpPr>
          <p:cNvPr id="23" name="矩形 27">
            <a:extLst>
              <a:ext uri="{FF2B5EF4-FFF2-40B4-BE49-F238E27FC236}">
                <a16:creationId xmlns:a16="http://schemas.microsoft.com/office/drawing/2014/main" id="{B6ED713A-BEC2-37AE-A8C0-E86B1C5A50E3}"/>
              </a:ext>
            </a:extLst>
          </p:cNvPr>
          <p:cNvSpPr>
            <a:spLocks noChangeArrowheads="1"/>
          </p:cNvSpPr>
          <p:nvPr/>
        </p:nvSpPr>
        <p:spPr bwMode="auto">
          <a:xfrm>
            <a:off x="8271013" y="4169619"/>
            <a:ext cx="529949" cy="428402"/>
          </a:xfrm>
          <a:prstGeom prst="rect">
            <a:avLst/>
          </a:prstGeom>
          <a:solidFill>
            <a:schemeClr val="bg1">
              <a:lumMod val="95000"/>
            </a:schemeClr>
          </a:solidFill>
          <a:ln w="25400">
            <a:no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rPr>
              <a:t>2</a:t>
            </a:r>
            <a:endParaRPr kumimoji="0" lang="zh-CN" altLang="en-US"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
        <p:nvSpPr>
          <p:cNvPr id="29" name="矩形 28">
            <a:extLst>
              <a:ext uri="{FF2B5EF4-FFF2-40B4-BE49-F238E27FC236}">
                <a16:creationId xmlns:a16="http://schemas.microsoft.com/office/drawing/2014/main" id="{D1933E2B-2D7F-5565-FF36-75DBFF35A545}"/>
              </a:ext>
            </a:extLst>
          </p:cNvPr>
          <p:cNvSpPr>
            <a:spLocks noChangeArrowheads="1"/>
          </p:cNvSpPr>
          <p:nvPr/>
        </p:nvSpPr>
        <p:spPr bwMode="auto">
          <a:xfrm>
            <a:off x="8808824" y="4169619"/>
            <a:ext cx="529949" cy="428402"/>
          </a:xfrm>
          <a:prstGeom prst="rect">
            <a:avLst/>
          </a:prstGeom>
          <a:solidFill>
            <a:schemeClr val="bg1">
              <a:lumMod val="95000"/>
            </a:schemeClr>
          </a:solidFill>
          <a:ln w="25400">
            <a:no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rPr>
              <a:t>3</a:t>
            </a:r>
            <a:endParaRPr kumimoji="0" lang="zh-CN" altLang="en-US"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
        <p:nvSpPr>
          <p:cNvPr id="30" name="矩形 27">
            <a:extLst>
              <a:ext uri="{FF2B5EF4-FFF2-40B4-BE49-F238E27FC236}">
                <a16:creationId xmlns:a16="http://schemas.microsoft.com/office/drawing/2014/main" id="{71E64AB8-3C7D-2E6E-ED1A-A7234DEB36DD}"/>
              </a:ext>
            </a:extLst>
          </p:cNvPr>
          <p:cNvSpPr>
            <a:spLocks noChangeArrowheads="1"/>
          </p:cNvSpPr>
          <p:nvPr/>
        </p:nvSpPr>
        <p:spPr bwMode="auto">
          <a:xfrm>
            <a:off x="9338773" y="4169619"/>
            <a:ext cx="529949" cy="428402"/>
          </a:xfrm>
          <a:prstGeom prst="rect">
            <a:avLst/>
          </a:prstGeom>
          <a:solidFill>
            <a:schemeClr val="bg1">
              <a:lumMod val="95000"/>
            </a:schemeClr>
          </a:solidFill>
          <a:ln w="25400">
            <a:no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rPr>
              <a:t>4</a:t>
            </a:r>
            <a:endParaRPr kumimoji="0" lang="zh-CN" altLang="en-US"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
        <p:nvSpPr>
          <p:cNvPr id="31" name="矩形 27">
            <a:extLst>
              <a:ext uri="{FF2B5EF4-FFF2-40B4-BE49-F238E27FC236}">
                <a16:creationId xmlns:a16="http://schemas.microsoft.com/office/drawing/2014/main" id="{BE0F0639-33F5-2A80-EF0A-3703C0888B0B}"/>
              </a:ext>
            </a:extLst>
          </p:cNvPr>
          <p:cNvSpPr>
            <a:spLocks noChangeArrowheads="1"/>
          </p:cNvSpPr>
          <p:nvPr/>
        </p:nvSpPr>
        <p:spPr bwMode="auto">
          <a:xfrm>
            <a:off x="9868722" y="4169619"/>
            <a:ext cx="529949" cy="428402"/>
          </a:xfrm>
          <a:prstGeom prst="rect">
            <a:avLst/>
          </a:prstGeom>
          <a:solidFill>
            <a:schemeClr val="bg1">
              <a:lumMod val="95000"/>
            </a:schemeClr>
          </a:solidFill>
          <a:ln w="25400">
            <a:no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zh-CN"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rPr>
              <a:t>5</a:t>
            </a:r>
            <a:endParaRPr kumimoji="0" lang="zh-CN" altLang="en-US"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
        <p:nvSpPr>
          <p:cNvPr id="32" name="矩形 27">
            <a:extLst>
              <a:ext uri="{FF2B5EF4-FFF2-40B4-BE49-F238E27FC236}">
                <a16:creationId xmlns:a16="http://schemas.microsoft.com/office/drawing/2014/main" id="{5E786E10-0032-AD06-FADF-3AEE9F6FA351}"/>
              </a:ext>
            </a:extLst>
          </p:cNvPr>
          <p:cNvSpPr>
            <a:spLocks noChangeArrowheads="1"/>
          </p:cNvSpPr>
          <p:nvPr/>
        </p:nvSpPr>
        <p:spPr bwMode="auto">
          <a:xfrm>
            <a:off x="10392976" y="4169619"/>
            <a:ext cx="529949" cy="428402"/>
          </a:xfrm>
          <a:prstGeom prst="rect">
            <a:avLst/>
          </a:prstGeom>
          <a:solidFill>
            <a:schemeClr val="bg1">
              <a:lumMod val="95000"/>
            </a:schemeClr>
          </a:solidFill>
          <a:ln w="25400">
            <a:no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rPr>
              <a:t>6</a:t>
            </a:r>
            <a:endParaRPr kumimoji="0" lang="zh-CN" altLang="en-US" sz="1799"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
        <p:nvSpPr>
          <p:cNvPr id="2" name="灯片编号占位符 1">
            <a:extLst>
              <a:ext uri="{FF2B5EF4-FFF2-40B4-BE49-F238E27FC236}">
                <a16:creationId xmlns:a16="http://schemas.microsoft.com/office/drawing/2014/main" id="{745A8C5C-A26C-3EEA-8BC4-6AEC2C7B8E0F}"/>
              </a:ext>
            </a:extLst>
          </p:cNvPr>
          <p:cNvSpPr>
            <a:spLocks noGrp="1"/>
          </p:cNvSpPr>
          <p:nvPr>
            <p:ph type="sldNum" sz="quarter" idx="4294967295"/>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C0FE0B-717B-41AE-9FA2-CA4BF851D1C3}" type="slidenum">
              <a:rPr kumimoji="0" lang="zh-CN" altLang="en-US" sz="1200" b="0" i="0" u="none" strike="noStrike" kern="1200" cap="none" spc="0" normalizeH="0" baseline="0" noProof="0" smtClean="0">
                <a:ln>
                  <a:noFill/>
                </a:ln>
                <a:solidFill>
                  <a:prstClr val="black">
                    <a:tint val="82000"/>
                  </a:prstClr>
                </a:solidFill>
                <a:effectLst/>
                <a:uLnTx/>
                <a:uFillTx/>
                <a:latin typeface="Times New Roman" panose="020206030504050203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tint val="82000"/>
                </a:prstClr>
              </a:solidFill>
              <a:effectLst/>
              <a:uLnTx/>
              <a:uFillTx/>
              <a:latin typeface="Times New Roman" panose="02020603050405020304"/>
              <a:ea typeface="宋体" panose="02010600030101010101" pitchFamily="2" charset="-122"/>
              <a:cs typeface="+mn-cs"/>
            </a:endParaRPr>
          </a:p>
        </p:txBody>
      </p:sp>
      <p:sp>
        <p:nvSpPr>
          <p:cNvPr id="3" name="矩形 27">
            <a:extLst>
              <a:ext uri="{FF2B5EF4-FFF2-40B4-BE49-F238E27FC236}">
                <a16:creationId xmlns:a16="http://schemas.microsoft.com/office/drawing/2014/main" id="{E063C4D2-B52B-E1F3-84EF-E499D6C45C2B}"/>
              </a:ext>
            </a:extLst>
          </p:cNvPr>
          <p:cNvSpPr>
            <a:spLocks noChangeArrowheads="1"/>
          </p:cNvSpPr>
          <p:nvPr/>
        </p:nvSpPr>
        <p:spPr bwMode="auto">
          <a:xfrm>
            <a:off x="7741064" y="4553086"/>
            <a:ext cx="529949" cy="428402"/>
          </a:xfrm>
          <a:prstGeom prst="rect">
            <a:avLst/>
          </a:prstGeom>
          <a:solidFill>
            <a:srgbClr val="CCFFFF"/>
          </a:solidFill>
          <a:ln w="25400">
            <a:solidFill>
              <a:schemeClr val="tx1"/>
            </a:solid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2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rPr>
              <a:t>8</a:t>
            </a:r>
            <a:endParaRPr kumimoji="0" lang="zh-CN" altLang="en-US" sz="2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4" name="矩形 27">
            <a:extLst>
              <a:ext uri="{FF2B5EF4-FFF2-40B4-BE49-F238E27FC236}">
                <a16:creationId xmlns:a16="http://schemas.microsoft.com/office/drawing/2014/main" id="{55F0D711-265A-5B5D-96E5-56E54A524A18}"/>
              </a:ext>
            </a:extLst>
          </p:cNvPr>
          <p:cNvSpPr>
            <a:spLocks noChangeArrowheads="1"/>
          </p:cNvSpPr>
          <p:nvPr/>
        </p:nvSpPr>
        <p:spPr bwMode="auto">
          <a:xfrm>
            <a:off x="8258319" y="4553086"/>
            <a:ext cx="529949" cy="428402"/>
          </a:xfrm>
          <a:prstGeom prst="rect">
            <a:avLst/>
          </a:prstGeom>
          <a:solidFill>
            <a:srgbClr val="CCFFFF"/>
          </a:solidFill>
          <a:ln w="25400">
            <a:solidFill>
              <a:schemeClr val="tx1"/>
            </a:solid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rPr>
              <a:t>10</a:t>
            </a:r>
            <a:endParaRPr kumimoji="0" lang="zh-CN" altLang="en-US" sz="2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endParaRPr>
          </a:p>
        </p:txBody>
      </p:sp>
      <p:sp>
        <p:nvSpPr>
          <p:cNvPr id="5" name="矩形 27">
            <a:extLst>
              <a:ext uri="{FF2B5EF4-FFF2-40B4-BE49-F238E27FC236}">
                <a16:creationId xmlns:a16="http://schemas.microsoft.com/office/drawing/2014/main" id="{70DC4B3F-5D91-F553-2A51-DF5C911B7662}"/>
              </a:ext>
            </a:extLst>
          </p:cNvPr>
          <p:cNvSpPr>
            <a:spLocks noChangeArrowheads="1"/>
          </p:cNvSpPr>
          <p:nvPr/>
        </p:nvSpPr>
        <p:spPr bwMode="auto">
          <a:xfrm>
            <a:off x="8788268" y="4553086"/>
            <a:ext cx="529949" cy="428402"/>
          </a:xfrm>
          <a:prstGeom prst="rect">
            <a:avLst/>
          </a:prstGeom>
          <a:solidFill>
            <a:srgbClr val="CCFFFF"/>
          </a:solidFill>
          <a:ln w="25400">
            <a:solidFill>
              <a:schemeClr val="tx1"/>
            </a:solid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2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rPr>
              <a:t>17</a:t>
            </a:r>
            <a:endParaRPr kumimoji="0" lang="zh-CN" altLang="en-US" sz="22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endParaRPr>
          </a:p>
        </p:txBody>
      </p:sp>
      <p:sp>
        <p:nvSpPr>
          <p:cNvPr id="6" name="矩形 27">
            <a:extLst>
              <a:ext uri="{FF2B5EF4-FFF2-40B4-BE49-F238E27FC236}">
                <a16:creationId xmlns:a16="http://schemas.microsoft.com/office/drawing/2014/main" id="{819B6B45-3214-38DF-2C62-FCE96733B252}"/>
              </a:ext>
            </a:extLst>
          </p:cNvPr>
          <p:cNvSpPr>
            <a:spLocks noChangeArrowheads="1"/>
          </p:cNvSpPr>
          <p:nvPr/>
        </p:nvSpPr>
        <p:spPr bwMode="auto">
          <a:xfrm>
            <a:off x="7211115" y="4553086"/>
            <a:ext cx="529949" cy="428402"/>
          </a:xfrm>
          <a:prstGeom prst="rect">
            <a:avLst/>
          </a:prstGeom>
          <a:solidFill>
            <a:srgbClr val="CCFFFF"/>
          </a:solidFill>
          <a:ln w="25400">
            <a:solidFill>
              <a:schemeClr val="tx1"/>
            </a:solid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2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rPr>
              <a:t>3</a:t>
            </a:r>
            <a:endParaRPr kumimoji="0" lang="zh-CN" altLang="en-US" sz="2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7" name="矩形 6">
            <a:extLst>
              <a:ext uri="{FF2B5EF4-FFF2-40B4-BE49-F238E27FC236}">
                <a16:creationId xmlns:a16="http://schemas.microsoft.com/office/drawing/2014/main" id="{99420BF9-75A8-872C-1250-5A24936AA786}"/>
              </a:ext>
            </a:extLst>
          </p:cNvPr>
          <p:cNvSpPr>
            <a:spLocks noChangeArrowheads="1"/>
          </p:cNvSpPr>
          <p:nvPr/>
        </p:nvSpPr>
        <p:spPr bwMode="auto">
          <a:xfrm>
            <a:off x="9857551" y="4553086"/>
            <a:ext cx="529949" cy="428402"/>
          </a:xfrm>
          <a:prstGeom prst="rect">
            <a:avLst/>
          </a:prstGeom>
          <a:solidFill>
            <a:srgbClr val="CCFFFF"/>
          </a:solidFill>
          <a:ln w="25400">
            <a:solidFill>
              <a:schemeClr val="tx1"/>
            </a:solid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rPr>
              <a:t>5</a:t>
            </a:r>
            <a:endParaRPr kumimoji="0" lang="zh-CN" altLang="en-US" sz="22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8" name="矩形 27">
            <a:extLst>
              <a:ext uri="{FF2B5EF4-FFF2-40B4-BE49-F238E27FC236}">
                <a16:creationId xmlns:a16="http://schemas.microsoft.com/office/drawing/2014/main" id="{A4F01557-9935-8277-60A9-93BFB2EE8CAC}"/>
              </a:ext>
            </a:extLst>
          </p:cNvPr>
          <p:cNvSpPr>
            <a:spLocks noChangeArrowheads="1"/>
          </p:cNvSpPr>
          <p:nvPr/>
        </p:nvSpPr>
        <p:spPr bwMode="auto">
          <a:xfrm>
            <a:off x="10387500" y="4553086"/>
            <a:ext cx="529949" cy="428402"/>
          </a:xfrm>
          <a:prstGeom prst="rect">
            <a:avLst/>
          </a:prstGeom>
          <a:solidFill>
            <a:schemeClr val="bg1">
              <a:lumMod val="85000"/>
            </a:schemeClr>
          </a:solidFill>
          <a:ln w="25400">
            <a:solidFill>
              <a:schemeClr val="tx1"/>
            </a:solid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2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rPr>
              <a:t>6</a:t>
            </a:r>
            <a:endParaRPr kumimoji="0" lang="zh-CN" altLang="en-US" sz="22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endParaRPr>
          </a:p>
        </p:txBody>
      </p:sp>
      <p:sp>
        <p:nvSpPr>
          <p:cNvPr id="9" name="矩形 27">
            <a:extLst>
              <a:ext uri="{FF2B5EF4-FFF2-40B4-BE49-F238E27FC236}">
                <a16:creationId xmlns:a16="http://schemas.microsoft.com/office/drawing/2014/main" id="{445CCF8A-E29A-CBAB-7745-0159949A6B07}"/>
              </a:ext>
            </a:extLst>
          </p:cNvPr>
          <p:cNvSpPr>
            <a:spLocks noChangeArrowheads="1"/>
          </p:cNvSpPr>
          <p:nvPr/>
        </p:nvSpPr>
        <p:spPr bwMode="auto">
          <a:xfrm>
            <a:off x="9329189" y="4553086"/>
            <a:ext cx="529949" cy="428402"/>
          </a:xfrm>
          <a:prstGeom prst="rect">
            <a:avLst/>
          </a:prstGeom>
          <a:solidFill>
            <a:srgbClr val="CCFFFF"/>
          </a:solidFill>
          <a:ln w="25400">
            <a:solidFill>
              <a:schemeClr val="tx1"/>
            </a:solid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2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rPr>
              <a:t>2</a:t>
            </a:r>
            <a:endParaRPr kumimoji="0" lang="zh-CN" altLang="en-US" sz="2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4" name="标题 2">
            <a:extLst>
              <a:ext uri="{FF2B5EF4-FFF2-40B4-BE49-F238E27FC236}">
                <a16:creationId xmlns:a16="http://schemas.microsoft.com/office/drawing/2014/main" id="{5A89697A-D4BF-07B0-62D0-6D7563ED482B}"/>
              </a:ext>
            </a:extLst>
          </p:cNvPr>
          <p:cNvSpPr txBox="1">
            <a:spLocks/>
          </p:cNvSpPr>
          <p:nvPr/>
        </p:nvSpPr>
        <p:spPr>
          <a:xfrm>
            <a:off x="1413388" y="276711"/>
            <a:ext cx="5337036" cy="45668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799"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a:ea typeface="黑体" panose="02010609060101010101" pitchFamily="49" charset="-122"/>
                <a:cs typeface="+mj-cs"/>
              </a:rPr>
              <a:t>删除顺序表的第</a:t>
            </a:r>
            <a:r>
              <a:rPr kumimoji="0" lang="en-US" altLang="zh-CN" sz="2799" b="1" i="0" u="none" strike="noStrike" kern="1200" cap="none" spc="0" normalizeH="0" baseline="0" noProof="0" dirty="0" err="1">
                <a:ln>
                  <a:noFill/>
                </a:ln>
                <a:solidFill>
                  <a:srgbClr val="C000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rPr>
              <a:t>i</a:t>
            </a:r>
            <a:r>
              <a:rPr kumimoji="0" lang="zh-CN" altLang="en-US" sz="2799"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a:ea typeface="黑体" panose="02010609060101010101" pitchFamily="49" charset="-122"/>
                <a:cs typeface="+mj-cs"/>
              </a:rPr>
              <a:t>元素</a:t>
            </a:r>
            <a:endParaRPr kumimoji="0" lang="zh-CN" altLang="en-US" sz="4400" b="0" i="0" u="none" strike="noStrike" kern="1200" cap="none" spc="0" normalizeH="0" baseline="0" noProof="0" dirty="0">
              <a:ln>
                <a:noFill/>
              </a:ln>
              <a:solidFill>
                <a:srgbClr val="002060"/>
              </a:solidFill>
              <a:effectLst/>
              <a:uLnTx/>
              <a:uFillTx/>
              <a:latin typeface="Arial" panose="020B0604020202020204"/>
              <a:ea typeface="黑体" panose="02010609060101010101" pitchFamily="49" charset="-122"/>
              <a:cs typeface="+mj-cs"/>
            </a:endParaRPr>
          </a:p>
        </p:txBody>
      </p:sp>
      <p:sp>
        <p:nvSpPr>
          <p:cNvPr id="15" name="文本框 14">
            <a:extLst>
              <a:ext uri="{FF2B5EF4-FFF2-40B4-BE49-F238E27FC236}">
                <a16:creationId xmlns:a16="http://schemas.microsoft.com/office/drawing/2014/main" id="{1B3988D4-CAA9-1E68-F224-36B98ACADC79}"/>
              </a:ext>
            </a:extLst>
          </p:cNvPr>
          <p:cNvSpPr txBox="1"/>
          <p:nvPr/>
        </p:nvSpPr>
        <p:spPr>
          <a:xfrm>
            <a:off x="551384" y="949656"/>
            <a:ext cx="645280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ListDelete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SqList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6" name="文本框 15">
            <a:extLst>
              <a:ext uri="{FF2B5EF4-FFF2-40B4-BE49-F238E27FC236}">
                <a16:creationId xmlns:a16="http://schemas.microsoft.com/office/drawing/2014/main" id="{C2906173-2261-1577-788B-6D756ABB76C0}"/>
              </a:ext>
            </a:extLst>
          </p:cNvPr>
          <p:cNvSpPr txBox="1"/>
          <p:nvPr/>
        </p:nvSpPr>
        <p:spPr>
          <a:xfrm>
            <a:off x="971772" y="1355440"/>
            <a:ext cx="1023099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nn-NO"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nn-NO"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nn-NO"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 || i&lt;1 || i&gt;L-&gt;len) </a:t>
            </a:r>
            <a:r>
              <a:rPr kumimoji="0" lang="nn-NO"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nn-NO"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errV</a:t>
            </a:r>
            <a:r>
              <a:rPr kumimoji="0" lang="nn-NO"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nn-NO" altLang="zh-CN" sz="20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20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删除位置</a:t>
            </a:r>
            <a:r>
              <a:rPr kumimoji="0" lang="nn-NO" altLang="zh-CN" sz="20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zh-CN" altLang="en-US" sz="20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不合法</a:t>
            </a:r>
          </a:p>
        </p:txBody>
      </p:sp>
      <p:sp>
        <p:nvSpPr>
          <p:cNvPr id="17" name="矩形 16">
            <a:extLst>
              <a:ext uri="{FF2B5EF4-FFF2-40B4-BE49-F238E27FC236}">
                <a16:creationId xmlns:a16="http://schemas.microsoft.com/office/drawing/2014/main" id="{549E90BE-C1BD-17D2-97E2-4251AE56D242}"/>
              </a:ext>
            </a:extLst>
          </p:cNvPr>
          <p:cNvSpPr/>
          <p:nvPr/>
        </p:nvSpPr>
        <p:spPr>
          <a:xfrm>
            <a:off x="971772" y="1805505"/>
            <a:ext cx="9853191" cy="738664"/>
          </a:xfrm>
          <a:prstGeom prst="rect">
            <a:avLst/>
          </a:prstGeom>
        </p:spPr>
        <p:txBody>
          <a:bodyPr wrap="square">
            <a:spAutoFit/>
          </a:bodyPr>
          <a:lstStyle/>
          <a:p>
            <a:pPr marL="0" marR="0" lvl="0" indent="0" algn="l" defTabSz="914400" rtl="0" eaLnBrk="1" fontAlgn="auto" latinLnBrk="0" hangingPunct="1">
              <a:lnSpc>
                <a:spcPct val="100000"/>
              </a:lnSpc>
              <a:spcBef>
                <a:spcPct val="10000"/>
              </a:spcBef>
              <a:spcAft>
                <a:spcPts val="0"/>
              </a:spcAft>
              <a:buClrTx/>
              <a:buSzTx/>
              <a:buFontTx/>
              <a:buNone/>
              <a:tabLst/>
              <a:defRPr/>
            </a:pP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 = &amp;(L-&gt;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[i-1]);  </a:t>
            </a:r>
            <a:r>
              <a:rPr kumimoji="0" lang="en-US" altLang="zh-CN" sz="20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a:t>
            </a:r>
            <a:r>
              <a:rPr kumimoji="0" lang="zh-CN" altLang="en-US" sz="20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为被删除元素的位置</a:t>
            </a:r>
          </a:p>
          <a:p>
            <a:pPr marL="0" marR="0" lvl="0" indent="0" algn="l" defTabSz="914400" rtl="0" eaLnBrk="1" fontAlgn="auto" latinLnBrk="0" hangingPunct="1">
              <a:lnSpc>
                <a:spcPct val="100000"/>
              </a:lnSpc>
              <a:spcBef>
                <a:spcPct val="10000"/>
              </a:spcBef>
              <a:spcAft>
                <a:spcPts val="0"/>
              </a:spcAft>
              <a:buClrTx/>
              <a:buSzTx/>
              <a:buFontTx/>
              <a:buNone/>
              <a:tabLst/>
              <a:defRPr/>
            </a:pP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 = *p;                </a:t>
            </a:r>
            <a:r>
              <a:rPr kumimoji="0" lang="en-US" altLang="zh-CN" sz="20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20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被删除元素的值赋给</a:t>
            </a:r>
            <a:r>
              <a:rPr kumimoji="0" lang="en-US" altLang="zh-CN" sz="20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e</a:t>
            </a:r>
          </a:p>
        </p:txBody>
      </p:sp>
      <p:sp>
        <p:nvSpPr>
          <p:cNvPr id="18" name="矩形 17">
            <a:extLst>
              <a:ext uri="{FF2B5EF4-FFF2-40B4-BE49-F238E27FC236}">
                <a16:creationId xmlns:a16="http://schemas.microsoft.com/office/drawing/2014/main" id="{2173AB46-BA39-B84F-8202-942C6D383E4C}"/>
              </a:ext>
            </a:extLst>
          </p:cNvPr>
          <p:cNvSpPr/>
          <p:nvPr/>
        </p:nvSpPr>
        <p:spPr>
          <a:xfrm>
            <a:off x="971773" y="2564477"/>
            <a:ext cx="12138178"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memmove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p+1</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(L-&gt;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len-i</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zh-CN" sz="18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被删元素之后的所有元素前移</a:t>
            </a:r>
            <a:r>
              <a:rPr kumimoji="0" lang="en-US" altLang="zh-CN" sz="18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1</a:t>
            </a:r>
            <a:r>
              <a:rPr kumimoji="0" lang="zh-CN" altLang="zh-CN" sz="18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位</a:t>
            </a:r>
            <a:endParaRPr kumimoji="0" lang="zh-CN" altLang="zh-CN" sz="20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20" name="矩形 19">
            <a:extLst>
              <a:ext uri="{FF2B5EF4-FFF2-40B4-BE49-F238E27FC236}">
                <a16:creationId xmlns:a16="http://schemas.microsoft.com/office/drawing/2014/main" id="{80DF93D1-AE84-20AE-C98E-D2266CDD0007}"/>
              </a:ext>
            </a:extLst>
          </p:cNvPr>
          <p:cNvSpPr/>
          <p:nvPr/>
        </p:nvSpPr>
        <p:spPr>
          <a:xfrm>
            <a:off x="1" y="2999682"/>
            <a:ext cx="6045798" cy="738664"/>
          </a:xfrm>
          <a:prstGeom prst="rect">
            <a:avLst/>
          </a:prstGeom>
        </p:spPr>
        <p:txBody>
          <a:bodyPr wrap="square">
            <a:spAutoFit/>
          </a:bodyPr>
          <a:lstStyle/>
          <a:p>
            <a:pPr marL="0" marR="0" lvl="0" indent="0" algn="l" defTabSz="914400" rtl="0" eaLnBrk="1" fontAlgn="auto" latinLnBrk="0" hangingPunct="1">
              <a:lnSpc>
                <a:spcPct val="100000"/>
              </a:lnSpc>
              <a:spcBef>
                <a:spcPct val="1000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--L-&gt;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len</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20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表长减</a:t>
            </a:r>
            <a:r>
              <a:rPr kumimoji="0" lang="en-US" altLang="zh-CN" sz="2000" b="1" i="0" u="none" strike="noStrike" kern="1200" cap="none" spc="0" normalizeH="0" baseline="0" noProof="0" dirty="0">
                <a:ln>
                  <a:noFill/>
                </a:ln>
                <a:solidFill>
                  <a:srgbClr val="0F9ED5">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1</a:t>
            </a:r>
          </a:p>
          <a:p>
            <a:pPr marL="0" marR="0" lvl="0" indent="0" algn="l" defTabSz="914400" rtl="0" eaLnBrk="1" fontAlgn="auto" latinLnBrk="0" hangingPunct="1">
              <a:lnSpc>
                <a:spcPct val="100000"/>
              </a:lnSpc>
              <a:spcBef>
                <a:spcPct val="1000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 </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cxnSp>
        <p:nvCxnSpPr>
          <p:cNvPr id="24" name="直接箭头连接符 33">
            <a:extLst>
              <a:ext uri="{FF2B5EF4-FFF2-40B4-BE49-F238E27FC236}">
                <a16:creationId xmlns:a16="http://schemas.microsoft.com/office/drawing/2014/main" id="{E5A98C22-0CB6-A941-5588-1860054DAB8B}"/>
              </a:ext>
            </a:extLst>
          </p:cNvPr>
          <p:cNvCxnSpPr>
            <a:cxnSpLocks noChangeShapeType="1"/>
          </p:cNvCxnSpPr>
          <p:nvPr/>
        </p:nvCxnSpPr>
        <p:spPr bwMode="auto">
          <a:xfrm flipV="1">
            <a:off x="9025536" y="4989367"/>
            <a:ext cx="0" cy="428402"/>
          </a:xfrm>
          <a:prstGeom prst="straightConnector1">
            <a:avLst/>
          </a:prstGeom>
          <a:noFill/>
          <a:ln w="38100">
            <a:solidFill>
              <a:srgbClr val="7030A0"/>
            </a:solidFill>
            <a:round/>
            <a:headEnd/>
            <a:tailEnd type="arrow" w="med" len="med"/>
          </a:ln>
          <a:extLst>
            <a:ext uri="{909E8E84-426E-40DD-AFC4-6F175D3DCCD1}">
              <a14:hiddenFill xmlns:a14="http://schemas.microsoft.com/office/drawing/2010/main">
                <a:noFill/>
              </a14:hiddenFill>
            </a:ext>
          </a:extLst>
        </p:spPr>
      </p:cxnSp>
      <p:cxnSp>
        <p:nvCxnSpPr>
          <p:cNvPr id="25" name="直接箭头连接符 33">
            <a:extLst>
              <a:ext uri="{FF2B5EF4-FFF2-40B4-BE49-F238E27FC236}">
                <a16:creationId xmlns:a16="http://schemas.microsoft.com/office/drawing/2014/main" id="{A9BF226D-EFC7-D40B-D18B-DA59FB01D8D1}"/>
              </a:ext>
            </a:extLst>
          </p:cNvPr>
          <p:cNvCxnSpPr>
            <a:cxnSpLocks noChangeShapeType="1"/>
          </p:cNvCxnSpPr>
          <p:nvPr/>
        </p:nvCxnSpPr>
        <p:spPr bwMode="auto">
          <a:xfrm flipV="1">
            <a:off x="10752828" y="4989367"/>
            <a:ext cx="0" cy="428402"/>
          </a:xfrm>
          <a:prstGeom prst="straightConnector1">
            <a:avLst/>
          </a:prstGeom>
          <a:noFill/>
          <a:ln w="38100">
            <a:solidFill>
              <a:srgbClr val="0070C0"/>
            </a:solidFill>
            <a:round/>
            <a:headEnd/>
            <a:tailEnd type="arrow" w="med" len="med"/>
          </a:ln>
          <a:extLst>
            <a:ext uri="{909E8E84-426E-40DD-AFC4-6F175D3DCCD1}">
              <a14:hiddenFill xmlns:a14="http://schemas.microsoft.com/office/drawing/2010/main">
                <a:noFill/>
              </a14:hiddenFill>
            </a:ext>
          </a:extLst>
        </p:spPr>
      </p:cxnSp>
      <p:sp>
        <p:nvSpPr>
          <p:cNvPr id="26" name="矩形 25">
            <a:extLst>
              <a:ext uri="{FF2B5EF4-FFF2-40B4-BE49-F238E27FC236}">
                <a16:creationId xmlns:a16="http://schemas.microsoft.com/office/drawing/2014/main" id="{AAAFADED-6395-D4AA-CF19-7E47B3E68519}"/>
              </a:ext>
            </a:extLst>
          </p:cNvPr>
          <p:cNvSpPr>
            <a:spLocks noChangeArrowheads="1"/>
          </p:cNvSpPr>
          <p:nvPr/>
        </p:nvSpPr>
        <p:spPr bwMode="auto">
          <a:xfrm>
            <a:off x="9855260" y="4557133"/>
            <a:ext cx="529949" cy="428402"/>
          </a:xfrm>
          <a:prstGeom prst="rect">
            <a:avLst/>
          </a:prstGeom>
          <a:solidFill>
            <a:srgbClr val="CCFFFF"/>
          </a:solidFill>
          <a:ln w="25400">
            <a:solidFill>
              <a:schemeClr val="tx1"/>
            </a:solid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2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rPr>
              <a:t>5</a:t>
            </a:r>
            <a:endParaRPr kumimoji="0" lang="zh-CN" altLang="en-US" sz="2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27" name="矩形 27">
            <a:extLst>
              <a:ext uri="{FF2B5EF4-FFF2-40B4-BE49-F238E27FC236}">
                <a16:creationId xmlns:a16="http://schemas.microsoft.com/office/drawing/2014/main" id="{B57BF719-F9B1-FE11-59C9-87A0E01B2331}"/>
              </a:ext>
            </a:extLst>
          </p:cNvPr>
          <p:cNvSpPr>
            <a:spLocks noChangeArrowheads="1"/>
          </p:cNvSpPr>
          <p:nvPr/>
        </p:nvSpPr>
        <p:spPr bwMode="auto">
          <a:xfrm>
            <a:off x="10389791" y="4553674"/>
            <a:ext cx="529949" cy="428402"/>
          </a:xfrm>
          <a:prstGeom prst="rect">
            <a:avLst/>
          </a:prstGeom>
          <a:solidFill>
            <a:srgbClr val="CCFFFF"/>
          </a:solidFill>
          <a:ln w="25400">
            <a:solidFill>
              <a:schemeClr val="tx1"/>
            </a:solid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2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rPr>
              <a:t>6</a:t>
            </a:r>
            <a:endParaRPr kumimoji="0" lang="zh-CN" altLang="en-US" sz="22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endParaRPr>
          </a:p>
        </p:txBody>
      </p:sp>
      <p:sp>
        <p:nvSpPr>
          <p:cNvPr id="28" name="矩形 27">
            <a:extLst>
              <a:ext uri="{FF2B5EF4-FFF2-40B4-BE49-F238E27FC236}">
                <a16:creationId xmlns:a16="http://schemas.microsoft.com/office/drawing/2014/main" id="{206E19C0-82BF-934C-A4DC-B290E5B72154}"/>
              </a:ext>
            </a:extLst>
          </p:cNvPr>
          <p:cNvSpPr>
            <a:spLocks noChangeArrowheads="1"/>
          </p:cNvSpPr>
          <p:nvPr/>
        </p:nvSpPr>
        <p:spPr bwMode="auto">
          <a:xfrm>
            <a:off x="9326899" y="4557133"/>
            <a:ext cx="529949" cy="428402"/>
          </a:xfrm>
          <a:prstGeom prst="rect">
            <a:avLst/>
          </a:prstGeom>
          <a:solidFill>
            <a:srgbClr val="CCFFFF"/>
          </a:solidFill>
          <a:ln w="25400">
            <a:solidFill>
              <a:schemeClr val="tx1"/>
            </a:solidFill>
            <a:miter lim="800000"/>
            <a:headEnd/>
            <a:tailEnd/>
          </a:ln>
        </p:spPr>
        <p:txBody>
          <a:bodyPr lIns="90123" tIns="46966" rIns="90123" bIns="46966"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200" b="0" i="0" u="none" strike="noStrike" kern="12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mn-cs"/>
                <a:sym typeface="宋体" panose="02010600030101010101" pitchFamily="2" charset="-122"/>
              </a:rPr>
              <a:t>2</a:t>
            </a:r>
            <a:endParaRPr kumimoji="0" lang="zh-CN" altLang="en-US" sz="2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34" name="矩形 278659">
            <a:extLst>
              <a:ext uri="{FF2B5EF4-FFF2-40B4-BE49-F238E27FC236}">
                <a16:creationId xmlns:a16="http://schemas.microsoft.com/office/drawing/2014/main" id="{102CB2B4-2DB8-E61C-4E32-33C70A27FD40}"/>
              </a:ext>
            </a:extLst>
          </p:cNvPr>
          <p:cNvSpPr>
            <a:spLocks noChangeArrowheads="1"/>
          </p:cNvSpPr>
          <p:nvPr/>
        </p:nvSpPr>
        <p:spPr bwMode="auto">
          <a:xfrm>
            <a:off x="6137271" y="829964"/>
            <a:ext cx="354153" cy="262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marL="0" marR="0" lvl="0" indent="0" algn="ctr" defTabSz="914400" rtl="0" eaLnBrk="1" fontAlgn="auto" latinLnBrk="0" hangingPunct="1">
              <a:lnSpc>
                <a:spcPct val="7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4</a:t>
            </a:r>
            <a:endParaRPr kumimoji="0" lang="en-US" altLang="zh-CN" sz="2200" b="1" i="0" u="none" strike="noStrike" kern="1200" cap="none" spc="0" normalizeH="0" baseline="-2500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35" name="文本框 34">
            <a:extLst>
              <a:ext uri="{FF2B5EF4-FFF2-40B4-BE49-F238E27FC236}">
                <a16:creationId xmlns:a16="http://schemas.microsoft.com/office/drawing/2014/main" id="{8A63D555-19E5-C4BE-08DF-F1002C7DB9F8}"/>
              </a:ext>
            </a:extLst>
          </p:cNvPr>
          <p:cNvSpPr txBox="1"/>
          <p:nvPr/>
        </p:nvSpPr>
        <p:spPr>
          <a:xfrm>
            <a:off x="437776" y="4353031"/>
            <a:ext cx="4491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a:t>
            </a:r>
            <a:r>
              <a:rPr kumimoji="0" lang="en-US" altLang="zh-CN"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1</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）首先判断删除位置</a:t>
            </a:r>
            <a:r>
              <a:rPr kumimoji="0" lang="en-US" altLang="zh-CN" sz="2000" b="1" i="0" u="none" strike="noStrike" kern="1200" cap="none" spc="0" normalizeH="0" baseline="0" noProof="0" dirty="0" err="1">
                <a:ln>
                  <a:noFill/>
                </a:ln>
                <a:solidFill>
                  <a:srgbClr val="C00000"/>
                </a:solidFill>
                <a:effectLst/>
                <a:uLnTx/>
                <a:uFillTx/>
                <a:latin typeface="Times New Roman" panose="02020603050405020304"/>
                <a:ea typeface="宋体" panose="02010600030101010101" pitchFamily="2" charset="-122"/>
                <a:cs typeface="+mn-cs"/>
              </a:rPr>
              <a:t>i</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是否合法</a:t>
            </a:r>
            <a:endParaRPr kumimoji="0" lang="en-US" altLang="zh-CN"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endParaRPr>
          </a:p>
        </p:txBody>
      </p:sp>
      <p:sp>
        <p:nvSpPr>
          <p:cNvPr id="36" name="文本框 35">
            <a:extLst>
              <a:ext uri="{FF2B5EF4-FFF2-40B4-BE49-F238E27FC236}">
                <a16:creationId xmlns:a16="http://schemas.microsoft.com/office/drawing/2014/main" id="{28183105-8837-5226-1E7B-AEEEA5516280}"/>
              </a:ext>
            </a:extLst>
          </p:cNvPr>
          <p:cNvSpPr txBox="1"/>
          <p:nvPr/>
        </p:nvSpPr>
        <p:spPr>
          <a:xfrm>
            <a:off x="432189" y="4859177"/>
            <a:ext cx="4863446"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a:t>
            </a:r>
            <a:r>
              <a:rPr kumimoji="0" lang="en-US" altLang="zh-CN"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2</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）然后获得被删除元素的位置和值，</a:t>
            </a:r>
            <a:endParaRPr kumimoji="0" lang="en-US" altLang="zh-CN"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          </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以及表尾元素的位置；</a:t>
            </a:r>
            <a:endParaRPr kumimoji="0" lang="en-US" altLang="zh-CN"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endParaRPr>
          </a:p>
        </p:txBody>
      </p:sp>
      <p:sp>
        <p:nvSpPr>
          <p:cNvPr id="37" name="文本框 36">
            <a:extLst>
              <a:ext uri="{FF2B5EF4-FFF2-40B4-BE49-F238E27FC236}">
                <a16:creationId xmlns:a16="http://schemas.microsoft.com/office/drawing/2014/main" id="{7BEAD426-7A65-4BF9-2D9C-D1C38AE4E0F0}"/>
              </a:ext>
            </a:extLst>
          </p:cNvPr>
          <p:cNvSpPr txBox="1"/>
          <p:nvPr/>
        </p:nvSpPr>
        <p:spPr>
          <a:xfrm>
            <a:off x="413801" y="5641565"/>
            <a:ext cx="486344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a:t>
            </a:r>
            <a:r>
              <a:rPr kumimoji="0" lang="en-US" altLang="zh-CN"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3</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）将被删除元素之后的元素依次左移；</a:t>
            </a:r>
            <a:endParaRPr kumimoji="0" lang="en-US" altLang="zh-CN"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endParaRPr>
          </a:p>
        </p:txBody>
      </p:sp>
      <p:sp>
        <p:nvSpPr>
          <p:cNvPr id="38" name="文本框 37">
            <a:extLst>
              <a:ext uri="{FF2B5EF4-FFF2-40B4-BE49-F238E27FC236}">
                <a16:creationId xmlns:a16="http://schemas.microsoft.com/office/drawing/2014/main" id="{959BAF26-37C6-4405-254D-972E9FBBF3BB}"/>
              </a:ext>
            </a:extLst>
          </p:cNvPr>
          <p:cNvSpPr txBox="1"/>
          <p:nvPr/>
        </p:nvSpPr>
        <p:spPr>
          <a:xfrm>
            <a:off x="423622" y="6145358"/>
            <a:ext cx="486344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a:t>
            </a:r>
            <a:r>
              <a:rPr kumimoji="0" lang="en-US" altLang="zh-CN"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4</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）最后将表长减</a:t>
            </a:r>
            <a:r>
              <a:rPr kumimoji="0"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1</a:t>
            </a:r>
            <a:r>
              <a:rPr kumimoji="0" lang="zh-CN" altLang="en-US"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rPr>
              <a:t>；</a:t>
            </a:r>
            <a:endParaRPr kumimoji="0" lang="en-US" altLang="zh-CN" sz="2000" b="1"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endParaRPr>
          </a:p>
        </p:txBody>
      </p:sp>
      <p:sp>
        <p:nvSpPr>
          <p:cNvPr id="39" name="矩形 38">
            <a:extLst>
              <a:ext uri="{FF2B5EF4-FFF2-40B4-BE49-F238E27FC236}">
                <a16:creationId xmlns:a16="http://schemas.microsoft.com/office/drawing/2014/main" id="{DEF58536-AF7D-3CB5-C382-E48E31C145D4}"/>
              </a:ext>
            </a:extLst>
          </p:cNvPr>
          <p:cNvSpPr/>
          <p:nvPr/>
        </p:nvSpPr>
        <p:spPr>
          <a:xfrm>
            <a:off x="695400" y="3709742"/>
            <a:ext cx="614926" cy="400110"/>
          </a:xfrm>
          <a:prstGeom prst="rect">
            <a:avLst/>
          </a:prstGeom>
        </p:spPr>
        <p:txBody>
          <a:bodyPr wrap="square">
            <a:spAutoFit/>
          </a:bodyPr>
          <a:lstStyle/>
          <a:p>
            <a:pPr marL="0" marR="0" lvl="0" indent="0" algn="l" defTabSz="914400" rtl="0" eaLnBrk="1" fontAlgn="auto" latinLnBrk="0" hangingPunct="1">
              <a:lnSpc>
                <a:spcPct val="100000"/>
              </a:lnSpc>
              <a:spcBef>
                <a:spcPct val="1000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40" name="矩形 278659">
            <a:extLst>
              <a:ext uri="{FF2B5EF4-FFF2-40B4-BE49-F238E27FC236}">
                <a16:creationId xmlns:a16="http://schemas.microsoft.com/office/drawing/2014/main" id="{60792608-159F-2A1B-E87C-8327AA64969F}"/>
              </a:ext>
            </a:extLst>
          </p:cNvPr>
          <p:cNvSpPr>
            <a:spLocks noChangeArrowheads="1"/>
          </p:cNvSpPr>
          <p:nvPr/>
        </p:nvSpPr>
        <p:spPr bwMode="auto">
          <a:xfrm>
            <a:off x="8873644" y="4602684"/>
            <a:ext cx="3781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CN" sz="2200" b="1"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mn-cs"/>
                <a:sym typeface="宋体" panose="02010600030101010101" pitchFamily="2" charset="-122"/>
              </a:rPr>
              <a:t>17</a:t>
            </a:r>
            <a:endParaRPr kumimoji="0" lang="zh-CN" altLang="en-US" sz="22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grpSp>
        <p:nvGrpSpPr>
          <p:cNvPr id="41" name="组合 40">
            <a:extLst>
              <a:ext uri="{FF2B5EF4-FFF2-40B4-BE49-F238E27FC236}">
                <a16:creationId xmlns:a16="http://schemas.microsoft.com/office/drawing/2014/main" id="{0865B138-17B6-1F70-29BA-4B46C6FC94F6}"/>
              </a:ext>
            </a:extLst>
          </p:cNvPr>
          <p:cNvGrpSpPr/>
          <p:nvPr/>
        </p:nvGrpSpPr>
        <p:grpSpPr>
          <a:xfrm>
            <a:off x="5381195" y="4193859"/>
            <a:ext cx="1318285" cy="1790467"/>
            <a:chOff x="5019055" y="4350797"/>
            <a:chExt cx="1569801" cy="1791400"/>
          </a:xfrm>
        </p:grpSpPr>
        <p:sp>
          <p:nvSpPr>
            <p:cNvPr id="42" name="文本框 81922">
              <a:extLst>
                <a:ext uri="{FF2B5EF4-FFF2-40B4-BE49-F238E27FC236}">
                  <a16:creationId xmlns:a16="http://schemas.microsoft.com/office/drawing/2014/main" id="{99764BD7-619A-4236-01E0-BE2D5F13FA87}"/>
                </a:ext>
              </a:extLst>
            </p:cNvPr>
            <p:cNvSpPr txBox="1">
              <a:spLocks noChangeArrowheads="1"/>
            </p:cNvSpPr>
            <p:nvPr/>
          </p:nvSpPr>
          <p:spPr bwMode="auto">
            <a:xfrm>
              <a:off x="5091063" y="4763903"/>
              <a:ext cx="987156" cy="39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000" b="1" i="0" u="none" strike="noStrike" kern="1200" cap="none" spc="0" normalizeH="0" baseline="0" noProof="0" dirty="0" err="1">
                  <a:ln>
                    <a:noFill/>
                  </a:ln>
                  <a:solidFill>
                    <a:srgbClr val="008080"/>
                  </a:solidFill>
                  <a:effectLst/>
                  <a:uLnTx/>
                  <a:uFillTx/>
                  <a:latin typeface="Times New Roman" panose="02020603050405020304"/>
                  <a:ea typeface="宋体" panose="02010600030101010101" pitchFamily="2" charset="-122"/>
                  <a:cs typeface="+mn-cs"/>
                </a:rPr>
                <a:t>elem</a:t>
              </a:r>
              <a:endParaRPr kumimoji="0" lang="zh-CN" altLang="en-US"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endParaRPr>
            </a:p>
          </p:txBody>
        </p:sp>
        <p:sp>
          <p:nvSpPr>
            <p:cNvPr id="43" name="文本框 81922">
              <a:extLst>
                <a:ext uri="{FF2B5EF4-FFF2-40B4-BE49-F238E27FC236}">
                  <a16:creationId xmlns:a16="http://schemas.microsoft.com/office/drawing/2014/main" id="{40440DD6-BA84-8718-70A7-959DB87AF00B}"/>
                </a:ext>
              </a:extLst>
            </p:cNvPr>
            <p:cNvSpPr txBox="1">
              <a:spLocks noChangeArrowheads="1"/>
            </p:cNvSpPr>
            <p:nvPr/>
          </p:nvSpPr>
          <p:spPr bwMode="auto">
            <a:xfrm>
              <a:off x="5071982" y="5219220"/>
              <a:ext cx="1026972" cy="39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 typeface="Monotype Sorts" pitchFamily="2" charset="2"/>
                <a:buNone/>
                <a:tabLst/>
                <a:defRPr/>
              </a:pPr>
              <a:r>
                <a:rPr kumimoji="0" lang="en-US" altLang="zh-CN" sz="2000" b="1" i="0" u="none" strike="noStrike" kern="1200" cap="none" spc="0" normalizeH="0" baseline="0" noProof="0" dirty="0" err="1">
                  <a:ln>
                    <a:noFill/>
                  </a:ln>
                  <a:solidFill>
                    <a:srgbClr val="008080"/>
                  </a:solidFill>
                  <a:effectLst/>
                  <a:uLnTx/>
                  <a:uFillTx/>
                  <a:latin typeface="Times New Roman" panose="02020603050405020304"/>
                  <a:ea typeface="宋体" panose="02010600030101010101" pitchFamily="2" charset="-122"/>
                  <a:cs typeface="+mn-cs"/>
                </a:rPr>
                <a:t>len</a:t>
              </a:r>
              <a:endParaRPr kumimoji="0" lang="zh-CN" altLang="en-US"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endParaRPr>
            </a:p>
          </p:txBody>
        </p:sp>
        <p:sp>
          <p:nvSpPr>
            <p:cNvPr id="44" name="矩形 43">
              <a:extLst>
                <a:ext uri="{FF2B5EF4-FFF2-40B4-BE49-F238E27FC236}">
                  <a16:creationId xmlns:a16="http://schemas.microsoft.com/office/drawing/2014/main" id="{A6D46EE5-15B7-76EC-E935-72164A307E5E}"/>
                </a:ext>
              </a:extLst>
            </p:cNvPr>
            <p:cNvSpPr/>
            <p:nvPr/>
          </p:nvSpPr>
          <p:spPr>
            <a:xfrm>
              <a:off x="6074443" y="4767250"/>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endParaRPr kumimoji="0" lang="zh-CN" altLang="en-US" sz="2399"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45" name="矩形 44">
              <a:extLst>
                <a:ext uri="{FF2B5EF4-FFF2-40B4-BE49-F238E27FC236}">
                  <a16:creationId xmlns:a16="http://schemas.microsoft.com/office/drawing/2014/main" id="{CA2664C9-21FF-701E-2F3D-32B8BFFA1C62}"/>
                </a:ext>
              </a:extLst>
            </p:cNvPr>
            <p:cNvSpPr/>
            <p:nvPr/>
          </p:nvSpPr>
          <p:spPr>
            <a:xfrm>
              <a:off x="6074443" y="52277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endParaRPr kumimoji="0" lang="zh-CN" altLang="en-US" sz="2399"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46" name="矩形 45">
              <a:extLst>
                <a:ext uri="{FF2B5EF4-FFF2-40B4-BE49-F238E27FC236}">
                  <a16:creationId xmlns:a16="http://schemas.microsoft.com/office/drawing/2014/main" id="{40BB0FF2-6198-E376-0D44-933C15EC9653}"/>
                </a:ext>
              </a:extLst>
            </p:cNvPr>
            <p:cNvSpPr/>
            <p:nvPr/>
          </p:nvSpPr>
          <p:spPr>
            <a:xfrm>
              <a:off x="6074442" y="56849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endParaRPr kumimoji="0" lang="zh-CN" altLang="en-US" sz="2399"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47" name="文本框 81922">
              <a:extLst>
                <a:ext uri="{FF2B5EF4-FFF2-40B4-BE49-F238E27FC236}">
                  <a16:creationId xmlns:a16="http://schemas.microsoft.com/office/drawing/2014/main" id="{1DDD1F40-637E-78BD-AF1A-82C639134222}"/>
                </a:ext>
              </a:extLst>
            </p:cNvPr>
            <p:cNvSpPr txBox="1">
              <a:spLocks noChangeArrowheads="1"/>
            </p:cNvSpPr>
            <p:nvPr/>
          </p:nvSpPr>
          <p:spPr bwMode="auto">
            <a:xfrm>
              <a:off x="5019055" y="5663575"/>
              <a:ext cx="1067644" cy="39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 typeface="Monotype Sorts" pitchFamily="2" charset="2"/>
                <a:buNone/>
                <a:tabLst/>
                <a:defRPr/>
              </a:pPr>
              <a:r>
                <a:rPr kumimoji="0" lang="en-US" altLang="zh-CN"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rPr>
                <a:t>size</a:t>
              </a:r>
              <a:endParaRPr kumimoji="0" lang="zh-CN" altLang="en-US" sz="2000" b="1" i="0" u="none" strike="noStrike" kern="1200" cap="none" spc="0" normalizeH="0" baseline="0" noProof="0" dirty="0">
                <a:ln>
                  <a:noFill/>
                </a:ln>
                <a:solidFill>
                  <a:srgbClr val="008080"/>
                </a:solidFill>
                <a:effectLst/>
                <a:uLnTx/>
                <a:uFillTx/>
                <a:latin typeface="Times New Roman" panose="02020603050405020304"/>
                <a:ea typeface="宋体" panose="02010600030101010101" pitchFamily="2" charset="-122"/>
                <a:cs typeface="+mn-cs"/>
              </a:endParaRPr>
            </a:p>
          </p:txBody>
        </p:sp>
        <p:sp>
          <p:nvSpPr>
            <p:cNvPr id="48" name="文本框 81922">
              <a:extLst>
                <a:ext uri="{FF2B5EF4-FFF2-40B4-BE49-F238E27FC236}">
                  <a16:creationId xmlns:a16="http://schemas.microsoft.com/office/drawing/2014/main" id="{0F163811-8D01-9723-0711-F8E20C1361B3}"/>
                </a:ext>
              </a:extLst>
            </p:cNvPr>
            <p:cNvSpPr txBox="1">
              <a:spLocks noChangeArrowheads="1"/>
            </p:cNvSpPr>
            <p:nvPr/>
          </p:nvSpPr>
          <p:spPr bwMode="auto">
            <a:xfrm>
              <a:off x="6069146" y="4350797"/>
              <a:ext cx="472887"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399" b="1" i="0" u="none" strike="noStrike" kern="1200" cap="none" spc="0" normalizeH="0" baseline="0" noProof="0" dirty="0">
                  <a:ln>
                    <a:noFill/>
                  </a:ln>
                  <a:solidFill>
                    <a:srgbClr val="008080"/>
                  </a:solidFill>
                  <a:effectLst/>
                  <a:uLnTx/>
                  <a:uFillTx/>
                  <a:latin typeface="Times New Roman" panose="02020603050405020304" pitchFamily="18" charset="0"/>
                  <a:ea typeface="楷体_GB2312" pitchFamily="49" charset="-122"/>
                  <a:cs typeface="+mn-cs"/>
                </a:rPr>
                <a:t>L</a:t>
              </a:r>
              <a:endParaRPr kumimoji="0" lang="zh-CN" altLang="en-US" sz="2399" b="1" i="0" u="none" strike="noStrike" kern="1200" cap="none" spc="0" normalizeH="0" baseline="0" noProof="0" dirty="0">
                <a:ln>
                  <a:noFill/>
                </a:ln>
                <a:solidFill>
                  <a:srgbClr val="008080"/>
                </a:solidFill>
                <a:effectLst/>
                <a:uLnTx/>
                <a:uFillTx/>
                <a:latin typeface="Times New Roman" panose="02020603050405020304" pitchFamily="18" charset="0"/>
                <a:ea typeface="宋体" panose="02010600030101010101" pitchFamily="2" charset="-122"/>
                <a:cs typeface="+mn-cs"/>
              </a:endParaRPr>
            </a:p>
          </p:txBody>
        </p:sp>
      </p:grpSp>
      <p:sp>
        <p:nvSpPr>
          <p:cNvPr id="49" name="文本框 7">
            <a:extLst>
              <a:ext uri="{FF2B5EF4-FFF2-40B4-BE49-F238E27FC236}">
                <a16:creationId xmlns:a16="http://schemas.microsoft.com/office/drawing/2014/main" id="{4FCA561F-A86E-3742-1A1F-B39BF2647AC2}"/>
              </a:ext>
            </a:extLst>
          </p:cNvPr>
          <p:cNvSpPr txBox="1"/>
          <p:nvPr/>
        </p:nvSpPr>
        <p:spPr>
          <a:xfrm>
            <a:off x="6338329" y="5065246"/>
            <a:ext cx="283389" cy="430887"/>
          </a:xfrm>
          <a:prstGeom prst="rect">
            <a:avLst/>
          </a:prstGeom>
          <a:noFill/>
        </p:spPr>
        <p:txBody>
          <a:bodyPr wrap="square" rtlCol="0">
            <a:spAutoFit/>
          </a:bodyPr>
          <a:ls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7</a:t>
            </a:r>
            <a:endParaRPr kumimoji="0" lang="zh-CN" altLang="en-US" sz="22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50" name="文本框 40">
            <a:extLst>
              <a:ext uri="{FF2B5EF4-FFF2-40B4-BE49-F238E27FC236}">
                <a16:creationId xmlns:a16="http://schemas.microsoft.com/office/drawing/2014/main" id="{C6D8376D-9C8A-9ED5-E76A-33FAB13A1A1B}"/>
              </a:ext>
            </a:extLst>
          </p:cNvPr>
          <p:cNvSpPr txBox="1"/>
          <p:nvPr/>
        </p:nvSpPr>
        <p:spPr>
          <a:xfrm>
            <a:off x="6194387" y="5589354"/>
            <a:ext cx="567817" cy="338554"/>
          </a:xfrm>
          <a:prstGeom prst="rect">
            <a:avLst/>
          </a:prstGeom>
          <a:noFill/>
        </p:spPr>
        <p:txBody>
          <a:bodyPr wrap="square" lIns="0" tIns="0" rIns="0" bIns="0" rtlCol="0">
            <a:spAutoFit/>
          </a:bodyPr>
          <a:ls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a:lstStyle>
          <a:p>
            <a:pPr marL="0" marR="0" lvl="0" indent="0" algn="ctr" defTabSz="1219835"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7</a:t>
            </a:r>
            <a:endParaRPr kumimoji="0" lang="zh-CN" altLang="en-US" sz="22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cxnSp>
        <p:nvCxnSpPr>
          <p:cNvPr id="51" name="直接箭头连接符 50">
            <a:extLst>
              <a:ext uri="{FF2B5EF4-FFF2-40B4-BE49-F238E27FC236}">
                <a16:creationId xmlns:a16="http://schemas.microsoft.com/office/drawing/2014/main" id="{DF33D0CE-C3B6-73E9-2E8B-0D6E1E8EA6B5}"/>
              </a:ext>
            </a:extLst>
          </p:cNvPr>
          <p:cNvCxnSpPr>
            <a:endCxn id="6" idx="1"/>
          </p:cNvCxnSpPr>
          <p:nvPr/>
        </p:nvCxnSpPr>
        <p:spPr>
          <a:xfrm flipV="1">
            <a:off x="6460753" y="4767287"/>
            <a:ext cx="750361" cy="2336"/>
          </a:xfrm>
          <a:prstGeom prst="straightConnector1">
            <a:avLst/>
          </a:prstGeom>
          <a:ln w="38100">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52" name="文本框 7">
            <a:extLst>
              <a:ext uri="{FF2B5EF4-FFF2-40B4-BE49-F238E27FC236}">
                <a16:creationId xmlns:a16="http://schemas.microsoft.com/office/drawing/2014/main" id="{2CA06FF0-60AE-1730-26C0-A4A552C5C234}"/>
              </a:ext>
            </a:extLst>
          </p:cNvPr>
          <p:cNvSpPr txBox="1"/>
          <p:nvPr/>
        </p:nvSpPr>
        <p:spPr>
          <a:xfrm>
            <a:off x="6361920" y="5150458"/>
            <a:ext cx="259007" cy="331324"/>
          </a:xfrm>
          <a:prstGeom prst="rect">
            <a:avLst/>
          </a:prstGeom>
          <a:solidFill>
            <a:srgbClr val="CC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algn="ctr" defTabSz="1219835">
              <a:defRPr sz="2399">
                <a:solidFill>
                  <a:schemeClr val="lt1"/>
                </a:solidFill>
              </a:defRPr>
            </a:lvl1pPr>
            <a:lvl2pPr marL="609600" defTabSz="1219835">
              <a:defRPr sz="2400">
                <a:solidFill>
                  <a:schemeClr val="lt1"/>
                </a:solidFill>
              </a:defRPr>
            </a:lvl2pPr>
            <a:lvl3pPr marL="1219835" defTabSz="1219835">
              <a:defRPr sz="2400">
                <a:solidFill>
                  <a:schemeClr val="lt1"/>
                </a:solidFill>
              </a:defRPr>
            </a:lvl3pPr>
            <a:lvl4pPr marL="1829435" defTabSz="1219835">
              <a:defRPr sz="2400">
                <a:solidFill>
                  <a:schemeClr val="lt1"/>
                </a:solidFill>
              </a:defRPr>
            </a:lvl4pPr>
            <a:lvl5pPr marL="2439035" defTabSz="1219835">
              <a:defRPr sz="2400">
                <a:solidFill>
                  <a:schemeClr val="lt1"/>
                </a:solidFill>
              </a:defRPr>
            </a:lvl5pPr>
            <a:lvl6pPr marL="3049270" defTabSz="1219835">
              <a:defRPr sz="2400">
                <a:solidFill>
                  <a:schemeClr val="lt1"/>
                </a:solidFill>
              </a:defRPr>
            </a:lvl6pPr>
            <a:lvl7pPr marL="3658870" defTabSz="1219835">
              <a:defRPr sz="2400">
                <a:solidFill>
                  <a:schemeClr val="lt1"/>
                </a:solidFill>
              </a:defRPr>
            </a:lvl7pPr>
            <a:lvl8pPr marL="4268470" defTabSz="1219835">
              <a:defRPr sz="2400">
                <a:solidFill>
                  <a:schemeClr val="lt1"/>
                </a:solidFill>
              </a:defRPr>
            </a:lvl8pPr>
            <a:lvl9pPr marL="4878705" defTabSz="1219835">
              <a:defRPr sz="2400">
                <a:solidFill>
                  <a:schemeClr val="lt1"/>
                </a:solidFill>
              </a:defRPr>
            </a:lvl9pPr>
          </a:lstStyle>
          <a:p>
            <a:pPr marL="0" marR="0" lvl="0" indent="0" algn="ctr" defTabSz="1219835" rtl="0" eaLnBrk="1" fontAlgn="auto" latinLnBrk="0" hangingPunct="1">
              <a:lnSpc>
                <a:spcPts val="2000"/>
              </a:lnSpc>
              <a:spcBef>
                <a:spcPts val="0"/>
              </a:spcBef>
              <a:spcAft>
                <a:spcPts val="0"/>
              </a:spcAft>
              <a:buClrTx/>
              <a:buSzTx/>
              <a:buFontTx/>
              <a:buNone/>
              <a:tabLst/>
              <a:defRPr/>
            </a:pPr>
            <a:r>
              <a:rPr kumimoji="0" lang="en-US" altLang="zh-CN" sz="2399"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rPr>
              <a:t>6</a:t>
            </a:r>
            <a:endParaRPr kumimoji="0" lang="zh-CN" altLang="en-US" sz="2399"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endParaRPr>
          </a:p>
        </p:txBody>
      </p:sp>
      <p:grpSp>
        <p:nvGrpSpPr>
          <p:cNvPr id="12" name="组合 11">
            <a:extLst>
              <a:ext uri="{FF2B5EF4-FFF2-40B4-BE49-F238E27FC236}">
                <a16:creationId xmlns:a16="http://schemas.microsoft.com/office/drawing/2014/main" id="{4B1F8950-FA37-4DE9-60C1-A66CCACE64E6}"/>
              </a:ext>
            </a:extLst>
          </p:cNvPr>
          <p:cNvGrpSpPr/>
          <p:nvPr/>
        </p:nvGrpSpPr>
        <p:grpSpPr>
          <a:xfrm>
            <a:off x="5720903" y="2909081"/>
            <a:ext cx="5950830" cy="1046583"/>
            <a:chOff x="5720903" y="2909081"/>
            <a:chExt cx="5950830" cy="1046583"/>
          </a:xfrm>
        </p:grpSpPr>
        <p:sp>
          <p:nvSpPr>
            <p:cNvPr id="10" name="文本框 9">
              <a:extLst>
                <a:ext uri="{FF2B5EF4-FFF2-40B4-BE49-F238E27FC236}">
                  <a16:creationId xmlns:a16="http://schemas.microsoft.com/office/drawing/2014/main" id="{B6D76DE6-EE86-B256-38DF-4B493BD7A93A}"/>
                </a:ext>
              </a:extLst>
            </p:cNvPr>
            <p:cNvSpPr txBox="1"/>
            <p:nvPr/>
          </p:nvSpPr>
          <p:spPr>
            <a:xfrm>
              <a:off x="6131757" y="3103764"/>
              <a:ext cx="5539976" cy="851900"/>
            </a:xfrm>
            <a:prstGeom prst="rect">
              <a:avLst/>
            </a:prstGeom>
            <a:solidFill>
              <a:schemeClr val="accent6">
                <a:lumMod val="20000"/>
                <a:lumOff val="80000"/>
              </a:schemeClr>
            </a:solidFill>
          </p:spPr>
          <p:txBody>
            <a:bodyPr wrap="square" rtlCol="0">
              <a:spAutoFit/>
            </a:bodyPr>
            <a:lstStyle/>
            <a:p>
              <a:pPr>
                <a:lnSpc>
                  <a:spcPct val="114000"/>
                </a:lnSpc>
              </a:pPr>
              <a:r>
                <a:rPr lang="en-US" altLang="zh-CN" sz="22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 </a:t>
              </a:r>
              <a:r>
                <a:rPr lang="en-US" altLang="zh-CN" sz="2200" b="1" dirty="0">
                  <a:latin typeface="Courier New" panose="02070309020205020404" pitchFamily="49" charset="0"/>
                  <a:cs typeface="Courier New" panose="02070309020205020404" pitchFamily="49" charset="0"/>
                </a:rPr>
                <a:t>(int j=</a:t>
              </a:r>
              <a:r>
                <a:rPr lang="en-US" altLang="zh-CN" sz="2200" b="1" dirty="0" err="1">
                  <a:latin typeface="Courier New" panose="02070309020205020404" pitchFamily="49" charset="0"/>
                  <a:cs typeface="Courier New" panose="02070309020205020404" pitchFamily="49" charset="0"/>
                </a:rPr>
                <a:t>i</a:t>
              </a:r>
              <a:r>
                <a:rPr lang="en-US" altLang="zh-CN" sz="2200" b="1" dirty="0">
                  <a:latin typeface="Courier New" panose="02070309020205020404" pitchFamily="49" charset="0"/>
                  <a:cs typeface="Courier New" panose="02070309020205020404" pitchFamily="49" charset="0"/>
                </a:rPr>
                <a:t>; j&lt;</a:t>
              </a:r>
              <a:r>
                <a:rPr lang="en-US" altLang="zh-CN" sz="2200" dirty="0" err="1">
                  <a:latin typeface="Courier New" panose="02070309020205020404" pitchFamily="49" charset="0"/>
                  <a:cs typeface="Courier New" panose="02070309020205020404" pitchFamily="49" charset="0"/>
                </a:rPr>
                <a:t>L.len</a:t>
              </a:r>
              <a:r>
                <a:rPr lang="en-US" altLang="zh-CN" sz="2200" b="1" dirty="0">
                  <a:latin typeface="Courier New" panose="02070309020205020404" pitchFamily="49" charset="0"/>
                  <a:cs typeface="Courier New" panose="02070309020205020404" pitchFamily="49" charset="0"/>
                </a:rPr>
                <a:t>; ++j)      </a:t>
              </a:r>
            </a:p>
            <a:p>
              <a:pPr>
                <a:lnSpc>
                  <a:spcPct val="114000"/>
                </a:lnSpc>
              </a:pPr>
              <a:r>
                <a:rPr lang="en-US" altLang="zh-CN" sz="2200" b="1" dirty="0">
                  <a:latin typeface="Courier New" panose="02070309020205020404" pitchFamily="49" charset="0"/>
                  <a:cs typeface="Courier New" panose="02070309020205020404" pitchFamily="49" charset="0"/>
                </a:rPr>
                <a:t>   L-&gt;</a:t>
              </a:r>
              <a:r>
                <a:rPr lang="en-US" altLang="zh-CN" sz="2200" b="1" dirty="0" err="1">
                  <a:latin typeface="Courier New" panose="02070309020205020404" pitchFamily="49" charset="0"/>
                  <a:cs typeface="Courier New" panose="02070309020205020404" pitchFamily="49" charset="0"/>
                </a:rPr>
                <a:t>elem</a:t>
              </a:r>
              <a:r>
                <a:rPr lang="en-US" altLang="zh-CN" sz="2200" b="1" dirty="0">
                  <a:latin typeface="Courier New" panose="02070309020205020404" pitchFamily="49" charset="0"/>
                  <a:cs typeface="Courier New" panose="02070309020205020404" pitchFamily="49" charset="0"/>
                </a:rPr>
                <a:t>[</a:t>
              </a:r>
              <a:r>
                <a:rPr lang="en-US" altLang="zh-CN" sz="2200" dirty="0">
                  <a:latin typeface="Courier New" panose="02070309020205020404" pitchFamily="49" charset="0"/>
                  <a:cs typeface="Courier New" panose="02070309020205020404" pitchFamily="49" charset="0"/>
                </a:rPr>
                <a:t>j</a:t>
              </a:r>
              <a:r>
                <a:rPr lang="en-US" altLang="zh-CN" sz="2200" b="1" dirty="0">
                  <a:latin typeface="Courier New" panose="02070309020205020404" pitchFamily="49" charset="0"/>
                  <a:cs typeface="Courier New" panose="02070309020205020404" pitchFamily="49" charset="0"/>
                </a:rPr>
                <a:t>] = L-&gt;</a:t>
              </a:r>
              <a:r>
                <a:rPr lang="en-US" altLang="zh-CN" sz="2200" b="1" dirty="0" err="1">
                  <a:latin typeface="Courier New" panose="02070309020205020404" pitchFamily="49" charset="0"/>
                  <a:cs typeface="Courier New" panose="02070309020205020404" pitchFamily="49" charset="0"/>
                </a:rPr>
                <a:t>elem</a:t>
              </a:r>
              <a:r>
                <a:rPr lang="en-US" altLang="zh-CN" sz="2200" b="1" dirty="0">
                  <a:latin typeface="Courier New" panose="02070309020205020404" pitchFamily="49" charset="0"/>
                  <a:cs typeface="Courier New" panose="02070309020205020404" pitchFamily="49" charset="0"/>
                </a:rPr>
                <a:t>[</a:t>
              </a:r>
              <a:r>
                <a:rPr lang="en-US" altLang="zh-CN" sz="2200" dirty="0">
                  <a:latin typeface="Courier New" panose="02070309020205020404" pitchFamily="49" charset="0"/>
                  <a:cs typeface="Courier New" panose="02070309020205020404" pitchFamily="49" charset="0"/>
                </a:rPr>
                <a:t>j</a:t>
              </a:r>
              <a:r>
                <a:rPr lang="en-US" altLang="zh-CN" sz="2200" b="1" dirty="0">
                  <a:latin typeface="Courier New" panose="02070309020205020404" pitchFamily="49" charset="0"/>
                  <a:cs typeface="Courier New" panose="02070309020205020404" pitchFamily="49" charset="0"/>
                </a:rPr>
                <a:t>+1];</a:t>
              </a:r>
              <a:endParaRPr lang="zh-CN" altLang="en-US" sz="2200" dirty="0"/>
            </a:p>
          </p:txBody>
        </p:sp>
        <p:sp>
          <p:nvSpPr>
            <p:cNvPr id="11" name="箭头: 上下 10">
              <a:extLst>
                <a:ext uri="{FF2B5EF4-FFF2-40B4-BE49-F238E27FC236}">
                  <a16:creationId xmlns:a16="http://schemas.microsoft.com/office/drawing/2014/main" id="{589C267C-0E5F-FFD8-A57E-02F7048A9A57}"/>
                </a:ext>
              </a:extLst>
            </p:cNvPr>
            <p:cNvSpPr/>
            <p:nvPr/>
          </p:nvSpPr>
          <p:spPr>
            <a:xfrm rot="19017141">
              <a:off x="5720903" y="2909081"/>
              <a:ext cx="296426" cy="452175"/>
            </a:xfrm>
            <a:prstGeom prst="upDownArrow">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76248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1"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left)">
                                      <p:cBhvr>
                                        <p:cTn id="12" dur="500"/>
                                        <p:tgtEl>
                                          <p:spTgt spid="3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up)">
                                      <p:cBhvr>
                                        <p:cTn id="21" dur="1000"/>
                                        <p:tgtEl>
                                          <p:spTgt spid="36"/>
                                        </p:tgtEl>
                                      </p:cBhvr>
                                    </p:animEffect>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up)">
                                      <p:cBhvr>
                                        <p:cTn id="25" dur="500"/>
                                        <p:tgtEl>
                                          <p:spTgt spid="17"/>
                                        </p:tgtEl>
                                      </p:cBhvr>
                                    </p:animEffect>
                                  </p:childTnLst>
                                </p:cTn>
                              </p:par>
                            </p:childTnLst>
                          </p:cTn>
                        </p:par>
                        <p:par>
                          <p:cTn id="26" fill="hold">
                            <p:stCondLst>
                              <p:cond delay="1500"/>
                            </p:stCondLst>
                            <p:childTnLst>
                              <p:par>
                                <p:cTn id="27" presetID="56" presetClass="path" presetSubtype="0" accel="50000" decel="50000" fill="hold" grpId="0" nodeType="afterEffect">
                                  <p:stCondLst>
                                    <p:cond delay="0"/>
                                  </p:stCondLst>
                                  <p:childTnLst>
                                    <p:animMotion origin="layout" path="M 1.45833E-6 3.7037E-6 L -0.08346 0.13032 " pathEditMode="relative" rAng="0" ptsTypes="AA">
                                      <p:cBhvr>
                                        <p:cTn id="28" dur="2000" fill="hold"/>
                                        <p:tgtEl>
                                          <p:spTgt spid="34"/>
                                        </p:tgtEl>
                                        <p:attrNameLst>
                                          <p:attrName>ppt_x</p:attrName>
                                          <p:attrName>ppt_y</p:attrName>
                                        </p:attrNameLst>
                                      </p:cBhvr>
                                      <p:rCtr x="-4180" y="6505"/>
                                    </p:animMotion>
                                  </p:childTnLst>
                                </p:cTn>
                              </p:par>
                            </p:childTnLst>
                          </p:cTn>
                        </p:par>
                        <p:par>
                          <p:cTn id="29" fill="hold">
                            <p:stCondLst>
                              <p:cond delay="3500"/>
                            </p:stCondLst>
                            <p:childTnLst>
                              <p:par>
                                <p:cTn id="30" presetID="22" presetClass="entr" presetSubtype="4" fill="hold" nodeType="after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down)">
                                      <p:cBhvr>
                                        <p:cTn id="32" dur="500"/>
                                        <p:tgtEl>
                                          <p:spTgt spid="24"/>
                                        </p:tgtEl>
                                      </p:cBhvr>
                                    </p:animEffect>
                                  </p:childTnLst>
                                </p:cTn>
                              </p:par>
                            </p:childTnLst>
                          </p:cTn>
                        </p:par>
                        <p:par>
                          <p:cTn id="33" fill="hold">
                            <p:stCondLst>
                              <p:cond delay="4000"/>
                            </p:stCondLst>
                            <p:childTnLst>
                              <p:par>
                                <p:cTn id="34" presetID="22" presetClass="entr" presetSubtype="4" fill="hold" grpId="0" nodeType="after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wipe(down)">
                                      <p:cBhvr>
                                        <p:cTn id="36" dur="500"/>
                                        <p:tgtEl>
                                          <p:spTgt spid="40"/>
                                        </p:tgtEl>
                                      </p:cBhvr>
                                    </p:animEffect>
                                  </p:childTnLst>
                                </p:cTn>
                              </p:par>
                            </p:childTnLst>
                          </p:cTn>
                        </p:par>
                        <p:par>
                          <p:cTn id="37" fill="hold">
                            <p:stCondLst>
                              <p:cond delay="4500"/>
                            </p:stCondLst>
                            <p:childTnLst>
                              <p:par>
                                <p:cTn id="38" presetID="56" presetClass="path" presetSubtype="0" accel="50000" decel="50000" fill="hold" grpId="1" nodeType="afterEffect">
                                  <p:stCondLst>
                                    <p:cond delay="0"/>
                                  </p:stCondLst>
                                  <p:childTnLst>
                                    <p:animMotion origin="layout" path="M 6.25E-7 -3.33333E-6 L -0.49714 -0.32477 " pathEditMode="relative" rAng="0" ptsTypes="AA">
                                      <p:cBhvr>
                                        <p:cTn id="39" dur="2000" fill="hold"/>
                                        <p:tgtEl>
                                          <p:spTgt spid="40"/>
                                        </p:tgtEl>
                                        <p:attrNameLst>
                                          <p:attrName>ppt_x</p:attrName>
                                          <p:attrName>ppt_y</p:attrName>
                                        </p:attrNameLst>
                                      </p:cBhvr>
                                      <p:rCtr x="-24857" y="-16250"/>
                                    </p:animMotion>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wipe(left)">
                                      <p:cBhvr>
                                        <p:cTn id="44" dur="1000"/>
                                        <p:tgtEl>
                                          <p:spTgt spid="37"/>
                                        </p:tgtEl>
                                      </p:cBhvr>
                                    </p:animEffect>
                                  </p:childTnLst>
                                </p:cTn>
                              </p:par>
                            </p:childTnLst>
                          </p:cTn>
                        </p:par>
                        <p:par>
                          <p:cTn id="45" fill="hold">
                            <p:stCondLst>
                              <p:cond delay="1000"/>
                            </p:stCondLst>
                            <p:childTnLst>
                              <p:par>
                                <p:cTn id="46" presetID="63" presetClass="path" presetSubtype="0" accel="50000" decel="50000" fill="hold" nodeType="afterEffect">
                                  <p:stCondLst>
                                    <p:cond delay="0"/>
                                  </p:stCondLst>
                                  <p:childTnLst>
                                    <p:animMotion origin="layout" path="M -4.375E-6 3.7037E-6 L 0.04727 -0.00024 " pathEditMode="relative" rAng="0" ptsTypes="AA">
                                      <p:cBhvr>
                                        <p:cTn id="47" dur="2000" fill="hold"/>
                                        <p:tgtEl>
                                          <p:spTgt spid="24"/>
                                        </p:tgtEl>
                                        <p:attrNameLst>
                                          <p:attrName>ppt_x</p:attrName>
                                          <p:attrName>ppt_y</p:attrName>
                                        </p:attrNameLst>
                                      </p:cBhvr>
                                      <p:rCtr x="2357" y="-23"/>
                                    </p:animMotion>
                                  </p:childTnLst>
                                </p:cTn>
                              </p:par>
                            </p:childTnLst>
                          </p:cTn>
                        </p:par>
                        <p:par>
                          <p:cTn id="48" fill="hold">
                            <p:stCondLst>
                              <p:cond delay="3000"/>
                            </p:stCondLst>
                            <p:childTnLst>
                              <p:par>
                                <p:cTn id="49" presetID="35" presetClass="path" presetSubtype="0" accel="50000" decel="50000" fill="hold" grpId="2" nodeType="afterEffect">
                                  <p:stCondLst>
                                    <p:cond delay="0"/>
                                  </p:stCondLst>
                                  <p:childTnLst>
                                    <p:animMotion origin="layout" path="M 1.25E-6 -1.85185E-6 L -0.04336 0.00023 " pathEditMode="relative" rAng="0" ptsTypes="AA">
                                      <p:cBhvr>
                                        <p:cTn id="50" dur="2000" fill="hold"/>
                                        <p:tgtEl>
                                          <p:spTgt spid="28"/>
                                        </p:tgtEl>
                                        <p:attrNameLst>
                                          <p:attrName>ppt_x</p:attrName>
                                          <p:attrName>ppt_y</p:attrName>
                                        </p:attrNameLst>
                                      </p:cBhvr>
                                      <p:rCtr x="-2174" y="-23"/>
                                    </p:animMotion>
                                  </p:childTnLst>
                                </p:cTn>
                              </p:par>
                            </p:childTnLst>
                          </p:cTn>
                        </p:par>
                        <p:par>
                          <p:cTn id="51" fill="hold">
                            <p:stCondLst>
                              <p:cond delay="5000"/>
                            </p:stCondLst>
                            <p:childTnLst>
                              <p:par>
                                <p:cTn id="52" presetID="63" presetClass="path" presetSubtype="0" accel="50000" decel="50000" fill="hold" nodeType="afterEffect">
                                  <p:stCondLst>
                                    <p:cond delay="0"/>
                                  </p:stCondLst>
                                  <p:childTnLst>
                                    <p:animMotion origin="layout" path="M 0.04727 -0.00024 L 0.09454 -0.00024 " pathEditMode="relative" rAng="0" ptsTypes="AA">
                                      <p:cBhvr>
                                        <p:cTn id="53" dur="2000" fill="hold"/>
                                        <p:tgtEl>
                                          <p:spTgt spid="24"/>
                                        </p:tgtEl>
                                        <p:attrNameLst>
                                          <p:attrName>ppt_x</p:attrName>
                                          <p:attrName>ppt_y</p:attrName>
                                        </p:attrNameLst>
                                      </p:cBhvr>
                                      <p:rCtr x="2357" y="0"/>
                                    </p:animMotion>
                                  </p:childTnLst>
                                </p:cTn>
                              </p:par>
                            </p:childTnLst>
                          </p:cTn>
                        </p:par>
                        <p:par>
                          <p:cTn id="54" fill="hold">
                            <p:stCondLst>
                              <p:cond delay="7000"/>
                            </p:stCondLst>
                            <p:childTnLst>
                              <p:par>
                                <p:cTn id="55" presetID="35" presetClass="path" presetSubtype="0" accel="50000" decel="50000" fill="hold" grpId="2" nodeType="afterEffect">
                                  <p:stCondLst>
                                    <p:cond delay="0"/>
                                  </p:stCondLst>
                                  <p:childTnLst>
                                    <p:animMotion origin="layout" path="M 1.875E-6 -1.85185E-6 L -0.04336 -1.85185E-6 " pathEditMode="relative" rAng="0" ptsTypes="AA">
                                      <p:cBhvr>
                                        <p:cTn id="56" dur="2000" fill="hold"/>
                                        <p:tgtEl>
                                          <p:spTgt spid="26"/>
                                        </p:tgtEl>
                                        <p:attrNameLst>
                                          <p:attrName>ppt_x</p:attrName>
                                          <p:attrName>ppt_y</p:attrName>
                                        </p:attrNameLst>
                                      </p:cBhvr>
                                      <p:rCtr x="-2174" y="0"/>
                                    </p:animMotion>
                                  </p:childTnLst>
                                </p:cTn>
                              </p:par>
                            </p:childTnLst>
                          </p:cTn>
                        </p:par>
                        <p:par>
                          <p:cTn id="57" fill="hold">
                            <p:stCondLst>
                              <p:cond delay="9000"/>
                            </p:stCondLst>
                            <p:childTnLst>
                              <p:par>
                                <p:cTn id="58" presetID="63" presetClass="path" presetSubtype="0" accel="50000" decel="50000" fill="hold" nodeType="afterEffect">
                                  <p:stCondLst>
                                    <p:cond delay="0"/>
                                  </p:stCondLst>
                                  <p:childTnLst>
                                    <p:animMotion origin="layout" path="M 0.09454 -0.00024 L 0.12982 -0.00024 " pathEditMode="relative" rAng="0" ptsTypes="AA">
                                      <p:cBhvr>
                                        <p:cTn id="59" dur="2000" fill="hold"/>
                                        <p:tgtEl>
                                          <p:spTgt spid="24"/>
                                        </p:tgtEl>
                                        <p:attrNameLst>
                                          <p:attrName>ppt_x</p:attrName>
                                          <p:attrName>ppt_y</p:attrName>
                                        </p:attrNameLst>
                                      </p:cBhvr>
                                      <p:rCtr x="1758" y="0"/>
                                    </p:animMotion>
                                  </p:childTnLst>
                                </p:cTn>
                              </p:par>
                            </p:childTnLst>
                          </p:cTn>
                        </p:par>
                        <p:par>
                          <p:cTn id="60" fill="hold">
                            <p:stCondLst>
                              <p:cond delay="11000"/>
                            </p:stCondLst>
                            <p:childTnLst>
                              <p:par>
                                <p:cTn id="61" presetID="35" presetClass="path" presetSubtype="0" accel="50000" decel="50000" fill="hold" grpId="2" nodeType="afterEffect">
                                  <p:stCondLst>
                                    <p:cond delay="0"/>
                                  </p:stCondLst>
                                  <p:childTnLst>
                                    <p:animMotion origin="layout" path="M 1.66667E-6 1.11111E-6 L -0.04349 1.11111E-6 " pathEditMode="relative" rAng="0" ptsTypes="AA">
                                      <p:cBhvr>
                                        <p:cTn id="62" dur="2000" fill="hold"/>
                                        <p:tgtEl>
                                          <p:spTgt spid="27"/>
                                        </p:tgtEl>
                                        <p:attrNameLst>
                                          <p:attrName>ppt_x</p:attrName>
                                          <p:attrName>ppt_y</p:attrName>
                                        </p:attrNameLst>
                                      </p:cBhvr>
                                      <p:rCtr x="-2174" y="0"/>
                                    </p:animMotion>
                                  </p:childTnLst>
                                </p:cTn>
                              </p:par>
                            </p:childTnLst>
                          </p:cTn>
                        </p:par>
                        <p:par>
                          <p:cTn id="63" fill="hold">
                            <p:stCondLst>
                              <p:cond delay="13000"/>
                            </p:stCondLst>
                            <p:childTnLst>
                              <p:par>
                                <p:cTn id="64" presetID="63" presetClass="path" presetSubtype="0" accel="50000" decel="50000" fill="hold" nodeType="afterEffect">
                                  <p:stCondLst>
                                    <p:cond delay="0"/>
                                  </p:stCondLst>
                                  <p:childTnLst>
                                    <p:animMotion origin="layout" path="M 0.12982 -0.00024 L 0.17709 -0.00024 " pathEditMode="relative" rAng="0" ptsTypes="AA">
                                      <p:cBhvr>
                                        <p:cTn id="65" dur="2000" fill="hold"/>
                                        <p:tgtEl>
                                          <p:spTgt spid="24"/>
                                        </p:tgtEl>
                                        <p:attrNameLst>
                                          <p:attrName>ppt_x</p:attrName>
                                          <p:attrName>ppt_y</p:attrName>
                                        </p:attrNameLst>
                                      </p:cBhvr>
                                      <p:rCtr x="2357" y="0"/>
                                    </p:animMotion>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wipe(left)">
                                      <p:cBhvr>
                                        <p:cTn id="70" dur="500"/>
                                        <p:tgtEl>
                                          <p:spTgt spid="18"/>
                                        </p:tgtEl>
                                      </p:cBhvr>
                                    </p:animEffect>
                                  </p:childTnLst>
                                </p:cTn>
                              </p:par>
                            </p:childTnLst>
                          </p:cTn>
                        </p:par>
                        <p:par>
                          <p:cTn id="71" fill="hold">
                            <p:stCondLst>
                              <p:cond delay="500"/>
                            </p:stCondLst>
                            <p:childTnLst>
                              <p:par>
                                <p:cTn id="72" presetID="22" presetClass="entr" presetSubtype="4" fill="hold"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wipe(down)">
                                      <p:cBhvr>
                                        <p:cTn id="74" dur="500"/>
                                        <p:tgtEl>
                                          <p:spTgt spid="25"/>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wipe(left)">
                                      <p:cBhvr>
                                        <p:cTn id="83" dur="1000"/>
                                        <p:tgtEl>
                                          <p:spTgt spid="38"/>
                                        </p:tgtEl>
                                      </p:cBhvr>
                                    </p:animEffect>
                                  </p:childTnLst>
                                </p:cTn>
                              </p:par>
                            </p:childTnLst>
                          </p:cTn>
                        </p:par>
                        <p:par>
                          <p:cTn id="84" fill="hold">
                            <p:stCondLst>
                              <p:cond delay="1000"/>
                            </p:stCondLst>
                            <p:childTnLst>
                              <p:par>
                                <p:cTn id="85" presetID="22" presetClass="entr" presetSubtype="8" fill="hold" grpId="0" nodeType="after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left)">
                                      <p:cBhvr>
                                        <p:cTn id="87" dur="500"/>
                                        <p:tgtEl>
                                          <p:spTgt spid="20"/>
                                        </p:tgtEl>
                                      </p:cBhvr>
                                    </p:animEffect>
                                  </p:childTnLst>
                                </p:cTn>
                              </p:par>
                            </p:childTnLst>
                          </p:cTn>
                        </p:par>
                      </p:childTnLst>
                    </p:cTn>
                  </p:par>
                  <p:par>
                    <p:cTn id="88" fill="hold">
                      <p:stCondLst>
                        <p:cond delay="indefinite"/>
                      </p:stCondLst>
                      <p:childTnLst>
                        <p:par>
                          <p:cTn id="89" fill="hold">
                            <p:stCondLst>
                              <p:cond delay="0"/>
                            </p:stCondLst>
                            <p:childTnLst>
                              <p:par>
                                <p:cTn id="90" presetID="45" presetClass="entr" presetSubtype="0" fill="hold" grpId="0" nodeType="clickEffect">
                                  <p:stCondLst>
                                    <p:cond delay="0"/>
                                  </p:stCondLst>
                                  <p:childTnLst>
                                    <p:set>
                                      <p:cBhvr>
                                        <p:cTn id="91" dur="1" fill="hold">
                                          <p:stCondLst>
                                            <p:cond delay="0"/>
                                          </p:stCondLst>
                                        </p:cTn>
                                        <p:tgtEl>
                                          <p:spTgt spid="52"/>
                                        </p:tgtEl>
                                        <p:attrNameLst>
                                          <p:attrName>style.visibility</p:attrName>
                                        </p:attrNameLst>
                                      </p:cBhvr>
                                      <p:to>
                                        <p:strVal val="visible"/>
                                      </p:to>
                                    </p:set>
                                    <p:animEffect transition="in" filter="fade">
                                      <p:cBhvr>
                                        <p:cTn id="92" dur="2000"/>
                                        <p:tgtEl>
                                          <p:spTgt spid="52"/>
                                        </p:tgtEl>
                                      </p:cBhvr>
                                    </p:animEffect>
                                    <p:anim calcmode="lin" valueType="num">
                                      <p:cBhvr>
                                        <p:cTn id="93" dur="2000" fill="hold"/>
                                        <p:tgtEl>
                                          <p:spTgt spid="52"/>
                                        </p:tgtEl>
                                        <p:attrNameLst>
                                          <p:attrName>ppt_w</p:attrName>
                                        </p:attrNameLst>
                                      </p:cBhvr>
                                      <p:tavLst>
                                        <p:tav tm="0" fmla="#ppt_w*sin(2.5*pi*$)">
                                          <p:val>
                                            <p:fltVal val="0"/>
                                          </p:val>
                                        </p:tav>
                                        <p:tav tm="100000">
                                          <p:val>
                                            <p:fltVal val="1"/>
                                          </p:val>
                                        </p:tav>
                                      </p:tavLst>
                                    </p:anim>
                                    <p:anim calcmode="lin" valueType="num">
                                      <p:cBhvr>
                                        <p:cTn id="94" dur="2000" fill="hold"/>
                                        <p:tgtEl>
                                          <p:spTgt spid="5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3" grpId="1" animBg="1" autoUpdateAnimBg="0"/>
      <p:bldP spid="4" grpId="0" animBg="1" autoUpdateAnimBg="0"/>
      <p:bldP spid="4" grpId="1" animBg="1" autoUpdateAnimBg="0"/>
      <p:bldP spid="5" grpId="0" animBg="1" autoUpdateAnimBg="0"/>
      <p:bldP spid="5" grpId="1" animBg="1" autoUpdateAnimBg="0"/>
      <p:bldP spid="6" grpId="0" animBg="1" autoUpdateAnimBg="0"/>
      <p:bldP spid="6" grpId="1" animBg="1" autoUpdateAnimBg="0"/>
      <p:bldP spid="7" grpId="0" animBg="1" autoUpdateAnimBg="0"/>
      <p:bldP spid="7" grpId="1" animBg="1" autoUpdateAnimBg="0"/>
      <p:bldP spid="8" grpId="0" animBg="1" autoUpdateAnimBg="0"/>
      <p:bldP spid="8" grpId="1" animBg="1" autoUpdateAnimBg="0"/>
      <p:bldP spid="9" grpId="0" animBg="1" autoUpdateAnimBg="0"/>
      <p:bldP spid="9" grpId="1" animBg="1" autoUpdateAnimBg="0"/>
      <p:bldP spid="16" grpId="0"/>
      <p:bldP spid="17" grpId="0"/>
      <p:bldP spid="18" grpId="0"/>
      <p:bldP spid="20" grpId="0"/>
      <p:bldP spid="26" grpId="0" animBg="1" autoUpdateAnimBg="0"/>
      <p:bldP spid="26" grpId="1" animBg="1" autoUpdateAnimBg="0"/>
      <p:bldP spid="26" grpId="2" animBg="1"/>
      <p:bldP spid="27" grpId="0" animBg="1" autoUpdateAnimBg="0"/>
      <p:bldP spid="27" grpId="1" animBg="1" autoUpdateAnimBg="0"/>
      <p:bldP spid="27" grpId="2" animBg="1"/>
      <p:bldP spid="28" grpId="0" animBg="1" autoUpdateAnimBg="0"/>
      <p:bldP spid="28" grpId="1" animBg="1" autoUpdateAnimBg="0"/>
      <p:bldP spid="28" grpId="2" animBg="1"/>
      <p:bldP spid="34" grpId="0"/>
      <p:bldP spid="34" grpId="1"/>
      <p:bldP spid="35" grpId="0"/>
      <p:bldP spid="36" grpId="0"/>
      <p:bldP spid="37" grpId="0"/>
      <p:bldP spid="38" grpId="0"/>
      <p:bldP spid="40" grpId="0"/>
      <p:bldP spid="40" grpId="1"/>
      <p:bldP spid="5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3"/>
          <p:cNvSpPr>
            <a:spLocks noGrp="1"/>
          </p:cNvSpPr>
          <p:nvPr>
            <p:ph type="title"/>
          </p:nvPr>
        </p:nvSpPr>
        <p:spPr>
          <a:xfrm>
            <a:off x="407368" y="64368"/>
            <a:ext cx="10515600" cy="1325563"/>
          </a:xfrm>
        </p:spPr>
        <p:txBody>
          <a:bodyPr/>
          <a:lstStyle/>
          <a:p>
            <a:pPr eaLnBrk="1" hangingPunct="1"/>
            <a:r>
              <a:rPr dirty="0">
                <a:solidFill>
                  <a:srgbClr val="000099"/>
                </a:solidFill>
              </a:rPr>
              <a:t> </a:t>
            </a:r>
            <a:r>
              <a:rPr dirty="0" err="1">
                <a:solidFill>
                  <a:srgbClr val="000099"/>
                </a:solidFill>
              </a:rPr>
              <a:t>顺序表删除操作时间复杂度分析</a:t>
            </a:r>
            <a:endParaRPr dirty="0">
              <a:solidFill>
                <a:srgbClr val="000099"/>
              </a:solidFill>
            </a:endParaRPr>
          </a:p>
        </p:txBody>
      </p:sp>
      <p:sp>
        <p:nvSpPr>
          <p:cNvPr id="64514" name="Rectangle 2"/>
          <p:cNvSpPr>
            <a:spLocks noGrp="1" noChangeArrowheads="1"/>
          </p:cNvSpPr>
          <p:nvPr>
            <p:ph idx="4294967295"/>
          </p:nvPr>
        </p:nvSpPr>
        <p:spPr>
          <a:xfrm>
            <a:off x="0" y="1412875"/>
            <a:ext cx="8458200" cy="4530725"/>
          </a:xfrm>
        </p:spPr>
        <p:txBody>
          <a:bodyPr vert="horz" wrap="square" lIns="92075" tIns="46038" rIns="92075" bIns="46038" numCol="1" anchor="t" anchorCtr="0" compatLnSpc="1"/>
          <a:lstStyle/>
          <a:p>
            <a:pPr eaLnBrk="1" hangingPunct="1">
              <a:buFont typeface="Wingdings" panose="05000000000000000000" pitchFamily="2" charset="2"/>
              <a:buNone/>
            </a:pPr>
            <a:endParaRPr lang="zh-CN" altLang="en-US" sz="1800"/>
          </a:p>
          <a:p>
            <a:pPr eaLnBrk="1" hangingPunct="1">
              <a:buFont typeface="Wingdings" panose="05000000000000000000" pitchFamily="2" charset="2"/>
              <a:buNone/>
            </a:pPr>
            <a:r>
              <a:rPr lang="zh-CN" altLang="en-US" sz="1800"/>
              <a:t>      </a:t>
            </a:r>
          </a:p>
          <a:p>
            <a:pPr eaLnBrk="1" hangingPunct="1">
              <a:buFont typeface="Wingdings" panose="05000000000000000000" pitchFamily="2" charset="2"/>
              <a:buNone/>
            </a:pPr>
            <a:endParaRPr lang="zh-CN" altLang="en-US" sz="1800"/>
          </a:p>
        </p:txBody>
      </p:sp>
      <p:sp>
        <p:nvSpPr>
          <p:cNvPr id="72707" name="Rectangle 3"/>
          <p:cNvSpPr>
            <a:spLocks noChangeArrowheads="1"/>
          </p:cNvSpPr>
          <p:nvPr/>
        </p:nvSpPr>
        <p:spPr bwMode="auto">
          <a:xfrm>
            <a:off x="551385" y="1196976"/>
            <a:ext cx="11089232" cy="5184775"/>
          </a:xfrm>
          <a:prstGeom prst="rect">
            <a:avLst/>
          </a:prstGeom>
          <a:noFill/>
          <a:ln w="9525">
            <a:noFill/>
            <a:miter lim="800000"/>
          </a:ln>
        </p:spPr>
        <p:txBody>
          <a:bodyPr lIns="92075" tIns="46038" rIns="92075" bIns="46038"/>
          <a:lstStyle/>
          <a:p>
            <a:pPr>
              <a:spcBef>
                <a:spcPct val="20000"/>
              </a:spcBef>
              <a:buClr>
                <a:schemeClr val="accent2"/>
              </a:buClr>
              <a:buSzPct val="80000"/>
              <a:buFont typeface="Wingdings" panose="05000000000000000000" pitchFamily="2" charset="2"/>
              <a:buNone/>
            </a:pPr>
            <a:r>
              <a:rPr lang="zh-CN" altLang="en-US" sz="2800" dirty="0">
                <a:solidFill>
                  <a:srgbClr val="008000"/>
                </a:solidFill>
                <a:latin typeface="宋体" panose="02010600030101010101" pitchFamily="2" charset="-122"/>
                <a:ea typeface="楷体_GB2312"/>
              </a:rPr>
              <a:t>可用结点的移动来估计算法的时间复杂度。</a:t>
            </a:r>
          </a:p>
          <a:p>
            <a:pPr>
              <a:lnSpc>
                <a:spcPct val="110000"/>
              </a:lnSpc>
              <a:spcBef>
                <a:spcPct val="20000"/>
              </a:spcBef>
              <a:buClr>
                <a:schemeClr val="accent2"/>
              </a:buClr>
              <a:buSzPct val="80000"/>
              <a:buFontTx/>
              <a:buChar char="•"/>
            </a:pPr>
            <a:r>
              <a:rPr lang="zh-CN" altLang="en-US" sz="2800" dirty="0">
                <a:solidFill>
                  <a:srgbClr val="000099"/>
                </a:solidFill>
                <a:latin typeface="宋体" panose="02010600030101010101" pitchFamily="2" charset="-122"/>
                <a:ea typeface="楷体_GB2312"/>
              </a:rPr>
              <a:t>  设</a:t>
            </a:r>
            <a:r>
              <a:rPr lang="zh-CN" altLang="en-US" sz="2800" dirty="0">
                <a:solidFill>
                  <a:srgbClr val="000099"/>
                </a:solidFill>
                <a:ea typeface="楷体_GB2312"/>
              </a:rPr>
              <a:t>在线性表</a:t>
            </a:r>
            <a:r>
              <a:rPr lang="en-US" altLang="zh-CN" sz="2800" dirty="0">
                <a:solidFill>
                  <a:srgbClr val="000099"/>
                </a:solidFill>
                <a:ea typeface="楷体_GB2312"/>
              </a:rPr>
              <a:t>L</a:t>
            </a:r>
            <a:r>
              <a:rPr lang="zh-CN" altLang="en-US" sz="2800" dirty="0">
                <a:solidFill>
                  <a:srgbClr val="000099"/>
                </a:solidFill>
                <a:ea typeface="楷体_GB2312"/>
              </a:rPr>
              <a:t>中</a:t>
            </a:r>
            <a:r>
              <a:rPr lang="zh-CN" altLang="en-US" sz="2800" dirty="0">
                <a:solidFill>
                  <a:srgbClr val="000099"/>
                </a:solidFill>
                <a:latin typeface="宋体" panose="02010600030101010101" pitchFamily="2" charset="-122"/>
                <a:ea typeface="楷体_GB2312"/>
              </a:rPr>
              <a:t>删除第</a:t>
            </a:r>
            <a:r>
              <a:rPr lang="en-US" altLang="zh-CN" sz="2800" dirty="0" err="1">
                <a:solidFill>
                  <a:srgbClr val="000099"/>
                </a:solidFill>
                <a:ea typeface="楷体_GB2312"/>
              </a:rPr>
              <a:t>i</a:t>
            </a:r>
            <a:r>
              <a:rPr lang="zh-CN" altLang="en-US" sz="2800" dirty="0">
                <a:solidFill>
                  <a:srgbClr val="000099"/>
                </a:solidFill>
                <a:ea typeface="楷体_GB2312"/>
              </a:rPr>
              <a:t>个</a:t>
            </a:r>
            <a:r>
              <a:rPr lang="zh-CN" altLang="en-US" sz="2800" dirty="0">
                <a:solidFill>
                  <a:srgbClr val="000099"/>
                </a:solidFill>
                <a:latin typeface="宋体" panose="02010600030101010101" pitchFamily="2" charset="-122"/>
                <a:ea typeface="楷体_GB2312"/>
              </a:rPr>
              <a:t>元素的概率为</a:t>
            </a:r>
            <a:r>
              <a:rPr lang="en-US" altLang="zh-CN" sz="2800" dirty="0">
                <a:solidFill>
                  <a:srgbClr val="000099"/>
                </a:solidFill>
                <a:ea typeface="楷体_GB2312"/>
              </a:rPr>
              <a:t>P</a:t>
            </a:r>
            <a:r>
              <a:rPr lang="en-US" altLang="zh-CN" sz="2800" baseline="-25000" dirty="0">
                <a:solidFill>
                  <a:srgbClr val="000099"/>
                </a:solidFill>
                <a:ea typeface="楷体_GB2312"/>
              </a:rPr>
              <a:t>i</a:t>
            </a:r>
            <a:r>
              <a:rPr lang="zh-CN" altLang="en-US" sz="2800" dirty="0">
                <a:solidFill>
                  <a:srgbClr val="000099"/>
                </a:solidFill>
                <a:latin typeface="宋体" panose="02010600030101010101" pitchFamily="2" charset="-122"/>
                <a:ea typeface="楷体_GB2312"/>
              </a:rPr>
              <a:t>，不失一般性，设删除各个位置是等概率，则</a:t>
            </a:r>
            <a:r>
              <a:rPr lang="en-US" altLang="zh-CN" sz="2800" dirty="0">
                <a:solidFill>
                  <a:srgbClr val="000099"/>
                </a:solidFill>
                <a:ea typeface="楷体_GB2312"/>
              </a:rPr>
              <a:t>P</a:t>
            </a:r>
            <a:r>
              <a:rPr lang="en-US" altLang="zh-CN" sz="2800" baseline="-25000" dirty="0">
                <a:solidFill>
                  <a:srgbClr val="000099"/>
                </a:solidFill>
                <a:ea typeface="楷体_GB2312"/>
              </a:rPr>
              <a:t>i</a:t>
            </a:r>
            <a:r>
              <a:rPr lang="en-US" altLang="zh-CN" sz="2800" dirty="0">
                <a:solidFill>
                  <a:srgbClr val="000099"/>
                </a:solidFill>
                <a:ea typeface="楷体_GB2312"/>
              </a:rPr>
              <a:t>=1/n</a:t>
            </a:r>
          </a:p>
          <a:p>
            <a:pPr>
              <a:lnSpc>
                <a:spcPct val="110000"/>
              </a:lnSpc>
              <a:spcBef>
                <a:spcPct val="20000"/>
              </a:spcBef>
              <a:buClr>
                <a:schemeClr val="accent2"/>
              </a:buClr>
              <a:buSzPct val="80000"/>
              <a:buFontTx/>
              <a:buChar char="•"/>
            </a:pPr>
            <a:r>
              <a:rPr lang="zh-CN" altLang="en-US" sz="2800" dirty="0">
                <a:solidFill>
                  <a:srgbClr val="000099"/>
                </a:solidFill>
                <a:latin typeface="Times New Roman" panose="02020603050405020304" pitchFamily="18" charset="0"/>
                <a:ea typeface="仿宋_GB2312"/>
                <a:cs typeface="仿宋_GB2312"/>
              </a:rPr>
              <a:t>删除第 </a:t>
            </a:r>
            <a:r>
              <a:rPr lang="en-US" altLang="zh-CN" sz="2800" i="1" dirty="0" err="1">
                <a:solidFill>
                  <a:srgbClr val="000099"/>
                </a:solidFill>
                <a:latin typeface="Times New Roman" panose="02020603050405020304" pitchFamily="18" charset="0"/>
                <a:ea typeface="仿宋_GB2312"/>
                <a:cs typeface="仿宋_GB2312"/>
              </a:rPr>
              <a:t>i</a:t>
            </a:r>
            <a:r>
              <a:rPr lang="en-US" altLang="zh-CN" sz="2800" i="1" dirty="0">
                <a:solidFill>
                  <a:srgbClr val="000099"/>
                </a:solidFill>
                <a:latin typeface="Times New Roman" panose="02020603050405020304" pitchFamily="18" charset="0"/>
                <a:ea typeface="仿宋_GB2312"/>
                <a:cs typeface="仿宋_GB2312"/>
              </a:rPr>
              <a:t> </a:t>
            </a:r>
            <a:r>
              <a:rPr lang="zh-CN" altLang="en-US" sz="2800" dirty="0">
                <a:solidFill>
                  <a:srgbClr val="000099"/>
                </a:solidFill>
                <a:latin typeface="Times New Roman" panose="02020603050405020304" pitchFamily="18" charset="0"/>
                <a:ea typeface="仿宋_GB2312"/>
                <a:cs typeface="仿宋_GB2312"/>
              </a:rPr>
              <a:t>个表项，需将第 </a:t>
            </a:r>
            <a:r>
              <a:rPr lang="en-US" altLang="zh-CN" sz="2800" i="1" dirty="0">
                <a:solidFill>
                  <a:srgbClr val="000099"/>
                </a:solidFill>
                <a:latin typeface="Times New Roman" panose="02020603050405020304" pitchFamily="18" charset="0"/>
                <a:ea typeface="仿宋_GB2312"/>
                <a:cs typeface="仿宋_GB2312"/>
              </a:rPr>
              <a:t>i</a:t>
            </a:r>
            <a:r>
              <a:rPr lang="en-US" altLang="zh-CN" sz="2800" dirty="0">
                <a:solidFill>
                  <a:srgbClr val="000099"/>
                </a:solidFill>
                <a:latin typeface="Times New Roman" panose="02020603050405020304" pitchFamily="18" charset="0"/>
                <a:ea typeface="仿宋_GB2312"/>
                <a:cs typeface="仿宋_GB2312"/>
              </a:rPr>
              <a:t>+1 </a:t>
            </a:r>
            <a:r>
              <a:rPr lang="zh-CN" altLang="en-US" sz="2800" dirty="0">
                <a:solidFill>
                  <a:srgbClr val="000099"/>
                </a:solidFill>
                <a:latin typeface="Times New Roman" panose="02020603050405020304" pitchFamily="18" charset="0"/>
                <a:ea typeface="仿宋_GB2312"/>
                <a:cs typeface="仿宋_GB2312"/>
              </a:rPr>
              <a:t>项到第</a:t>
            </a:r>
            <a:r>
              <a:rPr lang="zh-CN" altLang="en-US" sz="2800" i="1" dirty="0">
                <a:solidFill>
                  <a:srgbClr val="000099"/>
                </a:solidFill>
                <a:latin typeface="Times New Roman" panose="02020603050405020304" pitchFamily="18" charset="0"/>
                <a:ea typeface="仿宋_GB2312"/>
                <a:cs typeface="仿宋_GB2312"/>
              </a:rPr>
              <a:t> </a:t>
            </a:r>
            <a:r>
              <a:rPr lang="en-US" altLang="zh-CN" sz="2800" i="1" dirty="0">
                <a:solidFill>
                  <a:srgbClr val="000099"/>
                </a:solidFill>
                <a:latin typeface="Times New Roman" panose="02020603050405020304" pitchFamily="18" charset="0"/>
                <a:ea typeface="仿宋_GB2312"/>
                <a:cs typeface="仿宋_GB2312"/>
              </a:rPr>
              <a:t>n </a:t>
            </a:r>
            <a:r>
              <a:rPr lang="zh-CN" altLang="en-US" sz="2800" dirty="0">
                <a:solidFill>
                  <a:srgbClr val="000099"/>
                </a:solidFill>
                <a:latin typeface="Times New Roman" panose="02020603050405020304" pitchFamily="18" charset="0"/>
                <a:ea typeface="仿宋_GB2312"/>
                <a:cs typeface="仿宋_GB2312"/>
              </a:rPr>
              <a:t>项全部前移，需前移的项数为           </a:t>
            </a:r>
            <a:r>
              <a:rPr lang="en-US" altLang="zh-CN" sz="2800" i="1" dirty="0">
                <a:solidFill>
                  <a:srgbClr val="000099"/>
                </a:solidFill>
                <a:latin typeface="Times New Roman" panose="02020603050405020304" pitchFamily="18" charset="0"/>
                <a:ea typeface="仿宋_GB2312"/>
                <a:cs typeface="仿宋_GB2312"/>
              </a:rPr>
              <a:t>n</a:t>
            </a:r>
            <a:r>
              <a:rPr lang="en-US" altLang="zh-CN" sz="2800" dirty="0">
                <a:solidFill>
                  <a:srgbClr val="000099"/>
                </a:solidFill>
                <a:latin typeface="Courier New" panose="02070309020205020404" pitchFamily="49" charset="0"/>
                <a:ea typeface="仿宋_GB2312"/>
                <a:cs typeface="仿宋_GB2312"/>
              </a:rPr>
              <a:t>-</a:t>
            </a:r>
            <a:r>
              <a:rPr lang="en-US" altLang="zh-CN" sz="2800" dirty="0">
                <a:solidFill>
                  <a:srgbClr val="000099"/>
                </a:solidFill>
                <a:latin typeface="Times New Roman" panose="02020603050405020304" pitchFamily="18" charset="0"/>
                <a:ea typeface="仿宋_GB2312"/>
                <a:cs typeface="仿宋_GB2312"/>
              </a:rPr>
              <a:t>(</a:t>
            </a:r>
            <a:r>
              <a:rPr lang="en-US" altLang="zh-CN" sz="2800" i="1" dirty="0">
                <a:solidFill>
                  <a:srgbClr val="000099"/>
                </a:solidFill>
                <a:latin typeface="Times New Roman" panose="02020603050405020304" pitchFamily="18" charset="0"/>
                <a:ea typeface="仿宋_GB2312"/>
                <a:cs typeface="仿宋_GB2312"/>
              </a:rPr>
              <a:t>i</a:t>
            </a:r>
            <a:r>
              <a:rPr lang="en-US" altLang="zh-CN" sz="2800" dirty="0">
                <a:solidFill>
                  <a:srgbClr val="000099"/>
                </a:solidFill>
                <a:latin typeface="Times New Roman" panose="02020603050405020304" pitchFamily="18" charset="0"/>
                <a:ea typeface="仿宋_GB2312"/>
                <a:cs typeface="仿宋_GB2312"/>
              </a:rPr>
              <a:t>+1)+1 = </a:t>
            </a:r>
            <a:r>
              <a:rPr lang="en-US" altLang="zh-CN" sz="2800" i="1" dirty="0">
                <a:solidFill>
                  <a:srgbClr val="000099"/>
                </a:solidFill>
                <a:latin typeface="Times New Roman" panose="02020603050405020304" pitchFamily="18" charset="0"/>
                <a:ea typeface="仿宋_GB2312"/>
                <a:cs typeface="仿宋_GB2312"/>
              </a:rPr>
              <a:t>n</a:t>
            </a:r>
            <a:r>
              <a:rPr lang="en-US" altLang="zh-CN" sz="2800" dirty="0">
                <a:solidFill>
                  <a:srgbClr val="000099"/>
                </a:solidFill>
                <a:latin typeface="Courier New" panose="02070309020205020404" pitchFamily="49" charset="0"/>
                <a:ea typeface="仿宋_GB2312"/>
                <a:cs typeface="仿宋_GB2312"/>
              </a:rPr>
              <a:t>-</a:t>
            </a:r>
            <a:r>
              <a:rPr lang="en-US" altLang="zh-CN" sz="2800" i="1" dirty="0" err="1">
                <a:solidFill>
                  <a:srgbClr val="000099"/>
                </a:solidFill>
                <a:latin typeface="Times New Roman" panose="02020603050405020304" pitchFamily="18" charset="0"/>
                <a:ea typeface="仿宋_GB2312"/>
                <a:cs typeface="仿宋_GB2312"/>
              </a:rPr>
              <a:t>i</a:t>
            </a:r>
            <a:endParaRPr lang="en-US" altLang="zh-CN" sz="2800" dirty="0">
              <a:solidFill>
                <a:srgbClr val="000099"/>
              </a:solidFill>
              <a:latin typeface="Times New Roman" panose="02020603050405020304" pitchFamily="18" charset="0"/>
              <a:ea typeface="仿宋_GB2312"/>
              <a:cs typeface="仿宋_GB2312"/>
            </a:endParaRPr>
          </a:p>
          <a:p>
            <a:pPr>
              <a:lnSpc>
                <a:spcPct val="110000"/>
              </a:lnSpc>
              <a:spcBef>
                <a:spcPct val="20000"/>
              </a:spcBef>
              <a:buClr>
                <a:schemeClr val="accent2"/>
              </a:buClr>
              <a:buSzPct val="80000"/>
              <a:buFontTx/>
              <a:buChar char="•"/>
            </a:pPr>
            <a:r>
              <a:rPr lang="zh-CN" altLang="en-US" sz="2800" dirty="0">
                <a:solidFill>
                  <a:srgbClr val="000099"/>
                </a:solidFill>
                <a:ea typeface="楷体_GB2312"/>
              </a:rPr>
              <a:t>则总的平均移动次数： </a:t>
            </a:r>
            <a:r>
              <a:rPr lang="en-US" altLang="zh-CN" sz="2800" dirty="0" err="1">
                <a:solidFill>
                  <a:srgbClr val="000099"/>
                </a:solidFill>
                <a:ea typeface="楷体_GB2312"/>
              </a:rPr>
              <a:t>E</a:t>
            </a:r>
            <a:r>
              <a:rPr lang="en-US" altLang="zh-CN" sz="2800" baseline="-25000" dirty="0" err="1">
                <a:solidFill>
                  <a:srgbClr val="000099"/>
                </a:solidFill>
                <a:ea typeface="楷体_GB2312"/>
              </a:rPr>
              <a:t>delete</a:t>
            </a:r>
            <a:r>
              <a:rPr lang="en-US" altLang="zh-CN" sz="2800" dirty="0">
                <a:solidFill>
                  <a:srgbClr val="000099"/>
                </a:solidFill>
                <a:ea typeface="楷体_GB2312"/>
              </a:rPr>
              <a:t>=</a:t>
            </a:r>
            <a:r>
              <a:rPr lang="en-US" altLang="zh-CN" sz="2800" dirty="0">
                <a:solidFill>
                  <a:srgbClr val="000099"/>
                </a:solidFill>
                <a:ea typeface="Arial Unicode MS" panose="020B0604020202020204" charset="-122"/>
                <a:cs typeface="Arial Unicode MS" panose="020B0604020202020204" charset="-122"/>
              </a:rPr>
              <a:t>∑p</a:t>
            </a:r>
            <a:r>
              <a:rPr lang="en-US" altLang="zh-CN" sz="2800" baseline="-25000" dirty="0">
                <a:solidFill>
                  <a:srgbClr val="000099"/>
                </a:solidFill>
                <a:ea typeface="Arial Unicode MS" panose="020B0604020202020204" charset="-122"/>
                <a:cs typeface="Arial Unicode MS" panose="020B0604020202020204" charset="-122"/>
              </a:rPr>
              <a:t>i</a:t>
            </a:r>
            <a:r>
              <a:rPr lang="en-US" altLang="zh-CN" sz="2800" dirty="0">
                <a:solidFill>
                  <a:srgbClr val="000099"/>
                </a:solidFill>
                <a:ea typeface="Arial Unicode MS" panose="020B0604020202020204" charset="-122"/>
                <a:cs typeface="Arial Unicode MS" panose="020B0604020202020204" charset="-122"/>
              </a:rPr>
              <a:t>*(n-</a:t>
            </a:r>
            <a:r>
              <a:rPr lang="en-US" altLang="zh-CN" sz="2800" dirty="0" err="1">
                <a:solidFill>
                  <a:srgbClr val="000099"/>
                </a:solidFill>
                <a:ea typeface="Arial Unicode MS" panose="020B0604020202020204" charset="-122"/>
                <a:cs typeface="Arial Unicode MS" panose="020B0604020202020204" charset="-122"/>
              </a:rPr>
              <a:t>i</a:t>
            </a:r>
            <a:r>
              <a:rPr lang="en-US" altLang="zh-CN" sz="2800" dirty="0">
                <a:solidFill>
                  <a:srgbClr val="000099"/>
                </a:solidFill>
                <a:ea typeface="Arial Unicode MS" panose="020B0604020202020204" charset="-122"/>
                <a:cs typeface="Arial Unicode MS" panose="020B0604020202020204" charset="-122"/>
              </a:rPr>
              <a:t>)   </a:t>
            </a:r>
            <a:r>
              <a:rPr lang="en-US" altLang="zh-CN" sz="2800" dirty="0">
                <a:solidFill>
                  <a:srgbClr val="000099"/>
                </a:solidFill>
                <a:ea typeface="楷体_GB2312"/>
              </a:rPr>
              <a:t>(1≦i≦n)</a:t>
            </a:r>
          </a:p>
          <a:p>
            <a:pPr>
              <a:lnSpc>
                <a:spcPct val="110000"/>
              </a:lnSpc>
              <a:spcBef>
                <a:spcPct val="20000"/>
              </a:spcBef>
              <a:buClr>
                <a:schemeClr val="accent2"/>
              </a:buClr>
              <a:buSzPct val="80000"/>
              <a:buFontTx/>
              <a:buChar char="•"/>
            </a:pPr>
            <a:r>
              <a:rPr lang="en-US" altLang="zh-CN" sz="2800" dirty="0">
                <a:solidFill>
                  <a:srgbClr val="000099"/>
                </a:solidFill>
                <a:ea typeface="Arial Unicode MS" panose="020B0604020202020204" charset="-122"/>
                <a:cs typeface="Arial Unicode MS" panose="020B0604020202020204" charset="-122"/>
              </a:rPr>
              <a:t>∴ </a:t>
            </a:r>
            <a:r>
              <a:rPr lang="en-US" altLang="zh-CN" sz="2800" dirty="0" err="1">
                <a:solidFill>
                  <a:srgbClr val="000099"/>
                </a:solidFill>
                <a:ea typeface="楷体_GB2312"/>
              </a:rPr>
              <a:t>E</a:t>
            </a:r>
            <a:r>
              <a:rPr lang="en-US" altLang="zh-CN" sz="2800" baseline="-25000" dirty="0" err="1">
                <a:solidFill>
                  <a:srgbClr val="000099"/>
                </a:solidFill>
                <a:ea typeface="楷体_GB2312"/>
              </a:rPr>
              <a:t>delete</a:t>
            </a:r>
            <a:r>
              <a:rPr lang="en-US" altLang="zh-CN" sz="2800" dirty="0">
                <a:solidFill>
                  <a:srgbClr val="000099"/>
                </a:solidFill>
                <a:ea typeface="楷体_GB2312"/>
              </a:rPr>
              <a:t>=(n-1)/2 </a:t>
            </a:r>
            <a:r>
              <a:rPr lang="zh-CN" altLang="en-US" sz="2800" dirty="0">
                <a:solidFill>
                  <a:srgbClr val="000099"/>
                </a:solidFill>
                <a:latin typeface="宋体" panose="02010600030101010101" pitchFamily="2" charset="-122"/>
                <a:ea typeface="楷体_GB2312"/>
              </a:rPr>
              <a:t>。</a:t>
            </a:r>
            <a:endParaRPr lang="en-US" altLang="zh-CN" sz="2800" dirty="0">
              <a:solidFill>
                <a:srgbClr val="000099"/>
              </a:solidFill>
              <a:latin typeface="宋体" panose="02010600030101010101" pitchFamily="2" charset="-122"/>
              <a:ea typeface="楷体_GB2312"/>
            </a:endParaRPr>
          </a:p>
          <a:p>
            <a:pPr>
              <a:lnSpc>
                <a:spcPct val="110000"/>
              </a:lnSpc>
              <a:spcBef>
                <a:spcPct val="20000"/>
              </a:spcBef>
              <a:buClr>
                <a:schemeClr val="accent2"/>
              </a:buClr>
              <a:buSzPct val="80000"/>
              <a:buFont typeface="Wingdings" panose="05000000000000000000" pitchFamily="2" charset="2"/>
              <a:buNone/>
            </a:pPr>
            <a:r>
              <a:rPr lang="zh-CN" altLang="en-US" sz="2800" dirty="0">
                <a:solidFill>
                  <a:srgbClr val="FF0000"/>
                </a:solidFill>
                <a:ea typeface="楷体_GB2312"/>
              </a:rPr>
              <a:t>算法的平均时间复杂度为</a:t>
            </a:r>
            <a:r>
              <a:rPr lang="en-US" altLang="zh-CN" sz="2800" dirty="0">
                <a:solidFill>
                  <a:srgbClr val="FF0000"/>
                </a:solidFill>
                <a:ea typeface="楷体_GB2312"/>
              </a:rPr>
              <a:t>O(n)</a:t>
            </a:r>
            <a:r>
              <a:rPr lang="zh-CN" altLang="en-US" sz="2800" dirty="0">
                <a:solidFill>
                  <a:srgbClr val="FF0000"/>
                </a:solidFill>
                <a:ea typeface="楷体_GB2312"/>
              </a:rPr>
              <a:t>。</a:t>
            </a:r>
            <a:endParaRPr lang="zh-CN" altLang="en-US" sz="2800" dirty="0">
              <a:solidFill>
                <a:srgbClr val="FF0000"/>
              </a:solidFill>
              <a:latin typeface="宋体" panose="02010600030101010101" pitchFamily="2" charset="-122"/>
              <a:ea typeface="楷体_GB2312"/>
            </a:endParaRPr>
          </a:p>
          <a:p>
            <a:pPr>
              <a:lnSpc>
                <a:spcPct val="110000"/>
              </a:lnSpc>
              <a:spcBef>
                <a:spcPct val="20000"/>
              </a:spcBef>
              <a:buClr>
                <a:schemeClr val="accent2"/>
              </a:buClr>
              <a:buSzPct val="80000"/>
              <a:buFont typeface="Wingdings" panose="05000000000000000000" pitchFamily="2" charset="2"/>
              <a:buNone/>
            </a:pPr>
            <a:r>
              <a:rPr lang="zh-CN" altLang="en-US" sz="2800" dirty="0">
                <a:solidFill>
                  <a:srgbClr val="000099"/>
                </a:solidFill>
                <a:ea typeface="楷体_GB2312"/>
              </a:rPr>
              <a:t>顺序表上做删除运算，平均要移动表中一半结点。当表长</a:t>
            </a:r>
            <a:r>
              <a:rPr lang="en-US" altLang="zh-CN" sz="2800" dirty="0">
                <a:solidFill>
                  <a:srgbClr val="000099"/>
                </a:solidFill>
                <a:ea typeface="楷体_GB2312"/>
              </a:rPr>
              <a:t>n</a:t>
            </a:r>
            <a:r>
              <a:rPr lang="zh-CN" altLang="en-US" sz="2800" dirty="0">
                <a:solidFill>
                  <a:srgbClr val="000099"/>
                </a:solidFill>
                <a:ea typeface="楷体_GB2312"/>
              </a:rPr>
              <a:t>较大时，算法的效率相当低。</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animEffect transition="in" filter="fade">
                                      <p:cBhvr>
                                        <p:cTn id="7" dur="2000"/>
                                        <p:tgtEl>
                                          <p:spTgt spid="727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2707">
                                            <p:txEl>
                                              <p:pRg st="1" end="1"/>
                                            </p:txEl>
                                          </p:spTgt>
                                        </p:tgtEl>
                                        <p:attrNameLst>
                                          <p:attrName>style.visibility</p:attrName>
                                        </p:attrNameLst>
                                      </p:cBhvr>
                                      <p:to>
                                        <p:strVal val="visible"/>
                                      </p:to>
                                    </p:set>
                                    <p:animEffect transition="in" filter="fade">
                                      <p:cBhvr>
                                        <p:cTn id="12" dur="2000"/>
                                        <p:tgtEl>
                                          <p:spTgt spid="727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2707">
                                            <p:txEl>
                                              <p:pRg st="2" end="2"/>
                                            </p:txEl>
                                          </p:spTgt>
                                        </p:tgtEl>
                                        <p:attrNameLst>
                                          <p:attrName>style.visibility</p:attrName>
                                        </p:attrNameLst>
                                      </p:cBhvr>
                                      <p:to>
                                        <p:strVal val="visible"/>
                                      </p:to>
                                    </p:set>
                                    <p:animEffect transition="in" filter="fade">
                                      <p:cBhvr>
                                        <p:cTn id="17" dur="2000"/>
                                        <p:tgtEl>
                                          <p:spTgt spid="727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2707">
                                            <p:txEl>
                                              <p:pRg st="3" end="3"/>
                                            </p:txEl>
                                          </p:spTgt>
                                        </p:tgtEl>
                                        <p:attrNameLst>
                                          <p:attrName>style.visibility</p:attrName>
                                        </p:attrNameLst>
                                      </p:cBhvr>
                                      <p:to>
                                        <p:strVal val="visible"/>
                                      </p:to>
                                    </p:set>
                                    <p:animEffect transition="in" filter="fade">
                                      <p:cBhvr>
                                        <p:cTn id="22" dur="2000"/>
                                        <p:tgtEl>
                                          <p:spTgt spid="727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2707">
                                            <p:txEl>
                                              <p:pRg st="4" end="4"/>
                                            </p:txEl>
                                          </p:spTgt>
                                        </p:tgtEl>
                                        <p:attrNameLst>
                                          <p:attrName>style.visibility</p:attrName>
                                        </p:attrNameLst>
                                      </p:cBhvr>
                                      <p:to>
                                        <p:strVal val="visible"/>
                                      </p:to>
                                    </p:set>
                                    <p:animEffect transition="in" filter="fade">
                                      <p:cBhvr>
                                        <p:cTn id="27" dur="2000"/>
                                        <p:tgtEl>
                                          <p:spTgt spid="727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2707">
                                            <p:txEl>
                                              <p:pRg st="5" end="5"/>
                                            </p:txEl>
                                          </p:spTgt>
                                        </p:tgtEl>
                                        <p:attrNameLst>
                                          <p:attrName>style.visibility</p:attrName>
                                        </p:attrNameLst>
                                      </p:cBhvr>
                                      <p:to>
                                        <p:strVal val="visible"/>
                                      </p:to>
                                    </p:set>
                                    <p:animEffect transition="in" filter="fade">
                                      <p:cBhvr>
                                        <p:cTn id="32" dur="2000"/>
                                        <p:tgtEl>
                                          <p:spTgt spid="7270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2707">
                                            <p:txEl>
                                              <p:pRg st="6" end="6"/>
                                            </p:txEl>
                                          </p:spTgt>
                                        </p:tgtEl>
                                        <p:attrNameLst>
                                          <p:attrName>style.visibility</p:attrName>
                                        </p:attrNameLst>
                                      </p:cBhvr>
                                      <p:to>
                                        <p:strVal val="visible"/>
                                      </p:to>
                                    </p:set>
                                    <p:animEffect transition="in" filter="fade">
                                      <p:cBhvr>
                                        <p:cTn id="37" dur="2000"/>
                                        <p:tgtEl>
                                          <p:spTgt spid="727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ChangeArrowheads="1"/>
          </p:cNvSpPr>
          <p:nvPr/>
        </p:nvSpPr>
        <p:spPr bwMode="auto">
          <a:xfrm>
            <a:off x="1524000" y="1773238"/>
            <a:ext cx="9144000" cy="792162"/>
          </a:xfrm>
          <a:prstGeom prst="rect">
            <a:avLst/>
          </a:prstGeom>
          <a:noFill/>
          <a:ln w="9525">
            <a:noFill/>
            <a:miter lim="800000"/>
          </a:ln>
          <a:effectLst/>
        </p:spPr>
        <p:txBody>
          <a:bodyPr/>
          <a:lstStyle/>
          <a:p>
            <a:pPr marL="342900" indent="-342900" algn="ctr">
              <a:spcBef>
                <a:spcPct val="20000"/>
              </a:spcBef>
              <a:defRPr/>
            </a:pPr>
            <a:r>
              <a:rPr lang="zh-CN" altLang="en-US" sz="4400" dirty="0">
                <a:solidFill>
                  <a:schemeClr val="hlink"/>
                </a:solidFill>
                <a:effectLst>
                  <a:outerShdw blurRad="38100" dist="38100" dir="2700000" algn="tl">
                    <a:srgbClr val="C0C0C0"/>
                  </a:outerShdw>
                </a:effectLst>
                <a:latin typeface="Times New Roman" panose="02020603050405020304" pitchFamily="18" charset="0"/>
                <a:ea typeface="楷体_GB2312" pitchFamily="49" charset="-122"/>
                <a:cs typeface="+mn-cs"/>
              </a:rPr>
              <a:t>线性表的链式表示和实现</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53634">
                                            <p:txEl>
                                              <p:pRg st="0" end="0"/>
                                            </p:txEl>
                                          </p:spTgt>
                                        </p:tgtEl>
                                        <p:attrNameLst>
                                          <p:attrName>style.visibility</p:attrName>
                                        </p:attrNameLst>
                                      </p:cBhvr>
                                      <p:to>
                                        <p:strVal val="visible"/>
                                      </p:to>
                                    </p:set>
                                    <p:anim calcmode="lin" valueType="num">
                                      <p:cBhvr additive="base">
                                        <p:cTn id="7" dur="500" fill="hold"/>
                                        <p:tgtEl>
                                          <p:spTgt spid="45363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5363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4"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p:cNvSpPr>
          <p:nvPr>
            <p:ph type="title"/>
          </p:nvPr>
        </p:nvSpPr>
        <p:spPr/>
        <p:txBody>
          <a:bodyPr/>
          <a:lstStyle/>
          <a:p>
            <a:pPr eaLnBrk="1" hangingPunct="1"/>
            <a:r>
              <a:t>链式存储</a:t>
            </a:r>
          </a:p>
        </p:txBody>
      </p:sp>
      <p:sp>
        <p:nvSpPr>
          <p:cNvPr id="3" name="内容占位符 2"/>
          <p:cNvSpPr>
            <a:spLocks noGrp="1"/>
          </p:cNvSpPr>
          <p:nvPr>
            <p:ph idx="1"/>
          </p:nvPr>
        </p:nvSpPr>
        <p:spPr>
          <a:xfrm>
            <a:off x="407368" y="1341438"/>
            <a:ext cx="11449272" cy="4754562"/>
          </a:xfrm>
        </p:spPr>
        <p:txBody>
          <a:bodyPr>
            <a:noAutofit/>
          </a:bodyPr>
          <a:lstStyle/>
          <a:p>
            <a:pPr marL="0" indent="0" eaLnBrk="1" hangingPunct="1">
              <a:lnSpc>
                <a:spcPct val="110000"/>
              </a:lnSpc>
              <a:buClr>
                <a:schemeClr val="accent2"/>
              </a:buClr>
              <a:buSzPct val="80000"/>
              <a:buNone/>
            </a:pPr>
            <a:r>
              <a:rPr lang="zh-CN" altLang="en-US" dirty="0">
                <a:latin typeface="华文新魏" panose="02010800040101010101" pitchFamily="2" charset="-122"/>
                <a:ea typeface="华文新魏" panose="02010800040101010101" pitchFamily="2" charset="-122"/>
              </a:rPr>
              <a:t>用</a:t>
            </a:r>
            <a:r>
              <a:rPr lang="zh-CN" altLang="en-US" dirty="0">
                <a:solidFill>
                  <a:schemeClr val="tx2"/>
                </a:solidFill>
                <a:latin typeface="华文新魏" panose="02010800040101010101" pitchFamily="2" charset="-122"/>
                <a:ea typeface="华文新魏" panose="02010800040101010101" pitchFamily="2" charset="-122"/>
              </a:rPr>
              <a:t>一组任意的存储单元存储</a:t>
            </a:r>
            <a:r>
              <a:rPr lang="zh-CN" altLang="en-US" dirty="0">
                <a:latin typeface="华文新魏" panose="02010800040101010101" pitchFamily="2" charset="-122"/>
                <a:ea typeface="华文新魏" panose="02010800040101010101" pitchFamily="2" charset="-122"/>
              </a:rPr>
              <a:t>线性表中的数据元素。用这种方法存储的线性表简称</a:t>
            </a:r>
            <a:r>
              <a:rPr lang="zh-CN" altLang="en-US" dirty="0">
                <a:solidFill>
                  <a:srgbClr val="008000"/>
                </a:solidFill>
                <a:latin typeface="华文新魏" panose="02010800040101010101" pitchFamily="2" charset="-122"/>
                <a:ea typeface="华文新魏" panose="02010800040101010101" pitchFamily="2" charset="-122"/>
              </a:rPr>
              <a:t>线性链表</a:t>
            </a:r>
            <a:r>
              <a:rPr lang="zh-CN" altLang="en-US" dirty="0">
                <a:latin typeface="华文新魏" panose="02010800040101010101" pitchFamily="2" charset="-122"/>
                <a:ea typeface="华文新魏" panose="02010800040101010101" pitchFamily="2" charset="-122"/>
              </a:rPr>
              <a:t>。</a:t>
            </a:r>
            <a:endParaRPr lang="en-US" altLang="zh-CN" dirty="0">
              <a:latin typeface="华文新魏" panose="02010800040101010101" pitchFamily="2" charset="-122"/>
              <a:ea typeface="华文新魏" panose="02010800040101010101" pitchFamily="2" charset="-122"/>
            </a:endParaRPr>
          </a:p>
          <a:p>
            <a:pPr marL="0" indent="0" eaLnBrk="1" hangingPunct="1">
              <a:lnSpc>
                <a:spcPct val="110000"/>
              </a:lnSpc>
              <a:buClr>
                <a:schemeClr val="accent2"/>
              </a:buClr>
              <a:buSzPct val="80000"/>
              <a:buNone/>
            </a:pPr>
            <a:endParaRPr lang="zh-CN" altLang="en-US" dirty="0">
              <a:latin typeface="华文新魏" panose="02010800040101010101" pitchFamily="2" charset="-122"/>
              <a:ea typeface="华文新魏" panose="02010800040101010101" pitchFamily="2" charset="-122"/>
            </a:endParaRPr>
          </a:p>
          <a:p>
            <a:pPr marL="0" indent="0" eaLnBrk="1" hangingPunct="1">
              <a:lnSpc>
                <a:spcPct val="110000"/>
              </a:lnSpc>
              <a:buClr>
                <a:schemeClr val="accent2"/>
              </a:buClr>
              <a:buSzPct val="80000"/>
              <a:buNone/>
            </a:pPr>
            <a:r>
              <a:rPr lang="zh-CN" altLang="en-US" dirty="0">
                <a:latin typeface="华文新魏" panose="02010800040101010101" pitchFamily="2" charset="-122"/>
                <a:ea typeface="华文新魏" panose="02010800040101010101" pitchFamily="2" charset="-122"/>
              </a:rPr>
              <a:t>存储链表中结点的一组任意的存储单元可以是连续的，也可以是不连续的，甚至是零散分布在内存中的任意位置上的。</a:t>
            </a:r>
            <a:endParaRPr lang="en-US" altLang="zh-CN" dirty="0">
              <a:latin typeface="华文新魏" panose="02010800040101010101" pitchFamily="2" charset="-122"/>
              <a:ea typeface="华文新魏" panose="02010800040101010101" pitchFamily="2" charset="-122"/>
            </a:endParaRPr>
          </a:p>
          <a:p>
            <a:pPr marL="0" indent="0" eaLnBrk="1" hangingPunct="1">
              <a:lnSpc>
                <a:spcPct val="110000"/>
              </a:lnSpc>
              <a:buClr>
                <a:schemeClr val="accent2"/>
              </a:buClr>
              <a:buSzPct val="80000"/>
              <a:buNone/>
            </a:pPr>
            <a:endParaRPr lang="en-US" altLang="zh-CN" dirty="0">
              <a:latin typeface="华文新魏" panose="02010800040101010101" pitchFamily="2" charset="-122"/>
              <a:ea typeface="华文新魏" panose="02010800040101010101" pitchFamily="2" charset="-122"/>
            </a:endParaRPr>
          </a:p>
          <a:p>
            <a:pPr marL="0" indent="0" eaLnBrk="1" hangingPunct="1">
              <a:lnSpc>
                <a:spcPct val="110000"/>
              </a:lnSpc>
              <a:buClr>
                <a:schemeClr val="accent2"/>
              </a:buClr>
              <a:buSzPct val="80000"/>
              <a:buNone/>
            </a:pPr>
            <a:r>
              <a:rPr lang="zh-CN" altLang="en-US" dirty="0">
                <a:latin typeface="华文新魏" panose="02010800040101010101" pitchFamily="2" charset="-122"/>
                <a:ea typeface="华文新魏" panose="02010800040101010101" pitchFamily="2" charset="-122"/>
              </a:rPr>
              <a:t>链表中结点的逻辑顺序和物理顺序不一定相同。</a:t>
            </a:r>
            <a:endParaRPr lang="en-US" altLang="zh-CN" dirty="0">
              <a:latin typeface="华文新魏" panose="02010800040101010101" pitchFamily="2" charset="-122"/>
              <a:ea typeface="华文新魏" panose="02010800040101010101" pitchFamily="2" charset="-122"/>
            </a:endParaRPr>
          </a:p>
          <a:p>
            <a:pPr marL="0" indent="0" algn="ctr" eaLnBrk="1" hangingPunct="1">
              <a:lnSpc>
                <a:spcPct val="110000"/>
              </a:lnSpc>
              <a:buClr>
                <a:schemeClr val="accent2"/>
              </a:buClr>
              <a:buSzPct val="80000"/>
              <a:buNone/>
            </a:pPr>
            <a:r>
              <a:rPr lang="zh-CN" altLang="en-US" sz="3200" dirty="0">
                <a:solidFill>
                  <a:srgbClr val="C00000"/>
                </a:solidFill>
                <a:latin typeface="华文新魏" panose="02010800040101010101" pitchFamily="2" charset="-122"/>
                <a:ea typeface="华文新魏" panose="02010800040101010101" pitchFamily="2" charset="-122"/>
              </a:rPr>
              <a:t>正确表示结点间的逻辑关系？？</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1"/>
          <p:cNvSpPr>
            <a:spLocks noGrp="1"/>
          </p:cNvSpPr>
          <p:nvPr>
            <p:ph type="title"/>
          </p:nvPr>
        </p:nvSpPr>
        <p:spPr/>
        <p:txBody>
          <a:bodyPr/>
          <a:lstStyle/>
          <a:p>
            <a:pPr eaLnBrk="1" hangingPunct="1"/>
            <a:endParaRPr/>
          </a:p>
        </p:txBody>
      </p:sp>
      <p:sp>
        <p:nvSpPr>
          <p:cNvPr id="3" name="内容占位符 2"/>
          <p:cNvSpPr>
            <a:spLocks noGrp="1"/>
          </p:cNvSpPr>
          <p:nvPr>
            <p:ph idx="1"/>
          </p:nvPr>
        </p:nvSpPr>
        <p:spPr/>
        <p:txBody>
          <a:bodyPr>
            <a:normAutofit/>
          </a:bodyPr>
          <a:lstStyle/>
          <a:p>
            <a:pPr marL="0" indent="0" eaLnBrk="1" hangingPunct="1">
              <a:lnSpc>
                <a:spcPct val="110000"/>
              </a:lnSpc>
              <a:buNone/>
              <a:defRPr/>
            </a:pPr>
            <a:r>
              <a:rPr lang="zh-CN" altLang="en-US" dirty="0">
                <a:latin typeface="宋体" panose="02010600030101010101" pitchFamily="2" charset="-122"/>
                <a:cs typeface="+mn-cs"/>
              </a:rPr>
              <a:t>在存储每个结点</a:t>
            </a:r>
            <a:r>
              <a:rPr lang="zh-CN" altLang="en-US" sz="3200" dirty="0">
                <a:solidFill>
                  <a:srgbClr val="FF0000"/>
                </a:solidFill>
                <a:latin typeface="宋体" panose="02010600030101010101" pitchFamily="2" charset="-122"/>
                <a:cs typeface="+mn-cs"/>
              </a:rPr>
              <a:t>值</a:t>
            </a:r>
            <a:r>
              <a:rPr lang="zh-CN" altLang="en-US" dirty="0">
                <a:latin typeface="宋体" panose="02010600030101010101" pitchFamily="2" charset="-122"/>
                <a:cs typeface="+mn-cs"/>
              </a:rPr>
              <a:t>的同时，还必须存储指示其直接</a:t>
            </a:r>
            <a:r>
              <a:rPr lang="zh-CN" altLang="en-US" sz="3200" dirty="0">
                <a:solidFill>
                  <a:srgbClr val="FF0000"/>
                </a:solidFill>
                <a:latin typeface="宋体" panose="02010600030101010101" pitchFamily="2" charset="-122"/>
                <a:cs typeface="+mn-cs"/>
              </a:rPr>
              <a:t>后继结点的地址</a:t>
            </a:r>
            <a:r>
              <a:rPr lang="en-US" altLang="zh-CN" dirty="0">
                <a:latin typeface="宋体" panose="02010600030101010101" pitchFamily="2" charset="-122"/>
                <a:cs typeface="+mn-cs"/>
              </a:rPr>
              <a:t>(</a:t>
            </a:r>
            <a:r>
              <a:rPr lang="zh-CN" altLang="en-US" dirty="0">
                <a:latin typeface="宋体" panose="02010600030101010101" pitchFamily="2" charset="-122"/>
                <a:cs typeface="+mn-cs"/>
              </a:rPr>
              <a:t>或位置</a:t>
            </a:r>
            <a:r>
              <a:rPr lang="en-US" altLang="zh-CN" dirty="0">
                <a:latin typeface="宋体" panose="02010600030101010101" pitchFamily="2" charset="-122"/>
                <a:cs typeface="+mn-cs"/>
              </a:rPr>
              <a:t>)</a:t>
            </a:r>
            <a:r>
              <a:rPr lang="zh-CN" altLang="en-US" dirty="0">
                <a:latin typeface="宋体" panose="02010600030101010101" pitchFamily="2" charset="-122"/>
                <a:cs typeface="+mn-cs"/>
              </a:rPr>
              <a:t>，称为指针</a:t>
            </a:r>
            <a:r>
              <a:rPr lang="en-US" altLang="zh-CN" dirty="0">
                <a:cs typeface="+mn-cs"/>
              </a:rPr>
              <a:t>(pointer)</a:t>
            </a:r>
            <a:r>
              <a:rPr lang="zh-CN" altLang="en-US" dirty="0">
                <a:latin typeface="宋体" panose="02010600030101010101" pitchFamily="2" charset="-122"/>
                <a:cs typeface="+mn-cs"/>
              </a:rPr>
              <a:t>或链</a:t>
            </a:r>
            <a:r>
              <a:rPr lang="en-US" altLang="zh-CN" dirty="0">
                <a:cs typeface="+mn-cs"/>
              </a:rPr>
              <a:t>(link)</a:t>
            </a:r>
            <a:r>
              <a:rPr lang="zh-CN" altLang="en-US" dirty="0">
                <a:latin typeface="宋体" panose="02010600030101010101" pitchFamily="2" charset="-122"/>
                <a:cs typeface="+mn-cs"/>
              </a:rPr>
              <a:t>，这两部分组成了链表中的结点结构</a:t>
            </a:r>
          </a:p>
          <a:p>
            <a:pPr marL="0" indent="0" eaLnBrk="1" hangingPunct="1">
              <a:lnSpc>
                <a:spcPct val="110000"/>
              </a:lnSpc>
              <a:buNone/>
              <a:defRPr/>
            </a:pPr>
            <a:r>
              <a:rPr lang="zh-CN" altLang="en-US" dirty="0">
                <a:latin typeface="宋体" panose="02010600030101010101" pitchFamily="2" charset="-122"/>
                <a:cs typeface="+mn-cs"/>
              </a:rPr>
              <a:t>链表是通过每个结点的指针域将线性表的</a:t>
            </a:r>
            <a:r>
              <a:rPr lang="en-US" altLang="zh-CN" dirty="0">
                <a:cs typeface="+mn-cs"/>
              </a:rPr>
              <a:t>n</a:t>
            </a:r>
            <a:r>
              <a:rPr lang="zh-CN" altLang="en-US" dirty="0">
                <a:latin typeface="宋体" panose="02010600030101010101" pitchFamily="2" charset="-122"/>
                <a:cs typeface="+mn-cs"/>
              </a:rPr>
              <a:t>个结点按其逻辑次序链接在一起的。</a:t>
            </a:r>
            <a:endParaRPr lang="en-US" altLang="zh-CN" dirty="0">
              <a:latin typeface="宋体" panose="02010600030101010101" pitchFamily="2" charset="-122"/>
              <a:cs typeface="+mn-cs"/>
            </a:endParaRPr>
          </a:p>
          <a:p>
            <a:pPr marL="0" indent="0" eaLnBrk="1" hangingPunct="1">
              <a:lnSpc>
                <a:spcPct val="110000"/>
              </a:lnSpc>
              <a:buNone/>
              <a:defRPr/>
            </a:pPr>
            <a:endParaRPr lang="en-US" altLang="zh-CN" dirty="0">
              <a:latin typeface="宋体" panose="02010600030101010101" pitchFamily="2" charset="-122"/>
              <a:cs typeface="+mn-cs"/>
            </a:endParaRPr>
          </a:p>
          <a:p>
            <a:pPr marL="0" indent="0" eaLnBrk="1" hangingPunct="1">
              <a:lnSpc>
                <a:spcPct val="110000"/>
              </a:lnSpc>
              <a:buNone/>
              <a:defRPr/>
            </a:pPr>
            <a:endParaRPr lang="en-US" altLang="zh-CN" dirty="0">
              <a:latin typeface="宋体" panose="02010600030101010101" pitchFamily="2" charset="-122"/>
              <a:cs typeface="+mn-cs"/>
            </a:endParaRPr>
          </a:p>
          <a:p>
            <a:pPr marL="0" indent="0" eaLnBrk="1" hangingPunct="1">
              <a:lnSpc>
                <a:spcPct val="110000"/>
              </a:lnSpc>
              <a:buNone/>
              <a:defRPr/>
            </a:pPr>
            <a:endParaRPr lang="en-US" altLang="zh-CN" dirty="0">
              <a:latin typeface="宋体" panose="02010600030101010101" pitchFamily="2" charset="-122"/>
              <a:cs typeface="+mn-cs"/>
            </a:endParaRPr>
          </a:p>
          <a:p>
            <a:pPr eaLnBrk="1" hangingPunct="1">
              <a:defRPr/>
            </a:pPr>
            <a:endParaRPr lang="zh-CN" altLang="en-US" dirty="0">
              <a:cs typeface="+mn-cs"/>
            </a:endParaRPr>
          </a:p>
        </p:txBody>
      </p:sp>
    </p:spTree>
  </p:cSld>
  <p:clrMapOvr>
    <a:masterClrMapping/>
  </p:clrMapOvr>
  <p:transition>
    <p:strips dir="rd"/>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4" name="Rectangle 6"/>
          <p:cNvSpPr>
            <a:spLocks noChangeArrowheads="1"/>
          </p:cNvSpPr>
          <p:nvPr/>
        </p:nvSpPr>
        <p:spPr bwMode="auto">
          <a:xfrm>
            <a:off x="1524001" y="2133600"/>
            <a:ext cx="8964613" cy="1557338"/>
          </a:xfrm>
          <a:prstGeom prst="rect">
            <a:avLst/>
          </a:prstGeom>
          <a:noFill/>
          <a:ln w="9525">
            <a:noFill/>
            <a:miter lim="800000"/>
          </a:ln>
          <a:effectLst/>
        </p:spPr>
        <p:txBody>
          <a:bodyPr anchor="ctr"/>
          <a:lstStyle/>
          <a:p>
            <a:pPr algn="ctr">
              <a:lnSpc>
                <a:spcPct val="90000"/>
              </a:lnSpc>
              <a:defRPr/>
            </a:pPr>
            <a:r>
              <a:rPr lang="zh-CN" altLang="en-US" sz="5400">
                <a:solidFill>
                  <a:srgbClr val="000099"/>
                </a:solidFill>
                <a:effectLst>
                  <a:outerShdw blurRad="38100" dist="38100" dir="2700000" algn="tl">
                    <a:srgbClr val="C0C0C0"/>
                  </a:outerShdw>
                </a:effectLst>
                <a:latin typeface="Times New Roman" panose="02020603050405020304" pitchFamily="18" charset="0"/>
                <a:ea typeface="楷体_GB2312" pitchFamily="49" charset="-122"/>
                <a:cs typeface="+mn-cs"/>
              </a:rPr>
              <a:t>一、单链表</a:t>
            </a:r>
            <a:br>
              <a:rPr lang="zh-CN" altLang="en-US" sz="5400">
                <a:solidFill>
                  <a:srgbClr val="000099"/>
                </a:solidFill>
                <a:effectLst>
                  <a:outerShdw blurRad="38100" dist="38100" dir="2700000" algn="tl">
                    <a:srgbClr val="C0C0C0"/>
                  </a:outerShdw>
                </a:effectLst>
                <a:latin typeface="Times New Roman" panose="02020603050405020304" pitchFamily="18" charset="0"/>
                <a:ea typeface="楷体_GB2312" pitchFamily="49" charset="-122"/>
                <a:cs typeface="+mn-cs"/>
              </a:rPr>
            </a:br>
            <a:r>
              <a:rPr lang="zh-CN" altLang="zh-CN" sz="5400">
                <a:solidFill>
                  <a:srgbClr val="000099"/>
                </a:solidFill>
                <a:effectLst>
                  <a:outerShdw blurRad="38100" dist="38100" dir="2700000" algn="tl">
                    <a:srgbClr val="C0C0C0"/>
                  </a:outerShdw>
                </a:effectLst>
                <a:latin typeface="Times New Roman" panose="02020603050405020304" pitchFamily="18" charset="0"/>
                <a:ea typeface="楷体_GB2312" pitchFamily="49" charset="-122"/>
                <a:cs typeface="+mn-cs"/>
              </a:rPr>
              <a:t>(</a:t>
            </a:r>
            <a:r>
              <a:rPr lang="en-US" altLang="zh-CN" sz="5400">
                <a:solidFill>
                  <a:srgbClr val="000099"/>
                </a:solidFill>
                <a:effectLst>
                  <a:outerShdw blurRad="38100" dist="38100" dir="2700000" algn="tl">
                    <a:srgbClr val="C0C0C0"/>
                  </a:outerShdw>
                </a:effectLst>
                <a:latin typeface="Times New Roman" panose="02020603050405020304" pitchFamily="18" charset="0"/>
                <a:ea typeface="楷体_GB2312" pitchFamily="49" charset="-122"/>
                <a:cs typeface="+mn-cs"/>
              </a:rPr>
              <a:t>Singly Linked List)</a:t>
            </a:r>
          </a:p>
        </p:txBody>
      </p:sp>
      <p:sp>
        <p:nvSpPr>
          <p:cNvPr id="498697" name="Rectangle 9"/>
          <p:cNvSpPr>
            <a:spLocks noChangeArrowheads="1"/>
          </p:cNvSpPr>
          <p:nvPr/>
        </p:nvSpPr>
        <p:spPr bwMode="auto">
          <a:xfrm>
            <a:off x="1524001" y="2710549"/>
            <a:ext cx="184731" cy="646331"/>
          </a:xfrm>
          <a:prstGeom prst="rect">
            <a:avLst/>
          </a:prstGeom>
          <a:noFill/>
          <a:ln w="9525">
            <a:noFill/>
            <a:miter lim="800000"/>
          </a:ln>
          <a:effectLst/>
        </p:spPr>
        <p:txBody>
          <a:bodyPr wrap="none" anchor="ctr">
            <a:spAutoFit/>
          </a:bodyP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Tree>
  </p:cSld>
  <p:clrMapOvr>
    <a:masterClrMapping/>
  </p:clrMapOvr>
  <p:transition>
    <p:strips dir="rd"/>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Text Box 2"/>
          <p:cNvSpPr txBox="1">
            <a:spLocks noChangeArrowheads="1"/>
          </p:cNvSpPr>
          <p:nvPr/>
        </p:nvSpPr>
        <p:spPr bwMode="auto">
          <a:xfrm>
            <a:off x="479376" y="1384300"/>
            <a:ext cx="11233248" cy="757130"/>
          </a:xfrm>
          <a:prstGeom prst="rect">
            <a:avLst/>
          </a:prstGeom>
          <a:noFill/>
          <a:ln w="9525">
            <a:noFill/>
            <a:miter lim="800000"/>
          </a:ln>
        </p:spPr>
        <p:txBody>
          <a:bodyPr wrap="square">
            <a:spAutoFit/>
          </a:bodyPr>
          <a:lstStyle/>
          <a:p>
            <a:pPr>
              <a:lnSpc>
                <a:spcPct val="90000"/>
              </a:lnSpc>
            </a:pPr>
            <a:r>
              <a:rPr lang="en-US" altLang="zh-CN" sz="4800" dirty="0">
                <a:solidFill>
                  <a:schemeClr val="tx1"/>
                </a:solidFill>
                <a:latin typeface="Times New Roman" panose="02020603050405020304" pitchFamily="18" charset="0"/>
                <a:ea typeface="楷体_GB2312"/>
              </a:rPr>
              <a:t> </a:t>
            </a:r>
            <a:r>
              <a:rPr lang="en-US" altLang="zh-CN" sz="2400" dirty="0">
                <a:solidFill>
                  <a:schemeClr val="tx1"/>
                </a:solidFill>
                <a:latin typeface="Times New Roman" panose="02020603050405020304" pitchFamily="18" charset="0"/>
                <a:ea typeface="楷体_GB2312"/>
              </a:rPr>
              <a:t>    </a:t>
            </a:r>
            <a:r>
              <a:rPr lang="zh-CN" altLang="en-US" b="0" dirty="0">
                <a:solidFill>
                  <a:srgbClr val="000099"/>
                </a:solidFill>
                <a:latin typeface="Times New Roman" panose="02020603050405020304" pitchFamily="18" charset="0"/>
                <a:ea typeface="楷体_GB2312"/>
              </a:rPr>
              <a:t>用一组</a:t>
            </a:r>
            <a:r>
              <a:rPr lang="zh-CN" altLang="en-US" dirty="0">
                <a:solidFill>
                  <a:srgbClr val="0000FF"/>
                </a:solidFill>
                <a:latin typeface="Times New Roman" panose="02020603050405020304" pitchFamily="18" charset="0"/>
                <a:ea typeface="楷体_GB2312"/>
              </a:rPr>
              <a:t>地址任意</a:t>
            </a:r>
            <a:r>
              <a:rPr lang="zh-CN" altLang="en-US" b="0" dirty="0">
                <a:solidFill>
                  <a:srgbClr val="000099"/>
                </a:solidFill>
                <a:latin typeface="Times New Roman" panose="02020603050405020304" pitchFamily="18" charset="0"/>
                <a:ea typeface="楷体_GB2312"/>
              </a:rPr>
              <a:t>的存储单元</a:t>
            </a:r>
            <a:r>
              <a:rPr lang="zh-CN" altLang="en-US" dirty="0">
                <a:solidFill>
                  <a:srgbClr val="000099"/>
                </a:solidFill>
                <a:latin typeface="Times New Roman" panose="02020603050405020304" pitchFamily="18" charset="0"/>
                <a:ea typeface="楷体_GB2312"/>
              </a:rPr>
              <a:t>存放</a:t>
            </a:r>
            <a:r>
              <a:rPr lang="zh-CN" altLang="en-US" b="0" dirty="0">
                <a:solidFill>
                  <a:srgbClr val="000099"/>
                </a:solidFill>
                <a:latin typeface="Times New Roman" panose="02020603050405020304" pitchFamily="18" charset="0"/>
                <a:ea typeface="楷体_GB2312"/>
              </a:rPr>
              <a:t>线性表中的数据元素。</a:t>
            </a:r>
            <a:endParaRPr lang="zh-CN" altLang="en-US" b="0" dirty="0">
              <a:solidFill>
                <a:schemeClr val="tx1"/>
              </a:solidFill>
              <a:latin typeface="Times New Roman" panose="02020603050405020304" pitchFamily="18" charset="0"/>
              <a:ea typeface="楷体_GB2312"/>
            </a:endParaRPr>
          </a:p>
        </p:txBody>
      </p:sp>
      <p:sp>
        <p:nvSpPr>
          <p:cNvPr id="504835" name="Text Box 3"/>
          <p:cNvSpPr txBox="1">
            <a:spLocks noChangeArrowheads="1"/>
          </p:cNvSpPr>
          <p:nvPr/>
        </p:nvSpPr>
        <p:spPr bwMode="auto">
          <a:xfrm>
            <a:off x="983432" y="2608263"/>
            <a:ext cx="10729192" cy="590931"/>
          </a:xfrm>
          <a:prstGeom prst="rect">
            <a:avLst/>
          </a:prstGeom>
          <a:noFill/>
          <a:ln w="9525">
            <a:noFill/>
            <a:miter lim="800000"/>
          </a:ln>
        </p:spPr>
        <p:txBody>
          <a:bodyPr wrap="square">
            <a:spAutoFit/>
          </a:bodyPr>
          <a:lstStyle/>
          <a:p>
            <a:pPr>
              <a:lnSpc>
                <a:spcPct val="90000"/>
              </a:lnSpc>
            </a:pPr>
            <a:r>
              <a:rPr lang="zh-CN" altLang="en-US" sz="3200" b="0" dirty="0">
                <a:solidFill>
                  <a:srgbClr val="000099"/>
                </a:solidFill>
                <a:latin typeface="Times New Roman" panose="02020603050405020304" pitchFamily="18" charset="0"/>
                <a:ea typeface="楷体_GB2312"/>
              </a:rPr>
              <a:t>以</a:t>
            </a:r>
            <a:r>
              <a:rPr lang="en-US" altLang="zh-CN" dirty="0">
                <a:solidFill>
                  <a:srgbClr val="0000FF"/>
                </a:solidFill>
                <a:latin typeface="Times New Roman" panose="02020603050405020304" pitchFamily="18" charset="0"/>
                <a:ea typeface="楷体_GB2312"/>
              </a:rPr>
              <a:t>data</a:t>
            </a:r>
            <a:r>
              <a:rPr lang="en-US" altLang="zh-CN" sz="3200" b="0" dirty="0">
                <a:solidFill>
                  <a:srgbClr val="000099"/>
                </a:solidFill>
                <a:latin typeface="Times New Roman" panose="02020603050405020304" pitchFamily="18" charset="0"/>
                <a:ea typeface="楷体_GB2312"/>
              </a:rPr>
              <a:t>(</a:t>
            </a:r>
            <a:r>
              <a:rPr lang="zh-CN" altLang="en-US" sz="3200" dirty="0">
                <a:solidFill>
                  <a:srgbClr val="000099"/>
                </a:solidFill>
                <a:latin typeface="Times New Roman" panose="02020603050405020304" pitchFamily="18" charset="0"/>
                <a:ea typeface="楷体_GB2312"/>
              </a:rPr>
              <a:t>元素的值</a:t>
            </a:r>
            <a:r>
              <a:rPr lang="en-US" altLang="zh-CN" sz="3200" b="0" dirty="0">
                <a:solidFill>
                  <a:srgbClr val="000099"/>
                </a:solidFill>
                <a:latin typeface="Times New Roman" panose="02020603050405020304" pitchFamily="18" charset="0"/>
                <a:ea typeface="楷体_GB2312"/>
              </a:rPr>
              <a:t>)</a:t>
            </a:r>
            <a:r>
              <a:rPr lang="en-US" altLang="zh-CN" sz="3200" b="0" dirty="0">
                <a:solidFill>
                  <a:srgbClr val="0000FF"/>
                </a:solidFill>
                <a:latin typeface="Times New Roman" panose="02020603050405020304" pitchFamily="18" charset="0"/>
                <a:ea typeface="楷体_GB2312"/>
              </a:rPr>
              <a:t> </a:t>
            </a:r>
            <a:r>
              <a:rPr lang="en-US" altLang="zh-CN" b="0" dirty="0">
                <a:solidFill>
                  <a:srgbClr val="0000FF"/>
                </a:solidFill>
                <a:latin typeface="Times New Roman" panose="02020603050405020304" pitchFamily="18" charset="0"/>
                <a:ea typeface="楷体_GB2312"/>
              </a:rPr>
              <a:t>+ </a:t>
            </a:r>
            <a:r>
              <a:rPr lang="en-US" altLang="zh-CN" dirty="0">
                <a:solidFill>
                  <a:srgbClr val="0000FF"/>
                </a:solidFill>
                <a:latin typeface="Times New Roman" panose="02020603050405020304" pitchFamily="18" charset="0"/>
                <a:ea typeface="楷体_GB2312"/>
              </a:rPr>
              <a:t>next</a:t>
            </a:r>
            <a:r>
              <a:rPr lang="en-US" altLang="zh-CN" sz="3200" b="0" dirty="0">
                <a:solidFill>
                  <a:srgbClr val="000099"/>
                </a:solidFill>
                <a:latin typeface="Times New Roman" panose="02020603050405020304" pitchFamily="18" charset="0"/>
                <a:ea typeface="楷体_GB2312"/>
              </a:rPr>
              <a:t>(</a:t>
            </a:r>
            <a:r>
              <a:rPr lang="zh-CN" altLang="en-US" sz="3200" dirty="0">
                <a:solidFill>
                  <a:srgbClr val="000099"/>
                </a:solidFill>
                <a:latin typeface="Times New Roman" panose="02020603050405020304" pitchFamily="18" charset="0"/>
                <a:ea typeface="楷体_GB2312"/>
              </a:rPr>
              <a:t>后继</a:t>
            </a:r>
            <a:r>
              <a:rPr lang="en-US" altLang="zh-CN" sz="3200" b="0" dirty="0">
                <a:solidFill>
                  <a:srgbClr val="000099"/>
                </a:solidFill>
                <a:latin typeface="Times New Roman" panose="02020603050405020304" pitchFamily="18" charset="0"/>
                <a:ea typeface="楷体_GB2312"/>
              </a:rPr>
              <a:t>)</a:t>
            </a:r>
            <a:r>
              <a:rPr lang="en-US" altLang="zh-CN" sz="2800" b="0" dirty="0">
                <a:solidFill>
                  <a:srgbClr val="000099"/>
                </a:solidFill>
                <a:latin typeface="Times New Roman" panose="02020603050405020304" pitchFamily="18" charset="0"/>
                <a:ea typeface="楷体_GB2312"/>
              </a:rPr>
              <a:t> </a:t>
            </a:r>
            <a:r>
              <a:rPr lang="en-US" altLang="zh-CN" sz="2800" dirty="0">
                <a:solidFill>
                  <a:srgbClr val="0000FF"/>
                </a:solidFill>
                <a:latin typeface="Times New Roman" panose="02020603050405020304" pitchFamily="18" charset="0"/>
                <a:ea typeface="楷体_GB2312"/>
              </a:rPr>
              <a:t>=  </a:t>
            </a:r>
            <a:r>
              <a:rPr lang="zh-CN" altLang="en-US" dirty="0">
                <a:solidFill>
                  <a:srgbClr val="FF0000"/>
                </a:solidFill>
                <a:latin typeface="Times New Roman" panose="02020603050405020304" pitchFamily="18" charset="0"/>
                <a:ea typeface="楷体_GB2312"/>
              </a:rPr>
              <a:t>结点</a:t>
            </a:r>
            <a:r>
              <a:rPr lang="en-US" altLang="zh-CN" sz="3200" b="0" dirty="0">
                <a:solidFill>
                  <a:srgbClr val="000099"/>
                </a:solidFill>
                <a:latin typeface="Times New Roman" panose="02020603050405020304" pitchFamily="18" charset="0"/>
                <a:ea typeface="楷体_GB2312"/>
              </a:rPr>
              <a:t>(</a:t>
            </a:r>
            <a:r>
              <a:rPr lang="zh-CN" altLang="en-US" sz="3200" b="0" dirty="0">
                <a:solidFill>
                  <a:srgbClr val="000099"/>
                </a:solidFill>
                <a:latin typeface="Times New Roman" panose="02020603050405020304" pitchFamily="18" charset="0"/>
                <a:ea typeface="楷体_GB2312"/>
              </a:rPr>
              <a:t>表示数据元素</a:t>
            </a:r>
            <a:r>
              <a:rPr lang="en-US" altLang="zh-CN" sz="3200" b="0" dirty="0">
                <a:solidFill>
                  <a:srgbClr val="000099"/>
                </a:solidFill>
                <a:latin typeface="Times New Roman" panose="02020603050405020304" pitchFamily="18" charset="0"/>
                <a:ea typeface="楷体_GB2312"/>
              </a:rPr>
              <a:t>)</a:t>
            </a:r>
            <a:endParaRPr lang="en-US" altLang="zh-CN" sz="3200" b="0" dirty="0">
              <a:solidFill>
                <a:schemeClr val="tx1"/>
              </a:solidFill>
              <a:latin typeface="Times New Roman" panose="02020603050405020304" pitchFamily="18" charset="0"/>
            </a:endParaRPr>
          </a:p>
        </p:txBody>
      </p:sp>
      <p:sp>
        <p:nvSpPr>
          <p:cNvPr id="504836" name="Text Box 4"/>
          <p:cNvSpPr txBox="1">
            <a:spLocks noChangeArrowheads="1"/>
          </p:cNvSpPr>
          <p:nvPr/>
        </p:nvSpPr>
        <p:spPr bwMode="auto">
          <a:xfrm>
            <a:off x="839416" y="3822701"/>
            <a:ext cx="9863431" cy="590931"/>
          </a:xfrm>
          <a:prstGeom prst="rect">
            <a:avLst/>
          </a:prstGeom>
          <a:noFill/>
          <a:ln w="9525">
            <a:noFill/>
            <a:miter lim="800000"/>
          </a:ln>
        </p:spPr>
        <p:txBody>
          <a:bodyPr wrap="square">
            <a:spAutoFit/>
          </a:bodyPr>
          <a:lstStyle/>
          <a:p>
            <a:pPr>
              <a:lnSpc>
                <a:spcPct val="90000"/>
              </a:lnSpc>
            </a:pPr>
            <a:r>
              <a:rPr lang="zh-CN" altLang="en-US" b="0" dirty="0">
                <a:solidFill>
                  <a:srgbClr val="000099"/>
                </a:solidFill>
                <a:latin typeface="Times New Roman" panose="02020603050405020304" pitchFamily="18" charset="0"/>
                <a:ea typeface="楷体_GB2312"/>
              </a:rPr>
              <a:t>以“</a:t>
            </a:r>
            <a:r>
              <a:rPr lang="zh-CN" altLang="en-US" dirty="0">
                <a:solidFill>
                  <a:srgbClr val="0000FF"/>
                </a:solidFill>
                <a:latin typeface="Times New Roman" panose="02020603050405020304" pitchFamily="18" charset="0"/>
                <a:ea typeface="楷体_GB2312"/>
              </a:rPr>
              <a:t>结点的序列</a:t>
            </a:r>
            <a:r>
              <a:rPr lang="zh-CN" altLang="en-US" b="0" dirty="0">
                <a:solidFill>
                  <a:srgbClr val="000099"/>
                </a:solidFill>
                <a:latin typeface="Times New Roman" panose="02020603050405020304" pitchFamily="18" charset="0"/>
                <a:ea typeface="楷体_GB2312"/>
              </a:rPr>
              <a:t>”表示线性表称作</a:t>
            </a:r>
            <a:r>
              <a:rPr lang="zh-CN" altLang="en-US" dirty="0">
                <a:latin typeface="Times New Roman" panose="02020603050405020304" pitchFamily="18" charset="0"/>
                <a:ea typeface="楷体_GB2312"/>
              </a:rPr>
              <a:t>单</a:t>
            </a:r>
            <a:r>
              <a:rPr lang="zh-CN" altLang="en-US" dirty="0">
                <a:solidFill>
                  <a:srgbClr val="FF0000"/>
                </a:solidFill>
                <a:latin typeface="Times New Roman" panose="02020603050405020304" pitchFamily="18" charset="0"/>
                <a:ea typeface="楷体_GB2312"/>
              </a:rPr>
              <a:t>链表</a:t>
            </a:r>
          </a:p>
        </p:txBody>
      </p:sp>
      <p:sp>
        <p:nvSpPr>
          <p:cNvPr id="504837" name="Rectangle 5"/>
          <p:cNvSpPr>
            <a:spLocks noChangeArrowheads="1"/>
          </p:cNvSpPr>
          <p:nvPr/>
        </p:nvSpPr>
        <p:spPr bwMode="auto">
          <a:xfrm>
            <a:off x="1524001" y="44451"/>
            <a:ext cx="8964613" cy="936625"/>
          </a:xfrm>
          <a:prstGeom prst="rect">
            <a:avLst/>
          </a:prstGeom>
          <a:noFill/>
          <a:ln w="9525">
            <a:noFill/>
            <a:miter lim="800000"/>
          </a:ln>
          <a:effectLst/>
        </p:spPr>
        <p:txBody>
          <a:bodyPr anchor="ctr"/>
          <a:lstStyle/>
          <a:p>
            <a:pPr>
              <a:lnSpc>
                <a:spcPct val="90000"/>
              </a:lnSpc>
              <a:defRPr/>
            </a:pPr>
            <a:r>
              <a:rPr lang="zh-CN" altLang="en-US" sz="4800" dirty="0">
                <a:effectLst>
                  <a:outerShdw blurRad="38100" dist="38100" dir="2700000" algn="tl">
                    <a:srgbClr val="C0C0C0"/>
                  </a:outerShdw>
                </a:effectLst>
                <a:latin typeface="Times New Roman" panose="02020603050405020304" pitchFamily="18" charset="0"/>
                <a:ea typeface="楷体_GB2312" pitchFamily="49" charset="-122"/>
                <a:cs typeface="+mn-cs"/>
              </a:rPr>
              <a:t>单链表的概念</a:t>
            </a:r>
          </a:p>
        </p:txBody>
      </p:sp>
      <p:sp>
        <p:nvSpPr>
          <p:cNvPr id="504838" name="Rectangle 6"/>
          <p:cNvSpPr>
            <a:spLocks noChangeArrowheads="1"/>
          </p:cNvSpPr>
          <p:nvPr/>
        </p:nvSpPr>
        <p:spPr bwMode="auto">
          <a:xfrm>
            <a:off x="1524001" y="2394636"/>
            <a:ext cx="184731" cy="646331"/>
          </a:xfrm>
          <a:prstGeom prst="rect">
            <a:avLst/>
          </a:prstGeom>
          <a:noFill/>
          <a:ln w="9525">
            <a:noFill/>
            <a:miter lim="800000"/>
          </a:ln>
          <a:effectLst/>
        </p:spPr>
        <p:txBody>
          <a:bodyPr wrap="none" anchor="ctr">
            <a:spAutoFit/>
          </a:bodyP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graphicFrame>
        <p:nvGraphicFramePr>
          <p:cNvPr id="504839" name="Object 33"/>
          <p:cNvGraphicFramePr>
            <a:graphicFrameLocks noChangeAspect="1"/>
          </p:cNvGraphicFramePr>
          <p:nvPr>
            <p:extLst>
              <p:ext uri="{D42A27DB-BD31-4B8C-83A1-F6EECF244321}">
                <p14:modId xmlns:p14="http://schemas.microsoft.com/office/powerpoint/2010/main" val="2522207251"/>
              </p:ext>
            </p:extLst>
          </p:nvPr>
        </p:nvGraphicFramePr>
        <p:xfrm>
          <a:off x="3143672" y="4581128"/>
          <a:ext cx="4105275" cy="2103437"/>
        </p:xfrm>
        <a:graphic>
          <a:graphicData uri="http://schemas.openxmlformats.org/presentationml/2006/ole">
            <mc:AlternateContent xmlns:mc="http://schemas.openxmlformats.org/markup-compatibility/2006">
              <mc:Choice xmlns:v="urn:schemas-microsoft-com:vml" Requires="v">
                <p:oleObj spid="_x0000_s1026" name="Visio" r:id="rId3" imgW="2222500" imgH="1155700" progId="">
                  <p:embed/>
                </p:oleObj>
              </mc:Choice>
              <mc:Fallback>
                <p:oleObj name="Visio" r:id="rId3" imgW="2222500" imgH="1155700" progId="">
                  <p:embed/>
                  <p:pic>
                    <p:nvPicPr>
                      <p:cNvPr id="0" name="图片 1024"/>
                      <p:cNvPicPr>
                        <a:picLocks noChangeAspect="1"/>
                      </p:cNvPicPr>
                      <p:nvPr/>
                    </p:nvPicPr>
                    <p:blipFill>
                      <a:blip r:embed="rId4"/>
                      <a:stretch>
                        <a:fillRect/>
                      </a:stretch>
                    </p:blipFill>
                    <p:spPr>
                      <a:xfrm>
                        <a:off x="3143672" y="4581128"/>
                        <a:ext cx="4105275" cy="2103437"/>
                      </a:xfrm>
                      <a:prstGeom prst="rect">
                        <a:avLst/>
                      </a:prstGeom>
                      <a:noFill/>
                      <a:ln w="9525">
                        <a:noFill/>
                      </a:ln>
                    </p:spPr>
                  </p:pic>
                </p:oleObj>
              </mc:Fallback>
            </mc:AlternateContent>
          </a:graphicData>
        </a:graphic>
      </p:graphicFrame>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4834"/>
                                        </p:tgtEl>
                                        <p:attrNameLst>
                                          <p:attrName>style.visibility</p:attrName>
                                        </p:attrNameLst>
                                      </p:cBhvr>
                                      <p:to>
                                        <p:strVal val="visible"/>
                                      </p:to>
                                    </p:set>
                                    <p:animEffect transition="in" filter="wipe(left)">
                                      <p:cBhvr>
                                        <p:cTn id="7" dur="500"/>
                                        <p:tgtEl>
                                          <p:spTgt spid="5048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4835"/>
                                        </p:tgtEl>
                                        <p:attrNameLst>
                                          <p:attrName>style.visibility</p:attrName>
                                        </p:attrNameLst>
                                      </p:cBhvr>
                                      <p:to>
                                        <p:strVal val="visible"/>
                                      </p:to>
                                    </p:set>
                                    <p:animEffect transition="in" filter="wipe(left)">
                                      <p:cBhvr>
                                        <p:cTn id="12" dur="500"/>
                                        <p:tgtEl>
                                          <p:spTgt spid="5048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4836"/>
                                        </p:tgtEl>
                                        <p:attrNameLst>
                                          <p:attrName>style.visibility</p:attrName>
                                        </p:attrNameLst>
                                      </p:cBhvr>
                                      <p:to>
                                        <p:strVal val="visible"/>
                                      </p:to>
                                    </p:set>
                                    <p:animEffect transition="in" filter="wipe(left)">
                                      <p:cBhvr>
                                        <p:cTn id="17" dur="500"/>
                                        <p:tgtEl>
                                          <p:spTgt spid="5048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04839"/>
                                        </p:tgtEl>
                                        <p:attrNameLst>
                                          <p:attrName>style.visibility</p:attrName>
                                        </p:attrNameLst>
                                      </p:cBhvr>
                                      <p:to>
                                        <p:strVal val="visible"/>
                                      </p:to>
                                    </p:set>
                                    <p:animEffect transition="in" filter="wipe(left)">
                                      <p:cBhvr>
                                        <p:cTn id="22" dur="500"/>
                                        <p:tgtEl>
                                          <p:spTgt spid="504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34" grpId="0" autoUpdateAnimBg="0"/>
      <p:bldP spid="504835" grpId="0" autoUpdateAnimBg="0"/>
      <p:bldP spid="504836"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1981200" y="1038226"/>
            <a:ext cx="762000" cy="790575"/>
            <a:chOff x="288" y="720"/>
            <a:chExt cx="480" cy="498"/>
          </a:xfrm>
        </p:grpSpPr>
        <p:sp>
          <p:nvSpPr>
            <p:cNvPr id="499715" name="Line 3"/>
            <p:cNvSpPr>
              <a:spLocks noChangeShapeType="1"/>
            </p:cNvSpPr>
            <p:nvPr/>
          </p:nvSpPr>
          <p:spPr bwMode="auto">
            <a:xfrm>
              <a:off x="288" y="1218"/>
              <a:ext cx="480" cy="0"/>
            </a:xfrm>
            <a:prstGeom prst="line">
              <a:avLst/>
            </a:prstGeom>
            <a:noFill/>
            <a:ln w="38100">
              <a:solidFill>
                <a:schemeClr val="tx2"/>
              </a:solidFill>
              <a:rou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499716" name="Line 4"/>
            <p:cNvSpPr>
              <a:spLocks noChangeShapeType="1"/>
            </p:cNvSpPr>
            <p:nvPr/>
          </p:nvSpPr>
          <p:spPr bwMode="auto">
            <a:xfrm>
              <a:off x="288" y="720"/>
              <a:ext cx="0" cy="498"/>
            </a:xfrm>
            <a:prstGeom prst="line">
              <a:avLst/>
            </a:prstGeom>
            <a:noFill/>
            <a:ln w="38100">
              <a:solidFill>
                <a:schemeClr val="tx2"/>
              </a:solidFill>
              <a:round/>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grpSp>
      <p:sp>
        <p:nvSpPr>
          <p:cNvPr id="62554" name="Text Box 6"/>
          <p:cNvSpPr txBox="1">
            <a:spLocks noChangeArrowheads="1"/>
          </p:cNvSpPr>
          <p:nvPr/>
        </p:nvSpPr>
        <p:spPr bwMode="auto">
          <a:xfrm>
            <a:off x="551384" y="2492376"/>
            <a:ext cx="10801200" cy="1261884"/>
          </a:xfrm>
          <a:prstGeom prst="rect">
            <a:avLst/>
          </a:prstGeom>
          <a:noFill/>
          <a:ln w="9525">
            <a:noFill/>
            <a:miter lim="800000"/>
          </a:ln>
        </p:spPr>
        <p:txBody>
          <a:bodyPr>
            <a:spAutoFit/>
          </a:bodyPr>
          <a:lstStyle/>
          <a:p>
            <a:r>
              <a:rPr lang="en-US" altLang="zh-CN" b="0" dirty="0">
                <a:solidFill>
                  <a:schemeClr val="tx1"/>
                </a:solidFill>
                <a:latin typeface="隶书" panose="02010509060101010101" pitchFamily="49" charset="-122"/>
                <a:ea typeface="隶书" panose="02010509060101010101" pitchFamily="49" charset="-122"/>
              </a:rPr>
              <a:t>  </a:t>
            </a:r>
            <a:r>
              <a:rPr lang="zh-CN" altLang="en-US" b="0" dirty="0">
                <a:solidFill>
                  <a:srgbClr val="660033"/>
                </a:solidFill>
                <a:latin typeface="隶书" panose="02010509060101010101" pitchFamily="49" charset="-122"/>
                <a:ea typeface="隶书" panose="02010509060101010101" pitchFamily="49" charset="-122"/>
              </a:rPr>
              <a:t>以线性表中第一个数据元素</a:t>
            </a:r>
            <a:r>
              <a:rPr lang="en-US" altLang="zh-CN" b="0" dirty="0">
                <a:solidFill>
                  <a:srgbClr val="FF0000"/>
                </a:solidFill>
                <a:latin typeface="隶书" panose="02010509060101010101" pitchFamily="49" charset="-122"/>
                <a:ea typeface="隶书" panose="02010509060101010101" pitchFamily="49" charset="-122"/>
              </a:rPr>
              <a:t>a</a:t>
            </a:r>
            <a:r>
              <a:rPr lang="en-US" altLang="zh-CN" b="0" baseline="-25000" dirty="0">
                <a:solidFill>
                  <a:srgbClr val="FF0000"/>
                </a:solidFill>
                <a:latin typeface="隶书" panose="02010509060101010101" pitchFamily="49" charset="-122"/>
                <a:ea typeface="隶书" panose="02010509060101010101" pitchFamily="49" charset="-122"/>
              </a:rPr>
              <a:t>1</a:t>
            </a:r>
            <a:r>
              <a:rPr lang="zh-CN" altLang="en-US" b="0" dirty="0">
                <a:solidFill>
                  <a:srgbClr val="CC0000"/>
                </a:solidFill>
                <a:latin typeface="隶书" panose="02010509060101010101" pitchFamily="49" charset="-122"/>
                <a:ea typeface="隶书" panose="02010509060101010101" pitchFamily="49" charset="-122"/>
              </a:rPr>
              <a:t>的存储地址</a:t>
            </a:r>
            <a:r>
              <a:rPr lang="zh-CN" altLang="en-US" b="0" dirty="0">
                <a:solidFill>
                  <a:srgbClr val="660033"/>
                </a:solidFill>
                <a:latin typeface="隶书" panose="02010509060101010101" pitchFamily="49" charset="-122"/>
                <a:ea typeface="隶书" panose="02010509060101010101" pitchFamily="49" charset="-122"/>
              </a:rPr>
              <a:t>作为线性表的地址，称作线性表的</a:t>
            </a:r>
            <a:r>
              <a:rPr lang="zh-CN" altLang="en-US" b="0" dirty="0">
                <a:solidFill>
                  <a:srgbClr val="CC0000"/>
                </a:solidFill>
                <a:latin typeface="隶书" panose="02010509060101010101" pitchFamily="49" charset="-122"/>
                <a:ea typeface="隶书" panose="02010509060101010101" pitchFamily="49" charset="-122"/>
              </a:rPr>
              <a:t>头指针</a:t>
            </a:r>
            <a:r>
              <a:rPr lang="zh-CN" altLang="en-US" sz="4000" dirty="0">
                <a:solidFill>
                  <a:srgbClr val="993366"/>
                </a:solidFill>
                <a:ea typeface="楷体_GB2312"/>
              </a:rPr>
              <a:t>。</a:t>
            </a:r>
          </a:p>
        </p:txBody>
      </p:sp>
      <p:sp>
        <p:nvSpPr>
          <p:cNvPr id="499720" name="Text Box 8"/>
          <p:cNvSpPr txBox="1">
            <a:spLocks noChangeArrowheads="1"/>
          </p:cNvSpPr>
          <p:nvPr/>
        </p:nvSpPr>
        <p:spPr bwMode="auto">
          <a:xfrm>
            <a:off x="2625726" y="944564"/>
            <a:ext cx="1412875" cy="579437"/>
          </a:xfrm>
          <a:prstGeom prst="rect">
            <a:avLst/>
          </a:prstGeom>
          <a:noFill/>
          <a:ln w="9525">
            <a:noFill/>
            <a:miter lim="800000"/>
          </a:ln>
        </p:spPr>
        <p:txBody>
          <a:bodyPr wrap="none">
            <a:spAutoFit/>
          </a:bodyPr>
          <a:lstStyle/>
          <a:p>
            <a:r>
              <a:rPr lang="zh-CN" altLang="en-US" sz="3200">
                <a:solidFill>
                  <a:srgbClr val="FF0000"/>
                </a:solidFill>
                <a:latin typeface="Times New Roman" panose="02020603050405020304" pitchFamily="18" charset="0"/>
                <a:ea typeface="隶书" panose="02010509060101010101" pitchFamily="49" charset="-122"/>
              </a:rPr>
              <a:t>头结点</a:t>
            </a:r>
            <a:endParaRPr lang="zh-CN" altLang="en-US" sz="2400" b="0">
              <a:solidFill>
                <a:schemeClr val="tx1"/>
              </a:solidFill>
              <a:latin typeface="Times New Roman" panose="02020603050405020304" pitchFamily="18" charset="0"/>
            </a:endParaRPr>
          </a:p>
        </p:txBody>
      </p:sp>
      <p:grpSp>
        <p:nvGrpSpPr>
          <p:cNvPr id="5" name="Group 9"/>
          <p:cNvGrpSpPr/>
          <p:nvPr/>
        </p:nvGrpSpPr>
        <p:grpSpPr bwMode="auto">
          <a:xfrm>
            <a:off x="4114800" y="1325564"/>
            <a:ext cx="6553200" cy="1189037"/>
            <a:chOff x="1632" y="835"/>
            <a:chExt cx="4128" cy="749"/>
          </a:xfrm>
        </p:grpSpPr>
        <p:sp>
          <p:nvSpPr>
            <p:cNvPr id="62544" name="Text Box 10"/>
            <p:cNvSpPr txBox="1">
              <a:spLocks noChangeArrowheads="1"/>
            </p:cNvSpPr>
            <p:nvPr/>
          </p:nvSpPr>
          <p:spPr bwMode="auto">
            <a:xfrm>
              <a:off x="1632" y="835"/>
              <a:ext cx="4128" cy="749"/>
            </a:xfrm>
            <a:prstGeom prst="rect">
              <a:avLst/>
            </a:prstGeom>
            <a:noFill/>
            <a:ln w="9525">
              <a:noFill/>
              <a:miter lim="800000"/>
            </a:ln>
          </p:spPr>
          <p:txBody>
            <a:bodyPr>
              <a:spAutoFit/>
            </a:bodyPr>
            <a:lstStyle/>
            <a:p>
              <a:r>
                <a:rPr lang="en-US" altLang="zh-CN" sz="4800" b="0">
                  <a:solidFill>
                    <a:schemeClr val="tx1"/>
                  </a:solidFill>
                  <a:latin typeface="Times New Roman" panose="02020603050405020304" pitchFamily="18" charset="0"/>
                  <a:ea typeface="楷体_GB2312"/>
                </a:rPr>
                <a:t>   </a:t>
              </a:r>
              <a:r>
                <a:rPr lang="en-US" altLang="zh-CN" sz="4800" b="0">
                  <a:solidFill>
                    <a:srgbClr val="000099"/>
                  </a:solidFill>
                  <a:latin typeface="Times New Roman" panose="02020603050405020304" pitchFamily="18" charset="0"/>
                  <a:ea typeface="楷体_GB2312"/>
                </a:rPr>
                <a:t>a</a:t>
              </a:r>
              <a:r>
                <a:rPr lang="en-US" altLang="zh-CN" sz="4800" b="0" baseline="-25000">
                  <a:solidFill>
                    <a:srgbClr val="000099"/>
                  </a:solidFill>
                  <a:latin typeface="Times New Roman" panose="02020603050405020304" pitchFamily="18" charset="0"/>
                  <a:ea typeface="楷体_GB2312"/>
                </a:rPr>
                <a:t>1</a:t>
              </a:r>
              <a:r>
                <a:rPr lang="en-US" altLang="zh-CN" sz="4800" b="0">
                  <a:solidFill>
                    <a:srgbClr val="000099"/>
                  </a:solidFill>
                  <a:latin typeface="Times New Roman" panose="02020603050405020304" pitchFamily="18" charset="0"/>
                  <a:ea typeface="楷体_GB2312"/>
                </a:rPr>
                <a:t>       a</a:t>
              </a:r>
              <a:r>
                <a:rPr lang="en-US" altLang="zh-CN" sz="4800" b="0" baseline="-25000">
                  <a:solidFill>
                    <a:srgbClr val="000099"/>
                  </a:solidFill>
                  <a:latin typeface="Times New Roman" panose="02020603050405020304" pitchFamily="18" charset="0"/>
                  <a:ea typeface="楷体_GB2312"/>
                </a:rPr>
                <a:t>2</a:t>
              </a:r>
              <a:r>
                <a:rPr lang="en-US" altLang="zh-CN" sz="4800" b="0">
                  <a:solidFill>
                    <a:srgbClr val="000099"/>
                  </a:solidFill>
                  <a:latin typeface="Times New Roman" panose="02020603050405020304" pitchFamily="18" charset="0"/>
                  <a:ea typeface="楷体_GB2312"/>
                </a:rPr>
                <a:t>      … ...    a</a:t>
              </a:r>
              <a:r>
                <a:rPr lang="en-US" altLang="zh-CN" sz="4800" b="0" baseline="-25000">
                  <a:solidFill>
                    <a:srgbClr val="000099"/>
                  </a:solidFill>
                  <a:latin typeface="Times New Roman" panose="02020603050405020304" pitchFamily="18" charset="0"/>
                  <a:ea typeface="楷体_GB2312"/>
                </a:rPr>
                <a:t>n  </a:t>
              </a:r>
              <a:r>
                <a:rPr lang="en-US" altLang="zh-CN" sz="6000" baseline="-25000">
                  <a:solidFill>
                    <a:srgbClr val="000099"/>
                  </a:solidFill>
                  <a:latin typeface="Times New Roman" panose="02020603050405020304" pitchFamily="18" charset="0"/>
                  <a:ea typeface="楷体_GB2312"/>
                </a:rPr>
                <a:t>^</a:t>
              </a:r>
              <a:endParaRPr lang="en-US" altLang="zh-CN" sz="4800" b="0" baseline="-25000">
                <a:solidFill>
                  <a:srgbClr val="000099"/>
                </a:solidFill>
                <a:latin typeface="Times New Roman" panose="02020603050405020304" pitchFamily="18" charset="0"/>
                <a:ea typeface="楷体_GB2312"/>
              </a:endParaRPr>
            </a:p>
            <a:p>
              <a:endParaRPr lang="en-US" altLang="zh-CN" sz="2400" b="0">
                <a:solidFill>
                  <a:schemeClr val="tx1"/>
                </a:solidFill>
                <a:latin typeface="Times New Roman" panose="02020603050405020304" pitchFamily="18" charset="0"/>
              </a:endParaRPr>
            </a:p>
          </p:txBody>
        </p:sp>
        <p:sp>
          <p:nvSpPr>
            <p:cNvPr id="499723" name="Line 11"/>
            <p:cNvSpPr>
              <a:spLocks noChangeShapeType="1"/>
            </p:cNvSpPr>
            <p:nvPr/>
          </p:nvSpPr>
          <p:spPr bwMode="auto">
            <a:xfrm>
              <a:off x="2400" y="978"/>
              <a:ext cx="0" cy="384"/>
            </a:xfrm>
            <a:prstGeom prst="line">
              <a:avLst/>
            </a:prstGeom>
            <a:noFill/>
            <a:ln w="9525">
              <a:solidFill>
                <a:schemeClr val="tx1"/>
              </a:solidFill>
              <a:round/>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499724" name="Line 12"/>
            <p:cNvSpPr>
              <a:spLocks noChangeShapeType="1"/>
            </p:cNvSpPr>
            <p:nvPr/>
          </p:nvSpPr>
          <p:spPr bwMode="auto">
            <a:xfrm>
              <a:off x="2496" y="1152"/>
              <a:ext cx="384" cy="0"/>
            </a:xfrm>
            <a:prstGeom prst="line">
              <a:avLst/>
            </a:prstGeom>
            <a:noFill/>
            <a:ln w="25400">
              <a:solidFill>
                <a:schemeClr val="tx1"/>
              </a:solidFill>
              <a:round/>
              <a:tailEnd type="triangle" w="sm" len="lg"/>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499725" name="Line 13"/>
            <p:cNvSpPr>
              <a:spLocks noChangeShapeType="1"/>
            </p:cNvSpPr>
            <p:nvPr/>
          </p:nvSpPr>
          <p:spPr bwMode="auto">
            <a:xfrm>
              <a:off x="3408" y="978"/>
              <a:ext cx="0" cy="384"/>
            </a:xfrm>
            <a:prstGeom prst="line">
              <a:avLst/>
            </a:prstGeom>
            <a:noFill/>
            <a:ln w="9525">
              <a:solidFill>
                <a:schemeClr val="tx1"/>
              </a:solidFill>
              <a:round/>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499726" name="Line 14"/>
            <p:cNvSpPr>
              <a:spLocks noChangeShapeType="1"/>
            </p:cNvSpPr>
            <p:nvPr/>
          </p:nvSpPr>
          <p:spPr bwMode="auto">
            <a:xfrm>
              <a:off x="3504" y="1152"/>
              <a:ext cx="288" cy="0"/>
            </a:xfrm>
            <a:prstGeom prst="line">
              <a:avLst/>
            </a:prstGeom>
            <a:noFill/>
            <a:ln w="25400">
              <a:solidFill>
                <a:schemeClr val="tx1"/>
              </a:solidFill>
              <a:round/>
              <a:tailEnd type="triangle" w="sm" len="lg"/>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499727" name="Line 15"/>
            <p:cNvSpPr>
              <a:spLocks noChangeShapeType="1"/>
            </p:cNvSpPr>
            <p:nvPr/>
          </p:nvSpPr>
          <p:spPr bwMode="auto">
            <a:xfrm>
              <a:off x="5376" y="978"/>
              <a:ext cx="0" cy="384"/>
            </a:xfrm>
            <a:prstGeom prst="line">
              <a:avLst/>
            </a:prstGeom>
            <a:noFill/>
            <a:ln w="9525">
              <a:solidFill>
                <a:schemeClr val="tx1"/>
              </a:solidFill>
              <a:round/>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499728" name="Line 16"/>
            <p:cNvSpPr>
              <a:spLocks noChangeShapeType="1"/>
            </p:cNvSpPr>
            <p:nvPr/>
          </p:nvSpPr>
          <p:spPr bwMode="auto">
            <a:xfrm>
              <a:off x="4656" y="1152"/>
              <a:ext cx="240" cy="0"/>
            </a:xfrm>
            <a:prstGeom prst="line">
              <a:avLst/>
            </a:prstGeom>
            <a:noFill/>
            <a:ln w="25400">
              <a:solidFill>
                <a:schemeClr val="tx1"/>
              </a:solidFill>
              <a:round/>
              <a:tailEnd type="triangle" w="sm" len="lg"/>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499729" name="Rectangle 17"/>
            <p:cNvSpPr>
              <a:spLocks noChangeArrowheads="1"/>
            </p:cNvSpPr>
            <p:nvPr/>
          </p:nvSpPr>
          <p:spPr bwMode="auto">
            <a:xfrm>
              <a:off x="1872" y="960"/>
              <a:ext cx="720" cy="384"/>
            </a:xfrm>
            <a:prstGeom prst="rect">
              <a:avLst/>
            </a:prstGeom>
            <a:noFill/>
            <a:ln w="9525">
              <a:solidFill>
                <a:schemeClr val="tx1"/>
              </a:solidFill>
              <a:miter lim="800000"/>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499730" name="Rectangle 18"/>
            <p:cNvSpPr>
              <a:spLocks noChangeArrowheads="1"/>
            </p:cNvSpPr>
            <p:nvPr/>
          </p:nvSpPr>
          <p:spPr bwMode="auto">
            <a:xfrm>
              <a:off x="2880" y="960"/>
              <a:ext cx="720" cy="384"/>
            </a:xfrm>
            <a:prstGeom prst="rect">
              <a:avLst/>
            </a:prstGeom>
            <a:noFill/>
            <a:ln w="9525">
              <a:solidFill>
                <a:schemeClr val="tx1"/>
              </a:solidFill>
              <a:miter lim="800000"/>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499731" name="Rectangle 19"/>
            <p:cNvSpPr>
              <a:spLocks noChangeArrowheads="1"/>
            </p:cNvSpPr>
            <p:nvPr/>
          </p:nvSpPr>
          <p:spPr bwMode="auto">
            <a:xfrm>
              <a:off x="4896" y="960"/>
              <a:ext cx="720" cy="384"/>
            </a:xfrm>
            <a:prstGeom prst="rect">
              <a:avLst/>
            </a:prstGeom>
            <a:noFill/>
            <a:ln w="9525">
              <a:solidFill>
                <a:schemeClr val="tx1"/>
              </a:solidFill>
              <a:miter lim="800000"/>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grpSp>
      <p:grpSp>
        <p:nvGrpSpPr>
          <p:cNvPr id="6" name="Group 20"/>
          <p:cNvGrpSpPr/>
          <p:nvPr/>
        </p:nvGrpSpPr>
        <p:grpSpPr bwMode="auto">
          <a:xfrm>
            <a:off x="2743200" y="1524000"/>
            <a:ext cx="1143000" cy="609600"/>
            <a:chOff x="768" y="960"/>
            <a:chExt cx="720" cy="384"/>
          </a:xfrm>
        </p:grpSpPr>
        <p:sp>
          <p:nvSpPr>
            <p:cNvPr id="499733" name="Rectangle 21"/>
            <p:cNvSpPr>
              <a:spLocks noChangeArrowheads="1"/>
            </p:cNvSpPr>
            <p:nvPr/>
          </p:nvSpPr>
          <p:spPr bwMode="auto">
            <a:xfrm>
              <a:off x="768" y="960"/>
              <a:ext cx="720" cy="384"/>
            </a:xfrm>
            <a:prstGeom prst="rect">
              <a:avLst/>
            </a:prstGeom>
            <a:solidFill>
              <a:schemeClr val="bg1"/>
            </a:solidFill>
            <a:ln w="9525">
              <a:solidFill>
                <a:schemeClr val="tx1"/>
              </a:solidFill>
              <a:miter lim="800000"/>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499734" name="Line 22"/>
            <p:cNvSpPr>
              <a:spLocks noChangeShapeType="1"/>
            </p:cNvSpPr>
            <p:nvPr/>
          </p:nvSpPr>
          <p:spPr bwMode="auto">
            <a:xfrm>
              <a:off x="1296" y="960"/>
              <a:ext cx="0" cy="384"/>
            </a:xfrm>
            <a:prstGeom prst="line">
              <a:avLst/>
            </a:prstGeom>
            <a:noFill/>
            <a:ln w="9525">
              <a:solidFill>
                <a:schemeClr val="tx1"/>
              </a:solidFill>
              <a:round/>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grpSp>
      <p:sp>
        <p:nvSpPr>
          <p:cNvPr id="499735" name="Line 23"/>
          <p:cNvSpPr>
            <a:spLocks noChangeShapeType="1"/>
          </p:cNvSpPr>
          <p:nvPr/>
        </p:nvSpPr>
        <p:spPr bwMode="auto">
          <a:xfrm>
            <a:off x="3733800" y="1828800"/>
            <a:ext cx="762000" cy="0"/>
          </a:xfrm>
          <a:prstGeom prst="line">
            <a:avLst/>
          </a:prstGeom>
          <a:noFill/>
          <a:ln w="25400">
            <a:solidFill>
              <a:srgbClr val="660033"/>
            </a:solidFill>
            <a:round/>
            <a:tailEnd type="triangle" w="sm" len="lg"/>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499736" name="AutoShape 24"/>
          <p:cNvSpPr>
            <a:spLocks noChangeArrowheads="1"/>
          </p:cNvSpPr>
          <p:nvPr/>
        </p:nvSpPr>
        <p:spPr bwMode="auto">
          <a:xfrm>
            <a:off x="4267200" y="381000"/>
            <a:ext cx="1600200" cy="457200"/>
          </a:xfrm>
          <a:prstGeom prst="wedgeRoundRectCallout">
            <a:avLst>
              <a:gd name="adj1" fmla="val -53870"/>
              <a:gd name="adj2" fmla="val 212500"/>
              <a:gd name="adj3" fmla="val 16667"/>
            </a:avLst>
          </a:prstGeom>
          <a:solidFill>
            <a:srgbClr val="CCFFCC">
              <a:alpha val="50195"/>
            </a:srgbClr>
          </a:solidFill>
          <a:ln w="19050">
            <a:solidFill>
              <a:srgbClr val="008000"/>
            </a:solidFill>
            <a:miter lim="800000"/>
          </a:ln>
        </p:spPr>
        <p:txBody>
          <a:bodyPr wrap="none" anchor="ctr"/>
          <a:lstStyle/>
          <a:p>
            <a:pPr algn="ctr"/>
            <a:r>
              <a:rPr lang="zh-CN" altLang="en-US" b="0">
                <a:latin typeface="Times New Roman" panose="02020603050405020304" pitchFamily="18" charset="0"/>
                <a:ea typeface="隶书" panose="02010509060101010101" pitchFamily="49" charset="-122"/>
              </a:rPr>
              <a:t>头指针</a:t>
            </a:r>
            <a:endParaRPr lang="zh-CN" altLang="en-US" b="0">
              <a:solidFill>
                <a:schemeClr val="tx1"/>
              </a:solidFill>
              <a:latin typeface="Times New Roman" panose="02020603050405020304" pitchFamily="18" charset="0"/>
            </a:endParaRPr>
          </a:p>
        </p:txBody>
      </p:sp>
      <p:sp>
        <p:nvSpPr>
          <p:cNvPr id="499737" name="AutoShape 25"/>
          <p:cNvSpPr>
            <a:spLocks noChangeArrowheads="1"/>
          </p:cNvSpPr>
          <p:nvPr/>
        </p:nvSpPr>
        <p:spPr bwMode="auto">
          <a:xfrm>
            <a:off x="2209800" y="228600"/>
            <a:ext cx="1600200" cy="457200"/>
          </a:xfrm>
          <a:prstGeom prst="wedgeRoundRectCallout">
            <a:avLst>
              <a:gd name="adj1" fmla="val -61014"/>
              <a:gd name="adj2" fmla="val 195833"/>
              <a:gd name="adj3" fmla="val 16667"/>
            </a:avLst>
          </a:prstGeom>
          <a:solidFill>
            <a:srgbClr val="CCFFCC">
              <a:alpha val="50195"/>
            </a:srgbClr>
          </a:solidFill>
          <a:ln w="19050">
            <a:solidFill>
              <a:srgbClr val="008000"/>
            </a:solidFill>
            <a:miter lim="800000"/>
          </a:ln>
        </p:spPr>
        <p:txBody>
          <a:bodyPr wrap="none" anchor="ctr"/>
          <a:lstStyle/>
          <a:p>
            <a:pPr algn="ctr"/>
            <a:r>
              <a:rPr lang="zh-CN" altLang="en-US" b="0">
                <a:latin typeface="Times New Roman" panose="02020603050405020304" pitchFamily="18" charset="0"/>
                <a:ea typeface="隶书" panose="02010509060101010101" pitchFamily="49" charset="-122"/>
              </a:rPr>
              <a:t>头指针</a:t>
            </a:r>
            <a:endParaRPr lang="zh-CN" altLang="en-US" b="0">
              <a:solidFill>
                <a:schemeClr val="tx1"/>
              </a:solidFill>
              <a:latin typeface="Times New Roman" panose="02020603050405020304" pitchFamily="18" charset="0"/>
            </a:endParaRPr>
          </a:p>
        </p:txBody>
      </p:sp>
      <p:sp useBgFill="1">
        <p:nvSpPr>
          <p:cNvPr id="499738" name="AutoShape 26"/>
          <p:cNvSpPr>
            <a:spLocks noChangeArrowheads="1"/>
          </p:cNvSpPr>
          <p:nvPr/>
        </p:nvSpPr>
        <p:spPr bwMode="auto">
          <a:xfrm>
            <a:off x="3886200" y="304800"/>
            <a:ext cx="2057400" cy="762000"/>
          </a:xfrm>
          <a:prstGeom prst="wedgeRoundRectCallout">
            <a:avLst>
              <a:gd name="adj1" fmla="val -35417"/>
              <a:gd name="adj2" fmla="val 142500"/>
              <a:gd name="adj3" fmla="val 16667"/>
            </a:avLst>
          </a:prstGeom>
          <a:ln w="9525">
            <a:noFill/>
            <a:miter lim="800000"/>
          </a:ln>
        </p:spPr>
        <p:txBody>
          <a:bodyPr wrap="none" anchor="ctr"/>
          <a:lstStyle/>
          <a:p>
            <a:pPr algn="ctr"/>
            <a:endParaRPr lang="zh-CN" altLang="zh-CN" b="0">
              <a:solidFill>
                <a:schemeClr val="tx1"/>
              </a:solidFill>
              <a:latin typeface="Times New Roman" panose="02020603050405020304" pitchFamily="18" charset="0"/>
            </a:endParaRPr>
          </a:p>
        </p:txBody>
      </p:sp>
      <p:sp>
        <p:nvSpPr>
          <p:cNvPr id="499739" name="Text Box 27"/>
          <p:cNvSpPr txBox="1">
            <a:spLocks noChangeArrowheads="1"/>
          </p:cNvSpPr>
          <p:nvPr/>
        </p:nvSpPr>
        <p:spPr bwMode="auto">
          <a:xfrm>
            <a:off x="551384" y="4221164"/>
            <a:ext cx="11017223" cy="1971675"/>
          </a:xfrm>
          <a:prstGeom prst="rect">
            <a:avLst/>
          </a:prstGeom>
          <a:noFill/>
          <a:ln w="9525">
            <a:noFill/>
            <a:miter lim="800000"/>
          </a:ln>
        </p:spPr>
        <p:txBody>
          <a:bodyPr wrap="square">
            <a:spAutoFit/>
          </a:bodyPr>
          <a:lstStyle/>
          <a:p>
            <a:pPr>
              <a:lnSpc>
                <a:spcPct val="110000"/>
              </a:lnSpc>
            </a:pPr>
            <a:r>
              <a:rPr lang="en-US" altLang="zh-CN" b="0" dirty="0">
                <a:solidFill>
                  <a:srgbClr val="990000"/>
                </a:solidFill>
                <a:latin typeface="Times New Roman" panose="02020603050405020304" pitchFamily="18" charset="0"/>
                <a:ea typeface="隶书" panose="02010509060101010101" pitchFamily="49" charset="-122"/>
              </a:rPr>
              <a:t>   </a:t>
            </a:r>
            <a:r>
              <a:rPr lang="zh-CN" altLang="en-US" b="0" dirty="0">
                <a:solidFill>
                  <a:srgbClr val="660033"/>
                </a:solidFill>
                <a:latin typeface="Times New Roman" panose="02020603050405020304" pitchFamily="18" charset="0"/>
                <a:ea typeface="隶书" panose="02010509060101010101" pitchFamily="49" charset="-122"/>
              </a:rPr>
              <a:t>有时为了操作方便，在第一个结点之前虚加一个“头结点”，这时</a:t>
            </a:r>
            <a:r>
              <a:rPr lang="zh-CN" altLang="en-US" b="0" dirty="0">
                <a:solidFill>
                  <a:srgbClr val="FF0000"/>
                </a:solidFill>
                <a:latin typeface="Times New Roman" panose="02020603050405020304" pitchFamily="18" charset="0"/>
                <a:ea typeface="隶书" panose="02010509060101010101" pitchFamily="49" charset="-122"/>
              </a:rPr>
              <a:t>指向头结点的指针</a:t>
            </a:r>
            <a:r>
              <a:rPr lang="zh-CN" altLang="en-US" b="0" dirty="0">
                <a:solidFill>
                  <a:srgbClr val="660033"/>
                </a:solidFill>
                <a:latin typeface="Times New Roman" panose="02020603050405020304" pitchFamily="18" charset="0"/>
                <a:ea typeface="隶书" panose="02010509060101010101" pitchFamily="49" charset="-122"/>
              </a:rPr>
              <a:t>称为链表的头指针</a:t>
            </a:r>
            <a:r>
              <a:rPr lang="zh-CN" altLang="en-US" sz="4000" dirty="0">
                <a:solidFill>
                  <a:srgbClr val="993366"/>
                </a:solidFill>
                <a:ea typeface="楷体_GB2312"/>
              </a:rPr>
              <a:t>。</a:t>
            </a:r>
          </a:p>
        </p:txBody>
      </p:sp>
      <p:sp>
        <p:nvSpPr>
          <p:cNvPr id="499740" name="AutoShape 28"/>
          <p:cNvSpPr>
            <a:spLocks noChangeArrowheads="1"/>
          </p:cNvSpPr>
          <p:nvPr/>
        </p:nvSpPr>
        <p:spPr bwMode="auto">
          <a:xfrm>
            <a:off x="8686800" y="533400"/>
            <a:ext cx="1447800" cy="533400"/>
          </a:xfrm>
          <a:prstGeom prst="wedgeRoundRectCallout">
            <a:avLst>
              <a:gd name="adj1" fmla="val 54935"/>
              <a:gd name="adj2" fmla="val 162796"/>
              <a:gd name="adj3" fmla="val 16667"/>
            </a:avLst>
          </a:prstGeom>
          <a:solidFill>
            <a:srgbClr val="CCFFFF">
              <a:alpha val="50195"/>
            </a:srgbClr>
          </a:solidFill>
          <a:ln w="19050">
            <a:solidFill>
              <a:srgbClr val="003366"/>
            </a:solidFill>
            <a:miter lim="800000"/>
          </a:ln>
        </p:spPr>
        <p:txBody>
          <a:bodyPr wrap="none" anchor="ctr"/>
          <a:lstStyle/>
          <a:p>
            <a:pPr algn="ctr"/>
            <a:r>
              <a:rPr lang="zh-CN" altLang="en-US" b="0">
                <a:solidFill>
                  <a:srgbClr val="000099"/>
                </a:solidFill>
                <a:latin typeface="Times New Roman" panose="02020603050405020304" pitchFamily="18" charset="0"/>
                <a:ea typeface="隶书" panose="02010509060101010101" pitchFamily="49" charset="-122"/>
              </a:rPr>
              <a:t>空指针</a:t>
            </a:r>
            <a:endParaRPr lang="zh-CN" altLang="en-US" b="0">
              <a:solidFill>
                <a:schemeClr val="tx1"/>
              </a:solidFill>
              <a:latin typeface="Times New Roman" panose="02020603050405020304" pitchFamily="18" charset="0"/>
            </a:endParaRPr>
          </a:p>
        </p:txBody>
      </p:sp>
      <p:sp>
        <p:nvSpPr>
          <p:cNvPr id="499741" name="AutoShape 29"/>
          <p:cNvSpPr>
            <a:spLocks noChangeArrowheads="1"/>
          </p:cNvSpPr>
          <p:nvPr/>
        </p:nvSpPr>
        <p:spPr bwMode="auto">
          <a:xfrm>
            <a:off x="4419600" y="228600"/>
            <a:ext cx="3429000" cy="762000"/>
          </a:xfrm>
          <a:prstGeom prst="wedgeRoundRectCallout">
            <a:avLst>
              <a:gd name="adj1" fmla="val -64861"/>
              <a:gd name="adj2" fmla="val 121042"/>
              <a:gd name="adj3" fmla="val 16667"/>
            </a:avLst>
          </a:prstGeom>
          <a:solidFill>
            <a:srgbClr val="FFFF99">
              <a:alpha val="50195"/>
            </a:srgbClr>
          </a:solidFill>
          <a:ln w="9525">
            <a:solidFill>
              <a:srgbClr val="660033"/>
            </a:solidFill>
            <a:miter lim="800000"/>
          </a:ln>
        </p:spPr>
        <p:txBody>
          <a:bodyPr wrap="none" anchor="ctr"/>
          <a:lstStyle/>
          <a:p>
            <a:pPr algn="ctr"/>
            <a:r>
              <a:rPr lang="zh-CN" altLang="en-US" sz="2800" b="0">
                <a:solidFill>
                  <a:srgbClr val="660033"/>
                </a:solidFill>
                <a:latin typeface="Times New Roman" panose="02020603050405020304" pitchFamily="18" charset="0"/>
                <a:ea typeface="隶书" panose="02010509060101010101" pitchFamily="49" charset="-122"/>
              </a:rPr>
              <a:t>线性表为空表时，</a:t>
            </a:r>
          </a:p>
          <a:p>
            <a:pPr algn="ctr"/>
            <a:r>
              <a:rPr lang="zh-CN" altLang="en-US" sz="2800" b="0">
                <a:solidFill>
                  <a:srgbClr val="660033"/>
                </a:solidFill>
                <a:latin typeface="Times New Roman" panose="02020603050405020304" pitchFamily="18" charset="0"/>
                <a:ea typeface="隶书" panose="02010509060101010101" pitchFamily="49" charset="-122"/>
              </a:rPr>
              <a:t>头结点的指针域为空</a:t>
            </a:r>
            <a:endParaRPr lang="zh-CN" altLang="en-US" b="0">
              <a:solidFill>
                <a:schemeClr val="tx1"/>
              </a:solidFill>
              <a:latin typeface="Times New Roman" panose="02020603050405020304" pitchFamily="18" charset="0"/>
            </a:endParaRPr>
          </a:p>
        </p:txBody>
      </p:sp>
      <p:sp useBgFill="1">
        <p:nvSpPr>
          <p:cNvPr id="499742" name="Rectangle 30"/>
          <p:cNvSpPr>
            <a:spLocks noChangeArrowheads="1"/>
          </p:cNvSpPr>
          <p:nvPr/>
        </p:nvSpPr>
        <p:spPr bwMode="auto">
          <a:xfrm>
            <a:off x="3657600" y="1752600"/>
            <a:ext cx="838200" cy="152400"/>
          </a:xfrm>
          <a:prstGeom prst="rect">
            <a:avLst/>
          </a:prstGeom>
          <a:ln w="9525">
            <a:noFill/>
            <a:miter lim="800000"/>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grpSp>
        <p:nvGrpSpPr>
          <p:cNvPr id="7" name="Group 31"/>
          <p:cNvGrpSpPr/>
          <p:nvPr/>
        </p:nvGrpSpPr>
        <p:grpSpPr bwMode="auto">
          <a:xfrm>
            <a:off x="2743200" y="1524000"/>
            <a:ext cx="1143000" cy="609600"/>
            <a:chOff x="768" y="960"/>
            <a:chExt cx="720" cy="384"/>
          </a:xfrm>
        </p:grpSpPr>
        <p:sp>
          <p:nvSpPr>
            <p:cNvPr id="499744" name="Rectangle 32"/>
            <p:cNvSpPr>
              <a:spLocks noChangeArrowheads="1"/>
            </p:cNvSpPr>
            <p:nvPr/>
          </p:nvSpPr>
          <p:spPr bwMode="auto">
            <a:xfrm>
              <a:off x="768" y="960"/>
              <a:ext cx="720" cy="384"/>
            </a:xfrm>
            <a:prstGeom prst="rect">
              <a:avLst/>
            </a:prstGeom>
            <a:solidFill>
              <a:schemeClr val="bg1"/>
            </a:solidFill>
            <a:ln w="9525">
              <a:solidFill>
                <a:schemeClr val="tx1"/>
              </a:solidFill>
              <a:miter lim="800000"/>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sp>
          <p:nvSpPr>
            <p:cNvPr id="499745" name="Line 33"/>
            <p:cNvSpPr>
              <a:spLocks noChangeShapeType="1"/>
            </p:cNvSpPr>
            <p:nvPr/>
          </p:nvSpPr>
          <p:spPr bwMode="auto">
            <a:xfrm>
              <a:off x="1296" y="960"/>
              <a:ext cx="0" cy="384"/>
            </a:xfrm>
            <a:prstGeom prst="line">
              <a:avLst/>
            </a:prstGeom>
            <a:noFill/>
            <a:ln w="9525">
              <a:solidFill>
                <a:schemeClr val="tx1"/>
              </a:solidFill>
              <a:round/>
            </a:ln>
            <a:effectLst/>
          </p:spPr>
          <p:txBody>
            <a:bodyPr wrap="none" anchor="ctr"/>
            <a:lstStyle/>
            <a:p>
              <a:pPr>
                <a:defRPr/>
              </a:pPr>
              <a:endParaRPr lang="zh-CN" altLang="en-US">
                <a:effectLst>
                  <a:outerShdw blurRad="38100" dist="38100" dir="2700000" algn="tl">
                    <a:srgbClr val="000000">
                      <a:alpha val="43137"/>
                    </a:srgbClr>
                  </a:outerShdw>
                </a:effectLst>
                <a:latin typeface="楷体_GB2312" pitchFamily="49" charset="-122"/>
                <a:ea typeface="楷体_GB2312" pitchFamily="49" charset="-122"/>
                <a:cs typeface="+mn-cs"/>
              </a:endParaRPr>
            </a:p>
          </p:txBody>
        </p:sp>
      </p:grpSp>
      <p:sp>
        <p:nvSpPr>
          <p:cNvPr id="499746" name="Text Box 34"/>
          <p:cNvSpPr txBox="1">
            <a:spLocks noChangeArrowheads="1"/>
          </p:cNvSpPr>
          <p:nvPr/>
        </p:nvSpPr>
        <p:spPr bwMode="auto">
          <a:xfrm>
            <a:off x="3489326" y="1408113"/>
            <a:ext cx="460375" cy="641350"/>
          </a:xfrm>
          <a:prstGeom prst="rect">
            <a:avLst/>
          </a:prstGeom>
          <a:noFill/>
          <a:ln w="9525">
            <a:noFill/>
            <a:miter lim="800000"/>
          </a:ln>
        </p:spPr>
        <p:txBody>
          <a:bodyPr wrap="none">
            <a:spAutoFit/>
          </a:bodyPr>
          <a:lstStyle/>
          <a:p>
            <a:r>
              <a:rPr lang="en-US" altLang="zh-CN">
                <a:solidFill>
                  <a:schemeClr val="tx1"/>
                </a:solidFill>
                <a:latin typeface="Times New Roman" panose="02020603050405020304" pitchFamily="18" charset="0"/>
                <a:sym typeface="Symbol" panose="05050102010706020507" pitchFamily="18" charset="2"/>
              </a:rPr>
              <a:t></a:t>
            </a:r>
            <a:endParaRPr lang="en-US" altLang="zh-CN" b="0">
              <a:solidFill>
                <a:schemeClr val="tx1"/>
              </a:solidFill>
              <a:latin typeface="Times New Roman" panose="02020603050405020304" pitchFamily="18" charset="0"/>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99740"/>
                                        </p:tgtEl>
                                        <p:attrNameLst>
                                          <p:attrName>style.visibility</p:attrName>
                                        </p:attrNameLst>
                                      </p:cBhvr>
                                      <p:to>
                                        <p:strVal val="visible"/>
                                      </p:to>
                                    </p:set>
                                    <p:anim calcmode="lin" valueType="num">
                                      <p:cBhvr additive="base">
                                        <p:cTn id="7" dur="500" fill="hold"/>
                                        <p:tgtEl>
                                          <p:spTgt spid="499740"/>
                                        </p:tgtEl>
                                        <p:attrNameLst>
                                          <p:attrName>ppt_x</p:attrName>
                                        </p:attrNameLst>
                                      </p:cBhvr>
                                      <p:tavLst>
                                        <p:tav tm="0">
                                          <p:val>
                                            <p:strVal val="#ppt_x"/>
                                          </p:val>
                                        </p:tav>
                                        <p:tav tm="100000">
                                          <p:val>
                                            <p:strVal val="#ppt_x"/>
                                          </p:val>
                                        </p:tav>
                                      </p:tavLst>
                                    </p:anim>
                                    <p:anim calcmode="lin" valueType="num">
                                      <p:cBhvr additive="base">
                                        <p:cTn id="8" dur="500" fill="hold"/>
                                        <p:tgtEl>
                                          <p:spTgt spid="49974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499736"/>
                                        </p:tgtEl>
                                        <p:attrNameLst>
                                          <p:attrName>style.visibility</p:attrName>
                                        </p:attrNameLst>
                                      </p:cBhvr>
                                      <p:to>
                                        <p:strVal val="visible"/>
                                      </p:to>
                                    </p:set>
                                    <p:anim calcmode="lin" valueType="num">
                                      <p:cBhvr additive="base">
                                        <p:cTn id="13" dur="500" fill="hold"/>
                                        <p:tgtEl>
                                          <p:spTgt spid="499736"/>
                                        </p:tgtEl>
                                        <p:attrNameLst>
                                          <p:attrName>ppt_x</p:attrName>
                                        </p:attrNameLst>
                                      </p:cBhvr>
                                      <p:tavLst>
                                        <p:tav tm="0">
                                          <p:val>
                                            <p:strVal val="#ppt_x"/>
                                          </p:val>
                                        </p:tav>
                                        <p:tav tm="100000">
                                          <p:val>
                                            <p:strVal val="#ppt_x"/>
                                          </p:val>
                                        </p:tav>
                                      </p:tavLst>
                                    </p:anim>
                                    <p:anim calcmode="lin" valueType="num">
                                      <p:cBhvr additive="base">
                                        <p:cTn id="14" dur="500" fill="hold"/>
                                        <p:tgtEl>
                                          <p:spTgt spid="499736"/>
                                        </p:tgtEl>
                                        <p:attrNameLst>
                                          <p:attrName>ppt_y</p:attrName>
                                        </p:attrNameLst>
                                      </p:cBhvr>
                                      <p:tavLst>
                                        <p:tav tm="0">
                                          <p:val>
                                            <p:strVal val="0-#ppt_h/2"/>
                                          </p:val>
                                        </p:tav>
                                        <p:tav tm="100000">
                                          <p:val>
                                            <p:strVal val="#ppt_y"/>
                                          </p:val>
                                        </p:tav>
                                      </p:tavLst>
                                    </p:anim>
                                  </p:childTnLst>
                                </p:cTn>
                              </p:par>
                            </p:childTnLst>
                          </p:cTn>
                        </p:par>
                        <p:par>
                          <p:cTn id="15" fill="hold">
                            <p:stCondLst>
                              <p:cond delay="500"/>
                            </p:stCondLst>
                            <p:childTnLst>
                              <p:par>
                                <p:cTn id="16" presetID="17" presetClass="entr" presetSubtype="8" fill="hold" nodeType="afterEffect">
                                  <p:stCondLst>
                                    <p:cond delay="0"/>
                                  </p:stCondLst>
                                  <p:childTnLst>
                                    <p:set>
                                      <p:cBhvr>
                                        <p:cTn id="17" dur="1" fill="hold">
                                          <p:stCondLst>
                                            <p:cond delay="0"/>
                                          </p:stCondLst>
                                        </p:cTn>
                                        <p:tgtEl>
                                          <p:spTgt spid="499735"/>
                                        </p:tgtEl>
                                        <p:attrNameLst>
                                          <p:attrName>style.visibility</p:attrName>
                                        </p:attrNameLst>
                                      </p:cBhvr>
                                      <p:to>
                                        <p:strVal val="visible"/>
                                      </p:to>
                                    </p:set>
                                    <p:anim calcmode="lin" valueType="num">
                                      <p:cBhvr>
                                        <p:cTn id="18" dur="500" fill="hold"/>
                                        <p:tgtEl>
                                          <p:spTgt spid="499735"/>
                                        </p:tgtEl>
                                        <p:attrNameLst>
                                          <p:attrName>ppt_x</p:attrName>
                                        </p:attrNameLst>
                                      </p:cBhvr>
                                      <p:tavLst>
                                        <p:tav tm="0">
                                          <p:val>
                                            <p:strVal val="#ppt_x-#ppt_w/2"/>
                                          </p:val>
                                        </p:tav>
                                        <p:tav tm="100000">
                                          <p:val>
                                            <p:strVal val="#ppt_x"/>
                                          </p:val>
                                        </p:tav>
                                      </p:tavLst>
                                    </p:anim>
                                    <p:anim calcmode="lin" valueType="num">
                                      <p:cBhvr>
                                        <p:cTn id="19" dur="500" fill="hold"/>
                                        <p:tgtEl>
                                          <p:spTgt spid="499735"/>
                                        </p:tgtEl>
                                        <p:attrNameLst>
                                          <p:attrName>ppt_y</p:attrName>
                                        </p:attrNameLst>
                                      </p:cBhvr>
                                      <p:tavLst>
                                        <p:tav tm="0">
                                          <p:val>
                                            <p:strVal val="#ppt_y"/>
                                          </p:val>
                                        </p:tav>
                                        <p:tav tm="100000">
                                          <p:val>
                                            <p:strVal val="#ppt_y"/>
                                          </p:val>
                                        </p:tav>
                                      </p:tavLst>
                                    </p:anim>
                                    <p:anim calcmode="lin" valueType="num">
                                      <p:cBhvr>
                                        <p:cTn id="20" dur="500" fill="hold"/>
                                        <p:tgtEl>
                                          <p:spTgt spid="499735"/>
                                        </p:tgtEl>
                                        <p:attrNameLst>
                                          <p:attrName>ppt_w</p:attrName>
                                        </p:attrNameLst>
                                      </p:cBhvr>
                                      <p:tavLst>
                                        <p:tav tm="0">
                                          <p:val>
                                            <p:fltVal val="0"/>
                                          </p:val>
                                        </p:tav>
                                        <p:tav tm="100000">
                                          <p:val>
                                            <p:strVal val="#ppt_w"/>
                                          </p:val>
                                        </p:tav>
                                      </p:tavLst>
                                    </p:anim>
                                    <p:anim calcmode="lin" valueType="num">
                                      <p:cBhvr>
                                        <p:cTn id="21" dur="500" fill="hold"/>
                                        <p:tgtEl>
                                          <p:spTgt spid="499735"/>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99739"/>
                                        </p:tgtEl>
                                        <p:attrNameLst>
                                          <p:attrName>style.visibility</p:attrName>
                                        </p:attrNameLst>
                                      </p:cBhvr>
                                      <p:to>
                                        <p:strVal val="visible"/>
                                      </p:to>
                                    </p:set>
                                    <p:animEffect transition="in" filter="wipe(left)">
                                      <p:cBhvr>
                                        <p:cTn id="26" dur="500"/>
                                        <p:tgtEl>
                                          <p:spTgt spid="499739"/>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slide(fromLeft)">
                                      <p:cBhvr>
                                        <p:cTn id="31" dur="500"/>
                                        <p:tgtEl>
                                          <p:spTgt spid="5"/>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499720"/>
                                        </p:tgtEl>
                                        <p:attrNameLst>
                                          <p:attrName>style.visibility</p:attrName>
                                        </p:attrNameLst>
                                      </p:cBhvr>
                                      <p:to>
                                        <p:strVal val="visible"/>
                                      </p:to>
                                    </p:set>
                                    <p:animEffect transition="in" filter="wipe(left)">
                                      <p:cBhvr>
                                        <p:cTn id="35" dur="500"/>
                                        <p:tgtEl>
                                          <p:spTgt spid="499720"/>
                                        </p:tgtEl>
                                      </p:cBhvr>
                                    </p:animEffect>
                                  </p:childTnLst>
                                </p:cTn>
                              </p:par>
                            </p:childTnLst>
                          </p:cTn>
                        </p:par>
                        <p:par>
                          <p:cTn id="36" fill="hold">
                            <p:stCondLst>
                              <p:cond delay="1000"/>
                            </p:stCondLst>
                            <p:childTnLst>
                              <p:par>
                                <p:cTn id="37" presetID="22" presetClass="entr" presetSubtype="1" fill="hold" nodeType="after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up)">
                                      <p:cBhvr>
                                        <p:cTn id="39" dur="500"/>
                                        <p:tgtEl>
                                          <p:spTgt spid="2"/>
                                        </p:tgtEl>
                                      </p:cBhvr>
                                    </p:animEffect>
                                  </p:childTnLst>
                                </p:cTn>
                              </p:par>
                            </p:childTnLst>
                          </p:cTn>
                        </p:par>
                        <p:par>
                          <p:cTn id="40" fill="hold">
                            <p:stCondLst>
                              <p:cond delay="1500"/>
                            </p:stCondLst>
                            <p:childTnLst>
                              <p:par>
                                <p:cTn id="41" presetID="22" presetClass="entr" presetSubtype="2" fill="hold" grpId="0" nodeType="afterEffect">
                                  <p:stCondLst>
                                    <p:cond delay="0"/>
                                  </p:stCondLst>
                                  <p:childTnLst>
                                    <p:set>
                                      <p:cBhvr>
                                        <p:cTn id="42" dur="1" fill="hold">
                                          <p:stCondLst>
                                            <p:cond delay="0"/>
                                          </p:stCondLst>
                                        </p:cTn>
                                        <p:tgtEl>
                                          <p:spTgt spid="499738"/>
                                        </p:tgtEl>
                                        <p:attrNameLst>
                                          <p:attrName>style.visibility</p:attrName>
                                        </p:attrNameLst>
                                      </p:cBhvr>
                                      <p:to>
                                        <p:strVal val="visible"/>
                                      </p:to>
                                    </p:set>
                                    <p:animEffect transition="in" filter="wipe(right)">
                                      <p:cBhvr>
                                        <p:cTn id="43" dur="500"/>
                                        <p:tgtEl>
                                          <p:spTgt spid="499738"/>
                                        </p:tgtEl>
                                      </p:cBhvr>
                                    </p:animEffect>
                                  </p:childTnLst>
                                </p:cTn>
                              </p:par>
                            </p:childTnLst>
                          </p:cTn>
                        </p:par>
                        <p:par>
                          <p:cTn id="44" fill="hold">
                            <p:stCondLst>
                              <p:cond delay="2000"/>
                            </p:stCondLst>
                            <p:childTnLst>
                              <p:par>
                                <p:cTn id="45" presetID="22" presetClass="entr" presetSubtype="2" fill="hold" grpId="0" nodeType="afterEffect">
                                  <p:stCondLst>
                                    <p:cond delay="0"/>
                                  </p:stCondLst>
                                  <p:childTnLst>
                                    <p:set>
                                      <p:cBhvr>
                                        <p:cTn id="46" dur="1" fill="hold">
                                          <p:stCondLst>
                                            <p:cond delay="0"/>
                                          </p:stCondLst>
                                        </p:cTn>
                                        <p:tgtEl>
                                          <p:spTgt spid="499737"/>
                                        </p:tgtEl>
                                        <p:attrNameLst>
                                          <p:attrName>style.visibility</p:attrName>
                                        </p:attrNameLst>
                                      </p:cBhvr>
                                      <p:to>
                                        <p:strVal val="visible"/>
                                      </p:to>
                                    </p:set>
                                    <p:animEffect transition="in" filter="wipe(right)">
                                      <p:cBhvr>
                                        <p:cTn id="47" dur="500"/>
                                        <p:tgtEl>
                                          <p:spTgt spid="499737"/>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1" fill="hold" grpId="0" nodeType="clickEffect">
                                  <p:stCondLst>
                                    <p:cond delay="0"/>
                                  </p:stCondLst>
                                  <p:childTnLst>
                                    <p:set>
                                      <p:cBhvr>
                                        <p:cTn id="51" dur="1" fill="hold">
                                          <p:stCondLst>
                                            <p:cond delay="0"/>
                                          </p:stCondLst>
                                        </p:cTn>
                                        <p:tgtEl>
                                          <p:spTgt spid="499741"/>
                                        </p:tgtEl>
                                        <p:attrNameLst>
                                          <p:attrName>style.visibility</p:attrName>
                                        </p:attrNameLst>
                                      </p:cBhvr>
                                      <p:to>
                                        <p:strVal val="visible"/>
                                      </p:to>
                                    </p:set>
                                    <p:anim calcmode="lin" valueType="num">
                                      <p:cBhvr additive="base">
                                        <p:cTn id="52" dur="500" fill="hold"/>
                                        <p:tgtEl>
                                          <p:spTgt spid="499741"/>
                                        </p:tgtEl>
                                        <p:attrNameLst>
                                          <p:attrName>ppt_x</p:attrName>
                                        </p:attrNameLst>
                                      </p:cBhvr>
                                      <p:tavLst>
                                        <p:tav tm="0">
                                          <p:val>
                                            <p:strVal val="#ppt_x"/>
                                          </p:val>
                                        </p:tav>
                                        <p:tav tm="100000">
                                          <p:val>
                                            <p:strVal val="#ppt_x"/>
                                          </p:val>
                                        </p:tav>
                                      </p:tavLst>
                                    </p:anim>
                                    <p:anim calcmode="lin" valueType="num">
                                      <p:cBhvr additive="base">
                                        <p:cTn id="53" dur="500" fill="hold"/>
                                        <p:tgtEl>
                                          <p:spTgt spid="499741"/>
                                        </p:tgtEl>
                                        <p:attrNameLst>
                                          <p:attrName>ppt_y</p:attrName>
                                        </p:attrNameLst>
                                      </p:cBhvr>
                                      <p:tavLst>
                                        <p:tav tm="0">
                                          <p:val>
                                            <p:strVal val="0-#ppt_h/2"/>
                                          </p:val>
                                        </p:tav>
                                        <p:tav tm="100000">
                                          <p:val>
                                            <p:strVal val="#ppt_y"/>
                                          </p:val>
                                        </p:tav>
                                      </p:tavLst>
                                    </p:anim>
                                  </p:childTnLst>
                                </p:cTn>
                              </p:par>
                            </p:childTnLst>
                          </p:cTn>
                        </p:par>
                        <p:par>
                          <p:cTn id="54" fill="hold">
                            <p:stCondLst>
                              <p:cond delay="500"/>
                            </p:stCondLst>
                            <p:childTnLst>
                              <p:par>
                                <p:cTn id="55" presetID="22" presetClass="entr" presetSubtype="1" fill="hold" grpId="0" nodeType="afterEffect">
                                  <p:stCondLst>
                                    <p:cond delay="0"/>
                                  </p:stCondLst>
                                  <p:childTnLst>
                                    <p:set>
                                      <p:cBhvr>
                                        <p:cTn id="56" dur="1" fill="hold">
                                          <p:stCondLst>
                                            <p:cond delay="0"/>
                                          </p:stCondLst>
                                        </p:cTn>
                                        <p:tgtEl>
                                          <p:spTgt spid="499742"/>
                                        </p:tgtEl>
                                        <p:attrNameLst>
                                          <p:attrName>style.visibility</p:attrName>
                                        </p:attrNameLst>
                                      </p:cBhvr>
                                      <p:to>
                                        <p:strVal val="visible"/>
                                      </p:to>
                                    </p:set>
                                    <p:animEffect transition="in" filter="wipe(up)">
                                      <p:cBhvr>
                                        <p:cTn id="57" dur="500"/>
                                        <p:tgtEl>
                                          <p:spTgt spid="499742"/>
                                        </p:tgtEl>
                                      </p:cBhvr>
                                    </p:animEffect>
                                  </p:childTnLst>
                                </p:cTn>
                              </p:par>
                            </p:childTnLst>
                          </p:cTn>
                        </p:par>
                        <p:par>
                          <p:cTn id="58" fill="hold">
                            <p:stCondLst>
                              <p:cond delay="1000"/>
                            </p:stCondLst>
                            <p:childTnLst>
                              <p:par>
                                <p:cTn id="59" presetID="1" presetClass="entr" presetSubtype="0" fill="hold" nodeType="afterEffect">
                                  <p:stCondLst>
                                    <p:cond delay="0"/>
                                  </p:stCondLst>
                                  <p:childTnLst>
                                    <p:set>
                                      <p:cBhvr>
                                        <p:cTn id="60" dur="1" fill="hold">
                                          <p:stCondLst>
                                            <p:cond delay="499"/>
                                          </p:stCondLst>
                                        </p:cTn>
                                        <p:tgtEl>
                                          <p:spTgt spid="6"/>
                                        </p:tgtEl>
                                        <p:attrNameLst>
                                          <p:attrName>style.visibility</p:attrName>
                                        </p:attrNameLst>
                                      </p:cBhvr>
                                      <p:to>
                                        <p:strVal val="visible"/>
                                      </p:to>
                                    </p:set>
                                  </p:childTnLst>
                                </p:cTn>
                              </p:par>
                            </p:childTnLst>
                          </p:cTn>
                        </p:par>
                        <p:par>
                          <p:cTn id="61" fill="hold">
                            <p:stCondLst>
                              <p:cond delay="1500"/>
                            </p:stCondLst>
                            <p:childTnLst>
                              <p:par>
                                <p:cTn id="62" presetID="22" presetClass="entr" presetSubtype="1" fill="hold" grpId="0" nodeType="afterEffect">
                                  <p:stCondLst>
                                    <p:cond delay="0"/>
                                  </p:stCondLst>
                                  <p:childTnLst>
                                    <p:set>
                                      <p:cBhvr>
                                        <p:cTn id="63" dur="1" fill="hold">
                                          <p:stCondLst>
                                            <p:cond delay="0"/>
                                          </p:stCondLst>
                                        </p:cTn>
                                        <p:tgtEl>
                                          <p:spTgt spid="499746"/>
                                        </p:tgtEl>
                                        <p:attrNameLst>
                                          <p:attrName>style.visibility</p:attrName>
                                        </p:attrNameLst>
                                      </p:cBhvr>
                                      <p:to>
                                        <p:strVal val="visible"/>
                                      </p:to>
                                    </p:set>
                                    <p:animEffect transition="in" filter="wipe(up)">
                                      <p:cBhvr>
                                        <p:cTn id="64" dur="500"/>
                                        <p:tgtEl>
                                          <p:spTgt spid="499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20" grpId="0" autoUpdateAnimBg="0"/>
      <p:bldP spid="499736" grpId="0" animBg="1" autoUpdateAnimBg="0"/>
      <p:bldP spid="499737" grpId="0" animBg="1" autoUpdateAnimBg="0"/>
      <p:bldP spid="499738" grpId="0" animBg="1" autoUpdateAnimBg="0"/>
      <p:bldP spid="499739" grpId="0" autoUpdateAnimBg="0"/>
      <p:bldP spid="499740" grpId="0" animBg="1" autoUpdateAnimBg="0"/>
      <p:bldP spid="499741" grpId="0" animBg="1" autoUpdateAnimBg="0"/>
      <p:bldP spid="499742" grpId="0" animBg="1"/>
      <p:bldP spid="499746"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bwMode="auto">
          <a:xfrm>
            <a:off x="6553200" y="152401"/>
            <a:ext cx="3657600" cy="6384925"/>
            <a:chOff x="5029200" y="152400"/>
            <a:chExt cx="3657600" cy="6384925"/>
          </a:xfrm>
        </p:grpSpPr>
        <p:grpSp>
          <p:nvGrpSpPr>
            <p:cNvPr id="79902" name="Group 4"/>
            <p:cNvGrpSpPr/>
            <p:nvPr/>
          </p:nvGrpSpPr>
          <p:grpSpPr bwMode="auto">
            <a:xfrm>
              <a:off x="5029200" y="3657600"/>
              <a:ext cx="2667000" cy="1036638"/>
              <a:chOff x="0" y="0"/>
              <a:chExt cx="1680" cy="653"/>
            </a:xfrm>
          </p:grpSpPr>
          <p:grpSp>
            <p:nvGrpSpPr>
              <p:cNvPr id="79929" name="Group 5"/>
              <p:cNvGrpSpPr/>
              <p:nvPr/>
            </p:nvGrpSpPr>
            <p:grpSpPr bwMode="auto">
              <a:xfrm>
                <a:off x="0" y="336"/>
                <a:ext cx="864" cy="317"/>
                <a:chOff x="0" y="0"/>
                <a:chExt cx="768" cy="317"/>
              </a:xfrm>
            </p:grpSpPr>
            <p:grpSp>
              <p:nvGrpSpPr>
                <p:cNvPr id="79932" name="Group 6"/>
                <p:cNvGrpSpPr/>
                <p:nvPr/>
              </p:nvGrpSpPr>
              <p:grpSpPr bwMode="auto">
                <a:xfrm>
                  <a:off x="0" y="0"/>
                  <a:ext cx="768" cy="317"/>
                  <a:chOff x="0" y="0"/>
                  <a:chExt cx="624" cy="326"/>
                </a:xfrm>
              </p:grpSpPr>
              <p:sp>
                <p:nvSpPr>
                  <p:cNvPr id="79934" name="Rectangle 7"/>
                  <p:cNvSpPr>
                    <a:spLocks noChangeArrowheads="1"/>
                  </p:cNvSpPr>
                  <p:nvPr/>
                </p:nvSpPr>
                <p:spPr bwMode="auto">
                  <a:xfrm>
                    <a:off x="0" y="0"/>
                    <a:ext cx="624" cy="326"/>
                  </a:xfrm>
                  <a:prstGeom prst="rect">
                    <a:avLst/>
                  </a:prstGeom>
                  <a:noFill/>
                  <a:ln w="9525">
                    <a:noFill/>
                    <a:miter lim="800000"/>
                  </a:ln>
                </p:spPr>
                <p:txBody>
                  <a:bodyPr lIns="92075" tIns="46038" rIns="92075" bIns="46038"/>
                  <a:lstStyle/>
                  <a:p>
                    <a:pPr>
                      <a:spcBef>
                        <a:spcPct val="20000"/>
                      </a:spcBef>
                    </a:pPr>
                    <a:r>
                      <a:rPr lang="zh-CN" altLang="en-US" sz="2400">
                        <a:solidFill>
                          <a:srgbClr val="7030A0"/>
                        </a:solidFill>
                        <a:ea typeface="楷体_GB2312"/>
                      </a:rPr>
                      <a:t>   </a:t>
                    </a:r>
                    <a:r>
                      <a:rPr lang="en-US" altLang="zh-CN" sz="2400">
                        <a:solidFill>
                          <a:srgbClr val="7030A0"/>
                        </a:solidFill>
                        <a:ea typeface="楷体_GB2312"/>
                      </a:rPr>
                      <a:t>3695</a:t>
                    </a:r>
                  </a:p>
                </p:txBody>
              </p:sp>
              <p:sp>
                <p:nvSpPr>
                  <p:cNvPr id="79935" name="Line 8"/>
                  <p:cNvSpPr>
                    <a:spLocks noChangeShapeType="1"/>
                  </p:cNvSpPr>
                  <p:nvPr/>
                </p:nvSpPr>
                <p:spPr bwMode="auto">
                  <a:xfrm>
                    <a:off x="0" y="0"/>
                    <a:ext cx="624" cy="0"/>
                  </a:xfrm>
                  <a:prstGeom prst="line">
                    <a:avLst/>
                  </a:prstGeom>
                  <a:noFill/>
                  <a:ln w="25400">
                    <a:solidFill>
                      <a:schemeClr val="tx1"/>
                    </a:solidFill>
                    <a:round/>
                  </a:ln>
                </p:spPr>
                <p:txBody>
                  <a:bodyPr/>
                  <a:lstStyle/>
                  <a:p>
                    <a:endParaRPr lang="zh-CN" altLang="en-US"/>
                  </a:p>
                </p:txBody>
              </p:sp>
              <p:sp>
                <p:nvSpPr>
                  <p:cNvPr id="79936" name="Line 9"/>
                  <p:cNvSpPr>
                    <a:spLocks noChangeShapeType="1"/>
                  </p:cNvSpPr>
                  <p:nvPr/>
                </p:nvSpPr>
                <p:spPr bwMode="auto">
                  <a:xfrm>
                    <a:off x="0" y="326"/>
                    <a:ext cx="624" cy="0"/>
                  </a:xfrm>
                  <a:prstGeom prst="line">
                    <a:avLst/>
                  </a:prstGeom>
                  <a:noFill/>
                  <a:ln w="25400">
                    <a:solidFill>
                      <a:schemeClr val="tx1"/>
                    </a:solidFill>
                    <a:round/>
                  </a:ln>
                </p:spPr>
                <p:txBody>
                  <a:bodyPr/>
                  <a:lstStyle/>
                  <a:p>
                    <a:endParaRPr lang="zh-CN" altLang="en-US"/>
                  </a:p>
                </p:txBody>
              </p:sp>
              <p:sp>
                <p:nvSpPr>
                  <p:cNvPr id="79937" name="Line 10"/>
                  <p:cNvSpPr>
                    <a:spLocks noChangeShapeType="1"/>
                  </p:cNvSpPr>
                  <p:nvPr/>
                </p:nvSpPr>
                <p:spPr bwMode="auto">
                  <a:xfrm>
                    <a:off x="0" y="0"/>
                    <a:ext cx="0" cy="326"/>
                  </a:xfrm>
                  <a:prstGeom prst="line">
                    <a:avLst/>
                  </a:prstGeom>
                  <a:noFill/>
                  <a:ln w="25400">
                    <a:solidFill>
                      <a:schemeClr val="tx1"/>
                    </a:solidFill>
                    <a:round/>
                  </a:ln>
                </p:spPr>
                <p:txBody>
                  <a:bodyPr/>
                  <a:lstStyle/>
                  <a:p>
                    <a:endParaRPr lang="zh-CN" altLang="en-US"/>
                  </a:p>
                </p:txBody>
              </p:sp>
              <p:sp>
                <p:nvSpPr>
                  <p:cNvPr id="79938" name="Line 11"/>
                  <p:cNvSpPr>
                    <a:spLocks noChangeShapeType="1"/>
                  </p:cNvSpPr>
                  <p:nvPr/>
                </p:nvSpPr>
                <p:spPr bwMode="auto">
                  <a:xfrm>
                    <a:off x="624" y="0"/>
                    <a:ext cx="0" cy="326"/>
                  </a:xfrm>
                  <a:prstGeom prst="line">
                    <a:avLst/>
                  </a:prstGeom>
                  <a:noFill/>
                  <a:ln w="25400">
                    <a:solidFill>
                      <a:schemeClr val="tx1"/>
                    </a:solidFill>
                    <a:round/>
                  </a:ln>
                </p:spPr>
                <p:txBody>
                  <a:bodyPr/>
                  <a:lstStyle/>
                  <a:p>
                    <a:endParaRPr lang="zh-CN" altLang="en-US"/>
                  </a:p>
                </p:txBody>
              </p:sp>
            </p:grpSp>
            <p:sp>
              <p:nvSpPr>
                <p:cNvPr id="79933" name="Line 12"/>
                <p:cNvSpPr>
                  <a:spLocks noChangeShapeType="1"/>
                </p:cNvSpPr>
                <p:nvPr/>
              </p:nvSpPr>
              <p:spPr bwMode="auto">
                <a:xfrm>
                  <a:off x="240" y="0"/>
                  <a:ext cx="0" cy="317"/>
                </a:xfrm>
                <a:prstGeom prst="line">
                  <a:avLst/>
                </a:prstGeom>
                <a:noFill/>
                <a:ln w="12700">
                  <a:solidFill>
                    <a:schemeClr val="tx1"/>
                  </a:solidFill>
                  <a:round/>
                </a:ln>
              </p:spPr>
              <p:txBody>
                <a:bodyPr/>
                <a:lstStyle/>
                <a:p>
                  <a:endParaRPr lang="zh-CN" altLang="en-US"/>
                </a:p>
              </p:txBody>
            </p:sp>
          </p:grpSp>
          <p:sp>
            <p:nvSpPr>
              <p:cNvPr id="79930" name="Rectangle 13"/>
              <p:cNvSpPr>
                <a:spLocks noChangeArrowheads="1"/>
              </p:cNvSpPr>
              <p:nvPr/>
            </p:nvSpPr>
            <p:spPr bwMode="auto">
              <a:xfrm>
                <a:off x="96" y="0"/>
                <a:ext cx="528" cy="240"/>
              </a:xfrm>
              <a:prstGeom prst="rect">
                <a:avLst/>
              </a:prstGeom>
              <a:noFill/>
              <a:ln w="9525">
                <a:noFill/>
                <a:miter lim="800000"/>
              </a:ln>
            </p:spPr>
            <p:txBody>
              <a:bodyPr wrap="none" anchor="ctr"/>
              <a:lstStyle/>
              <a:p>
                <a:pPr algn="ctr"/>
                <a:r>
                  <a:rPr lang="en-US" altLang="zh-CN" sz="2400">
                    <a:solidFill>
                      <a:srgbClr val="7030A0"/>
                    </a:solidFill>
                    <a:ea typeface="楷体_GB2312"/>
                  </a:rPr>
                  <a:t>head</a:t>
                </a:r>
              </a:p>
            </p:txBody>
          </p:sp>
          <p:sp>
            <p:nvSpPr>
              <p:cNvPr id="79931" name="Line 14"/>
              <p:cNvSpPr>
                <a:spLocks noChangeShapeType="1"/>
              </p:cNvSpPr>
              <p:nvPr/>
            </p:nvSpPr>
            <p:spPr bwMode="auto">
              <a:xfrm>
                <a:off x="816" y="528"/>
                <a:ext cx="864" cy="0"/>
              </a:xfrm>
              <a:prstGeom prst="line">
                <a:avLst/>
              </a:prstGeom>
              <a:noFill/>
              <a:ln w="28575">
                <a:solidFill>
                  <a:schemeClr val="tx1"/>
                </a:solidFill>
                <a:round/>
                <a:tailEnd type="triangle" w="med" len="med"/>
              </a:ln>
            </p:spPr>
            <p:txBody>
              <a:bodyPr/>
              <a:lstStyle/>
              <a:p>
                <a:endParaRPr lang="zh-CN" altLang="en-US"/>
              </a:p>
            </p:txBody>
          </p:sp>
        </p:grpSp>
        <p:grpSp>
          <p:nvGrpSpPr>
            <p:cNvPr id="79903" name="Group 15"/>
            <p:cNvGrpSpPr/>
            <p:nvPr/>
          </p:nvGrpSpPr>
          <p:grpSpPr bwMode="auto">
            <a:xfrm>
              <a:off x="7696200" y="152400"/>
              <a:ext cx="990600" cy="6384925"/>
              <a:chOff x="0" y="0"/>
              <a:chExt cx="624" cy="4022"/>
            </a:xfrm>
          </p:grpSpPr>
          <p:grpSp>
            <p:nvGrpSpPr>
              <p:cNvPr id="79908" name="Group 16"/>
              <p:cNvGrpSpPr/>
              <p:nvPr/>
            </p:nvGrpSpPr>
            <p:grpSpPr bwMode="auto">
              <a:xfrm>
                <a:off x="0" y="2320"/>
                <a:ext cx="624" cy="1702"/>
                <a:chOff x="0" y="0"/>
                <a:chExt cx="624" cy="1702"/>
              </a:xfrm>
            </p:grpSpPr>
            <p:grpSp>
              <p:nvGrpSpPr>
                <p:cNvPr id="79921" name="Group 17"/>
                <p:cNvGrpSpPr/>
                <p:nvPr/>
              </p:nvGrpSpPr>
              <p:grpSpPr bwMode="auto">
                <a:xfrm>
                  <a:off x="0" y="851"/>
                  <a:ext cx="624" cy="624"/>
                  <a:chOff x="0" y="0"/>
                  <a:chExt cx="624" cy="624"/>
                </a:xfrm>
              </p:grpSpPr>
              <p:sp>
                <p:nvSpPr>
                  <p:cNvPr id="79927" name="Rectangle 18"/>
                  <p:cNvSpPr>
                    <a:spLocks noChangeArrowheads="1"/>
                  </p:cNvSpPr>
                  <p:nvPr/>
                </p:nvSpPr>
                <p:spPr bwMode="auto">
                  <a:xfrm>
                    <a:off x="0" y="0"/>
                    <a:ext cx="624" cy="624"/>
                  </a:xfrm>
                  <a:prstGeom prst="rect">
                    <a:avLst/>
                  </a:prstGeom>
                  <a:noFill/>
                  <a:ln w="12700">
                    <a:solidFill>
                      <a:schemeClr val="tx1"/>
                    </a:solidFill>
                    <a:miter lim="800000"/>
                  </a:ln>
                </p:spPr>
                <p:txBody>
                  <a:bodyPr wrap="none" anchor="ctr"/>
                  <a:lstStyle/>
                  <a:p>
                    <a:pPr algn="ctr"/>
                    <a:r>
                      <a:rPr lang="en-US" altLang="zh-CN" sz="2400">
                        <a:solidFill>
                          <a:srgbClr val="7030A0"/>
                        </a:solidFill>
                        <a:ea typeface="楷体_GB2312"/>
                      </a:rPr>
                      <a:t>fat</a:t>
                    </a:r>
                  </a:p>
                  <a:p>
                    <a:pPr algn="ctr"/>
                    <a:r>
                      <a:rPr lang="en-US" altLang="zh-CN" sz="2400">
                        <a:solidFill>
                          <a:srgbClr val="7030A0"/>
                        </a:solidFill>
                        <a:ea typeface="楷体_GB2312"/>
                      </a:rPr>
                      <a:t>1100</a:t>
                    </a:r>
                  </a:p>
                </p:txBody>
              </p:sp>
              <p:sp>
                <p:nvSpPr>
                  <p:cNvPr id="79928" name="Line 19"/>
                  <p:cNvSpPr>
                    <a:spLocks noChangeShapeType="1"/>
                  </p:cNvSpPr>
                  <p:nvPr/>
                </p:nvSpPr>
                <p:spPr bwMode="auto">
                  <a:xfrm>
                    <a:off x="0" y="336"/>
                    <a:ext cx="624" cy="0"/>
                  </a:xfrm>
                  <a:prstGeom prst="line">
                    <a:avLst/>
                  </a:prstGeom>
                  <a:noFill/>
                  <a:ln w="12700">
                    <a:solidFill>
                      <a:schemeClr val="tx1"/>
                    </a:solidFill>
                    <a:round/>
                  </a:ln>
                </p:spPr>
                <p:txBody>
                  <a:bodyPr/>
                  <a:lstStyle/>
                  <a:p>
                    <a:endParaRPr lang="zh-CN" altLang="en-US"/>
                  </a:p>
                </p:txBody>
              </p:sp>
            </p:grpSp>
            <p:grpSp>
              <p:nvGrpSpPr>
                <p:cNvPr id="79922" name="Group 20"/>
                <p:cNvGrpSpPr/>
                <p:nvPr/>
              </p:nvGrpSpPr>
              <p:grpSpPr bwMode="auto">
                <a:xfrm>
                  <a:off x="0" y="227"/>
                  <a:ext cx="624" cy="624"/>
                  <a:chOff x="0" y="0"/>
                  <a:chExt cx="624" cy="624"/>
                </a:xfrm>
              </p:grpSpPr>
              <p:sp>
                <p:nvSpPr>
                  <p:cNvPr id="79925" name="Rectangle 21"/>
                  <p:cNvSpPr>
                    <a:spLocks noChangeArrowheads="1"/>
                  </p:cNvSpPr>
                  <p:nvPr/>
                </p:nvSpPr>
                <p:spPr bwMode="auto">
                  <a:xfrm>
                    <a:off x="0" y="0"/>
                    <a:ext cx="624" cy="624"/>
                  </a:xfrm>
                  <a:prstGeom prst="rect">
                    <a:avLst/>
                  </a:prstGeom>
                  <a:noFill/>
                  <a:ln w="12700">
                    <a:solidFill>
                      <a:schemeClr val="tx1"/>
                    </a:solidFill>
                    <a:miter lim="800000"/>
                  </a:ln>
                </p:spPr>
                <p:txBody>
                  <a:bodyPr wrap="none" anchor="ctr"/>
                  <a:lstStyle/>
                  <a:p>
                    <a:pPr algn="ctr"/>
                    <a:r>
                      <a:rPr lang="en-US" altLang="zh-CN" sz="2400">
                        <a:solidFill>
                          <a:srgbClr val="7030A0"/>
                        </a:solidFill>
                        <a:ea typeface="楷体_GB2312"/>
                      </a:rPr>
                      <a:t>bat</a:t>
                    </a:r>
                  </a:p>
                  <a:p>
                    <a:pPr algn="ctr"/>
                    <a:r>
                      <a:rPr lang="en-US" altLang="zh-CN" sz="2400">
                        <a:solidFill>
                          <a:srgbClr val="7030A0"/>
                        </a:solidFill>
                        <a:ea typeface="楷体_GB2312"/>
                      </a:rPr>
                      <a:t>1300</a:t>
                    </a:r>
                  </a:p>
                </p:txBody>
              </p:sp>
              <p:sp>
                <p:nvSpPr>
                  <p:cNvPr id="79926" name="Line 22"/>
                  <p:cNvSpPr>
                    <a:spLocks noChangeShapeType="1"/>
                  </p:cNvSpPr>
                  <p:nvPr/>
                </p:nvSpPr>
                <p:spPr bwMode="auto">
                  <a:xfrm>
                    <a:off x="0" y="336"/>
                    <a:ext cx="624" cy="0"/>
                  </a:xfrm>
                  <a:prstGeom prst="line">
                    <a:avLst/>
                  </a:prstGeom>
                  <a:noFill/>
                  <a:ln w="12700">
                    <a:solidFill>
                      <a:schemeClr val="tx1"/>
                    </a:solidFill>
                    <a:round/>
                  </a:ln>
                </p:spPr>
                <p:txBody>
                  <a:bodyPr/>
                  <a:lstStyle/>
                  <a:p>
                    <a:endParaRPr lang="zh-CN" altLang="en-US"/>
                  </a:p>
                </p:txBody>
              </p:sp>
            </p:grpSp>
            <p:sp>
              <p:nvSpPr>
                <p:cNvPr id="79923" name="Rectangle 23"/>
                <p:cNvSpPr>
                  <a:spLocks noChangeArrowheads="1"/>
                </p:cNvSpPr>
                <p:nvPr/>
              </p:nvSpPr>
              <p:spPr bwMode="auto">
                <a:xfrm>
                  <a:off x="0" y="1475"/>
                  <a:ext cx="623" cy="227"/>
                </a:xfrm>
                <a:prstGeom prst="rect">
                  <a:avLst/>
                </a:prstGeom>
                <a:noFill/>
                <a:ln w="12700">
                  <a:solidFill>
                    <a:schemeClr val="tx1"/>
                  </a:solidFill>
                  <a:miter lim="800000"/>
                </a:ln>
              </p:spPr>
              <p:txBody>
                <a:bodyPr wrap="none" anchor="ctr"/>
                <a:lstStyle/>
                <a:p>
                  <a:pPr algn="ctr">
                    <a:spcBef>
                      <a:spcPct val="20000"/>
                    </a:spcBef>
                    <a:buClr>
                      <a:schemeClr val="accent2"/>
                    </a:buClr>
                    <a:buSzPct val="80000"/>
                    <a:buFont typeface="Wingdings" panose="05000000000000000000" pitchFamily="2" charset="2"/>
                    <a:buNone/>
                  </a:pPr>
                  <a:r>
                    <a:rPr lang="en-US" altLang="zh-CN" sz="2400">
                      <a:solidFill>
                        <a:srgbClr val="7030A0"/>
                      </a:solidFill>
                      <a:ea typeface="黑体" panose="02010609060101010101" pitchFamily="49" charset="-122"/>
                    </a:rPr>
                    <a:t>……</a:t>
                  </a:r>
                  <a:endParaRPr lang="en-US" altLang="zh-CN" sz="2400">
                    <a:solidFill>
                      <a:srgbClr val="7030A0"/>
                    </a:solidFill>
                    <a:ea typeface="楷体_GB2312"/>
                  </a:endParaRPr>
                </a:p>
              </p:txBody>
            </p:sp>
            <p:sp>
              <p:nvSpPr>
                <p:cNvPr id="79924" name="Rectangle 24"/>
                <p:cNvSpPr>
                  <a:spLocks noChangeArrowheads="1"/>
                </p:cNvSpPr>
                <p:nvPr/>
              </p:nvSpPr>
              <p:spPr bwMode="auto">
                <a:xfrm>
                  <a:off x="0" y="0"/>
                  <a:ext cx="623" cy="227"/>
                </a:xfrm>
                <a:prstGeom prst="rect">
                  <a:avLst/>
                </a:prstGeom>
                <a:noFill/>
                <a:ln w="12700">
                  <a:solidFill>
                    <a:schemeClr val="tx1"/>
                  </a:solidFill>
                  <a:miter lim="800000"/>
                </a:ln>
              </p:spPr>
              <p:txBody>
                <a:bodyPr wrap="none" anchor="ctr"/>
                <a:lstStyle/>
                <a:p>
                  <a:pPr algn="ctr">
                    <a:spcBef>
                      <a:spcPct val="20000"/>
                    </a:spcBef>
                    <a:buClr>
                      <a:schemeClr val="accent2"/>
                    </a:buClr>
                    <a:buSzPct val="80000"/>
                    <a:buFont typeface="Wingdings" panose="05000000000000000000" pitchFamily="2" charset="2"/>
                    <a:buNone/>
                  </a:pPr>
                  <a:r>
                    <a:rPr lang="en-US" altLang="zh-CN" sz="2400">
                      <a:solidFill>
                        <a:srgbClr val="7030A0"/>
                      </a:solidFill>
                      <a:ea typeface="黑体" panose="02010609060101010101" pitchFamily="49" charset="-122"/>
                    </a:rPr>
                    <a:t>……</a:t>
                  </a:r>
                  <a:endParaRPr lang="en-US" altLang="zh-CN" sz="2400">
                    <a:solidFill>
                      <a:srgbClr val="7030A0"/>
                    </a:solidFill>
                    <a:ea typeface="楷体_GB2312"/>
                  </a:endParaRPr>
                </a:p>
              </p:txBody>
            </p:sp>
          </p:grpSp>
          <p:grpSp>
            <p:nvGrpSpPr>
              <p:cNvPr id="79909" name="Group 25"/>
              <p:cNvGrpSpPr/>
              <p:nvPr/>
            </p:nvGrpSpPr>
            <p:grpSpPr bwMode="auto">
              <a:xfrm>
                <a:off x="0" y="0"/>
                <a:ext cx="624" cy="2325"/>
                <a:chOff x="0" y="0"/>
                <a:chExt cx="624" cy="2325"/>
              </a:xfrm>
            </p:grpSpPr>
            <p:grpSp>
              <p:nvGrpSpPr>
                <p:cNvPr id="79910" name="Group 26"/>
                <p:cNvGrpSpPr/>
                <p:nvPr/>
              </p:nvGrpSpPr>
              <p:grpSpPr bwMode="auto">
                <a:xfrm>
                  <a:off x="0" y="1079"/>
                  <a:ext cx="624" cy="624"/>
                  <a:chOff x="0" y="0"/>
                  <a:chExt cx="624" cy="624"/>
                </a:xfrm>
              </p:grpSpPr>
              <p:sp>
                <p:nvSpPr>
                  <p:cNvPr id="79919" name="Rectangle 27"/>
                  <p:cNvSpPr>
                    <a:spLocks noChangeArrowheads="1"/>
                  </p:cNvSpPr>
                  <p:nvPr/>
                </p:nvSpPr>
                <p:spPr bwMode="auto">
                  <a:xfrm>
                    <a:off x="0" y="0"/>
                    <a:ext cx="624" cy="624"/>
                  </a:xfrm>
                  <a:prstGeom prst="rect">
                    <a:avLst/>
                  </a:prstGeom>
                  <a:noFill/>
                  <a:ln w="12700">
                    <a:solidFill>
                      <a:schemeClr val="tx1"/>
                    </a:solidFill>
                    <a:miter lim="800000"/>
                  </a:ln>
                </p:spPr>
                <p:txBody>
                  <a:bodyPr wrap="none" anchor="ctr"/>
                  <a:lstStyle/>
                  <a:p>
                    <a:pPr algn="ctr"/>
                    <a:r>
                      <a:rPr lang="en-US" altLang="zh-CN" sz="2400">
                        <a:solidFill>
                          <a:srgbClr val="7030A0"/>
                        </a:solidFill>
                        <a:ea typeface="楷体_GB2312"/>
                      </a:rPr>
                      <a:t>cat</a:t>
                    </a:r>
                  </a:p>
                  <a:p>
                    <a:pPr algn="ctr"/>
                    <a:r>
                      <a:rPr lang="en-US" altLang="zh-CN" sz="2400">
                        <a:solidFill>
                          <a:srgbClr val="7030A0"/>
                        </a:solidFill>
                        <a:ea typeface="楷体_GB2312"/>
                      </a:rPr>
                      <a:t>1305</a:t>
                    </a:r>
                  </a:p>
                </p:txBody>
              </p:sp>
              <p:sp>
                <p:nvSpPr>
                  <p:cNvPr id="79920" name="Line 28"/>
                  <p:cNvSpPr>
                    <a:spLocks noChangeShapeType="1"/>
                  </p:cNvSpPr>
                  <p:nvPr/>
                </p:nvSpPr>
                <p:spPr bwMode="auto">
                  <a:xfrm>
                    <a:off x="0" y="336"/>
                    <a:ext cx="624" cy="0"/>
                  </a:xfrm>
                  <a:prstGeom prst="line">
                    <a:avLst/>
                  </a:prstGeom>
                  <a:noFill/>
                  <a:ln w="12700">
                    <a:solidFill>
                      <a:schemeClr val="tx1"/>
                    </a:solidFill>
                    <a:round/>
                  </a:ln>
                </p:spPr>
                <p:txBody>
                  <a:bodyPr/>
                  <a:lstStyle/>
                  <a:p>
                    <a:endParaRPr lang="zh-CN" altLang="en-US"/>
                  </a:p>
                </p:txBody>
              </p:sp>
            </p:grpSp>
            <p:grpSp>
              <p:nvGrpSpPr>
                <p:cNvPr id="79911" name="Group 29"/>
                <p:cNvGrpSpPr/>
                <p:nvPr/>
              </p:nvGrpSpPr>
              <p:grpSpPr bwMode="auto">
                <a:xfrm>
                  <a:off x="0" y="1701"/>
                  <a:ext cx="624" cy="624"/>
                  <a:chOff x="0" y="0"/>
                  <a:chExt cx="624" cy="624"/>
                </a:xfrm>
              </p:grpSpPr>
              <p:sp>
                <p:nvSpPr>
                  <p:cNvPr id="79917" name="Rectangle 30"/>
                  <p:cNvSpPr>
                    <a:spLocks noChangeArrowheads="1"/>
                  </p:cNvSpPr>
                  <p:nvPr/>
                </p:nvSpPr>
                <p:spPr bwMode="auto">
                  <a:xfrm>
                    <a:off x="0" y="0"/>
                    <a:ext cx="624" cy="624"/>
                  </a:xfrm>
                  <a:prstGeom prst="rect">
                    <a:avLst/>
                  </a:prstGeom>
                  <a:noFill/>
                  <a:ln w="12700">
                    <a:solidFill>
                      <a:schemeClr val="tx1"/>
                    </a:solidFill>
                    <a:miter lim="800000"/>
                  </a:ln>
                </p:spPr>
                <p:txBody>
                  <a:bodyPr wrap="none" anchor="ctr"/>
                  <a:lstStyle/>
                  <a:p>
                    <a:pPr algn="ctr"/>
                    <a:r>
                      <a:rPr lang="en-US" altLang="zh-CN" sz="2400">
                        <a:solidFill>
                          <a:srgbClr val="7030A0"/>
                        </a:solidFill>
                        <a:ea typeface="楷体_GB2312"/>
                      </a:rPr>
                      <a:t>eat</a:t>
                    </a:r>
                  </a:p>
                  <a:p>
                    <a:pPr algn="ctr"/>
                    <a:r>
                      <a:rPr lang="en-US" altLang="zh-CN" sz="2400">
                        <a:solidFill>
                          <a:srgbClr val="7030A0"/>
                        </a:solidFill>
                        <a:ea typeface="楷体_GB2312"/>
                      </a:rPr>
                      <a:t>3700</a:t>
                    </a:r>
                  </a:p>
                </p:txBody>
              </p:sp>
              <p:sp>
                <p:nvSpPr>
                  <p:cNvPr id="79918" name="Line 31"/>
                  <p:cNvSpPr>
                    <a:spLocks noChangeShapeType="1"/>
                  </p:cNvSpPr>
                  <p:nvPr/>
                </p:nvSpPr>
                <p:spPr bwMode="auto">
                  <a:xfrm>
                    <a:off x="0" y="336"/>
                    <a:ext cx="624" cy="0"/>
                  </a:xfrm>
                  <a:prstGeom prst="line">
                    <a:avLst/>
                  </a:prstGeom>
                  <a:noFill/>
                  <a:ln w="12700">
                    <a:solidFill>
                      <a:schemeClr val="tx1"/>
                    </a:solidFill>
                    <a:round/>
                  </a:ln>
                </p:spPr>
                <p:txBody>
                  <a:bodyPr/>
                  <a:lstStyle/>
                  <a:p>
                    <a:endParaRPr lang="zh-CN" altLang="en-US"/>
                  </a:p>
                </p:txBody>
              </p:sp>
            </p:grpSp>
            <p:grpSp>
              <p:nvGrpSpPr>
                <p:cNvPr id="79912" name="Group 32"/>
                <p:cNvGrpSpPr/>
                <p:nvPr/>
              </p:nvGrpSpPr>
              <p:grpSpPr bwMode="auto">
                <a:xfrm>
                  <a:off x="0" y="227"/>
                  <a:ext cx="624" cy="624"/>
                  <a:chOff x="0" y="0"/>
                  <a:chExt cx="624" cy="624"/>
                </a:xfrm>
              </p:grpSpPr>
              <p:sp>
                <p:nvSpPr>
                  <p:cNvPr id="79915" name="Rectangle 33"/>
                  <p:cNvSpPr>
                    <a:spLocks noChangeArrowheads="1"/>
                  </p:cNvSpPr>
                  <p:nvPr/>
                </p:nvSpPr>
                <p:spPr bwMode="auto">
                  <a:xfrm>
                    <a:off x="0" y="0"/>
                    <a:ext cx="624" cy="624"/>
                  </a:xfrm>
                  <a:prstGeom prst="rect">
                    <a:avLst/>
                  </a:prstGeom>
                  <a:noFill/>
                  <a:ln w="12700">
                    <a:solidFill>
                      <a:schemeClr val="tx1"/>
                    </a:solidFill>
                    <a:miter lim="800000"/>
                  </a:ln>
                </p:spPr>
                <p:txBody>
                  <a:bodyPr wrap="none" anchor="ctr"/>
                  <a:lstStyle/>
                  <a:p>
                    <a:pPr algn="ctr"/>
                    <a:r>
                      <a:rPr lang="en-US" altLang="zh-CN" sz="2400">
                        <a:solidFill>
                          <a:srgbClr val="7030A0"/>
                        </a:solidFill>
                        <a:ea typeface="楷体_GB2312"/>
                      </a:rPr>
                      <a:t>hat</a:t>
                    </a:r>
                  </a:p>
                  <a:p>
                    <a:pPr algn="ctr"/>
                    <a:r>
                      <a:rPr lang="en-US" altLang="zh-CN" sz="2400">
                        <a:solidFill>
                          <a:srgbClr val="7030A0"/>
                        </a:solidFill>
                        <a:ea typeface="楷体_GB2312"/>
                      </a:rPr>
                      <a:t>NULL</a:t>
                    </a:r>
                  </a:p>
                </p:txBody>
              </p:sp>
              <p:sp>
                <p:nvSpPr>
                  <p:cNvPr id="79916" name="Line 34"/>
                  <p:cNvSpPr>
                    <a:spLocks noChangeShapeType="1"/>
                  </p:cNvSpPr>
                  <p:nvPr/>
                </p:nvSpPr>
                <p:spPr bwMode="auto">
                  <a:xfrm>
                    <a:off x="0" y="336"/>
                    <a:ext cx="624" cy="0"/>
                  </a:xfrm>
                  <a:prstGeom prst="line">
                    <a:avLst/>
                  </a:prstGeom>
                  <a:noFill/>
                  <a:ln w="12700">
                    <a:solidFill>
                      <a:schemeClr val="tx1"/>
                    </a:solidFill>
                    <a:round/>
                  </a:ln>
                </p:spPr>
                <p:txBody>
                  <a:bodyPr/>
                  <a:lstStyle/>
                  <a:p>
                    <a:endParaRPr lang="zh-CN" altLang="en-US"/>
                  </a:p>
                </p:txBody>
              </p:sp>
            </p:grpSp>
            <p:sp>
              <p:nvSpPr>
                <p:cNvPr id="79913" name="Rectangle 35"/>
                <p:cNvSpPr>
                  <a:spLocks noChangeArrowheads="1"/>
                </p:cNvSpPr>
                <p:nvPr/>
              </p:nvSpPr>
              <p:spPr bwMode="auto">
                <a:xfrm>
                  <a:off x="1" y="849"/>
                  <a:ext cx="623" cy="227"/>
                </a:xfrm>
                <a:prstGeom prst="rect">
                  <a:avLst/>
                </a:prstGeom>
                <a:noFill/>
                <a:ln w="12700">
                  <a:solidFill>
                    <a:schemeClr val="tx1"/>
                  </a:solidFill>
                  <a:miter lim="800000"/>
                </a:ln>
              </p:spPr>
              <p:txBody>
                <a:bodyPr wrap="none" anchor="ctr"/>
                <a:lstStyle/>
                <a:p>
                  <a:pPr algn="ctr">
                    <a:spcBef>
                      <a:spcPct val="20000"/>
                    </a:spcBef>
                    <a:buClr>
                      <a:schemeClr val="accent2"/>
                    </a:buClr>
                    <a:buSzPct val="80000"/>
                    <a:buFont typeface="Wingdings" panose="05000000000000000000" pitchFamily="2" charset="2"/>
                    <a:buNone/>
                  </a:pPr>
                  <a:r>
                    <a:rPr lang="en-US" altLang="zh-CN" sz="2400">
                      <a:solidFill>
                        <a:srgbClr val="7030A0"/>
                      </a:solidFill>
                      <a:ea typeface="黑体" panose="02010609060101010101" pitchFamily="49" charset="-122"/>
                    </a:rPr>
                    <a:t>……</a:t>
                  </a:r>
                  <a:endParaRPr lang="en-US" altLang="zh-CN" sz="2400">
                    <a:solidFill>
                      <a:srgbClr val="7030A0"/>
                    </a:solidFill>
                    <a:ea typeface="楷体_GB2312"/>
                  </a:endParaRPr>
                </a:p>
              </p:txBody>
            </p:sp>
            <p:sp>
              <p:nvSpPr>
                <p:cNvPr id="79914" name="Rectangle 36"/>
                <p:cNvSpPr>
                  <a:spLocks noChangeArrowheads="1"/>
                </p:cNvSpPr>
                <p:nvPr/>
              </p:nvSpPr>
              <p:spPr bwMode="auto">
                <a:xfrm>
                  <a:off x="1" y="0"/>
                  <a:ext cx="623" cy="227"/>
                </a:xfrm>
                <a:prstGeom prst="rect">
                  <a:avLst/>
                </a:prstGeom>
                <a:noFill/>
                <a:ln w="12700">
                  <a:solidFill>
                    <a:schemeClr val="tx1"/>
                  </a:solidFill>
                  <a:miter lim="800000"/>
                </a:ln>
              </p:spPr>
              <p:txBody>
                <a:bodyPr wrap="none" anchor="ctr"/>
                <a:lstStyle/>
                <a:p>
                  <a:pPr algn="ctr">
                    <a:spcBef>
                      <a:spcPct val="20000"/>
                    </a:spcBef>
                    <a:buClr>
                      <a:schemeClr val="accent2"/>
                    </a:buClr>
                    <a:buSzPct val="80000"/>
                    <a:buFont typeface="Wingdings" panose="05000000000000000000" pitchFamily="2" charset="2"/>
                    <a:buNone/>
                  </a:pPr>
                  <a:r>
                    <a:rPr lang="en-US" altLang="zh-CN" sz="2400">
                      <a:solidFill>
                        <a:srgbClr val="7030A0"/>
                      </a:solidFill>
                      <a:ea typeface="黑体" panose="02010609060101010101" pitchFamily="49" charset="-122"/>
                    </a:rPr>
                    <a:t>……</a:t>
                  </a:r>
                  <a:endParaRPr lang="en-US" altLang="zh-CN" sz="2400">
                    <a:solidFill>
                      <a:srgbClr val="7030A0"/>
                    </a:solidFill>
                    <a:ea typeface="楷体_GB2312"/>
                  </a:endParaRPr>
                </a:p>
              </p:txBody>
            </p:sp>
          </p:grpSp>
        </p:grpSp>
        <p:sp>
          <p:nvSpPr>
            <p:cNvPr id="79904" name="Rectangle 37"/>
            <p:cNvSpPr>
              <a:spLocks noChangeArrowheads="1"/>
            </p:cNvSpPr>
            <p:nvPr/>
          </p:nvSpPr>
          <p:spPr bwMode="auto">
            <a:xfrm>
              <a:off x="6705600" y="515938"/>
              <a:ext cx="990600" cy="525463"/>
            </a:xfrm>
            <a:prstGeom prst="rect">
              <a:avLst/>
            </a:prstGeom>
            <a:noFill/>
            <a:ln w="9525">
              <a:noFill/>
              <a:miter lim="800000"/>
            </a:ln>
          </p:spPr>
          <p:txBody>
            <a:bodyPr wrap="none" anchor="ctr"/>
            <a:lstStyle/>
            <a:p>
              <a:pPr algn="ctr"/>
              <a:r>
                <a:rPr lang="en-US" altLang="zh-CN" sz="2400">
                  <a:solidFill>
                    <a:srgbClr val="7030A0"/>
                  </a:solidFill>
                  <a:ea typeface="楷体_GB2312"/>
                </a:rPr>
                <a:t>1100</a:t>
              </a:r>
            </a:p>
          </p:txBody>
        </p:sp>
        <p:sp>
          <p:nvSpPr>
            <p:cNvPr id="79905" name="Rectangle 38"/>
            <p:cNvSpPr>
              <a:spLocks noChangeArrowheads="1"/>
            </p:cNvSpPr>
            <p:nvPr/>
          </p:nvSpPr>
          <p:spPr bwMode="auto">
            <a:xfrm>
              <a:off x="6705600" y="5178425"/>
              <a:ext cx="990600" cy="525463"/>
            </a:xfrm>
            <a:prstGeom prst="rect">
              <a:avLst/>
            </a:prstGeom>
            <a:noFill/>
            <a:ln w="9525">
              <a:noFill/>
              <a:miter lim="800000"/>
            </a:ln>
          </p:spPr>
          <p:txBody>
            <a:bodyPr wrap="none" anchor="ctr"/>
            <a:lstStyle/>
            <a:p>
              <a:pPr algn="ctr"/>
              <a:r>
                <a:rPr lang="en-US" altLang="zh-CN" sz="2400">
                  <a:solidFill>
                    <a:srgbClr val="7030A0"/>
                  </a:solidFill>
                  <a:ea typeface="楷体_GB2312"/>
                </a:rPr>
                <a:t>3700</a:t>
              </a:r>
            </a:p>
          </p:txBody>
        </p:sp>
        <p:sp>
          <p:nvSpPr>
            <p:cNvPr id="79906" name="Rectangle 39"/>
            <p:cNvSpPr>
              <a:spLocks noChangeArrowheads="1"/>
            </p:cNvSpPr>
            <p:nvPr/>
          </p:nvSpPr>
          <p:spPr bwMode="auto">
            <a:xfrm>
              <a:off x="6705600" y="1873250"/>
              <a:ext cx="990600" cy="525463"/>
            </a:xfrm>
            <a:prstGeom prst="rect">
              <a:avLst/>
            </a:prstGeom>
            <a:noFill/>
            <a:ln w="9525">
              <a:noFill/>
              <a:miter lim="800000"/>
            </a:ln>
          </p:spPr>
          <p:txBody>
            <a:bodyPr wrap="none" anchor="ctr"/>
            <a:lstStyle/>
            <a:p>
              <a:pPr algn="ctr"/>
              <a:r>
                <a:rPr lang="en-US" altLang="zh-CN" sz="2400">
                  <a:solidFill>
                    <a:srgbClr val="7030A0"/>
                  </a:solidFill>
                  <a:ea typeface="楷体_GB2312"/>
                </a:rPr>
                <a:t>1300</a:t>
              </a:r>
            </a:p>
          </p:txBody>
        </p:sp>
        <p:sp>
          <p:nvSpPr>
            <p:cNvPr id="79907" name="Rectangle 40"/>
            <p:cNvSpPr>
              <a:spLocks noChangeArrowheads="1"/>
            </p:cNvSpPr>
            <p:nvPr/>
          </p:nvSpPr>
          <p:spPr bwMode="auto">
            <a:xfrm>
              <a:off x="6705600" y="2847975"/>
              <a:ext cx="990600" cy="525463"/>
            </a:xfrm>
            <a:prstGeom prst="rect">
              <a:avLst/>
            </a:prstGeom>
            <a:noFill/>
            <a:ln w="9525">
              <a:noFill/>
              <a:miter lim="800000"/>
            </a:ln>
          </p:spPr>
          <p:txBody>
            <a:bodyPr wrap="none" anchor="ctr"/>
            <a:lstStyle/>
            <a:p>
              <a:pPr algn="ctr"/>
              <a:r>
                <a:rPr lang="en-US" altLang="zh-CN" sz="2400">
                  <a:solidFill>
                    <a:srgbClr val="7030A0"/>
                  </a:solidFill>
                  <a:ea typeface="楷体_GB2312"/>
                </a:rPr>
                <a:t>1305</a:t>
              </a:r>
            </a:p>
          </p:txBody>
        </p:sp>
      </p:grpSp>
      <p:grpSp>
        <p:nvGrpSpPr>
          <p:cNvPr id="63493" name="Group 41"/>
          <p:cNvGrpSpPr/>
          <p:nvPr/>
        </p:nvGrpSpPr>
        <p:grpSpPr bwMode="auto">
          <a:xfrm>
            <a:off x="1600201" y="4953000"/>
            <a:ext cx="6727825" cy="915988"/>
            <a:chOff x="0" y="0"/>
            <a:chExt cx="4238" cy="577"/>
          </a:xfrm>
        </p:grpSpPr>
        <p:grpSp>
          <p:nvGrpSpPr>
            <p:cNvPr id="79877" name="Group 42"/>
            <p:cNvGrpSpPr/>
            <p:nvPr/>
          </p:nvGrpSpPr>
          <p:grpSpPr bwMode="auto">
            <a:xfrm>
              <a:off x="742" y="259"/>
              <a:ext cx="720" cy="317"/>
              <a:chOff x="0" y="0"/>
              <a:chExt cx="720" cy="317"/>
            </a:xfrm>
          </p:grpSpPr>
          <p:sp>
            <p:nvSpPr>
              <p:cNvPr id="79899" name="Rectangle 43"/>
              <p:cNvSpPr>
                <a:spLocks noChangeArrowheads="1"/>
              </p:cNvSpPr>
              <p:nvPr/>
            </p:nvSpPr>
            <p:spPr bwMode="auto">
              <a:xfrm>
                <a:off x="0" y="0"/>
                <a:ext cx="544" cy="317"/>
              </a:xfrm>
              <a:prstGeom prst="rect">
                <a:avLst/>
              </a:prstGeom>
              <a:noFill/>
              <a:ln w="12700">
                <a:solidFill>
                  <a:schemeClr val="tx1"/>
                </a:solidFill>
                <a:miter lim="800000"/>
              </a:ln>
            </p:spPr>
            <p:txBody>
              <a:bodyPr wrap="none" anchor="ctr"/>
              <a:lstStyle/>
              <a:p>
                <a:pPr algn="ctr"/>
                <a:r>
                  <a:rPr lang="en-US" altLang="zh-CN" sz="2400">
                    <a:ea typeface="楷体_GB2312"/>
                  </a:rPr>
                  <a:t>  bat    </a:t>
                </a:r>
              </a:p>
            </p:txBody>
          </p:sp>
          <p:sp>
            <p:nvSpPr>
              <p:cNvPr id="79900" name="Line 44"/>
              <p:cNvSpPr>
                <a:spLocks noChangeShapeType="1"/>
              </p:cNvSpPr>
              <p:nvPr/>
            </p:nvSpPr>
            <p:spPr bwMode="auto">
              <a:xfrm>
                <a:off x="430" y="0"/>
                <a:ext cx="0" cy="317"/>
              </a:xfrm>
              <a:prstGeom prst="line">
                <a:avLst/>
              </a:prstGeom>
              <a:noFill/>
              <a:ln w="12700">
                <a:solidFill>
                  <a:schemeClr val="tx1"/>
                </a:solidFill>
                <a:round/>
              </a:ln>
            </p:spPr>
            <p:txBody>
              <a:bodyPr/>
              <a:lstStyle/>
              <a:p>
                <a:endParaRPr lang="zh-CN" altLang="en-US"/>
              </a:p>
            </p:txBody>
          </p:sp>
          <p:sp>
            <p:nvSpPr>
              <p:cNvPr id="79901" name="Line 45"/>
              <p:cNvSpPr>
                <a:spLocks noChangeShapeType="1"/>
              </p:cNvSpPr>
              <p:nvPr/>
            </p:nvSpPr>
            <p:spPr bwMode="auto">
              <a:xfrm>
                <a:off x="480" y="144"/>
                <a:ext cx="240" cy="0"/>
              </a:xfrm>
              <a:prstGeom prst="line">
                <a:avLst/>
              </a:prstGeom>
              <a:noFill/>
              <a:ln w="12700">
                <a:solidFill>
                  <a:schemeClr val="tx1"/>
                </a:solidFill>
                <a:round/>
                <a:tailEnd type="triangle" w="med" len="med"/>
              </a:ln>
            </p:spPr>
            <p:txBody>
              <a:bodyPr/>
              <a:lstStyle/>
              <a:p>
                <a:endParaRPr lang="zh-CN" altLang="en-US"/>
              </a:p>
            </p:txBody>
          </p:sp>
        </p:grpSp>
        <p:grpSp>
          <p:nvGrpSpPr>
            <p:cNvPr id="79878" name="Group 46"/>
            <p:cNvGrpSpPr/>
            <p:nvPr/>
          </p:nvGrpSpPr>
          <p:grpSpPr bwMode="auto">
            <a:xfrm>
              <a:off x="1472" y="249"/>
              <a:ext cx="720" cy="317"/>
              <a:chOff x="0" y="0"/>
              <a:chExt cx="720" cy="317"/>
            </a:xfrm>
          </p:grpSpPr>
          <p:sp>
            <p:nvSpPr>
              <p:cNvPr id="79896" name="Rectangle 47"/>
              <p:cNvSpPr>
                <a:spLocks noChangeArrowheads="1"/>
              </p:cNvSpPr>
              <p:nvPr/>
            </p:nvSpPr>
            <p:spPr bwMode="auto">
              <a:xfrm>
                <a:off x="0" y="0"/>
                <a:ext cx="544" cy="317"/>
              </a:xfrm>
              <a:prstGeom prst="rect">
                <a:avLst/>
              </a:prstGeom>
              <a:noFill/>
              <a:ln w="12700">
                <a:solidFill>
                  <a:schemeClr val="tx1"/>
                </a:solidFill>
                <a:miter lim="800000"/>
              </a:ln>
            </p:spPr>
            <p:txBody>
              <a:bodyPr wrap="none" anchor="ctr"/>
              <a:lstStyle/>
              <a:p>
                <a:pPr algn="ctr"/>
                <a:r>
                  <a:rPr lang="en-US" altLang="zh-CN" sz="2400">
                    <a:ea typeface="楷体_GB2312"/>
                  </a:rPr>
                  <a:t>  cat    </a:t>
                </a:r>
              </a:p>
            </p:txBody>
          </p:sp>
          <p:sp>
            <p:nvSpPr>
              <p:cNvPr id="79897" name="Line 48"/>
              <p:cNvSpPr>
                <a:spLocks noChangeShapeType="1"/>
              </p:cNvSpPr>
              <p:nvPr/>
            </p:nvSpPr>
            <p:spPr bwMode="auto">
              <a:xfrm>
                <a:off x="430" y="0"/>
                <a:ext cx="0" cy="317"/>
              </a:xfrm>
              <a:prstGeom prst="line">
                <a:avLst/>
              </a:prstGeom>
              <a:noFill/>
              <a:ln w="12700">
                <a:solidFill>
                  <a:schemeClr val="tx1"/>
                </a:solidFill>
                <a:round/>
              </a:ln>
            </p:spPr>
            <p:txBody>
              <a:bodyPr/>
              <a:lstStyle/>
              <a:p>
                <a:endParaRPr lang="zh-CN" altLang="en-US"/>
              </a:p>
            </p:txBody>
          </p:sp>
          <p:sp>
            <p:nvSpPr>
              <p:cNvPr id="79898" name="Line 49"/>
              <p:cNvSpPr>
                <a:spLocks noChangeShapeType="1"/>
              </p:cNvSpPr>
              <p:nvPr/>
            </p:nvSpPr>
            <p:spPr bwMode="auto">
              <a:xfrm>
                <a:off x="480" y="144"/>
                <a:ext cx="240" cy="0"/>
              </a:xfrm>
              <a:prstGeom prst="line">
                <a:avLst/>
              </a:prstGeom>
              <a:noFill/>
              <a:ln w="12700">
                <a:solidFill>
                  <a:schemeClr val="tx1"/>
                </a:solidFill>
                <a:round/>
                <a:tailEnd type="triangle" w="med" len="med"/>
              </a:ln>
            </p:spPr>
            <p:txBody>
              <a:bodyPr/>
              <a:lstStyle/>
              <a:p>
                <a:endParaRPr lang="zh-CN" altLang="en-US"/>
              </a:p>
            </p:txBody>
          </p:sp>
        </p:grpSp>
        <p:grpSp>
          <p:nvGrpSpPr>
            <p:cNvPr id="79879" name="Group 50"/>
            <p:cNvGrpSpPr/>
            <p:nvPr/>
          </p:nvGrpSpPr>
          <p:grpSpPr bwMode="auto">
            <a:xfrm>
              <a:off x="2202" y="240"/>
              <a:ext cx="720" cy="317"/>
              <a:chOff x="0" y="0"/>
              <a:chExt cx="720" cy="317"/>
            </a:xfrm>
          </p:grpSpPr>
          <p:sp>
            <p:nvSpPr>
              <p:cNvPr id="79893" name="Rectangle 51"/>
              <p:cNvSpPr>
                <a:spLocks noChangeArrowheads="1"/>
              </p:cNvSpPr>
              <p:nvPr/>
            </p:nvSpPr>
            <p:spPr bwMode="auto">
              <a:xfrm>
                <a:off x="0" y="0"/>
                <a:ext cx="544" cy="317"/>
              </a:xfrm>
              <a:prstGeom prst="rect">
                <a:avLst/>
              </a:prstGeom>
              <a:noFill/>
              <a:ln w="12700">
                <a:solidFill>
                  <a:schemeClr val="tx1"/>
                </a:solidFill>
                <a:miter lim="800000"/>
              </a:ln>
            </p:spPr>
            <p:txBody>
              <a:bodyPr wrap="none" anchor="ctr"/>
              <a:lstStyle/>
              <a:p>
                <a:pPr algn="ctr"/>
                <a:r>
                  <a:rPr lang="en-US" altLang="zh-CN" sz="2400">
                    <a:ea typeface="楷体_GB2312"/>
                  </a:rPr>
                  <a:t>  eat    </a:t>
                </a:r>
              </a:p>
            </p:txBody>
          </p:sp>
          <p:sp>
            <p:nvSpPr>
              <p:cNvPr id="79894" name="Line 52"/>
              <p:cNvSpPr>
                <a:spLocks noChangeShapeType="1"/>
              </p:cNvSpPr>
              <p:nvPr/>
            </p:nvSpPr>
            <p:spPr bwMode="auto">
              <a:xfrm>
                <a:off x="430" y="0"/>
                <a:ext cx="0" cy="317"/>
              </a:xfrm>
              <a:prstGeom prst="line">
                <a:avLst/>
              </a:prstGeom>
              <a:noFill/>
              <a:ln w="12700">
                <a:solidFill>
                  <a:schemeClr val="tx1"/>
                </a:solidFill>
                <a:round/>
              </a:ln>
            </p:spPr>
            <p:txBody>
              <a:bodyPr/>
              <a:lstStyle/>
              <a:p>
                <a:endParaRPr lang="zh-CN" altLang="en-US"/>
              </a:p>
            </p:txBody>
          </p:sp>
          <p:sp>
            <p:nvSpPr>
              <p:cNvPr id="79895" name="Line 53"/>
              <p:cNvSpPr>
                <a:spLocks noChangeShapeType="1"/>
              </p:cNvSpPr>
              <p:nvPr/>
            </p:nvSpPr>
            <p:spPr bwMode="auto">
              <a:xfrm>
                <a:off x="480" y="144"/>
                <a:ext cx="240" cy="0"/>
              </a:xfrm>
              <a:prstGeom prst="line">
                <a:avLst/>
              </a:prstGeom>
              <a:noFill/>
              <a:ln w="12700">
                <a:solidFill>
                  <a:schemeClr val="tx1"/>
                </a:solidFill>
                <a:round/>
                <a:tailEnd type="triangle" w="med" len="med"/>
              </a:ln>
            </p:spPr>
            <p:txBody>
              <a:bodyPr/>
              <a:lstStyle/>
              <a:p>
                <a:endParaRPr lang="zh-CN" altLang="en-US"/>
              </a:p>
            </p:txBody>
          </p:sp>
        </p:grpSp>
        <p:grpSp>
          <p:nvGrpSpPr>
            <p:cNvPr id="79880" name="Group 54"/>
            <p:cNvGrpSpPr/>
            <p:nvPr/>
          </p:nvGrpSpPr>
          <p:grpSpPr bwMode="auto">
            <a:xfrm>
              <a:off x="2922" y="240"/>
              <a:ext cx="720" cy="327"/>
              <a:chOff x="0" y="0"/>
              <a:chExt cx="720" cy="327"/>
            </a:xfrm>
          </p:grpSpPr>
          <p:sp>
            <p:nvSpPr>
              <p:cNvPr id="79890" name="Rectangle 55"/>
              <p:cNvSpPr>
                <a:spLocks noChangeArrowheads="1"/>
              </p:cNvSpPr>
              <p:nvPr/>
            </p:nvSpPr>
            <p:spPr bwMode="auto">
              <a:xfrm>
                <a:off x="0" y="0"/>
                <a:ext cx="544" cy="317"/>
              </a:xfrm>
              <a:prstGeom prst="rect">
                <a:avLst/>
              </a:prstGeom>
              <a:noFill/>
              <a:ln w="12700">
                <a:solidFill>
                  <a:schemeClr val="tx1"/>
                </a:solidFill>
                <a:miter lim="800000"/>
              </a:ln>
            </p:spPr>
            <p:txBody>
              <a:bodyPr wrap="none" anchor="ctr"/>
              <a:lstStyle/>
              <a:p>
                <a:pPr algn="ctr"/>
                <a:r>
                  <a:rPr lang="en-US" altLang="zh-CN" sz="2400">
                    <a:ea typeface="楷体_GB2312"/>
                  </a:rPr>
                  <a:t>  fat    </a:t>
                </a:r>
              </a:p>
            </p:txBody>
          </p:sp>
          <p:sp>
            <p:nvSpPr>
              <p:cNvPr id="79891" name="Line 56"/>
              <p:cNvSpPr>
                <a:spLocks noChangeShapeType="1"/>
              </p:cNvSpPr>
              <p:nvPr/>
            </p:nvSpPr>
            <p:spPr bwMode="auto">
              <a:xfrm>
                <a:off x="430" y="10"/>
                <a:ext cx="0" cy="317"/>
              </a:xfrm>
              <a:prstGeom prst="line">
                <a:avLst/>
              </a:prstGeom>
              <a:noFill/>
              <a:ln w="12700">
                <a:solidFill>
                  <a:schemeClr val="tx1"/>
                </a:solidFill>
                <a:round/>
              </a:ln>
            </p:spPr>
            <p:txBody>
              <a:bodyPr/>
              <a:lstStyle/>
              <a:p>
                <a:endParaRPr lang="zh-CN" altLang="en-US"/>
              </a:p>
            </p:txBody>
          </p:sp>
          <p:sp>
            <p:nvSpPr>
              <p:cNvPr id="79892" name="Line 57"/>
              <p:cNvSpPr>
                <a:spLocks noChangeShapeType="1"/>
              </p:cNvSpPr>
              <p:nvPr/>
            </p:nvSpPr>
            <p:spPr bwMode="auto">
              <a:xfrm>
                <a:off x="480" y="144"/>
                <a:ext cx="240" cy="0"/>
              </a:xfrm>
              <a:prstGeom prst="line">
                <a:avLst/>
              </a:prstGeom>
              <a:noFill/>
              <a:ln w="12700">
                <a:solidFill>
                  <a:schemeClr val="tx1"/>
                </a:solidFill>
                <a:round/>
                <a:tailEnd type="triangle" w="med" len="med"/>
              </a:ln>
            </p:spPr>
            <p:txBody>
              <a:bodyPr/>
              <a:lstStyle/>
              <a:p>
                <a:endParaRPr lang="zh-CN" altLang="en-US"/>
              </a:p>
            </p:txBody>
          </p:sp>
        </p:grpSp>
        <p:grpSp>
          <p:nvGrpSpPr>
            <p:cNvPr id="79881" name="Group 58"/>
            <p:cNvGrpSpPr/>
            <p:nvPr/>
          </p:nvGrpSpPr>
          <p:grpSpPr bwMode="auto">
            <a:xfrm>
              <a:off x="3632" y="248"/>
              <a:ext cx="606" cy="317"/>
              <a:chOff x="0" y="0"/>
              <a:chExt cx="606" cy="317"/>
            </a:xfrm>
          </p:grpSpPr>
          <p:sp>
            <p:nvSpPr>
              <p:cNvPr id="79888" name="Rectangle 59"/>
              <p:cNvSpPr>
                <a:spLocks noChangeArrowheads="1"/>
              </p:cNvSpPr>
              <p:nvPr/>
            </p:nvSpPr>
            <p:spPr bwMode="auto">
              <a:xfrm>
                <a:off x="0" y="0"/>
                <a:ext cx="606" cy="317"/>
              </a:xfrm>
              <a:prstGeom prst="rect">
                <a:avLst/>
              </a:prstGeom>
              <a:noFill/>
              <a:ln w="12700">
                <a:solidFill>
                  <a:schemeClr val="tx1"/>
                </a:solidFill>
                <a:miter lim="800000"/>
              </a:ln>
            </p:spPr>
            <p:txBody>
              <a:bodyPr wrap="none" anchor="ctr"/>
              <a:lstStyle/>
              <a:p>
                <a:pPr algn="ctr"/>
                <a:r>
                  <a:rPr lang="en-US" altLang="zh-CN" sz="2400">
                    <a:ea typeface="楷体_GB2312"/>
                  </a:rPr>
                  <a:t>hat ⋀</a:t>
                </a:r>
              </a:p>
            </p:txBody>
          </p:sp>
          <p:sp>
            <p:nvSpPr>
              <p:cNvPr id="79889" name="Line 60"/>
              <p:cNvSpPr>
                <a:spLocks noChangeShapeType="1"/>
              </p:cNvSpPr>
              <p:nvPr/>
            </p:nvSpPr>
            <p:spPr bwMode="auto">
              <a:xfrm>
                <a:off x="336" y="0"/>
                <a:ext cx="0" cy="317"/>
              </a:xfrm>
              <a:prstGeom prst="line">
                <a:avLst/>
              </a:prstGeom>
              <a:noFill/>
              <a:ln w="12700">
                <a:solidFill>
                  <a:schemeClr val="tx1"/>
                </a:solidFill>
                <a:round/>
              </a:ln>
            </p:spPr>
            <p:txBody>
              <a:bodyPr/>
              <a:lstStyle/>
              <a:p>
                <a:endParaRPr lang="zh-CN" altLang="en-US"/>
              </a:p>
            </p:txBody>
          </p:sp>
        </p:grpSp>
        <p:grpSp>
          <p:nvGrpSpPr>
            <p:cNvPr id="79882" name="Group 61"/>
            <p:cNvGrpSpPr/>
            <p:nvPr/>
          </p:nvGrpSpPr>
          <p:grpSpPr bwMode="auto">
            <a:xfrm>
              <a:off x="0" y="0"/>
              <a:ext cx="720" cy="577"/>
              <a:chOff x="0" y="0"/>
              <a:chExt cx="720" cy="577"/>
            </a:xfrm>
          </p:grpSpPr>
          <p:sp>
            <p:nvSpPr>
              <p:cNvPr id="79883" name="Rectangle 62"/>
              <p:cNvSpPr>
                <a:spLocks noChangeArrowheads="1"/>
              </p:cNvSpPr>
              <p:nvPr/>
            </p:nvSpPr>
            <p:spPr bwMode="auto">
              <a:xfrm>
                <a:off x="38" y="0"/>
                <a:ext cx="528" cy="288"/>
              </a:xfrm>
              <a:prstGeom prst="rect">
                <a:avLst/>
              </a:prstGeom>
              <a:noFill/>
              <a:ln w="9525">
                <a:noFill/>
                <a:miter lim="800000"/>
              </a:ln>
            </p:spPr>
            <p:txBody>
              <a:bodyPr wrap="none" anchor="ctr"/>
              <a:lstStyle/>
              <a:p>
                <a:pPr algn="ctr"/>
                <a:r>
                  <a:rPr lang="en-US" altLang="zh-CN" sz="2400">
                    <a:ea typeface="楷体_GB2312"/>
                  </a:rPr>
                  <a:t>head</a:t>
                </a:r>
              </a:p>
            </p:txBody>
          </p:sp>
          <p:grpSp>
            <p:nvGrpSpPr>
              <p:cNvPr id="79884" name="Group 63"/>
              <p:cNvGrpSpPr/>
              <p:nvPr/>
            </p:nvGrpSpPr>
            <p:grpSpPr bwMode="auto">
              <a:xfrm>
                <a:off x="0" y="260"/>
                <a:ext cx="720" cy="317"/>
                <a:chOff x="0" y="0"/>
                <a:chExt cx="720" cy="317"/>
              </a:xfrm>
            </p:grpSpPr>
            <p:sp>
              <p:nvSpPr>
                <p:cNvPr id="79885" name="Rectangle 64"/>
                <p:cNvSpPr>
                  <a:spLocks noChangeArrowheads="1"/>
                </p:cNvSpPr>
                <p:nvPr/>
              </p:nvSpPr>
              <p:spPr bwMode="auto">
                <a:xfrm>
                  <a:off x="0" y="0"/>
                  <a:ext cx="544" cy="317"/>
                </a:xfrm>
                <a:prstGeom prst="rect">
                  <a:avLst/>
                </a:prstGeom>
                <a:noFill/>
                <a:ln w="12700">
                  <a:solidFill>
                    <a:schemeClr val="tx1"/>
                  </a:solidFill>
                  <a:miter lim="800000"/>
                </a:ln>
              </p:spPr>
              <p:txBody>
                <a:bodyPr wrap="none" anchor="ctr"/>
                <a:lstStyle/>
                <a:p>
                  <a:pPr algn="ctr"/>
                  <a:r>
                    <a:rPr lang="zh-CN" altLang="en-US" sz="2400">
                      <a:ea typeface="楷体_GB2312"/>
                    </a:rPr>
                    <a:t>   </a:t>
                  </a:r>
                </a:p>
              </p:txBody>
            </p:sp>
            <p:sp>
              <p:nvSpPr>
                <p:cNvPr id="79886" name="Line 65"/>
                <p:cNvSpPr>
                  <a:spLocks noChangeShapeType="1"/>
                </p:cNvSpPr>
                <p:nvPr/>
              </p:nvSpPr>
              <p:spPr bwMode="auto">
                <a:xfrm>
                  <a:off x="430" y="0"/>
                  <a:ext cx="0" cy="317"/>
                </a:xfrm>
                <a:prstGeom prst="line">
                  <a:avLst/>
                </a:prstGeom>
                <a:noFill/>
                <a:ln w="12700">
                  <a:solidFill>
                    <a:schemeClr val="tx1"/>
                  </a:solidFill>
                  <a:round/>
                </a:ln>
              </p:spPr>
              <p:txBody>
                <a:bodyPr/>
                <a:lstStyle/>
                <a:p>
                  <a:endParaRPr lang="zh-CN" altLang="en-US"/>
                </a:p>
              </p:txBody>
            </p:sp>
            <p:sp>
              <p:nvSpPr>
                <p:cNvPr id="79887" name="Line 66"/>
                <p:cNvSpPr>
                  <a:spLocks noChangeShapeType="1"/>
                </p:cNvSpPr>
                <p:nvPr/>
              </p:nvSpPr>
              <p:spPr bwMode="auto">
                <a:xfrm>
                  <a:off x="480" y="144"/>
                  <a:ext cx="240" cy="0"/>
                </a:xfrm>
                <a:prstGeom prst="line">
                  <a:avLst/>
                </a:prstGeom>
                <a:noFill/>
                <a:ln w="12700">
                  <a:solidFill>
                    <a:schemeClr val="tx1"/>
                  </a:solidFill>
                  <a:round/>
                  <a:tailEnd type="triangle" w="med" len="med"/>
                </a:ln>
              </p:spPr>
              <p:txBody>
                <a:bodyPr/>
                <a:lstStyle/>
                <a:p>
                  <a:endParaRPr lang="zh-CN" altLang="en-US"/>
                </a:p>
              </p:txBody>
            </p:sp>
          </p:grpSp>
        </p:grpSp>
      </p:grpSp>
      <p:sp>
        <p:nvSpPr>
          <p:cNvPr id="63494" name="Rectangle 67"/>
          <p:cNvSpPr>
            <a:spLocks noChangeArrowheads="1"/>
          </p:cNvSpPr>
          <p:nvPr/>
        </p:nvSpPr>
        <p:spPr bwMode="auto">
          <a:xfrm>
            <a:off x="2028826" y="6165851"/>
            <a:ext cx="6372225" cy="428625"/>
          </a:xfrm>
          <a:prstGeom prst="rect">
            <a:avLst/>
          </a:prstGeom>
          <a:noFill/>
          <a:ln w="9525">
            <a:noFill/>
            <a:miter lim="800000"/>
          </a:ln>
        </p:spPr>
        <p:txBody>
          <a:bodyPr lIns="92075" tIns="46038" rIns="92075" bIns="46038" anchor="ctr"/>
          <a:lstStyle/>
          <a:p>
            <a:pPr algn="ctr"/>
            <a:r>
              <a:rPr lang="zh-CN" altLang="en-US" sz="2400">
                <a:latin typeface="宋体" panose="02010600030101010101" pitchFamily="2" charset="-122"/>
                <a:ea typeface="楷体_GB2312"/>
              </a:rPr>
              <a:t>带头结点的单链表的逻辑状态、物理存储方式</a:t>
            </a:r>
          </a:p>
        </p:txBody>
      </p:sp>
      <p:sp>
        <p:nvSpPr>
          <p:cNvPr id="79876" name="Rectangle 68"/>
          <p:cNvSpPr>
            <a:spLocks noChangeArrowheads="1"/>
          </p:cNvSpPr>
          <p:nvPr/>
        </p:nvSpPr>
        <p:spPr bwMode="auto">
          <a:xfrm>
            <a:off x="1676400" y="193676"/>
            <a:ext cx="6796088" cy="1127125"/>
          </a:xfrm>
          <a:prstGeom prst="rect">
            <a:avLst/>
          </a:prstGeom>
          <a:noFill/>
          <a:ln w="9525">
            <a:noFill/>
            <a:miter lim="800000"/>
          </a:ln>
        </p:spPr>
        <p:txBody>
          <a:bodyPr lIns="92075" tIns="46038" rIns="92075" bIns="46038">
            <a:spAutoFit/>
          </a:bodyPr>
          <a:lstStyle/>
          <a:p>
            <a:pPr>
              <a:lnSpc>
                <a:spcPct val="110000"/>
              </a:lnSpc>
              <a:spcBef>
                <a:spcPct val="20000"/>
              </a:spcBef>
            </a:pPr>
            <a:endParaRPr lang="zh-CN" altLang="en-US" sz="2800">
              <a:solidFill>
                <a:srgbClr val="000099"/>
              </a:solidFill>
              <a:ea typeface="楷体_GB2312"/>
            </a:endParaRPr>
          </a:p>
          <a:p>
            <a:pPr>
              <a:lnSpc>
                <a:spcPct val="110000"/>
              </a:lnSpc>
              <a:spcBef>
                <a:spcPct val="20000"/>
              </a:spcBef>
            </a:pPr>
            <a:r>
              <a:rPr lang="zh-CN" altLang="en-US" sz="2800">
                <a:solidFill>
                  <a:srgbClr val="000099"/>
                </a:solidFill>
                <a:latin typeface="宋体" panose="02010600030101010101" pitchFamily="2" charset="-122"/>
                <a:ea typeface="楷体_GB2312"/>
              </a:rPr>
              <a:t>例、线性表</a:t>
            </a:r>
            <a:r>
              <a:rPr lang="en-US" altLang="zh-CN" sz="2800">
                <a:solidFill>
                  <a:srgbClr val="000099"/>
                </a:solidFill>
                <a:ea typeface="楷体_GB2312"/>
              </a:rPr>
              <a:t>L=(bat</a:t>
            </a:r>
            <a:r>
              <a:rPr lang="zh-CN" altLang="en-US" sz="2800">
                <a:solidFill>
                  <a:srgbClr val="000099"/>
                </a:solidFill>
                <a:ea typeface="楷体_GB2312"/>
              </a:rPr>
              <a:t>，</a:t>
            </a:r>
            <a:r>
              <a:rPr lang="en-US" altLang="zh-CN" sz="2800">
                <a:solidFill>
                  <a:srgbClr val="000099"/>
                </a:solidFill>
                <a:ea typeface="楷体_GB2312"/>
              </a:rPr>
              <a:t>cat</a:t>
            </a:r>
            <a:r>
              <a:rPr lang="zh-CN" altLang="en-US" sz="2800">
                <a:solidFill>
                  <a:srgbClr val="000099"/>
                </a:solidFill>
                <a:ea typeface="楷体_GB2312"/>
              </a:rPr>
              <a:t>，</a:t>
            </a:r>
            <a:r>
              <a:rPr lang="en-US" altLang="zh-CN" sz="2800">
                <a:solidFill>
                  <a:srgbClr val="000099"/>
                </a:solidFill>
                <a:ea typeface="楷体_GB2312"/>
              </a:rPr>
              <a:t>eat</a:t>
            </a:r>
            <a:r>
              <a:rPr lang="zh-CN" altLang="en-US" sz="2800">
                <a:solidFill>
                  <a:srgbClr val="000099"/>
                </a:solidFill>
                <a:ea typeface="楷体_GB2312"/>
              </a:rPr>
              <a:t>，</a:t>
            </a:r>
            <a:r>
              <a:rPr lang="en-US" altLang="zh-CN" sz="2800">
                <a:solidFill>
                  <a:srgbClr val="000099"/>
                </a:solidFill>
                <a:ea typeface="楷体_GB2312"/>
              </a:rPr>
              <a:t>fat</a:t>
            </a:r>
            <a:r>
              <a:rPr lang="zh-CN" altLang="en-US" sz="2800">
                <a:solidFill>
                  <a:srgbClr val="000099"/>
                </a:solidFill>
                <a:ea typeface="楷体_GB2312"/>
              </a:rPr>
              <a:t>，</a:t>
            </a:r>
            <a:r>
              <a:rPr lang="en-US" altLang="zh-CN" sz="2800">
                <a:solidFill>
                  <a:srgbClr val="000099"/>
                </a:solidFill>
                <a:ea typeface="楷体_GB2312"/>
              </a:rPr>
              <a:t>hat)</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34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49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ChangeArrowheads="1"/>
          </p:cNvSpPr>
          <p:nvPr/>
        </p:nvSpPr>
        <p:spPr bwMode="auto">
          <a:xfrm>
            <a:off x="1752600" y="152400"/>
            <a:ext cx="4191000" cy="533400"/>
          </a:xfrm>
          <a:prstGeom prst="rect">
            <a:avLst/>
          </a:prstGeom>
          <a:noFill/>
          <a:ln w="9525">
            <a:noFill/>
            <a:miter lim="800000"/>
          </a:ln>
        </p:spPr>
        <p:txBody>
          <a:bodyPr lIns="92075" tIns="46038" rIns="92075" bIns="46038"/>
          <a:lstStyle/>
          <a:p>
            <a:pPr>
              <a:spcBef>
                <a:spcPct val="50000"/>
              </a:spcBef>
            </a:pPr>
            <a:r>
              <a:rPr lang="zh-CN" altLang="en-US" sz="3200">
                <a:solidFill>
                  <a:srgbClr val="008000"/>
                </a:solidFill>
                <a:latin typeface="宋体" panose="02010600030101010101" pitchFamily="2" charset="-122"/>
                <a:ea typeface="楷体_GB2312"/>
              </a:rPr>
              <a:t>常见的指针操作</a:t>
            </a:r>
          </a:p>
        </p:txBody>
      </p:sp>
      <p:sp>
        <p:nvSpPr>
          <p:cNvPr id="64652" name="Rectangle 5"/>
          <p:cNvSpPr>
            <a:spLocks noChangeArrowheads="1"/>
          </p:cNvSpPr>
          <p:nvPr/>
        </p:nvSpPr>
        <p:spPr bwMode="auto">
          <a:xfrm>
            <a:off x="1828801" y="1089026"/>
            <a:ext cx="1800225" cy="466725"/>
          </a:xfrm>
          <a:prstGeom prst="rect">
            <a:avLst/>
          </a:prstGeom>
          <a:noFill/>
          <a:ln w="9525">
            <a:noFill/>
            <a:miter lim="800000"/>
          </a:ln>
        </p:spPr>
        <p:txBody>
          <a:bodyPr wrap="none" anchor="ctr"/>
          <a:lstStyle/>
          <a:p>
            <a:r>
              <a:rPr lang="zh-CN" altLang="en-US" sz="2800">
                <a:solidFill>
                  <a:srgbClr val="FF0000"/>
                </a:solidFill>
                <a:latin typeface="宋体" panose="02010600030101010101" pitchFamily="2" charset="-122"/>
                <a:ea typeface="Arial Unicode MS" panose="020B0604020202020204" charset="-122"/>
                <a:cs typeface="Arial Unicode MS" panose="020B0604020202020204" charset="-122"/>
              </a:rPr>
              <a:t>①</a:t>
            </a:r>
            <a:r>
              <a:rPr lang="zh-CN" altLang="en-US" sz="2800">
                <a:solidFill>
                  <a:srgbClr val="FF0000"/>
                </a:solidFill>
                <a:ea typeface="楷体_GB2312"/>
              </a:rPr>
              <a:t>   </a:t>
            </a:r>
            <a:r>
              <a:rPr lang="en-US" altLang="zh-CN" sz="2800">
                <a:solidFill>
                  <a:srgbClr val="FF0000"/>
                </a:solidFill>
                <a:ea typeface="楷体_GB2312"/>
              </a:rPr>
              <a:t>q=p </a:t>
            </a:r>
            <a:r>
              <a:rPr lang="en-US" altLang="zh-CN" sz="3200">
                <a:solidFill>
                  <a:srgbClr val="FF0000"/>
                </a:solidFill>
                <a:ea typeface="楷体_GB2312"/>
              </a:rPr>
              <a:t>;</a:t>
            </a:r>
          </a:p>
        </p:txBody>
      </p:sp>
      <p:grpSp>
        <p:nvGrpSpPr>
          <p:cNvPr id="98307" name="Group 6"/>
          <p:cNvGrpSpPr/>
          <p:nvPr/>
        </p:nvGrpSpPr>
        <p:grpSpPr bwMode="auto">
          <a:xfrm>
            <a:off x="4638676" y="609601"/>
            <a:ext cx="1838325" cy="1414463"/>
            <a:chOff x="0" y="0"/>
            <a:chExt cx="1158" cy="896"/>
          </a:xfrm>
        </p:grpSpPr>
        <p:grpSp>
          <p:nvGrpSpPr>
            <p:cNvPr id="98461" name="Group 7"/>
            <p:cNvGrpSpPr/>
            <p:nvPr/>
          </p:nvGrpSpPr>
          <p:grpSpPr bwMode="auto">
            <a:xfrm>
              <a:off x="0" y="0"/>
              <a:ext cx="1158" cy="612"/>
              <a:chOff x="0" y="0"/>
              <a:chExt cx="1158" cy="612"/>
            </a:xfrm>
          </p:grpSpPr>
          <p:grpSp>
            <p:nvGrpSpPr>
              <p:cNvPr id="98463" name="Group 8"/>
              <p:cNvGrpSpPr/>
              <p:nvPr/>
            </p:nvGrpSpPr>
            <p:grpSpPr bwMode="auto">
              <a:xfrm>
                <a:off x="509" y="0"/>
                <a:ext cx="204" cy="399"/>
                <a:chOff x="0" y="0"/>
                <a:chExt cx="204" cy="399"/>
              </a:xfrm>
            </p:grpSpPr>
            <p:sp>
              <p:nvSpPr>
                <p:cNvPr id="98472" name="Rectangle 9"/>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sp>
              <p:nvSpPr>
                <p:cNvPr id="98473" name="Line 10"/>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98464" name="Group 11"/>
              <p:cNvGrpSpPr/>
              <p:nvPr/>
            </p:nvGrpSpPr>
            <p:grpSpPr bwMode="auto">
              <a:xfrm>
                <a:off x="477" y="400"/>
                <a:ext cx="453" cy="212"/>
                <a:chOff x="0" y="0"/>
                <a:chExt cx="453" cy="212"/>
              </a:xfrm>
            </p:grpSpPr>
            <p:sp>
              <p:nvSpPr>
                <p:cNvPr id="98469" name="Rectangle 12"/>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98470" name="Line 13"/>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471" name="Line 14"/>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98465" name="Group 15"/>
              <p:cNvGrpSpPr/>
              <p:nvPr/>
            </p:nvGrpSpPr>
            <p:grpSpPr bwMode="auto">
              <a:xfrm>
                <a:off x="0" y="400"/>
                <a:ext cx="477" cy="204"/>
                <a:chOff x="0" y="0"/>
                <a:chExt cx="477" cy="204"/>
              </a:xfrm>
            </p:grpSpPr>
            <p:sp>
              <p:nvSpPr>
                <p:cNvPr id="98467" name="Line 16"/>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98468" name="Rectangle 17"/>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cs typeface="Times New Roman" panose="02020603050405020304" pitchFamily="18" charset="0"/>
                    </a:rPr>
                    <a:t>…</a:t>
                  </a:r>
                  <a:endParaRPr lang="en-US" altLang="zh-CN" sz="2400">
                    <a:solidFill>
                      <a:srgbClr val="000099"/>
                    </a:solidFill>
                    <a:ea typeface="楷体_GB2312"/>
                  </a:endParaRPr>
                </a:p>
              </p:txBody>
            </p:sp>
          </p:grpSp>
          <p:sp>
            <p:nvSpPr>
              <p:cNvPr id="98466" name="Rectangle 18"/>
              <p:cNvSpPr>
                <a:spLocks noChangeArrowheads="1"/>
              </p:cNvSpPr>
              <p:nvPr/>
            </p:nvSpPr>
            <p:spPr bwMode="auto">
              <a:xfrm>
                <a:off x="909" y="404"/>
                <a:ext cx="249" cy="204"/>
              </a:xfrm>
              <a:prstGeom prst="rect">
                <a:avLst/>
              </a:prstGeom>
              <a:noFill/>
              <a:ln w="9525">
                <a:noFill/>
                <a:miter lim="800000"/>
              </a:ln>
            </p:spPr>
            <p:txBody>
              <a:bodyPr wrap="none" anchor="ctr"/>
              <a:lstStyle/>
              <a:p>
                <a:r>
                  <a:rPr lang="en-US" altLang="zh-CN" sz="2400">
                    <a:solidFill>
                      <a:srgbClr val="000099"/>
                    </a:solidFill>
                    <a:ea typeface="楷体_GB2312"/>
                    <a:cs typeface="Times New Roman" panose="02020603050405020304" pitchFamily="18" charset="0"/>
                  </a:rPr>
                  <a:t>…</a:t>
                </a:r>
                <a:endParaRPr lang="en-US" altLang="zh-CN" sz="2400">
                  <a:solidFill>
                    <a:srgbClr val="000099"/>
                  </a:solidFill>
                  <a:ea typeface="楷体_GB2312"/>
                </a:endParaRPr>
              </a:p>
            </p:txBody>
          </p:sp>
        </p:grpSp>
        <p:sp>
          <p:nvSpPr>
            <p:cNvPr id="98462" name="Rectangle 19"/>
            <p:cNvSpPr>
              <a:spLocks noChangeArrowheads="1"/>
            </p:cNvSpPr>
            <p:nvPr/>
          </p:nvSpPr>
          <p:spPr bwMode="auto">
            <a:xfrm>
              <a:off x="285" y="656"/>
              <a:ext cx="672" cy="240"/>
            </a:xfrm>
            <a:prstGeom prst="rect">
              <a:avLst/>
            </a:prstGeom>
            <a:noFill/>
            <a:ln w="9525">
              <a:noFill/>
              <a:miter lim="800000"/>
            </a:ln>
          </p:spPr>
          <p:txBody>
            <a:bodyPr wrap="none" anchor="ctr"/>
            <a:lstStyle/>
            <a:p>
              <a:r>
                <a:rPr lang="zh-CN" altLang="en-US" sz="2400">
                  <a:solidFill>
                    <a:srgbClr val="000099"/>
                  </a:solidFill>
                  <a:ea typeface="楷体_GB2312"/>
                </a:rPr>
                <a:t>操作前</a:t>
              </a:r>
            </a:p>
          </p:txBody>
        </p:sp>
      </p:grpSp>
      <p:grpSp>
        <p:nvGrpSpPr>
          <p:cNvPr id="64654" name="Group 20"/>
          <p:cNvGrpSpPr/>
          <p:nvPr/>
        </p:nvGrpSpPr>
        <p:grpSpPr bwMode="auto">
          <a:xfrm>
            <a:off x="7991476" y="622301"/>
            <a:ext cx="1838325" cy="1427163"/>
            <a:chOff x="0" y="0"/>
            <a:chExt cx="1158" cy="904"/>
          </a:xfrm>
        </p:grpSpPr>
        <p:grpSp>
          <p:nvGrpSpPr>
            <p:cNvPr id="98442" name="Group 21"/>
            <p:cNvGrpSpPr/>
            <p:nvPr/>
          </p:nvGrpSpPr>
          <p:grpSpPr bwMode="auto">
            <a:xfrm>
              <a:off x="0" y="0"/>
              <a:ext cx="1158" cy="612"/>
              <a:chOff x="0" y="0"/>
              <a:chExt cx="1158" cy="612"/>
            </a:xfrm>
          </p:grpSpPr>
          <p:grpSp>
            <p:nvGrpSpPr>
              <p:cNvPr id="98444" name="Group 22"/>
              <p:cNvGrpSpPr/>
              <p:nvPr/>
            </p:nvGrpSpPr>
            <p:grpSpPr bwMode="auto">
              <a:xfrm>
                <a:off x="0" y="0"/>
                <a:ext cx="1158" cy="612"/>
                <a:chOff x="0" y="0"/>
                <a:chExt cx="1158" cy="612"/>
              </a:xfrm>
            </p:grpSpPr>
            <p:grpSp>
              <p:nvGrpSpPr>
                <p:cNvPr id="98450" name="Group 23"/>
                <p:cNvGrpSpPr/>
                <p:nvPr/>
              </p:nvGrpSpPr>
              <p:grpSpPr bwMode="auto">
                <a:xfrm>
                  <a:off x="509" y="0"/>
                  <a:ext cx="204" cy="399"/>
                  <a:chOff x="0" y="0"/>
                  <a:chExt cx="204" cy="399"/>
                </a:xfrm>
              </p:grpSpPr>
              <p:sp>
                <p:nvSpPr>
                  <p:cNvPr id="98459" name="Rectangle 24"/>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sp>
                <p:nvSpPr>
                  <p:cNvPr id="98460" name="Line 25"/>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98451" name="Group 26"/>
                <p:cNvGrpSpPr/>
                <p:nvPr/>
              </p:nvGrpSpPr>
              <p:grpSpPr bwMode="auto">
                <a:xfrm>
                  <a:off x="477" y="400"/>
                  <a:ext cx="453" cy="212"/>
                  <a:chOff x="0" y="0"/>
                  <a:chExt cx="453" cy="212"/>
                </a:xfrm>
              </p:grpSpPr>
              <p:sp>
                <p:nvSpPr>
                  <p:cNvPr id="98456" name="Rectangle 27"/>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98457" name="Line 28"/>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458" name="Line 29"/>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98452" name="Group 30"/>
                <p:cNvGrpSpPr/>
                <p:nvPr/>
              </p:nvGrpSpPr>
              <p:grpSpPr bwMode="auto">
                <a:xfrm>
                  <a:off x="0" y="400"/>
                  <a:ext cx="477" cy="204"/>
                  <a:chOff x="0" y="0"/>
                  <a:chExt cx="477" cy="204"/>
                </a:xfrm>
              </p:grpSpPr>
              <p:sp>
                <p:nvSpPr>
                  <p:cNvPr id="98454" name="Line 31"/>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98455" name="Rectangle 32"/>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cs typeface="Times New Roman" panose="02020603050405020304" pitchFamily="18" charset="0"/>
                      </a:rPr>
                      <a:t>…</a:t>
                    </a:r>
                    <a:endParaRPr lang="en-US" altLang="zh-CN" sz="2400">
                      <a:solidFill>
                        <a:srgbClr val="000099"/>
                      </a:solidFill>
                      <a:ea typeface="楷体_GB2312"/>
                    </a:endParaRPr>
                  </a:p>
                </p:txBody>
              </p:sp>
            </p:grpSp>
            <p:sp>
              <p:nvSpPr>
                <p:cNvPr id="98453" name="Rectangle 33"/>
                <p:cNvSpPr>
                  <a:spLocks noChangeArrowheads="1"/>
                </p:cNvSpPr>
                <p:nvPr/>
              </p:nvSpPr>
              <p:spPr bwMode="auto">
                <a:xfrm>
                  <a:off x="909" y="404"/>
                  <a:ext cx="249" cy="204"/>
                </a:xfrm>
                <a:prstGeom prst="rect">
                  <a:avLst/>
                </a:prstGeom>
                <a:noFill/>
                <a:ln w="9525">
                  <a:noFill/>
                  <a:miter lim="800000"/>
                </a:ln>
              </p:spPr>
              <p:txBody>
                <a:bodyPr wrap="none" anchor="ctr"/>
                <a:lstStyle/>
                <a:p>
                  <a:r>
                    <a:rPr lang="en-US" altLang="zh-CN" sz="2400">
                      <a:solidFill>
                        <a:srgbClr val="000099"/>
                      </a:solidFill>
                      <a:ea typeface="楷体_GB2312"/>
                      <a:cs typeface="Times New Roman" panose="02020603050405020304" pitchFamily="18" charset="0"/>
                    </a:rPr>
                    <a:t>…</a:t>
                  </a:r>
                  <a:endParaRPr lang="en-US" altLang="zh-CN" sz="2400">
                    <a:solidFill>
                      <a:srgbClr val="000099"/>
                    </a:solidFill>
                    <a:ea typeface="楷体_GB2312"/>
                  </a:endParaRPr>
                </a:p>
              </p:txBody>
            </p:sp>
          </p:grpSp>
          <p:grpSp>
            <p:nvGrpSpPr>
              <p:cNvPr id="98445" name="Group 34"/>
              <p:cNvGrpSpPr/>
              <p:nvPr/>
            </p:nvGrpSpPr>
            <p:grpSpPr bwMode="auto">
              <a:xfrm>
                <a:off x="190" y="24"/>
                <a:ext cx="279" cy="398"/>
                <a:chOff x="0" y="0"/>
                <a:chExt cx="279" cy="398"/>
              </a:xfrm>
            </p:grpSpPr>
            <p:sp>
              <p:nvSpPr>
                <p:cNvPr id="98446" name="Rectangle 35"/>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q</a:t>
                  </a:r>
                </a:p>
              </p:txBody>
            </p:sp>
            <p:grpSp>
              <p:nvGrpSpPr>
                <p:cNvPr id="98447" name="Group 36"/>
                <p:cNvGrpSpPr/>
                <p:nvPr/>
              </p:nvGrpSpPr>
              <p:grpSpPr bwMode="auto">
                <a:xfrm>
                  <a:off x="120" y="239"/>
                  <a:ext cx="159" cy="159"/>
                  <a:chOff x="0" y="0"/>
                  <a:chExt cx="159" cy="159"/>
                </a:xfrm>
              </p:grpSpPr>
              <p:sp>
                <p:nvSpPr>
                  <p:cNvPr id="98448" name="Line 37"/>
                  <p:cNvSpPr>
                    <a:spLocks noChangeShapeType="1"/>
                  </p:cNvSpPr>
                  <p:nvPr/>
                </p:nvSpPr>
                <p:spPr bwMode="auto">
                  <a:xfrm>
                    <a:off x="0" y="152"/>
                    <a:ext cx="159" cy="0"/>
                  </a:xfrm>
                  <a:prstGeom prst="line">
                    <a:avLst/>
                  </a:prstGeom>
                  <a:noFill/>
                  <a:ln w="19050">
                    <a:solidFill>
                      <a:schemeClr val="tx1"/>
                    </a:solidFill>
                    <a:round/>
                    <a:tailEnd type="triangle" w="sm" len="sm"/>
                  </a:ln>
                </p:spPr>
                <p:txBody>
                  <a:bodyPr/>
                  <a:lstStyle/>
                  <a:p>
                    <a:endParaRPr lang="zh-CN" altLang="en-US"/>
                  </a:p>
                </p:txBody>
              </p:sp>
              <p:sp>
                <p:nvSpPr>
                  <p:cNvPr id="98449" name="Line 38"/>
                  <p:cNvSpPr>
                    <a:spLocks noChangeShapeType="1"/>
                  </p:cNvSpPr>
                  <p:nvPr/>
                </p:nvSpPr>
                <p:spPr bwMode="auto">
                  <a:xfrm>
                    <a:off x="0" y="0"/>
                    <a:ext cx="0" cy="159"/>
                  </a:xfrm>
                  <a:prstGeom prst="line">
                    <a:avLst/>
                  </a:prstGeom>
                  <a:noFill/>
                  <a:ln w="12700">
                    <a:solidFill>
                      <a:schemeClr val="tx1"/>
                    </a:solidFill>
                    <a:round/>
                  </a:ln>
                </p:spPr>
                <p:txBody>
                  <a:bodyPr/>
                  <a:lstStyle/>
                  <a:p>
                    <a:endParaRPr lang="zh-CN" altLang="en-US"/>
                  </a:p>
                </p:txBody>
              </p:sp>
            </p:grpSp>
          </p:grpSp>
        </p:grpSp>
        <p:sp>
          <p:nvSpPr>
            <p:cNvPr id="98443" name="Rectangle 39"/>
            <p:cNvSpPr>
              <a:spLocks noChangeArrowheads="1"/>
            </p:cNvSpPr>
            <p:nvPr/>
          </p:nvSpPr>
          <p:spPr bwMode="auto">
            <a:xfrm>
              <a:off x="278" y="664"/>
              <a:ext cx="672" cy="240"/>
            </a:xfrm>
            <a:prstGeom prst="rect">
              <a:avLst/>
            </a:prstGeom>
            <a:noFill/>
            <a:ln w="9525">
              <a:noFill/>
              <a:miter lim="800000"/>
            </a:ln>
          </p:spPr>
          <p:txBody>
            <a:bodyPr wrap="none" anchor="ctr"/>
            <a:lstStyle/>
            <a:p>
              <a:r>
                <a:rPr lang="zh-CN" altLang="en-US" sz="2400">
                  <a:solidFill>
                    <a:srgbClr val="000099"/>
                  </a:solidFill>
                  <a:ea typeface="楷体_GB2312"/>
                </a:rPr>
                <a:t>操作后</a:t>
              </a:r>
            </a:p>
          </p:txBody>
        </p:sp>
      </p:grpSp>
      <p:sp>
        <p:nvSpPr>
          <p:cNvPr id="64613" name="Rectangle 41"/>
          <p:cNvSpPr>
            <a:spLocks noChangeArrowheads="1"/>
          </p:cNvSpPr>
          <p:nvPr/>
        </p:nvSpPr>
        <p:spPr bwMode="auto">
          <a:xfrm>
            <a:off x="1752601" y="2536826"/>
            <a:ext cx="2232025" cy="466725"/>
          </a:xfrm>
          <a:prstGeom prst="rect">
            <a:avLst/>
          </a:prstGeom>
          <a:noFill/>
          <a:ln w="9525">
            <a:noFill/>
            <a:miter lim="800000"/>
          </a:ln>
        </p:spPr>
        <p:txBody>
          <a:bodyPr wrap="none" anchor="ctr"/>
          <a:lstStyle/>
          <a:p>
            <a:r>
              <a:rPr lang="zh-CN" altLang="en-US" sz="2800">
                <a:solidFill>
                  <a:srgbClr val="FF0000"/>
                </a:solidFill>
                <a:latin typeface="宋体" panose="02010600030101010101" pitchFamily="2" charset="-122"/>
                <a:ea typeface="Arial Unicode MS" panose="020B0604020202020204" charset="-122"/>
                <a:cs typeface="Arial Unicode MS" panose="020B0604020202020204" charset="-122"/>
              </a:rPr>
              <a:t>② </a:t>
            </a:r>
            <a:r>
              <a:rPr lang="zh-CN" altLang="en-US" sz="2800">
                <a:solidFill>
                  <a:srgbClr val="FF0000"/>
                </a:solidFill>
                <a:ea typeface="楷体_GB2312"/>
              </a:rPr>
              <a:t> </a:t>
            </a:r>
            <a:r>
              <a:rPr lang="en-US" altLang="zh-CN" sz="2800">
                <a:solidFill>
                  <a:srgbClr val="FF0000"/>
                </a:solidFill>
                <a:ea typeface="楷体_GB2312"/>
              </a:rPr>
              <a:t>q=p-&gt;next </a:t>
            </a:r>
            <a:r>
              <a:rPr lang="en-US" altLang="zh-CN" sz="3200">
                <a:solidFill>
                  <a:srgbClr val="FF0000"/>
                </a:solidFill>
                <a:ea typeface="楷体_GB2312"/>
              </a:rPr>
              <a:t>;</a:t>
            </a:r>
          </a:p>
        </p:txBody>
      </p:sp>
      <p:grpSp>
        <p:nvGrpSpPr>
          <p:cNvPr id="64614" name="Group 42"/>
          <p:cNvGrpSpPr/>
          <p:nvPr/>
        </p:nvGrpSpPr>
        <p:grpSpPr bwMode="auto">
          <a:xfrm>
            <a:off x="4562476" y="2057400"/>
            <a:ext cx="2600325" cy="966788"/>
            <a:chOff x="0" y="0"/>
            <a:chExt cx="1638" cy="612"/>
          </a:xfrm>
        </p:grpSpPr>
        <p:grpSp>
          <p:nvGrpSpPr>
            <p:cNvPr id="98427" name="Group 43"/>
            <p:cNvGrpSpPr/>
            <p:nvPr/>
          </p:nvGrpSpPr>
          <p:grpSpPr bwMode="auto">
            <a:xfrm>
              <a:off x="937" y="400"/>
              <a:ext cx="453" cy="212"/>
              <a:chOff x="0" y="0"/>
              <a:chExt cx="453" cy="212"/>
            </a:xfrm>
          </p:grpSpPr>
          <p:sp>
            <p:nvSpPr>
              <p:cNvPr id="98439" name="Rectangle 44"/>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b</a:t>
                </a:r>
              </a:p>
            </p:txBody>
          </p:sp>
          <p:sp>
            <p:nvSpPr>
              <p:cNvPr id="98440" name="Line 45"/>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441" name="Line 46"/>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98428" name="Group 47"/>
            <p:cNvGrpSpPr/>
            <p:nvPr/>
          </p:nvGrpSpPr>
          <p:grpSpPr bwMode="auto">
            <a:xfrm>
              <a:off x="509" y="0"/>
              <a:ext cx="204" cy="399"/>
              <a:chOff x="0" y="0"/>
              <a:chExt cx="204" cy="399"/>
            </a:xfrm>
          </p:grpSpPr>
          <p:sp>
            <p:nvSpPr>
              <p:cNvPr id="98437" name="Rectangle 48"/>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sp>
            <p:nvSpPr>
              <p:cNvPr id="98438" name="Line 49"/>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98429" name="Group 50"/>
            <p:cNvGrpSpPr/>
            <p:nvPr/>
          </p:nvGrpSpPr>
          <p:grpSpPr bwMode="auto">
            <a:xfrm>
              <a:off x="477" y="400"/>
              <a:ext cx="453" cy="212"/>
              <a:chOff x="0" y="0"/>
              <a:chExt cx="453" cy="212"/>
            </a:xfrm>
          </p:grpSpPr>
          <p:sp>
            <p:nvSpPr>
              <p:cNvPr id="98434" name="Rectangle 51"/>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98435" name="Line 52"/>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436" name="Line 53"/>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98430" name="Group 54"/>
            <p:cNvGrpSpPr/>
            <p:nvPr/>
          </p:nvGrpSpPr>
          <p:grpSpPr bwMode="auto">
            <a:xfrm>
              <a:off x="0" y="400"/>
              <a:ext cx="477" cy="204"/>
              <a:chOff x="0" y="0"/>
              <a:chExt cx="477" cy="204"/>
            </a:xfrm>
          </p:grpSpPr>
          <p:sp>
            <p:nvSpPr>
              <p:cNvPr id="98432" name="Line 55"/>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98433" name="Rectangle 56"/>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98431" name="Rectangle 57"/>
            <p:cNvSpPr>
              <a:spLocks noChangeArrowheads="1"/>
            </p:cNvSpPr>
            <p:nvPr/>
          </p:nvSpPr>
          <p:spPr bwMode="auto">
            <a:xfrm>
              <a:off x="1389" y="404"/>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64615" name="Rectangle 58"/>
          <p:cNvSpPr>
            <a:spLocks noChangeArrowheads="1"/>
          </p:cNvSpPr>
          <p:nvPr/>
        </p:nvSpPr>
        <p:spPr bwMode="auto">
          <a:xfrm>
            <a:off x="5410200" y="3092451"/>
            <a:ext cx="1066800" cy="379413"/>
          </a:xfrm>
          <a:prstGeom prst="rect">
            <a:avLst/>
          </a:prstGeom>
          <a:noFill/>
          <a:ln w="9525">
            <a:noFill/>
            <a:miter lim="800000"/>
          </a:ln>
        </p:spPr>
        <p:txBody>
          <a:bodyPr wrap="none" anchor="ctr"/>
          <a:lstStyle/>
          <a:p>
            <a:r>
              <a:rPr lang="zh-CN" altLang="en-US" sz="2400">
                <a:solidFill>
                  <a:srgbClr val="000099"/>
                </a:solidFill>
                <a:ea typeface="楷体_GB2312"/>
              </a:rPr>
              <a:t>操作前</a:t>
            </a:r>
          </a:p>
        </p:txBody>
      </p:sp>
      <p:sp>
        <p:nvSpPr>
          <p:cNvPr id="64616" name="Rectangle 59"/>
          <p:cNvSpPr>
            <a:spLocks noChangeArrowheads="1"/>
          </p:cNvSpPr>
          <p:nvPr/>
        </p:nvSpPr>
        <p:spPr bwMode="auto">
          <a:xfrm>
            <a:off x="8356600" y="3117851"/>
            <a:ext cx="1066800" cy="379413"/>
          </a:xfrm>
          <a:prstGeom prst="rect">
            <a:avLst/>
          </a:prstGeom>
          <a:noFill/>
          <a:ln w="9525">
            <a:noFill/>
            <a:miter lim="800000"/>
          </a:ln>
        </p:spPr>
        <p:txBody>
          <a:bodyPr wrap="none" anchor="ctr"/>
          <a:lstStyle/>
          <a:p>
            <a:r>
              <a:rPr lang="zh-CN" altLang="en-US" sz="2400">
                <a:solidFill>
                  <a:srgbClr val="000099"/>
                </a:solidFill>
                <a:ea typeface="楷体_GB2312"/>
              </a:rPr>
              <a:t>操作后</a:t>
            </a:r>
          </a:p>
        </p:txBody>
      </p:sp>
      <p:grpSp>
        <p:nvGrpSpPr>
          <p:cNvPr id="64617" name="Group 60"/>
          <p:cNvGrpSpPr/>
          <p:nvPr/>
        </p:nvGrpSpPr>
        <p:grpSpPr bwMode="auto">
          <a:xfrm>
            <a:off x="7534276" y="2057400"/>
            <a:ext cx="2600325" cy="973138"/>
            <a:chOff x="0" y="0"/>
            <a:chExt cx="1638" cy="616"/>
          </a:xfrm>
        </p:grpSpPr>
        <p:grpSp>
          <p:nvGrpSpPr>
            <p:cNvPr id="98408" name="Group 61"/>
            <p:cNvGrpSpPr/>
            <p:nvPr/>
          </p:nvGrpSpPr>
          <p:grpSpPr bwMode="auto">
            <a:xfrm>
              <a:off x="954" y="0"/>
              <a:ext cx="204" cy="399"/>
              <a:chOff x="0" y="0"/>
              <a:chExt cx="204" cy="399"/>
            </a:xfrm>
          </p:grpSpPr>
          <p:sp>
            <p:nvSpPr>
              <p:cNvPr id="98425" name="Rectangle 62"/>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q</a:t>
                </a:r>
              </a:p>
            </p:txBody>
          </p:sp>
          <p:sp>
            <p:nvSpPr>
              <p:cNvPr id="98426" name="Line 63"/>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98409" name="Group 64"/>
            <p:cNvGrpSpPr/>
            <p:nvPr/>
          </p:nvGrpSpPr>
          <p:grpSpPr bwMode="auto">
            <a:xfrm>
              <a:off x="0" y="4"/>
              <a:ext cx="1638" cy="612"/>
              <a:chOff x="0" y="0"/>
              <a:chExt cx="1638" cy="612"/>
            </a:xfrm>
          </p:grpSpPr>
          <p:grpSp>
            <p:nvGrpSpPr>
              <p:cNvPr id="98410" name="Group 65"/>
              <p:cNvGrpSpPr/>
              <p:nvPr/>
            </p:nvGrpSpPr>
            <p:grpSpPr bwMode="auto">
              <a:xfrm>
                <a:off x="937" y="400"/>
                <a:ext cx="453" cy="212"/>
                <a:chOff x="0" y="0"/>
                <a:chExt cx="453" cy="212"/>
              </a:xfrm>
            </p:grpSpPr>
            <p:sp>
              <p:nvSpPr>
                <p:cNvPr id="98422" name="Rectangle 66"/>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b</a:t>
                  </a:r>
                </a:p>
              </p:txBody>
            </p:sp>
            <p:sp>
              <p:nvSpPr>
                <p:cNvPr id="98423" name="Line 67"/>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424" name="Line 68"/>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98411" name="Group 69"/>
              <p:cNvGrpSpPr/>
              <p:nvPr/>
            </p:nvGrpSpPr>
            <p:grpSpPr bwMode="auto">
              <a:xfrm>
                <a:off x="509" y="0"/>
                <a:ext cx="204" cy="399"/>
                <a:chOff x="0" y="0"/>
                <a:chExt cx="204" cy="399"/>
              </a:xfrm>
            </p:grpSpPr>
            <p:sp>
              <p:nvSpPr>
                <p:cNvPr id="98420" name="Rectangle 70"/>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sp>
              <p:nvSpPr>
                <p:cNvPr id="98421" name="Line 71"/>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98412" name="Group 72"/>
              <p:cNvGrpSpPr/>
              <p:nvPr/>
            </p:nvGrpSpPr>
            <p:grpSpPr bwMode="auto">
              <a:xfrm>
                <a:off x="477" y="400"/>
                <a:ext cx="453" cy="212"/>
                <a:chOff x="0" y="0"/>
                <a:chExt cx="453" cy="212"/>
              </a:xfrm>
            </p:grpSpPr>
            <p:sp>
              <p:nvSpPr>
                <p:cNvPr id="98417" name="Rectangle 73"/>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98418" name="Line 74"/>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419" name="Line 75"/>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98413" name="Group 76"/>
              <p:cNvGrpSpPr/>
              <p:nvPr/>
            </p:nvGrpSpPr>
            <p:grpSpPr bwMode="auto">
              <a:xfrm>
                <a:off x="0" y="400"/>
                <a:ext cx="477" cy="204"/>
                <a:chOff x="0" y="0"/>
                <a:chExt cx="477" cy="204"/>
              </a:xfrm>
            </p:grpSpPr>
            <p:sp>
              <p:nvSpPr>
                <p:cNvPr id="98415" name="Line 77"/>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98416" name="Rectangle 78"/>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98414" name="Rectangle 79"/>
              <p:cNvSpPr>
                <a:spLocks noChangeArrowheads="1"/>
              </p:cNvSpPr>
              <p:nvPr/>
            </p:nvSpPr>
            <p:spPr bwMode="auto">
              <a:xfrm>
                <a:off x="1389" y="404"/>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sp>
        <p:nvSpPr>
          <p:cNvPr id="64578" name="Rectangle 81"/>
          <p:cNvSpPr>
            <a:spLocks noChangeArrowheads="1"/>
          </p:cNvSpPr>
          <p:nvPr/>
        </p:nvSpPr>
        <p:spPr bwMode="auto">
          <a:xfrm>
            <a:off x="1752601" y="3916364"/>
            <a:ext cx="2339975" cy="466725"/>
          </a:xfrm>
          <a:prstGeom prst="rect">
            <a:avLst/>
          </a:prstGeom>
          <a:noFill/>
          <a:ln w="9525">
            <a:noFill/>
            <a:miter lim="800000"/>
          </a:ln>
        </p:spPr>
        <p:txBody>
          <a:bodyPr wrap="none" anchor="ctr"/>
          <a:lstStyle/>
          <a:p>
            <a:r>
              <a:rPr lang="zh-CN" altLang="en-US" sz="2800">
                <a:solidFill>
                  <a:srgbClr val="FF0000"/>
                </a:solidFill>
                <a:latin typeface="宋体" panose="02010600030101010101" pitchFamily="2" charset="-122"/>
                <a:ea typeface="Arial Unicode MS" panose="020B0604020202020204" charset="-122"/>
                <a:cs typeface="Arial Unicode MS" panose="020B0604020202020204" charset="-122"/>
              </a:rPr>
              <a:t>③</a:t>
            </a:r>
            <a:r>
              <a:rPr lang="zh-CN" altLang="en-US" sz="2800">
                <a:solidFill>
                  <a:srgbClr val="FF0000"/>
                </a:solidFill>
                <a:ea typeface="楷体_GB2312"/>
              </a:rPr>
              <a:t>  </a:t>
            </a:r>
            <a:r>
              <a:rPr lang="en-US" altLang="zh-CN" sz="2800">
                <a:solidFill>
                  <a:srgbClr val="FF0000"/>
                </a:solidFill>
                <a:ea typeface="楷体_GB2312"/>
              </a:rPr>
              <a:t>p=p-&gt;next </a:t>
            </a:r>
            <a:r>
              <a:rPr lang="en-US" altLang="zh-CN" sz="3200">
                <a:solidFill>
                  <a:srgbClr val="FF0000"/>
                </a:solidFill>
                <a:ea typeface="楷体_GB2312"/>
              </a:rPr>
              <a:t>;</a:t>
            </a:r>
          </a:p>
        </p:txBody>
      </p:sp>
      <p:grpSp>
        <p:nvGrpSpPr>
          <p:cNvPr id="64579" name="Group 82"/>
          <p:cNvGrpSpPr/>
          <p:nvPr/>
        </p:nvGrpSpPr>
        <p:grpSpPr bwMode="auto">
          <a:xfrm>
            <a:off x="4562476" y="3436939"/>
            <a:ext cx="2600325" cy="966787"/>
            <a:chOff x="0" y="0"/>
            <a:chExt cx="1638" cy="612"/>
          </a:xfrm>
        </p:grpSpPr>
        <p:grpSp>
          <p:nvGrpSpPr>
            <p:cNvPr id="98393" name="Group 83"/>
            <p:cNvGrpSpPr/>
            <p:nvPr/>
          </p:nvGrpSpPr>
          <p:grpSpPr bwMode="auto">
            <a:xfrm>
              <a:off x="937" y="400"/>
              <a:ext cx="453" cy="212"/>
              <a:chOff x="0" y="0"/>
              <a:chExt cx="453" cy="212"/>
            </a:xfrm>
          </p:grpSpPr>
          <p:sp>
            <p:nvSpPr>
              <p:cNvPr id="98405" name="Rectangle 84"/>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b</a:t>
                </a:r>
              </a:p>
            </p:txBody>
          </p:sp>
          <p:sp>
            <p:nvSpPr>
              <p:cNvPr id="98406" name="Line 85"/>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407" name="Line 86"/>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98394" name="Group 87"/>
            <p:cNvGrpSpPr/>
            <p:nvPr/>
          </p:nvGrpSpPr>
          <p:grpSpPr bwMode="auto">
            <a:xfrm>
              <a:off x="509" y="0"/>
              <a:ext cx="204" cy="399"/>
              <a:chOff x="0" y="0"/>
              <a:chExt cx="204" cy="399"/>
            </a:xfrm>
          </p:grpSpPr>
          <p:sp>
            <p:nvSpPr>
              <p:cNvPr id="98403" name="Rectangle 88"/>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sp>
            <p:nvSpPr>
              <p:cNvPr id="98404" name="Line 89"/>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98395" name="Group 90"/>
            <p:cNvGrpSpPr/>
            <p:nvPr/>
          </p:nvGrpSpPr>
          <p:grpSpPr bwMode="auto">
            <a:xfrm>
              <a:off x="477" y="400"/>
              <a:ext cx="453" cy="212"/>
              <a:chOff x="0" y="0"/>
              <a:chExt cx="453" cy="212"/>
            </a:xfrm>
          </p:grpSpPr>
          <p:sp>
            <p:nvSpPr>
              <p:cNvPr id="98400" name="Rectangle 91"/>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98401" name="Line 92"/>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402" name="Line 93"/>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98396" name="Group 94"/>
            <p:cNvGrpSpPr/>
            <p:nvPr/>
          </p:nvGrpSpPr>
          <p:grpSpPr bwMode="auto">
            <a:xfrm>
              <a:off x="0" y="400"/>
              <a:ext cx="477" cy="204"/>
              <a:chOff x="0" y="0"/>
              <a:chExt cx="477" cy="204"/>
            </a:xfrm>
          </p:grpSpPr>
          <p:sp>
            <p:nvSpPr>
              <p:cNvPr id="98398" name="Line 95"/>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98399" name="Rectangle 96"/>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98397" name="Rectangle 97"/>
            <p:cNvSpPr>
              <a:spLocks noChangeArrowheads="1"/>
            </p:cNvSpPr>
            <p:nvPr/>
          </p:nvSpPr>
          <p:spPr bwMode="auto">
            <a:xfrm>
              <a:off x="1389" y="404"/>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64580" name="Rectangle 98"/>
          <p:cNvSpPr>
            <a:spLocks noChangeArrowheads="1"/>
          </p:cNvSpPr>
          <p:nvPr/>
        </p:nvSpPr>
        <p:spPr bwMode="auto">
          <a:xfrm>
            <a:off x="5410200" y="4471988"/>
            <a:ext cx="1066800" cy="379412"/>
          </a:xfrm>
          <a:prstGeom prst="rect">
            <a:avLst/>
          </a:prstGeom>
          <a:noFill/>
          <a:ln w="9525">
            <a:noFill/>
            <a:miter lim="800000"/>
          </a:ln>
        </p:spPr>
        <p:txBody>
          <a:bodyPr wrap="none" anchor="ctr"/>
          <a:lstStyle/>
          <a:p>
            <a:r>
              <a:rPr lang="zh-CN" altLang="en-US" sz="2400">
                <a:solidFill>
                  <a:srgbClr val="000099"/>
                </a:solidFill>
                <a:ea typeface="楷体_GB2312"/>
              </a:rPr>
              <a:t>操作前</a:t>
            </a:r>
          </a:p>
        </p:txBody>
      </p:sp>
      <p:sp>
        <p:nvSpPr>
          <p:cNvPr id="64581" name="Rectangle 99"/>
          <p:cNvSpPr>
            <a:spLocks noChangeArrowheads="1"/>
          </p:cNvSpPr>
          <p:nvPr/>
        </p:nvSpPr>
        <p:spPr bwMode="auto">
          <a:xfrm>
            <a:off x="8356600" y="4497388"/>
            <a:ext cx="1066800" cy="379412"/>
          </a:xfrm>
          <a:prstGeom prst="rect">
            <a:avLst/>
          </a:prstGeom>
          <a:noFill/>
          <a:ln w="9525">
            <a:noFill/>
            <a:miter lim="800000"/>
          </a:ln>
        </p:spPr>
        <p:txBody>
          <a:bodyPr wrap="none" anchor="ctr"/>
          <a:lstStyle/>
          <a:p>
            <a:r>
              <a:rPr lang="zh-CN" altLang="en-US" sz="2400">
                <a:solidFill>
                  <a:srgbClr val="000099"/>
                </a:solidFill>
                <a:ea typeface="楷体_GB2312"/>
              </a:rPr>
              <a:t>操作后</a:t>
            </a:r>
          </a:p>
        </p:txBody>
      </p:sp>
      <p:grpSp>
        <p:nvGrpSpPr>
          <p:cNvPr id="64582" name="Group 100"/>
          <p:cNvGrpSpPr/>
          <p:nvPr/>
        </p:nvGrpSpPr>
        <p:grpSpPr bwMode="auto">
          <a:xfrm>
            <a:off x="7610476" y="3436939"/>
            <a:ext cx="2600325" cy="979487"/>
            <a:chOff x="0" y="0"/>
            <a:chExt cx="1638" cy="620"/>
          </a:xfrm>
        </p:grpSpPr>
        <p:grpSp>
          <p:nvGrpSpPr>
            <p:cNvPr id="98378" name="Group 101"/>
            <p:cNvGrpSpPr/>
            <p:nvPr/>
          </p:nvGrpSpPr>
          <p:grpSpPr bwMode="auto">
            <a:xfrm>
              <a:off x="906" y="0"/>
              <a:ext cx="204" cy="399"/>
              <a:chOff x="0" y="0"/>
              <a:chExt cx="204" cy="399"/>
            </a:xfrm>
          </p:grpSpPr>
          <p:sp>
            <p:nvSpPr>
              <p:cNvPr id="98391" name="Rectangle 102"/>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sp>
            <p:nvSpPr>
              <p:cNvPr id="98392" name="Line 103"/>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98379" name="Group 104"/>
            <p:cNvGrpSpPr/>
            <p:nvPr/>
          </p:nvGrpSpPr>
          <p:grpSpPr bwMode="auto">
            <a:xfrm>
              <a:off x="937" y="408"/>
              <a:ext cx="453" cy="212"/>
              <a:chOff x="0" y="0"/>
              <a:chExt cx="453" cy="212"/>
            </a:xfrm>
          </p:grpSpPr>
          <p:sp>
            <p:nvSpPr>
              <p:cNvPr id="98388" name="Rectangle 105"/>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b</a:t>
                </a:r>
              </a:p>
            </p:txBody>
          </p:sp>
          <p:sp>
            <p:nvSpPr>
              <p:cNvPr id="98389" name="Line 106"/>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390" name="Line 107"/>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98380" name="Group 108"/>
            <p:cNvGrpSpPr/>
            <p:nvPr/>
          </p:nvGrpSpPr>
          <p:grpSpPr bwMode="auto">
            <a:xfrm>
              <a:off x="477" y="408"/>
              <a:ext cx="453" cy="212"/>
              <a:chOff x="0" y="0"/>
              <a:chExt cx="453" cy="212"/>
            </a:xfrm>
          </p:grpSpPr>
          <p:sp>
            <p:nvSpPr>
              <p:cNvPr id="98385" name="Rectangle 109"/>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98386" name="Line 110"/>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387" name="Line 111"/>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98381" name="Group 112"/>
            <p:cNvGrpSpPr/>
            <p:nvPr/>
          </p:nvGrpSpPr>
          <p:grpSpPr bwMode="auto">
            <a:xfrm>
              <a:off x="0" y="408"/>
              <a:ext cx="477" cy="204"/>
              <a:chOff x="0" y="0"/>
              <a:chExt cx="477" cy="204"/>
            </a:xfrm>
          </p:grpSpPr>
          <p:sp>
            <p:nvSpPr>
              <p:cNvPr id="98383" name="Line 113"/>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98384" name="Rectangle 114"/>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98382" name="Rectangle 115"/>
            <p:cNvSpPr>
              <a:spLocks noChangeArrowheads="1"/>
            </p:cNvSpPr>
            <p:nvPr/>
          </p:nvSpPr>
          <p:spPr bwMode="auto">
            <a:xfrm>
              <a:off x="1389" y="412"/>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64518" name="Rectangle 117"/>
          <p:cNvSpPr>
            <a:spLocks noChangeArrowheads="1"/>
          </p:cNvSpPr>
          <p:nvPr/>
        </p:nvSpPr>
        <p:spPr bwMode="auto">
          <a:xfrm>
            <a:off x="1752601" y="4953001"/>
            <a:ext cx="2339975" cy="466725"/>
          </a:xfrm>
          <a:prstGeom prst="rect">
            <a:avLst/>
          </a:prstGeom>
          <a:noFill/>
          <a:ln w="9525">
            <a:noFill/>
            <a:miter lim="800000"/>
          </a:ln>
        </p:spPr>
        <p:txBody>
          <a:bodyPr wrap="none" anchor="ctr"/>
          <a:lstStyle/>
          <a:p>
            <a:r>
              <a:rPr lang="zh-CN" altLang="en-US" sz="2800">
                <a:solidFill>
                  <a:srgbClr val="FF0000"/>
                </a:solidFill>
                <a:latin typeface="宋体" panose="02010600030101010101" pitchFamily="2" charset="-122"/>
                <a:ea typeface="Arial Unicode MS" panose="020B0604020202020204" charset="-122"/>
                <a:cs typeface="Arial Unicode MS" panose="020B0604020202020204" charset="-122"/>
              </a:rPr>
              <a:t>④</a:t>
            </a:r>
            <a:r>
              <a:rPr lang="zh-CN" altLang="en-US" sz="2800">
                <a:solidFill>
                  <a:srgbClr val="FF0000"/>
                </a:solidFill>
                <a:ea typeface="楷体_GB2312"/>
              </a:rPr>
              <a:t>  </a:t>
            </a:r>
            <a:r>
              <a:rPr lang="en-US" altLang="zh-CN" sz="2800">
                <a:solidFill>
                  <a:srgbClr val="FF0000"/>
                </a:solidFill>
                <a:ea typeface="楷体_GB2312"/>
              </a:rPr>
              <a:t>q-&gt;next=p </a:t>
            </a:r>
            <a:r>
              <a:rPr lang="en-US" altLang="zh-CN" sz="3200">
                <a:solidFill>
                  <a:srgbClr val="FF0000"/>
                </a:solidFill>
                <a:ea typeface="楷体_GB2312"/>
              </a:rPr>
              <a:t>;</a:t>
            </a:r>
          </a:p>
        </p:txBody>
      </p:sp>
      <p:grpSp>
        <p:nvGrpSpPr>
          <p:cNvPr id="64519" name="Group 118"/>
          <p:cNvGrpSpPr/>
          <p:nvPr/>
        </p:nvGrpSpPr>
        <p:grpSpPr bwMode="auto">
          <a:xfrm>
            <a:off x="4562476" y="4884738"/>
            <a:ext cx="2600325" cy="1439862"/>
            <a:chOff x="0" y="0"/>
            <a:chExt cx="1638" cy="907"/>
          </a:xfrm>
        </p:grpSpPr>
        <p:grpSp>
          <p:nvGrpSpPr>
            <p:cNvPr id="98352" name="Group 119"/>
            <p:cNvGrpSpPr/>
            <p:nvPr/>
          </p:nvGrpSpPr>
          <p:grpSpPr bwMode="auto">
            <a:xfrm>
              <a:off x="230" y="657"/>
              <a:ext cx="1072" cy="250"/>
              <a:chOff x="0" y="0"/>
              <a:chExt cx="1072" cy="250"/>
            </a:xfrm>
          </p:grpSpPr>
          <p:grpSp>
            <p:nvGrpSpPr>
              <p:cNvPr id="98369" name="Group 120"/>
              <p:cNvGrpSpPr/>
              <p:nvPr/>
            </p:nvGrpSpPr>
            <p:grpSpPr bwMode="auto">
              <a:xfrm>
                <a:off x="391" y="30"/>
                <a:ext cx="681" cy="220"/>
                <a:chOff x="0" y="0"/>
                <a:chExt cx="681" cy="220"/>
              </a:xfrm>
            </p:grpSpPr>
            <p:grpSp>
              <p:nvGrpSpPr>
                <p:cNvPr id="98373" name="Group 121"/>
                <p:cNvGrpSpPr/>
                <p:nvPr/>
              </p:nvGrpSpPr>
              <p:grpSpPr bwMode="auto">
                <a:xfrm>
                  <a:off x="0" y="0"/>
                  <a:ext cx="453" cy="212"/>
                  <a:chOff x="0" y="0"/>
                  <a:chExt cx="453" cy="212"/>
                </a:xfrm>
              </p:grpSpPr>
              <p:sp>
                <p:nvSpPr>
                  <p:cNvPr id="98375" name="Rectangle 122"/>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c</a:t>
                    </a:r>
                  </a:p>
                </p:txBody>
              </p:sp>
              <p:sp>
                <p:nvSpPr>
                  <p:cNvPr id="98376" name="Line 123"/>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377" name="Line 124"/>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sp>
              <p:nvSpPr>
                <p:cNvPr id="98374" name="Rectangle 125"/>
                <p:cNvSpPr>
                  <a:spLocks noChangeArrowheads="1"/>
                </p:cNvSpPr>
                <p:nvPr/>
              </p:nvSpPr>
              <p:spPr bwMode="auto">
                <a:xfrm>
                  <a:off x="432" y="16"/>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nvGrpSpPr>
              <p:cNvPr id="98370" name="Group 126"/>
              <p:cNvGrpSpPr/>
              <p:nvPr/>
            </p:nvGrpSpPr>
            <p:grpSpPr bwMode="auto">
              <a:xfrm>
                <a:off x="0" y="0"/>
                <a:ext cx="388" cy="204"/>
                <a:chOff x="0" y="0"/>
                <a:chExt cx="388" cy="204"/>
              </a:xfrm>
            </p:grpSpPr>
            <p:sp>
              <p:nvSpPr>
                <p:cNvPr id="98371" name="Line 127"/>
                <p:cNvSpPr>
                  <a:spLocks noChangeShapeType="1"/>
                </p:cNvSpPr>
                <p:nvPr/>
              </p:nvSpPr>
              <p:spPr bwMode="auto">
                <a:xfrm>
                  <a:off x="207" y="134"/>
                  <a:ext cx="181" cy="0"/>
                </a:xfrm>
                <a:prstGeom prst="line">
                  <a:avLst/>
                </a:prstGeom>
                <a:noFill/>
                <a:ln w="19050">
                  <a:solidFill>
                    <a:schemeClr val="tx1"/>
                  </a:solidFill>
                  <a:round/>
                  <a:tailEnd type="triangle" w="sm" len="sm"/>
                </a:ln>
              </p:spPr>
              <p:txBody>
                <a:bodyPr/>
                <a:lstStyle/>
                <a:p>
                  <a:endParaRPr lang="zh-CN" altLang="en-US"/>
                </a:p>
              </p:txBody>
            </p:sp>
            <p:sp>
              <p:nvSpPr>
                <p:cNvPr id="98372" name="Rectangle 128"/>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grpSp>
        </p:grpSp>
        <p:grpSp>
          <p:nvGrpSpPr>
            <p:cNvPr id="98353" name="Group 129"/>
            <p:cNvGrpSpPr/>
            <p:nvPr/>
          </p:nvGrpSpPr>
          <p:grpSpPr bwMode="auto">
            <a:xfrm>
              <a:off x="0" y="0"/>
              <a:ext cx="1638" cy="609"/>
              <a:chOff x="0" y="0"/>
              <a:chExt cx="1638" cy="612"/>
            </a:xfrm>
          </p:grpSpPr>
          <p:grpSp>
            <p:nvGrpSpPr>
              <p:cNvPr id="98354" name="Group 130"/>
              <p:cNvGrpSpPr/>
              <p:nvPr/>
            </p:nvGrpSpPr>
            <p:grpSpPr bwMode="auto">
              <a:xfrm>
                <a:off x="937" y="400"/>
                <a:ext cx="453" cy="212"/>
                <a:chOff x="0" y="0"/>
                <a:chExt cx="453" cy="212"/>
              </a:xfrm>
            </p:grpSpPr>
            <p:sp>
              <p:nvSpPr>
                <p:cNvPr id="98366" name="Rectangle 131"/>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b</a:t>
                  </a:r>
                </a:p>
              </p:txBody>
            </p:sp>
            <p:sp>
              <p:nvSpPr>
                <p:cNvPr id="98367" name="Line 132"/>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368" name="Line 133"/>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98355" name="Group 134"/>
              <p:cNvGrpSpPr/>
              <p:nvPr/>
            </p:nvGrpSpPr>
            <p:grpSpPr bwMode="auto">
              <a:xfrm>
                <a:off x="509" y="0"/>
                <a:ext cx="204" cy="399"/>
                <a:chOff x="0" y="0"/>
                <a:chExt cx="204" cy="399"/>
              </a:xfrm>
            </p:grpSpPr>
            <p:sp>
              <p:nvSpPr>
                <p:cNvPr id="98364" name="Rectangle 135"/>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q</a:t>
                  </a:r>
                </a:p>
              </p:txBody>
            </p:sp>
            <p:sp>
              <p:nvSpPr>
                <p:cNvPr id="98365" name="Line 136"/>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98356" name="Group 137"/>
              <p:cNvGrpSpPr/>
              <p:nvPr/>
            </p:nvGrpSpPr>
            <p:grpSpPr bwMode="auto">
              <a:xfrm>
                <a:off x="477" y="400"/>
                <a:ext cx="453" cy="212"/>
                <a:chOff x="0" y="0"/>
                <a:chExt cx="453" cy="212"/>
              </a:xfrm>
            </p:grpSpPr>
            <p:sp>
              <p:nvSpPr>
                <p:cNvPr id="98361" name="Rectangle 138"/>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98362" name="Line 139"/>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363" name="Line 140"/>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98357" name="Group 141"/>
              <p:cNvGrpSpPr/>
              <p:nvPr/>
            </p:nvGrpSpPr>
            <p:grpSpPr bwMode="auto">
              <a:xfrm>
                <a:off x="0" y="400"/>
                <a:ext cx="477" cy="204"/>
                <a:chOff x="0" y="0"/>
                <a:chExt cx="477" cy="204"/>
              </a:xfrm>
            </p:grpSpPr>
            <p:sp>
              <p:nvSpPr>
                <p:cNvPr id="98359" name="Line 142"/>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98360" name="Rectangle 143"/>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98358" name="Rectangle 144"/>
              <p:cNvSpPr>
                <a:spLocks noChangeArrowheads="1"/>
              </p:cNvSpPr>
              <p:nvPr/>
            </p:nvSpPr>
            <p:spPr bwMode="auto">
              <a:xfrm>
                <a:off x="1389" y="404"/>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sp>
        <p:nvSpPr>
          <p:cNvPr id="64520" name="Rectangle 145"/>
          <p:cNvSpPr>
            <a:spLocks noChangeArrowheads="1"/>
          </p:cNvSpPr>
          <p:nvPr/>
        </p:nvSpPr>
        <p:spPr bwMode="auto">
          <a:xfrm>
            <a:off x="5410200" y="6400801"/>
            <a:ext cx="1066800" cy="379413"/>
          </a:xfrm>
          <a:prstGeom prst="rect">
            <a:avLst/>
          </a:prstGeom>
          <a:noFill/>
          <a:ln w="9525">
            <a:noFill/>
            <a:miter lim="800000"/>
          </a:ln>
        </p:spPr>
        <p:txBody>
          <a:bodyPr wrap="none" anchor="ctr"/>
          <a:lstStyle/>
          <a:p>
            <a:r>
              <a:rPr lang="zh-CN" altLang="en-US" sz="2400">
                <a:solidFill>
                  <a:srgbClr val="000099"/>
                </a:solidFill>
                <a:ea typeface="楷体_GB2312"/>
              </a:rPr>
              <a:t>操作前</a:t>
            </a:r>
          </a:p>
        </p:txBody>
      </p:sp>
      <p:sp>
        <p:nvSpPr>
          <p:cNvPr id="64521" name="Rectangle 146"/>
          <p:cNvSpPr>
            <a:spLocks noChangeArrowheads="1"/>
          </p:cNvSpPr>
          <p:nvPr/>
        </p:nvSpPr>
        <p:spPr bwMode="auto">
          <a:xfrm>
            <a:off x="8356600" y="6402388"/>
            <a:ext cx="1066800" cy="379412"/>
          </a:xfrm>
          <a:prstGeom prst="rect">
            <a:avLst/>
          </a:prstGeom>
          <a:noFill/>
          <a:ln w="9525">
            <a:noFill/>
            <a:miter lim="800000"/>
          </a:ln>
        </p:spPr>
        <p:txBody>
          <a:bodyPr wrap="none" anchor="ctr"/>
          <a:lstStyle/>
          <a:p>
            <a:r>
              <a:rPr lang="zh-CN" altLang="en-US" sz="2400">
                <a:solidFill>
                  <a:srgbClr val="000099"/>
                </a:solidFill>
                <a:ea typeface="楷体_GB2312"/>
              </a:rPr>
              <a:t>操作后</a:t>
            </a:r>
          </a:p>
        </p:txBody>
      </p:sp>
      <p:grpSp>
        <p:nvGrpSpPr>
          <p:cNvPr id="64522" name="Group 147"/>
          <p:cNvGrpSpPr/>
          <p:nvPr/>
        </p:nvGrpSpPr>
        <p:grpSpPr bwMode="auto">
          <a:xfrm>
            <a:off x="7610476" y="4884739"/>
            <a:ext cx="2600325" cy="1493837"/>
            <a:chOff x="0" y="0"/>
            <a:chExt cx="1638" cy="941"/>
          </a:xfrm>
        </p:grpSpPr>
        <p:grpSp>
          <p:nvGrpSpPr>
            <p:cNvPr id="98324" name="Group 148"/>
            <p:cNvGrpSpPr/>
            <p:nvPr/>
          </p:nvGrpSpPr>
          <p:grpSpPr bwMode="auto">
            <a:xfrm>
              <a:off x="0" y="0"/>
              <a:ext cx="1638" cy="718"/>
              <a:chOff x="0" y="0"/>
              <a:chExt cx="1638" cy="718"/>
            </a:xfrm>
          </p:grpSpPr>
          <p:grpSp>
            <p:nvGrpSpPr>
              <p:cNvPr id="98335" name="Group 149"/>
              <p:cNvGrpSpPr/>
              <p:nvPr/>
            </p:nvGrpSpPr>
            <p:grpSpPr bwMode="auto">
              <a:xfrm>
                <a:off x="486" y="0"/>
                <a:ext cx="204" cy="397"/>
                <a:chOff x="0" y="0"/>
                <a:chExt cx="204" cy="399"/>
              </a:xfrm>
            </p:grpSpPr>
            <p:sp>
              <p:nvSpPr>
                <p:cNvPr id="98350" name="Rectangle 150"/>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q</a:t>
                  </a:r>
                </a:p>
              </p:txBody>
            </p:sp>
            <p:sp>
              <p:nvSpPr>
                <p:cNvPr id="98351" name="Line 151"/>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98336" name="Group 152"/>
              <p:cNvGrpSpPr/>
              <p:nvPr/>
            </p:nvGrpSpPr>
            <p:grpSpPr bwMode="auto">
              <a:xfrm>
                <a:off x="937" y="406"/>
                <a:ext cx="453" cy="211"/>
                <a:chOff x="0" y="0"/>
                <a:chExt cx="453" cy="212"/>
              </a:xfrm>
            </p:grpSpPr>
            <p:sp>
              <p:nvSpPr>
                <p:cNvPr id="98347" name="Rectangle 153"/>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b</a:t>
                  </a:r>
                </a:p>
              </p:txBody>
            </p:sp>
            <p:sp>
              <p:nvSpPr>
                <p:cNvPr id="98348" name="Line 154"/>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349" name="Line 155"/>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98337" name="Group 156"/>
              <p:cNvGrpSpPr/>
              <p:nvPr/>
            </p:nvGrpSpPr>
            <p:grpSpPr bwMode="auto">
              <a:xfrm>
                <a:off x="0" y="406"/>
                <a:ext cx="477" cy="203"/>
                <a:chOff x="0" y="0"/>
                <a:chExt cx="477" cy="204"/>
              </a:xfrm>
            </p:grpSpPr>
            <p:sp>
              <p:nvSpPr>
                <p:cNvPr id="98345" name="Line 157"/>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98346" name="Rectangle 158"/>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98338" name="Rectangle 159"/>
              <p:cNvSpPr>
                <a:spLocks noChangeArrowheads="1"/>
              </p:cNvSpPr>
              <p:nvPr/>
            </p:nvSpPr>
            <p:spPr bwMode="auto">
              <a:xfrm>
                <a:off x="1389" y="410"/>
                <a:ext cx="249" cy="203"/>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nvGrpSpPr>
              <p:cNvPr id="98339" name="Group 160"/>
              <p:cNvGrpSpPr/>
              <p:nvPr/>
            </p:nvGrpSpPr>
            <p:grpSpPr bwMode="auto">
              <a:xfrm>
                <a:off x="477" y="398"/>
                <a:ext cx="408" cy="320"/>
                <a:chOff x="0" y="0"/>
                <a:chExt cx="408" cy="320"/>
              </a:xfrm>
            </p:grpSpPr>
            <p:sp>
              <p:nvSpPr>
                <p:cNvPr id="98340" name="Rectangle 161"/>
                <p:cNvSpPr>
                  <a:spLocks noChangeArrowheads="1"/>
                </p:cNvSpPr>
                <p:nvPr/>
              </p:nvSpPr>
              <p:spPr bwMode="auto">
                <a:xfrm>
                  <a:off x="0" y="0"/>
                  <a:ext cx="317" cy="203"/>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98341" name="Line 162"/>
                <p:cNvSpPr>
                  <a:spLocks noChangeShapeType="1"/>
                </p:cNvSpPr>
                <p:nvPr/>
              </p:nvSpPr>
              <p:spPr bwMode="auto">
                <a:xfrm>
                  <a:off x="208" y="8"/>
                  <a:ext cx="0" cy="203"/>
                </a:xfrm>
                <a:prstGeom prst="line">
                  <a:avLst/>
                </a:prstGeom>
                <a:noFill/>
                <a:ln w="12700">
                  <a:solidFill>
                    <a:schemeClr val="tx1"/>
                  </a:solidFill>
                  <a:round/>
                </a:ln>
              </p:spPr>
              <p:txBody>
                <a:bodyPr/>
                <a:lstStyle/>
                <a:p>
                  <a:endParaRPr lang="zh-CN" altLang="en-US"/>
                </a:p>
              </p:txBody>
            </p:sp>
            <p:grpSp>
              <p:nvGrpSpPr>
                <p:cNvPr id="98342" name="Group 163"/>
                <p:cNvGrpSpPr/>
                <p:nvPr/>
              </p:nvGrpSpPr>
              <p:grpSpPr bwMode="auto">
                <a:xfrm>
                  <a:off x="249" y="93"/>
                  <a:ext cx="159" cy="227"/>
                  <a:chOff x="0" y="0"/>
                  <a:chExt cx="159" cy="181"/>
                </a:xfrm>
              </p:grpSpPr>
              <p:sp>
                <p:nvSpPr>
                  <p:cNvPr id="98343" name="Line 164"/>
                  <p:cNvSpPr>
                    <a:spLocks noChangeShapeType="1"/>
                  </p:cNvSpPr>
                  <p:nvPr/>
                </p:nvSpPr>
                <p:spPr bwMode="auto">
                  <a:xfrm>
                    <a:off x="0" y="0"/>
                    <a:ext cx="159" cy="0"/>
                  </a:xfrm>
                  <a:prstGeom prst="line">
                    <a:avLst/>
                  </a:prstGeom>
                  <a:noFill/>
                  <a:ln w="19050">
                    <a:solidFill>
                      <a:schemeClr val="tx1"/>
                    </a:solidFill>
                    <a:round/>
                  </a:ln>
                </p:spPr>
                <p:txBody>
                  <a:bodyPr/>
                  <a:lstStyle/>
                  <a:p>
                    <a:endParaRPr lang="zh-CN" altLang="en-US"/>
                  </a:p>
                </p:txBody>
              </p:sp>
              <p:sp>
                <p:nvSpPr>
                  <p:cNvPr id="98344" name="Line 165"/>
                  <p:cNvSpPr>
                    <a:spLocks noChangeShapeType="1"/>
                  </p:cNvSpPr>
                  <p:nvPr/>
                </p:nvSpPr>
                <p:spPr bwMode="auto">
                  <a:xfrm>
                    <a:off x="152" y="0"/>
                    <a:ext cx="0" cy="181"/>
                  </a:xfrm>
                  <a:prstGeom prst="line">
                    <a:avLst/>
                  </a:prstGeom>
                  <a:noFill/>
                  <a:ln w="19050">
                    <a:solidFill>
                      <a:schemeClr val="tx1"/>
                    </a:solidFill>
                    <a:round/>
                    <a:tailEnd type="triangle" w="sm" len="sm"/>
                  </a:ln>
                </p:spPr>
                <p:txBody>
                  <a:bodyPr/>
                  <a:lstStyle/>
                  <a:p>
                    <a:endParaRPr lang="zh-CN" altLang="en-US"/>
                  </a:p>
                </p:txBody>
              </p:sp>
            </p:grpSp>
          </p:grpSp>
        </p:grpSp>
        <p:grpSp>
          <p:nvGrpSpPr>
            <p:cNvPr id="98325" name="Group 166"/>
            <p:cNvGrpSpPr/>
            <p:nvPr/>
          </p:nvGrpSpPr>
          <p:grpSpPr bwMode="auto">
            <a:xfrm>
              <a:off x="342" y="691"/>
              <a:ext cx="1072" cy="250"/>
              <a:chOff x="0" y="0"/>
              <a:chExt cx="1072" cy="250"/>
            </a:xfrm>
          </p:grpSpPr>
          <p:grpSp>
            <p:nvGrpSpPr>
              <p:cNvPr id="98326" name="Group 167"/>
              <p:cNvGrpSpPr/>
              <p:nvPr/>
            </p:nvGrpSpPr>
            <p:grpSpPr bwMode="auto">
              <a:xfrm>
                <a:off x="391" y="30"/>
                <a:ext cx="681" cy="220"/>
                <a:chOff x="0" y="0"/>
                <a:chExt cx="681" cy="220"/>
              </a:xfrm>
            </p:grpSpPr>
            <p:grpSp>
              <p:nvGrpSpPr>
                <p:cNvPr id="98330" name="Group 168"/>
                <p:cNvGrpSpPr/>
                <p:nvPr/>
              </p:nvGrpSpPr>
              <p:grpSpPr bwMode="auto">
                <a:xfrm>
                  <a:off x="0" y="0"/>
                  <a:ext cx="453" cy="212"/>
                  <a:chOff x="0" y="0"/>
                  <a:chExt cx="453" cy="212"/>
                </a:xfrm>
              </p:grpSpPr>
              <p:sp>
                <p:nvSpPr>
                  <p:cNvPr id="98332" name="Rectangle 169"/>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c</a:t>
                    </a:r>
                  </a:p>
                </p:txBody>
              </p:sp>
              <p:sp>
                <p:nvSpPr>
                  <p:cNvPr id="98333" name="Line 170"/>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98334" name="Line 171"/>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sp>
              <p:nvSpPr>
                <p:cNvPr id="98331" name="Rectangle 172"/>
                <p:cNvSpPr>
                  <a:spLocks noChangeArrowheads="1"/>
                </p:cNvSpPr>
                <p:nvPr/>
              </p:nvSpPr>
              <p:spPr bwMode="auto">
                <a:xfrm>
                  <a:off x="432" y="16"/>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nvGrpSpPr>
              <p:cNvPr id="98327" name="Group 173"/>
              <p:cNvGrpSpPr/>
              <p:nvPr/>
            </p:nvGrpSpPr>
            <p:grpSpPr bwMode="auto">
              <a:xfrm>
                <a:off x="0" y="0"/>
                <a:ext cx="388" cy="204"/>
                <a:chOff x="0" y="0"/>
                <a:chExt cx="388" cy="204"/>
              </a:xfrm>
            </p:grpSpPr>
            <p:sp>
              <p:nvSpPr>
                <p:cNvPr id="98328" name="Line 174"/>
                <p:cNvSpPr>
                  <a:spLocks noChangeShapeType="1"/>
                </p:cNvSpPr>
                <p:nvPr/>
              </p:nvSpPr>
              <p:spPr bwMode="auto">
                <a:xfrm>
                  <a:off x="207" y="134"/>
                  <a:ext cx="181" cy="0"/>
                </a:xfrm>
                <a:prstGeom prst="line">
                  <a:avLst/>
                </a:prstGeom>
                <a:noFill/>
                <a:ln w="19050">
                  <a:solidFill>
                    <a:schemeClr val="tx1"/>
                  </a:solidFill>
                  <a:round/>
                  <a:tailEnd type="triangle" w="sm" len="sm"/>
                </a:ln>
              </p:spPr>
              <p:txBody>
                <a:bodyPr/>
                <a:lstStyle/>
                <a:p>
                  <a:endParaRPr lang="zh-CN" altLang="en-US"/>
                </a:p>
              </p:txBody>
            </p:sp>
            <p:sp>
              <p:nvSpPr>
                <p:cNvPr id="98329" name="Rectangle 175"/>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grpSp>
        </p:grpSp>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6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6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6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46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46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46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46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457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458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458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458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457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45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45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45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45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45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52" grpId="0"/>
      <p:bldP spid="64613" grpId="0"/>
      <p:bldP spid="64615" grpId="0"/>
      <p:bldP spid="64616" grpId="0"/>
      <p:bldP spid="64578" grpId="0"/>
      <p:bldP spid="64580" grpId="0"/>
      <p:bldP spid="64581" grpId="0"/>
      <p:bldP spid="64518" grpId="0"/>
      <p:bldP spid="64520" grpId="0"/>
      <p:bldP spid="6452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p:cNvSpPr>
            <a:spLocks noChangeArrowheads="1"/>
          </p:cNvSpPr>
          <p:nvPr/>
        </p:nvSpPr>
        <p:spPr bwMode="auto">
          <a:xfrm>
            <a:off x="1649414" y="2441576"/>
            <a:ext cx="3216275" cy="454025"/>
          </a:xfrm>
          <a:prstGeom prst="rect">
            <a:avLst/>
          </a:prstGeom>
          <a:noFill/>
          <a:ln w="9525">
            <a:noFill/>
            <a:miter lim="800000"/>
          </a:ln>
        </p:spPr>
        <p:txBody>
          <a:bodyPr wrap="none" anchor="ctr"/>
          <a:lstStyle/>
          <a:p>
            <a:r>
              <a:rPr lang="zh-CN" altLang="en-US" sz="2800">
                <a:solidFill>
                  <a:srgbClr val="FF0000"/>
                </a:solidFill>
                <a:latin typeface="宋体" panose="02010600030101010101" pitchFamily="2" charset="-122"/>
                <a:ea typeface="Arial Unicode MS" panose="020B0604020202020204" charset="-122"/>
                <a:cs typeface="Arial Unicode MS" panose="020B0604020202020204" charset="-122"/>
              </a:rPr>
              <a:t>⑤</a:t>
            </a:r>
            <a:r>
              <a:rPr lang="zh-CN" altLang="en-US" sz="2800">
                <a:solidFill>
                  <a:srgbClr val="FF0000"/>
                </a:solidFill>
                <a:ea typeface="楷体_GB2312"/>
              </a:rPr>
              <a:t> </a:t>
            </a:r>
            <a:r>
              <a:rPr lang="en-US" altLang="zh-CN" sz="2800">
                <a:solidFill>
                  <a:srgbClr val="FF0000"/>
                </a:solidFill>
                <a:ea typeface="楷体_GB2312"/>
              </a:rPr>
              <a:t>q-&gt;next=p-&gt;next </a:t>
            </a:r>
            <a:endParaRPr lang="en-US" altLang="zh-CN" sz="3200">
              <a:solidFill>
                <a:srgbClr val="FF0000"/>
              </a:solidFill>
              <a:ea typeface="楷体_GB2312"/>
            </a:endParaRPr>
          </a:p>
        </p:txBody>
      </p:sp>
      <p:grpSp>
        <p:nvGrpSpPr>
          <p:cNvPr id="2" name="Group 5"/>
          <p:cNvGrpSpPr/>
          <p:nvPr/>
        </p:nvGrpSpPr>
        <p:grpSpPr bwMode="auto">
          <a:xfrm>
            <a:off x="2870201" y="2565401"/>
            <a:ext cx="6970713" cy="1844675"/>
            <a:chOff x="0" y="0"/>
            <a:chExt cx="4422" cy="1195"/>
          </a:xfrm>
        </p:grpSpPr>
        <p:sp>
          <p:nvSpPr>
            <p:cNvPr id="101523" name="Rectangle 6"/>
            <p:cNvSpPr>
              <a:spLocks noChangeArrowheads="1"/>
            </p:cNvSpPr>
            <p:nvPr/>
          </p:nvSpPr>
          <p:spPr bwMode="auto">
            <a:xfrm>
              <a:off x="0" y="528"/>
              <a:ext cx="295" cy="272"/>
            </a:xfrm>
            <a:prstGeom prst="rect">
              <a:avLst/>
            </a:prstGeom>
            <a:noFill/>
            <a:ln w="9525">
              <a:noFill/>
              <a:miter lim="800000"/>
            </a:ln>
          </p:spPr>
          <p:txBody>
            <a:bodyPr wrap="none" anchor="ctr"/>
            <a:lstStyle/>
            <a:p>
              <a:r>
                <a:rPr lang="en-US" altLang="zh-CN" sz="2800">
                  <a:solidFill>
                    <a:srgbClr val="000099"/>
                  </a:solidFill>
                  <a:ea typeface="Arial Unicode MS" panose="020B0604020202020204" charset="-122"/>
                  <a:cs typeface="Arial Unicode MS" panose="020B0604020202020204" charset="-122"/>
                </a:rPr>
                <a:t>(a)</a:t>
              </a:r>
              <a:endParaRPr lang="en-US" altLang="zh-CN" sz="3200">
                <a:solidFill>
                  <a:srgbClr val="000099"/>
                </a:solidFill>
                <a:ea typeface="楷体_GB2312"/>
              </a:endParaRPr>
            </a:p>
          </p:txBody>
        </p:sp>
        <p:grpSp>
          <p:nvGrpSpPr>
            <p:cNvPr id="101524" name="Group 7"/>
            <p:cNvGrpSpPr/>
            <p:nvPr/>
          </p:nvGrpSpPr>
          <p:grpSpPr bwMode="auto">
            <a:xfrm>
              <a:off x="914" y="657"/>
              <a:ext cx="1540" cy="250"/>
              <a:chOff x="0" y="0"/>
              <a:chExt cx="1540" cy="250"/>
            </a:xfrm>
          </p:grpSpPr>
          <p:grpSp>
            <p:nvGrpSpPr>
              <p:cNvPr id="101575" name="Group 8"/>
              <p:cNvGrpSpPr/>
              <p:nvPr/>
            </p:nvGrpSpPr>
            <p:grpSpPr bwMode="auto">
              <a:xfrm>
                <a:off x="396" y="31"/>
                <a:ext cx="453" cy="212"/>
                <a:chOff x="0" y="0"/>
                <a:chExt cx="453" cy="212"/>
              </a:xfrm>
            </p:grpSpPr>
            <p:sp>
              <p:nvSpPr>
                <p:cNvPr id="101585" name="Rectangle 9"/>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x</a:t>
                  </a:r>
                </a:p>
              </p:txBody>
            </p:sp>
            <p:sp>
              <p:nvSpPr>
                <p:cNvPr id="101586" name="Line 10"/>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587" name="Line 11"/>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576" name="Group 12"/>
              <p:cNvGrpSpPr/>
              <p:nvPr/>
            </p:nvGrpSpPr>
            <p:grpSpPr bwMode="auto">
              <a:xfrm>
                <a:off x="859" y="30"/>
                <a:ext cx="681" cy="220"/>
                <a:chOff x="0" y="0"/>
                <a:chExt cx="681" cy="220"/>
              </a:xfrm>
            </p:grpSpPr>
            <p:grpSp>
              <p:nvGrpSpPr>
                <p:cNvPr id="101580" name="Group 13"/>
                <p:cNvGrpSpPr/>
                <p:nvPr/>
              </p:nvGrpSpPr>
              <p:grpSpPr bwMode="auto">
                <a:xfrm>
                  <a:off x="0" y="0"/>
                  <a:ext cx="453" cy="212"/>
                  <a:chOff x="0" y="0"/>
                  <a:chExt cx="453" cy="212"/>
                </a:xfrm>
              </p:grpSpPr>
              <p:sp>
                <p:nvSpPr>
                  <p:cNvPr id="101582" name="Rectangle 14"/>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y</a:t>
                    </a:r>
                  </a:p>
                </p:txBody>
              </p:sp>
              <p:sp>
                <p:nvSpPr>
                  <p:cNvPr id="101583" name="Line 15"/>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584" name="Line 16"/>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sp>
              <p:nvSpPr>
                <p:cNvPr id="101581" name="Rectangle 17"/>
                <p:cNvSpPr>
                  <a:spLocks noChangeArrowheads="1"/>
                </p:cNvSpPr>
                <p:nvPr/>
              </p:nvSpPr>
              <p:spPr bwMode="auto">
                <a:xfrm>
                  <a:off x="432" y="16"/>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nvGrpSpPr>
              <p:cNvPr id="101577" name="Group 18"/>
              <p:cNvGrpSpPr/>
              <p:nvPr/>
            </p:nvGrpSpPr>
            <p:grpSpPr bwMode="auto">
              <a:xfrm>
                <a:off x="0" y="0"/>
                <a:ext cx="388" cy="204"/>
                <a:chOff x="0" y="0"/>
                <a:chExt cx="388" cy="204"/>
              </a:xfrm>
            </p:grpSpPr>
            <p:sp>
              <p:nvSpPr>
                <p:cNvPr id="101578" name="Line 19"/>
                <p:cNvSpPr>
                  <a:spLocks noChangeShapeType="1"/>
                </p:cNvSpPr>
                <p:nvPr/>
              </p:nvSpPr>
              <p:spPr bwMode="auto">
                <a:xfrm>
                  <a:off x="207" y="134"/>
                  <a:ext cx="181" cy="0"/>
                </a:xfrm>
                <a:prstGeom prst="line">
                  <a:avLst/>
                </a:prstGeom>
                <a:noFill/>
                <a:ln w="19050">
                  <a:solidFill>
                    <a:schemeClr val="tx1"/>
                  </a:solidFill>
                  <a:round/>
                  <a:tailEnd type="triangle" w="sm" len="sm"/>
                </a:ln>
              </p:spPr>
              <p:txBody>
                <a:bodyPr/>
                <a:lstStyle/>
                <a:p>
                  <a:endParaRPr lang="zh-CN" altLang="en-US"/>
                </a:p>
              </p:txBody>
            </p:sp>
            <p:sp>
              <p:nvSpPr>
                <p:cNvPr id="101579" name="Rectangle 20"/>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grpSp>
        </p:grpSp>
        <p:grpSp>
          <p:nvGrpSpPr>
            <p:cNvPr id="101525" name="Group 21"/>
            <p:cNvGrpSpPr/>
            <p:nvPr/>
          </p:nvGrpSpPr>
          <p:grpSpPr bwMode="auto">
            <a:xfrm>
              <a:off x="864" y="0"/>
              <a:ext cx="1638" cy="609"/>
              <a:chOff x="0" y="0"/>
              <a:chExt cx="1638" cy="612"/>
            </a:xfrm>
          </p:grpSpPr>
          <p:grpSp>
            <p:nvGrpSpPr>
              <p:cNvPr id="101560" name="Group 22"/>
              <p:cNvGrpSpPr/>
              <p:nvPr/>
            </p:nvGrpSpPr>
            <p:grpSpPr bwMode="auto">
              <a:xfrm>
                <a:off x="937" y="400"/>
                <a:ext cx="453" cy="212"/>
                <a:chOff x="0" y="0"/>
                <a:chExt cx="453" cy="212"/>
              </a:xfrm>
            </p:grpSpPr>
            <p:sp>
              <p:nvSpPr>
                <p:cNvPr id="101572" name="Rectangle 23"/>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b</a:t>
                  </a:r>
                </a:p>
              </p:txBody>
            </p:sp>
            <p:sp>
              <p:nvSpPr>
                <p:cNvPr id="101573" name="Line 24"/>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574" name="Line 25"/>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561" name="Group 26"/>
              <p:cNvGrpSpPr/>
              <p:nvPr/>
            </p:nvGrpSpPr>
            <p:grpSpPr bwMode="auto">
              <a:xfrm>
                <a:off x="509" y="0"/>
                <a:ext cx="204" cy="399"/>
                <a:chOff x="0" y="0"/>
                <a:chExt cx="204" cy="399"/>
              </a:xfrm>
            </p:grpSpPr>
            <p:sp>
              <p:nvSpPr>
                <p:cNvPr id="101570" name="Rectangle 27"/>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q</a:t>
                  </a:r>
                </a:p>
              </p:txBody>
            </p:sp>
            <p:sp>
              <p:nvSpPr>
                <p:cNvPr id="101571" name="Line 28"/>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101562" name="Group 29"/>
              <p:cNvGrpSpPr/>
              <p:nvPr/>
            </p:nvGrpSpPr>
            <p:grpSpPr bwMode="auto">
              <a:xfrm>
                <a:off x="477" y="400"/>
                <a:ext cx="453" cy="212"/>
                <a:chOff x="0" y="0"/>
                <a:chExt cx="453" cy="212"/>
              </a:xfrm>
            </p:grpSpPr>
            <p:sp>
              <p:nvSpPr>
                <p:cNvPr id="101567" name="Rectangle 30"/>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101568" name="Line 31"/>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569" name="Line 32"/>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563" name="Group 33"/>
              <p:cNvGrpSpPr/>
              <p:nvPr/>
            </p:nvGrpSpPr>
            <p:grpSpPr bwMode="auto">
              <a:xfrm>
                <a:off x="0" y="400"/>
                <a:ext cx="477" cy="204"/>
                <a:chOff x="0" y="0"/>
                <a:chExt cx="477" cy="204"/>
              </a:xfrm>
            </p:grpSpPr>
            <p:sp>
              <p:nvSpPr>
                <p:cNvPr id="101565" name="Line 34"/>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101566" name="Rectangle 35"/>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101564" name="Rectangle 36"/>
              <p:cNvSpPr>
                <a:spLocks noChangeArrowheads="1"/>
              </p:cNvSpPr>
              <p:nvPr/>
            </p:nvSpPr>
            <p:spPr bwMode="auto">
              <a:xfrm>
                <a:off x="1389" y="404"/>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101526" name="Rectangle 37"/>
            <p:cNvSpPr>
              <a:spLocks noChangeArrowheads="1"/>
            </p:cNvSpPr>
            <p:nvPr/>
          </p:nvSpPr>
          <p:spPr bwMode="auto">
            <a:xfrm>
              <a:off x="1398" y="912"/>
              <a:ext cx="672" cy="239"/>
            </a:xfrm>
            <a:prstGeom prst="rect">
              <a:avLst/>
            </a:prstGeom>
            <a:noFill/>
            <a:ln w="9525">
              <a:noFill/>
              <a:miter lim="800000"/>
            </a:ln>
          </p:spPr>
          <p:txBody>
            <a:bodyPr wrap="none" anchor="ctr"/>
            <a:lstStyle/>
            <a:p>
              <a:r>
                <a:rPr lang="zh-CN" altLang="en-US" sz="2400">
                  <a:solidFill>
                    <a:srgbClr val="000099"/>
                  </a:solidFill>
                  <a:ea typeface="楷体_GB2312"/>
                </a:rPr>
                <a:t>操作前</a:t>
              </a:r>
            </a:p>
          </p:txBody>
        </p:sp>
        <p:sp>
          <p:nvSpPr>
            <p:cNvPr id="101527" name="Rectangle 38"/>
            <p:cNvSpPr>
              <a:spLocks noChangeArrowheads="1"/>
            </p:cNvSpPr>
            <p:nvPr/>
          </p:nvSpPr>
          <p:spPr bwMode="auto">
            <a:xfrm>
              <a:off x="3254" y="956"/>
              <a:ext cx="672" cy="239"/>
            </a:xfrm>
            <a:prstGeom prst="rect">
              <a:avLst/>
            </a:prstGeom>
            <a:noFill/>
            <a:ln w="9525">
              <a:noFill/>
              <a:miter lim="800000"/>
            </a:ln>
          </p:spPr>
          <p:txBody>
            <a:bodyPr wrap="none" anchor="ctr"/>
            <a:lstStyle/>
            <a:p>
              <a:r>
                <a:rPr lang="zh-CN" altLang="en-US" sz="2400">
                  <a:solidFill>
                    <a:srgbClr val="000099"/>
                  </a:solidFill>
                  <a:ea typeface="楷体_GB2312"/>
                </a:rPr>
                <a:t>操作后</a:t>
              </a:r>
            </a:p>
          </p:txBody>
        </p:sp>
        <p:grpSp>
          <p:nvGrpSpPr>
            <p:cNvPr id="101528" name="Group 39"/>
            <p:cNvGrpSpPr/>
            <p:nvPr/>
          </p:nvGrpSpPr>
          <p:grpSpPr bwMode="auto">
            <a:xfrm>
              <a:off x="2784" y="0"/>
              <a:ext cx="1638" cy="718"/>
              <a:chOff x="0" y="0"/>
              <a:chExt cx="1638" cy="718"/>
            </a:xfrm>
          </p:grpSpPr>
          <p:grpSp>
            <p:nvGrpSpPr>
              <p:cNvPr id="101543" name="Group 40"/>
              <p:cNvGrpSpPr/>
              <p:nvPr/>
            </p:nvGrpSpPr>
            <p:grpSpPr bwMode="auto">
              <a:xfrm>
                <a:off x="486" y="0"/>
                <a:ext cx="204" cy="397"/>
                <a:chOff x="0" y="0"/>
                <a:chExt cx="204" cy="399"/>
              </a:xfrm>
            </p:grpSpPr>
            <p:sp>
              <p:nvSpPr>
                <p:cNvPr id="101558" name="Rectangle 41"/>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q</a:t>
                  </a:r>
                </a:p>
              </p:txBody>
            </p:sp>
            <p:sp>
              <p:nvSpPr>
                <p:cNvPr id="101559" name="Line 42"/>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101544" name="Group 43"/>
              <p:cNvGrpSpPr/>
              <p:nvPr/>
            </p:nvGrpSpPr>
            <p:grpSpPr bwMode="auto">
              <a:xfrm>
                <a:off x="937" y="406"/>
                <a:ext cx="453" cy="211"/>
                <a:chOff x="0" y="0"/>
                <a:chExt cx="453" cy="212"/>
              </a:xfrm>
            </p:grpSpPr>
            <p:sp>
              <p:nvSpPr>
                <p:cNvPr id="101555" name="Rectangle 44"/>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b</a:t>
                  </a:r>
                </a:p>
              </p:txBody>
            </p:sp>
            <p:sp>
              <p:nvSpPr>
                <p:cNvPr id="101556" name="Line 45"/>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557" name="Line 46"/>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545" name="Group 47"/>
              <p:cNvGrpSpPr/>
              <p:nvPr/>
            </p:nvGrpSpPr>
            <p:grpSpPr bwMode="auto">
              <a:xfrm>
                <a:off x="0" y="406"/>
                <a:ext cx="477" cy="203"/>
                <a:chOff x="0" y="0"/>
                <a:chExt cx="477" cy="204"/>
              </a:xfrm>
            </p:grpSpPr>
            <p:sp>
              <p:nvSpPr>
                <p:cNvPr id="101553" name="Line 48"/>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101554" name="Rectangle 49"/>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101546" name="Rectangle 50"/>
              <p:cNvSpPr>
                <a:spLocks noChangeArrowheads="1"/>
              </p:cNvSpPr>
              <p:nvPr/>
            </p:nvSpPr>
            <p:spPr bwMode="auto">
              <a:xfrm>
                <a:off x="1389" y="410"/>
                <a:ext cx="249" cy="203"/>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nvGrpSpPr>
              <p:cNvPr id="101547" name="Group 51"/>
              <p:cNvGrpSpPr/>
              <p:nvPr/>
            </p:nvGrpSpPr>
            <p:grpSpPr bwMode="auto">
              <a:xfrm>
                <a:off x="477" y="398"/>
                <a:ext cx="408" cy="320"/>
                <a:chOff x="0" y="0"/>
                <a:chExt cx="408" cy="320"/>
              </a:xfrm>
            </p:grpSpPr>
            <p:sp>
              <p:nvSpPr>
                <p:cNvPr id="101548" name="Rectangle 52"/>
                <p:cNvSpPr>
                  <a:spLocks noChangeArrowheads="1"/>
                </p:cNvSpPr>
                <p:nvPr/>
              </p:nvSpPr>
              <p:spPr bwMode="auto">
                <a:xfrm>
                  <a:off x="0" y="0"/>
                  <a:ext cx="317" cy="203"/>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101549" name="Line 53"/>
                <p:cNvSpPr>
                  <a:spLocks noChangeShapeType="1"/>
                </p:cNvSpPr>
                <p:nvPr/>
              </p:nvSpPr>
              <p:spPr bwMode="auto">
                <a:xfrm>
                  <a:off x="208" y="8"/>
                  <a:ext cx="0" cy="203"/>
                </a:xfrm>
                <a:prstGeom prst="line">
                  <a:avLst/>
                </a:prstGeom>
                <a:noFill/>
                <a:ln w="12700">
                  <a:solidFill>
                    <a:schemeClr val="tx1"/>
                  </a:solidFill>
                  <a:round/>
                </a:ln>
              </p:spPr>
              <p:txBody>
                <a:bodyPr/>
                <a:lstStyle/>
                <a:p>
                  <a:endParaRPr lang="zh-CN" altLang="en-US"/>
                </a:p>
              </p:txBody>
            </p:sp>
            <p:grpSp>
              <p:nvGrpSpPr>
                <p:cNvPr id="101550" name="Group 54"/>
                <p:cNvGrpSpPr/>
                <p:nvPr/>
              </p:nvGrpSpPr>
              <p:grpSpPr bwMode="auto">
                <a:xfrm>
                  <a:off x="249" y="93"/>
                  <a:ext cx="159" cy="227"/>
                  <a:chOff x="0" y="0"/>
                  <a:chExt cx="159" cy="181"/>
                </a:xfrm>
              </p:grpSpPr>
              <p:sp>
                <p:nvSpPr>
                  <p:cNvPr id="101551" name="Line 55"/>
                  <p:cNvSpPr>
                    <a:spLocks noChangeShapeType="1"/>
                  </p:cNvSpPr>
                  <p:nvPr/>
                </p:nvSpPr>
                <p:spPr bwMode="auto">
                  <a:xfrm>
                    <a:off x="0" y="0"/>
                    <a:ext cx="159" cy="0"/>
                  </a:xfrm>
                  <a:prstGeom prst="line">
                    <a:avLst/>
                  </a:prstGeom>
                  <a:noFill/>
                  <a:ln w="19050">
                    <a:solidFill>
                      <a:schemeClr val="tx1"/>
                    </a:solidFill>
                    <a:round/>
                  </a:ln>
                </p:spPr>
                <p:txBody>
                  <a:bodyPr/>
                  <a:lstStyle/>
                  <a:p>
                    <a:endParaRPr lang="zh-CN" altLang="en-US"/>
                  </a:p>
                </p:txBody>
              </p:sp>
              <p:sp>
                <p:nvSpPr>
                  <p:cNvPr id="101552" name="Line 56"/>
                  <p:cNvSpPr>
                    <a:spLocks noChangeShapeType="1"/>
                  </p:cNvSpPr>
                  <p:nvPr/>
                </p:nvSpPr>
                <p:spPr bwMode="auto">
                  <a:xfrm>
                    <a:off x="152" y="0"/>
                    <a:ext cx="0" cy="181"/>
                  </a:xfrm>
                  <a:prstGeom prst="line">
                    <a:avLst/>
                  </a:prstGeom>
                  <a:noFill/>
                  <a:ln w="19050">
                    <a:solidFill>
                      <a:schemeClr val="tx1"/>
                    </a:solidFill>
                    <a:round/>
                    <a:tailEnd type="triangle" w="sm" len="sm"/>
                  </a:ln>
                </p:spPr>
                <p:txBody>
                  <a:bodyPr/>
                  <a:lstStyle/>
                  <a:p>
                    <a:endParaRPr lang="zh-CN" altLang="en-US"/>
                  </a:p>
                </p:txBody>
              </p:sp>
            </p:grpSp>
          </p:grpSp>
        </p:grpSp>
        <p:grpSp>
          <p:nvGrpSpPr>
            <p:cNvPr id="101529" name="Group 57"/>
            <p:cNvGrpSpPr/>
            <p:nvPr/>
          </p:nvGrpSpPr>
          <p:grpSpPr bwMode="auto">
            <a:xfrm>
              <a:off x="2742" y="686"/>
              <a:ext cx="1540" cy="250"/>
              <a:chOff x="0" y="0"/>
              <a:chExt cx="1540" cy="250"/>
            </a:xfrm>
          </p:grpSpPr>
          <p:grpSp>
            <p:nvGrpSpPr>
              <p:cNvPr id="101530" name="Group 58"/>
              <p:cNvGrpSpPr/>
              <p:nvPr/>
            </p:nvGrpSpPr>
            <p:grpSpPr bwMode="auto">
              <a:xfrm>
                <a:off x="396" y="31"/>
                <a:ext cx="453" cy="212"/>
                <a:chOff x="0" y="0"/>
                <a:chExt cx="453" cy="212"/>
              </a:xfrm>
            </p:grpSpPr>
            <p:sp>
              <p:nvSpPr>
                <p:cNvPr id="101540" name="Rectangle 59"/>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x</a:t>
                  </a:r>
                </a:p>
              </p:txBody>
            </p:sp>
            <p:sp>
              <p:nvSpPr>
                <p:cNvPr id="101541" name="Line 60"/>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542" name="Line 61"/>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531" name="Group 62"/>
              <p:cNvGrpSpPr/>
              <p:nvPr/>
            </p:nvGrpSpPr>
            <p:grpSpPr bwMode="auto">
              <a:xfrm>
                <a:off x="859" y="30"/>
                <a:ext cx="681" cy="220"/>
                <a:chOff x="0" y="0"/>
                <a:chExt cx="681" cy="220"/>
              </a:xfrm>
            </p:grpSpPr>
            <p:grpSp>
              <p:nvGrpSpPr>
                <p:cNvPr id="101535" name="Group 63"/>
                <p:cNvGrpSpPr/>
                <p:nvPr/>
              </p:nvGrpSpPr>
              <p:grpSpPr bwMode="auto">
                <a:xfrm>
                  <a:off x="0" y="0"/>
                  <a:ext cx="453" cy="212"/>
                  <a:chOff x="0" y="0"/>
                  <a:chExt cx="453" cy="212"/>
                </a:xfrm>
              </p:grpSpPr>
              <p:sp>
                <p:nvSpPr>
                  <p:cNvPr id="101537" name="Rectangle 64"/>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y</a:t>
                    </a:r>
                  </a:p>
                </p:txBody>
              </p:sp>
              <p:sp>
                <p:nvSpPr>
                  <p:cNvPr id="101538" name="Line 65"/>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539" name="Line 66"/>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sp>
              <p:nvSpPr>
                <p:cNvPr id="101536" name="Rectangle 67"/>
                <p:cNvSpPr>
                  <a:spLocks noChangeArrowheads="1"/>
                </p:cNvSpPr>
                <p:nvPr/>
              </p:nvSpPr>
              <p:spPr bwMode="auto">
                <a:xfrm>
                  <a:off x="432" y="16"/>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nvGrpSpPr>
              <p:cNvPr id="101532" name="Group 68"/>
              <p:cNvGrpSpPr/>
              <p:nvPr/>
            </p:nvGrpSpPr>
            <p:grpSpPr bwMode="auto">
              <a:xfrm>
                <a:off x="0" y="0"/>
                <a:ext cx="388" cy="204"/>
                <a:chOff x="0" y="0"/>
                <a:chExt cx="388" cy="204"/>
              </a:xfrm>
            </p:grpSpPr>
            <p:sp>
              <p:nvSpPr>
                <p:cNvPr id="101533" name="Line 69"/>
                <p:cNvSpPr>
                  <a:spLocks noChangeShapeType="1"/>
                </p:cNvSpPr>
                <p:nvPr/>
              </p:nvSpPr>
              <p:spPr bwMode="auto">
                <a:xfrm>
                  <a:off x="207" y="134"/>
                  <a:ext cx="181" cy="0"/>
                </a:xfrm>
                <a:prstGeom prst="line">
                  <a:avLst/>
                </a:prstGeom>
                <a:noFill/>
                <a:ln w="19050">
                  <a:solidFill>
                    <a:schemeClr val="tx1"/>
                  </a:solidFill>
                  <a:round/>
                  <a:tailEnd type="triangle" w="sm" len="sm"/>
                </a:ln>
              </p:spPr>
              <p:txBody>
                <a:bodyPr/>
                <a:lstStyle/>
                <a:p>
                  <a:endParaRPr lang="zh-CN" altLang="en-US"/>
                </a:p>
              </p:txBody>
            </p:sp>
            <p:sp>
              <p:nvSpPr>
                <p:cNvPr id="101534" name="Rectangle 70"/>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grpSp>
        </p:grpSp>
      </p:grpSp>
      <p:grpSp>
        <p:nvGrpSpPr>
          <p:cNvPr id="24" name="Group 71"/>
          <p:cNvGrpSpPr/>
          <p:nvPr/>
        </p:nvGrpSpPr>
        <p:grpSpPr bwMode="auto">
          <a:xfrm>
            <a:off x="2944814" y="4113214"/>
            <a:ext cx="5902325" cy="2744787"/>
            <a:chOff x="0" y="0"/>
            <a:chExt cx="3744" cy="1776"/>
          </a:xfrm>
        </p:grpSpPr>
        <p:grpSp>
          <p:nvGrpSpPr>
            <p:cNvPr id="101452" name="Group 72"/>
            <p:cNvGrpSpPr/>
            <p:nvPr/>
          </p:nvGrpSpPr>
          <p:grpSpPr bwMode="auto">
            <a:xfrm>
              <a:off x="624" y="0"/>
              <a:ext cx="3024" cy="912"/>
              <a:chOff x="0" y="0"/>
              <a:chExt cx="3024" cy="912"/>
            </a:xfrm>
          </p:grpSpPr>
          <p:sp>
            <p:nvSpPr>
              <p:cNvPr id="101490" name="Rectangle 73"/>
              <p:cNvSpPr>
                <a:spLocks noChangeArrowheads="1"/>
              </p:cNvSpPr>
              <p:nvPr/>
            </p:nvSpPr>
            <p:spPr bwMode="auto">
              <a:xfrm>
                <a:off x="1296" y="673"/>
                <a:ext cx="672" cy="239"/>
              </a:xfrm>
              <a:prstGeom prst="rect">
                <a:avLst/>
              </a:prstGeom>
              <a:noFill/>
              <a:ln w="9525">
                <a:noFill/>
                <a:miter lim="800000"/>
              </a:ln>
            </p:spPr>
            <p:txBody>
              <a:bodyPr wrap="none" anchor="ctr"/>
              <a:lstStyle/>
              <a:p>
                <a:r>
                  <a:rPr lang="zh-CN" altLang="en-US" sz="2400">
                    <a:solidFill>
                      <a:srgbClr val="000099"/>
                    </a:solidFill>
                    <a:ea typeface="楷体_GB2312"/>
                  </a:rPr>
                  <a:t>操作前</a:t>
                </a:r>
              </a:p>
            </p:txBody>
          </p:sp>
          <p:grpSp>
            <p:nvGrpSpPr>
              <p:cNvPr id="101491" name="Group 74"/>
              <p:cNvGrpSpPr/>
              <p:nvPr/>
            </p:nvGrpSpPr>
            <p:grpSpPr bwMode="auto">
              <a:xfrm>
                <a:off x="0" y="0"/>
                <a:ext cx="3024" cy="614"/>
                <a:chOff x="0" y="0"/>
                <a:chExt cx="3024" cy="614"/>
              </a:xfrm>
            </p:grpSpPr>
            <p:grpSp>
              <p:nvGrpSpPr>
                <p:cNvPr id="101492" name="Group 75"/>
                <p:cNvGrpSpPr/>
                <p:nvPr/>
              </p:nvGrpSpPr>
              <p:grpSpPr bwMode="auto">
                <a:xfrm>
                  <a:off x="1386" y="5"/>
                  <a:ext cx="1638" cy="609"/>
                  <a:chOff x="0" y="0"/>
                  <a:chExt cx="1638" cy="612"/>
                </a:xfrm>
              </p:grpSpPr>
              <p:grpSp>
                <p:nvGrpSpPr>
                  <p:cNvPr id="101508" name="Group 76"/>
                  <p:cNvGrpSpPr/>
                  <p:nvPr/>
                </p:nvGrpSpPr>
                <p:grpSpPr bwMode="auto">
                  <a:xfrm>
                    <a:off x="937" y="400"/>
                    <a:ext cx="453" cy="212"/>
                    <a:chOff x="0" y="0"/>
                    <a:chExt cx="453" cy="212"/>
                  </a:xfrm>
                </p:grpSpPr>
                <p:sp>
                  <p:nvSpPr>
                    <p:cNvPr id="101520" name="Rectangle 77"/>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y</a:t>
                      </a:r>
                    </a:p>
                  </p:txBody>
                </p:sp>
                <p:sp>
                  <p:nvSpPr>
                    <p:cNvPr id="101521" name="Line 78"/>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522" name="Line 79"/>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509" name="Group 80"/>
                  <p:cNvGrpSpPr/>
                  <p:nvPr/>
                </p:nvGrpSpPr>
                <p:grpSpPr bwMode="auto">
                  <a:xfrm>
                    <a:off x="509" y="0"/>
                    <a:ext cx="204" cy="399"/>
                    <a:chOff x="0" y="0"/>
                    <a:chExt cx="204" cy="399"/>
                  </a:xfrm>
                </p:grpSpPr>
                <p:sp>
                  <p:nvSpPr>
                    <p:cNvPr id="101518" name="Rectangle 81"/>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sp>
                  <p:nvSpPr>
                    <p:cNvPr id="101519" name="Line 82"/>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101510" name="Group 83"/>
                  <p:cNvGrpSpPr/>
                  <p:nvPr/>
                </p:nvGrpSpPr>
                <p:grpSpPr bwMode="auto">
                  <a:xfrm>
                    <a:off x="477" y="400"/>
                    <a:ext cx="453" cy="212"/>
                    <a:chOff x="0" y="0"/>
                    <a:chExt cx="453" cy="212"/>
                  </a:xfrm>
                </p:grpSpPr>
                <p:sp>
                  <p:nvSpPr>
                    <p:cNvPr id="101515" name="Rectangle 84"/>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x</a:t>
                      </a:r>
                    </a:p>
                  </p:txBody>
                </p:sp>
                <p:sp>
                  <p:nvSpPr>
                    <p:cNvPr id="101516" name="Line 85"/>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517" name="Line 86"/>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511" name="Group 87"/>
                  <p:cNvGrpSpPr/>
                  <p:nvPr/>
                </p:nvGrpSpPr>
                <p:grpSpPr bwMode="auto">
                  <a:xfrm>
                    <a:off x="0" y="400"/>
                    <a:ext cx="477" cy="204"/>
                    <a:chOff x="0" y="0"/>
                    <a:chExt cx="477" cy="204"/>
                  </a:xfrm>
                </p:grpSpPr>
                <p:sp>
                  <p:nvSpPr>
                    <p:cNvPr id="101513" name="Line 88"/>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101514" name="Rectangle 89"/>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101512" name="Rectangle 90"/>
                  <p:cNvSpPr>
                    <a:spLocks noChangeArrowheads="1"/>
                  </p:cNvSpPr>
                  <p:nvPr/>
                </p:nvSpPr>
                <p:spPr bwMode="auto">
                  <a:xfrm>
                    <a:off x="1389" y="404"/>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nvGrpSpPr>
                <p:cNvPr id="101493" name="Group 91"/>
                <p:cNvGrpSpPr/>
                <p:nvPr/>
              </p:nvGrpSpPr>
              <p:grpSpPr bwMode="auto">
                <a:xfrm>
                  <a:off x="0" y="0"/>
                  <a:ext cx="1390" cy="609"/>
                  <a:chOff x="0" y="0"/>
                  <a:chExt cx="1390" cy="609"/>
                </a:xfrm>
              </p:grpSpPr>
              <p:grpSp>
                <p:nvGrpSpPr>
                  <p:cNvPr id="101494" name="Group 92"/>
                  <p:cNvGrpSpPr/>
                  <p:nvPr/>
                </p:nvGrpSpPr>
                <p:grpSpPr bwMode="auto">
                  <a:xfrm>
                    <a:off x="937" y="398"/>
                    <a:ext cx="453" cy="211"/>
                    <a:chOff x="0" y="0"/>
                    <a:chExt cx="453" cy="212"/>
                  </a:xfrm>
                </p:grpSpPr>
                <p:sp>
                  <p:nvSpPr>
                    <p:cNvPr id="101505" name="Rectangle 93"/>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b</a:t>
                      </a:r>
                    </a:p>
                  </p:txBody>
                </p:sp>
                <p:sp>
                  <p:nvSpPr>
                    <p:cNvPr id="101506" name="Line 94"/>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507" name="Line 95"/>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495" name="Group 96"/>
                  <p:cNvGrpSpPr/>
                  <p:nvPr/>
                </p:nvGrpSpPr>
                <p:grpSpPr bwMode="auto">
                  <a:xfrm>
                    <a:off x="509" y="0"/>
                    <a:ext cx="204" cy="397"/>
                    <a:chOff x="0" y="0"/>
                    <a:chExt cx="204" cy="399"/>
                  </a:xfrm>
                </p:grpSpPr>
                <p:sp>
                  <p:nvSpPr>
                    <p:cNvPr id="101503" name="Rectangle 97"/>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q</a:t>
                      </a:r>
                    </a:p>
                  </p:txBody>
                </p:sp>
                <p:sp>
                  <p:nvSpPr>
                    <p:cNvPr id="101504" name="Line 98"/>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101496" name="Group 99"/>
                  <p:cNvGrpSpPr/>
                  <p:nvPr/>
                </p:nvGrpSpPr>
                <p:grpSpPr bwMode="auto">
                  <a:xfrm>
                    <a:off x="477" y="398"/>
                    <a:ext cx="453" cy="211"/>
                    <a:chOff x="0" y="0"/>
                    <a:chExt cx="453" cy="212"/>
                  </a:xfrm>
                </p:grpSpPr>
                <p:sp>
                  <p:nvSpPr>
                    <p:cNvPr id="101500" name="Rectangle 100"/>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101501" name="Line 101"/>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502" name="Line 102"/>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497" name="Group 103"/>
                  <p:cNvGrpSpPr/>
                  <p:nvPr/>
                </p:nvGrpSpPr>
                <p:grpSpPr bwMode="auto">
                  <a:xfrm>
                    <a:off x="0" y="398"/>
                    <a:ext cx="477" cy="203"/>
                    <a:chOff x="0" y="0"/>
                    <a:chExt cx="477" cy="204"/>
                  </a:xfrm>
                </p:grpSpPr>
                <p:sp>
                  <p:nvSpPr>
                    <p:cNvPr id="101498" name="Line 104"/>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101499" name="Rectangle 105"/>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grpSp>
        </p:grpSp>
        <p:grpSp>
          <p:nvGrpSpPr>
            <p:cNvPr id="101453" name="Group 106"/>
            <p:cNvGrpSpPr/>
            <p:nvPr/>
          </p:nvGrpSpPr>
          <p:grpSpPr bwMode="auto">
            <a:xfrm>
              <a:off x="720" y="769"/>
              <a:ext cx="3024" cy="1007"/>
              <a:chOff x="0" y="0"/>
              <a:chExt cx="3024" cy="1007"/>
            </a:xfrm>
          </p:grpSpPr>
          <p:sp>
            <p:nvSpPr>
              <p:cNvPr id="101455" name="Rectangle 107"/>
              <p:cNvSpPr>
                <a:spLocks noChangeArrowheads="1"/>
              </p:cNvSpPr>
              <p:nvPr/>
            </p:nvSpPr>
            <p:spPr bwMode="auto">
              <a:xfrm>
                <a:off x="1296" y="768"/>
                <a:ext cx="672" cy="239"/>
              </a:xfrm>
              <a:prstGeom prst="rect">
                <a:avLst/>
              </a:prstGeom>
              <a:noFill/>
              <a:ln w="9525">
                <a:noFill/>
                <a:miter lim="800000"/>
              </a:ln>
            </p:spPr>
            <p:txBody>
              <a:bodyPr wrap="none" anchor="ctr"/>
              <a:lstStyle/>
              <a:p>
                <a:r>
                  <a:rPr lang="zh-CN" altLang="en-US" sz="2400">
                    <a:solidFill>
                      <a:srgbClr val="000099"/>
                    </a:solidFill>
                    <a:ea typeface="楷体_GB2312"/>
                  </a:rPr>
                  <a:t>操作后</a:t>
                </a:r>
              </a:p>
            </p:txBody>
          </p:sp>
          <p:grpSp>
            <p:nvGrpSpPr>
              <p:cNvPr id="101456" name="Group 108"/>
              <p:cNvGrpSpPr/>
              <p:nvPr/>
            </p:nvGrpSpPr>
            <p:grpSpPr bwMode="auto">
              <a:xfrm>
                <a:off x="0" y="0"/>
                <a:ext cx="3024" cy="748"/>
                <a:chOff x="0" y="0"/>
                <a:chExt cx="3024" cy="748"/>
              </a:xfrm>
            </p:grpSpPr>
            <p:grpSp>
              <p:nvGrpSpPr>
                <p:cNvPr id="101457" name="Group 109"/>
                <p:cNvGrpSpPr/>
                <p:nvPr/>
              </p:nvGrpSpPr>
              <p:grpSpPr bwMode="auto">
                <a:xfrm>
                  <a:off x="1386" y="5"/>
                  <a:ext cx="1638" cy="609"/>
                  <a:chOff x="0" y="0"/>
                  <a:chExt cx="1638" cy="612"/>
                </a:xfrm>
              </p:grpSpPr>
              <p:grpSp>
                <p:nvGrpSpPr>
                  <p:cNvPr id="101475" name="Group 110"/>
                  <p:cNvGrpSpPr/>
                  <p:nvPr/>
                </p:nvGrpSpPr>
                <p:grpSpPr bwMode="auto">
                  <a:xfrm>
                    <a:off x="937" y="400"/>
                    <a:ext cx="453" cy="212"/>
                    <a:chOff x="0" y="0"/>
                    <a:chExt cx="453" cy="212"/>
                  </a:xfrm>
                </p:grpSpPr>
                <p:sp>
                  <p:nvSpPr>
                    <p:cNvPr id="101487" name="Rectangle 111"/>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y</a:t>
                      </a:r>
                    </a:p>
                  </p:txBody>
                </p:sp>
                <p:sp>
                  <p:nvSpPr>
                    <p:cNvPr id="101488" name="Line 112"/>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489" name="Line 113"/>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476" name="Group 114"/>
                  <p:cNvGrpSpPr/>
                  <p:nvPr/>
                </p:nvGrpSpPr>
                <p:grpSpPr bwMode="auto">
                  <a:xfrm>
                    <a:off x="509" y="0"/>
                    <a:ext cx="204" cy="399"/>
                    <a:chOff x="0" y="0"/>
                    <a:chExt cx="204" cy="399"/>
                  </a:xfrm>
                </p:grpSpPr>
                <p:sp>
                  <p:nvSpPr>
                    <p:cNvPr id="101485" name="Rectangle 115"/>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sp>
                  <p:nvSpPr>
                    <p:cNvPr id="101486" name="Line 116"/>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101477" name="Group 117"/>
                  <p:cNvGrpSpPr/>
                  <p:nvPr/>
                </p:nvGrpSpPr>
                <p:grpSpPr bwMode="auto">
                  <a:xfrm>
                    <a:off x="477" y="400"/>
                    <a:ext cx="453" cy="212"/>
                    <a:chOff x="0" y="0"/>
                    <a:chExt cx="453" cy="212"/>
                  </a:xfrm>
                </p:grpSpPr>
                <p:sp>
                  <p:nvSpPr>
                    <p:cNvPr id="101482" name="Rectangle 118"/>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x</a:t>
                      </a:r>
                    </a:p>
                  </p:txBody>
                </p:sp>
                <p:sp>
                  <p:nvSpPr>
                    <p:cNvPr id="101483" name="Line 119"/>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484" name="Line 120"/>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478" name="Group 121"/>
                  <p:cNvGrpSpPr/>
                  <p:nvPr/>
                </p:nvGrpSpPr>
                <p:grpSpPr bwMode="auto">
                  <a:xfrm>
                    <a:off x="0" y="400"/>
                    <a:ext cx="477" cy="204"/>
                    <a:chOff x="0" y="0"/>
                    <a:chExt cx="477" cy="204"/>
                  </a:xfrm>
                </p:grpSpPr>
                <p:sp>
                  <p:nvSpPr>
                    <p:cNvPr id="101480" name="Line 122"/>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101481" name="Rectangle 123"/>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101479" name="Rectangle 124"/>
                  <p:cNvSpPr>
                    <a:spLocks noChangeArrowheads="1"/>
                  </p:cNvSpPr>
                  <p:nvPr/>
                </p:nvSpPr>
                <p:spPr bwMode="auto">
                  <a:xfrm>
                    <a:off x="1389" y="404"/>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nvGrpSpPr>
                <p:cNvPr id="101458" name="Group 125"/>
                <p:cNvGrpSpPr/>
                <p:nvPr/>
              </p:nvGrpSpPr>
              <p:grpSpPr bwMode="auto">
                <a:xfrm>
                  <a:off x="937" y="398"/>
                  <a:ext cx="453" cy="211"/>
                  <a:chOff x="0" y="0"/>
                  <a:chExt cx="453" cy="212"/>
                </a:xfrm>
              </p:grpSpPr>
              <p:sp>
                <p:nvSpPr>
                  <p:cNvPr id="101472" name="Rectangle 126"/>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b</a:t>
                    </a:r>
                  </a:p>
                </p:txBody>
              </p:sp>
              <p:sp>
                <p:nvSpPr>
                  <p:cNvPr id="101473" name="Line 127"/>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474" name="Line 128"/>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459" name="Group 129"/>
                <p:cNvGrpSpPr/>
                <p:nvPr/>
              </p:nvGrpSpPr>
              <p:grpSpPr bwMode="auto">
                <a:xfrm>
                  <a:off x="509" y="0"/>
                  <a:ext cx="204" cy="397"/>
                  <a:chOff x="0" y="0"/>
                  <a:chExt cx="204" cy="399"/>
                </a:xfrm>
              </p:grpSpPr>
              <p:sp>
                <p:nvSpPr>
                  <p:cNvPr id="101470" name="Rectangle 130"/>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q</a:t>
                    </a:r>
                  </a:p>
                </p:txBody>
              </p:sp>
              <p:sp>
                <p:nvSpPr>
                  <p:cNvPr id="101471" name="Line 131"/>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101460" name="Group 132"/>
                <p:cNvGrpSpPr/>
                <p:nvPr/>
              </p:nvGrpSpPr>
              <p:grpSpPr bwMode="auto">
                <a:xfrm>
                  <a:off x="477" y="398"/>
                  <a:ext cx="317" cy="211"/>
                  <a:chOff x="0" y="0"/>
                  <a:chExt cx="317" cy="211"/>
                </a:xfrm>
              </p:grpSpPr>
              <p:sp>
                <p:nvSpPr>
                  <p:cNvPr id="101468" name="Rectangle 133"/>
                  <p:cNvSpPr>
                    <a:spLocks noChangeArrowheads="1"/>
                  </p:cNvSpPr>
                  <p:nvPr/>
                </p:nvSpPr>
                <p:spPr bwMode="auto">
                  <a:xfrm>
                    <a:off x="0" y="0"/>
                    <a:ext cx="317" cy="203"/>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101469" name="Line 134"/>
                  <p:cNvSpPr>
                    <a:spLocks noChangeShapeType="1"/>
                  </p:cNvSpPr>
                  <p:nvPr/>
                </p:nvSpPr>
                <p:spPr bwMode="auto">
                  <a:xfrm>
                    <a:off x="208" y="8"/>
                    <a:ext cx="0" cy="203"/>
                  </a:xfrm>
                  <a:prstGeom prst="line">
                    <a:avLst/>
                  </a:prstGeom>
                  <a:noFill/>
                  <a:ln w="12700">
                    <a:solidFill>
                      <a:schemeClr val="tx1"/>
                    </a:solidFill>
                    <a:round/>
                  </a:ln>
                </p:spPr>
                <p:txBody>
                  <a:bodyPr/>
                  <a:lstStyle/>
                  <a:p>
                    <a:endParaRPr lang="zh-CN" altLang="en-US"/>
                  </a:p>
                </p:txBody>
              </p:sp>
            </p:grpSp>
            <p:grpSp>
              <p:nvGrpSpPr>
                <p:cNvPr id="101461" name="Group 135"/>
                <p:cNvGrpSpPr/>
                <p:nvPr/>
              </p:nvGrpSpPr>
              <p:grpSpPr bwMode="auto">
                <a:xfrm>
                  <a:off x="0" y="398"/>
                  <a:ext cx="477" cy="203"/>
                  <a:chOff x="0" y="0"/>
                  <a:chExt cx="477" cy="204"/>
                </a:xfrm>
              </p:grpSpPr>
              <p:sp>
                <p:nvSpPr>
                  <p:cNvPr id="101466" name="Line 136"/>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101467" name="Rectangle 137"/>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nvGrpSpPr>
                <p:cNvPr id="101462" name="Group 138"/>
                <p:cNvGrpSpPr/>
                <p:nvPr/>
              </p:nvGrpSpPr>
              <p:grpSpPr bwMode="auto">
                <a:xfrm>
                  <a:off x="737" y="544"/>
                  <a:ext cx="1678" cy="204"/>
                  <a:chOff x="0" y="0"/>
                  <a:chExt cx="1678" cy="204"/>
                </a:xfrm>
              </p:grpSpPr>
              <p:sp>
                <p:nvSpPr>
                  <p:cNvPr id="101463" name="Line 139"/>
                  <p:cNvSpPr>
                    <a:spLocks noChangeShapeType="1"/>
                  </p:cNvSpPr>
                  <p:nvPr/>
                </p:nvSpPr>
                <p:spPr bwMode="auto">
                  <a:xfrm>
                    <a:off x="0" y="200"/>
                    <a:ext cx="1678" cy="0"/>
                  </a:xfrm>
                  <a:prstGeom prst="line">
                    <a:avLst/>
                  </a:prstGeom>
                  <a:noFill/>
                  <a:ln w="19050">
                    <a:solidFill>
                      <a:schemeClr val="tx1"/>
                    </a:solidFill>
                    <a:round/>
                  </a:ln>
                </p:spPr>
                <p:txBody>
                  <a:bodyPr/>
                  <a:lstStyle/>
                  <a:p>
                    <a:endParaRPr lang="zh-CN" altLang="en-US"/>
                  </a:p>
                </p:txBody>
              </p:sp>
              <p:sp>
                <p:nvSpPr>
                  <p:cNvPr id="101464" name="Line 140"/>
                  <p:cNvSpPr>
                    <a:spLocks noChangeShapeType="1"/>
                  </p:cNvSpPr>
                  <p:nvPr/>
                </p:nvSpPr>
                <p:spPr bwMode="auto">
                  <a:xfrm>
                    <a:off x="0" y="0"/>
                    <a:ext cx="0" cy="204"/>
                  </a:xfrm>
                  <a:prstGeom prst="line">
                    <a:avLst/>
                  </a:prstGeom>
                  <a:noFill/>
                  <a:ln w="12700">
                    <a:solidFill>
                      <a:schemeClr val="tx1"/>
                    </a:solidFill>
                    <a:round/>
                  </a:ln>
                </p:spPr>
                <p:txBody>
                  <a:bodyPr/>
                  <a:lstStyle/>
                  <a:p>
                    <a:endParaRPr lang="zh-CN" altLang="en-US"/>
                  </a:p>
                </p:txBody>
              </p:sp>
              <p:sp>
                <p:nvSpPr>
                  <p:cNvPr id="101465" name="Line 141"/>
                  <p:cNvSpPr>
                    <a:spLocks noChangeShapeType="1"/>
                  </p:cNvSpPr>
                  <p:nvPr/>
                </p:nvSpPr>
                <p:spPr bwMode="auto">
                  <a:xfrm flipV="1">
                    <a:off x="1671" y="64"/>
                    <a:ext cx="0" cy="136"/>
                  </a:xfrm>
                  <a:prstGeom prst="line">
                    <a:avLst/>
                  </a:prstGeom>
                  <a:noFill/>
                  <a:ln w="19050">
                    <a:solidFill>
                      <a:schemeClr val="tx1"/>
                    </a:solidFill>
                    <a:round/>
                    <a:tailEnd type="triangle" w="sm" len="sm"/>
                  </a:ln>
                </p:spPr>
                <p:txBody>
                  <a:bodyPr/>
                  <a:lstStyle/>
                  <a:p>
                    <a:endParaRPr lang="zh-CN" altLang="en-US"/>
                  </a:p>
                </p:txBody>
              </p:sp>
            </p:grpSp>
          </p:grpSp>
        </p:grpSp>
        <p:sp>
          <p:nvSpPr>
            <p:cNvPr id="101454" name="Rectangle 142"/>
            <p:cNvSpPr>
              <a:spLocks noChangeArrowheads="1"/>
            </p:cNvSpPr>
            <p:nvPr/>
          </p:nvSpPr>
          <p:spPr bwMode="auto">
            <a:xfrm>
              <a:off x="0" y="720"/>
              <a:ext cx="295" cy="272"/>
            </a:xfrm>
            <a:prstGeom prst="rect">
              <a:avLst/>
            </a:prstGeom>
            <a:noFill/>
            <a:ln w="9525">
              <a:noFill/>
              <a:miter lim="800000"/>
            </a:ln>
          </p:spPr>
          <p:txBody>
            <a:bodyPr wrap="none" anchor="ctr"/>
            <a:lstStyle/>
            <a:p>
              <a:r>
                <a:rPr lang="en-US" altLang="zh-CN" sz="2800">
                  <a:solidFill>
                    <a:srgbClr val="000099"/>
                  </a:solidFill>
                  <a:ea typeface="Arial Unicode MS" panose="020B0604020202020204" charset="-122"/>
                  <a:cs typeface="Arial Unicode MS" panose="020B0604020202020204" charset="-122"/>
                </a:rPr>
                <a:t>(b)</a:t>
              </a:r>
              <a:endParaRPr lang="en-US" altLang="zh-CN" sz="3200">
                <a:solidFill>
                  <a:srgbClr val="000099"/>
                </a:solidFill>
                <a:ea typeface="楷体_GB2312"/>
              </a:endParaRPr>
            </a:p>
          </p:txBody>
        </p:sp>
      </p:grpSp>
      <p:grpSp>
        <p:nvGrpSpPr>
          <p:cNvPr id="69716" name="Group 143"/>
          <p:cNvGrpSpPr/>
          <p:nvPr/>
        </p:nvGrpSpPr>
        <p:grpSpPr bwMode="auto">
          <a:xfrm>
            <a:off x="4079876" y="0"/>
            <a:ext cx="5902325" cy="2698750"/>
            <a:chOff x="0" y="0"/>
            <a:chExt cx="3718" cy="1700"/>
          </a:xfrm>
        </p:grpSpPr>
        <p:grpSp>
          <p:nvGrpSpPr>
            <p:cNvPr id="101382" name="Group 144"/>
            <p:cNvGrpSpPr/>
            <p:nvPr/>
          </p:nvGrpSpPr>
          <p:grpSpPr bwMode="auto">
            <a:xfrm>
              <a:off x="620" y="0"/>
              <a:ext cx="3003" cy="873"/>
              <a:chOff x="0" y="0"/>
              <a:chExt cx="3024" cy="912"/>
            </a:xfrm>
          </p:grpSpPr>
          <p:sp>
            <p:nvSpPr>
              <p:cNvPr id="101419" name="Rectangle 145"/>
              <p:cNvSpPr>
                <a:spLocks noChangeArrowheads="1"/>
              </p:cNvSpPr>
              <p:nvPr/>
            </p:nvSpPr>
            <p:spPr bwMode="auto">
              <a:xfrm>
                <a:off x="1296" y="673"/>
                <a:ext cx="672" cy="239"/>
              </a:xfrm>
              <a:prstGeom prst="rect">
                <a:avLst/>
              </a:prstGeom>
              <a:noFill/>
              <a:ln w="9525">
                <a:noFill/>
                <a:miter lim="800000"/>
              </a:ln>
            </p:spPr>
            <p:txBody>
              <a:bodyPr wrap="none" anchor="ctr"/>
              <a:lstStyle/>
              <a:p>
                <a:r>
                  <a:rPr lang="zh-CN" altLang="en-US" sz="2400">
                    <a:solidFill>
                      <a:srgbClr val="000099"/>
                    </a:solidFill>
                    <a:ea typeface="楷体_GB2312"/>
                  </a:rPr>
                  <a:t>操作前</a:t>
                </a:r>
              </a:p>
            </p:txBody>
          </p:sp>
          <p:grpSp>
            <p:nvGrpSpPr>
              <p:cNvPr id="101420" name="Group 146"/>
              <p:cNvGrpSpPr/>
              <p:nvPr/>
            </p:nvGrpSpPr>
            <p:grpSpPr bwMode="auto">
              <a:xfrm>
                <a:off x="0" y="0"/>
                <a:ext cx="3024" cy="614"/>
                <a:chOff x="0" y="0"/>
                <a:chExt cx="3024" cy="614"/>
              </a:xfrm>
            </p:grpSpPr>
            <p:grpSp>
              <p:nvGrpSpPr>
                <p:cNvPr id="101421" name="Group 147"/>
                <p:cNvGrpSpPr/>
                <p:nvPr/>
              </p:nvGrpSpPr>
              <p:grpSpPr bwMode="auto">
                <a:xfrm>
                  <a:off x="1386" y="5"/>
                  <a:ext cx="1638" cy="609"/>
                  <a:chOff x="0" y="0"/>
                  <a:chExt cx="1638" cy="612"/>
                </a:xfrm>
              </p:grpSpPr>
              <p:grpSp>
                <p:nvGrpSpPr>
                  <p:cNvPr id="101437" name="Group 148"/>
                  <p:cNvGrpSpPr/>
                  <p:nvPr/>
                </p:nvGrpSpPr>
                <p:grpSpPr bwMode="auto">
                  <a:xfrm>
                    <a:off x="937" y="400"/>
                    <a:ext cx="453" cy="212"/>
                    <a:chOff x="0" y="0"/>
                    <a:chExt cx="453" cy="212"/>
                  </a:xfrm>
                </p:grpSpPr>
                <p:sp>
                  <p:nvSpPr>
                    <p:cNvPr id="101449" name="Rectangle 149"/>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y</a:t>
                      </a:r>
                    </a:p>
                  </p:txBody>
                </p:sp>
                <p:sp>
                  <p:nvSpPr>
                    <p:cNvPr id="101450" name="Line 150"/>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451" name="Line 151"/>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438" name="Group 152"/>
                  <p:cNvGrpSpPr/>
                  <p:nvPr/>
                </p:nvGrpSpPr>
                <p:grpSpPr bwMode="auto">
                  <a:xfrm>
                    <a:off x="509" y="0"/>
                    <a:ext cx="204" cy="399"/>
                    <a:chOff x="0" y="0"/>
                    <a:chExt cx="204" cy="399"/>
                  </a:xfrm>
                </p:grpSpPr>
                <p:sp>
                  <p:nvSpPr>
                    <p:cNvPr id="101447" name="Rectangle 153"/>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sp>
                  <p:nvSpPr>
                    <p:cNvPr id="101448" name="Line 154"/>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101439" name="Group 155"/>
                  <p:cNvGrpSpPr/>
                  <p:nvPr/>
                </p:nvGrpSpPr>
                <p:grpSpPr bwMode="auto">
                  <a:xfrm>
                    <a:off x="477" y="400"/>
                    <a:ext cx="453" cy="212"/>
                    <a:chOff x="0" y="0"/>
                    <a:chExt cx="453" cy="212"/>
                  </a:xfrm>
                </p:grpSpPr>
                <p:sp>
                  <p:nvSpPr>
                    <p:cNvPr id="101444" name="Rectangle 156"/>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x</a:t>
                      </a:r>
                    </a:p>
                  </p:txBody>
                </p:sp>
                <p:sp>
                  <p:nvSpPr>
                    <p:cNvPr id="101445" name="Line 157"/>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446" name="Line 158"/>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440" name="Group 159"/>
                  <p:cNvGrpSpPr/>
                  <p:nvPr/>
                </p:nvGrpSpPr>
                <p:grpSpPr bwMode="auto">
                  <a:xfrm>
                    <a:off x="0" y="400"/>
                    <a:ext cx="477" cy="204"/>
                    <a:chOff x="0" y="0"/>
                    <a:chExt cx="477" cy="204"/>
                  </a:xfrm>
                </p:grpSpPr>
                <p:sp>
                  <p:nvSpPr>
                    <p:cNvPr id="101442" name="Line 160"/>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101443" name="Rectangle 161"/>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101441" name="Rectangle 162"/>
                  <p:cNvSpPr>
                    <a:spLocks noChangeArrowheads="1"/>
                  </p:cNvSpPr>
                  <p:nvPr/>
                </p:nvSpPr>
                <p:spPr bwMode="auto">
                  <a:xfrm>
                    <a:off x="1389" y="404"/>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nvGrpSpPr>
                <p:cNvPr id="101422" name="Group 163"/>
                <p:cNvGrpSpPr/>
                <p:nvPr/>
              </p:nvGrpSpPr>
              <p:grpSpPr bwMode="auto">
                <a:xfrm>
                  <a:off x="0" y="0"/>
                  <a:ext cx="1390" cy="609"/>
                  <a:chOff x="0" y="0"/>
                  <a:chExt cx="1390" cy="609"/>
                </a:xfrm>
              </p:grpSpPr>
              <p:grpSp>
                <p:nvGrpSpPr>
                  <p:cNvPr id="101423" name="Group 164"/>
                  <p:cNvGrpSpPr/>
                  <p:nvPr/>
                </p:nvGrpSpPr>
                <p:grpSpPr bwMode="auto">
                  <a:xfrm>
                    <a:off x="937" y="398"/>
                    <a:ext cx="453" cy="211"/>
                    <a:chOff x="0" y="0"/>
                    <a:chExt cx="453" cy="212"/>
                  </a:xfrm>
                </p:grpSpPr>
                <p:sp>
                  <p:nvSpPr>
                    <p:cNvPr id="101434" name="Rectangle 165"/>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b</a:t>
                      </a:r>
                    </a:p>
                  </p:txBody>
                </p:sp>
                <p:sp>
                  <p:nvSpPr>
                    <p:cNvPr id="101435" name="Line 166"/>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436" name="Line 167"/>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424" name="Group 168"/>
                  <p:cNvGrpSpPr/>
                  <p:nvPr/>
                </p:nvGrpSpPr>
                <p:grpSpPr bwMode="auto">
                  <a:xfrm>
                    <a:off x="509" y="0"/>
                    <a:ext cx="204" cy="397"/>
                    <a:chOff x="0" y="0"/>
                    <a:chExt cx="204" cy="399"/>
                  </a:xfrm>
                </p:grpSpPr>
                <p:sp>
                  <p:nvSpPr>
                    <p:cNvPr id="101432" name="Rectangle 169"/>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q</a:t>
                      </a:r>
                    </a:p>
                  </p:txBody>
                </p:sp>
                <p:sp>
                  <p:nvSpPr>
                    <p:cNvPr id="101433" name="Line 170"/>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101425" name="Group 171"/>
                  <p:cNvGrpSpPr/>
                  <p:nvPr/>
                </p:nvGrpSpPr>
                <p:grpSpPr bwMode="auto">
                  <a:xfrm>
                    <a:off x="477" y="398"/>
                    <a:ext cx="453" cy="211"/>
                    <a:chOff x="0" y="0"/>
                    <a:chExt cx="453" cy="212"/>
                  </a:xfrm>
                </p:grpSpPr>
                <p:sp>
                  <p:nvSpPr>
                    <p:cNvPr id="101429" name="Rectangle 172"/>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101430" name="Line 173"/>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431" name="Line 174"/>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426" name="Group 175"/>
                  <p:cNvGrpSpPr/>
                  <p:nvPr/>
                </p:nvGrpSpPr>
                <p:grpSpPr bwMode="auto">
                  <a:xfrm>
                    <a:off x="0" y="398"/>
                    <a:ext cx="477" cy="203"/>
                    <a:chOff x="0" y="0"/>
                    <a:chExt cx="477" cy="204"/>
                  </a:xfrm>
                </p:grpSpPr>
                <p:sp>
                  <p:nvSpPr>
                    <p:cNvPr id="101427" name="Line 176"/>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101428" name="Rectangle 177"/>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grpSp>
        </p:grpSp>
        <p:grpSp>
          <p:nvGrpSpPr>
            <p:cNvPr id="101383" name="Group 178"/>
            <p:cNvGrpSpPr/>
            <p:nvPr/>
          </p:nvGrpSpPr>
          <p:grpSpPr bwMode="auto">
            <a:xfrm>
              <a:off x="715" y="736"/>
              <a:ext cx="3003" cy="964"/>
              <a:chOff x="0" y="0"/>
              <a:chExt cx="3003" cy="964"/>
            </a:xfrm>
          </p:grpSpPr>
          <p:sp>
            <p:nvSpPr>
              <p:cNvPr id="101385" name="Rectangle 179"/>
              <p:cNvSpPr>
                <a:spLocks noChangeArrowheads="1"/>
              </p:cNvSpPr>
              <p:nvPr/>
            </p:nvSpPr>
            <p:spPr bwMode="auto">
              <a:xfrm>
                <a:off x="1287" y="735"/>
                <a:ext cx="667" cy="229"/>
              </a:xfrm>
              <a:prstGeom prst="rect">
                <a:avLst/>
              </a:prstGeom>
              <a:noFill/>
              <a:ln w="9525">
                <a:noFill/>
                <a:miter lim="800000"/>
              </a:ln>
            </p:spPr>
            <p:txBody>
              <a:bodyPr wrap="none" anchor="ctr"/>
              <a:lstStyle/>
              <a:p>
                <a:r>
                  <a:rPr lang="zh-CN" altLang="en-US" sz="2400">
                    <a:solidFill>
                      <a:srgbClr val="000099"/>
                    </a:solidFill>
                    <a:ea typeface="楷体_GB2312"/>
                  </a:rPr>
                  <a:t>操作后</a:t>
                </a:r>
              </a:p>
            </p:txBody>
          </p:sp>
          <p:grpSp>
            <p:nvGrpSpPr>
              <p:cNvPr id="101386" name="Group 180"/>
              <p:cNvGrpSpPr/>
              <p:nvPr/>
            </p:nvGrpSpPr>
            <p:grpSpPr bwMode="auto">
              <a:xfrm>
                <a:off x="1376" y="5"/>
                <a:ext cx="1627" cy="583"/>
                <a:chOff x="0" y="0"/>
                <a:chExt cx="1638" cy="612"/>
              </a:xfrm>
            </p:grpSpPr>
            <p:grpSp>
              <p:nvGrpSpPr>
                <p:cNvPr id="101404" name="Group 181"/>
                <p:cNvGrpSpPr/>
                <p:nvPr/>
              </p:nvGrpSpPr>
              <p:grpSpPr bwMode="auto">
                <a:xfrm>
                  <a:off x="937" y="400"/>
                  <a:ext cx="453" cy="212"/>
                  <a:chOff x="0" y="0"/>
                  <a:chExt cx="453" cy="212"/>
                </a:xfrm>
              </p:grpSpPr>
              <p:sp>
                <p:nvSpPr>
                  <p:cNvPr id="101416" name="Rectangle 182"/>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y</a:t>
                    </a:r>
                  </a:p>
                </p:txBody>
              </p:sp>
              <p:sp>
                <p:nvSpPr>
                  <p:cNvPr id="101417" name="Line 183"/>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418" name="Line 184"/>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405" name="Group 185"/>
                <p:cNvGrpSpPr/>
                <p:nvPr/>
              </p:nvGrpSpPr>
              <p:grpSpPr bwMode="auto">
                <a:xfrm>
                  <a:off x="509" y="0"/>
                  <a:ext cx="204" cy="399"/>
                  <a:chOff x="0" y="0"/>
                  <a:chExt cx="204" cy="399"/>
                </a:xfrm>
              </p:grpSpPr>
              <p:sp>
                <p:nvSpPr>
                  <p:cNvPr id="101414" name="Rectangle 186"/>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p</a:t>
                    </a:r>
                  </a:p>
                </p:txBody>
              </p:sp>
              <p:sp>
                <p:nvSpPr>
                  <p:cNvPr id="101415" name="Line 187"/>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101406" name="Group 188"/>
                <p:cNvGrpSpPr/>
                <p:nvPr/>
              </p:nvGrpSpPr>
              <p:grpSpPr bwMode="auto">
                <a:xfrm>
                  <a:off x="477" y="400"/>
                  <a:ext cx="453" cy="212"/>
                  <a:chOff x="0" y="0"/>
                  <a:chExt cx="453" cy="212"/>
                </a:xfrm>
              </p:grpSpPr>
              <p:sp>
                <p:nvSpPr>
                  <p:cNvPr id="101411" name="Rectangle 189"/>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x</a:t>
                    </a:r>
                  </a:p>
                </p:txBody>
              </p:sp>
              <p:sp>
                <p:nvSpPr>
                  <p:cNvPr id="101412" name="Line 190"/>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413" name="Line 191"/>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407" name="Group 192"/>
                <p:cNvGrpSpPr/>
                <p:nvPr/>
              </p:nvGrpSpPr>
              <p:grpSpPr bwMode="auto">
                <a:xfrm>
                  <a:off x="0" y="400"/>
                  <a:ext cx="477" cy="204"/>
                  <a:chOff x="0" y="0"/>
                  <a:chExt cx="477" cy="204"/>
                </a:xfrm>
              </p:grpSpPr>
              <p:sp>
                <p:nvSpPr>
                  <p:cNvPr id="101409" name="Line 193"/>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101410" name="Rectangle 194"/>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sp>
              <p:nvSpPr>
                <p:cNvPr id="101408" name="Rectangle 195"/>
                <p:cNvSpPr>
                  <a:spLocks noChangeArrowheads="1"/>
                </p:cNvSpPr>
                <p:nvPr/>
              </p:nvSpPr>
              <p:spPr bwMode="auto">
                <a:xfrm>
                  <a:off x="1389" y="404"/>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nvGrpSpPr>
              <p:cNvPr id="101387" name="Group 196"/>
              <p:cNvGrpSpPr/>
              <p:nvPr/>
            </p:nvGrpSpPr>
            <p:grpSpPr bwMode="auto">
              <a:xfrm>
                <a:off x="930" y="381"/>
                <a:ext cx="450" cy="202"/>
                <a:chOff x="0" y="0"/>
                <a:chExt cx="453" cy="212"/>
              </a:xfrm>
            </p:grpSpPr>
            <p:sp>
              <p:nvSpPr>
                <p:cNvPr id="101401" name="Rectangle 197"/>
                <p:cNvSpPr>
                  <a:spLocks noChangeArrowheads="1"/>
                </p:cNvSpPr>
                <p:nvPr/>
              </p:nvSpPr>
              <p:spPr bwMode="auto">
                <a:xfrm>
                  <a:off x="0" y="0"/>
                  <a:ext cx="317" cy="204"/>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b</a:t>
                  </a:r>
                </a:p>
              </p:txBody>
            </p:sp>
            <p:sp>
              <p:nvSpPr>
                <p:cNvPr id="101402" name="Line 198"/>
                <p:cNvSpPr>
                  <a:spLocks noChangeShapeType="1"/>
                </p:cNvSpPr>
                <p:nvPr/>
              </p:nvSpPr>
              <p:spPr bwMode="auto">
                <a:xfrm>
                  <a:off x="208" y="8"/>
                  <a:ext cx="0" cy="204"/>
                </a:xfrm>
                <a:prstGeom prst="line">
                  <a:avLst/>
                </a:prstGeom>
                <a:noFill/>
                <a:ln w="12700">
                  <a:solidFill>
                    <a:schemeClr val="tx1"/>
                  </a:solidFill>
                  <a:round/>
                </a:ln>
              </p:spPr>
              <p:txBody>
                <a:bodyPr/>
                <a:lstStyle/>
                <a:p>
                  <a:endParaRPr lang="zh-CN" altLang="en-US"/>
                </a:p>
              </p:txBody>
            </p:sp>
            <p:sp>
              <p:nvSpPr>
                <p:cNvPr id="101403" name="Line 199"/>
                <p:cNvSpPr>
                  <a:spLocks noChangeShapeType="1"/>
                </p:cNvSpPr>
                <p:nvPr/>
              </p:nvSpPr>
              <p:spPr bwMode="auto">
                <a:xfrm>
                  <a:off x="272" y="96"/>
                  <a:ext cx="181" cy="0"/>
                </a:xfrm>
                <a:prstGeom prst="line">
                  <a:avLst/>
                </a:prstGeom>
                <a:noFill/>
                <a:ln w="19050">
                  <a:solidFill>
                    <a:schemeClr val="tx1"/>
                  </a:solidFill>
                  <a:round/>
                  <a:tailEnd type="triangle" w="sm" len="sm"/>
                </a:ln>
              </p:spPr>
              <p:txBody>
                <a:bodyPr/>
                <a:lstStyle/>
                <a:p>
                  <a:endParaRPr lang="zh-CN" altLang="en-US"/>
                </a:p>
              </p:txBody>
            </p:sp>
          </p:grpSp>
          <p:grpSp>
            <p:nvGrpSpPr>
              <p:cNvPr id="101388" name="Group 200"/>
              <p:cNvGrpSpPr/>
              <p:nvPr/>
            </p:nvGrpSpPr>
            <p:grpSpPr bwMode="auto">
              <a:xfrm>
                <a:off x="505" y="0"/>
                <a:ext cx="203" cy="380"/>
                <a:chOff x="0" y="0"/>
                <a:chExt cx="204" cy="399"/>
              </a:xfrm>
            </p:grpSpPr>
            <p:sp>
              <p:nvSpPr>
                <p:cNvPr id="101399" name="Rectangle 201"/>
                <p:cNvSpPr>
                  <a:spLocks noChangeArrowheads="1"/>
                </p:cNvSpPr>
                <p:nvPr/>
              </p:nvSpPr>
              <p:spPr bwMode="auto">
                <a:xfrm>
                  <a:off x="0" y="0"/>
                  <a:ext cx="204" cy="204"/>
                </a:xfrm>
                <a:prstGeom prst="rect">
                  <a:avLst/>
                </a:prstGeom>
                <a:noFill/>
                <a:ln w="9525">
                  <a:noFill/>
                  <a:miter lim="800000"/>
                </a:ln>
              </p:spPr>
              <p:txBody>
                <a:bodyPr wrap="none" anchor="ctr"/>
                <a:lstStyle/>
                <a:p>
                  <a:r>
                    <a:rPr lang="en-US" altLang="zh-CN" sz="2400">
                      <a:solidFill>
                        <a:srgbClr val="000099"/>
                      </a:solidFill>
                      <a:ea typeface="楷体_GB2312"/>
                    </a:rPr>
                    <a:t>q</a:t>
                  </a:r>
                </a:p>
              </p:txBody>
            </p:sp>
            <p:sp>
              <p:nvSpPr>
                <p:cNvPr id="101400" name="Line 202"/>
                <p:cNvSpPr>
                  <a:spLocks noChangeShapeType="1"/>
                </p:cNvSpPr>
                <p:nvPr/>
              </p:nvSpPr>
              <p:spPr bwMode="auto">
                <a:xfrm>
                  <a:off x="88" y="240"/>
                  <a:ext cx="0" cy="159"/>
                </a:xfrm>
                <a:prstGeom prst="line">
                  <a:avLst/>
                </a:prstGeom>
                <a:noFill/>
                <a:ln w="19050">
                  <a:solidFill>
                    <a:schemeClr val="tx1"/>
                  </a:solidFill>
                  <a:round/>
                  <a:tailEnd type="triangle" w="sm" len="sm"/>
                </a:ln>
              </p:spPr>
              <p:txBody>
                <a:bodyPr/>
                <a:lstStyle/>
                <a:p>
                  <a:endParaRPr lang="zh-CN" altLang="en-US"/>
                </a:p>
              </p:txBody>
            </p:sp>
          </p:grpSp>
          <p:grpSp>
            <p:nvGrpSpPr>
              <p:cNvPr id="101389" name="Group 203"/>
              <p:cNvGrpSpPr/>
              <p:nvPr/>
            </p:nvGrpSpPr>
            <p:grpSpPr bwMode="auto">
              <a:xfrm>
                <a:off x="474" y="381"/>
                <a:ext cx="314" cy="202"/>
                <a:chOff x="0" y="0"/>
                <a:chExt cx="317" cy="211"/>
              </a:xfrm>
            </p:grpSpPr>
            <p:sp>
              <p:nvSpPr>
                <p:cNvPr id="101397" name="Rectangle 204"/>
                <p:cNvSpPr>
                  <a:spLocks noChangeArrowheads="1"/>
                </p:cNvSpPr>
                <p:nvPr/>
              </p:nvSpPr>
              <p:spPr bwMode="auto">
                <a:xfrm>
                  <a:off x="0" y="0"/>
                  <a:ext cx="317" cy="203"/>
                </a:xfrm>
                <a:prstGeom prst="rect">
                  <a:avLst/>
                </a:prstGeom>
                <a:noFill/>
                <a:ln w="12700">
                  <a:solidFill>
                    <a:schemeClr val="tx1"/>
                  </a:solidFill>
                  <a:miter lim="800000"/>
                </a:ln>
              </p:spPr>
              <p:txBody>
                <a:bodyPr wrap="none" anchor="ctr"/>
                <a:lstStyle/>
                <a:p>
                  <a:r>
                    <a:rPr lang="en-US" altLang="zh-CN" sz="2400">
                      <a:solidFill>
                        <a:srgbClr val="000099"/>
                      </a:solidFill>
                      <a:ea typeface="楷体_GB2312"/>
                    </a:rPr>
                    <a:t>a</a:t>
                  </a:r>
                </a:p>
              </p:txBody>
            </p:sp>
            <p:sp>
              <p:nvSpPr>
                <p:cNvPr id="101398" name="Line 205"/>
                <p:cNvSpPr>
                  <a:spLocks noChangeShapeType="1"/>
                </p:cNvSpPr>
                <p:nvPr/>
              </p:nvSpPr>
              <p:spPr bwMode="auto">
                <a:xfrm>
                  <a:off x="208" y="8"/>
                  <a:ext cx="0" cy="203"/>
                </a:xfrm>
                <a:prstGeom prst="line">
                  <a:avLst/>
                </a:prstGeom>
                <a:noFill/>
                <a:ln w="12700">
                  <a:solidFill>
                    <a:schemeClr val="tx1"/>
                  </a:solidFill>
                  <a:round/>
                </a:ln>
              </p:spPr>
              <p:txBody>
                <a:bodyPr/>
                <a:lstStyle/>
                <a:p>
                  <a:endParaRPr lang="zh-CN" altLang="en-US"/>
                </a:p>
              </p:txBody>
            </p:sp>
          </p:grpSp>
          <p:grpSp>
            <p:nvGrpSpPr>
              <p:cNvPr id="101390" name="Group 206"/>
              <p:cNvGrpSpPr/>
              <p:nvPr/>
            </p:nvGrpSpPr>
            <p:grpSpPr bwMode="auto">
              <a:xfrm>
                <a:off x="0" y="381"/>
                <a:ext cx="474" cy="194"/>
                <a:chOff x="0" y="0"/>
                <a:chExt cx="477" cy="204"/>
              </a:xfrm>
            </p:grpSpPr>
            <p:sp>
              <p:nvSpPr>
                <p:cNvPr id="101395" name="Line 207"/>
                <p:cNvSpPr>
                  <a:spLocks noChangeShapeType="1"/>
                </p:cNvSpPr>
                <p:nvPr/>
              </p:nvSpPr>
              <p:spPr bwMode="auto">
                <a:xfrm>
                  <a:off x="296" y="88"/>
                  <a:ext cx="181" cy="0"/>
                </a:xfrm>
                <a:prstGeom prst="line">
                  <a:avLst/>
                </a:prstGeom>
                <a:noFill/>
                <a:ln w="19050">
                  <a:solidFill>
                    <a:schemeClr val="tx1"/>
                  </a:solidFill>
                  <a:round/>
                  <a:tailEnd type="triangle" w="sm" len="sm"/>
                </a:ln>
              </p:spPr>
              <p:txBody>
                <a:bodyPr/>
                <a:lstStyle/>
                <a:p>
                  <a:endParaRPr lang="zh-CN" altLang="en-US"/>
                </a:p>
              </p:txBody>
            </p:sp>
            <p:sp>
              <p:nvSpPr>
                <p:cNvPr id="101396" name="Rectangle 208"/>
                <p:cNvSpPr>
                  <a:spLocks noChangeArrowheads="1"/>
                </p:cNvSpPr>
                <p:nvPr/>
              </p:nvSpPr>
              <p:spPr bwMode="auto">
                <a:xfrm>
                  <a:off x="0" y="0"/>
                  <a:ext cx="249" cy="204"/>
                </a:xfrm>
                <a:prstGeom prst="rect">
                  <a:avLst/>
                </a:prstGeom>
                <a:noFill/>
                <a:ln w="9525">
                  <a:noFill/>
                  <a:miter lim="800000"/>
                </a:ln>
              </p:spPr>
              <p:txBody>
                <a:bodyPr wrap="none" anchor="ctr"/>
                <a:lstStyle/>
                <a:p>
                  <a:r>
                    <a:rPr lang="en-US" altLang="zh-CN" sz="2400">
                      <a:solidFill>
                        <a:srgbClr val="000099"/>
                      </a:solidFill>
                      <a:ea typeface="楷体_GB2312"/>
                    </a:rPr>
                    <a:t>…</a:t>
                  </a:r>
                </a:p>
              </p:txBody>
            </p:sp>
          </p:grpSp>
          <p:grpSp>
            <p:nvGrpSpPr>
              <p:cNvPr id="101391" name="Group 209"/>
              <p:cNvGrpSpPr/>
              <p:nvPr/>
            </p:nvGrpSpPr>
            <p:grpSpPr bwMode="auto">
              <a:xfrm>
                <a:off x="732" y="521"/>
                <a:ext cx="1202" cy="197"/>
                <a:chOff x="0" y="0"/>
                <a:chExt cx="1202" cy="197"/>
              </a:xfrm>
            </p:grpSpPr>
            <p:sp>
              <p:nvSpPr>
                <p:cNvPr id="101392" name="Line 210"/>
                <p:cNvSpPr>
                  <a:spLocks noChangeShapeType="1"/>
                </p:cNvSpPr>
                <p:nvPr/>
              </p:nvSpPr>
              <p:spPr bwMode="auto">
                <a:xfrm>
                  <a:off x="0" y="191"/>
                  <a:ext cx="1202" cy="0"/>
                </a:xfrm>
                <a:prstGeom prst="line">
                  <a:avLst/>
                </a:prstGeom>
                <a:noFill/>
                <a:ln w="19050">
                  <a:solidFill>
                    <a:schemeClr val="tx1"/>
                  </a:solidFill>
                  <a:round/>
                </a:ln>
              </p:spPr>
              <p:txBody>
                <a:bodyPr/>
                <a:lstStyle/>
                <a:p>
                  <a:endParaRPr lang="zh-CN" altLang="en-US"/>
                </a:p>
              </p:txBody>
            </p:sp>
            <p:sp>
              <p:nvSpPr>
                <p:cNvPr id="101393" name="Line 211"/>
                <p:cNvSpPr>
                  <a:spLocks noChangeShapeType="1"/>
                </p:cNvSpPr>
                <p:nvPr/>
              </p:nvSpPr>
              <p:spPr bwMode="auto">
                <a:xfrm>
                  <a:off x="0" y="0"/>
                  <a:ext cx="0" cy="195"/>
                </a:xfrm>
                <a:prstGeom prst="line">
                  <a:avLst/>
                </a:prstGeom>
                <a:noFill/>
                <a:ln w="12700">
                  <a:solidFill>
                    <a:schemeClr val="tx1"/>
                  </a:solidFill>
                  <a:round/>
                </a:ln>
              </p:spPr>
              <p:txBody>
                <a:bodyPr/>
                <a:lstStyle/>
                <a:p>
                  <a:endParaRPr lang="zh-CN" altLang="en-US"/>
                </a:p>
              </p:txBody>
            </p:sp>
            <p:sp>
              <p:nvSpPr>
                <p:cNvPr id="101394" name="Line 212"/>
                <p:cNvSpPr>
                  <a:spLocks noChangeShapeType="1"/>
                </p:cNvSpPr>
                <p:nvPr/>
              </p:nvSpPr>
              <p:spPr bwMode="auto">
                <a:xfrm flipV="1">
                  <a:off x="1193" y="61"/>
                  <a:ext cx="0" cy="136"/>
                </a:xfrm>
                <a:prstGeom prst="line">
                  <a:avLst/>
                </a:prstGeom>
                <a:noFill/>
                <a:ln w="19050">
                  <a:solidFill>
                    <a:schemeClr val="tx1"/>
                  </a:solidFill>
                  <a:round/>
                  <a:tailEnd type="triangle" w="sm" len="sm"/>
                </a:ln>
              </p:spPr>
              <p:txBody>
                <a:bodyPr/>
                <a:lstStyle/>
                <a:p>
                  <a:endParaRPr lang="zh-CN" altLang="en-US"/>
                </a:p>
              </p:txBody>
            </p:sp>
          </p:grpSp>
        </p:grpSp>
        <p:sp>
          <p:nvSpPr>
            <p:cNvPr id="101384" name="Rectangle 213"/>
            <p:cNvSpPr>
              <a:spLocks noChangeArrowheads="1"/>
            </p:cNvSpPr>
            <p:nvPr/>
          </p:nvSpPr>
          <p:spPr bwMode="auto">
            <a:xfrm>
              <a:off x="0" y="689"/>
              <a:ext cx="293" cy="261"/>
            </a:xfrm>
            <a:prstGeom prst="rect">
              <a:avLst/>
            </a:prstGeom>
            <a:noFill/>
            <a:ln w="9525">
              <a:noFill/>
              <a:miter lim="800000"/>
            </a:ln>
          </p:spPr>
          <p:txBody>
            <a:bodyPr wrap="none" anchor="ctr"/>
            <a:lstStyle/>
            <a:p>
              <a:r>
                <a:rPr lang="en-US" altLang="zh-CN" sz="2800">
                  <a:solidFill>
                    <a:srgbClr val="000099"/>
                  </a:solidFill>
                  <a:ea typeface="Arial Unicode MS" panose="020B0604020202020204" charset="-122"/>
                  <a:cs typeface="Arial Unicode MS" panose="020B0604020202020204" charset="-122"/>
                </a:rPr>
                <a:t>(b)</a:t>
              </a:r>
              <a:endParaRPr lang="en-US" altLang="zh-CN" sz="3200">
                <a:solidFill>
                  <a:srgbClr val="000099"/>
                </a:solidFill>
                <a:ea typeface="楷体_GB2312"/>
              </a:endParaRPr>
            </a:p>
          </p:txBody>
        </p:sp>
      </p:grpSp>
      <p:sp>
        <p:nvSpPr>
          <p:cNvPr id="66566" name="Rectangle 117"/>
          <p:cNvSpPr>
            <a:spLocks noChangeArrowheads="1"/>
          </p:cNvSpPr>
          <p:nvPr/>
        </p:nvSpPr>
        <p:spPr bwMode="auto">
          <a:xfrm>
            <a:off x="1524001" y="260351"/>
            <a:ext cx="2339975" cy="466725"/>
          </a:xfrm>
          <a:prstGeom prst="rect">
            <a:avLst/>
          </a:prstGeom>
          <a:noFill/>
          <a:ln w="9525">
            <a:noFill/>
            <a:miter lim="800000"/>
          </a:ln>
        </p:spPr>
        <p:txBody>
          <a:bodyPr wrap="none" anchor="ctr"/>
          <a:lstStyle/>
          <a:p>
            <a:r>
              <a:rPr lang="zh-CN" altLang="en-US" sz="2800">
                <a:solidFill>
                  <a:srgbClr val="FF0000"/>
                </a:solidFill>
                <a:latin typeface="宋体" panose="02010600030101010101" pitchFamily="2" charset="-122"/>
                <a:ea typeface="Arial Unicode MS" panose="020B0604020202020204" charset="-122"/>
                <a:cs typeface="Arial Unicode MS" panose="020B0604020202020204" charset="-122"/>
              </a:rPr>
              <a:t>④</a:t>
            </a:r>
            <a:r>
              <a:rPr lang="zh-CN" altLang="en-US" sz="2800">
                <a:solidFill>
                  <a:srgbClr val="FF0000"/>
                </a:solidFill>
                <a:ea typeface="楷体_GB2312"/>
              </a:rPr>
              <a:t>  </a:t>
            </a:r>
            <a:r>
              <a:rPr lang="en-US" altLang="zh-CN" sz="2800">
                <a:solidFill>
                  <a:srgbClr val="FF0000"/>
                </a:solidFill>
                <a:ea typeface="楷体_GB2312"/>
              </a:rPr>
              <a:t>q-&gt;next=p </a:t>
            </a:r>
            <a:r>
              <a:rPr lang="en-US" altLang="zh-CN" sz="3200">
                <a:solidFill>
                  <a:srgbClr val="FF0000"/>
                </a:solidFill>
                <a:ea typeface="楷体_GB2312"/>
              </a:rPr>
              <a:t>;</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7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5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65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p:bldP spid="6656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p:nvPr/>
        </p:nvSpPr>
        <p:spPr>
          <a:xfrm>
            <a:off x="2012950" y="1524001"/>
            <a:ext cx="6917278" cy="296965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en-US" sz="2400" b="1" dirty="0"/>
              <a:t>   </a:t>
            </a:r>
            <a:r>
              <a:rPr lang="zh-CN" altLang="en-US" sz="4800" b="1" dirty="0"/>
              <a:t> </a:t>
            </a:r>
            <a:r>
              <a:rPr lang="zh-CN" altLang="en-US" sz="3600" b="1" dirty="0"/>
              <a:t>typedef </a:t>
            </a:r>
            <a:r>
              <a:rPr lang="zh-CN" altLang="en-US" sz="3600" b="1" dirty="0">
                <a:solidFill>
                  <a:srgbClr val="CC0000"/>
                </a:solidFill>
              </a:rPr>
              <a:t>struct  LNode</a:t>
            </a:r>
            <a:r>
              <a:rPr lang="zh-CN" altLang="en-US" sz="3600" b="1" dirty="0"/>
              <a:t> {</a:t>
            </a:r>
            <a:endParaRPr lang="zh-CN" altLang="en-US" sz="3600" dirty="0"/>
          </a:p>
          <a:p>
            <a:pPr marL="0" indent="0" eaLnBrk="1" hangingPunct="1">
              <a:lnSpc>
                <a:spcPct val="120000"/>
              </a:lnSpc>
              <a:spcBef>
                <a:spcPct val="0"/>
              </a:spcBef>
              <a:buClrTx/>
              <a:buNone/>
            </a:pPr>
            <a:r>
              <a:rPr lang="zh-CN" altLang="en-US" sz="3600" dirty="0"/>
              <a:t>      ElemType      </a:t>
            </a:r>
            <a:r>
              <a:rPr lang="zh-CN" altLang="en-US" sz="3600" dirty="0">
                <a:solidFill>
                  <a:srgbClr val="CC0000"/>
                </a:solidFill>
              </a:rPr>
              <a:t>data;</a:t>
            </a:r>
            <a:r>
              <a:rPr lang="zh-CN" altLang="en-US" sz="3600" dirty="0"/>
              <a:t>  // </a:t>
            </a:r>
            <a:r>
              <a:rPr lang="zh-CN" altLang="en-US" sz="3600" dirty="0">
                <a:solidFill>
                  <a:srgbClr val="0000FF"/>
                </a:solidFill>
                <a:ea typeface="隶书" panose="02010509060101010101" pitchFamily="49" charset="-122"/>
              </a:rPr>
              <a:t>数据域</a:t>
            </a:r>
            <a:endParaRPr lang="zh-CN" altLang="en-US" sz="3600" dirty="0"/>
          </a:p>
          <a:p>
            <a:pPr marL="0" indent="0" eaLnBrk="1" hangingPunct="1">
              <a:lnSpc>
                <a:spcPct val="120000"/>
              </a:lnSpc>
              <a:spcBef>
                <a:spcPct val="0"/>
              </a:spcBef>
              <a:buClrTx/>
              <a:buNone/>
            </a:pPr>
            <a:r>
              <a:rPr lang="zh-CN" altLang="en-US" sz="3600" dirty="0"/>
              <a:t>      </a:t>
            </a:r>
            <a:r>
              <a:rPr lang="zh-CN" altLang="en-US" sz="3600" b="1" dirty="0">
                <a:solidFill>
                  <a:srgbClr val="CC0000"/>
                </a:solidFill>
              </a:rPr>
              <a:t>struct</a:t>
            </a:r>
            <a:r>
              <a:rPr lang="zh-CN" altLang="en-US" sz="3600" dirty="0">
                <a:solidFill>
                  <a:srgbClr val="CC0000"/>
                </a:solidFill>
              </a:rPr>
              <a:t> LNode   </a:t>
            </a:r>
            <a:r>
              <a:rPr lang="zh-CN" altLang="en-US" sz="3600" b="1" dirty="0">
                <a:solidFill>
                  <a:srgbClr val="CC0000"/>
                </a:solidFill>
              </a:rPr>
              <a:t>*</a:t>
            </a:r>
            <a:r>
              <a:rPr lang="zh-CN" altLang="en-US" sz="3600" dirty="0">
                <a:solidFill>
                  <a:srgbClr val="CC0000"/>
                </a:solidFill>
              </a:rPr>
              <a:t>next;</a:t>
            </a:r>
            <a:r>
              <a:rPr lang="zh-CN" altLang="en-US" sz="3600" dirty="0"/>
              <a:t>  // </a:t>
            </a:r>
            <a:r>
              <a:rPr lang="zh-CN" altLang="en-US" sz="3600" dirty="0">
                <a:solidFill>
                  <a:srgbClr val="0000FF"/>
                </a:solidFill>
                <a:ea typeface="隶书" panose="02010509060101010101" pitchFamily="49" charset="-122"/>
              </a:rPr>
              <a:t>指针域</a:t>
            </a:r>
            <a:endParaRPr lang="zh-CN" altLang="en-US" sz="3600" dirty="0"/>
          </a:p>
          <a:p>
            <a:pPr marL="0" indent="0" eaLnBrk="1" hangingPunct="1">
              <a:lnSpc>
                <a:spcPct val="120000"/>
              </a:lnSpc>
              <a:spcBef>
                <a:spcPct val="0"/>
              </a:spcBef>
              <a:buClrTx/>
              <a:buNone/>
            </a:pPr>
            <a:r>
              <a:rPr lang="zh-CN" altLang="en-US" sz="3600" b="1" dirty="0"/>
              <a:t>   }</a:t>
            </a:r>
            <a:r>
              <a:rPr lang="zh-CN" altLang="en-US" sz="3600" dirty="0"/>
              <a:t> LNode, </a:t>
            </a:r>
            <a:r>
              <a:rPr lang="zh-CN" altLang="en-US" sz="3600" b="1" dirty="0">
                <a:solidFill>
                  <a:schemeClr val="tx2"/>
                </a:solidFill>
              </a:rPr>
              <a:t>*LinkList</a:t>
            </a:r>
            <a:r>
              <a:rPr lang="zh-CN" altLang="en-US" sz="3600" dirty="0"/>
              <a:t>;</a:t>
            </a:r>
            <a:r>
              <a:rPr lang="zh-CN" altLang="en-US" sz="4800" dirty="0"/>
              <a:t>  </a:t>
            </a:r>
            <a:endParaRPr lang="zh-CN" altLang="en-US" sz="2400" dirty="0"/>
          </a:p>
        </p:txBody>
      </p:sp>
      <p:sp>
        <p:nvSpPr>
          <p:cNvPr id="66563" name="Text Box 3"/>
          <p:cNvSpPr txBox="1"/>
          <p:nvPr/>
        </p:nvSpPr>
        <p:spPr>
          <a:xfrm>
            <a:off x="2003425" y="519114"/>
            <a:ext cx="7602538"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b="1" dirty="0">
                <a:solidFill>
                  <a:srgbClr val="663300"/>
                </a:solidFill>
                <a:latin typeface="隶书" panose="02010509060101010101" pitchFamily="49" charset="-122"/>
                <a:ea typeface="隶书" panose="02010509060101010101" pitchFamily="49" charset="-122"/>
              </a:rPr>
              <a:t>二、结点和单链表的 </a:t>
            </a:r>
            <a:r>
              <a:rPr lang="zh-CN" altLang="zh-CN" sz="4000" b="1" dirty="0">
                <a:solidFill>
                  <a:srgbClr val="663300"/>
                </a:solidFill>
                <a:ea typeface="隶书" panose="02010509060101010101" pitchFamily="49" charset="-122"/>
              </a:rPr>
              <a:t>C </a:t>
            </a:r>
            <a:r>
              <a:rPr lang="zh-CN" altLang="zh-CN" sz="4000" b="1" dirty="0">
                <a:solidFill>
                  <a:srgbClr val="663300"/>
                </a:solidFill>
                <a:latin typeface="隶书" panose="02010509060101010101" pitchFamily="49" charset="-122"/>
                <a:ea typeface="隶书" panose="02010509060101010101" pitchFamily="49" charset="-122"/>
              </a:rPr>
              <a:t>语言描述</a:t>
            </a:r>
            <a:endParaRPr lang="zh-CN" altLang="zh-CN" sz="4000" b="1" dirty="0">
              <a:ea typeface="楷体_GB2312" pitchFamily="49" charset="-122"/>
            </a:endParaRPr>
          </a:p>
        </p:txBody>
      </p:sp>
      <p:sp>
        <p:nvSpPr>
          <p:cNvPr id="66564" name="Text Box 4"/>
          <p:cNvSpPr txBox="1"/>
          <p:nvPr/>
        </p:nvSpPr>
        <p:spPr>
          <a:xfrm>
            <a:off x="1981200" y="4953001"/>
            <a:ext cx="8686800"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b="1" dirty="0">
                <a:solidFill>
                  <a:srgbClr val="660033"/>
                </a:solidFill>
              </a:rPr>
              <a:t>LinkList  L；  // L </a:t>
            </a:r>
            <a:r>
              <a:rPr lang="zh-CN" altLang="zh-CN" sz="4000" b="1" dirty="0">
                <a:solidFill>
                  <a:srgbClr val="660033"/>
                </a:solidFill>
                <a:ea typeface="楷体_GB2312" pitchFamily="49" charset="-122"/>
              </a:rPr>
              <a:t>为单链表的头指针</a:t>
            </a:r>
            <a:endParaRPr lang="zh-CN" altLang="zh-CN" sz="2400" dirty="0"/>
          </a:p>
        </p:txBody>
      </p:sp>
      <p:sp>
        <p:nvSpPr>
          <p:cNvPr id="66565" name="AutoShape 5">
            <a:hlinkClick r:id="rId2" action="ppaction://hlinksldjump"/>
          </p:cNvPr>
          <p:cNvSpPr/>
          <p:nvPr/>
        </p:nvSpPr>
        <p:spPr>
          <a:xfrm>
            <a:off x="10058400" y="6248400"/>
            <a:ext cx="381000" cy="381000"/>
          </a:xfrm>
          <a:prstGeom prst="actionButtonBackPrevious">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6563"/>
                                        </p:tgtEl>
                                        <p:attrNameLst>
                                          <p:attrName>style.visibility</p:attrName>
                                        </p:attrNameLst>
                                      </p:cBhvr>
                                      <p:to>
                                        <p:strVal val="visible"/>
                                      </p:to>
                                    </p:set>
                                    <p:animEffect transition="in" filter="wipe(left)">
                                      <p:cBhvr>
                                        <p:cTn id="7" dur="500"/>
                                        <p:tgtEl>
                                          <p:spTgt spid="6656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iterate type="wd">
                                    <p:tmPct val="100000"/>
                                  </p:iterate>
                                  <p:childTnLst>
                                    <p:set>
                                      <p:cBhvr>
                                        <p:cTn id="11" dur="1" fill="hold">
                                          <p:stCondLst>
                                            <p:cond delay="0"/>
                                          </p:stCondLst>
                                        </p:cTn>
                                        <p:tgtEl>
                                          <p:spTgt spid="66562"/>
                                        </p:tgtEl>
                                        <p:attrNameLst>
                                          <p:attrName>style.visibility</p:attrName>
                                        </p:attrNameLst>
                                      </p:cBhvr>
                                      <p:to>
                                        <p:strVal val="visible"/>
                                      </p:to>
                                    </p:set>
                                    <p:animEffect transition="in" filter="strips(downRight)">
                                      <p:cBhvr>
                                        <p:cTn id="12" dur="300"/>
                                        <p:tgtEl>
                                          <p:spTgt spid="6656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iterate type="wd">
                                    <p:tmPct val="100000"/>
                                  </p:iterate>
                                  <p:childTnLst>
                                    <p:set>
                                      <p:cBhvr>
                                        <p:cTn id="16" dur="1" fill="hold">
                                          <p:stCondLst>
                                            <p:cond delay="0"/>
                                          </p:stCondLst>
                                        </p:cTn>
                                        <p:tgtEl>
                                          <p:spTgt spid="66564"/>
                                        </p:tgtEl>
                                        <p:attrNameLst>
                                          <p:attrName>style.visibility</p:attrName>
                                        </p:attrNameLst>
                                      </p:cBhvr>
                                      <p:to>
                                        <p:strVal val="visible"/>
                                      </p:to>
                                    </p:set>
                                    <p:animEffect transition="in" filter="strips(downRight)">
                                      <p:cBhvr>
                                        <p:cTn id="17" dur="300"/>
                                        <p:tgtEl>
                                          <p:spTgt spid="66564"/>
                                        </p:tgtEl>
                                      </p:cBhvr>
                                    </p:animEffect>
                                  </p:childTnLst>
                                </p:cTn>
                              </p:par>
                            </p:childTnLst>
                          </p:cTn>
                        </p:par>
                        <p:par>
                          <p:cTn id="18" fill="hold">
                            <p:stCondLst>
                              <p:cond delay="6300"/>
                            </p:stCondLst>
                            <p:childTnLst>
                              <p:par>
                                <p:cTn id="19" presetID="2" presetClass="entr" presetSubtype="6" fill="hold" nodeType="afterEffect">
                                  <p:stCondLst>
                                    <p:cond delay="0"/>
                                  </p:stCondLst>
                                  <p:childTnLst>
                                    <p:set>
                                      <p:cBhvr>
                                        <p:cTn id="20" dur="1" fill="hold">
                                          <p:stCondLst>
                                            <p:cond delay="0"/>
                                          </p:stCondLst>
                                        </p:cTn>
                                        <p:tgtEl>
                                          <p:spTgt spid="66565"/>
                                        </p:tgtEl>
                                        <p:attrNameLst>
                                          <p:attrName>style.visibility</p:attrName>
                                        </p:attrNameLst>
                                      </p:cBhvr>
                                      <p:to>
                                        <p:strVal val="visible"/>
                                      </p:to>
                                    </p:set>
                                    <p:anim calcmode="lin" valueType="num">
                                      <p:cBhvr additive="base">
                                        <p:cTn id="21" dur="500" fill="hold"/>
                                        <p:tgtEl>
                                          <p:spTgt spid="66565"/>
                                        </p:tgtEl>
                                        <p:attrNameLst>
                                          <p:attrName>ppt_x</p:attrName>
                                        </p:attrNameLst>
                                      </p:cBhvr>
                                      <p:tavLst>
                                        <p:tav tm="0">
                                          <p:val>
                                            <p:strVal val="1+#ppt_w/2"/>
                                          </p:val>
                                        </p:tav>
                                        <p:tav tm="100000">
                                          <p:val>
                                            <p:strVal val="#ppt_x"/>
                                          </p:val>
                                        </p:tav>
                                      </p:tavLst>
                                    </p:anim>
                                    <p:anim calcmode="lin" valueType="num">
                                      <p:cBhvr additive="base">
                                        <p:cTn id="22" dur="500" fill="hold"/>
                                        <p:tgtEl>
                                          <p:spTgt spid="665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p:bldP spid="66563" grpId="0"/>
      <p:bldP spid="66564" grpId="0"/>
      <p:bldP spid="6656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p:nvPr/>
        </p:nvSpPr>
        <p:spPr>
          <a:xfrm>
            <a:off x="2063750" y="404814"/>
            <a:ext cx="6408738"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b="1" dirty="0">
                <a:solidFill>
                  <a:srgbClr val="663300"/>
                </a:solidFill>
                <a:ea typeface="隶书" panose="02010509060101010101" pitchFamily="49" charset="-122"/>
              </a:rPr>
              <a:t>三、单链表操作的实现</a:t>
            </a:r>
            <a:endParaRPr lang="zh-CN" altLang="zh-CN" sz="4800" b="1" dirty="0">
              <a:ea typeface="楷体_GB2312" pitchFamily="49" charset="-122"/>
            </a:endParaRPr>
          </a:p>
        </p:txBody>
      </p:sp>
      <p:sp>
        <p:nvSpPr>
          <p:cNvPr id="56323" name="Text Box 3">
            <a:hlinkClick r:id="" action="ppaction://hlinkshowjump?jump=nextslide"/>
          </p:cNvPr>
          <p:cNvSpPr txBox="1"/>
          <p:nvPr/>
        </p:nvSpPr>
        <p:spPr>
          <a:xfrm>
            <a:off x="2038351" y="2352720"/>
            <a:ext cx="6736524" cy="6463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660033"/>
                </a:solidFill>
              </a:rPr>
              <a:t>GetElem(L, i)</a:t>
            </a:r>
            <a:r>
              <a:rPr lang="zh-CN" altLang="zh-CN" sz="3600" dirty="0">
                <a:solidFill>
                  <a:srgbClr val="660033"/>
                </a:solidFill>
              </a:rPr>
              <a:t>    // </a:t>
            </a:r>
            <a:r>
              <a:rPr lang="zh-CN" altLang="zh-CN" b="1" dirty="0">
                <a:solidFill>
                  <a:srgbClr val="660033"/>
                </a:solidFill>
                <a:latin typeface="楷体_GB2312" pitchFamily="49" charset="-122"/>
                <a:ea typeface="楷体_GB2312" pitchFamily="49" charset="-122"/>
              </a:rPr>
              <a:t>取第i个数据元素</a:t>
            </a:r>
            <a:endParaRPr lang="zh-CN" altLang="zh-CN" sz="3600" dirty="0"/>
          </a:p>
        </p:txBody>
      </p:sp>
      <p:sp>
        <p:nvSpPr>
          <p:cNvPr id="56324" name="Text Box 4">
            <a:hlinkClick r:id="rId2" action="ppaction://hlinksldjump"/>
          </p:cNvPr>
          <p:cNvSpPr txBox="1"/>
          <p:nvPr/>
        </p:nvSpPr>
        <p:spPr>
          <a:xfrm>
            <a:off x="2018647" y="3197226"/>
            <a:ext cx="6482800" cy="6463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660033"/>
                </a:solidFill>
              </a:rPr>
              <a:t>ListInsert(L, </a:t>
            </a:r>
            <a:r>
              <a:rPr lang="en-US" altLang="zh-CN" sz="3600" b="1" dirty="0" err="1">
                <a:solidFill>
                  <a:srgbClr val="660033"/>
                </a:solidFill>
              </a:rPr>
              <a:t>i,e</a:t>
            </a:r>
            <a:r>
              <a:rPr lang="zh-CN" altLang="zh-CN" sz="3600" b="1" dirty="0">
                <a:solidFill>
                  <a:srgbClr val="660033"/>
                </a:solidFill>
              </a:rPr>
              <a:t>)</a:t>
            </a:r>
            <a:r>
              <a:rPr lang="zh-CN" altLang="zh-CN" sz="3600" dirty="0">
                <a:solidFill>
                  <a:srgbClr val="660033"/>
                </a:solidFill>
              </a:rPr>
              <a:t>    // </a:t>
            </a:r>
            <a:r>
              <a:rPr lang="zh-CN" altLang="zh-CN" b="1" dirty="0">
                <a:solidFill>
                  <a:srgbClr val="660033"/>
                </a:solidFill>
                <a:ea typeface="楷体_GB2312" pitchFamily="49" charset="-122"/>
              </a:rPr>
              <a:t>插入</a:t>
            </a:r>
            <a:r>
              <a:rPr lang="zh-CN" altLang="zh-CN" b="1" dirty="0">
                <a:solidFill>
                  <a:srgbClr val="660033"/>
                </a:solidFill>
                <a:latin typeface="楷体_GB2312" pitchFamily="49" charset="-122"/>
                <a:ea typeface="楷体_GB2312" pitchFamily="49" charset="-122"/>
              </a:rPr>
              <a:t>数据元素</a:t>
            </a:r>
            <a:endParaRPr lang="zh-CN" altLang="zh-CN" sz="3600" dirty="0"/>
          </a:p>
        </p:txBody>
      </p:sp>
      <p:sp>
        <p:nvSpPr>
          <p:cNvPr id="56325" name="Text Box 5">
            <a:hlinkClick r:id="rId3" action="ppaction://hlinksldjump"/>
          </p:cNvPr>
          <p:cNvSpPr txBox="1"/>
          <p:nvPr/>
        </p:nvSpPr>
        <p:spPr>
          <a:xfrm>
            <a:off x="2038351" y="4184695"/>
            <a:ext cx="6254404" cy="6463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660033"/>
                </a:solidFill>
              </a:rPr>
              <a:t>ListDelete(L, i)</a:t>
            </a:r>
            <a:r>
              <a:rPr lang="zh-CN" altLang="zh-CN" sz="3600" dirty="0">
                <a:solidFill>
                  <a:srgbClr val="660033"/>
                </a:solidFill>
              </a:rPr>
              <a:t>    // </a:t>
            </a:r>
            <a:r>
              <a:rPr lang="zh-CN" altLang="zh-CN" b="1" dirty="0">
                <a:solidFill>
                  <a:srgbClr val="660033"/>
                </a:solidFill>
                <a:ea typeface="楷体_GB2312" pitchFamily="49" charset="-122"/>
              </a:rPr>
              <a:t>删除</a:t>
            </a:r>
            <a:r>
              <a:rPr lang="zh-CN" altLang="zh-CN" b="1" dirty="0">
                <a:solidFill>
                  <a:srgbClr val="660033"/>
                </a:solidFill>
                <a:latin typeface="楷体_GB2312" pitchFamily="49" charset="-122"/>
                <a:ea typeface="楷体_GB2312" pitchFamily="49" charset="-122"/>
              </a:rPr>
              <a:t>数据元素</a:t>
            </a:r>
            <a:endParaRPr lang="zh-CN" altLang="zh-CN" sz="3600" dirty="0"/>
          </a:p>
        </p:txBody>
      </p:sp>
      <p:sp>
        <p:nvSpPr>
          <p:cNvPr id="56326" name="Text Box 6">
            <a:hlinkClick r:id="rId4" action="ppaction://hlinksldjump"/>
          </p:cNvPr>
          <p:cNvSpPr txBox="1"/>
          <p:nvPr/>
        </p:nvSpPr>
        <p:spPr>
          <a:xfrm>
            <a:off x="2148915" y="1408929"/>
            <a:ext cx="9536200" cy="6463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en-US" altLang="zh-CN" sz="3600" b="1" dirty="0" err="1">
                <a:solidFill>
                  <a:srgbClr val="660033"/>
                </a:solidFill>
              </a:rPr>
              <a:t>InitList</a:t>
            </a:r>
            <a:r>
              <a:rPr lang="en-US" altLang="zh-CN" sz="3600" b="1" dirty="0">
                <a:solidFill>
                  <a:srgbClr val="660033"/>
                </a:solidFill>
              </a:rPr>
              <a:t>()               </a:t>
            </a:r>
            <a:r>
              <a:rPr lang="zh-CN" altLang="zh-CN" sz="3600" dirty="0">
                <a:solidFill>
                  <a:srgbClr val="660033"/>
                </a:solidFill>
              </a:rPr>
              <a:t>// </a:t>
            </a:r>
            <a:r>
              <a:rPr lang="zh-CN" altLang="en-US" b="1" dirty="0">
                <a:solidFill>
                  <a:srgbClr val="660033"/>
                </a:solidFill>
                <a:ea typeface="楷体_GB2312" pitchFamily="49" charset="-122"/>
              </a:rPr>
              <a:t>新建并返回带头结点的空单链表</a:t>
            </a:r>
            <a:endParaRPr lang="zh-CN" altLang="zh-CN" sz="3600" dirty="0"/>
          </a:p>
        </p:txBody>
      </p:sp>
      <p:sp>
        <p:nvSpPr>
          <p:cNvPr id="56327" name="Text Box 7">
            <a:hlinkClick r:id="rId5" action="ppaction://hlinksldjump"/>
          </p:cNvPr>
          <p:cNvSpPr txBox="1"/>
          <p:nvPr/>
        </p:nvSpPr>
        <p:spPr>
          <a:xfrm>
            <a:off x="1981200" y="5029201"/>
            <a:ext cx="9875440" cy="64633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en-US" altLang="zh-CN" sz="3600" b="1" dirty="0" err="1">
                <a:solidFill>
                  <a:srgbClr val="660033"/>
                </a:solidFill>
              </a:rPr>
              <a:t>ClearList</a:t>
            </a:r>
            <a:r>
              <a:rPr lang="en-US" altLang="zh-CN" sz="3600" b="1" dirty="0">
                <a:solidFill>
                  <a:srgbClr val="660033"/>
                </a:solidFill>
              </a:rPr>
              <a:t>(L)             </a:t>
            </a:r>
            <a:r>
              <a:rPr lang="zh-CN" altLang="zh-CN" b="1" dirty="0">
                <a:solidFill>
                  <a:srgbClr val="660033"/>
                </a:solidFill>
                <a:ea typeface="楷体_GB2312" pitchFamily="49" charset="-122"/>
              </a:rPr>
              <a:t>//</a:t>
            </a:r>
            <a:r>
              <a:rPr lang="zh-CN" altLang="en-US" b="1" dirty="0">
                <a:solidFill>
                  <a:srgbClr val="660033"/>
                </a:solidFill>
                <a:ea typeface="楷体_GB2312" pitchFamily="49" charset="-122"/>
              </a:rPr>
              <a:t>将单链表重新置为一个空表</a:t>
            </a:r>
          </a:p>
        </p:txBody>
      </p:sp>
      <p:sp>
        <p:nvSpPr>
          <p:cNvPr id="67592" name="AutoShape 8">
            <a:hlinkClick r:id="rId6" action="ppaction://hlinksldjump"/>
          </p:cNvPr>
          <p:cNvSpPr/>
          <p:nvPr/>
        </p:nvSpPr>
        <p:spPr>
          <a:xfrm>
            <a:off x="10058400" y="6248400"/>
            <a:ext cx="381000" cy="381000"/>
          </a:xfrm>
          <a:prstGeom prst="actionButtonBackPrevious">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afterEffect">
                                  <p:stCondLst>
                                    <p:cond delay="0"/>
                                  </p:stCondLst>
                                  <p:childTnLst>
                                    <p:set>
                                      <p:cBhvr>
                                        <p:cTn id="6" dur="1" fill="hold">
                                          <p:stCondLst>
                                            <p:cond delay="0"/>
                                          </p:stCondLst>
                                        </p:cTn>
                                        <p:tgtEl>
                                          <p:spTgt spid="67592"/>
                                        </p:tgtEl>
                                        <p:attrNameLst>
                                          <p:attrName>style.visibility</p:attrName>
                                        </p:attrNameLst>
                                      </p:cBhvr>
                                      <p:to>
                                        <p:strVal val="visible"/>
                                      </p:to>
                                    </p:set>
                                    <p:anim calcmode="lin" valueType="num">
                                      <p:cBhvr additive="base">
                                        <p:cTn id="7" dur="500" fill="hold"/>
                                        <p:tgtEl>
                                          <p:spTgt spid="67592"/>
                                        </p:tgtEl>
                                        <p:attrNameLst>
                                          <p:attrName>ppt_x</p:attrName>
                                        </p:attrNameLst>
                                      </p:cBhvr>
                                      <p:tavLst>
                                        <p:tav tm="0">
                                          <p:val>
                                            <p:strVal val="1+#ppt_w/2"/>
                                          </p:val>
                                        </p:tav>
                                        <p:tav tm="100000">
                                          <p:val>
                                            <p:strVal val="#ppt_x"/>
                                          </p:val>
                                        </p:tav>
                                      </p:tavLst>
                                    </p:anim>
                                    <p:anim calcmode="lin" valueType="num">
                                      <p:cBhvr additive="base">
                                        <p:cTn id="8" dur="500" fill="hold"/>
                                        <p:tgtEl>
                                          <p:spTgt spid="675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6AD893F-DD4F-6853-2D49-A5D9B43D5DEA}"/>
              </a:ext>
            </a:extLst>
          </p:cNvPr>
          <p:cNvSpPr txBox="1"/>
          <p:nvPr/>
        </p:nvSpPr>
        <p:spPr>
          <a:xfrm>
            <a:off x="1703512" y="476672"/>
            <a:ext cx="5976664" cy="646331"/>
          </a:xfrm>
          <a:prstGeom prst="rect">
            <a:avLst/>
          </a:prstGeom>
          <a:noFill/>
        </p:spPr>
        <p:txBody>
          <a:bodyPr wrap="square" rtlCol="0">
            <a:spAutoFit/>
          </a:bodyPr>
          <a:lstStyle/>
          <a:p>
            <a:r>
              <a:rPr lang="zh-CN" altLang="en-US" dirty="0">
                <a:solidFill>
                  <a:schemeClr val="accent1"/>
                </a:solidFill>
              </a:rPr>
              <a:t>新建空链表</a:t>
            </a:r>
          </a:p>
        </p:txBody>
      </p:sp>
      <p:sp>
        <p:nvSpPr>
          <p:cNvPr id="3" name="文本框 2">
            <a:extLst>
              <a:ext uri="{FF2B5EF4-FFF2-40B4-BE49-F238E27FC236}">
                <a16:creationId xmlns:a16="http://schemas.microsoft.com/office/drawing/2014/main" id="{599D0504-00B3-998A-661C-4DDA067D36AE}"/>
              </a:ext>
            </a:extLst>
          </p:cNvPr>
          <p:cNvSpPr txBox="1"/>
          <p:nvPr/>
        </p:nvSpPr>
        <p:spPr>
          <a:xfrm>
            <a:off x="911424" y="2132856"/>
            <a:ext cx="10873208" cy="3970318"/>
          </a:xfrm>
          <a:prstGeom prst="rect">
            <a:avLst/>
          </a:prstGeom>
          <a:noFill/>
        </p:spPr>
        <p:txBody>
          <a:bodyPr wrap="square" rtlCol="0">
            <a:spAutoFit/>
          </a:bodyPr>
          <a:lstStyle/>
          <a:p>
            <a:r>
              <a:rPr lang="en-US" altLang="zh-CN" b="0" dirty="0" err="1">
                <a:solidFill>
                  <a:schemeClr val="tx1"/>
                </a:solidFill>
              </a:rPr>
              <a:t>LinkList</a:t>
            </a:r>
            <a:r>
              <a:rPr lang="en-US" altLang="zh-CN" b="0" dirty="0">
                <a:solidFill>
                  <a:schemeClr val="tx1"/>
                </a:solidFill>
              </a:rPr>
              <a:t> </a:t>
            </a:r>
            <a:r>
              <a:rPr lang="en-US" altLang="zh-CN" b="0" dirty="0" err="1">
                <a:solidFill>
                  <a:schemeClr val="tx1"/>
                </a:solidFill>
              </a:rPr>
              <a:t>InitList</a:t>
            </a:r>
            <a:r>
              <a:rPr lang="en-US" altLang="zh-CN" b="0" dirty="0">
                <a:solidFill>
                  <a:schemeClr val="tx1"/>
                </a:solidFill>
              </a:rPr>
              <a:t>(){</a:t>
            </a:r>
          </a:p>
          <a:p>
            <a:r>
              <a:rPr lang="en-US" altLang="zh-CN" b="0" dirty="0">
                <a:solidFill>
                  <a:schemeClr val="tx1"/>
                </a:solidFill>
              </a:rPr>
              <a:t>//</a:t>
            </a:r>
            <a:r>
              <a:rPr lang="zh-CN" altLang="en-US" b="0" dirty="0">
                <a:solidFill>
                  <a:schemeClr val="tx1"/>
                </a:solidFill>
              </a:rPr>
              <a:t>新建一个带头结点的空链表并返回头结点指针</a:t>
            </a:r>
            <a:endParaRPr lang="en-US" altLang="zh-CN" b="0" dirty="0">
              <a:solidFill>
                <a:schemeClr val="tx1"/>
              </a:solidFill>
            </a:endParaRPr>
          </a:p>
          <a:p>
            <a:r>
              <a:rPr lang="en-US" altLang="zh-CN" b="0" dirty="0">
                <a:solidFill>
                  <a:schemeClr val="tx1"/>
                </a:solidFill>
              </a:rPr>
              <a:t>       </a:t>
            </a:r>
            <a:r>
              <a:rPr lang="en-US" altLang="zh-CN" b="0" dirty="0" err="1">
                <a:solidFill>
                  <a:schemeClr val="tx1"/>
                </a:solidFill>
              </a:rPr>
              <a:t>LinkList</a:t>
            </a:r>
            <a:r>
              <a:rPr lang="en-US" altLang="zh-CN" b="0" dirty="0">
                <a:solidFill>
                  <a:schemeClr val="tx1"/>
                </a:solidFill>
              </a:rPr>
              <a:t> L;</a:t>
            </a:r>
          </a:p>
          <a:p>
            <a:r>
              <a:rPr lang="en-US" altLang="zh-CN" b="0" dirty="0">
                <a:solidFill>
                  <a:schemeClr val="tx1"/>
                </a:solidFill>
              </a:rPr>
              <a:t>       if (!(L=(</a:t>
            </a:r>
            <a:r>
              <a:rPr lang="en-US" altLang="zh-CN" b="0" dirty="0" err="1">
                <a:solidFill>
                  <a:schemeClr val="tx1"/>
                </a:solidFill>
              </a:rPr>
              <a:t>Lnode</a:t>
            </a:r>
            <a:r>
              <a:rPr lang="en-US" altLang="zh-CN" b="0" dirty="0">
                <a:solidFill>
                  <a:schemeClr val="tx1"/>
                </a:solidFill>
              </a:rPr>
              <a:t> *) </a:t>
            </a:r>
            <a:r>
              <a:rPr lang="en-US" altLang="zh-CN" b="0" dirty="0" err="1">
                <a:solidFill>
                  <a:schemeClr val="tx1"/>
                </a:solidFill>
              </a:rPr>
              <a:t>calloc</a:t>
            </a:r>
            <a:r>
              <a:rPr lang="en-US" altLang="zh-CN" b="0" dirty="0">
                <a:solidFill>
                  <a:schemeClr val="tx1"/>
                </a:solidFill>
              </a:rPr>
              <a:t>(1,sizeof(</a:t>
            </a:r>
            <a:r>
              <a:rPr lang="en-US" altLang="zh-CN" b="0" dirty="0" err="1">
                <a:solidFill>
                  <a:schemeClr val="tx1"/>
                </a:solidFill>
              </a:rPr>
              <a:t>Lnode</a:t>
            </a:r>
            <a:r>
              <a:rPr lang="en-US" altLang="zh-CN" b="0" dirty="0">
                <a:solidFill>
                  <a:schemeClr val="tx1"/>
                </a:solidFill>
              </a:rPr>
              <a:t>))))</a:t>
            </a:r>
          </a:p>
          <a:p>
            <a:r>
              <a:rPr lang="en-US" altLang="zh-CN" b="0" dirty="0">
                <a:solidFill>
                  <a:schemeClr val="tx1"/>
                </a:solidFill>
              </a:rPr>
              <a:t>             exit(OVERFLOW);</a:t>
            </a:r>
          </a:p>
          <a:p>
            <a:r>
              <a:rPr lang="en-US" altLang="zh-CN" b="0" dirty="0">
                <a:solidFill>
                  <a:schemeClr val="tx1"/>
                </a:solidFill>
              </a:rPr>
              <a:t>       return L;</a:t>
            </a:r>
          </a:p>
          <a:p>
            <a:r>
              <a:rPr lang="en-US" altLang="zh-CN" b="0" dirty="0">
                <a:solidFill>
                  <a:schemeClr val="tx1"/>
                </a:solidFill>
              </a:rPr>
              <a:t>}</a:t>
            </a:r>
            <a:endParaRPr lang="zh-CN" altLang="en-US" b="0" dirty="0">
              <a:solidFill>
                <a:schemeClr val="tx1"/>
              </a:solidFill>
            </a:endParaRPr>
          </a:p>
        </p:txBody>
      </p:sp>
    </p:spTree>
    <p:extLst>
      <p:ext uri="{BB962C8B-B14F-4D97-AF65-F5344CB8AC3E}">
        <p14:creationId xmlns:p14="http://schemas.microsoft.com/office/powerpoint/2010/main" val="3408519337"/>
      </p:ext>
    </p:extLst>
  </p:cSld>
  <p:clrMapOvr>
    <a:masterClrMapping/>
  </p:clrMapOvr>
  <p:transition>
    <p:strips dir="rd"/>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4814" y="3016250"/>
            <a:ext cx="1220787" cy="1555750"/>
            <a:chOff x="0" y="0"/>
            <a:chExt cx="769" cy="980"/>
          </a:xfrm>
        </p:grpSpPr>
        <p:sp>
          <p:nvSpPr>
            <p:cNvPr id="57388" name="Rectangle 3"/>
            <p:cNvSpPr/>
            <p:nvPr/>
          </p:nvSpPr>
          <p:spPr>
            <a:xfrm>
              <a:off x="193" y="6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zh-CN" sz="3600" dirty="0"/>
            </a:p>
          </p:txBody>
        </p:sp>
        <p:sp>
          <p:nvSpPr>
            <p:cNvPr id="57389" name="Line 4"/>
            <p:cNvSpPr/>
            <p:nvPr/>
          </p:nvSpPr>
          <p:spPr>
            <a:xfrm>
              <a:off x="577" y="644"/>
              <a:ext cx="0" cy="336"/>
            </a:xfrm>
            <a:prstGeom prst="line">
              <a:avLst/>
            </a:prstGeom>
            <a:ln w="9525" cap="flat" cmpd="sng">
              <a:solidFill>
                <a:srgbClr val="008080"/>
              </a:solidFill>
              <a:prstDash val="solid"/>
              <a:headEnd type="none" w="med" len="med"/>
              <a:tailEnd type="none" w="med" len="med"/>
            </a:ln>
          </p:spPr>
        </p:sp>
        <p:sp>
          <p:nvSpPr>
            <p:cNvPr id="57390" name="Text Box 5"/>
            <p:cNvSpPr txBox="1"/>
            <p:nvPr/>
          </p:nvSpPr>
          <p:spPr>
            <a:xfrm>
              <a:off x="1" y="0"/>
              <a:ext cx="308"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0099"/>
                  </a:solidFill>
                </a:rPr>
                <a:t>L</a:t>
              </a:r>
              <a:endParaRPr lang="zh-CN" altLang="zh-CN" sz="3600" dirty="0"/>
            </a:p>
          </p:txBody>
        </p:sp>
        <p:sp>
          <p:nvSpPr>
            <p:cNvPr id="57391" name="Arc 6"/>
            <p:cNvSpPr/>
            <p:nvPr/>
          </p:nvSpPr>
          <p:spPr>
            <a:xfrm rot="-10459146">
              <a:off x="0" y="276"/>
              <a:ext cx="433" cy="553"/>
            </a:xfrm>
            <a:custGeom>
              <a:avLst/>
              <a:gdLst>
                <a:gd name="txL" fmla="*/ 0 w 21600"/>
                <a:gd name="txT" fmla="*/ 0 h 20719"/>
                <a:gd name="txR" fmla="*/ 21600 w 21600"/>
                <a:gd name="txB" fmla="*/ 20719 h 20719"/>
              </a:gdLst>
              <a:ahLst/>
              <a:cxnLst>
                <a:cxn ang="0">
                  <a:pos x="0" y="0"/>
                </a:cxn>
                <a:cxn ang="0">
                  <a:pos x="0" y="0"/>
                </a:cxn>
                <a:cxn ang="0">
                  <a:pos x="0" y="0"/>
                </a:cxn>
              </a:cxnLst>
              <a:rect l="txL" t="txT" r="txR" b="txB"/>
              <a:pathLst>
                <a:path w="21600" h="20719" fill="none">
                  <a:moveTo>
                    <a:pt x="9627" y="0"/>
                  </a:moveTo>
                  <a:cubicBezTo>
                    <a:pt x="16963" y="3652"/>
                    <a:pt x="21600" y="11141"/>
                    <a:pt x="21600" y="19336"/>
                  </a:cubicBezTo>
                  <a:cubicBezTo>
                    <a:pt x="21600" y="19797"/>
                    <a:pt x="21585" y="20258"/>
                    <a:pt x="21555" y="20718"/>
                  </a:cubicBezTo>
                </a:path>
                <a:path w="21600" h="20719" stroke="0">
                  <a:moveTo>
                    <a:pt x="9627" y="0"/>
                  </a:moveTo>
                  <a:cubicBezTo>
                    <a:pt x="16963" y="3652"/>
                    <a:pt x="21600" y="11141"/>
                    <a:pt x="21600" y="19336"/>
                  </a:cubicBezTo>
                  <a:cubicBezTo>
                    <a:pt x="21600" y="19797"/>
                    <a:pt x="21585" y="20258"/>
                    <a:pt x="21555" y="20718"/>
                  </a:cubicBezTo>
                  <a:lnTo>
                    <a:pt x="0" y="19336"/>
                  </a:lnTo>
                  <a:lnTo>
                    <a:pt x="9627" y="0"/>
                  </a:lnTo>
                  <a:close/>
                </a:path>
              </a:pathLst>
            </a:custGeom>
            <a:noFill/>
            <a:ln w="31750" cap="flat" cmpd="sng">
              <a:solidFill>
                <a:srgbClr val="000099">
                  <a:alpha val="100000"/>
                </a:srgbClr>
              </a:solidFill>
              <a:prstDash val="solid"/>
              <a:round/>
              <a:headEnd type="triangle" w="med" len="med"/>
              <a:tailEnd type="none" w="med" len="med"/>
            </a:ln>
          </p:spPr>
          <p:txBody>
            <a:bodyPr/>
            <a:lstStyle/>
            <a:p>
              <a:endParaRPr lang="zh-CN" altLang="en-US"/>
            </a:p>
          </p:txBody>
        </p:sp>
      </p:grpSp>
      <p:sp>
        <p:nvSpPr>
          <p:cNvPr id="68615" name="Text Box 7"/>
          <p:cNvSpPr txBox="1"/>
          <p:nvPr/>
        </p:nvSpPr>
        <p:spPr>
          <a:xfrm>
            <a:off x="1981200" y="762000"/>
            <a:ext cx="6324600" cy="2268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ea typeface="楷体_GB2312" pitchFamily="49" charset="-122"/>
              </a:rPr>
              <a:t>     线性表的操作</a:t>
            </a:r>
            <a:r>
              <a:rPr lang="zh-CN" altLang="zh-CN" sz="4800" dirty="0">
                <a:ea typeface="楷体_GB2312" pitchFamily="49" charset="-122"/>
              </a:rPr>
              <a:t>  </a:t>
            </a:r>
          </a:p>
          <a:p>
            <a:pPr marL="0" indent="0" eaLnBrk="1" hangingPunct="1">
              <a:spcBef>
                <a:spcPct val="0"/>
              </a:spcBef>
              <a:buClrTx/>
              <a:buNone/>
            </a:pPr>
            <a:r>
              <a:rPr lang="zh-CN" altLang="zh-CN" sz="4800" dirty="0">
                <a:ea typeface="楷体_GB2312" pitchFamily="49" charset="-122"/>
              </a:rPr>
              <a:t>        </a:t>
            </a:r>
            <a:r>
              <a:rPr lang="zh-CN" altLang="zh-CN" sz="4800" b="1" dirty="0">
                <a:solidFill>
                  <a:srgbClr val="003399"/>
                </a:solidFill>
              </a:rPr>
              <a:t>GetElem(L, i)</a:t>
            </a:r>
            <a:endParaRPr lang="zh-CN" altLang="zh-CN" sz="4800" dirty="0"/>
          </a:p>
          <a:p>
            <a:pPr marL="0" indent="0" eaLnBrk="1" hangingPunct="1">
              <a:lnSpc>
                <a:spcPct val="125000"/>
              </a:lnSpc>
              <a:spcBef>
                <a:spcPct val="0"/>
              </a:spcBef>
              <a:buClrTx/>
              <a:buNone/>
            </a:pPr>
            <a:r>
              <a:rPr lang="zh-CN" altLang="zh-CN" sz="4000" dirty="0">
                <a:ea typeface="楷体_GB2312" pitchFamily="49" charset="-122"/>
              </a:rPr>
              <a:t>在单链表中的实现</a:t>
            </a:r>
            <a:r>
              <a:rPr lang="zh-CN" altLang="zh-CN" sz="4000" dirty="0"/>
              <a:t>:</a:t>
            </a:r>
          </a:p>
        </p:txBody>
      </p:sp>
      <p:grpSp>
        <p:nvGrpSpPr>
          <p:cNvPr id="3" name="Group 8"/>
          <p:cNvGrpSpPr/>
          <p:nvPr/>
        </p:nvGrpSpPr>
        <p:grpSpPr>
          <a:xfrm>
            <a:off x="2743200" y="4038600"/>
            <a:ext cx="1371600" cy="533400"/>
            <a:chOff x="0" y="0"/>
            <a:chExt cx="864" cy="336"/>
          </a:xfrm>
        </p:grpSpPr>
        <p:sp>
          <p:nvSpPr>
            <p:cNvPr id="57385" name="Rectangle 9"/>
            <p:cNvSpPr/>
            <p:nvPr/>
          </p:nvSpPr>
          <p:spPr>
            <a:xfrm>
              <a:off x="288" y="0"/>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8080"/>
                  </a:solidFill>
                </a:rPr>
                <a:t>21</a:t>
              </a:r>
              <a:endParaRPr lang="zh-CN" altLang="zh-CN" sz="3600" dirty="0"/>
            </a:p>
          </p:txBody>
        </p:sp>
        <p:sp>
          <p:nvSpPr>
            <p:cNvPr id="57386" name="Line 10"/>
            <p:cNvSpPr/>
            <p:nvPr/>
          </p:nvSpPr>
          <p:spPr>
            <a:xfrm>
              <a:off x="672" y="0"/>
              <a:ext cx="0" cy="336"/>
            </a:xfrm>
            <a:prstGeom prst="line">
              <a:avLst/>
            </a:prstGeom>
            <a:ln w="9525" cap="flat" cmpd="sng">
              <a:solidFill>
                <a:srgbClr val="008080"/>
              </a:solidFill>
              <a:prstDash val="solid"/>
              <a:headEnd type="none" w="med" len="med"/>
              <a:tailEnd type="none" w="med" len="med"/>
            </a:ln>
          </p:spPr>
        </p:sp>
        <p:sp>
          <p:nvSpPr>
            <p:cNvPr id="57387" name="Line 11"/>
            <p:cNvSpPr/>
            <p:nvPr/>
          </p:nvSpPr>
          <p:spPr>
            <a:xfrm>
              <a:off x="0" y="192"/>
              <a:ext cx="288" cy="0"/>
            </a:xfrm>
            <a:prstGeom prst="line">
              <a:avLst/>
            </a:prstGeom>
            <a:ln w="25400" cap="flat" cmpd="sng">
              <a:solidFill>
                <a:srgbClr val="008080"/>
              </a:solidFill>
              <a:prstDash val="solid"/>
              <a:headEnd type="oval" w="sm" len="sm"/>
              <a:tailEnd type="triangle" w="med" len="lg"/>
            </a:ln>
          </p:spPr>
        </p:sp>
      </p:grpSp>
      <p:grpSp>
        <p:nvGrpSpPr>
          <p:cNvPr id="4" name="Group 12"/>
          <p:cNvGrpSpPr/>
          <p:nvPr/>
        </p:nvGrpSpPr>
        <p:grpSpPr>
          <a:xfrm>
            <a:off x="3962400" y="4038600"/>
            <a:ext cx="1371600" cy="533400"/>
            <a:chOff x="0" y="0"/>
            <a:chExt cx="864" cy="336"/>
          </a:xfrm>
        </p:grpSpPr>
        <p:sp>
          <p:nvSpPr>
            <p:cNvPr id="57382" name="Rectangle 13"/>
            <p:cNvSpPr/>
            <p:nvPr/>
          </p:nvSpPr>
          <p:spPr>
            <a:xfrm>
              <a:off x="288" y="0"/>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8080"/>
                  </a:solidFill>
                </a:rPr>
                <a:t>18</a:t>
              </a:r>
              <a:endParaRPr lang="zh-CN" altLang="zh-CN" sz="3600" dirty="0"/>
            </a:p>
          </p:txBody>
        </p:sp>
        <p:sp>
          <p:nvSpPr>
            <p:cNvPr id="57383" name="Line 14"/>
            <p:cNvSpPr/>
            <p:nvPr/>
          </p:nvSpPr>
          <p:spPr>
            <a:xfrm>
              <a:off x="672" y="0"/>
              <a:ext cx="0" cy="336"/>
            </a:xfrm>
            <a:prstGeom prst="line">
              <a:avLst/>
            </a:prstGeom>
            <a:ln w="9525" cap="flat" cmpd="sng">
              <a:solidFill>
                <a:srgbClr val="008080"/>
              </a:solidFill>
              <a:prstDash val="solid"/>
              <a:headEnd type="none" w="med" len="med"/>
              <a:tailEnd type="none" w="med" len="med"/>
            </a:ln>
          </p:spPr>
        </p:sp>
        <p:sp>
          <p:nvSpPr>
            <p:cNvPr id="57384" name="Line 15"/>
            <p:cNvSpPr/>
            <p:nvPr/>
          </p:nvSpPr>
          <p:spPr>
            <a:xfrm>
              <a:off x="0" y="192"/>
              <a:ext cx="288" cy="0"/>
            </a:xfrm>
            <a:prstGeom prst="line">
              <a:avLst/>
            </a:prstGeom>
            <a:ln w="25400" cap="flat" cmpd="sng">
              <a:solidFill>
                <a:srgbClr val="008080"/>
              </a:solidFill>
              <a:prstDash val="solid"/>
              <a:headEnd type="oval" w="sm" len="sm"/>
              <a:tailEnd type="triangle" w="med" len="lg"/>
            </a:ln>
          </p:spPr>
        </p:sp>
      </p:grpSp>
      <p:grpSp>
        <p:nvGrpSpPr>
          <p:cNvPr id="5" name="Group 16"/>
          <p:cNvGrpSpPr/>
          <p:nvPr/>
        </p:nvGrpSpPr>
        <p:grpSpPr>
          <a:xfrm>
            <a:off x="5181600" y="4038600"/>
            <a:ext cx="1371600" cy="533400"/>
            <a:chOff x="0" y="0"/>
            <a:chExt cx="864" cy="336"/>
          </a:xfrm>
        </p:grpSpPr>
        <p:sp>
          <p:nvSpPr>
            <p:cNvPr id="57379" name="Rectangle 17"/>
            <p:cNvSpPr/>
            <p:nvPr/>
          </p:nvSpPr>
          <p:spPr>
            <a:xfrm>
              <a:off x="288" y="0"/>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8080"/>
                  </a:solidFill>
                </a:rPr>
                <a:t>30</a:t>
              </a:r>
              <a:endParaRPr lang="zh-CN" altLang="zh-CN" sz="3600" dirty="0"/>
            </a:p>
          </p:txBody>
        </p:sp>
        <p:sp>
          <p:nvSpPr>
            <p:cNvPr id="57380" name="Line 18"/>
            <p:cNvSpPr/>
            <p:nvPr/>
          </p:nvSpPr>
          <p:spPr>
            <a:xfrm>
              <a:off x="672" y="0"/>
              <a:ext cx="0" cy="336"/>
            </a:xfrm>
            <a:prstGeom prst="line">
              <a:avLst/>
            </a:prstGeom>
            <a:ln w="9525" cap="flat" cmpd="sng">
              <a:solidFill>
                <a:srgbClr val="008080"/>
              </a:solidFill>
              <a:prstDash val="solid"/>
              <a:headEnd type="none" w="med" len="med"/>
              <a:tailEnd type="none" w="med" len="med"/>
            </a:ln>
          </p:spPr>
        </p:sp>
        <p:sp>
          <p:nvSpPr>
            <p:cNvPr id="57381" name="Line 19"/>
            <p:cNvSpPr/>
            <p:nvPr/>
          </p:nvSpPr>
          <p:spPr>
            <a:xfrm>
              <a:off x="0" y="192"/>
              <a:ext cx="288" cy="0"/>
            </a:xfrm>
            <a:prstGeom prst="line">
              <a:avLst/>
            </a:prstGeom>
            <a:ln w="25400" cap="flat" cmpd="sng">
              <a:solidFill>
                <a:srgbClr val="008080"/>
              </a:solidFill>
              <a:prstDash val="solid"/>
              <a:headEnd type="oval" w="sm" len="sm"/>
              <a:tailEnd type="triangle" w="med" len="lg"/>
            </a:ln>
          </p:spPr>
        </p:sp>
      </p:grpSp>
      <p:grpSp>
        <p:nvGrpSpPr>
          <p:cNvPr id="6" name="Group 20"/>
          <p:cNvGrpSpPr/>
          <p:nvPr/>
        </p:nvGrpSpPr>
        <p:grpSpPr>
          <a:xfrm>
            <a:off x="6400800" y="4038600"/>
            <a:ext cx="1371600" cy="533400"/>
            <a:chOff x="0" y="0"/>
            <a:chExt cx="864" cy="336"/>
          </a:xfrm>
        </p:grpSpPr>
        <p:sp>
          <p:nvSpPr>
            <p:cNvPr id="57376" name="Rectangle 21"/>
            <p:cNvSpPr/>
            <p:nvPr/>
          </p:nvSpPr>
          <p:spPr>
            <a:xfrm>
              <a:off x="288" y="0"/>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8080"/>
                  </a:solidFill>
                </a:rPr>
                <a:t>75</a:t>
              </a:r>
              <a:endParaRPr lang="zh-CN" altLang="zh-CN" sz="3600" dirty="0"/>
            </a:p>
          </p:txBody>
        </p:sp>
        <p:sp>
          <p:nvSpPr>
            <p:cNvPr id="57377" name="Line 22"/>
            <p:cNvSpPr/>
            <p:nvPr/>
          </p:nvSpPr>
          <p:spPr>
            <a:xfrm>
              <a:off x="672" y="0"/>
              <a:ext cx="0" cy="336"/>
            </a:xfrm>
            <a:prstGeom prst="line">
              <a:avLst/>
            </a:prstGeom>
            <a:ln w="9525" cap="flat" cmpd="sng">
              <a:solidFill>
                <a:srgbClr val="008080"/>
              </a:solidFill>
              <a:prstDash val="solid"/>
              <a:headEnd type="none" w="med" len="med"/>
              <a:tailEnd type="none" w="med" len="med"/>
            </a:ln>
          </p:spPr>
        </p:sp>
        <p:sp>
          <p:nvSpPr>
            <p:cNvPr id="57378" name="Line 23"/>
            <p:cNvSpPr/>
            <p:nvPr/>
          </p:nvSpPr>
          <p:spPr>
            <a:xfrm>
              <a:off x="0" y="192"/>
              <a:ext cx="288" cy="0"/>
            </a:xfrm>
            <a:prstGeom prst="line">
              <a:avLst/>
            </a:prstGeom>
            <a:ln w="25400" cap="flat" cmpd="sng">
              <a:solidFill>
                <a:srgbClr val="008080"/>
              </a:solidFill>
              <a:prstDash val="solid"/>
              <a:headEnd type="oval" w="sm" len="sm"/>
              <a:tailEnd type="triangle" w="med" len="lg"/>
            </a:ln>
          </p:spPr>
        </p:sp>
      </p:grpSp>
      <p:grpSp>
        <p:nvGrpSpPr>
          <p:cNvPr id="7" name="Group 24"/>
          <p:cNvGrpSpPr/>
          <p:nvPr/>
        </p:nvGrpSpPr>
        <p:grpSpPr>
          <a:xfrm>
            <a:off x="7620000" y="4038600"/>
            <a:ext cx="1371600" cy="533400"/>
            <a:chOff x="0" y="0"/>
            <a:chExt cx="864" cy="336"/>
          </a:xfrm>
        </p:grpSpPr>
        <p:sp>
          <p:nvSpPr>
            <p:cNvPr id="57373" name="Rectangle 25"/>
            <p:cNvSpPr/>
            <p:nvPr/>
          </p:nvSpPr>
          <p:spPr>
            <a:xfrm>
              <a:off x="288" y="0"/>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8080"/>
                  </a:solidFill>
                </a:rPr>
                <a:t>42</a:t>
              </a:r>
              <a:endParaRPr lang="zh-CN" altLang="zh-CN" sz="3600" dirty="0"/>
            </a:p>
          </p:txBody>
        </p:sp>
        <p:sp>
          <p:nvSpPr>
            <p:cNvPr id="57374" name="Line 26"/>
            <p:cNvSpPr/>
            <p:nvPr/>
          </p:nvSpPr>
          <p:spPr>
            <a:xfrm>
              <a:off x="672" y="0"/>
              <a:ext cx="0" cy="336"/>
            </a:xfrm>
            <a:prstGeom prst="line">
              <a:avLst/>
            </a:prstGeom>
            <a:ln w="9525" cap="flat" cmpd="sng">
              <a:solidFill>
                <a:srgbClr val="008080"/>
              </a:solidFill>
              <a:prstDash val="solid"/>
              <a:headEnd type="none" w="med" len="med"/>
              <a:tailEnd type="none" w="med" len="med"/>
            </a:ln>
          </p:spPr>
        </p:sp>
        <p:sp>
          <p:nvSpPr>
            <p:cNvPr id="57375" name="Line 27"/>
            <p:cNvSpPr/>
            <p:nvPr/>
          </p:nvSpPr>
          <p:spPr>
            <a:xfrm>
              <a:off x="0" y="192"/>
              <a:ext cx="288" cy="0"/>
            </a:xfrm>
            <a:prstGeom prst="line">
              <a:avLst/>
            </a:prstGeom>
            <a:ln w="25400" cap="flat" cmpd="sng">
              <a:solidFill>
                <a:srgbClr val="008080"/>
              </a:solidFill>
              <a:prstDash val="solid"/>
              <a:headEnd type="oval" w="sm" len="sm"/>
              <a:tailEnd type="triangle" w="med" len="lg"/>
            </a:ln>
          </p:spPr>
        </p:sp>
      </p:grpSp>
      <p:grpSp>
        <p:nvGrpSpPr>
          <p:cNvPr id="8" name="Group 28"/>
          <p:cNvGrpSpPr/>
          <p:nvPr/>
        </p:nvGrpSpPr>
        <p:grpSpPr>
          <a:xfrm>
            <a:off x="8839201" y="4038601"/>
            <a:ext cx="1374775" cy="538163"/>
            <a:chOff x="0" y="0"/>
            <a:chExt cx="866" cy="339"/>
          </a:xfrm>
        </p:grpSpPr>
        <p:sp>
          <p:nvSpPr>
            <p:cNvPr id="57369" name="Rectangle 29"/>
            <p:cNvSpPr/>
            <p:nvPr/>
          </p:nvSpPr>
          <p:spPr>
            <a:xfrm>
              <a:off x="288" y="0"/>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8080"/>
                  </a:solidFill>
                </a:rPr>
                <a:t>56</a:t>
              </a:r>
              <a:endParaRPr lang="zh-CN" altLang="zh-CN" sz="3600" dirty="0"/>
            </a:p>
          </p:txBody>
        </p:sp>
        <p:sp>
          <p:nvSpPr>
            <p:cNvPr id="57370" name="Line 30"/>
            <p:cNvSpPr/>
            <p:nvPr/>
          </p:nvSpPr>
          <p:spPr>
            <a:xfrm>
              <a:off x="672" y="0"/>
              <a:ext cx="0" cy="336"/>
            </a:xfrm>
            <a:prstGeom prst="line">
              <a:avLst/>
            </a:prstGeom>
            <a:ln w="9525" cap="flat" cmpd="sng">
              <a:solidFill>
                <a:srgbClr val="008080"/>
              </a:solidFill>
              <a:prstDash val="solid"/>
              <a:headEnd type="none" w="med" len="med"/>
              <a:tailEnd type="none" w="med" len="med"/>
            </a:ln>
          </p:spPr>
        </p:sp>
        <p:sp>
          <p:nvSpPr>
            <p:cNvPr id="57371" name="Text Box 31"/>
            <p:cNvSpPr txBox="1"/>
            <p:nvPr/>
          </p:nvSpPr>
          <p:spPr>
            <a:xfrm>
              <a:off x="618" y="9"/>
              <a:ext cx="248"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2800" b="1" dirty="0">
                  <a:solidFill>
                    <a:srgbClr val="008080"/>
                  </a:solidFill>
                </a:rPr>
                <a:t>∧</a:t>
              </a:r>
              <a:endParaRPr lang="zh-CN" altLang="zh-CN" sz="3600" dirty="0"/>
            </a:p>
          </p:txBody>
        </p:sp>
        <p:sp>
          <p:nvSpPr>
            <p:cNvPr id="57372" name="Line 32"/>
            <p:cNvSpPr/>
            <p:nvPr/>
          </p:nvSpPr>
          <p:spPr>
            <a:xfrm>
              <a:off x="0" y="192"/>
              <a:ext cx="288" cy="0"/>
            </a:xfrm>
            <a:prstGeom prst="line">
              <a:avLst/>
            </a:prstGeom>
            <a:ln w="25400" cap="flat" cmpd="sng">
              <a:solidFill>
                <a:srgbClr val="008080"/>
              </a:solidFill>
              <a:prstDash val="solid"/>
              <a:headEnd type="oval" w="sm" len="sm"/>
              <a:tailEnd type="triangle" w="med" len="lg"/>
            </a:ln>
          </p:spPr>
        </p:sp>
      </p:grpSp>
      <p:grpSp>
        <p:nvGrpSpPr>
          <p:cNvPr id="9" name="Group 33"/>
          <p:cNvGrpSpPr/>
          <p:nvPr/>
        </p:nvGrpSpPr>
        <p:grpSpPr>
          <a:xfrm>
            <a:off x="3448050" y="4648200"/>
            <a:ext cx="438150" cy="990600"/>
            <a:chOff x="0" y="0"/>
            <a:chExt cx="276" cy="624"/>
          </a:xfrm>
        </p:grpSpPr>
        <p:sp>
          <p:nvSpPr>
            <p:cNvPr id="57367" name="Line 34"/>
            <p:cNvSpPr/>
            <p:nvPr/>
          </p:nvSpPr>
          <p:spPr>
            <a:xfrm>
              <a:off x="36" y="0"/>
              <a:ext cx="0" cy="624"/>
            </a:xfrm>
            <a:prstGeom prst="line">
              <a:avLst/>
            </a:prstGeom>
            <a:ln w="31750" cap="flat" cmpd="sng">
              <a:solidFill>
                <a:srgbClr val="990000"/>
              </a:solidFill>
              <a:prstDash val="solid"/>
              <a:headEnd type="triangle" w="med" len="lg"/>
              <a:tailEnd type="none" w="med" len="med"/>
            </a:ln>
          </p:spPr>
        </p:sp>
        <p:sp>
          <p:nvSpPr>
            <p:cNvPr id="57368" name="Text Box 35"/>
            <p:cNvSpPr txBox="1"/>
            <p:nvPr/>
          </p:nvSpPr>
          <p:spPr>
            <a:xfrm>
              <a:off x="0" y="172"/>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990000"/>
                  </a:solidFill>
                </a:rPr>
                <a:t>p</a:t>
              </a:r>
              <a:endParaRPr lang="zh-CN" altLang="zh-CN" sz="3600" dirty="0"/>
            </a:p>
          </p:txBody>
        </p:sp>
      </p:grpSp>
      <p:grpSp>
        <p:nvGrpSpPr>
          <p:cNvPr id="10" name="Group 36"/>
          <p:cNvGrpSpPr/>
          <p:nvPr/>
        </p:nvGrpSpPr>
        <p:grpSpPr>
          <a:xfrm>
            <a:off x="4648200" y="4648200"/>
            <a:ext cx="438150" cy="990600"/>
            <a:chOff x="0" y="0"/>
            <a:chExt cx="276" cy="624"/>
          </a:xfrm>
        </p:grpSpPr>
        <p:sp>
          <p:nvSpPr>
            <p:cNvPr id="57365" name="Line 37"/>
            <p:cNvSpPr/>
            <p:nvPr/>
          </p:nvSpPr>
          <p:spPr>
            <a:xfrm>
              <a:off x="36" y="0"/>
              <a:ext cx="0" cy="624"/>
            </a:xfrm>
            <a:prstGeom prst="line">
              <a:avLst/>
            </a:prstGeom>
            <a:ln w="31750" cap="flat" cmpd="sng">
              <a:solidFill>
                <a:srgbClr val="990000"/>
              </a:solidFill>
              <a:prstDash val="solid"/>
              <a:headEnd type="triangle" w="med" len="lg"/>
              <a:tailEnd type="none" w="med" len="med"/>
            </a:ln>
          </p:spPr>
        </p:sp>
        <p:sp>
          <p:nvSpPr>
            <p:cNvPr id="57366" name="Text Box 38"/>
            <p:cNvSpPr txBox="1"/>
            <p:nvPr/>
          </p:nvSpPr>
          <p:spPr>
            <a:xfrm>
              <a:off x="0" y="172"/>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990000"/>
                  </a:solidFill>
                </a:rPr>
                <a:t>p</a:t>
              </a:r>
              <a:endParaRPr lang="zh-CN" altLang="zh-CN" sz="3600" dirty="0"/>
            </a:p>
          </p:txBody>
        </p:sp>
      </p:grpSp>
      <p:grpSp>
        <p:nvGrpSpPr>
          <p:cNvPr id="11" name="Group 39"/>
          <p:cNvGrpSpPr/>
          <p:nvPr/>
        </p:nvGrpSpPr>
        <p:grpSpPr>
          <a:xfrm>
            <a:off x="5886450" y="4648200"/>
            <a:ext cx="438150" cy="990600"/>
            <a:chOff x="0" y="0"/>
            <a:chExt cx="276" cy="624"/>
          </a:xfrm>
        </p:grpSpPr>
        <p:sp>
          <p:nvSpPr>
            <p:cNvPr id="57363" name="Line 40"/>
            <p:cNvSpPr/>
            <p:nvPr/>
          </p:nvSpPr>
          <p:spPr>
            <a:xfrm>
              <a:off x="36" y="0"/>
              <a:ext cx="0" cy="624"/>
            </a:xfrm>
            <a:prstGeom prst="line">
              <a:avLst/>
            </a:prstGeom>
            <a:ln w="31750" cap="flat" cmpd="sng">
              <a:solidFill>
                <a:srgbClr val="990000"/>
              </a:solidFill>
              <a:prstDash val="solid"/>
              <a:headEnd type="triangle" w="med" len="lg"/>
              <a:tailEnd type="none" w="med" len="med"/>
            </a:ln>
          </p:spPr>
        </p:sp>
        <p:sp>
          <p:nvSpPr>
            <p:cNvPr id="57364" name="Text Box 41"/>
            <p:cNvSpPr txBox="1"/>
            <p:nvPr/>
          </p:nvSpPr>
          <p:spPr>
            <a:xfrm>
              <a:off x="0" y="172"/>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990000"/>
                  </a:solidFill>
                </a:rPr>
                <a:t>p</a:t>
              </a:r>
              <a:endParaRPr lang="zh-CN" altLang="zh-CN" sz="3600" dirty="0"/>
            </a:p>
          </p:txBody>
        </p:sp>
      </p:grpSp>
      <p:sp>
        <p:nvSpPr>
          <p:cNvPr id="68650" name="Text Box 42"/>
          <p:cNvSpPr txBox="1"/>
          <p:nvPr/>
        </p:nvSpPr>
        <p:spPr>
          <a:xfrm>
            <a:off x="4387850" y="5867400"/>
            <a:ext cx="3365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FF0000"/>
                </a:solidFill>
              </a:rPr>
              <a:t>j</a:t>
            </a:r>
            <a:endParaRPr lang="zh-CN" altLang="zh-CN" sz="3600" dirty="0"/>
          </a:p>
        </p:txBody>
      </p:sp>
      <p:sp>
        <p:nvSpPr>
          <p:cNvPr id="68651" name="Text Box 43"/>
          <p:cNvSpPr txBox="1"/>
          <p:nvPr/>
        </p:nvSpPr>
        <p:spPr>
          <a:xfrm>
            <a:off x="4845050" y="5902326"/>
            <a:ext cx="641350" cy="650875"/>
          </a:xfrm>
          <a:prstGeom prst="rect">
            <a:avLst/>
          </a:prstGeom>
          <a:solidFill>
            <a:srgbClr val="FFFF99">
              <a:alpha val="50195"/>
            </a:srgbClr>
          </a:solidFill>
          <a:ln w="9525" cap="flat" cmpd="sng">
            <a:solidFill>
              <a:srgbClr val="99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ClrTx/>
              <a:buNone/>
            </a:pPr>
            <a:r>
              <a:rPr lang="zh-CN" altLang="zh-CN" sz="3600" b="1" dirty="0">
                <a:solidFill>
                  <a:srgbClr val="660033"/>
                </a:solidFill>
              </a:rPr>
              <a:t>1</a:t>
            </a:r>
            <a:endParaRPr lang="zh-CN" altLang="zh-CN" sz="3600" dirty="0"/>
          </a:p>
        </p:txBody>
      </p:sp>
      <p:sp>
        <p:nvSpPr>
          <p:cNvPr id="68652" name="Text Box 44"/>
          <p:cNvSpPr txBox="1"/>
          <p:nvPr/>
        </p:nvSpPr>
        <p:spPr>
          <a:xfrm>
            <a:off x="4845050" y="5902326"/>
            <a:ext cx="641350" cy="650875"/>
          </a:xfrm>
          <a:prstGeom prst="rect">
            <a:avLst/>
          </a:prstGeom>
          <a:solidFill>
            <a:srgbClr val="FFFF99"/>
          </a:solidFill>
          <a:ln w="9525" cap="flat" cmpd="sng">
            <a:solidFill>
              <a:srgbClr val="99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ClrTx/>
              <a:buNone/>
            </a:pPr>
            <a:r>
              <a:rPr lang="zh-CN" altLang="zh-CN" sz="3600" b="1" dirty="0">
                <a:solidFill>
                  <a:srgbClr val="660033"/>
                </a:solidFill>
              </a:rPr>
              <a:t>2</a:t>
            </a:r>
            <a:endParaRPr lang="zh-CN" altLang="zh-CN" sz="3600" dirty="0"/>
          </a:p>
        </p:txBody>
      </p:sp>
      <p:sp>
        <p:nvSpPr>
          <p:cNvPr id="68653" name="Text Box 45"/>
          <p:cNvSpPr txBox="1"/>
          <p:nvPr/>
        </p:nvSpPr>
        <p:spPr>
          <a:xfrm>
            <a:off x="4845050" y="5902326"/>
            <a:ext cx="641350" cy="650875"/>
          </a:xfrm>
          <a:prstGeom prst="rect">
            <a:avLst/>
          </a:prstGeom>
          <a:solidFill>
            <a:srgbClr val="FFFF99"/>
          </a:solidFill>
          <a:ln w="9525" cap="flat" cmpd="sng">
            <a:solidFill>
              <a:srgbClr val="99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0"/>
              </a:spcBef>
              <a:buClrTx/>
              <a:buNone/>
            </a:pPr>
            <a:r>
              <a:rPr lang="zh-CN" altLang="zh-CN" sz="3600" b="1" dirty="0">
                <a:solidFill>
                  <a:srgbClr val="660033"/>
                </a:solidFill>
              </a:rPr>
              <a:t>3</a:t>
            </a:r>
            <a:endParaRPr lang="zh-CN" altLang="zh-CN" sz="3600" dirty="0"/>
          </a:p>
        </p:txBody>
      </p:sp>
      <p:sp useBgFill="1">
        <p:nvSpPr>
          <p:cNvPr id="68654" name="Rectangle 46"/>
          <p:cNvSpPr/>
          <p:nvPr/>
        </p:nvSpPr>
        <p:spPr>
          <a:xfrm>
            <a:off x="3352800" y="4648200"/>
            <a:ext cx="457200" cy="1143000"/>
          </a:xfrm>
          <a:prstGeom prst="rect">
            <a:avLst/>
          </a:prstGeom>
          <a:ln w="9525">
            <a:noFill/>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 useBgFill="1">
        <p:nvSpPr>
          <p:cNvPr id="68655" name="Rectangle 47"/>
          <p:cNvSpPr/>
          <p:nvPr/>
        </p:nvSpPr>
        <p:spPr>
          <a:xfrm>
            <a:off x="4572000" y="4648200"/>
            <a:ext cx="457200" cy="1143000"/>
          </a:xfrm>
          <a:prstGeom prst="rect">
            <a:avLst/>
          </a:prstGeom>
          <a:ln w="9525">
            <a:noFill/>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68615"/>
                                        </p:tgtEl>
                                        <p:attrNameLst>
                                          <p:attrName>style.visibility</p:attrName>
                                        </p:attrNameLst>
                                      </p:cBhvr>
                                      <p:to>
                                        <p:strVal val="visible"/>
                                      </p:to>
                                    </p:set>
                                    <p:anim calcmode="lin" valueType="num">
                                      <p:cBhvr additive="base">
                                        <p:cTn id="7" dur="500" fill="hold"/>
                                        <p:tgtEl>
                                          <p:spTgt spid="68615"/>
                                        </p:tgtEl>
                                        <p:attrNameLst>
                                          <p:attrName>ppt_x</p:attrName>
                                        </p:attrNameLst>
                                      </p:cBhvr>
                                      <p:tavLst>
                                        <p:tav tm="0">
                                          <p:val>
                                            <p:strVal val="#ppt_x"/>
                                          </p:val>
                                        </p:tav>
                                        <p:tav tm="100000">
                                          <p:val>
                                            <p:strVal val="#ppt_x"/>
                                          </p:val>
                                        </p:tav>
                                      </p:tavLst>
                                    </p:anim>
                                    <p:anim calcmode="lin" valueType="num">
                                      <p:cBhvr additive="base">
                                        <p:cTn id="8" dur="500" fill="hold"/>
                                        <p:tgtEl>
                                          <p:spTgt spid="6861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par>
                          <p:cTn id="34" fill="hold">
                            <p:stCondLst>
                              <p:cond delay="3000"/>
                            </p:stCondLst>
                            <p:childTnLst>
                              <p:par>
                                <p:cTn id="35" presetID="22" presetClass="entr" presetSubtype="8"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8650"/>
                                        </p:tgtEl>
                                        <p:attrNameLst>
                                          <p:attrName>style.visibility</p:attrName>
                                        </p:attrNameLst>
                                      </p:cBhvr>
                                      <p:to>
                                        <p:strVal val="visible"/>
                                      </p:to>
                                    </p:set>
                                    <p:animEffect transition="in" filter="wipe(left)">
                                      <p:cBhvr>
                                        <p:cTn id="47" dur="500"/>
                                        <p:tgtEl>
                                          <p:spTgt spid="68650"/>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68651"/>
                                        </p:tgtEl>
                                        <p:attrNameLst>
                                          <p:attrName>style.visibility</p:attrName>
                                        </p:attrNameLst>
                                      </p:cBhvr>
                                      <p:to>
                                        <p:strVal val="visible"/>
                                      </p:to>
                                    </p:set>
                                    <p:animEffect transition="in" filter="wipe(left)">
                                      <p:cBhvr>
                                        <p:cTn id="51" dur="500"/>
                                        <p:tgtEl>
                                          <p:spTgt spid="6865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68654"/>
                                        </p:tgtEl>
                                        <p:attrNameLst>
                                          <p:attrName>style.visibility</p:attrName>
                                        </p:attrNameLst>
                                      </p:cBhvr>
                                      <p:to>
                                        <p:strVal val="visible"/>
                                      </p:to>
                                    </p:set>
                                    <p:animEffect transition="in" filter="wipe(left)">
                                      <p:cBhvr>
                                        <p:cTn id="56" dur="500"/>
                                        <p:tgtEl>
                                          <p:spTgt spid="68654"/>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left)">
                                      <p:cBhvr>
                                        <p:cTn id="60" dur="500"/>
                                        <p:tgtEl>
                                          <p:spTgt spid="10"/>
                                        </p:tgtEl>
                                      </p:cBhvr>
                                    </p:animEffect>
                                  </p:childTnLst>
                                </p:cTn>
                              </p:par>
                            </p:childTnLst>
                          </p:cTn>
                        </p:par>
                        <p:par>
                          <p:cTn id="61" fill="hold">
                            <p:stCondLst>
                              <p:cond delay="1000"/>
                            </p:stCondLst>
                            <p:childTnLst>
                              <p:par>
                                <p:cTn id="62" presetID="22" presetClass="entr" presetSubtype="8" fill="hold" nodeType="afterEffect">
                                  <p:stCondLst>
                                    <p:cond delay="0"/>
                                  </p:stCondLst>
                                  <p:childTnLst>
                                    <p:set>
                                      <p:cBhvr>
                                        <p:cTn id="63" dur="1" fill="hold">
                                          <p:stCondLst>
                                            <p:cond delay="0"/>
                                          </p:stCondLst>
                                        </p:cTn>
                                        <p:tgtEl>
                                          <p:spTgt spid="68652"/>
                                        </p:tgtEl>
                                        <p:attrNameLst>
                                          <p:attrName>style.visibility</p:attrName>
                                        </p:attrNameLst>
                                      </p:cBhvr>
                                      <p:to>
                                        <p:strVal val="visible"/>
                                      </p:to>
                                    </p:set>
                                    <p:animEffect transition="in" filter="wipe(left)">
                                      <p:cBhvr>
                                        <p:cTn id="64" dur="500"/>
                                        <p:tgtEl>
                                          <p:spTgt spid="6865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68655"/>
                                        </p:tgtEl>
                                        <p:attrNameLst>
                                          <p:attrName>style.visibility</p:attrName>
                                        </p:attrNameLst>
                                      </p:cBhvr>
                                      <p:to>
                                        <p:strVal val="visible"/>
                                      </p:to>
                                    </p:set>
                                    <p:animEffect transition="in" filter="wipe(left)">
                                      <p:cBhvr>
                                        <p:cTn id="69" dur="500"/>
                                        <p:tgtEl>
                                          <p:spTgt spid="68655"/>
                                        </p:tgtEl>
                                      </p:cBhvr>
                                    </p:animEffect>
                                  </p:childTnLst>
                                </p:cTn>
                              </p:par>
                            </p:childTnLst>
                          </p:cTn>
                        </p:par>
                        <p:par>
                          <p:cTn id="70" fill="hold">
                            <p:stCondLst>
                              <p:cond delay="500"/>
                            </p:stCondLst>
                            <p:childTnLst>
                              <p:par>
                                <p:cTn id="71" presetID="22" presetClass="entr" presetSubtype="8" fill="hold" nodeType="after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wipe(left)">
                                      <p:cBhvr>
                                        <p:cTn id="73" dur="500"/>
                                        <p:tgtEl>
                                          <p:spTgt spid="11"/>
                                        </p:tgtEl>
                                      </p:cBhvr>
                                    </p:animEffect>
                                  </p:childTnLst>
                                </p:cTn>
                              </p:par>
                            </p:childTnLst>
                          </p:cTn>
                        </p:par>
                        <p:par>
                          <p:cTn id="74" fill="hold">
                            <p:stCondLst>
                              <p:cond delay="1000"/>
                            </p:stCondLst>
                            <p:childTnLst>
                              <p:par>
                                <p:cTn id="75" presetID="22" presetClass="entr" presetSubtype="8" fill="hold" nodeType="afterEffect">
                                  <p:stCondLst>
                                    <p:cond delay="0"/>
                                  </p:stCondLst>
                                  <p:childTnLst>
                                    <p:set>
                                      <p:cBhvr>
                                        <p:cTn id="76" dur="1" fill="hold">
                                          <p:stCondLst>
                                            <p:cond delay="0"/>
                                          </p:stCondLst>
                                        </p:cTn>
                                        <p:tgtEl>
                                          <p:spTgt spid="68653"/>
                                        </p:tgtEl>
                                        <p:attrNameLst>
                                          <p:attrName>style.visibility</p:attrName>
                                        </p:attrNameLst>
                                      </p:cBhvr>
                                      <p:to>
                                        <p:strVal val="visible"/>
                                      </p:to>
                                    </p:set>
                                    <p:animEffect transition="in" filter="wipe(left)">
                                      <p:cBhvr>
                                        <p:cTn id="77" dur="500"/>
                                        <p:tgtEl>
                                          <p:spTgt spid="68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5" grpId="0"/>
      <p:bldP spid="68650" grpId="0"/>
      <p:bldP spid="68651" grpId="0" animBg="1"/>
      <p:bldP spid="68652" grpId="0" animBg="1"/>
      <p:bldP spid="68653" grpId="0" animBg="1"/>
      <p:bldP spid="68654" grpId="0" animBg="1"/>
      <p:bldP spid="6865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p:nvPr/>
        </p:nvSpPr>
        <p:spPr>
          <a:xfrm>
            <a:off x="695400" y="2803525"/>
            <a:ext cx="10225136" cy="1716752"/>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5000"/>
              </a:lnSpc>
              <a:spcBef>
                <a:spcPct val="0"/>
              </a:spcBef>
              <a:buClrTx/>
              <a:buNone/>
            </a:pPr>
            <a:r>
              <a:rPr lang="zh-CN" altLang="zh-CN" sz="4000" b="1" dirty="0">
                <a:solidFill>
                  <a:srgbClr val="333399"/>
                </a:solidFill>
                <a:ea typeface="隶书" panose="02010509060101010101" pitchFamily="49" charset="-122"/>
              </a:rPr>
              <a:t>  </a:t>
            </a:r>
            <a:r>
              <a:rPr lang="zh-CN" altLang="zh-CN" sz="4000" b="1" dirty="0">
                <a:solidFill>
                  <a:srgbClr val="660033"/>
                </a:solidFill>
                <a:ea typeface="隶书" panose="02010509060101010101" pitchFamily="49" charset="-122"/>
              </a:rPr>
              <a:t>因此，查找第 i 个数据元素的基本操作为：</a:t>
            </a:r>
            <a:r>
              <a:rPr lang="zh-CN" altLang="zh-CN" sz="4000" b="1" dirty="0">
                <a:solidFill>
                  <a:srgbClr val="FF0000"/>
                </a:solidFill>
                <a:ea typeface="隶书" panose="02010509060101010101" pitchFamily="49" charset="-122"/>
              </a:rPr>
              <a:t>移动指针，比较 j 和 i </a:t>
            </a:r>
            <a:r>
              <a:rPr lang="zh-CN" altLang="zh-CN" sz="4000" b="1" dirty="0">
                <a:solidFill>
                  <a:srgbClr val="993366"/>
                </a:solidFill>
                <a:latin typeface="楷体_GB2312" pitchFamily="49" charset="-122"/>
                <a:ea typeface="楷体_GB2312" pitchFamily="49" charset="-122"/>
              </a:rPr>
              <a:t>。</a:t>
            </a:r>
            <a:r>
              <a:rPr lang="zh-CN" altLang="zh-CN" sz="4800" dirty="0"/>
              <a:t> </a:t>
            </a:r>
          </a:p>
        </p:txBody>
      </p:sp>
      <p:sp>
        <p:nvSpPr>
          <p:cNvPr id="58371" name="Text Box 3"/>
          <p:cNvSpPr txBox="1"/>
          <p:nvPr/>
        </p:nvSpPr>
        <p:spPr>
          <a:xfrm>
            <a:off x="1055440" y="436564"/>
            <a:ext cx="9231561" cy="142353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5000"/>
              </a:lnSpc>
              <a:spcBef>
                <a:spcPct val="0"/>
              </a:spcBef>
              <a:buClrTx/>
              <a:buNone/>
            </a:pPr>
            <a:r>
              <a:rPr lang="zh-CN" altLang="zh-CN" sz="3600" b="1" dirty="0">
                <a:solidFill>
                  <a:srgbClr val="000099"/>
                </a:solidFill>
                <a:ea typeface="楷体_GB2312" pitchFamily="49" charset="-122"/>
              </a:rPr>
              <a:t>  单链表是一种顺序存取的结构，为找第 i 个数据元素，必须先找到第 i-1 个数据元素。</a:t>
            </a:r>
            <a:endParaRPr lang="zh-CN" altLang="zh-CN" sz="3600" dirty="0"/>
          </a:p>
        </p:txBody>
      </p:sp>
      <p:sp>
        <p:nvSpPr>
          <p:cNvPr id="69636" name="Rectangle 4"/>
          <p:cNvSpPr/>
          <p:nvPr/>
        </p:nvSpPr>
        <p:spPr>
          <a:xfrm>
            <a:off x="623392" y="5067957"/>
            <a:ext cx="10945216" cy="7914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5000"/>
              </a:lnSpc>
              <a:spcBef>
                <a:spcPct val="0"/>
              </a:spcBef>
              <a:buClrTx/>
              <a:buNone/>
            </a:pPr>
            <a:r>
              <a:rPr lang="zh-CN" altLang="zh-CN" sz="4000" b="1" dirty="0">
                <a:solidFill>
                  <a:srgbClr val="993366"/>
                </a:solidFill>
                <a:latin typeface="楷体_GB2312" pitchFamily="49" charset="-122"/>
                <a:ea typeface="楷体_GB2312" pitchFamily="49" charset="-122"/>
              </a:rPr>
              <a:t>  令指针 </a:t>
            </a:r>
            <a:r>
              <a:rPr lang="zh-CN" altLang="zh-CN" sz="4000" b="1" dirty="0">
                <a:solidFill>
                  <a:srgbClr val="CC0000"/>
                </a:solidFill>
                <a:latin typeface="楷体_GB2312" pitchFamily="49" charset="-122"/>
                <a:ea typeface="楷体_GB2312" pitchFamily="49" charset="-122"/>
              </a:rPr>
              <a:t>p</a:t>
            </a:r>
            <a:r>
              <a:rPr lang="zh-CN" altLang="zh-CN" sz="4000" b="1" dirty="0">
                <a:solidFill>
                  <a:srgbClr val="993366"/>
                </a:solidFill>
                <a:latin typeface="楷体_GB2312" pitchFamily="49" charset="-122"/>
                <a:ea typeface="楷体_GB2312" pitchFamily="49" charset="-122"/>
              </a:rPr>
              <a:t> 始终</a:t>
            </a:r>
            <a:r>
              <a:rPr lang="zh-CN" altLang="zh-CN" sz="4000" b="1" dirty="0">
                <a:solidFill>
                  <a:srgbClr val="CC0000"/>
                </a:solidFill>
                <a:latin typeface="楷体_GB2312" pitchFamily="49" charset="-122"/>
                <a:ea typeface="楷体_GB2312" pitchFamily="49" charset="-122"/>
              </a:rPr>
              <a:t>指向</a:t>
            </a:r>
            <a:r>
              <a:rPr lang="zh-CN" altLang="zh-CN" sz="4000" b="1" dirty="0">
                <a:solidFill>
                  <a:srgbClr val="993366"/>
                </a:solidFill>
                <a:latin typeface="楷体_GB2312" pitchFamily="49" charset="-122"/>
                <a:ea typeface="楷体_GB2312" pitchFamily="49" charset="-122"/>
              </a:rPr>
              <a:t>线性表中第 </a:t>
            </a:r>
            <a:r>
              <a:rPr lang="zh-CN" altLang="zh-CN" sz="4000" b="1" dirty="0">
                <a:solidFill>
                  <a:srgbClr val="CC0000"/>
                </a:solidFill>
                <a:latin typeface="楷体_GB2312" pitchFamily="49" charset="-122"/>
                <a:ea typeface="楷体_GB2312" pitchFamily="49" charset="-122"/>
              </a:rPr>
              <a:t>j</a:t>
            </a:r>
            <a:r>
              <a:rPr lang="zh-CN" altLang="zh-CN" sz="4000" b="1" dirty="0">
                <a:solidFill>
                  <a:srgbClr val="993366"/>
                </a:solidFill>
                <a:latin typeface="楷体_GB2312" pitchFamily="49" charset="-122"/>
                <a:ea typeface="楷体_GB2312" pitchFamily="49" charset="-122"/>
              </a:rPr>
              <a:t> 个数据元素。</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nodeType="clickEffect">
                                  <p:stCondLst>
                                    <p:cond delay="0"/>
                                  </p:stCondLst>
                                  <p:childTnLst>
                                    <p:set>
                                      <p:cBhvr>
                                        <p:cTn id="6" dur="1" fill="hold">
                                          <p:stCondLst>
                                            <p:cond delay="0"/>
                                          </p:stCondLst>
                                        </p:cTn>
                                        <p:tgtEl>
                                          <p:spTgt spid="69634"/>
                                        </p:tgtEl>
                                        <p:attrNameLst>
                                          <p:attrName>style.visibility</p:attrName>
                                        </p:attrNameLst>
                                      </p:cBhvr>
                                      <p:to>
                                        <p:strVal val="visible"/>
                                      </p:to>
                                    </p:set>
                                    <p:animEffect transition="in" filter="checkerboard(down)">
                                      <p:cBhvr>
                                        <p:cTn id="7" dur="500"/>
                                        <p:tgtEl>
                                          <p:spTgt spid="696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iterate type="lt">
                                    <p:tmPct val="100000"/>
                                  </p:iterate>
                                  <p:childTnLst>
                                    <p:set>
                                      <p:cBhvr>
                                        <p:cTn id="11" dur="1" fill="hold">
                                          <p:stCondLst>
                                            <p:cond delay="0"/>
                                          </p:stCondLst>
                                        </p:cTn>
                                        <p:tgtEl>
                                          <p:spTgt spid="69636"/>
                                        </p:tgtEl>
                                        <p:attrNameLst>
                                          <p:attrName>style.visibility</p:attrName>
                                        </p:attrNameLst>
                                      </p:cBhvr>
                                      <p:to>
                                        <p:strVal val="visible"/>
                                      </p:to>
                                    </p:set>
                                    <p:animEffect transition="in" filter="wipe(left)">
                                      <p:cBhvr>
                                        <p:cTn id="12" dur="75"/>
                                        <p:tgtEl>
                                          <p:spTgt spid="69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p:bldP spid="6963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p:nvPr/>
        </p:nvSpPr>
        <p:spPr>
          <a:xfrm>
            <a:off x="191344" y="76200"/>
            <a:ext cx="11881320" cy="575914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05000"/>
              </a:lnSpc>
              <a:spcBef>
                <a:spcPct val="0"/>
              </a:spcBef>
              <a:buClrTx/>
              <a:buNone/>
            </a:pPr>
            <a:r>
              <a:rPr lang="en-US" altLang="zh-CN" dirty="0" err="1">
                <a:solidFill>
                  <a:srgbClr val="000099"/>
                </a:solidFill>
              </a:rPr>
              <a:t>ElemType</a:t>
            </a:r>
            <a:r>
              <a:rPr lang="en-US" altLang="zh-CN" dirty="0">
                <a:solidFill>
                  <a:srgbClr val="000099"/>
                </a:solidFill>
              </a:rPr>
              <a:t> </a:t>
            </a:r>
            <a:r>
              <a:rPr lang="zh-CN" altLang="zh-CN" dirty="0">
                <a:solidFill>
                  <a:srgbClr val="000099"/>
                </a:solidFill>
              </a:rPr>
              <a:t>GetElem (LinkList L, </a:t>
            </a:r>
            <a:r>
              <a:rPr lang="zh-CN" altLang="zh-CN" b="1" dirty="0">
                <a:solidFill>
                  <a:srgbClr val="000099"/>
                </a:solidFill>
              </a:rPr>
              <a:t>int</a:t>
            </a:r>
            <a:r>
              <a:rPr lang="zh-CN" altLang="zh-CN" dirty="0">
                <a:solidFill>
                  <a:srgbClr val="000099"/>
                </a:solidFill>
              </a:rPr>
              <a:t> i) </a:t>
            </a:r>
            <a:r>
              <a:rPr lang="zh-CN" altLang="zh-CN" b="1" dirty="0">
                <a:solidFill>
                  <a:srgbClr val="000099"/>
                </a:solidFill>
              </a:rPr>
              <a:t>{</a:t>
            </a:r>
            <a:endParaRPr lang="zh-CN" altLang="zh-CN" dirty="0">
              <a:solidFill>
                <a:srgbClr val="000099"/>
              </a:solidFill>
            </a:endParaRPr>
          </a:p>
          <a:p>
            <a:pPr marL="0" indent="0" eaLnBrk="1" hangingPunct="1">
              <a:lnSpc>
                <a:spcPct val="105000"/>
              </a:lnSpc>
              <a:spcBef>
                <a:spcPct val="0"/>
              </a:spcBef>
              <a:buClrTx/>
              <a:buNone/>
            </a:pPr>
            <a:r>
              <a:rPr lang="zh-CN" altLang="zh-CN" b="1" dirty="0">
                <a:solidFill>
                  <a:srgbClr val="000099"/>
                </a:solidFill>
              </a:rPr>
              <a:t>   // L</a:t>
            </a:r>
            <a:r>
              <a:rPr lang="zh-CN" altLang="zh-CN" sz="2800" b="1" dirty="0">
                <a:solidFill>
                  <a:srgbClr val="000099"/>
                </a:solidFill>
                <a:ea typeface="楷体_GB2312" pitchFamily="49" charset="-122"/>
              </a:rPr>
              <a:t>是带头结点的链表的头指针，以 e 返回第 i 个元素</a:t>
            </a:r>
            <a:endParaRPr lang="en-US" altLang="zh-CN" sz="2800" b="1" dirty="0">
              <a:solidFill>
                <a:srgbClr val="000099"/>
              </a:solidFill>
              <a:ea typeface="楷体_GB2312" pitchFamily="49" charset="-122"/>
            </a:endParaRPr>
          </a:p>
          <a:p>
            <a:pPr marL="0" indent="0" eaLnBrk="1" hangingPunct="1">
              <a:lnSpc>
                <a:spcPct val="105000"/>
              </a:lnSpc>
              <a:spcBef>
                <a:spcPct val="0"/>
              </a:spcBef>
              <a:buClrTx/>
              <a:buNone/>
            </a:pPr>
            <a:endParaRPr lang="zh-CN" altLang="zh-CN" b="1" dirty="0">
              <a:solidFill>
                <a:srgbClr val="000099"/>
              </a:solidFill>
            </a:endParaRPr>
          </a:p>
          <a:p>
            <a:pPr marL="0" indent="0" eaLnBrk="1" hangingPunct="1">
              <a:lnSpc>
                <a:spcPct val="105000"/>
              </a:lnSpc>
              <a:spcBef>
                <a:spcPct val="0"/>
              </a:spcBef>
              <a:buClrTx/>
              <a:buNone/>
            </a:pPr>
            <a:endParaRPr lang="zh-CN" altLang="zh-CN" b="1" dirty="0"/>
          </a:p>
          <a:p>
            <a:pPr marL="0" indent="0" eaLnBrk="1" hangingPunct="1">
              <a:lnSpc>
                <a:spcPct val="105000"/>
              </a:lnSpc>
              <a:spcBef>
                <a:spcPct val="0"/>
              </a:spcBef>
              <a:buClrTx/>
              <a:buNone/>
            </a:pPr>
            <a:endParaRPr lang="zh-CN" altLang="zh-CN" b="1" dirty="0"/>
          </a:p>
          <a:p>
            <a:pPr marL="0" indent="0" eaLnBrk="1" hangingPunct="1">
              <a:lnSpc>
                <a:spcPct val="105000"/>
              </a:lnSpc>
              <a:spcBef>
                <a:spcPct val="0"/>
              </a:spcBef>
              <a:buClrTx/>
              <a:buNone/>
            </a:pPr>
            <a:endParaRPr lang="zh-CN" altLang="zh-CN" b="1" dirty="0"/>
          </a:p>
          <a:p>
            <a:pPr marL="0" indent="0" eaLnBrk="1" hangingPunct="1">
              <a:lnSpc>
                <a:spcPct val="105000"/>
              </a:lnSpc>
              <a:spcBef>
                <a:spcPct val="0"/>
              </a:spcBef>
              <a:buClrTx/>
              <a:buNone/>
            </a:pPr>
            <a:endParaRPr lang="zh-CN" altLang="zh-CN" b="1" dirty="0"/>
          </a:p>
          <a:p>
            <a:pPr marL="0" indent="0" eaLnBrk="1" hangingPunct="1">
              <a:lnSpc>
                <a:spcPct val="105000"/>
              </a:lnSpc>
              <a:spcBef>
                <a:spcPct val="0"/>
              </a:spcBef>
              <a:buClrTx/>
              <a:buNone/>
            </a:pPr>
            <a:endParaRPr lang="zh-CN" altLang="zh-CN" b="1" dirty="0"/>
          </a:p>
          <a:p>
            <a:pPr marL="0" indent="0" eaLnBrk="1" hangingPunct="1">
              <a:lnSpc>
                <a:spcPct val="105000"/>
              </a:lnSpc>
              <a:spcBef>
                <a:spcPct val="0"/>
              </a:spcBef>
              <a:buClrTx/>
              <a:buNone/>
            </a:pPr>
            <a:endParaRPr lang="zh-CN" altLang="zh-CN" b="1" dirty="0"/>
          </a:p>
          <a:p>
            <a:pPr marL="0" indent="0" eaLnBrk="1" hangingPunct="1">
              <a:lnSpc>
                <a:spcPct val="105000"/>
              </a:lnSpc>
              <a:spcBef>
                <a:spcPct val="0"/>
              </a:spcBef>
              <a:buClrTx/>
              <a:buNone/>
            </a:pPr>
            <a:endParaRPr lang="zh-CN" altLang="zh-CN" b="1" dirty="0"/>
          </a:p>
          <a:p>
            <a:pPr marL="0" indent="0" eaLnBrk="1" hangingPunct="1">
              <a:lnSpc>
                <a:spcPct val="105000"/>
              </a:lnSpc>
              <a:spcBef>
                <a:spcPct val="0"/>
              </a:spcBef>
              <a:buClrTx/>
              <a:buNone/>
            </a:pPr>
            <a:r>
              <a:rPr lang="zh-CN" altLang="zh-CN" b="1" dirty="0">
                <a:solidFill>
                  <a:srgbClr val="000099"/>
                </a:solidFill>
              </a:rPr>
              <a:t>}</a:t>
            </a:r>
            <a:r>
              <a:rPr lang="zh-CN" altLang="zh-CN" dirty="0">
                <a:solidFill>
                  <a:srgbClr val="000099"/>
                </a:solidFill>
              </a:rPr>
              <a:t> // GetElem_L</a:t>
            </a:r>
          </a:p>
        </p:txBody>
      </p:sp>
      <p:sp>
        <p:nvSpPr>
          <p:cNvPr id="70659" name="Text Box 3"/>
          <p:cNvSpPr txBox="1"/>
          <p:nvPr/>
        </p:nvSpPr>
        <p:spPr>
          <a:xfrm>
            <a:off x="5257800" y="5562601"/>
            <a:ext cx="398780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2800" b="1" dirty="0">
                <a:ea typeface="隶书" panose="02010509060101010101" pitchFamily="49" charset="-122"/>
              </a:rPr>
              <a:t>算法</a:t>
            </a:r>
            <a:r>
              <a:rPr lang="zh-CN" altLang="zh-CN" sz="4000" b="1" dirty="0">
                <a:solidFill>
                  <a:srgbClr val="FF0000"/>
                </a:solidFill>
                <a:ea typeface="隶书" panose="02010509060101010101" pitchFamily="49" charset="-122"/>
              </a:rPr>
              <a:t>时间复杂度</a:t>
            </a:r>
            <a:r>
              <a:rPr lang="zh-CN" altLang="zh-CN" b="1" dirty="0">
                <a:ea typeface="隶书" panose="02010509060101010101" pitchFamily="49" charset="-122"/>
              </a:rPr>
              <a:t>为</a:t>
            </a:r>
            <a:r>
              <a:rPr lang="zh-CN" altLang="zh-CN" dirty="0"/>
              <a:t>:</a:t>
            </a:r>
            <a:endParaRPr lang="zh-CN" altLang="zh-CN" sz="4000" dirty="0"/>
          </a:p>
        </p:txBody>
      </p:sp>
      <p:sp>
        <p:nvSpPr>
          <p:cNvPr id="70660" name="Text Box 4"/>
          <p:cNvSpPr txBox="1"/>
          <p:nvPr/>
        </p:nvSpPr>
        <p:spPr>
          <a:xfrm>
            <a:off x="5403850" y="6140450"/>
            <a:ext cx="2699393" cy="6463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t>O(ListLen (L))</a:t>
            </a:r>
            <a:endParaRPr lang="zh-CN" altLang="zh-CN" sz="2400" dirty="0"/>
          </a:p>
        </p:txBody>
      </p:sp>
      <p:sp>
        <p:nvSpPr>
          <p:cNvPr id="70664" name="AutoShape 8">
            <a:hlinkClick r:id="rId3" action="ppaction://hlinksldjump"/>
          </p:cNvPr>
          <p:cNvSpPr/>
          <p:nvPr/>
        </p:nvSpPr>
        <p:spPr>
          <a:xfrm>
            <a:off x="10058400" y="6248400"/>
            <a:ext cx="381000" cy="381000"/>
          </a:xfrm>
          <a:prstGeom prst="actionButtonBackPrevious">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
        <p:nvSpPr>
          <p:cNvPr id="2" name="文本框 56">
            <a:extLst>
              <a:ext uri="{FF2B5EF4-FFF2-40B4-BE49-F238E27FC236}">
                <a16:creationId xmlns:a16="http://schemas.microsoft.com/office/drawing/2014/main" id="{51025859-EEEE-C6CC-810F-B0DB10D3D744}"/>
              </a:ext>
            </a:extLst>
          </p:cNvPr>
          <p:cNvSpPr txBox="1"/>
          <p:nvPr/>
        </p:nvSpPr>
        <p:spPr>
          <a:xfrm>
            <a:off x="887578" y="1253842"/>
            <a:ext cx="10537014"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2400" b="1" dirty="0">
                <a:latin typeface="Courier New" panose="02070309020205020404" pitchFamily="49" charset="0"/>
                <a:cs typeface="Courier New" panose="02070309020205020404" pitchFamily="49" charset="0"/>
              </a:rPr>
              <a:t> (!</a:t>
            </a:r>
            <a:r>
              <a:rPr lang="nn-NO" altLang="zh-CN" sz="2400" b="1" dirty="0">
                <a:latin typeface="Courier New" panose="02070309020205020404" pitchFamily="49" charset="0"/>
                <a:cs typeface="Courier New" panose="02070309020205020404" pitchFamily="49" charset="0"/>
              </a:rPr>
              <a:t>L || i&lt;1) </a:t>
            </a:r>
            <a:r>
              <a:rPr lang="nn-NO" altLang="zh-CN" sz="2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nn-NO" altLang="zh-CN" sz="2400" b="1" dirty="0">
                <a:latin typeface="Courier New" panose="02070309020205020404" pitchFamily="49" charset="0"/>
                <a:cs typeface="Courier New" panose="02070309020205020404" pitchFamily="49" charset="0"/>
              </a:rPr>
              <a:t> ERROR;  </a:t>
            </a:r>
            <a:r>
              <a:rPr lang="nn-NO" altLang="zh-CN" sz="2400" dirty="0">
                <a:solidFill>
                  <a:srgbClr val="0070C0"/>
                </a:solidFill>
                <a:latin typeface="Courier New" panose="02070309020205020404" pitchFamily="49" charset="0"/>
                <a:cs typeface="Courier New" panose="02070309020205020404" pitchFamily="49" charset="0"/>
              </a:rPr>
              <a:t>//</a:t>
            </a:r>
            <a:r>
              <a:rPr lang="nn-NO" altLang="zh-CN" sz="2400" b="1" dirty="0">
                <a:solidFill>
                  <a:srgbClr val="0070C0"/>
                </a:solidFill>
                <a:latin typeface="Courier New" panose="02070309020205020404" pitchFamily="49" charset="0"/>
                <a:cs typeface="Courier New" panose="02070309020205020404" pitchFamily="49" charset="0"/>
              </a:rPr>
              <a:t> </a:t>
            </a:r>
            <a:r>
              <a:rPr lang="zh-CN" altLang="en-US" sz="2400" b="1" dirty="0">
                <a:solidFill>
                  <a:srgbClr val="0070C0"/>
                </a:solidFill>
                <a:latin typeface="Courier New" panose="02070309020205020404" pitchFamily="49" charset="0"/>
                <a:cs typeface="Courier New" panose="02070309020205020404" pitchFamily="49" charset="0"/>
              </a:rPr>
              <a:t>若</a:t>
            </a:r>
            <a:r>
              <a:rPr lang="en-US" altLang="zh-CN" sz="2400" b="1" dirty="0">
                <a:solidFill>
                  <a:srgbClr val="C00000"/>
                </a:solidFill>
                <a:latin typeface="Courier New" panose="02070309020205020404" pitchFamily="49" charset="0"/>
                <a:cs typeface="Courier New" panose="02070309020205020404" pitchFamily="49" charset="0"/>
              </a:rPr>
              <a:t>L</a:t>
            </a:r>
            <a:r>
              <a:rPr lang="zh-CN" altLang="en-US" sz="2400" b="1" dirty="0">
                <a:solidFill>
                  <a:srgbClr val="0070C0"/>
                </a:solidFill>
                <a:latin typeface="Courier New" panose="02070309020205020404" pitchFamily="49" charset="0"/>
                <a:cs typeface="Courier New" panose="02070309020205020404" pitchFamily="49" charset="0"/>
              </a:rPr>
              <a:t>不存在或</a:t>
            </a:r>
            <a:r>
              <a:rPr lang="en-US" altLang="zh-CN" sz="2400" b="1" dirty="0" err="1">
                <a:solidFill>
                  <a:srgbClr val="C00000"/>
                </a:solidFill>
                <a:latin typeface="Courier New" panose="02070309020205020404" pitchFamily="49" charset="0"/>
                <a:cs typeface="Courier New" panose="02070309020205020404" pitchFamily="49" charset="0"/>
              </a:rPr>
              <a:t>i</a:t>
            </a:r>
            <a:r>
              <a:rPr lang="zh-CN" altLang="en-US" sz="2400" b="1" dirty="0">
                <a:solidFill>
                  <a:srgbClr val="0070C0"/>
                </a:solidFill>
                <a:latin typeface="Courier New" panose="02070309020205020404" pitchFamily="49" charset="0"/>
                <a:cs typeface="Courier New" panose="02070309020205020404" pitchFamily="49" charset="0"/>
              </a:rPr>
              <a:t>不合法，则报错</a:t>
            </a:r>
            <a:endParaRPr lang="nn-NO" altLang="zh-CN" sz="2400" b="1" dirty="0">
              <a:solidFill>
                <a:srgbClr val="0070C0"/>
              </a:solidFill>
              <a:latin typeface="Courier New" panose="02070309020205020404" pitchFamily="49" charset="0"/>
              <a:cs typeface="Courier New" panose="02070309020205020404" pitchFamily="49" charset="0"/>
            </a:endParaRPr>
          </a:p>
        </p:txBody>
      </p:sp>
      <p:sp>
        <p:nvSpPr>
          <p:cNvPr id="3" name="文本框 56">
            <a:extLst>
              <a:ext uri="{FF2B5EF4-FFF2-40B4-BE49-F238E27FC236}">
                <a16:creationId xmlns:a16="http://schemas.microsoft.com/office/drawing/2014/main" id="{335019C8-ECDA-49C7-75BB-E69CA627D191}"/>
              </a:ext>
            </a:extLst>
          </p:cNvPr>
          <p:cNvSpPr txBox="1"/>
          <p:nvPr/>
        </p:nvSpPr>
        <p:spPr>
          <a:xfrm>
            <a:off x="860299" y="1787042"/>
            <a:ext cx="11041070"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Lnode</a:t>
            </a:r>
            <a:r>
              <a:rPr lang="en-US" altLang="zh-CN"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*p = L-&gt;next; int j=1;    </a:t>
            </a:r>
            <a:r>
              <a:rPr lang="en-US" altLang="zh-CN" sz="2400" dirty="0">
                <a:solidFill>
                  <a:srgbClr val="0070C0"/>
                </a:solidFill>
                <a:latin typeface="Courier New" panose="02070309020205020404" pitchFamily="49" charset="0"/>
                <a:cs typeface="Courier New" panose="02070309020205020404" pitchFamily="49" charset="0"/>
              </a:rPr>
              <a:t>//p</a:t>
            </a:r>
            <a:r>
              <a:rPr lang="zh-CN" altLang="en-US" sz="2400" dirty="0">
                <a:solidFill>
                  <a:srgbClr val="0070C0"/>
                </a:solidFill>
                <a:latin typeface="Courier New" panose="02070309020205020404" pitchFamily="49" charset="0"/>
                <a:cs typeface="Courier New" panose="02070309020205020404" pitchFamily="49" charset="0"/>
              </a:rPr>
              <a:t>指向第一个结点，</a:t>
            </a:r>
            <a:r>
              <a:rPr lang="en-US" altLang="zh-CN" sz="2400" dirty="0">
                <a:solidFill>
                  <a:srgbClr val="0070C0"/>
                </a:solidFill>
                <a:latin typeface="Courier New" panose="02070309020205020404" pitchFamily="49" charset="0"/>
                <a:cs typeface="Courier New" panose="02070309020205020404" pitchFamily="49" charset="0"/>
              </a:rPr>
              <a:t>j</a:t>
            </a:r>
            <a:r>
              <a:rPr lang="zh-CN" altLang="en-US" sz="2400" dirty="0">
                <a:solidFill>
                  <a:srgbClr val="0070C0"/>
                </a:solidFill>
                <a:latin typeface="Courier New" panose="02070309020205020404" pitchFamily="49" charset="0"/>
                <a:cs typeface="Courier New" panose="02070309020205020404" pitchFamily="49" charset="0"/>
              </a:rPr>
              <a:t>是计数器</a:t>
            </a:r>
            <a:endParaRPr lang="nn-NO" altLang="zh-CN" sz="2400" dirty="0">
              <a:solidFill>
                <a:srgbClr val="0070C0"/>
              </a:solidFill>
              <a:latin typeface="Courier New" panose="02070309020205020404" pitchFamily="49" charset="0"/>
              <a:cs typeface="Courier New" panose="02070309020205020404" pitchFamily="49" charset="0"/>
            </a:endParaRPr>
          </a:p>
        </p:txBody>
      </p:sp>
      <p:sp>
        <p:nvSpPr>
          <p:cNvPr id="5" name="文本框 56">
            <a:extLst>
              <a:ext uri="{FF2B5EF4-FFF2-40B4-BE49-F238E27FC236}">
                <a16:creationId xmlns:a16="http://schemas.microsoft.com/office/drawing/2014/main" id="{F66EABB6-88AB-CAB6-F5D4-551D339EE9CC}"/>
              </a:ext>
            </a:extLst>
          </p:cNvPr>
          <p:cNvSpPr txBox="1"/>
          <p:nvPr/>
        </p:nvSpPr>
        <p:spPr>
          <a:xfrm>
            <a:off x="887577" y="2566828"/>
            <a:ext cx="10805157"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While(p&amp;&amp;j&lt;</a:t>
            </a:r>
            <a:r>
              <a:rPr lang="en-US" altLang="zh-CN" sz="2400"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en-US" altLang="zh-CN"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{p = p-&gt;next; ++j;}</a:t>
            </a:r>
          </a:p>
          <a:p>
            <a:r>
              <a:rPr lang="en-US" altLang="zh-CN" sz="2400"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2400"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顺着指针找</a:t>
            </a:r>
            <a:r>
              <a:rPr lang="en-US" altLang="zh-CN" sz="2400"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p</a:t>
            </a:r>
            <a:r>
              <a:rPr lang="zh-CN" altLang="en-US" sz="2400"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中执行的第</a:t>
            </a:r>
            <a:r>
              <a:rPr lang="en-US" altLang="zh-CN" sz="2400" dirty="0" err="1">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zh-CN" altLang="en-US" sz="2400"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个元素</a:t>
            </a:r>
            <a:endParaRPr lang="nn-NO" altLang="zh-CN" sz="2400" dirty="0">
              <a:solidFill>
                <a:srgbClr val="0070C0"/>
              </a:solidFill>
              <a:latin typeface="Courier New" panose="02070309020205020404" pitchFamily="49" charset="0"/>
              <a:cs typeface="Courier New" panose="02070309020205020404" pitchFamily="49" charset="0"/>
            </a:endParaRPr>
          </a:p>
        </p:txBody>
      </p:sp>
      <p:sp>
        <p:nvSpPr>
          <p:cNvPr id="7" name="文本框 56">
            <a:extLst>
              <a:ext uri="{FF2B5EF4-FFF2-40B4-BE49-F238E27FC236}">
                <a16:creationId xmlns:a16="http://schemas.microsoft.com/office/drawing/2014/main" id="{90A2460A-7ADE-83B1-AC6F-1F5E633A0F80}"/>
              </a:ext>
            </a:extLst>
          </p:cNvPr>
          <p:cNvSpPr txBox="1"/>
          <p:nvPr/>
        </p:nvSpPr>
        <p:spPr>
          <a:xfrm>
            <a:off x="860299" y="3649215"/>
            <a:ext cx="10805157"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if(!p) return </a:t>
            </a:r>
            <a:r>
              <a:rPr lang="en-US" altLang="zh-CN" sz="2400"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errV</a:t>
            </a:r>
            <a:r>
              <a:rPr lang="zh-CN" altLang="en-US"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2400"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//p</a:t>
            </a:r>
            <a:r>
              <a:rPr lang="zh-CN" altLang="en-US" sz="2400"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是空指针，链表中不存在第</a:t>
            </a:r>
            <a:r>
              <a:rPr lang="en-US" altLang="zh-CN" sz="2400" dirty="0" err="1">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zh-CN" altLang="en-US" sz="2400"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个元素</a:t>
            </a:r>
            <a:endParaRPr lang="nn-NO" altLang="zh-CN" sz="2400" dirty="0">
              <a:solidFill>
                <a:srgbClr val="0070C0"/>
              </a:solidFill>
              <a:latin typeface="Courier New" panose="02070309020205020404" pitchFamily="49" charset="0"/>
              <a:cs typeface="Courier New" panose="02070309020205020404" pitchFamily="49" charset="0"/>
            </a:endParaRPr>
          </a:p>
        </p:txBody>
      </p:sp>
      <p:sp>
        <p:nvSpPr>
          <p:cNvPr id="9" name="文本框 56">
            <a:extLst>
              <a:ext uri="{FF2B5EF4-FFF2-40B4-BE49-F238E27FC236}">
                <a16:creationId xmlns:a16="http://schemas.microsoft.com/office/drawing/2014/main" id="{45B82CBF-9FEF-CB65-17E0-ED6E89C29CC4}"/>
              </a:ext>
            </a:extLst>
          </p:cNvPr>
          <p:cNvSpPr txBox="1"/>
          <p:nvPr/>
        </p:nvSpPr>
        <p:spPr>
          <a:xfrm>
            <a:off x="860298" y="4409353"/>
            <a:ext cx="10805157"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 p-&gt;data;    </a:t>
            </a:r>
            <a:r>
              <a:rPr lang="en-US" altLang="zh-CN" sz="2400"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2400"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返回第</a:t>
            </a:r>
            <a:r>
              <a:rPr lang="en-US" altLang="zh-CN" sz="2400" dirty="0" err="1">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zh-CN" altLang="en-US" sz="2400"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个数据元素</a:t>
            </a:r>
            <a:endParaRPr lang="nn-NO" altLang="zh-CN" sz="2400" dirty="0">
              <a:solidFill>
                <a:srgbClr val="0070C0"/>
              </a:solidFill>
              <a:latin typeface="Courier New" panose="02070309020205020404" pitchFamily="49" charset="0"/>
              <a:cs typeface="Courier New" panose="02070309020205020404" pitchFamily="49"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706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p:bldP spid="70659" grpId="0"/>
      <p:bldP spid="70659" grpId="1"/>
      <p:bldP spid="70660" grpId="0"/>
      <p:bldP spid="70664" grpId="0" animBg="1"/>
      <p:bldP spid="2" grpId="0"/>
      <p:bldP spid="3" grpId="0"/>
      <p:bldP spid="5" grpId="0"/>
      <p:bldP spid="7" grpId="0"/>
      <p:bldP spid="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95600" y="4572000"/>
            <a:ext cx="1981200" cy="609600"/>
            <a:chOff x="0" y="0"/>
            <a:chExt cx="1248" cy="384"/>
          </a:xfrm>
        </p:grpSpPr>
        <p:sp>
          <p:nvSpPr>
            <p:cNvPr id="60435" name="Rectangle 3"/>
            <p:cNvSpPr/>
            <p:nvPr/>
          </p:nvSpPr>
          <p:spPr>
            <a:xfrm>
              <a:off x="576" y="0"/>
              <a:ext cx="672" cy="384"/>
            </a:xfrm>
            <a:prstGeom prst="rect">
              <a:avLst/>
            </a:prstGeom>
            <a:solidFill>
              <a:srgbClr val="99CCFF">
                <a:alpha val="50195"/>
              </a:srgbClr>
            </a:solidFill>
            <a:ln w="22225" cap="flat" cmpd="sng">
              <a:solidFill>
                <a:srgbClr val="00008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0099"/>
                  </a:solidFill>
                </a:rPr>
                <a:t>a</a:t>
              </a:r>
              <a:r>
                <a:rPr lang="zh-CN" altLang="zh-CN" sz="3600" b="1" baseline="-25000" dirty="0">
                  <a:solidFill>
                    <a:srgbClr val="000099"/>
                  </a:solidFill>
                </a:rPr>
                <a:t>i-1</a:t>
              </a:r>
              <a:endParaRPr lang="zh-CN" altLang="zh-CN" sz="3600" dirty="0"/>
            </a:p>
          </p:txBody>
        </p:sp>
        <p:sp>
          <p:nvSpPr>
            <p:cNvPr id="60436" name="Line 4"/>
            <p:cNvSpPr/>
            <p:nvPr/>
          </p:nvSpPr>
          <p:spPr>
            <a:xfrm>
              <a:off x="1056" y="0"/>
              <a:ext cx="0" cy="384"/>
            </a:xfrm>
            <a:prstGeom prst="line">
              <a:avLst/>
            </a:prstGeom>
            <a:ln w="9525" cap="flat" cmpd="sng">
              <a:solidFill>
                <a:srgbClr val="000099"/>
              </a:solidFill>
              <a:prstDash val="solid"/>
              <a:headEnd type="none" w="med" len="med"/>
              <a:tailEnd type="none" w="med" len="med"/>
            </a:ln>
          </p:spPr>
        </p:sp>
        <p:sp>
          <p:nvSpPr>
            <p:cNvPr id="60437" name="Line 5"/>
            <p:cNvSpPr/>
            <p:nvPr/>
          </p:nvSpPr>
          <p:spPr>
            <a:xfrm>
              <a:off x="0" y="192"/>
              <a:ext cx="576" cy="0"/>
            </a:xfrm>
            <a:prstGeom prst="line">
              <a:avLst/>
            </a:prstGeom>
            <a:ln w="31750" cap="flat" cmpd="sng">
              <a:solidFill>
                <a:srgbClr val="000080"/>
              </a:solidFill>
              <a:prstDash val="solid"/>
              <a:headEnd type="oval" w="sm" len="sm"/>
              <a:tailEnd type="triangle" w="med" len="lg"/>
            </a:ln>
          </p:spPr>
        </p:sp>
      </p:grpSp>
      <p:sp>
        <p:nvSpPr>
          <p:cNvPr id="71686" name="Text Box 6"/>
          <p:cNvSpPr txBox="1"/>
          <p:nvPr/>
        </p:nvSpPr>
        <p:spPr>
          <a:xfrm>
            <a:off x="263352" y="228601"/>
            <a:ext cx="11305256" cy="190205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0000"/>
              </a:lnSpc>
              <a:spcBef>
                <a:spcPct val="0"/>
              </a:spcBef>
              <a:buClrTx/>
              <a:buNone/>
            </a:pPr>
            <a:r>
              <a:rPr lang="zh-CN" altLang="zh-CN" sz="5400" dirty="0"/>
              <a:t> </a:t>
            </a:r>
            <a:r>
              <a:rPr lang="zh-CN" altLang="zh-CN" sz="4000" dirty="0">
                <a:latin typeface="楷体_GB2312" pitchFamily="49" charset="-122"/>
                <a:ea typeface="楷体_GB2312" pitchFamily="49" charset="-122"/>
              </a:rPr>
              <a:t>线性表的操作</a:t>
            </a:r>
            <a:r>
              <a:rPr lang="zh-CN" altLang="zh-CN" sz="4400" dirty="0">
                <a:latin typeface="楷体_GB2312" pitchFamily="49" charset="-122"/>
                <a:ea typeface="楷体_GB2312" pitchFamily="49" charset="-122"/>
              </a:rPr>
              <a:t> </a:t>
            </a:r>
            <a:r>
              <a:rPr lang="zh-CN" altLang="zh-CN" sz="4400" b="1" dirty="0">
                <a:solidFill>
                  <a:srgbClr val="003399"/>
                </a:solidFill>
              </a:rPr>
              <a:t>ListInsert(L, i, e)</a:t>
            </a:r>
            <a:endParaRPr lang="zh-CN" altLang="zh-CN" sz="4400" dirty="0"/>
          </a:p>
          <a:p>
            <a:pPr marL="0" indent="0" eaLnBrk="1" hangingPunct="1">
              <a:lnSpc>
                <a:spcPct val="120000"/>
              </a:lnSpc>
              <a:spcBef>
                <a:spcPct val="0"/>
              </a:spcBef>
              <a:buClrTx/>
              <a:buNone/>
            </a:pPr>
            <a:r>
              <a:rPr lang="zh-CN" altLang="zh-CN" sz="4400" dirty="0"/>
              <a:t> </a:t>
            </a:r>
            <a:r>
              <a:rPr lang="zh-CN" altLang="zh-CN" sz="4000" dirty="0">
                <a:ea typeface="楷体_GB2312" pitchFamily="49" charset="-122"/>
              </a:rPr>
              <a:t>在单链表中的实现</a:t>
            </a:r>
            <a:r>
              <a:rPr lang="zh-CN" altLang="zh-CN" sz="4000" dirty="0"/>
              <a:t>：</a:t>
            </a:r>
            <a:endParaRPr lang="zh-CN" altLang="zh-CN" sz="4400" dirty="0"/>
          </a:p>
        </p:txBody>
      </p:sp>
      <p:sp>
        <p:nvSpPr>
          <p:cNvPr id="71687" name="Text Box 7"/>
          <p:cNvSpPr txBox="1"/>
          <p:nvPr/>
        </p:nvSpPr>
        <p:spPr>
          <a:xfrm>
            <a:off x="551384" y="2286000"/>
            <a:ext cx="11017224" cy="132343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0"/>
              </a:spcBef>
              <a:buClrTx/>
              <a:buNone/>
            </a:pPr>
            <a:r>
              <a:rPr lang="zh-CN" altLang="zh-CN" sz="4000" dirty="0"/>
              <a:t> </a:t>
            </a:r>
            <a:r>
              <a:rPr lang="zh-CN" altLang="zh-CN" sz="4000" b="1" dirty="0">
                <a:solidFill>
                  <a:srgbClr val="000099"/>
                </a:solidFill>
              </a:rPr>
              <a:t>有序对 &lt;a</a:t>
            </a:r>
            <a:r>
              <a:rPr lang="zh-CN" altLang="zh-CN" sz="4000" b="1" baseline="-25000" dirty="0">
                <a:solidFill>
                  <a:srgbClr val="000099"/>
                </a:solidFill>
              </a:rPr>
              <a:t>i-1</a:t>
            </a:r>
            <a:r>
              <a:rPr lang="zh-CN" altLang="zh-CN" sz="4000" b="1" dirty="0">
                <a:solidFill>
                  <a:srgbClr val="000099"/>
                </a:solidFill>
              </a:rPr>
              <a:t>, a</a:t>
            </a:r>
            <a:r>
              <a:rPr lang="zh-CN" altLang="zh-CN" sz="4000" b="1" baseline="-25000" dirty="0">
                <a:solidFill>
                  <a:srgbClr val="000099"/>
                </a:solidFill>
              </a:rPr>
              <a:t>i</a:t>
            </a:r>
            <a:r>
              <a:rPr lang="zh-CN" altLang="zh-CN" sz="4000" b="1" dirty="0">
                <a:solidFill>
                  <a:srgbClr val="000099"/>
                </a:solidFill>
              </a:rPr>
              <a:t>&gt;改变为 &lt;a</a:t>
            </a:r>
            <a:r>
              <a:rPr lang="zh-CN" altLang="zh-CN" sz="4000" b="1" baseline="-25000" dirty="0">
                <a:solidFill>
                  <a:srgbClr val="000099"/>
                </a:solidFill>
              </a:rPr>
              <a:t>i-1</a:t>
            </a:r>
            <a:r>
              <a:rPr lang="zh-CN" altLang="zh-CN" sz="4000" b="1" dirty="0">
                <a:solidFill>
                  <a:srgbClr val="000099"/>
                </a:solidFill>
              </a:rPr>
              <a:t>, e&gt; 和&lt;e, a</a:t>
            </a:r>
            <a:r>
              <a:rPr lang="zh-CN" altLang="zh-CN" sz="4000" b="1" baseline="-25000" dirty="0">
                <a:solidFill>
                  <a:srgbClr val="000099"/>
                </a:solidFill>
              </a:rPr>
              <a:t>i</a:t>
            </a:r>
            <a:r>
              <a:rPr lang="zh-CN" altLang="zh-CN" sz="4000" b="1" dirty="0">
                <a:solidFill>
                  <a:srgbClr val="000099"/>
                </a:solidFill>
              </a:rPr>
              <a:t>&gt;</a:t>
            </a:r>
            <a:endParaRPr lang="zh-CN" altLang="zh-CN" sz="4400" dirty="0"/>
          </a:p>
          <a:p>
            <a:pPr marL="0" indent="0" eaLnBrk="1" hangingPunct="1">
              <a:spcBef>
                <a:spcPct val="0"/>
              </a:spcBef>
              <a:buClrTx/>
              <a:buNone/>
            </a:pPr>
            <a:endParaRPr lang="zh-CN" altLang="zh-CN" sz="2400" dirty="0"/>
          </a:p>
        </p:txBody>
      </p:sp>
      <p:grpSp>
        <p:nvGrpSpPr>
          <p:cNvPr id="3" name="Group 8"/>
          <p:cNvGrpSpPr/>
          <p:nvPr/>
        </p:nvGrpSpPr>
        <p:grpSpPr>
          <a:xfrm>
            <a:off x="5562600" y="5715000"/>
            <a:ext cx="1066800" cy="609600"/>
            <a:chOff x="0" y="0"/>
            <a:chExt cx="672" cy="384"/>
          </a:xfrm>
        </p:grpSpPr>
        <p:sp>
          <p:nvSpPr>
            <p:cNvPr id="60433" name="Rectangle 9"/>
            <p:cNvSpPr/>
            <p:nvPr/>
          </p:nvSpPr>
          <p:spPr>
            <a:xfrm>
              <a:off x="0" y="0"/>
              <a:ext cx="672" cy="384"/>
            </a:xfrm>
            <a:prstGeom prst="rect">
              <a:avLst/>
            </a:prstGeom>
            <a:solidFill>
              <a:srgbClr val="FFCC99">
                <a:alpha val="50195"/>
              </a:srgbClr>
            </a:solidFill>
            <a:ln w="25400" cap="flat" cmpd="sng">
              <a:solidFill>
                <a:srgbClr val="9933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990000"/>
                  </a:solidFill>
                </a:rPr>
                <a:t> e</a:t>
              </a:r>
              <a:endParaRPr lang="zh-CN" altLang="zh-CN" sz="3600" dirty="0"/>
            </a:p>
          </p:txBody>
        </p:sp>
        <p:sp>
          <p:nvSpPr>
            <p:cNvPr id="60434" name="Line 10"/>
            <p:cNvSpPr/>
            <p:nvPr/>
          </p:nvSpPr>
          <p:spPr>
            <a:xfrm>
              <a:off x="480" y="0"/>
              <a:ext cx="0" cy="384"/>
            </a:xfrm>
            <a:prstGeom prst="line">
              <a:avLst/>
            </a:prstGeom>
            <a:ln w="25400" cap="flat" cmpd="sng">
              <a:solidFill>
                <a:srgbClr val="993300"/>
              </a:solidFill>
              <a:prstDash val="solid"/>
              <a:headEnd type="none" w="med" len="med"/>
              <a:tailEnd type="none" w="med" len="med"/>
            </a:ln>
          </p:spPr>
        </p:sp>
      </p:grpSp>
      <p:grpSp>
        <p:nvGrpSpPr>
          <p:cNvPr id="4" name="Group 11"/>
          <p:cNvGrpSpPr/>
          <p:nvPr/>
        </p:nvGrpSpPr>
        <p:grpSpPr>
          <a:xfrm>
            <a:off x="4724400" y="4572000"/>
            <a:ext cx="3886200" cy="609600"/>
            <a:chOff x="0" y="0"/>
            <a:chExt cx="2448" cy="384"/>
          </a:xfrm>
        </p:grpSpPr>
        <p:sp>
          <p:nvSpPr>
            <p:cNvPr id="60429" name="Line 12"/>
            <p:cNvSpPr/>
            <p:nvPr/>
          </p:nvSpPr>
          <p:spPr>
            <a:xfrm>
              <a:off x="0" y="192"/>
              <a:ext cx="1344" cy="0"/>
            </a:xfrm>
            <a:prstGeom prst="line">
              <a:avLst/>
            </a:prstGeom>
            <a:ln w="31750" cap="flat" cmpd="sng">
              <a:solidFill>
                <a:srgbClr val="000080"/>
              </a:solidFill>
              <a:prstDash val="solid"/>
              <a:headEnd type="oval" w="sm" len="sm"/>
              <a:tailEnd type="triangle" w="med" len="lg"/>
            </a:ln>
          </p:spPr>
        </p:sp>
        <p:sp>
          <p:nvSpPr>
            <p:cNvPr id="60430" name="Rectangle 13"/>
            <p:cNvSpPr/>
            <p:nvPr/>
          </p:nvSpPr>
          <p:spPr>
            <a:xfrm>
              <a:off x="1344" y="0"/>
              <a:ext cx="672" cy="384"/>
            </a:xfrm>
            <a:prstGeom prst="rect">
              <a:avLst/>
            </a:prstGeom>
            <a:solidFill>
              <a:srgbClr val="99CCFF">
                <a:alpha val="50195"/>
              </a:srgbClr>
            </a:solidFill>
            <a:ln w="22225" cap="flat" cmpd="sng">
              <a:solidFill>
                <a:srgbClr val="00008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0099"/>
                  </a:solidFill>
                </a:rPr>
                <a:t>a</a:t>
              </a:r>
              <a:r>
                <a:rPr lang="zh-CN" altLang="zh-CN" sz="3600" b="1" baseline="-25000" dirty="0">
                  <a:solidFill>
                    <a:srgbClr val="000099"/>
                  </a:solidFill>
                </a:rPr>
                <a:t>i</a:t>
              </a:r>
              <a:endParaRPr lang="zh-CN" altLang="zh-CN" sz="3600" dirty="0"/>
            </a:p>
          </p:txBody>
        </p:sp>
        <p:sp>
          <p:nvSpPr>
            <p:cNvPr id="60431" name="Line 14"/>
            <p:cNvSpPr/>
            <p:nvPr/>
          </p:nvSpPr>
          <p:spPr>
            <a:xfrm>
              <a:off x="1824" y="0"/>
              <a:ext cx="0" cy="384"/>
            </a:xfrm>
            <a:prstGeom prst="line">
              <a:avLst/>
            </a:prstGeom>
            <a:ln w="9525" cap="flat" cmpd="sng">
              <a:solidFill>
                <a:srgbClr val="000099"/>
              </a:solidFill>
              <a:prstDash val="solid"/>
              <a:headEnd type="none" w="med" len="med"/>
              <a:tailEnd type="none" w="med" len="med"/>
            </a:ln>
          </p:spPr>
        </p:sp>
        <p:sp>
          <p:nvSpPr>
            <p:cNvPr id="60432" name="Line 15"/>
            <p:cNvSpPr/>
            <p:nvPr/>
          </p:nvSpPr>
          <p:spPr>
            <a:xfrm>
              <a:off x="1920" y="192"/>
              <a:ext cx="528" cy="0"/>
            </a:xfrm>
            <a:prstGeom prst="line">
              <a:avLst/>
            </a:prstGeom>
            <a:ln w="31750" cap="flat" cmpd="sng">
              <a:solidFill>
                <a:srgbClr val="000080"/>
              </a:solidFill>
              <a:prstDash val="solid"/>
              <a:headEnd type="oval" w="sm" len="sm"/>
              <a:tailEnd type="triangle" w="med" len="lg"/>
            </a:ln>
          </p:spPr>
        </p:sp>
      </p:grpSp>
      <p:sp useBgFill="1">
        <p:nvSpPr>
          <p:cNvPr id="71696" name="Rectangle 16"/>
          <p:cNvSpPr/>
          <p:nvPr/>
        </p:nvSpPr>
        <p:spPr>
          <a:xfrm>
            <a:off x="4648200" y="4724400"/>
            <a:ext cx="2209800" cy="304800"/>
          </a:xfrm>
          <a:prstGeom prst="rect">
            <a:avLst/>
          </a:prstGeom>
          <a:ln w="9525">
            <a:noFill/>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grpSp>
        <p:nvGrpSpPr>
          <p:cNvPr id="5" name="Group 17"/>
          <p:cNvGrpSpPr/>
          <p:nvPr/>
        </p:nvGrpSpPr>
        <p:grpSpPr>
          <a:xfrm>
            <a:off x="3810000" y="4572000"/>
            <a:ext cx="1066800" cy="609600"/>
            <a:chOff x="0" y="0"/>
            <a:chExt cx="672" cy="384"/>
          </a:xfrm>
        </p:grpSpPr>
        <p:sp>
          <p:nvSpPr>
            <p:cNvPr id="60427" name="Rectangle 18"/>
            <p:cNvSpPr/>
            <p:nvPr/>
          </p:nvSpPr>
          <p:spPr>
            <a:xfrm>
              <a:off x="0" y="0"/>
              <a:ext cx="672" cy="384"/>
            </a:xfrm>
            <a:prstGeom prst="rect">
              <a:avLst/>
            </a:prstGeom>
            <a:solidFill>
              <a:srgbClr val="99CCFF">
                <a:alpha val="50195"/>
              </a:srgbClr>
            </a:solidFill>
            <a:ln w="22225" cap="flat" cmpd="sng">
              <a:solidFill>
                <a:srgbClr val="00008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0099"/>
                  </a:solidFill>
                </a:rPr>
                <a:t>a</a:t>
              </a:r>
              <a:r>
                <a:rPr lang="zh-CN" altLang="zh-CN" sz="3600" b="1" baseline="-25000" dirty="0">
                  <a:solidFill>
                    <a:srgbClr val="000099"/>
                  </a:solidFill>
                </a:rPr>
                <a:t>i-1</a:t>
              </a:r>
              <a:endParaRPr lang="zh-CN" altLang="zh-CN" sz="3600" dirty="0"/>
            </a:p>
          </p:txBody>
        </p:sp>
        <p:sp>
          <p:nvSpPr>
            <p:cNvPr id="60428" name="Line 19"/>
            <p:cNvSpPr/>
            <p:nvPr/>
          </p:nvSpPr>
          <p:spPr>
            <a:xfrm>
              <a:off x="480" y="0"/>
              <a:ext cx="0" cy="384"/>
            </a:xfrm>
            <a:prstGeom prst="line">
              <a:avLst/>
            </a:prstGeom>
            <a:ln w="9525" cap="flat" cmpd="sng">
              <a:solidFill>
                <a:srgbClr val="000099"/>
              </a:solidFill>
              <a:prstDash val="solid"/>
              <a:headEnd type="none" w="med" len="med"/>
              <a:tailEnd type="none" w="med" len="med"/>
            </a:ln>
          </p:spPr>
        </p:sp>
      </p:grpSp>
      <p:cxnSp>
        <p:nvCxnSpPr>
          <p:cNvPr id="71700" name="AutoShape 20"/>
          <p:cNvCxnSpPr/>
          <p:nvPr/>
        </p:nvCxnSpPr>
        <p:spPr>
          <a:xfrm>
            <a:off x="4887914" y="4876800"/>
            <a:ext cx="661987" cy="1143000"/>
          </a:xfrm>
          <a:prstGeom prst="bentConnector3">
            <a:avLst>
              <a:gd name="adj1" fmla="val 50120"/>
            </a:avLst>
          </a:prstGeom>
          <a:ln w="31750" cap="flat" cmpd="sng">
            <a:solidFill>
              <a:srgbClr val="008080"/>
            </a:solidFill>
            <a:prstDash val="solid"/>
            <a:miter/>
            <a:headEnd type="oval" w="sm" len="sm"/>
            <a:tailEnd type="triangle" w="med" len="lg"/>
          </a:ln>
        </p:spPr>
      </p:cxnSp>
      <p:cxnSp>
        <p:nvCxnSpPr>
          <p:cNvPr id="60426" name="AutoShape 21"/>
          <p:cNvCxnSpPr>
            <a:endCxn id="60430" idx="2"/>
          </p:cNvCxnSpPr>
          <p:nvPr/>
        </p:nvCxnSpPr>
        <p:spPr>
          <a:xfrm flipV="1">
            <a:off x="6642100" y="5192714"/>
            <a:ext cx="749300" cy="827087"/>
          </a:xfrm>
          <a:prstGeom prst="bentConnector2">
            <a:avLst/>
          </a:prstGeom>
          <a:ln w="31750" cap="flat" cmpd="sng">
            <a:solidFill>
              <a:srgbClr val="008080"/>
            </a:solidFill>
            <a:prstDash val="solid"/>
            <a:miter/>
            <a:headEnd type="oval" w="sm" len="sm"/>
            <a:tailEnd type="triangle" w="med" len="lg"/>
          </a:ln>
        </p:spPr>
      </p:cxn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71686"/>
                                        </p:tgtEl>
                                        <p:attrNameLst>
                                          <p:attrName>style.visibility</p:attrName>
                                        </p:attrNameLst>
                                      </p:cBhvr>
                                      <p:to>
                                        <p:strVal val="visible"/>
                                      </p:to>
                                    </p:set>
                                    <p:animEffect transition="in" filter="strips(downRight)">
                                      <p:cBhvr>
                                        <p:cTn id="7" dur="500"/>
                                        <p:tgtEl>
                                          <p:spTgt spid="7168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iterate type="wd">
                                    <p:tmPct val="100000"/>
                                  </p:iterate>
                                  <p:childTnLst>
                                    <p:set>
                                      <p:cBhvr>
                                        <p:cTn id="11" dur="1" fill="hold">
                                          <p:stCondLst>
                                            <p:cond delay="0"/>
                                          </p:stCondLst>
                                        </p:cTn>
                                        <p:tgtEl>
                                          <p:spTgt spid="71687"/>
                                        </p:tgtEl>
                                        <p:attrNameLst>
                                          <p:attrName>style.visibility</p:attrName>
                                        </p:attrNameLst>
                                      </p:cBhvr>
                                      <p:to>
                                        <p:strVal val="visible"/>
                                      </p:to>
                                    </p:set>
                                    <p:animEffect transition="in" filter="strips(downRight)">
                                      <p:cBhvr>
                                        <p:cTn id="12" dur="300"/>
                                        <p:tgtEl>
                                          <p:spTgt spid="716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60426"/>
                                        </p:tgtEl>
                                        <p:attrNameLst>
                                          <p:attrName>style.visibility</p:attrName>
                                        </p:attrNameLst>
                                      </p:cBhvr>
                                      <p:to>
                                        <p:strVal val="visible"/>
                                      </p:to>
                                    </p:set>
                                    <p:animEffect transition="in" filter="wipe(left)">
                                      <p:cBhvr>
                                        <p:cTn id="31" dur="500"/>
                                        <p:tgtEl>
                                          <p:spTgt spid="6042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71696"/>
                                        </p:tgtEl>
                                        <p:attrNameLst>
                                          <p:attrName>style.visibility</p:attrName>
                                        </p:attrNameLst>
                                      </p:cBhvr>
                                      <p:to>
                                        <p:strVal val="visible"/>
                                      </p:to>
                                    </p:set>
                                    <p:animEffect transition="in" filter="wipe(up)">
                                      <p:cBhvr>
                                        <p:cTn id="36" dur="500"/>
                                        <p:tgtEl>
                                          <p:spTgt spid="71696"/>
                                        </p:tgtEl>
                                      </p:cBhvr>
                                    </p:animEffec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499"/>
                                          </p:stCondLst>
                                        </p:cTn>
                                        <p:tgtEl>
                                          <p:spTgt spid="5"/>
                                        </p:tgtEl>
                                        <p:attrNameLst>
                                          <p:attrName>style.visibility</p:attrName>
                                        </p:attrNameLst>
                                      </p:cBhvr>
                                      <p:to>
                                        <p:strVal val="visible"/>
                                      </p:to>
                                    </p:set>
                                  </p:childTnLst>
                                </p:cTn>
                              </p:par>
                            </p:childTnLst>
                          </p:cTn>
                        </p:par>
                        <p:par>
                          <p:cTn id="40" fill="hold">
                            <p:stCondLst>
                              <p:cond delay="1000"/>
                            </p:stCondLst>
                            <p:childTnLst>
                              <p:par>
                                <p:cTn id="41" presetID="22" presetClass="entr" presetSubtype="8" fill="hold" nodeType="afterEffect">
                                  <p:stCondLst>
                                    <p:cond delay="0"/>
                                  </p:stCondLst>
                                  <p:childTnLst>
                                    <p:set>
                                      <p:cBhvr>
                                        <p:cTn id="42" dur="1" fill="hold">
                                          <p:stCondLst>
                                            <p:cond delay="0"/>
                                          </p:stCondLst>
                                        </p:cTn>
                                        <p:tgtEl>
                                          <p:spTgt spid="71700"/>
                                        </p:tgtEl>
                                        <p:attrNameLst>
                                          <p:attrName>style.visibility</p:attrName>
                                        </p:attrNameLst>
                                      </p:cBhvr>
                                      <p:to>
                                        <p:strVal val="visible"/>
                                      </p:to>
                                    </p:set>
                                    <p:animEffect transition="in" filter="wipe(left)">
                                      <p:cBhvr>
                                        <p:cTn id="43" dur="500"/>
                                        <p:tgtEl>
                                          <p:spTgt spid="71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6" grpId="0"/>
      <p:bldP spid="71687" grpId="0"/>
      <p:bldP spid="7169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p:nvPr/>
        </p:nvSpPr>
        <p:spPr>
          <a:xfrm>
            <a:off x="335360" y="3330576"/>
            <a:ext cx="11665296" cy="2116028"/>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5000"/>
              </a:lnSpc>
              <a:spcBef>
                <a:spcPct val="0"/>
              </a:spcBef>
              <a:buClrTx/>
              <a:buNone/>
            </a:pPr>
            <a:r>
              <a:rPr lang="zh-CN" altLang="zh-CN" sz="3600" b="1" dirty="0">
                <a:solidFill>
                  <a:srgbClr val="333399"/>
                </a:solidFill>
              </a:rPr>
              <a:t>    因此，在单链表中第 i 个结点之前进行插入的基本操作为:</a:t>
            </a:r>
            <a:r>
              <a:rPr lang="zh-CN" altLang="zh-CN" sz="3600" dirty="0"/>
              <a:t> </a:t>
            </a:r>
            <a:r>
              <a:rPr lang="zh-CN" altLang="zh-CN" sz="3600" b="1" dirty="0">
                <a:solidFill>
                  <a:srgbClr val="993366"/>
                </a:solidFill>
                <a:latin typeface="楷体_GB2312" pitchFamily="49" charset="-122"/>
                <a:ea typeface="楷体_GB2312" pitchFamily="49" charset="-122"/>
              </a:rPr>
              <a:t>找到线性表中第i-1个结点，然后修改其指向后继的指针。</a:t>
            </a:r>
            <a:endParaRPr lang="zh-CN" altLang="zh-CN" sz="3600" dirty="0">
              <a:solidFill>
                <a:srgbClr val="993366"/>
              </a:solidFill>
              <a:latin typeface="楷体_GB2312" pitchFamily="49" charset="-122"/>
              <a:ea typeface="楷体_GB2312" pitchFamily="49" charset="-122"/>
            </a:endParaRPr>
          </a:p>
        </p:txBody>
      </p:sp>
      <p:sp>
        <p:nvSpPr>
          <p:cNvPr id="61443" name="Text Box 3"/>
          <p:cNvSpPr txBox="1"/>
          <p:nvPr/>
        </p:nvSpPr>
        <p:spPr>
          <a:xfrm>
            <a:off x="335360" y="358776"/>
            <a:ext cx="11449272" cy="2116028"/>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5000"/>
              </a:lnSpc>
              <a:spcBef>
                <a:spcPct val="0"/>
              </a:spcBef>
              <a:buClrTx/>
              <a:buNone/>
            </a:pPr>
            <a:r>
              <a:rPr lang="zh-CN" altLang="zh-CN" sz="3600" b="1" dirty="0">
                <a:solidFill>
                  <a:srgbClr val="660033"/>
                </a:solidFill>
                <a:ea typeface="楷体_GB2312" pitchFamily="49" charset="-122"/>
              </a:rPr>
              <a:t>    可见，在链表中插入结点只需要修改指针。但同时，若要在第 i 个结点之前插入元素，修改的是第 i-1 个结点的指针</a:t>
            </a:r>
            <a:r>
              <a:rPr lang="zh-CN" altLang="en-US" sz="3600" b="1" dirty="0">
                <a:solidFill>
                  <a:srgbClr val="660033"/>
                </a:solidFill>
                <a:ea typeface="楷体_GB2312" pitchFamily="49" charset="-122"/>
              </a:rPr>
              <a:t>域</a:t>
            </a:r>
            <a:r>
              <a:rPr lang="zh-CN" altLang="zh-CN" sz="3600" b="1" dirty="0">
                <a:solidFill>
                  <a:srgbClr val="660033"/>
                </a:solidFill>
                <a:ea typeface="楷体_GB2312" pitchFamily="49" charset="-122"/>
              </a:rPr>
              <a:t>。</a:t>
            </a:r>
            <a:endParaRPr lang="zh-CN" altLang="zh-CN" sz="36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72706"/>
                                        </p:tgtEl>
                                        <p:attrNameLst>
                                          <p:attrName>style.visibility</p:attrName>
                                        </p:attrNameLst>
                                      </p:cBhvr>
                                      <p:to>
                                        <p:strVal val="visible"/>
                                      </p:to>
                                    </p:set>
                                    <p:animEffect transition="in" filter="blinds(vertical)">
                                      <p:cBhvr>
                                        <p:cTn id="7" dur="500"/>
                                        <p:tgtEl>
                                          <p:spTgt spid="72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EBDFF52-D2D6-74DD-381E-35A4A2627932}"/>
              </a:ext>
            </a:extLst>
          </p:cNvPr>
          <p:cNvSpPr>
            <a:spLocks noGrp="1"/>
          </p:cNvSpPr>
          <p:nvPr>
            <p:ph type="sldNum" sz="quarter" idx="4294967295"/>
          </p:nvPr>
        </p:nvSpPr>
        <p:spPr>
          <a:xfrm>
            <a:off x="8982739" y="6366983"/>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C0FE0B-717B-41AE-9FA2-CA4BF851D1C3}" type="slidenum">
              <a:rPr kumimoji="0" lang="zh-CN" altLang="en-US" sz="1200" b="0" i="0" u="none" strike="noStrike" kern="1200" cap="none" spc="0" normalizeH="0" baseline="0" noProof="0" smtClean="0">
                <a:ln>
                  <a:noFill/>
                </a:ln>
                <a:solidFill>
                  <a:prstClr val="black">
                    <a:tint val="82000"/>
                  </a:prstClr>
                </a:solidFill>
                <a:effectLst/>
                <a:uLnTx/>
                <a:uFillTx/>
                <a:latin typeface="Times New Roman" panose="020206030504050203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zh-CN" altLang="en-US" sz="1200" b="0" i="0" u="none" strike="noStrike" kern="1200" cap="none" spc="0" normalizeH="0" baseline="0" noProof="0" dirty="0">
              <a:ln>
                <a:noFill/>
              </a:ln>
              <a:solidFill>
                <a:prstClr val="black">
                  <a:tint val="82000"/>
                </a:prstClr>
              </a:solidFill>
              <a:effectLst/>
              <a:uLnTx/>
              <a:uFillTx/>
              <a:latin typeface="Times New Roman" panose="02020603050405020304"/>
              <a:ea typeface="宋体" panose="02010600030101010101" pitchFamily="2" charset="-122"/>
              <a:cs typeface="+mn-cs"/>
            </a:endParaRPr>
          </a:p>
        </p:txBody>
      </p:sp>
      <p:sp>
        <p:nvSpPr>
          <p:cNvPr id="55" name="标题 2">
            <a:extLst>
              <a:ext uri="{FF2B5EF4-FFF2-40B4-BE49-F238E27FC236}">
                <a16:creationId xmlns:a16="http://schemas.microsoft.com/office/drawing/2014/main" id="{028BD9DE-8897-8B32-832D-7466C3750324}"/>
              </a:ext>
            </a:extLst>
          </p:cNvPr>
          <p:cNvSpPr txBox="1">
            <a:spLocks/>
          </p:cNvSpPr>
          <p:nvPr/>
        </p:nvSpPr>
        <p:spPr>
          <a:xfrm>
            <a:off x="1324758" y="245325"/>
            <a:ext cx="8312489" cy="45668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799"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j-cs"/>
              </a:rPr>
              <a:t>带头结点的单链表第</a:t>
            </a:r>
            <a:r>
              <a:rPr kumimoji="0" lang="en-US" altLang="zh-CN" sz="2799" b="1" i="0" u="none" strike="noStrike" kern="1200" cap="none" spc="0" normalizeH="0" baseline="0" noProof="0" dirty="0" err="1">
                <a:ln>
                  <a:noFill/>
                </a:ln>
                <a:solidFill>
                  <a:srgbClr val="C000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rPr>
              <a:t>i</a:t>
            </a:r>
            <a:r>
              <a:rPr kumimoji="0" lang="zh-CN" altLang="en-US" sz="2799"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j-cs"/>
              </a:rPr>
              <a:t>个元素前插入元素</a:t>
            </a:r>
            <a:endParaRPr kumimoji="0" lang="zh-CN" altLang="en-US" sz="4400" b="0" i="0" u="none" strike="noStrike" kern="1200" cap="none" spc="0" normalizeH="0" baseline="0" noProof="0" dirty="0">
              <a:ln>
                <a:noFill/>
              </a:ln>
              <a:solidFill>
                <a:srgbClr val="002060"/>
              </a:solidFill>
              <a:effectLst/>
              <a:uLnTx/>
              <a:uFillTx/>
              <a:latin typeface="黑体" panose="02010609060101010101" pitchFamily="49" charset="-122"/>
              <a:ea typeface="黑体" panose="02010609060101010101" pitchFamily="49" charset="-122"/>
              <a:cs typeface="+mj-cs"/>
            </a:endParaRPr>
          </a:p>
        </p:txBody>
      </p:sp>
      <p:sp>
        <p:nvSpPr>
          <p:cNvPr id="56" name="文本框 55">
            <a:extLst>
              <a:ext uri="{FF2B5EF4-FFF2-40B4-BE49-F238E27FC236}">
                <a16:creationId xmlns:a16="http://schemas.microsoft.com/office/drawing/2014/main" id="{D9F6A6AA-3370-7974-11F8-65EDA3030CD6}"/>
              </a:ext>
            </a:extLst>
          </p:cNvPr>
          <p:cNvSpPr txBox="1"/>
          <p:nvPr/>
        </p:nvSpPr>
        <p:spPr>
          <a:xfrm>
            <a:off x="531941" y="910080"/>
            <a:ext cx="818685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Status</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ListInsert_L</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LinkList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57" name="文本框 56">
            <a:extLst>
              <a:ext uri="{FF2B5EF4-FFF2-40B4-BE49-F238E27FC236}">
                <a16:creationId xmlns:a16="http://schemas.microsoft.com/office/drawing/2014/main" id="{5F59665F-BD19-30B0-5EEC-EFE289A4A6D0}"/>
              </a:ext>
            </a:extLst>
          </p:cNvPr>
          <p:cNvSpPr txBox="1"/>
          <p:nvPr/>
        </p:nvSpPr>
        <p:spPr>
          <a:xfrm>
            <a:off x="874795" y="1635616"/>
            <a:ext cx="584892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LNode *s, *p = L;   </a:t>
            </a:r>
            <a:r>
              <a:rPr kumimoji="0" lang="nn-NO"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nn-NO"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j = 0;</a:t>
            </a:r>
          </a:p>
        </p:txBody>
      </p:sp>
      <p:sp>
        <p:nvSpPr>
          <p:cNvPr id="58" name="矩形 57">
            <a:extLst>
              <a:ext uri="{FF2B5EF4-FFF2-40B4-BE49-F238E27FC236}">
                <a16:creationId xmlns:a16="http://schemas.microsoft.com/office/drawing/2014/main" id="{0651CE95-96BC-DA52-A5C5-23F8E58B8F17}"/>
              </a:ext>
            </a:extLst>
          </p:cNvPr>
          <p:cNvSpPr/>
          <p:nvPr/>
        </p:nvSpPr>
        <p:spPr>
          <a:xfrm>
            <a:off x="869620" y="2020219"/>
            <a:ext cx="10250794" cy="388568"/>
          </a:xfrm>
          <a:prstGeom prst="rect">
            <a:avLst/>
          </a:prstGeom>
        </p:spPr>
        <p:txBody>
          <a:bodyPr wrap="square">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while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prstClr val="black"/>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(p &amp;&amp; j&lt;</a:t>
            </a:r>
            <a:r>
              <a:rPr kumimoji="0" lang="en-US" altLang="zh-CN" sz="2000" b="1" i="0" u="none" strike="noStrike" kern="1200" cap="none" spc="0" normalizeH="0" baseline="0" noProof="0" dirty="0" err="1">
                <a:ln>
                  <a:noFill/>
                </a:ln>
                <a:solidFill>
                  <a:prstClr val="black"/>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1" i="0" u="none" strike="noStrike" kern="1200" cap="none" spc="0" normalizeH="0" baseline="0" noProof="0" dirty="0">
                <a:ln>
                  <a:noFill/>
                </a:ln>
                <a:solidFill>
                  <a:prstClr val="black"/>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-1) { p = p-&gt;next;  ++j; }</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令</a:t>
            </a:r>
            <a:r>
              <a:rPr kumimoji="0" lang="en-US" altLang="zh-CN" sz="20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a:t>
            </a:r>
            <a:r>
              <a:rPr kumimoji="0" lang="zh-CN" altLang="en-US"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指向第</a:t>
            </a:r>
            <a:r>
              <a:rPr kumimoji="0" lang="en-US" altLang="zh-CN" sz="2000" b="1"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-1</a:t>
            </a:r>
            <a:r>
              <a:rPr kumimoji="0" lang="zh-CN" altLang="en-US"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个元素结点</a:t>
            </a:r>
          </a:p>
        </p:txBody>
      </p:sp>
      <p:sp>
        <p:nvSpPr>
          <p:cNvPr id="59" name="矩形 58">
            <a:extLst>
              <a:ext uri="{FF2B5EF4-FFF2-40B4-BE49-F238E27FC236}">
                <a16:creationId xmlns:a16="http://schemas.microsoft.com/office/drawing/2014/main" id="{7E0C9A6E-186E-02F5-EB26-AC325B22D77F}"/>
              </a:ext>
            </a:extLst>
          </p:cNvPr>
          <p:cNvSpPr/>
          <p:nvPr/>
        </p:nvSpPr>
        <p:spPr>
          <a:xfrm>
            <a:off x="869619" y="2393174"/>
            <a:ext cx="9817431" cy="400110"/>
          </a:xfrm>
          <a:prstGeom prst="rect">
            <a:avLst/>
          </a:prstGeom>
        </p:spPr>
        <p:txBody>
          <a:bodyPr wrap="square">
            <a:spAutoFit/>
          </a:bodyPr>
          <a:lstStyle/>
          <a:p>
            <a:pPr marL="0" marR="0" lvl="0" indent="0" algn="l" defTabSz="914400" rtl="0" eaLnBrk="1" fontAlgn="auto" latinLnBrk="0" hangingPunct="1">
              <a:lnSpc>
                <a:spcPct val="100000"/>
              </a:lnSpc>
              <a:spcBef>
                <a:spcPct val="1000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ERROR;         </a:t>
            </a:r>
            <a:r>
              <a:rPr kumimoji="0" lang="en-US" altLang="zh-CN"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若</a:t>
            </a:r>
            <a:r>
              <a:rPr kumimoji="0" lang="en-US" altLang="zh-CN" sz="20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a:t>
            </a:r>
            <a:r>
              <a:rPr kumimoji="0" lang="zh-CN" altLang="en-US"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空，则</a:t>
            </a:r>
            <a:r>
              <a:rPr kumimoji="0" lang="en-US" altLang="zh-CN" sz="2000" b="1"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zh-CN" altLang="en-US"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大于表长</a:t>
            </a:r>
            <a:r>
              <a:rPr kumimoji="0" lang="en-US" altLang="zh-CN"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+1</a:t>
            </a:r>
            <a:r>
              <a:rPr kumimoji="0" lang="zh-CN" altLang="en-US"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，不合法，报错</a:t>
            </a:r>
          </a:p>
        </p:txBody>
      </p:sp>
      <p:sp>
        <p:nvSpPr>
          <p:cNvPr id="60" name="矩形 59">
            <a:extLst>
              <a:ext uri="{FF2B5EF4-FFF2-40B4-BE49-F238E27FC236}">
                <a16:creationId xmlns:a16="http://schemas.microsoft.com/office/drawing/2014/main" id="{95A7D3A4-505D-B822-6C35-02A754D9A1A4}"/>
              </a:ext>
            </a:extLst>
          </p:cNvPr>
          <p:cNvSpPr/>
          <p:nvPr/>
        </p:nvSpPr>
        <p:spPr>
          <a:xfrm>
            <a:off x="869620" y="2824411"/>
            <a:ext cx="10809762" cy="400110"/>
          </a:xfrm>
          <a:prstGeom prst="rect">
            <a:avLst/>
          </a:prstGeom>
        </p:spPr>
        <p:txBody>
          <a:bodyPr wrap="square">
            <a:spAutoFit/>
          </a:bodyPr>
          <a:lstStyle/>
          <a:p>
            <a:pPr marL="0" marR="0" lvl="0" indent="0" algn="l" defTabSz="914400" rtl="0" eaLnBrk="1" fontAlgn="auto" latinLnBrk="0" hangingPunct="1">
              <a:lnSpc>
                <a:spcPct val="100000"/>
              </a:lnSpc>
              <a:spcBef>
                <a:spcPct val="1000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 =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LinkList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malloc</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LNode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exit(OVERFLOW); </a:t>
            </a:r>
            <a:r>
              <a:rPr kumimoji="0" lang="en-US" altLang="zh-CN"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Courier New" panose="02070309020205020404" pitchFamily="49" charset="0"/>
              </a:rPr>
              <a:t> </a:t>
            </a:r>
            <a:r>
              <a:rPr kumimoji="0" lang="zh-CN" altLang="en-US" sz="2000" b="0"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Courier New" panose="02070309020205020404" pitchFamily="49" charset="0"/>
              </a:rPr>
              <a:t>分配结点</a:t>
            </a:r>
            <a:r>
              <a:rPr kumimoji="0" lang="en-US" altLang="zh-CN" sz="2000" b="0"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Courier New" panose="02070309020205020404" pitchFamily="49" charset="0"/>
              </a:rPr>
              <a:t> </a:t>
            </a:r>
            <a:endParaRPr kumimoji="0" lang="zh-CN" altLang="en-US" sz="2000" b="0" i="0" u="none" strike="noStrike" kern="1200" cap="none" spc="0" normalizeH="0" baseline="0" noProof="0" dirty="0">
              <a:ln>
                <a:noFill/>
              </a:ln>
              <a:solidFill>
                <a:srgbClr val="0070C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Courier New" panose="02070309020205020404" pitchFamily="49" charset="0"/>
            </a:endParaRPr>
          </a:p>
        </p:txBody>
      </p:sp>
      <p:sp>
        <p:nvSpPr>
          <p:cNvPr id="61" name="矩形 60">
            <a:extLst>
              <a:ext uri="{FF2B5EF4-FFF2-40B4-BE49-F238E27FC236}">
                <a16:creationId xmlns:a16="http://schemas.microsoft.com/office/drawing/2014/main" id="{BD94836F-91B4-76C0-BA72-0A700C2725DE}"/>
              </a:ext>
            </a:extLst>
          </p:cNvPr>
          <p:cNvSpPr/>
          <p:nvPr/>
        </p:nvSpPr>
        <p:spPr>
          <a:xfrm>
            <a:off x="885918" y="3848003"/>
            <a:ext cx="2734880" cy="400110"/>
          </a:xfrm>
          <a:prstGeom prst="rect">
            <a:avLst/>
          </a:prstGeom>
        </p:spPr>
        <p:txBody>
          <a:bodyPr wrap="square">
            <a:spAutoFit/>
          </a:bodyPr>
          <a:lstStyle/>
          <a:p>
            <a:pPr marL="0" marR="0" lvl="0" indent="0" algn="l" defTabSz="914400" rtl="0" eaLnBrk="1" fontAlgn="auto" latinLnBrk="0" hangingPunct="1">
              <a:lnSpc>
                <a:spcPct val="100000"/>
              </a:lnSpc>
              <a:spcBef>
                <a:spcPct val="1000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 OK; </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2" name="矩形 61">
            <a:extLst>
              <a:ext uri="{FF2B5EF4-FFF2-40B4-BE49-F238E27FC236}">
                <a16:creationId xmlns:a16="http://schemas.microsoft.com/office/drawing/2014/main" id="{835304DD-C05F-39A1-3F37-9133A53CC8FF}"/>
              </a:ext>
            </a:extLst>
          </p:cNvPr>
          <p:cNvSpPr/>
          <p:nvPr/>
        </p:nvSpPr>
        <p:spPr>
          <a:xfrm>
            <a:off x="668768" y="4208305"/>
            <a:ext cx="338554" cy="400110"/>
          </a:xfrm>
          <a:prstGeom prst="rect">
            <a:avLst/>
          </a:prstGeom>
        </p:spPr>
        <p:txBody>
          <a:bodyPr wrap="none">
            <a:spAutoFit/>
          </a:bodyPr>
          <a:lstStyle/>
          <a:p>
            <a:pPr marL="0" marR="0" lvl="0" indent="0" algn="l" defTabSz="914400" rtl="0" eaLnBrk="1" fontAlgn="auto" latinLnBrk="0" hangingPunct="1">
              <a:lnSpc>
                <a:spcPct val="100000"/>
              </a:lnSpc>
              <a:spcBef>
                <a:spcPct val="1000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3" name="文本框 62">
            <a:extLst>
              <a:ext uri="{FF2B5EF4-FFF2-40B4-BE49-F238E27FC236}">
                <a16:creationId xmlns:a16="http://schemas.microsoft.com/office/drawing/2014/main" id="{D830292A-E105-9880-4125-EB023D8DDD63}"/>
              </a:ext>
            </a:extLst>
          </p:cNvPr>
          <p:cNvSpPr txBox="1"/>
          <p:nvPr/>
        </p:nvSpPr>
        <p:spPr>
          <a:xfrm>
            <a:off x="869620" y="3213828"/>
            <a:ext cx="941218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s-&gt;data = e;                        </a:t>
            </a:r>
            <a:r>
              <a:rPr kumimoji="0" lang="en-US" altLang="zh-CN"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新元素值赋给新结点</a:t>
            </a:r>
            <a:endParaRPr kumimoji="0" lang="en-US" altLang="zh-CN"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s-&gt;next = p-&gt;next;   </a:t>
            </a:r>
            <a:r>
              <a:rPr kumimoji="0" lang="en-US" altLang="zh-CN" sz="2000" b="1" i="0" u="none" strike="noStrike" kern="1200" cap="none" spc="0" normalizeH="0" baseline="0" noProof="0" dirty="0">
                <a:ln>
                  <a:noFill/>
                </a:ln>
                <a:solidFill>
                  <a:srgbClr val="0E2841"/>
                </a:solidFill>
                <a:effectLst/>
                <a:uLnTx/>
                <a:uFillTx/>
                <a:latin typeface="Courier New" panose="02070309020205020404" pitchFamily="49" charset="0"/>
                <a:ea typeface="宋体" panose="02010600030101010101" pitchFamily="2" charset="-122"/>
                <a:cs typeface="Courier New" panose="02070309020205020404" pitchFamily="49" charset="0"/>
              </a:rPr>
              <a:t>p-&gt;next = s;</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新结点插入</a:t>
            </a:r>
          </a:p>
        </p:txBody>
      </p:sp>
      <p:grpSp>
        <p:nvGrpSpPr>
          <p:cNvPr id="64" name="Group 7">
            <a:extLst>
              <a:ext uri="{FF2B5EF4-FFF2-40B4-BE49-F238E27FC236}">
                <a16:creationId xmlns:a16="http://schemas.microsoft.com/office/drawing/2014/main" id="{B6A4A28E-2BD4-039E-3F4A-417A2BD172F6}"/>
              </a:ext>
            </a:extLst>
          </p:cNvPr>
          <p:cNvGrpSpPr>
            <a:grpSpLocks/>
          </p:cNvGrpSpPr>
          <p:nvPr/>
        </p:nvGrpSpPr>
        <p:grpSpPr bwMode="auto">
          <a:xfrm>
            <a:off x="6043135" y="5663493"/>
            <a:ext cx="913924" cy="431575"/>
            <a:chOff x="0" y="0"/>
            <a:chExt cx="1440" cy="680"/>
          </a:xfrm>
        </p:grpSpPr>
        <p:sp>
          <p:nvSpPr>
            <p:cNvPr id="65" name="Rectangle 8">
              <a:extLst>
                <a:ext uri="{FF2B5EF4-FFF2-40B4-BE49-F238E27FC236}">
                  <a16:creationId xmlns:a16="http://schemas.microsoft.com/office/drawing/2014/main" id="{E08F0821-7EDB-32F8-DFB6-342776171E28}"/>
                </a:ext>
              </a:extLst>
            </p:cNvPr>
            <p:cNvSpPr>
              <a:spLocks noChangeArrowheads="1"/>
            </p:cNvSpPr>
            <p:nvPr/>
          </p:nvSpPr>
          <p:spPr bwMode="auto">
            <a:xfrm>
              <a:off x="0" y="0"/>
              <a:ext cx="962" cy="680"/>
            </a:xfrm>
            <a:prstGeom prst="rect">
              <a:avLst/>
            </a:prstGeom>
            <a:solidFill>
              <a:schemeClr val="accent6">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23" tIns="46966" rIns="90123" bIns="46966"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zh-CN" sz="1999"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a</a:t>
              </a:r>
              <a:r>
                <a:rPr kumimoji="0" lang="zh-CN" altLang="en-US" sz="1999" b="1" i="0" u="none" strike="noStrike" kern="1200" cap="none" spc="0" normalizeH="0" baseline="-16000" noProof="0" dirty="0">
                  <a:ln>
                    <a:noFill/>
                  </a:ln>
                  <a:solidFill>
                    <a:srgbClr val="000000"/>
                  </a:solidFill>
                  <a:effectLst/>
                  <a:uLnTx/>
                  <a:uFillTx/>
                  <a:latin typeface="Arial" panose="020B0604020202020204" pitchFamily="34" charset="0"/>
                  <a:ea typeface="宋体" panose="02010600030101010101" pitchFamily="2" charset="-122"/>
                  <a:cs typeface="+mn-cs"/>
                </a:rPr>
                <a:t>i</a:t>
              </a:r>
              <a:r>
                <a:rPr kumimoji="0" lang="en-US" altLang="zh-CN" sz="1999" b="1" i="0" u="none" strike="noStrike" kern="1200" cap="none" spc="0" normalizeH="0" baseline="-16000" noProof="0" dirty="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66" name="Rectangle 9">
              <a:extLst>
                <a:ext uri="{FF2B5EF4-FFF2-40B4-BE49-F238E27FC236}">
                  <a16:creationId xmlns:a16="http://schemas.microsoft.com/office/drawing/2014/main" id="{EC1EC6B3-0E44-66EA-D137-F37ACCB10AA1}"/>
                </a:ext>
              </a:extLst>
            </p:cNvPr>
            <p:cNvSpPr>
              <a:spLocks noChangeArrowheads="1"/>
            </p:cNvSpPr>
            <p:nvPr/>
          </p:nvSpPr>
          <p:spPr bwMode="auto">
            <a:xfrm>
              <a:off x="960" y="0"/>
              <a:ext cx="480" cy="680"/>
            </a:xfrm>
            <a:prstGeom prst="rect">
              <a:avLst/>
            </a:prstGeom>
            <a:solidFill>
              <a:schemeClr val="tx2">
                <a:lumMod val="10000"/>
                <a:lumOff val="90000"/>
              </a:schemeClr>
            </a:solidFill>
            <a:ln w="9525" cap="flat" cmpd="sng">
              <a:solidFill>
                <a:schemeClr val="tx1"/>
              </a:solidFill>
              <a:miter lim="800000"/>
              <a:headEnd/>
              <a:tailEnd/>
            </a:ln>
            <a:effectLst/>
          </p:spPr>
          <p:txBody>
            <a:bodyPr wrap="none" lIns="90123" tIns="46966" rIns="90123" bIns="46966"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599"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a:ea typeface="+mn-ea"/>
                <a:cs typeface="+mn-cs"/>
              </a:endParaRPr>
            </a:p>
          </p:txBody>
        </p:sp>
      </p:grpSp>
      <p:grpSp>
        <p:nvGrpSpPr>
          <p:cNvPr id="67" name="Group 10">
            <a:extLst>
              <a:ext uri="{FF2B5EF4-FFF2-40B4-BE49-F238E27FC236}">
                <a16:creationId xmlns:a16="http://schemas.microsoft.com/office/drawing/2014/main" id="{4A15577D-F54E-3E66-3080-88000BB720E3}"/>
              </a:ext>
            </a:extLst>
          </p:cNvPr>
          <p:cNvGrpSpPr>
            <a:grpSpLocks/>
          </p:cNvGrpSpPr>
          <p:nvPr/>
        </p:nvGrpSpPr>
        <p:grpSpPr bwMode="auto">
          <a:xfrm>
            <a:off x="7255354" y="5663493"/>
            <a:ext cx="913924" cy="431575"/>
            <a:chOff x="0" y="0"/>
            <a:chExt cx="576" cy="384"/>
          </a:xfrm>
        </p:grpSpPr>
        <p:sp>
          <p:nvSpPr>
            <p:cNvPr id="68" name="Rectangle 11">
              <a:extLst>
                <a:ext uri="{FF2B5EF4-FFF2-40B4-BE49-F238E27FC236}">
                  <a16:creationId xmlns:a16="http://schemas.microsoft.com/office/drawing/2014/main" id="{32B47EF4-BE9C-234E-F56B-F2D5BF3BD991}"/>
                </a:ext>
              </a:extLst>
            </p:cNvPr>
            <p:cNvSpPr>
              <a:spLocks noChangeArrowheads="1"/>
            </p:cNvSpPr>
            <p:nvPr/>
          </p:nvSpPr>
          <p:spPr bwMode="auto">
            <a:xfrm>
              <a:off x="0" y="0"/>
              <a:ext cx="385" cy="384"/>
            </a:xfrm>
            <a:prstGeom prst="rect">
              <a:avLst/>
            </a:prstGeom>
            <a:solidFill>
              <a:schemeClr val="accent6">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23" tIns="46966" rIns="90123" bIns="46966"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zh-CN" sz="1999"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a</a:t>
              </a:r>
              <a:r>
                <a:rPr kumimoji="0" lang="zh-CN" altLang="en-US" sz="1999" b="1" i="0" u="none" strike="noStrike" kern="1200" cap="none" spc="0" normalizeH="0" baseline="-25000" noProof="0" dirty="0">
                  <a:ln>
                    <a:noFill/>
                  </a:ln>
                  <a:solidFill>
                    <a:srgbClr val="000000"/>
                  </a:solidFill>
                  <a:effectLst/>
                  <a:uLnTx/>
                  <a:uFillTx/>
                  <a:latin typeface="Arial" panose="020B0604020202020204" pitchFamily="34" charset="0"/>
                  <a:ea typeface="宋体" panose="02010600030101010101" pitchFamily="2" charset="-122"/>
                  <a:cs typeface="+mn-cs"/>
                </a:rPr>
                <a:t>i</a:t>
              </a:r>
              <a:endParaRPr kumimoji="0" lang="zh-CN" altLang="en-US" sz="1799"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9" name="Rectangle 12">
              <a:extLst>
                <a:ext uri="{FF2B5EF4-FFF2-40B4-BE49-F238E27FC236}">
                  <a16:creationId xmlns:a16="http://schemas.microsoft.com/office/drawing/2014/main" id="{B381CBD2-D201-7C61-B26B-7DE1A88B977E}"/>
                </a:ext>
              </a:extLst>
            </p:cNvPr>
            <p:cNvSpPr>
              <a:spLocks noChangeArrowheads="1"/>
            </p:cNvSpPr>
            <p:nvPr/>
          </p:nvSpPr>
          <p:spPr bwMode="auto">
            <a:xfrm>
              <a:off x="384" y="0"/>
              <a:ext cx="192" cy="384"/>
            </a:xfrm>
            <a:prstGeom prst="rect">
              <a:avLst/>
            </a:prstGeom>
            <a:solidFill>
              <a:schemeClr val="tx2">
                <a:lumMod val="10000"/>
                <a:lumOff val="90000"/>
              </a:schemeClr>
            </a:solidFill>
            <a:ln w="9525" cap="flat" cmpd="sng">
              <a:solidFill>
                <a:schemeClr val="tx1"/>
              </a:solidFill>
              <a:miter lim="800000"/>
              <a:headEnd/>
              <a:tailEnd/>
            </a:ln>
            <a:effectLst/>
          </p:spPr>
          <p:txBody>
            <a:bodyPr wrap="none" lIns="90123" tIns="46966" rIns="90123" bIns="46966"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599"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a:ea typeface="+mn-ea"/>
                <a:cs typeface="+mn-cs"/>
              </a:endParaRPr>
            </a:p>
          </p:txBody>
        </p:sp>
      </p:grpSp>
      <p:sp>
        <p:nvSpPr>
          <p:cNvPr id="70" name="Rectangle 13">
            <a:extLst>
              <a:ext uri="{FF2B5EF4-FFF2-40B4-BE49-F238E27FC236}">
                <a16:creationId xmlns:a16="http://schemas.microsoft.com/office/drawing/2014/main" id="{5D107227-7083-BA12-A119-1468E1FD582A}"/>
              </a:ext>
            </a:extLst>
          </p:cNvPr>
          <p:cNvSpPr>
            <a:spLocks noChangeArrowheads="1"/>
          </p:cNvSpPr>
          <p:nvPr/>
        </p:nvSpPr>
        <p:spPr bwMode="auto">
          <a:xfrm>
            <a:off x="8277172" y="5733307"/>
            <a:ext cx="837764" cy="30464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0794" anchorCtr="1"/>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zh-CN" sz="1999"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 •</a:t>
            </a:r>
          </a:p>
        </p:txBody>
      </p:sp>
      <p:sp>
        <p:nvSpPr>
          <p:cNvPr id="71" name="Line 14">
            <a:extLst>
              <a:ext uri="{FF2B5EF4-FFF2-40B4-BE49-F238E27FC236}">
                <a16:creationId xmlns:a16="http://schemas.microsoft.com/office/drawing/2014/main" id="{0C0DE5F7-434B-0444-6D88-14A519FCCB7D}"/>
              </a:ext>
            </a:extLst>
          </p:cNvPr>
          <p:cNvSpPr>
            <a:spLocks noChangeShapeType="1"/>
          </p:cNvSpPr>
          <p:nvPr/>
        </p:nvSpPr>
        <p:spPr bwMode="auto">
          <a:xfrm>
            <a:off x="6798392" y="5898321"/>
            <a:ext cx="456962" cy="0"/>
          </a:xfrm>
          <a:prstGeom prst="line">
            <a:avLst/>
          </a:prstGeom>
          <a:noFill/>
          <a:ln w="19050">
            <a:solidFill>
              <a:schemeClr val="tx1"/>
            </a:solidFill>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0794"/>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799"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72" name="Line 15">
            <a:extLst>
              <a:ext uri="{FF2B5EF4-FFF2-40B4-BE49-F238E27FC236}">
                <a16:creationId xmlns:a16="http://schemas.microsoft.com/office/drawing/2014/main" id="{133E2C6C-EBEC-BEB6-5B6B-2B7F6300EB1C}"/>
              </a:ext>
            </a:extLst>
          </p:cNvPr>
          <p:cNvSpPr>
            <a:spLocks noChangeShapeType="1"/>
          </p:cNvSpPr>
          <p:nvPr/>
        </p:nvSpPr>
        <p:spPr bwMode="auto">
          <a:xfrm>
            <a:off x="8010611" y="5898321"/>
            <a:ext cx="456962" cy="0"/>
          </a:xfrm>
          <a:prstGeom prst="line">
            <a:avLst/>
          </a:prstGeom>
          <a:noFill/>
          <a:ln w="19050">
            <a:solidFill>
              <a:schemeClr val="tx1"/>
            </a:solidFill>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0794"/>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799"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73" name="Line 16">
            <a:extLst>
              <a:ext uri="{FF2B5EF4-FFF2-40B4-BE49-F238E27FC236}">
                <a16:creationId xmlns:a16="http://schemas.microsoft.com/office/drawing/2014/main" id="{DF944337-E8FD-6294-423F-CEE2AE8A6149}"/>
              </a:ext>
            </a:extLst>
          </p:cNvPr>
          <p:cNvSpPr>
            <a:spLocks noChangeShapeType="1"/>
          </p:cNvSpPr>
          <p:nvPr/>
        </p:nvSpPr>
        <p:spPr bwMode="auto">
          <a:xfrm>
            <a:off x="5804292" y="5898321"/>
            <a:ext cx="242017" cy="0"/>
          </a:xfrm>
          <a:prstGeom prst="line">
            <a:avLst/>
          </a:prstGeom>
          <a:noFill/>
          <a:ln w="19050">
            <a:solidFill>
              <a:schemeClr val="tx1"/>
            </a:solidFill>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0794"/>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799"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74" name="组合 73">
            <a:extLst>
              <a:ext uri="{FF2B5EF4-FFF2-40B4-BE49-F238E27FC236}">
                <a16:creationId xmlns:a16="http://schemas.microsoft.com/office/drawing/2014/main" id="{904EB85D-989C-757D-3C1E-281638E43F3C}"/>
              </a:ext>
            </a:extLst>
          </p:cNvPr>
          <p:cNvGrpSpPr/>
          <p:nvPr/>
        </p:nvGrpSpPr>
        <p:grpSpPr>
          <a:xfrm>
            <a:off x="7261701" y="5009784"/>
            <a:ext cx="913924" cy="428402"/>
            <a:chOff x="4605015" y="2703984"/>
            <a:chExt cx="914400" cy="428625"/>
          </a:xfrm>
        </p:grpSpPr>
        <p:sp>
          <p:nvSpPr>
            <p:cNvPr id="75" name="Rectangle 17">
              <a:extLst>
                <a:ext uri="{FF2B5EF4-FFF2-40B4-BE49-F238E27FC236}">
                  <a16:creationId xmlns:a16="http://schemas.microsoft.com/office/drawing/2014/main" id="{9C486436-F0AC-3D9A-EF48-A4D5BAE761CC}"/>
                </a:ext>
              </a:extLst>
            </p:cNvPr>
            <p:cNvSpPr>
              <a:spLocks noChangeArrowheads="1"/>
            </p:cNvSpPr>
            <p:nvPr/>
          </p:nvSpPr>
          <p:spPr bwMode="auto">
            <a:xfrm>
              <a:off x="4605015" y="2703984"/>
              <a:ext cx="609600" cy="428625"/>
            </a:xfrm>
            <a:prstGeom prst="rect">
              <a:avLst/>
            </a:prstGeom>
            <a:solidFill>
              <a:schemeClr val="accent6">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23" tIns="46966" rIns="90123" bIns="46966"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US" altLang="zh-CN" sz="1999" b="1" i="0" u="none" strike="noStrike" kern="1200" cap="none" spc="0" normalizeH="0" baseline="-1600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6" name="Rectangle 18">
              <a:extLst>
                <a:ext uri="{FF2B5EF4-FFF2-40B4-BE49-F238E27FC236}">
                  <a16:creationId xmlns:a16="http://schemas.microsoft.com/office/drawing/2014/main" id="{BD378019-4204-287B-4CD5-DBFD45AD1875}"/>
                </a:ext>
              </a:extLst>
            </p:cNvPr>
            <p:cNvSpPr>
              <a:spLocks noChangeArrowheads="1"/>
            </p:cNvSpPr>
            <p:nvPr/>
          </p:nvSpPr>
          <p:spPr bwMode="auto">
            <a:xfrm>
              <a:off x="5214615" y="2703984"/>
              <a:ext cx="304800" cy="428625"/>
            </a:xfrm>
            <a:prstGeom prst="rect">
              <a:avLst/>
            </a:prstGeom>
            <a:solidFill>
              <a:schemeClr val="tx2">
                <a:lumMod val="10000"/>
                <a:lumOff val="90000"/>
              </a:schemeClr>
            </a:solidFill>
            <a:ln w="9525" cap="flat" cmpd="sng">
              <a:solidFill>
                <a:schemeClr val="tx1"/>
              </a:solidFill>
              <a:miter lim="800000"/>
              <a:headEnd/>
              <a:tailEnd/>
            </a:ln>
            <a:effectLst/>
          </p:spPr>
          <p:txBody>
            <a:bodyPr wrap="none" lIns="90123" tIns="46966" rIns="90123" bIns="46966"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599"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a:ea typeface="+mn-ea"/>
                <a:cs typeface="+mn-cs"/>
              </a:endParaRPr>
            </a:p>
          </p:txBody>
        </p:sp>
      </p:grpSp>
      <p:sp>
        <p:nvSpPr>
          <p:cNvPr id="77" name="Text Box 19">
            <a:extLst>
              <a:ext uri="{FF2B5EF4-FFF2-40B4-BE49-F238E27FC236}">
                <a16:creationId xmlns:a16="http://schemas.microsoft.com/office/drawing/2014/main" id="{6601FF16-2971-6F49-0992-DF0DE999CDD8}"/>
              </a:ext>
            </a:extLst>
          </p:cNvPr>
          <p:cNvSpPr txBox="1">
            <a:spLocks noChangeArrowheads="1"/>
          </p:cNvSpPr>
          <p:nvPr/>
        </p:nvSpPr>
        <p:spPr bwMode="auto">
          <a:xfrm>
            <a:off x="2377960" y="3229786"/>
            <a:ext cx="338554"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dirty="0">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e</a:t>
            </a:r>
          </a:p>
        </p:txBody>
      </p:sp>
      <p:grpSp>
        <p:nvGrpSpPr>
          <p:cNvPr id="78" name="Group 23">
            <a:extLst>
              <a:ext uri="{FF2B5EF4-FFF2-40B4-BE49-F238E27FC236}">
                <a16:creationId xmlns:a16="http://schemas.microsoft.com/office/drawing/2014/main" id="{B4A15E77-457C-F693-20BE-687E2E32CBBB}"/>
              </a:ext>
            </a:extLst>
          </p:cNvPr>
          <p:cNvGrpSpPr>
            <a:grpSpLocks/>
          </p:cNvGrpSpPr>
          <p:nvPr/>
        </p:nvGrpSpPr>
        <p:grpSpPr bwMode="auto">
          <a:xfrm>
            <a:off x="7288959" y="4323073"/>
            <a:ext cx="365569" cy="687346"/>
            <a:chOff x="28" y="168"/>
            <a:chExt cx="577" cy="1083"/>
          </a:xfrm>
        </p:grpSpPr>
        <p:sp>
          <p:nvSpPr>
            <p:cNvPr id="79" name="Text Box 24">
              <a:extLst>
                <a:ext uri="{FF2B5EF4-FFF2-40B4-BE49-F238E27FC236}">
                  <a16:creationId xmlns:a16="http://schemas.microsoft.com/office/drawing/2014/main" id="{99FC6FED-073A-37FE-20A0-0FC9EB981163}"/>
                </a:ext>
              </a:extLst>
            </p:cNvPr>
            <p:cNvSpPr txBox="1">
              <a:spLocks noChangeArrowheads="1"/>
            </p:cNvSpPr>
            <p:nvPr/>
          </p:nvSpPr>
          <p:spPr bwMode="auto">
            <a:xfrm>
              <a:off x="28" y="168"/>
              <a:ext cx="577" cy="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zh-CN" sz="2400" b="1" i="0" u="none" strike="noStrike" kern="1200" cap="none" spc="0" normalizeH="0" baseline="0" noProof="0" dirty="0">
                  <a:ln>
                    <a:noFill/>
                  </a:ln>
                  <a:solidFill>
                    <a:srgbClr val="C00000"/>
                  </a:solidFill>
                  <a:effectLst/>
                  <a:uLnTx/>
                  <a:uFillTx/>
                  <a:latin typeface="Courier New" panose="02070309020205020404" pitchFamily="49" charset="0"/>
                  <a:ea typeface="楷体_GB2312" pitchFamily="49" charset="-122"/>
                  <a:cs typeface="Courier New" panose="02070309020205020404" pitchFamily="49" charset="0"/>
                </a:rPr>
                <a:t>s</a:t>
              </a:r>
              <a:endParaRPr kumimoji="0" lang="zh-CN" altLang="en-US" sz="24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80" name="Line 25">
              <a:extLst>
                <a:ext uri="{FF2B5EF4-FFF2-40B4-BE49-F238E27FC236}">
                  <a16:creationId xmlns:a16="http://schemas.microsoft.com/office/drawing/2014/main" id="{C6612074-F7A0-E7D7-150C-6550811C8FB1}"/>
                </a:ext>
              </a:extLst>
            </p:cNvPr>
            <p:cNvSpPr>
              <a:spLocks noChangeShapeType="1"/>
            </p:cNvSpPr>
            <p:nvPr/>
          </p:nvSpPr>
          <p:spPr bwMode="auto">
            <a:xfrm flipH="1">
              <a:off x="479" y="621"/>
              <a:ext cx="0" cy="630"/>
            </a:xfrm>
            <a:prstGeom prst="line">
              <a:avLst/>
            </a:prstGeom>
            <a:noFill/>
            <a:ln w="254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799"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81" name="Line 26">
            <a:extLst>
              <a:ext uri="{FF2B5EF4-FFF2-40B4-BE49-F238E27FC236}">
                <a16:creationId xmlns:a16="http://schemas.microsoft.com/office/drawing/2014/main" id="{2FAACDFA-69F2-2994-4C80-D80C2E857183}"/>
              </a:ext>
            </a:extLst>
          </p:cNvPr>
          <p:cNvSpPr>
            <a:spLocks noChangeShapeType="1"/>
          </p:cNvSpPr>
          <p:nvPr/>
        </p:nvSpPr>
        <p:spPr bwMode="auto">
          <a:xfrm>
            <a:off x="8010611" y="5250959"/>
            <a:ext cx="0" cy="410140"/>
          </a:xfrm>
          <a:prstGeom prst="line">
            <a:avLst/>
          </a:prstGeom>
          <a:noFill/>
          <a:ln w="28575">
            <a:solidFill>
              <a:srgbClr val="C00000"/>
            </a:solidFill>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799"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82" name="Line 27">
            <a:extLst>
              <a:ext uri="{FF2B5EF4-FFF2-40B4-BE49-F238E27FC236}">
                <a16:creationId xmlns:a16="http://schemas.microsoft.com/office/drawing/2014/main" id="{5738F380-2593-1650-1E05-DBCA51227455}"/>
              </a:ext>
            </a:extLst>
          </p:cNvPr>
          <p:cNvSpPr>
            <a:spLocks noChangeShapeType="1"/>
          </p:cNvSpPr>
          <p:nvPr/>
        </p:nvSpPr>
        <p:spPr bwMode="auto">
          <a:xfrm flipV="1">
            <a:off x="6766659" y="5250958"/>
            <a:ext cx="495042" cy="647363"/>
          </a:xfrm>
          <a:prstGeom prst="line">
            <a:avLst/>
          </a:prstGeom>
          <a:noFill/>
          <a:ln w="28575">
            <a:solidFill>
              <a:srgbClr val="C00000"/>
            </a:solidFill>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799"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83" name="Rectangle 30">
            <a:extLst>
              <a:ext uri="{FF2B5EF4-FFF2-40B4-BE49-F238E27FC236}">
                <a16:creationId xmlns:a16="http://schemas.microsoft.com/office/drawing/2014/main" id="{0FB2A286-9400-06F7-93CD-6F342018AF95}"/>
              </a:ext>
            </a:extLst>
          </p:cNvPr>
          <p:cNvSpPr>
            <a:spLocks noChangeArrowheads="1"/>
          </p:cNvSpPr>
          <p:nvPr/>
        </p:nvSpPr>
        <p:spPr bwMode="auto">
          <a:xfrm>
            <a:off x="5084587" y="5716847"/>
            <a:ext cx="851804" cy="30999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0794" anchorCtr="1"/>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zh-CN" sz="1999"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 •</a:t>
            </a:r>
          </a:p>
        </p:txBody>
      </p:sp>
      <p:grpSp>
        <p:nvGrpSpPr>
          <p:cNvPr id="84" name="Group 7">
            <a:extLst>
              <a:ext uri="{FF2B5EF4-FFF2-40B4-BE49-F238E27FC236}">
                <a16:creationId xmlns:a16="http://schemas.microsoft.com/office/drawing/2014/main" id="{A1FF3D65-5BE2-8B74-1A63-AB40D3DCC2DF}"/>
              </a:ext>
            </a:extLst>
          </p:cNvPr>
          <p:cNvGrpSpPr>
            <a:grpSpLocks/>
          </p:cNvGrpSpPr>
          <p:nvPr/>
        </p:nvGrpSpPr>
        <p:grpSpPr bwMode="auto">
          <a:xfrm>
            <a:off x="4292911" y="5663246"/>
            <a:ext cx="913924" cy="431575"/>
            <a:chOff x="0" y="0"/>
            <a:chExt cx="1440" cy="680"/>
          </a:xfrm>
        </p:grpSpPr>
        <p:sp>
          <p:nvSpPr>
            <p:cNvPr id="85" name="Rectangle 8">
              <a:extLst>
                <a:ext uri="{FF2B5EF4-FFF2-40B4-BE49-F238E27FC236}">
                  <a16:creationId xmlns:a16="http://schemas.microsoft.com/office/drawing/2014/main" id="{7C6F071F-7F42-3AAE-3E68-8B81C54A02BD}"/>
                </a:ext>
              </a:extLst>
            </p:cNvPr>
            <p:cNvSpPr>
              <a:spLocks noChangeArrowheads="1"/>
            </p:cNvSpPr>
            <p:nvPr/>
          </p:nvSpPr>
          <p:spPr bwMode="auto">
            <a:xfrm>
              <a:off x="0" y="0"/>
              <a:ext cx="962" cy="680"/>
            </a:xfrm>
            <a:prstGeom prst="rect">
              <a:avLst/>
            </a:prstGeom>
            <a:solidFill>
              <a:schemeClr val="accent6">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23" tIns="46966" rIns="90123" bIns="46966"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en-US" altLang="zh-CN" sz="1999"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a</a:t>
              </a:r>
              <a:r>
                <a:rPr kumimoji="0" lang="zh-CN" altLang="en-US" sz="1999" b="1" i="0" u="none" strike="noStrike" kern="1200" cap="none" spc="0" normalizeH="0" baseline="-16000" noProof="0" dirty="0">
                  <a:ln>
                    <a:noFill/>
                  </a:ln>
                  <a:solidFill>
                    <a:srgbClr val="000000"/>
                  </a:solidFill>
                  <a:effectLst/>
                  <a:uLnTx/>
                  <a:uFillTx/>
                  <a:latin typeface="Arial" panose="020B0604020202020204" pitchFamily="34" charset="0"/>
                  <a:ea typeface="宋体" panose="02010600030101010101" pitchFamily="2" charset="-122"/>
                  <a:cs typeface="+mn-cs"/>
                </a:rPr>
                <a:t>1</a:t>
              </a:r>
              <a:endParaRPr kumimoji="0" lang="en-US" altLang="zh-CN" sz="1999" b="1" i="0" u="none" strike="noStrike" kern="1200" cap="none" spc="0" normalizeH="0" baseline="-1600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6" name="Rectangle 9">
              <a:extLst>
                <a:ext uri="{FF2B5EF4-FFF2-40B4-BE49-F238E27FC236}">
                  <a16:creationId xmlns:a16="http://schemas.microsoft.com/office/drawing/2014/main" id="{01F3B00F-4B1A-3E7D-EE9D-89B7E3AFD6B5}"/>
                </a:ext>
              </a:extLst>
            </p:cNvPr>
            <p:cNvSpPr>
              <a:spLocks noChangeArrowheads="1"/>
            </p:cNvSpPr>
            <p:nvPr/>
          </p:nvSpPr>
          <p:spPr bwMode="auto">
            <a:xfrm>
              <a:off x="960" y="0"/>
              <a:ext cx="480" cy="680"/>
            </a:xfrm>
            <a:prstGeom prst="rect">
              <a:avLst/>
            </a:prstGeom>
            <a:solidFill>
              <a:schemeClr val="tx2">
                <a:lumMod val="10000"/>
                <a:lumOff val="90000"/>
              </a:schemeClr>
            </a:solidFill>
            <a:ln w="9525" cap="flat" cmpd="sng">
              <a:solidFill>
                <a:schemeClr val="tx1"/>
              </a:solidFill>
              <a:miter lim="800000"/>
              <a:headEnd/>
              <a:tailEnd/>
            </a:ln>
            <a:effectLst/>
          </p:spPr>
          <p:txBody>
            <a:bodyPr wrap="none" lIns="90123" tIns="46966" rIns="90123" bIns="46966"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599"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a:ea typeface="+mn-ea"/>
                <a:cs typeface="+mn-cs"/>
              </a:endParaRPr>
            </a:p>
          </p:txBody>
        </p:sp>
      </p:grpSp>
      <p:sp>
        <p:nvSpPr>
          <p:cNvPr id="87" name="Rectangle 8">
            <a:extLst>
              <a:ext uri="{FF2B5EF4-FFF2-40B4-BE49-F238E27FC236}">
                <a16:creationId xmlns:a16="http://schemas.microsoft.com/office/drawing/2014/main" id="{562CD3FB-AD33-86C7-1E85-6FEE536E26ED}"/>
              </a:ext>
            </a:extLst>
          </p:cNvPr>
          <p:cNvSpPr>
            <a:spLocks noChangeArrowheads="1"/>
          </p:cNvSpPr>
          <p:nvPr/>
        </p:nvSpPr>
        <p:spPr bwMode="auto">
          <a:xfrm>
            <a:off x="3091105" y="5663246"/>
            <a:ext cx="610552" cy="431575"/>
          </a:xfrm>
          <a:prstGeom prst="rect">
            <a:avLst/>
          </a:prstGeom>
          <a:solidFill>
            <a:schemeClr val="accent6">
              <a:lumMod val="60000"/>
              <a:lumOff val="40000"/>
            </a:schemeClr>
          </a:solidFill>
          <a:ln w="9525">
            <a:solidFill>
              <a:schemeClr val="tx1"/>
            </a:solidFill>
            <a:miter lim="800000"/>
            <a:headEnd/>
            <a:tailEnd/>
          </a:ln>
          <a:effectLst/>
        </p:spPr>
        <p:txBody>
          <a:bodyPr wrap="none" lIns="90123" tIns="46966" rIns="90123" bIns="46966" anchor="ct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US" altLang="zh-CN" sz="1999" b="1" i="0" u="none" strike="noStrike" kern="1200" cap="none" spc="0" normalizeH="0" baseline="-16000" noProof="0" dirty="0">
              <a:ln>
                <a:noFill/>
              </a:ln>
              <a:solidFill>
                <a:srgbClr val="0070C0"/>
              </a:solidFill>
              <a:effectLst/>
              <a:uLnTx/>
              <a:uFillTx/>
              <a:latin typeface="Arial" panose="020B0604020202020204" pitchFamily="34" charset="0"/>
              <a:ea typeface="宋体" panose="02010600030101010101" pitchFamily="2" charset="-122"/>
              <a:cs typeface="+mn-cs"/>
            </a:endParaRPr>
          </a:p>
        </p:txBody>
      </p:sp>
      <p:sp>
        <p:nvSpPr>
          <p:cNvPr id="88" name="Rectangle 9">
            <a:extLst>
              <a:ext uri="{FF2B5EF4-FFF2-40B4-BE49-F238E27FC236}">
                <a16:creationId xmlns:a16="http://schemas.microsoft.com/office/drawing/2014/main" id="{8FB4F432-68F3-C7BE-8079-4CFF3050AA41}"/>
              </a:ext>
            </a:extLst>
          </p:cNvPr>
          <p:cNvSpPr>
            <a:spLocks noChangeArrowheads="1"/>
          </p:cNvSpPr>
          <p:nvPr/>
        </p:nvSpPr>
        <p:spPr bwMode="auto">
          <a:xfrm>
            <a:off x="3700388" y="5663246"/>
            <a:ext cx="304641" cy="431575"/>
          </a:xfrm>
          <a:prstGeom prst="rect">
            <a:avLst/>
          </a:prstGeom>
          <a:solidFill>
            <a:schemeClr val="tx2">
              <a:lumMod val="10000"/>
              <a:lumOff val="90000"/>
            </a:schemeClr>
          </a:solidFill>
          <a:ln w="9525" cap="flat" cmpd="sng">
            <a:solidFill>
              <a:schemeClr val="tx1"/>
            </a:solidFill>
            <a:miter lim="800000"/>
            <a:headEnd/>
            <a:tailEnd/>
          </a:ln>
          <a:effectLst/>
        </p:spPr>
        <p:txBody>
          <a:bodyPr wrap="none" lIns="90123" tIns="46966" rIns="90123" bIns="46966"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599"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a:ea typeface="+mn-ea"/>
              <a:cs typeface="+mn-cs"/>
            </a:endParaRPr>
          </a:p>
        </p:txBody>
      </p:sp>
      <p:grpSp>
        <p:nvGrpSpPr>
          <p:cNvPr id="89" name="组合 88">
            <a:extLst>
              <a:ext uri="{FF2B5EF4-FFF2-40B4-BE49-F238E27FC236}">
                <a16:creationId xmlns:a16="http://schemas.microsoft.com/office/drawing/2014/main" id="{5CBC24D0-3B51-FB04-D89E-2A1940E9F1B3}"/>
              </a:ext>
            </a:extLst>
          </p:cNvPr>
          <p:cNvGrpSpPr/>
          <p:nvPr/>
        </p:nvGrpSpPr>
        <p:grpSpPr>
          <a:xfrm>
            <a:off x="2733088" y="5567162"/>
            <a:ext cx="357473" cy="341323"/>
            <a:chOff x="50503" y="3069754"/>
            <a:chExt cx="453207" cy="533400"/>
          </a:xfrm>
        </p:grpSpPr>
        <p:sp>
          <p:nvSpPr>
            <p:cNvPr id="90" name="Line 31">
              <a:extLst>
                <a:ext uri="{FF2B5EF4-FFF2-40B4-BE49-F238E27FC236}">
                  <a16:creationId xmlns:a16="http://schemas.microsoft.com/office/drawing/2014/main" id="{BA98BB64-EB07-FE6F-9240-5C75CE455B7B}"/>
                </a:ext>
              </a:extLst>
            </p:cNvPr>
            <p:cNvSpPr>
              <a:spLocks noChangeShapeType="1"/>
            </p:cNvSpPr>
            <p:nvPr/>
          </p:nvSpPr>
          <p:spPr bwMode="auto">
            <a:xfrm flipV="1">
              <a:off x="50503" y="3584476"/>
              <a:ext cx="453207" cy="18678"/>
            </a:xfrm>
            <a:prstGeom prst="line">
              <a:avLst/>
            </a:prstGeom>
            <a:noFill/>
            <a:ln w="381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799"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91" name="Line 32">
              <a:extLst>
                <a:ext uri="{FF2B5EF4-FFF2-40B4-BE49-F238E27FC236}">
                  <a16:creationId xmlns:a16="http://schemas.microsoft.com/office/drawing/2014/main" id="{67B99D70-BE59-E40C-9682-70FE703AB76C}"/>
                </a:ext>
              </a:extLst>
            </p:cNvPr>
            <p:cNvSpPr>
              <a:spLocks noChangeShapeType="1"/>
            </p:cNvSpPr>
            <p:nvPr/>
          </p:nvSpPr>
          <p:spPr bwMode="auto">
            <a:xfrm>
              <a:off x="50503" y="3069754"/>
              <a:ext cx="0" cy="533400"/>
            </a:xfrm>
            <a:prstGeom prst="line">
              <a:avLst/>
            </a:prstGeom>
            <a:noFill/>
            <a:ln w="3810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799"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92" name="Text Box 34">
            <a:extLst>
              <a:ext uri="{FF2B5EF4-FFF2-40B4-BE49-F238E27FC236}">
                <a16:creationId xmlns:a16="http://schemas.microsoft.com/office/drawing/2014/main" id="{186D12DB-D523-6724-F47B-34B8B054B890}"/>
              </a:ext>
            </a:extLst>
          </p:cNvPr>
          <p:cNvSpPr txBox="1">
            <a:spLocks noChangeArrowheads="1"/>
          </p:cNvSpPr>
          <p:nvPr/>
        </p:nvSpPr>
        <p:spPr bwMode="auto">
          <a:xfrm>
            <a:off x="3090561" y="6091293"/>
            <a:ext cx="953610" cy="399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999" b="0" i="0" u="none" strike="noStrike" kern="1200" cap="none" spc="0" normalizeH="0" baseline="0" noProof="0" dirty="0">
                <a:ln>
                  <a:noFill/>
                </a:ln>
                <a:solidFill>
                  <a:srgbClr val="0070C0"/>
                </a:solidFill>
                <a:effectLst/>
                <a:uLnTx/>
                <a:uFillTx/>
                <a:latin typeface="Times New Roman" panose="02020603050405020304"/>
                <a:ea typeface="隶书" panose="02010509060101010101" pitchFamily="49" charset="-122"/>
                <a:cs typeface="+mn-cs"/>
              </a:rPr>
              <a:t>头结点</a:t>
            </a:r>
            <a:endParaRPr kumimoji="0" lang="zh-CN" altLang="en-US" sz="1999" b="0" i="0" u="none" strike="noStrike" kern="1200" cap="none" spc="0" normalizeH="0" baseline="0" noProof="0" dirty="0">
              <a:ln>
                <a:noFill/>
              </a:ln>
              <a:solidFill>
                <a:srgbClr val="0070C0"/>
              </a:solidFill>
              <a:effectLst/>
              <a:uLnTx/>
              <a:uFillTx/>
              <a:latin typeface="Times New Roman" panose="02020603050405020304"/>
              <a:ea typeface="宋体" panose="02010600030101010101" pitchFamily="2" charset="-122"/>
              <a:cs typeface="+mn-cs"/>
            </a:endParaRPr>
          </a:p>
        </p:txBody>
      </p:sp>
      <p:sp>
        <p:nvSpPr>
          <p:cNvPr id="93" name="Line 14">
            <a:extLst>
              <a:ext uri="{FF2B5EF4-FFF2-40B4-BE49-F238E27FC236}">
                <a16:creationId xmlns:a16="http://schemas.microsoft.com/office/drawing/2014/main" id="{54CE8B64-982C-997D-4516-054F8CFDDEC7}"/>
              </a:ext>
            </a:extLst>
          </p:cNvPr>
          <p:cNvSpPr>
            <a:spLocks noChangeShapeType="1"/>
          </p:cNvSpPr>
          <p:nvPr/>
        </p:nvSpPr>
        <p:spPr bwMode="auto">
          <a:xfrm>
            <a:off x="3852708" y="5877269"/>
            <a:ext cx="456962" cy="0"/>
          </a:xfrm>
          <a:prstGeom prst="line">
            <a:avLst/>
          </a:prstGeom>
          <a:noFill/>
          <a:ln w="19050">
            <a:solidFill>
              <a:schemeClr val="tx1"/>
            </a:solidFill>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0794"/>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799"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94" name="Line 14">
            <a:extLst>
              <a:ext uri="{FF2B5EF4-FFF2-40B4-BE49-F238E27FC236}">
                <a16:creationId xmlns:a16="http://schemas.microsoft.com/office/drawing/2014/main" id="{BAE31B3C-644A-5DE2-CB09-9EA4965338B6}"/>
              </a:ext>
            </a:extLst>
          </p:cNvPr>
          <p:cNvSpPr>
            <a:spLocks noChangeShapeType="1"/>
          </p:cNvSpPr>
          <p:nvPr/>
        </p:nvSpPr>
        <p:spPr bwMode="auto">
          <a:xfrm>
            <a:off x="5012616" y="5879157"/>
            <a:ext cx="287882" cy="0"/>
          </a:xfrm>
          <a:prstGeom prst="line">
            <a:avLst/>
          </a:prstGeom>
          <a:noFill/>
          <a:ln w="19050">
            <a:solidFill>
              <a:schemeClr val="tx1"/>
            </a:solidFill>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0794"/>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799"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95" name="组合 94">
            <a:extLst>
              <a:ext uri="{FF2B5EF4-FFF2-40B4-BE49-F238E27FC236}">
                <a16:creationId xmlns:a16="http://schemas.microsoft.com/office/drawing/2014/main" id="{F52A8496-F4CC-038F-D448-C9FB31CBE18D}"/>
              </a:ext>
            </a:extLst>
          </p:cNvPr>
          <p:cNvGrpSpPr/>
          <p:nvPr/>
        </p:nvGrpSpPr>
        <p:grpSpPr>
          <a:xfrm>
            <a:off x="3306534" y="5009783"/>
            <a:ext cx="365569" cy="651315"/>
            <a:chOff x="737682" y="2533085"/>
            <a:chExt cx="365759" cy="809707"/>
          </a:xfrm>
        </p:grpSpPr>
        <p:sp>
          <p:nvSpPr>
            <p:cNvPr id="96" name="Text Box 21">
              <a:extLst>
                <a:ext uri="{FF2B5EF4-FFF2-40B4-BE49-F238E27FC236}">
                  <a16:creationId xmlns:a16="http://schemas.microsoft.com/office/drawing/2014/main" id="{498D08CF-42FE-F872-181E-395F1CF82D15}"/>
                </a:ext>
              </a:extLst>
            </p:cNvPr>
            <p:cNvSpPr txBox="1">
              <a:spLocks noChangeArrowheads="1"/>
            </p:cNvSpPr>
            <p:nvPr/>
          </p:nvSpPr>
          <p:spPr bwMode="auto">
            <a:xfrm>
              <a:off x="737682" y="2533085"/>
              <a:ext cx="365759" cy="573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33FF"/>
                </a:buClr>
                <a:buSzPct val="80000"/>
                <a:buFont typeface="Wingdings" panose="05000000000000000000" pitchFamily="2" charset="2"/>
                <a:buChar char="u"/>
                <a:defRPr sz="24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kumimoji="0" lang="zh-CN" altLang="zh-CN" sz="2400" b="1" i="0" u="none" strike="noStrike" kern="1200" cap="none" spc="0" normalizeH="0" baseline="0" noProof="0" dirty="0">
                  <a:ln>
                    <a:noFill/>
                  </a:ln>
                  <a:solidFill>
                    <a:srgbClr val="C00000"/>
                  </a:solidFill>
                  <a:effectLst/>
                  <a:uLnTx/>
                  <a:uFillTx/>
                  <a:latin typeface="Courier New" panose="02070309020205020404" pitchFamily="49" charset="0"/>
                  <a:ea typeface="楷体_GB2312" pitchFamily="49" charset="-122"/>
                  <a:cs typeface="Courier New" panose="02070309020205020404" pitchFamily="49" charset="0"/>
                </a:rPr>
                <a:t>p</a:t>
              </a:r>
            </a:p>
          </p:txBody>
        </p:sp>
        <p:sp>
          <p:nvSpPr>
            <p:cNvPr id="97" name="Line 48">
              <a:extLst>
                <a:ext uri="{FF2B5EF4-FFF2-40B4-BE49-F238E27FC236}">
                  <a16:creationId xmlns:a16="http://schemas.microsoft.com/office/drawing/2014/main" id="{07551D28-85F9-D5A5-3015-BAC9EF9CCC45}"/>
                </a:ext>
              </a:extLst>
            </p:cNvPr>
            <p:cNvSpPr>
              <a:spLocks noChangeShapeType="1"/>
            </p:cNvSpPr>
            <p:nvPr/>
          </p:nvSpPr>
          <p:spPr bwMode="auto">
            <a:xfrm>
              <a:off x="1038029" y="2832923"/>
              <a:ext cx="3818" cy="509869"/>
            </a:xfrm>
            <a:prstGeom prst="line">
              <a:avLst/>
            </a:prstGeom>
            <a:noFill/>
            <a:ln w="25400">
              <a:solidFill>
                <a:srgbClr val="3333CC"/>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799"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98" name="文本框 81922">
            <a:extLst>
              <a:ext uri="{FF2B5EF4-FFF2-40B4-BE49-F238E27FC236}">
                <a16:creationId xmlns:a16="http://schemas.microsoft.com/office/drawing/2014/main" id="{A20BE1DC-63AE-45D0-22C6-7C0412C61BC3}"/>
              </a:ext>
            </a:extLst>
          </p:cNvPr>
          <p:cNvSpPr txBox="1">
            <a:spLocks noChangeArrowheads="1"/>
          </p:cNvSpPr>
          <p:nvPr/>
        </p:nvSpPr>
        <p:spPr bwMode="auto">
          <a:xfrm>
            <a:off x="2467277" y="5149838"/>
            <a:ext cx="472641" cy="45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5000"/>
              </a:lnSpc>
              <a:spcBef>
                <a:spcPct val="0"/>
              </a:spcBef>
              <a:spcAft>
                <a:spcPts val="0"/>
              </a:spcAft>
              <a:buClrTx/>
              <a:buSzTx/>
              <a:buFontTx/>
              <a:buNone/>
              <a:tabLst/>
              <a:defRPr/>
            </a:pPr>
            <a:r>
              <a:rPr kumimoji="0" lang="en-US" altLang="zh-CN" sz="2399" b="1" i="0" u="none" strike="noStrike" kern="1200" cap="none" spc="0" normalizeH="0" baseline="0" noProof="0" dirty="0">
                <a:ln>
                  <a:noFill/>
                </a:ln>
                <a:solidFill>
                  <a:srgbClr val="002060"/>
                </a:solidFill>
                <a:effectLst/>
                <a:uLnTx/>
                <a:uFillTx/>
                <a:latin typeface="Times New Roman" panose="02020603050405020304" pitchFamily="18" charset="0"/>
                <a:ea typeface="楷体_GB2312" pitchFamily="49" charset="-122"/>
                <a:cs typeface="+mn-cs"/>
              </a:rPr>
              <a:t>L</a:t>
            </a:r>
            <a:endParaRPr kumimoji="0" lang="zh-CN" altLang="en-US" sz="2399" b="1" i="0" u="none" strike="noStrike" kern="1200" cap="none" spc="0" normalizeH="0" baseline="0" noProof="0" dirty="0">
              <a:ln>
                <a:noFill/>
              </a:ln>
              <a:solidFill>
                <a:srgbClr val="002060"/>
              </a:solidFill>
              <a:effectLst/>
              <a:uLnTx/>
              <a:uFillTx/>
              <a:latin typeface="Times New Roman" panose="02020603050405020304" pitchFamily="18" charset="0"/>
              <a:ea typeface="宋体" panose="02010600030101010101" pitchFamily="2" charset="-122"/>
              <a:cs typeface="+mn-cs"/>
            </a:endParaRPr>
          </a:p>
        </p:txBody>
      </p:sp>
      <p:sp>
        <p:nvSpPr>
          <p:cNvPr id="99" name="文本框 56">
            <a:extLst>
              <a:ext uri="{FF2B5EF4-FFF2-40B4-BE49-F238E27FC236}">
                <a16:creationId xmlns:a16="http://schemas.microsoft.com/office/drawing/2014/main" id="{5F59665F-BD19-30B0-5EEC-EFE289A4A6D0}"/>
              </a:ext>
            </a:extLst>
          </p:cNvPr>
          <p:cNvSpPr txBox="1"/>
          <p:nvPr/>
        </p:nvSpPr>
        <p:spPr>
          <a:xfrm>
            <a:off x="887578" y="1253842"/>
            <a:ext cx="9103281"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nn-NO"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 || i&lt;1) </a:t>
            </a:r>
            <a:r>
              <a:rPr kumimoji="0" lang="nn-NO"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nn-NO"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ERROR;  </a:t>
            </a:r>
            <a:r>
              <a:rPr kumimoji="0" lang="nn-NO" altLang="zh-CN"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nn-NO" altLang="zh-CN"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若</a:t>
            </a:r>
            <a:r>
              <a:rPr kumimoji="0" lang="en-US" altLang="zh-CN" sz="20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L</a:t>
            </a:r>
            <a:r>
              <a:rPr kumimoji="0" lang="zh-CN" altLang="en-US"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不存在或</a:t>
            </a:r>
            <a:r>
              <a:rPr kumimoji="0" lang="en-US" altLang="zh-CN" sz="2000" b="1"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zh-CN" altLang="en-US"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不合法，则报错</a:t>
            </a:r>
            <a:endParaRPr kumimoji="0" lang="nn-NO" altLang="zh-CN"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3" name="Text Box 3">
            <a:extLst>
              <a:ext uri="{FF2B5EF4-FFF2-40B4-BE49-F238E27FC236}">
                <a16:creationId xmlns:a16="http://schemas.microsoft.com/office/drawing/2014/main" id="{3F195984-361E-A1FC-F275-61FDDF97EF27}"/>
              </a:ext>
            </a:extLst>
          </p:cNvPr>
          <p:cNvSpPr txBox="1"/>
          <p:nvPr/>
        </p:nvSpPr>
        <p:spPr>
          <a:xfrm>
            <a:off x="8088804" y="3805704"/>
            <a:ext cx="398780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2800" b="1" dirty="0">
                <a:ea typeface="隶书" panose="02010509060101010101" pitchFamily="49" charset="-122"/>
              </a:rPr>
              <a:t>算法</a:t>
            </a:r>
            <a:r>
              <a:rPr lang="zh-CN" altLang="zh-CN" sz="4000" b="1" dirty="0">
                <a:solidFill>
                  <a:srgbClr val="FF0000"/>
                </a:solidFill>
                <a:ea typeface="隶书" panose="02010509060101010101" pitchFamily="49" charset="-122"/>
              </a:rPr>
              <a:t>时间复杂度</a:t>
            </a:r>
            <a:r>
              <a:rPr lang="zh-CN" altLang="zh-CN" b="1" dirty="0">
                <a:ea typeface="隶书" panose="02010509060101010101" pitchFamily="49" charset="-122"/>
              </a:rPr>
              <a:t>为</a:t>
            </a:r>
            <a:r>
              <a:rPr lang="zh-CN" altLang="zh-CN" dirty="0"/>
              <a:t>:</a:t>
            </a:r>
            <a:endParaRPr lang="zh-CN" altLang="zh-CN" sz="4000" dirty="0"/>
          </a:p>
        </p:txBody>
      </p:sp>
      <p:sp>
        <p:nvSpPr>
          <p:cNvPr id="4" name="Text Box 4">
            <a:extLst>
              <a:ext uri="{FF2B5EF4-FFF2-40B4-BE49-F238E27FC236}">
                <a16:creationId xmlns:a16="http://schemas.microsoft.com/office/drawing/2014/main" id="{6712B9C7-914F-C732-0186-20305936C240}"/>
              </a:ext>
            </a:extLst>
          </p:cNvPr>
          <p:cNvSpPr txBox="1"/>
          <p:nvPr/>
        </p:nvSpPr>
        <p:spPr>
          <a:xfrm>
            <a:off x="8234854" y="4383553"/>
            <a:ext cx="2699393" cy="6463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t>O(ListLen (L))</a:t>
            </a:r>
            <a:endParaRPr lang="zh-CN" altLang="zh-CN" sz="2400" dirty="0"/>
          </a:p>
        </p:txBody>
      </p:sp>
    </p:spTree>
    <p:extLst>
      <p:ext uri="{BB962C8B-B14F-4D97-AF65-F5344CB8AC3E}">
        <p14:creationId xmlns:p14="http://schemas.microsoft.com/office/powerpoint/2010/main" val="2124821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left)">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wipe(left)">
                                      <p:cBhvr>
                                        <p:cTn id="12" dur="500"/>
                                        <p:tgtEl>
                                          <p:spTgt spid="57"/>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95"/>
                                        </p:tgtEl>
                                        <p:attrNameLst>
                                          <p:attrName>style.visibility</p:attrName>
                                        </p:attrNameLst>
                                      </p:cBhvr>
                                      <p:to>
                                        <p:strVal val="visible"/>
                                      </p:to>
                                    </p:set>
                                    <p:animEffect transition="in" filter="wipe(up)">
                                      <p:cBhvr>
                                        <p:cTn id="16" dur="500"/>
                                        <p:tgtEl>
                                          <p:spTgt spid="9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8"/>
                                        </p:tgtEl>
                                        <p:attrNameLst>
                                          <p:attrName>style.visibility</p:attrName>
                                        </p:attrNameLst>
                                      </p:cBhvr>
                                      <p:to>
                                        <p:strVal val="visible"/>
                                      </p:to>
                                    </p:set>
                                    <p:animEffect transition="in" filter="wipe(left)">
                                      <p:cBhvr>
                                        <p:cTn id="21" dur="500"/>
                                        <p:tgtEl>
                                          <p:spTgt spid="58"/>
                                        </p:tgtEl>
                                      </p:cBhvr>
                                    </p:animEffect>
                                  </p:childTnLst>
                                </p:cTn>
                              </p:par>
                            </p:childTnLst>
                          </p:cTn>
                        </p:par>
                        <p:par>
                          <p:cTn id="22" fill="hold">
                            <p:stCondLst>
                              <p:cond delay="500"/>
                            </p:stCondLst>
                            <p:childTnLst>
                              <p:par>
                                <p:cTn id="23" presetID="63" presetClass="path" presetSubtype="0" accel="50000" decel="50000" fill="hold" nodeType="afterEffect">
                                  <p:stCondLst>
                                    <p:cond delay="0"/>
                                  </p:stCondLst>
                                  <p:childTnLst>
                                    <p:animMotion origin="layout" path="M 2.08333E-6 7.40741E-7 L 0.0763 0.0037 " pathEditMode="relative" rAng="0" ptsTypes="AA">
                                      <p:cBhvr>
                                        <p:cTn id="24" dur="2000" fill="hold"/>
                                        <p:tgtEl>
                                          <p:spTgt spid="95"/>
                                        </p:tgtEl>
                                        <p:attrNameLst>
                                          <p:attrName>ppt_x</p:attrName>
                                          <p:attrName>ppt_y</p:attrName>
                                        </p:attrNameLst>
                                      </p:cBhvr>
                                      <p:rCtr x="3815" y="185"/>
                                    </p:animMotion>
                                  </p:childTnLst>
                                </p:cTn>
                              </p:par>
                            </p:childTnLst>
                          </p:cTn>
                        </p:par>
                        <p:par>
                          <p:cTn id="25" fill="hold">
                            <p:stCondLst>
                              <p:cond delay="2500"/>
                            </p:stCondLst>
                            <p:childTnLst>
                              <p:par>
                                <p:cTn id="26" presetID="63" presetClass="path" presetSubtype="0" accel="50000" decel="50000" fill="hold" nodeType="afterEffect">
                                  <p:stCondLst>
                                    <p:cond delay="0"/>
                                  </p:stCondLst>
                                  <p:childTnLst>
                                    <p:animMotion origin="layout" path="M 0.0763 0.0037 L 0.22174 0.00231 " pathEditMode="relative" rAng="0" ptsTypes="AA">
                                      <p:cBhvr>
                                        <p:cTn id="27" dur="2000" fill="hold"/>
                                        <p:tgtEl>
                                          <p:spTgt spid="95"/>
                                        </p:tgtEl>
                                        <p:attrNameLst>
                                          <p:attrName>ppt_x</p:attrName>
                                          <p:attrName>ppt_y</p:attrName>
                                        </p:attrNameLst>
                                      </p:cBhvr>
                                      <p:rCtr x="7266" y="-69"/>
                                    </p:animMotion>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wipe(left)">
                                      <p:cBhvr>
                                        <p:cTn id="32" dur="500"/>
                                        <p:tgtEl>
                                          <p:spTgt spid="59"/>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wipe(left)">
                                      <p:cBhvr>
                                        <p:cTn id="36" dur="500"/>
                                        <p:tgtEl>
                                          <p:spTgt spid="60"/>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74"/>
                                        </p:tgtEl>
                                        <p:attrNameLst>
                                          <p:attrName>style.visibility</p:attrName>
                                        </p:attrNameLst>
                                      </p:cBhvr>
                                      <p:to>
                                        <p:strVal val="visible"/>
                                      </p:to>
                                    </p:set>
                                    <p:animEffect transition="in" filter="wipe(left)">
                                      <p:cBhvr>
                                        <p:cTn id="40" dur="500"/>
                                        <p:tgtEl>
                                          <p:spTgt spid="74"/>
                                        </p:tgtEl>
                                      </p:cBhvr>
                                    </p:animEffect>
                                  </p:childTnLst>
                                </p:cTn>
                              </p:par>
                            </p:childTnLst>
                          </p:cTn>
                        </p:par>
                        <p:par>
                          <p:cTn id="41" fill="hold">
                            <p:stCondLst>
                              <p:cond delay="1500"/>
                            </p:stCondLst>
                            <p:childTnLst>
                              <p:par>
                                <p:cTn id="42" presetID="22" presetClass="entr" presetSubtype="4" fill="hold" nodeType="afterEffect">
                                  <p:stCondLst>
                                    <p:cond delay="0"/>
                                  </p:stCondLst>
                                  <p:childTnLst>
                                    <p:set>
                                      <p:cBhvr>
                                        <p:cTn id="43" dur="1" fill="hold">
                                          <p:stCondLst>
                                            <p:cond delay="0"/>
                                          </p:stCondLst>
                                        </p:cTn>
                                        <p:tgtEl>
                                          <p:spTgt spid="78"/>
                                        </p:tgtEl>
                                        <p:attrNameLst>
                                          <p:attrName>style.visibility</p:attrName>
                                        </p:attrNameLst>
                                      </p:cBhvr>
                                      <p:to>
                                        <p:strVal val="visible"/>
                                      </p:to>
                                    </p:set>
                                    <p:animEffect transition="in" filter="wipe(down)">
                                      <p:cBhvr>
                                        <p:cTn id="44" dur="500"/>
                                        <p:tgtEl>
                                          <p:spTgt spid="7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wipe(left)">
                                      <p:cBhvr>
                                        <p:cTn id="49" dur="500"/>
                                        <p:tgtEl>
                                          <p:spTgt spid="63"/>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77"/>
                                        </p:tgtEl>
                                        <p:attrNameLst>
                                          <p:attrName>style.visibility</p:attrName>
                                        </p:attrNameLst>
                                      </p:cBhvr>
                                      <p:to>
                                        <p:strVal val="visible"/>
                                      </p:to>
                                    </p:set>
                                  </p:childTnLst>
                                </p:cTn>
                              </p:par>
                            </p:childTnLst>
                          </p:cTn>
                        </p:par>
                        <p:par>
                          <p:cTn id="54" fill="hold">
                            <p:stCondLst>
                              <p:cond delay="0"/>
                            </p:stCondLst>
                            <p:childTnLst>
                              <p:par>
                                <p:cTn id="55" presetID="56" presetClass="path" presetSubtype="0" accel="50000" decel="50000" fill="hold" grpId="1" nodeType="afterEffect">
                                  <p:stCondLst>
                                    <p:cond delay="0"/>
                                  </p:stCondLst>
                                  <p:childTnLst>
                                    <p:animMotion origin="layout" path="M -4.16667E-6 -1.48148E-6 L 0.41211 0.26343 " pathEditMode="relative" rAng="0" ptsTypes="AA">
                                      <p:cBhvr>
                                        <p:cTn id="56" dur="2000" fill="hold"/>
                                        <p:tgtEl>
                                          <p:spTgt spid="77"/>
                                        </p:tgtEl>
                                        <p:attrNameLst>
                                          <p:attrName>ppt_x</p:attrName>
                                          <p:attrName>ppt_y</p:attrName>
                                        </p:attrNameLst>
                                      </p:cBhvr>
                                      <p:rCtr x="20599" y="13171"/>
                                    </p:animMotion>
                                  </p:childTnLst>
                                </p:cTn>
                              </p:par>
                            </p:childTnLst>
                          </p:cTn>
                        </p:par>
                        <p:par>
                          <p:cTn id="57" fill="hold">
                            <p:stCondLst>
                              <p:cond delay="2000"/>
                            </p:stCondLst>
                            <p:childTnLst>
                              <p:par>
                                <p:cTn id="58" presetID="32" presetClass="emph" presetSubtype="0" fill="hold" grpId="1" nodeType="afterEffect">
                                  <p:stCondLst>
                                    <p:cond delay="0"/>
                                  </p:stCondLst>
                                  <p:childTnLst>
                                    <p:animRot by="120000">
                                      <p:cBhvr>
                                        <p:cTn id="59" dur="100" fill="hold">
                                          <p:stCondLst>
                                            <p:cond delay="0"/>
                                          </p:stCondLst>
                                        </p:cTn>
                                        <p:tgtEl>
                                          <p:spTgt spid="71"/>
                                        </p:tgtEl>
                                        <p:attrNameLst>
                                          <p:attrName>r</p:attrName>
                                        </p:attrNameLst>
                                      </p:cBhvr>
                                    </p:animRot>
                                    <p:animRot by="-240000">
                                      <p:cBhvr>
                                        <p:cTn id="60" dur="200" fill="hold">
                                          <p:stCondLst>
                                            <p:cond delay="200"/>
                                          </p:stCondLst>
                                        </p:cTn>
                                        <p:tgtEl>
                                          <p:spTgt spid="71"/>
                                        </p:tgtEl>
                                        <p:attrNameLst>
                                          <p:attrName>r</p:attrName>
                                        </p:attrNameLst>
                                      </p:cBhvr>
                                    </p:animRot>
                                    <p:animRot by="240000">
                                      <p:cBhvr>
                                        <p:cTn id="61" dur="200" fill="hold">
                                          <p:stCondLst>
                                            <p:cond delay="400"/>
                                          </p:stCondLst>
                                        </p:cTn>
                                        <p:tgtEl>
                                          <p:spTgt spid="71"/>
                                        </p:tgtEl>
                                        <p:attrNameLst>
                                          <p:attrName>r</p:attrName>
                                        </p:attrNameLst>
                                      </p:cBhvr>
                                    </p:animRot>
                                    <p:animRot by="-240000">
                                      <p:cBhvr>
                                        <p:cTn id="62" dur="200" fill="hold">
                                          <p:stCondLst>
                                            <p:cond delay="600"/>
                                          </p:stCondLst>
                                        </p:cTn>
                                        <p:tgtEl>
                                          <p:spTgt spid="71"/>
                                        </p:tgtEl>
                                        <p:attrNameLst>
                                          <p:attrName>r</p:attrName>
                                        </p:attrNameLst>
                                      </p:cBhvr>
                                    </p:animRot>
                                    <p:animRot by="120000">
                                      <p:cBhvr>
                                        <p:cTn id="63" dur="200" fill="hold">
                                          <p:stCondLst>
                                            <p:cond delay="800"/>
                                          </p:stCondLst>
                                        </p:cTn>
                                        <p:tgtEl>
                                          <p:spTgt spid="71"/>
                                        </p:tgtEl>
                                        <p:attrNameLst>
                                          <p:attrName>r</p:attrName>
                                        </p:attrNameLst>
                                      </p:cBhvr>
                                    </p:animRot>
                                  </p:childTnLst>
                                </p:cTn>
                              </p:par>
                            </p:childTnLst>
                          </p:cTn>
                        </p:par>
                        <p:par>
                          <p:cTn id="64" fill="hold">
                            <p:stCondLst>
                              <p:cond delay="3000"/>
                            </p:stCondLst>
                            <p:childTnLst>
                              <p:par>
                                <p:cTn id="65" presetID="26" presetClass="emph" presetSubtype="0" fill="hold" grpId="0" nodeType="afterEffect">
                                  <p:stCondLst>
                                    <p:cond delay="0"/>
                                  </p:stCondLst>
                                  <p:childTnLst>
                                    <p:animEffect transition="out" filter="fade">
                                      <p:cBhvr>
                                        <p:cTn id="66" dur="500" tmFilter="0, 0; .2, .5; .8, .5; 1, 0"/>
                                        <p:tgtEl>
                                          <p:spTgt spid="71"/>
                                        </p:tgtEl>
                                      </p:cBhvr>
                                    </p:animEffect>
                                    <p:animScale>
                                      <p:cBhvr>
                                        <p:cTn id="67" dur="250" autoRev="1" fill="hold"/>
                                        <p:tgtEl>
                                          <p:spTgt spid="71"/>
                                        </p:tgtEl>
                                      </p:cBhvr>
                                      <p:by x="105000" y="105000"/>
                                    </p:animScale>
                                  </p:childTnLst>
                                </p:cTn>
                              </p:par>
                            </p:childTnLst>
                          </p:cTn>
                        </p:par>
                        <p:par>
                          <p:cTn id="68" fill="hold">
                            <p:stCondLst>
                              <p:cond delay="3500"/>
                            </p:stCondLst>
                            <p:childTnLst>
                              <p:par>
                                <p:cTn id="69" presetID="22" presetClass="entr" presetSubtype="1" fill="hold" nodeType="afterEffect">
                                  <p:stCondLst>
                                    <p:cond delay="0"/>
                                  </p:stCondLst>
                                  <p:childTnLst>
                                    <p:set>
                                      <p:cBhvr>
                                        <p:cTn id="70" dur="1" fill="hold">
                                          <p:stCondLst>
                                            <p:cond delay="0"/>
                                          </p:stCondLst>
                                        </p:cTn>
                                        <p:tgtEl>
                                          <p:spTgt spid="81"/>
                                        </p:tgtEl>
                                        <p:attrNameLst>
                                          <p:attrName>style.visibility</p:attrName>
                                        </p:attrNameLst>
                                      </p:cBhvr>
                                      <p:to>
                                        <p:strVal val="visible"/>
                                      </p:to>
                                    </p:set>
                                    <p:animEffect transition="in" filter="wipe(up)">
                                      <p:cBhvr>
                                        <p:cTn id="71" dur="500"/>
                                        <p:tgtEl>
                                          <p:spTgt spid="81"/>
                                        </p:tgtEl>
                                      </p:cBhvr>
                                    </p:animEffect>
                                  </p:childTnLst>
                                </p:cTn>
                              </p:par>
                            </p:childTnLst>
                          </p:cTn>
                        </p:par>
                      </p:childTnLst>
                    </p:cTn>
                  </p:par>
                  <p:par>
                    <p:cTn id="72" fill="hold">
                      <p:stCondLst>
                        <p:cond delay="indefinite"/>
                      </p:stCondLst>
                      <p:childTnLst>
                        <p:par>
                          <p:cTn id="73" fill="hold">
                            <p:stCondLst>
                              <p:cond delay="0"/>
                            </p:stCondLst>
                            <p:childTnLst>
                              <p:par>
                                <p:cTn id="74" presetID="32" presetClass="emph" presetSubtype="0" fill="hold" nodeType="clickEffect">
                                  <p:stCondLst>
                                    <p:cond delay="0"/>
                                  </p:stCondLst>
                                  <p:childTnLst>
                                    <p:animRot by="120000">
                                      <p:cBhvr>
                                        <p:cTn id="75" dur="100" fill="hold">
                                          <p:stCondLst>
                                            <p:cond delay="0"/>
                                          </p:stCondLst>
                                        </p:cTn>
                                        <p:tgtEl>
                                          <p:spTgt spid="78"/>
                                        </p:tgtEl>
                                        <p:attrNameLst>
                                          <p:attrName>r</p:attrName>
                                        </p:attrNameLst>
                                      </p:cBhvr>
                                    </p:animRot>
                                    <p:animRot by="-240000">
                                      <p:cBhvr>
                                        <p:cTn id="76" dur="200" fill="hold">
                                          <p:stCondLst>
                                            <p:cond delay="200"/>
                                          </p:stCondLst>
                                        </p:cTn>
                                        <p:tgtEl>
                                          <p:spTgt spid="78"/>
                                        </p:tgtEl>
                                        <p:attrNameLst>
                                          <p:attrName>r</p:attrName>
                                        </p:attrNameLst>
                                      </p:cBhvr>
                                    </p:animRot>
                                    <p:animRot by="240000">
                                      <p:cBhvr>
                                        <p:cTn id="77" dur="200" fill="hold">
                                          <p:stCondLst>
                                            <p:cond delay="400"/>
                                          </p:stCondLst>
                                        </p:cTn>
                                        <p:tgtEl>
                                          <p:spTgt spid="78"/>
                                        </p:tgtEl>
                                        <p:attrNameLst>
                                          <p:attrName>r</p:attrName>
                                        </p:attrNameLst>
                                      </p:cBhvr>
                                    </p:animRot>
                                    <p:animRot by="-240000">
                                      <p:cBhvr>
                                        <p:cTn id="78" dur="200" fill="hold">
                                          <p:stCondLst>
                                            <p:cond delay="600"/>
                                          </p:stCondLst>
                                        </p:cTn>
                                        <p:tgtEl>
                                          <p:spTgt spid="78"/>
                                        </p:tgtEl>
                                        <p:attrNameLst>
                                          <p:attrName>r</p:attrName>
                                        </p:attrNameLst>
                                      </p:cBhvr>
                                    </p:animRot>
                                    <p:animRot by="120000">
                                      <p:cBhvr>
                                        <p:cTn id="79" dur="200" fill="hold">
                                          <p:stCondLst>
                                            <p:cond delay="800"/>
                                          </p:stCondLst>
                                        </p:cTn>
                                        <p:tgtEl>
                                          <p:spTgt spid="78"/>
                                        </p:tgtEl>
                                        <p:attrNameLst>
                                          <p:attrName>r</p:attrName>
                                        </p:attrNameLst>
                                      </p:cBhvr>
                                    </p:animRot>
                                  </p:childTnLst>
                                </p:cTn>
                              </p:par>
                            </p:childTnLst>
                          </p:cTn>
                        </p:par>
                        <p:par>
                          <p:cTn id="80" fill="hold">
                            <p:stCondLst>
                              <p:cond delay="1000"/>
                            </p:stCondLst>
                            <p:childTnLst>
                              <p:par>
                                <p:cTn id="81" presetID="22" presetClass="exit" presetSubtype="8" fill="hold" nodeType="afterEffect">
                                  <p:stCondLst>
                                    <p:cond delay="0"/>
                                  </p:stCondLst>
                                  <p:childTnLst>
                                    <p:animEffect transition="out" filter="wipe(left)">
                                      <p:cBhvr>
                                        <p:cTn id="82" dur="750"/>
                                        <p:tgtEl>
                                          <p:spTgt spid="71"/>
                                        </p:tgtEl>
                                      </p:cBhvr>
                                    </p:animEffect>
                                    <p:set>
                                      <p:cBhvr>
                                        <p:cTn id="83" dur="1" fill="hold">
                                          <p:stCondLst>
                                            <p:cond delay="749"/>
                                          </p:stCondLst>
                                        </p:cTn>
                                        <p:tgtEl>
                                          <p:spTgt spid="71"/>
                                        </p:tgtEl>
                                        <p:attrNameLst>
                                          <p:attrName>style.visibility</p:attrName>
                                        </p:attrNameLst>
                                      </p:cBhvr>
                                      <p:to>
                                        <p:strVal val="hidden"/>
                                      </p:to>
                                    </p:set>
                                  </p:childTnLst>
                                </p:cTn>
                              </p:par>
                              <p:par>
                                <p:cTn id="84" presetID="17" presetClass="entr" presetSubtype="4" fill="hold" nodeType="withEffect">
                                  <p:stCondLst>
                                    <p:cond delay="0"/>
                                  </p:stCondLst>
                                  <p:childTnLst>
                                    <p:set>
                                      <p:cBhvr>
                                        <p:cTn id="85" dur="1" fill="hold">
                                          <p:stCondLst>
                                            <p:cond delay="0"/>
                                          </p:stCondLst>
                                        </p:cTn>
                                        <p:tgtEl>
                                          <p:spTgt spid="82"/>
                                        </p:tgtEl>
                                        <p:attrNameLst>
                                          <p:attrName>style.visibility</p:attrName>
                                        </p:attrNameLst>
                                      </p:cBhvr>
                                      <p:to>
                                        <p:strVal val="visible"/>
                                      </p:to>
                                    </p:set>
                                    <p:anim calcmode="lin" valueType="num">
                                      <p:cBhvr>
                                        <p:cTn id="86" dur="500" fill="hold"/>
                                        <p:tgtEl>
                                          <p:spTgt spid="82"/>
                                        </p:tgtEl>
                                        <p:attrNameLst>
                                          <p:attrName>ppt_x</p:attrName>
                                        </p:attrNameLst>
                                      </p:cBhvr>
                                      <p:tavLst>
                                        <p:tav tm="0">
                                          <p:val>
                                            <p:strVal val="#ppt_x"/>
                                          </p:val>
                                        </p:tav>
                                        <p:tav tm="100000">
                                          <p:val>
                                            <p:strVal val="#ppt_x"/>
                                          </p:val>
                                        </p:tav>
                                      </p:tavLst>
                                    </p:anim>
                                    <p:anim calcmode="lin" valueType="num">
                                      <p:cBhvr>
                                        <p:cTn id="87" dur="500" fill="hold"/>
                                        <p:tgtEl>
                                          <p:spTgt spid="82"/>
                                        </p:tgtEl>
                                        <p:attrNameLst>
                                          <p:attrName>ppt_y</p:attrName>
                                        </p:attrNameLst>
                                      </p:cBhvr>
                                      <p:tavLst>
                                        <p:tav tm="0">
                                          <p:val>
                                            <p:strVal val="#ppt_y+#ppt_h/2"/>
                                          </p:val>
                                        </p:tav>
                                        <p:tav tm="100000">
                                          <p:val>
                                            <p:strVal val="#ppt_y"/>
                                          </p:val>
                                        </p:tav>
                                      </p:tavLst>
                                    </p:anim>
                                    <p:anim calcmode="lin" valueType="num">
                                      <p:cBhvr>
                                        <p:cTn id="88" dur="500" fill="hold"/>
                                        <p:tgtEl>
                                          <p:spTgt spid="82"/>
                                        </p:tgtEl>
                                        <p:attrNameLst>
                                          <p:attrName>ppt_w</p:attrName>
                                        </p:attrNameLst>
                                      </p:cBhvr>
                                      <p:tavLst>
                                        <p:tav tm="0">
                                          <p:val>
                                            <p:strVal val="#ppt_w"/>
                                          </p:val>
                                        </p:tav>
                                        <p:tav tm="100000">
                                          <p:val>
                                            <p:strVal val="#ppt_w"/>
                                          </p:val>
                                        </p:tav>
                                      </p:tavLst>
                                    </p:anim>
                                    <p:anim calcmode="lin" valueType="num">
                                      <p:cBhvr>
                                        <p:cTn id="89" dur="500" fill="hold"/>
                                        <p:tgtEl>
                                          <p:spTgt spid="82"/>
                                        </p:tgtEl>
                                        <p:attrNameLst>
                                          <p:attrName>ppt_h</p:attrName>
                                        </p:attrNameLst>
                                      </p:cBhvr>
                                      <p:tavLst>
                                        <p:tav tm="0">
                                          <p:val>
                                            <p:fltVal val="0"/>
                                          </p:val>
                                        </p:tav>
                                        <p:tav tm="100000">
                                          <p:val>
                                            <p:strVal val="#ppt_h"/>
                                          </p:val>
                                        </p:tav>
                                      </p:tavLst>
                                    </p:anim>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61"/>
                                        </p:tgtEl>
                                        <p:attrNameLst>
                                          <p:attrName>style.visibility</p:attrName>
                                        </p:attrNameLst>
                                      </p:cBhvr>
                                      <p:to>
                                        <p:strVal val="visible"/>
                                      </p:to>
                                    </p:set>
                                    <p:animEffect transition="in" filter="wipe(left)">
                                      <p:cBhvr>
                                        <p:cTn id="94" dur="500"/>
                                        <p:tgtEl>
                                          <p:spTgt spid="61"/>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59" grpId="0"/>
      <p:bldP spid="60" grpId="0"/>
      <p:bldP spid="61" grpId="0"/>
      <p:bldP spid="63" grpId="0"/>
      <p:bldP spid="71" grpId="0" animBg="1"/>
      <p:bldP spid="71" grpId="1" animBg="1"/>
      <p:bldP spid="75" grpId="0" bldLvl="0" autoUpdateAnimBg="0"/>
      <p:bldP spid="75" grpId="1" bldLvl="0" autoUpdateAnimBg="0"/>
      <p:bldP spid="76" grpId="0" bldLvl="0" autoUpdateAnimBg="0"/>
      <p:bldP spid="76" grpId="1" bldLvl="0" autoUpdateAnimBg="0"/>
      <p:bldP spid="77" grpId="0"/>
      <p:bldP spid="77" grpId="1"/>
      <p:bldP spid="99" grpId="0"/>
      <p:bldP spid="3" grpId="0"/>
      <p:bldP spid="3" grpId="1"/>
      <p:bldP spid="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p:nvPr/>
        </p:nvSpPr>
        <p:spPr>
          <a:xfrm>
            <a:off x="407368" y="461963"/>
            <a:ext cx="11377264" cy="78297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0000"/>
              </a:lnSpc>
              <a:spcBef>
                <a:spcPct val="0"/>
              </a:spcBef>
              <a:buClrTx/>
              <a:buNone/>
            </a:pPr>
            <a:r>
              <a:rPr lang="zh-CN" altLang="zh-CN" sz="4000" dirty="0"/>
              <a:t>线性表的操作</a:t>
            </a:r>
            <a:r>
              <a:rPr lang="zh-CN" altLang="zh-CN" sz="4000" b="1" dirty="0">
                <a:solidFill>
                  <a:srgbClr val="6600CC"/>
                </a:solidFill>
              </a:rPr>
              <a:t>ListDelete (L, i)</a:t>
            </a:r>
            <a:r>
              <a:rPr lang="zh-CN" altLang="zh-CN" sz="4000" dirty="0"/>
              <a:t>在链表中的实现:</a:t>
            </a:r>
          </a:p>
        </p:txBody>
      </p:sp>
      <p:sp>
        <p:nvSpPr>
          <p:cNvPr id="75779" name="Text Box 3"/>
          <p:cNvSpPr txBox="1"/>
          <p:nvPr/>
        </p:nvSpPr>
        <p:spPr>
          <a:xfrm>
            <a:off x="407368" y="2000808"/>
            <a:ext cx="11017224" cy="79335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0"/>
              </a:spcBef>
              <a:buClrTx/>
              <a:buNone/>
            </a:pPr>
            <a:r>
              <a:rPr lang="zh-CN" altLang="zh-CN" sz="3600" b="1" dirty="0">
                <a:solidFill>
                  <a:srgbClr val="000099"/>
                </a:solidFill>
                <a:latin typeface="楷体_GB2312" pitchFamily="49" charset="-122"/>
                <a:ea typeface="楷体_GB2312" pitchFamily="49" charset="-122"/>
              </a:rPr>
              <a:t>有序对&lt;</a:t>
            </a:r>
            <a:r>
              <a:rPr lang="zh-CN" altLang="zh-CN" sz="3600" b="1" dirty="0">
                <a:solidFill>
                  <a:srgbClr val="000099"/>
                </a:solidFill>
                <a:ea typeface="楷体_GB2312" pitchFamily="49" charset="-122"/>
              </a:rPr>
              <a:t>a</a:t>
            </a:r>
            <a:r>
              <a:rPr lang="zh-CN" altLang="zh-CN" sz="3600" b="1" baseline="-25000" dirty="0">
                <a:solidFill>
                  <a:srgbClr val="000099"/>
                </a:solidFill>
                <a:ea typeface="楷体_GB2312" pitchFamily="49" charset="-122"/>
              </a:rPr>
              <a:t>i-1</a:t>
            </a:r>
            <a:r>
              <a:rPr lang="zh-CN" altLang="zh-CN" sz="3600" b="1" dirty="0">
                <a:solidFill>
                  <a:srgbClr val="000099"/>
                </a:solidFill>
                <a:ea typeface="楷体_GB2312" pitchFamily="49" charset="-122"/>
              </a:rPr>
              <a:t>, a</a:t>
            </a:r>
            <a:r>
              <a:rPr lang="zh-CN" altLang="zh-CN" sz="3600" b="1" baseline="-25000" dirty="0">
                <a:solidFill>
                  <a:srgbClr val="000099"/>
                </a:solidFill>
                <a:ea typeface="楷体_GB2312" pitchFamily="49" charset="-122"/>
              </a:rPr>
              <a:t>i</a:t>
            </a:r>
            <a:r>
              <a:rPr lang="zh-CN" altLang="zh-CN" sz="3600" b="1" dirty="0">
                <a:solidFill>
                  <a:srgbClr val="000099"/>
                </a:solidFill>
                <a:latin typeface="楷体_GB2312" pitchFamily="49" charset="-122"/>
                <a:ea typeface="楷体_GB2312" pitchFamily="49" charset="-122"/>
              </a:rPr>
              <a:t>&gt; 和 &lt;</a:t>
            </a:r>
            <a:r>
              <a:rPr lang="zh-CN" altLang="zh-CN" sz="3600" b="1" dirty="0">
                <a:solidFill>
                  <a:srgbClr val="000099"/>
                </a:solidFill>
                <a:ea typeface="楷体_GB2312" pitchFamily="49" charset="-122"/>
              </a:rPr>
              <a:t>a</a:t>
            </a:r>
            <a:r>
              <a:rPr lang="zh-CN" altLang="zh-CN" sz="3600" b="1" baseline="-25000" dirty="0">
                <a:solidFill>
                  <a:srgbClr val="000099"/>
                </a:solidFill>
                <a:ea typeface="楷体_GB2312" pitchFamily="49" charset="-122"/>
              </a:rPr>
              <a:t>i</a:t>
            </a:r>
            <a:r>
              <a:rPr lang="zh-CN" altLang="zh-CN" sz="3600" b="1" dirty="0">
                <a:solidFill>
                  <a:srgbClr val="000099"/>
                </a:solidFill>
                <a:ea typeface="楷体_GB2312" pitchFamily="49" charset="-122"/>
              </a:rPr>
              <a:t>, a</a:t>
            </a:r>
            <a:r>
              <a:rPr lang="zh-CN" altLang="zh-CN" sz="3600" b="1" baseline="-25000" dirty="0">
                <a:solidFill>
                  <a:srgbClr val="000099"/>
                </a:solidFill>
                <a:ea typeface="楷体_GB2312" pitchFamily="49" charset="-122"/>
              </a:rPr>
              <a:t>i+1</a:t>
            </a:r>
            <a:r>
              <a:rPr lang="zh-CN" altLang="zh-CN" sz="3600" b="1" dirty="0">
                <a:solidFill>
                  <a:srgbClr val="000099"/>
                </a:solidFill>
                <a:latin typeface="楷体_GB2312" pitchFamily="49" charset="-122"/>
                <a:ea typeface="楷体_GB2312" pitchFamily="49" charset="-122"/>
              </a:rPr>
              <a:t>&gt;  改变为 &lt;</a:t>
            </a:r>
            <a:r>
              <a:rPr lang="zh-CN" altLang="zh-CN" sz="3600" b="1" dirty="0">
                <a:solidFill>
                  <a:srgbClr val="000099"/>
                </a:solidFill>
                <a:ea typeface="楷体_GB2312" pitchFamily="49" charset="-122"/>
              </a:rPr>
              <a:t>a</a:t>
            </a:r>
            <a:r>
              <a:rPr lang="zh-CN" altLang="zh-CN" sz="3600" b="1" baseline="-25000" dirty="0">
                <a:solidFill>
                  <a:srgbClr val="000099"/>
                </a:solidFill>
                <a:ea typeface="楷体_GB2312" pitchFamily="49" charset="-122"/>
              </a:rPr>
              <a:t>i-1</a:t>
            </a:r>
            <a:r>
              <a:rPr lang="zh-CN" altLang="zh-CN" sz="3600" b="1" dirty="0">
                <a:solidFill>
                  <a:srgbClr val="000099"/>
                </a:solidFill>
                <a:ea typeface="楷体_GB2312" pitchFamily="49" charset="-122"/>
              </a:rPr>
              <a:t>, a</a:t>
            </a:r>
            <a:r>
              <a:rPr lang="zh-CN" altLang="zh-CN" sz="3600" b="1" baseline="-25000" dirty="0">
                <a:solidFill>
                  <a:srgbClr val="000099"/>
                </a:solidFill>
                <a:ea typeface="楷体_GB2312" pitchFamily="49" charset="-122"/>
              </a:rPr>
              <a:t>i+1</a:t>
            </a:r>
            <a:r>
              <a:rPr lang="zh-CN" altLang="zh-CN" sz="3600" b="1" dirty="0">
                <a:solidFill>
                  <a:srgbClr val="000099"/>
                </a:solidFill>
                <a:latin typeface="楷体_GB2312" pitchFamily="49" charset="-122"/>
                <a:ea typeface="楷体_GB2312" pitchFamily="49" charset="-122"/>
              </a:rPr>
              <a:t>&gt;</a:t>
            </a:r>
            <a:endParaRPr lang="zh-CN" altLang="zh-CN" sz="4000" b="1" dirty="0">
              <a:solidFill>
                <a:srgbClr val="000099"/>
              </a:solidFill>
              <a:latin typeface="楷体_GB2312" pitchFamily="49" charset="-122"/>
              <a:ea typeface="楷体_GB2312" pitchFamily="49" charset="-122"/>
            </a:endParaRPr>
          </a:p>
        </p:txBody>
      </p:sp>
      <p:grpSp>
        <p:nvGrpSpPr>
          <p:cNvPr id="2" name="Group 4"/>
          <p:cNvGrpSpPr/>
          <p:nvPr/>
        </p:nvGrpSpPr>
        <p:grpSpPr>
          <a:xfrm>
            <a:off x="2590800" y="4724400"/>
            <a:ext cx="2057400" cy="609600"/>
            <a:chOff x="0" y="0"/>
            <a:chExt cx="1296" cy="384"/>
          </a:xfrm>
        </p:grpSpPr>
        <p:sp>
          <p:nvSpPr>
            <p:cNvPr id="64532" name="Rectangle 5"/>
            <p:cNvSpPr/>
            <p:nvPr/>
          </p:nvSpPr>
          <p:spPr>
            <a:xfrm>
              <a:off x="624" y="0"/>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0099"/>
                  </a:solidFill>
                </a:rPr>
                <a:t>a</a:t>
              </a:r>
              <a:r>
                <a:rPr lang="zh-CN" altLang="zh-CN" sz="3600" b="1" baseline="-25000" dirty="0">
                  <a:solidFill>
                    <a:srgbClr val="000099"/>
                  </a:solidFill>
                </a:rPr>
                <a:t>i-1</a:t>
              </a:r>
              <a:endParaRPr lang="zh-CN" altLang="zh-CN" sz="3600" dirty="0"/>
            </a:p>
          </p:txBody>
        </p:sp>
        <p:sp>
          <p:nvSpPr>
            <p:cNvPr id="64533" name="Line 6"/>
            <p:cNvSpPr/>
            <p:nvPr/>
          </p:nvSpPr>
          <p:spPr>
            <a:xfrm>
              <a:off x="1104" y="0"/>
              <a:ext cx="0" cy="384"/>
            </a:xfrm>
            <a:prstGeom prst="line">
              <a:avLst/>
            </a:prstGeom>
            <a:ln w="9525" cap="flat" cmpd="sng">
              <a:solidFill>
                <a:srgbClr val="000099"/>
              </a:solidFill>
              <a:prstDash val="solid"/>
              <a:headEnd type="none" w="med" len="med"/>
              <a:tailEnd type="none" w="med" len="med"/>
            </a:ln>
          </p:spPr>
        </p:sp>
        <p:sp>
          <p:nvSpPr>
            <p:cNvPr id="64534" name="Line 7"/>
            <p:cNvSpPr/>
            <p:nvPr/>
          </p:nvSpPr>
          <p:spPr>
            <a:xfrm>
              <a:off x="0" y="192"/>
              <a:ext cx="624" cy="0"/>
            </a:xfrm>
            <a:prstGeom prst="line">
              <a:avLst/>
            </a:prstGeom>
            <a:ln w="31750" cap="flat" cmpd="sng">
              <a:solidFill>
                <a:srgbClr val="0000FF"/>
              </a:solidFill>
              <a:prstDash val="solid"/>
              <a:headEnd type="oval" w="sm" len="sm"/>
              <a:tailEnd type="triangle" w="med" len="lg"/>
            </a:ln>
          </p:spPr>
        </p:sp>
      </p:grpSp>
      <p:grpSp>
        <p:nvGrpSpPr>
          <p:cNvPr id="3" name="Group 8"/>
          <p:cNvGrpSpPr/>
          <p:nvPr/>
        </p:nvGrpSpPr>
        <p:grpSpPr>
          <a:xfrm>
            <a:off x="4495800" y="4724400"/>
            <a:ext cx="2133600" cy="609600"/>
            <a:chOff x="0" y="0"/>
            <a:chExt cx="1344" cy="384"/>
          </a:xfrm>
        </p:grpSpPr>
        <p:sp>
          <p:nvSpPr>
            <p:cNvPr id="64529" name="Rectangle 9"/>
            <p:cNvSpPr/>
            <p:nvPr/>
          </p:nvSpPr>
          <p:spPr>
            <a:xfrm>
              <a:off x="672" y="0"/>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0099"/>
                  </a:solidFill>
                </a:rPr>
                <a:t>a</a:t>
              </a:r>
              <a:r>
                <a:rPr lang="zh-CN" altLang="zh-CN" sz="3600" b="1" baseline="-25000" dirty="0">
                  <a:solidFill>
                    <a:srgbClr val="000099"/>
                  </a:solidFill>
                </a:rPr>
                <a:t>i</a:t>
              </a:r>
              <a:endParaRPr lang="zh-CN" altLang="zh-CN" sz="3600" dirty="0"/>
            </a:p>
          </p:txBody>
        </p:sp>
        <p:sp>
          <p:nvSpPr>
            <p:cNvPr id="64530" name="Line 10"/>
            <p:cNvSpPr/>
            <p:nvPr/>
          </p:nvSpPr>
          <p:spPr>
            <a:xfrm>
              <a:off x="1152" y="0"/>
              <a:ext cx="0" cy="384"/>
            </a:xfrm>
            <a:prstGeom prst="line">
              <a:avLst/>
            </a:prstGeom>
            <a:ln w="9525" cap="flat" cmpd="sng">
              <a:solidFill>
                <a:srgbClr val="000099"/>
              </a:solidFill>
              <a:prstDash val="solid"/>
              <a:headEnd type="none" w="med" len="med"/>
              <a:tailEnd type="none" w="med" len="med"/>
            </a:ln>
          </p:spPr>
        </p:sp>
        <p:sp>
          <p:nvSpPr>
            <p:cNvPr id="64531" name="Line 11"/>
            <p:cNvSpPr/>
            <p:nvPr/>
          </p:nvSpPr>
          <p:spPr>
            <a:xfrm>
              <a:off x="0" y="192"/>
              <a:ext cx="672" cy="0"/>
            </a:xfrm>
            <a:prstGeom prst="line">
              <a:avLst/>
            </a:prstGeom>
            <a:ln w="31750" cap="flat" cmpd="sng">
              <a:solidFill>
                <a:srgbClr val="0000FF"/>
              </a:solidFill>
              <a:prstDash val="solid"/>
              <a:headEnd type="oval" w="sm" len="sm"/>
              <a:tailEnd type="triangle" w="med" len="lg"/>
            </a:ln>
          </p:spPr>
        </p:sp>
      </p:grpSp>
      <p:grpSp>
        <p:nvGrpSpPr>
          <p:cNvPr id="4" name="Group 12"/>
          <p:cNvGrpSpPr/>
          <p:nvPr/>
        </p:nvGrpSpPr>
        <p:grpSpPr>
          <a:xfrm>
            <a:off x="6477000" y="4724400"/>
            <a:ext cx="3048000" cy="609600"/>
            <a:chOff x="0" y="0"/>
            <a:chExt cx="1920" cy="384"/>
          </a:xfrm>
        </p:grpSpPr>
        <p:sp>
          <p:nvSpPr>
            <p:cNvPr id="64525" name="Rectangle 13"/>
            <p:cNvSpPr/>
            <p:nvPr/>
          </p:nvSpPr>
          <p:spPr>
            <a:xfrm>
              <a:off x="672" y="0"/>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0099"/>
                  </a:solidFill>
                </a:rPr>
                <a:t>a</a:t>
              </a:r>
              <a:r>
                <a:rPr lang="zh-CN" altLang="zh-CN" sz="3600" b="1" baseline="-25000" dirty="0">
                  <a:solidFill>
                    <a:srgbClr val="000099"/>
                  </a:solidFill>
                </a:rPr>
                <a:t>i+1</a:t>
              </a:r>
              <a:endParaRPr lang="zh-CN" altLang="zh-CN" sz="3600" dirty="0"/>
            </a:p>
          </p:txBody>
        </p:sp>
        <p:sp>
          <p:nvSpPr>
            <p:cNvPr id="64526" name="Line 14"/>
            <p:cNvSpPr/>
            <p:nvPr/>
          </p:nvSpPr>
          <p:spPr>
            <a:xfrm>
              <a:off x="1152" y="0"/>
              <a:ext cx="0" cy="384"/>
            </a:xfrm>
            <a:prstGeom prst="line">
              <a:avLst/>
            </a:prstGeom>
            <a:ln w="9525" cap="flat" cmpd="sng">
              <a:solidFill>
                <a:srgbClr val="000099"/>
              </a:solidFill>
              <a:prstDash val="solid"/>
              <a:headEnd type="none" w="med" len="med"/>
              <a:tailEnd type="none" w="med" len="med"/>
            </a:ln>
          </p:spPr>
        </p:sp>
        <p:sp>
          <p:nvSpPr>
            <p:cNvPr id="64527" name="Line 15"/>
            <p:cNvSpPr/>
            <p:nvPr/>
          </p:nvSpPr>
          <p:spPr>
            <a:xfrm>
              <a:off x="0" y="192"/>
              <a:ext cx="672" cy="0"/>
            </a:xfrm>
            <a:prstGeom prst="line">
              <a:avLst/>
            </a:prstGeom>
            <a:ln w="31750" cap="flat" cmpd="sng">
              <a:solidFill>
                <a:srgbClr val="0000FF"/>
              </a:solidFill>
              <a:prstDash val="solid"/>
              <a:headEnd type="oval" w="sm" len="sm"/>
              <a:tailEnd type="triangle" w="med" len="lg"/>
            </a:ln>
          </p:spPr>
        </p:sp>
        <p:sp>
          <p:nvSpPr>
            <p:cNvPr id="64528" name="Line 16"/>
            <p:cNvSpPr/>
            <p:nvPr/>
          </p:nvSpPr>
          <p:spPr>
            <a:xfrm>
              <a:off x="1248" y="192"/>
              <a:ext cx="672" cy="0"/>
            </a:xfrm>
            <a:prstGeom prst="line">
              <a:avLst/>
            </a:prstGeom>
            <a:ln w="31750" cap="flat" cmpd="sng">
              <a:solidFill>
                <a:srgbClr val="0000FF"/>
              </a:solidFill>
              <a:prstDash val="solid"/>
              <a:headEnd type="oval" w="sm" len="sm"/>
              <a:tailEnd type="triangle" w="med" len="lg"/>
            </a:ln>
          </p:spPr>
        </p:sp>
      </p:grpSp>
      <p:sp useBgFill="1">
        <p:nvSpPr>
          <p:cNvPr id="75793" name="Rectangle 17"/>
          <p:cNvSpPr/>
          <p:nvPr/>
        </p:nvSpPr>
        <p:spPr>
          <a:xfrm>
            <a:off x="4419600" y="4953000"/>
            <a:ext cx="1143000" cy="228600"/>
          </a:xfrm>
          <a:prstGeom prst="rect">
            <a:avLst/>
          </a:prstGeom>
          <a:ln w="9525">
            <a:noFill/>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grpSp>
        <p:nvGrpSpPr>
          <p:cNvPr id="5" name="Group 18"/>
          <p:cNvGrpSpPr/>
          <p:nvPr/>
        </p:nvGrpSpPr>
        <p:grpSpPr>
          <a:xfrm>
            <a:off x="3581400" y="4724400"/>
            <a:ext cx="1066800" cy="609600"/>
            <a:chOff x="0" y="0"/>
            <a:chExt cx="672" cy="384"/>
          </a:xfrm>
        </p:grpSpPr>
        <p:sp>
          <p:nvSpPr>
            <p:cNvPr id="64523" name="Rectangle 19"/>
            <p:cNvSpPr/>
            <p:nvPr/>
          </p:nvSpPr>
          <p:spPr>
            <a:xfrm>
              <a:off x="0" y="0"/>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0099"/>
                  </a:solidFill>
                </a:rPr>
                <a:t>a</a:t>
              </a:r>
              <a:r>
                <a:rPr lang="zh-CN" altLang="zh-CN" sz="3600" b="1" baseline="-25000" dirty="0">
                  <a:solidFill>
                    <a:srgbClr val="000099"/>
                  </a:solidFill>
                </a:rPr>
                <a:t>i-1</a:t>
              </a:r>
              <a:endParaRPr lang="zh-CN" altLang="zh-CN" sz="3600" dirty="0"/>
            </a:p>
          </p:txBody>
        </p:sp>
        <p:sp>
          <p:nvSpPr>
            <p:cNvPr id="64524" name="Line 20"/>
            <p:cNvSpPr/>
            <p:nvPr/>
          </p:nvSpPr>
          <p:spPr>
            <a:xfrm>
              <a:off x="480" y="0"/>
              <a:ext cx="0" cy="384"/>
            </a:xfrm>
            <a:prstGeom prst="line">
              <a:avLst/>
            </a:prstGeom>
            <a:ln w="9525" cap="flat" cmpd="sng">
              <a:solidFill>
                <a:srgbClr val="000099"/>
              </a:solidFill>
              <a:prstDash val="solid"/>
              <a:headEnd type="none" w="med" len="med"/>
              <a:tailEnd type="none" w="med" len="med"/>
            </a:ln>
          </p:spPr>
        </p:sp>
      </p:grpSp>
      <p:cxnSp>
        <p:nvCxnSpPr>
          <p:cNvPr id="75797" name="AutoShape 21"/>
          <p:cNvCxnSpPr>
            <a:stCxn id="64523" idx="3"/>
            <a:endCxn id="64525" idx="2"/>
          </p:cNvCxnSpPr>
          <p:nvPr/>
        </p:nvCxnSpPr>
        <p:spPr>
          <a:xfrm>
            <a:off x="4662488" y="5029200"/>
            <a:ext cx="3414712" cy="319088"/>
          </a:xfrm>
          <a:prstGeom prst="bentConnector4">
            <a:avLst>
              <a:gd name="adj1" fmla="val 12972"/>
              <a:gd name="adj2" fmla="val 364181"/>
            </a:avLst>
          </a:prstGeom>
          <a:ln w="31750" cap="flat" cmpd="sng">
            <a:solidFill>
              <a:srgbClr val="008080"/>
            </a:solidFill>
            <a:prstDash val="solid"/>
            <a:miter/>
            <a:headEnd type="oval" w="sm" len="med"/>
            <a:tailEnd type="triangle" w="med" len="lg"/>
          </a:ln>
        </p:spPr>
      </p:cxnSp>
      <p:sp useBgFill="1">
        <p:nvSpPr>
          <p:cNvPr id="75798" name="Rectangle 22"/>
          <p:cNvSpPr/>
          <p:nvPr/>
        </p:nvSpPr>
        <p:spPr>
          <a:xfrm>
            <a:off x="5486400" y="4648200"/>
            <a:ext cx="2057400" cy="762000"/>
          </a:xfrm>
          <a:prstGeom prst="rect">
            <a:avLst/>
          </a:prstGeom>
          <a:ln w="9525">
            <a:noFill/>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5778"/>
                                        </p:tgtEl>
                                        <p:attrNameLst>
                                          <p:attrName>style.visibility</p:attrName>
                                        </p:attrNameLst>
                                      </p:cBhvr>
                                      <p:to>
                                        <p:strVal val="visible"/>
                                      </p:to>
                                    </p:set>
                                    <p:animEffect transition="in" filter="wipe(left)">
                                      <p:cBhvr>
                                        <p:cTn id="7" dur="500"/>
                                        <p:tgtEl>
                                          <p:spTgt spid="7577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75779"/>
                                        </p:tgtEl>
                                        <p:attrNameLst>
                                          <p:attrName>style.visibility</p:attrName>
                                        </p:attrNameLst>
                                      </p:cBhvr>
                                      <p:to>
                                        <p:strVal val="visible"/>
                                      </p:to>
                                    </p:set>
                                    <p:animEffect transition="in" filter="barn(outVertical)">
                                      <p:cBhvr>
                                        <p:cTn id="12" dur="500"/>
                                        <p:tgtEl>
                                          <p:spTgt spid="757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75793"/>
                                        </p:tgtEl>
                                        <p:attrNameLst>
                                          <p:attrName>style.visibility</p:attrName>
                                        </p:attrNameLst>
                                      </p:cBhvr>
                                      <p:to>
                                        <p:strVal val="visible"/>
                                      </p:to>
                                    </p:set>
                                    <p:animEffect transition="in" filter="wipe(up)">
                                      <p:cBhvr>
                                        <p:cTn id="30" dur="500"/>
                                        <p:tgtEl>
                                          <p:spTgt spid="75793"/>
                                        </p:tgtEl>
                                      </p:cBhvr>
                                    </p:animEffect>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499"/>
                                          </p:stCondLst>
                                        </p:cTn>
                                        <p:tgtEl>
                                          <p:spTgt spid="5"/>
                                        </p:tgtEl>
                                        <p:attrNameLst>
                                          <p:attrName>style.visibility</p:attrName>
                                        </p:attrNameLst>
                                      </p:cBhvr>
                                      <p:to>
                                        <p:strVal val="visible"/>
                                      </p:to>
                                    </p:set>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75797"/>
                                        </p:tgtEl>
                                        <p:attrNameLst>
                                          <p:attrName>style.visibility</p:attrName>
                                        </p:attrNameLst>
                                      </p:cBhvr>
                                      <p:to>
                                        <p:strVal val="visible"/>
                                      </p:to>
                                    </p:set>
                                    <p:animEffect transition="in" filter="wipe(left)">
                                      <p:cBhvr>
                                        <p:cTn id="37" dur="500"/>
                                        <p:tgtEl>
                                          <p:spTgt spid="7579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5798"/>
                                        </p:tgtEl>
                                        <p:attrNameLst>
                                          <p:attrName>style.visibility</p:attrName>
                                        </p:attrNameLst>
                                      </p:cBhvr>
                                      <p:to>
                                        <p:strVal val="visible"/>
                                      </p:to>
                                    </p:set>
                                    <p:animEffect transition="in" filter="wipe(left)">
                                      <p:cBhvr>
                                        <p:cTn id="42" dur="500"/>
                                        <p:tgtEl>
                                          <p:spTgt spid="75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P spid="75779" grpId="0"/>
      <p:bldP spid="75793" grpId="0" animBg="1"/>
      <p:bldP spid="7579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p:nvPr/>
        </p:nvSpPr>
        <p:spPr>
          <a:xfrm>
            <a:off x="479376" y="152400"/>
            <a:ext cx="11233247" cy="1645643"/>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40000"/>
              </a:lnSpc>
              <a:spcBef>
                <a:spcPct val="0"/>
              </a:spcBef>
              <a:buClrTx/>
              <a:buNone/>
            </a:pPr>
            <a:r>
              <a:rPr lang="zh-CN" altLang="zh-CN" sz="4000" dirty="0">
                <a:solidFill>
                  <a:srgbClr val="9900CC"/>
                </a:solidFill>
                <a:latin typeface="楷体_GB2312" pitchFamily="49" charset="-122"/>
                <a:ea typeface="楷体_GB2312" pitchFamily="49" charset="-122"/>
              </a:rPr>
              <a:t>   </a:t>
            </a:r>
            <a:r>
              <a:rPr lang="zh-CN" altLang="zh-CN" sz="3600" dirty="0">
                <a:solidFill>
                  <a:srgbClr val="9900CC"/>
                </a:solidFill>
                <a:latin typeface="楷体_GB2312" pitchFamily="49" charset="-122"/>
                <a:ea typeface="楷体_GB2312" pitchFamily="49" charset="-122"/>
              </a:rPr>
              <a:t>在单链表中</a:t>
            </a:r>
            <a:r>
              <a:rPr lang="zh-CN" altLang="zh-CN" sz="3600" b="1" dirty="0">
                <a:solidFill>
                  <a:srgbClr val="9900CC"/>
                </a:solidFill>
                <a:latin typeface="楷体_GB2312" pitchFamily="49" charset="-122"/>
                <a:ea typeface="楷体_GB2312" pitchFamily="49" charset="-122"/>
              </a:rPr>
              <a:t>删除第</a:t>
            </a:r>
            <a:r>
              <a:rPr lang="zh-CN" altLang="zh-CN" sz="3600" dirty="0">
                <a:solidFill>
                  <a:srgbClr val="9900CC"/>
                </a:solidFill>
                <a:latin typeface="楷体_GB2312" pitchFamily="49" charset="-122"/>
                <a:ea typeface="楷体_GB2312" pitchFamily="49" charset="-122"/>
              </a:rPr>
              <a:t> </a:t>
            </a:r>
            <a:r>
              <a:rPr lang="zh-CN" altLang="zh-CN" sz="3600" b="1" dirty="0">
                <a:solidFill>
                  <a:srgbClr val="9900CC"/>
                </a:solidFill>
                <a:latin typeface="楷体_GB2312" pitchFamily="49" charset="-122"/>
                <a:ea typeface="楷体_GB2312" pitchFamily="49" charset="-122"/>
              </a:rPr>
              <a:t>i 个结点</a:t>
            </a:r>
            <a:r>
              <a:rPr lang="zh-CN" altLang="zh-CN" sz="3600" dirty="0">
                <a:solidFill>
                  <a:srgbClr val="9900CC"/>
                </a:solidFill>
                <a:latin typeface="楷体_GB2312" pitchFamily="49" charset="-122"/>
                <a:ea typeface="楷体_GB2312" pitchFamily="49" charset="-122"/>
              </a:rPr>
              <a:t>的</a:t>
            </a:r>
            <a:r>
              <a:rPr lang="zh-CN" altLang="zh-CN" sz="3600" b="1" dirty="0">
                <a:solidFill>
                  <a:srgbClr val="9900CC"/>
                </a:solidFill>
                <a:latin typeface="楷体_GB2312" pitchFamily="49" charset="-122"/>
                <a:ea typeface="楷体_GB2312" pitchFamily="49" charset="-122"/>
              </a:rPr>
              <a:t>基本操作</a:t>
            </a:r>
            <a:r>
              <a:rPr lang="zh-CN" altLang="zh-CN" sz="3600" dirty="0">
                <a:solidFill>
                  <a:srgbClr val="9900CC"/>
                </a:solidFill>
                <a:latin typeface="楷体_GB2312" pitchFamily="49" charset="-122"/>
                <a:ea typeface="楷体_GB2312" pitchFamily="49" charset="-122"/>
              </a:rPr>
              <a:t>为:</a:t>
            </a:r>
            <a:r>
              <a:rPr lang="zh-CN" altLang="zh-CN" sz="3600" b="1" dirty="0">
                <a:solidFill>
                  <a:srgbClr val="000099"/>
                </a:solidFill>
                <a:latin typeface="楷体_GB2312" pitchFamily="49" charset="-122"/>
                <a:ea typeface="楷体_GB2312" pitchFamily="49" charset="-122"/>
              </a:rPr>
              <a:t>找到线性表中第i-1个结点，修改其指向后继的指针。</a:t>
            </a:r>
          </a:p>
        </p:txBody>
      </p:sp>
      <p:grpSp>
        <p:nvGrpSpPr>
          <p:cNvPr id="2" name="Group 3"/>
          <p:cNvGrpSpPr/>
          <p:nvPr/>
        </p:nvGrpSpPr>
        <p:grpSpPr>
          <a:xfrm>
            <a:off x="2590800" y="5029200"/>
            <a:ext cx="2057400" cy="609600"/>
            <a:chOff x="0" y="0"/>
            <a:chExt cx="1296" cy="384"/>
          </a:xfrm>
        </p:grpSpPr>
        <p:sp>
          <p:nvSpPr>
            <p:cNvPr id="65563" name="Rectangle 4"/>
            <p:cNvSpPr/>
            <p:nvPr/>
          </p:nvSpPr>
          <p:spPr>
            <a:xfrm>
              <a:off x="624" y="0"/>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0099"/>
                  </a:solidFill>
                </a:rPr>
                <a:t>a</a:t>
              </a:r>
              <a:r>
                <a:rPr lang="zh-CN" altLang="zh-CN" sz="3600" b="1" baseline="-25000" dirty="0">
                  <a:solidFill>
                    <a:srgbClr val="000099"/>
                  </a:solidFill>
                </a:rPr>
                <a:t>i-1</a:t>
              </a:r>
              <a:endParaRPr lang="zh-CN" altLang="zh-CN" sz="3600" dirty="0"/>
            </a:p>
          </p:txBody>
        </p:sp>
        <p:sp>
          <p:nvSpPr>
            <p:cNvPr id="65564" name="Line 5"/>
            <p:cNvSpPr/>
            <p:nvPr/>
          </p:nvSpPr>
          <p:spPr>
            <a:xfrm>
              <a:off x="1104" y="0"/>
              <a:ext cx="0" cy="384"/>
            </a:xfrm>
            <a:prstGeom prst="line">
              <a:avLst/>
            </a:prstGeom>
            <a:ln w="9525" cap="flat" cmpd="sng">
              <a:solidFill>
                <a:srgbClr val="000099"/>
              </a:solidFill>
              <a:prstDash val="solid"/>
              <a:headEnd type="none" w="med" len="med"/>
              <a:tailEnd type="none" w="med" len="med"/>
            </a:ln>
          </p:spPr>
        </p:sp>
        <p:sp>
          <p:nvSpPr>
            <p:cNvPr id="65565" name="Line 6"/>
            <p:cNvSpPr/>
            <p:nvPr/>
          </p:nvSpPr>
          <p:spPr>
            <a:xfrm>
              <a:off x="0" y="192"/>
              <a:ext cx="624" cy="0"/>
            </a:xfrm>
            <a:prstGeom prst="line">
              <a:avLst/>
            </a:prstGeom>
            <a:ln w="31750" cap="flat" cmpd="sng">
              <a:solidFill>
                <a:srgbClr val="0000FF"/>
              </a:solidFill>
              <a:prstDash val="solid"/>
              <a:headEnd type="oval" w="sm" len="sm"/>
              <a:tailEnd type="triangle" w="med" len="lg"/>
            </a:ln>
          </p:spPr>
        </p:sp>
      </p:grpSp>
      <p:grpSp>
        <p:nvGrpSpPr>
          <p:cNvPr id="3" name="Group 7"/>
          <p:cNvGrpSpPr/>
          <p:nvPr/>
        </p:nvGrpSpPr>
        <p:grpSpPr>
          <a:xfrm>
            <a:off x="4495800" y="5029200"/>
            <a:ext cx="2133600" cy="609600"/>
            <a:chOff x="0" y="0"/>
            <a:chExt cx="1344" cy="384"/>
          </a:xfrm>
        </p:grpSpPr>
        <p:sp>
          <p:nvSpPr>
            <p:cNvPr id="65560" name="Rectangle 8"/>
            <p:cNvSpPr/>
            <p:nvPr/>
          </p:nvSpPr>
          <p:spPr>
            <a:xfrm>
              <a:off x="672" y="0"/>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0099"/>
                  </a:solidFill>
                </a:rPr>
                <a:t>a</a:t>
              </a:r>
              <a:r>
                <a:rPr lang="zh-CN" altLang="zh-CN" sz="3600" b="1" baseline="-25000" dirty="0">
                  <a:solidFill>
                    <a:srgbClr val="000099"/>
                  </a:solidFill>
                </a:rPr>
                <a:t>i</a:t>
              </a:r>
              <a:endParaRPr lang="zh-CN" altLang="zh-CN" sz="3600" dirty="0"/>
            </a:p>
          </p:txBody>
        </p:sp>
        <p:sp>
          <p:nvSpPr>
            <p:cNvPr id="65561" name="Line 9"/>
            <p:cNvSpPr/>
            <p:nvPr/>
          </p:nvSpPr>
          <p:spPr>
            <a:xfrm>
              <a:off x="1152" y="0"/>
              <a:ext cx="0" cy="384"/>
            </a:xfrm>
            <a:prstGeom prst="line">
              <a:avLst/>
            </a:prstGeom>
            <a:ln w="9525" cap="flat" cmpd="sng">
              <a:solidFill>
                <a:srgbClr val="000099"/>
              </a:solidFill>
              <a:prstDash val="solid"/>
              <a:headEnd type="none" w="med" len="med"/>
              <a:tailEnd type="none" w="med" len="med"/>
            </a:ln>
          </p:spPr>
        </p:sp>
        <p:sp>
          <p:nvSpPr>
            <p:cNvPr id="65562" name="Line 10"/>
            <p:cNvSpPr/>
            <p:nvPr/>
          </p:nvSpPr>
          <p:spPr>
            <a:xfrm>
              <a:off x="0" y="192"/>
              <a:ext cx="672" cy="0"/>
            </a:xfrm>
            <a:prstGeom prst="line">
              <a:avLst/>
            </a:prstGeom>
            <a:ln w="31750" cap="flat" cmpd="sng">
              <a:solidFill>
                <a:srgbClr val="0000FF"/>
              </a:solidFill>
              <a:prstDash val="solid"/>
              <a:headEnd type="oval" w="sm" len="sm"/>
              <a:tailEnd type="triangle" w="med" len="lg"/>
            </a:ln>
          </p:spPr>
        </p:sp>
      </p:grpSp>
      <p:grpSp>
        <p:nvGrpSpPr>
          <p:cNvPr id="4" name="Group 11"/>
          <p:cNvGrpSpPr/>
          <p:nvPr/>
        </p:nvGrpSpPr>
        <p:grpSpPr>
          <a:xfrm>
            <a:off x="6477000" y="5029200"/>
            <a:ext cx="3048000" cy="609600"/>
            <a:chOff x="0" y="0"/>
            <a:chExt cx="1920" cy="384"/>
          </a:xfrm>
        </p:grpSpPr>
        <p:sp>
          <p:nvSpPr>
            <p:cNvPr id="65556" name="Rectangle 12"/>
            <p:cNvSpPr/>
            <p:nvPr/>
          </p:nvSpPr>
          <p:spPr>
            <a:xfrm>
              <a:off x="672" y="0"/>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0099"/>
                  </a:solidFill>
                </a:rPr>
                <a:t>a</a:t>
              </a:r>
              <a:r>
                <a:rPr lang="zh-CN" altLang="zh-CN" sz="3600" b="1" baseline="-25000" dirty="0">
                  <a:solidFill>
                    <a:srgbClr val="000099"/>
                  </a:solidFill>
                </a:rPr>
                <a:t>i+1</a:t>
              </a:r>
              <a:endParaRPr lang="zh-CN" altLang="zh-CN" sz="3600" dirty="0"/>
            </a:p>
          </p:txBody>
        </p:sp>
        <p:sp>
          <p:nvSpPr>
            <p:cNvPr id="65557" name="Line 13"/>
            <p:cNvSpPr/>
            <p:nvPr/>
          </p:nvSpPr>
          <p:spPr>
            <a:xfrm>
              <a:off x="1152" y="0"/>
              <a:ext cx="0" cy="384"/>
            </a:xfrm>
            <a:prstGeom prst="line">
              <a:avLst/>
            </a:prstGeom>
            <a:ln w="9525" cap="flat" cmpd="sng">
              <a:solidFill>
                <a:srgbClr val="000099"/>
              </a:solidFill>
              <a:prstDash val="solid"/>
              <a:headEnd type="none" w="med" len="med"/>
              <a:tailEnd type="none" w="med" len="med"/>
            </a:ln>
          </p:spPr>
        </p:sp>
        <p:sp>
          <p:nvSpPr>
            <p:cNvPr id="65558" name="Line 14"/>
            <p:cNvSpPr/>
            <p:nvPr/>
          </p:nvSpPr>
          <p:spPr>
            <a:xfrm>
              <a:off x="0" y="192"/>
              <a:ext cx="672" cy="0"/>
            </a:xfrm>
            <a:prstGeom prst="line">
              <a:avLst/>
            </a:prstGeom>
            <a:ln w="31750" cap="flat" cmpd="sng">
              <a:solidFill>
                <a:srgbClr val="0000FF"/>
              </a:solidFill>
              <a:prstDash val="solid"/>
              <a:headEnd type="oval" w="sm" len="sm"/>
              <a:tailEnd type="triangle" w="med" len="lg"/>
            </a:ln>
          </p:spPr>
        </p:sp>
        <p:sp>
          <p:nvSpPr>
            <p:cNvPr id="65559" name="Line 15"/>
            <p:cNvSpPr/>
            <p:nvPr/>
          </p:nvSpPr>
          <p:spPr>
            <a:xfrm>
              <a:off x="1248" y="192"/>
              <a:ext cx="672" cy="0"/>
            </a:xfrm>
            <a:prstGeom prst="line">
              <a:avLst/>
            </a:prstGeom>
            <a:ln w="31750" cap="flat" cmpd="sng">
              <a:solidFill>
                <a:srgbClr val="0000FF"/>
              </a:solidFill>
              <a:prstDash val="solid"/>
              <a:headEnd type="oval" w="sm" len="sm"/>
              <a:tailEnd type="triangle" w="med" len="lg"/>
            </a:ln>
          </p:spPr>
        </p:sp>
      </p:grpSp>
      <p:sp useBgFill="1">
        <p:nvSpPr>
          <p:cNvPr id="76816" name="Rectangle 16"/>
          <p:cNvSpPr/>
          <p:nvPr/>
        </p:nvSpPr>
        <p:spPr>
          <a:xfrm>
            <a:off x="4419600" y="5257800"/>
            <a:ext cx="1143000" cy="228600"/>
          </a:xfrm>
          <a:prstGeom prst="rect">
            <a:avLst/>
          </a:prstGeom>
          <a:ln w="9525">
            <a:noFill/>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grpSp>
        <p:nvGrpSpPr>
          <p:cNvPr id="5" name="Group 17"/>
          <p:cNvGrpSpPr/>
          <p:nvPr/>
        </p:nvGrpSpPr>
        <p:grpSpPr>
          <a:xfrm>
            <a:off x="3581400" y="5029200"/>
            <a:ext cx="1066800" cy="609600"/>
            <a:chOff x="0" y="0"/>
            <a:chExt cx="672" cy="384"/>
          </a:xfrm>
        </p:grpSpPr>
        <p:sp>
          <p:nvSpPr>
            <p:cNvPr id="65554" name="Rectangle 18"/>
            <p:cNvSpPr/>
            <p:nvPr/>
          </p:nvSpPr>
          <p:spPr>
            <a:xfrm>
              <a:off x="0" y="0"/>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000099"/>
                  </a:solidFill>
                </a:rPr>
                <a:t>a</a:t>
              </a:r>
              <a:r>
                <a:rPr lang="zh-CN" altLang="zh-CN" sz="3600" b="1" baseline="-25000" dirty="0">
                  <a:solidFill>
                    <a:srgbClr val="000099"/>
                  </a:solidFill>
                </a:rPr>
                <a:t>i-1</a:t>
              </a:r>
              <a:endParaRPr lang="zh-CN" altLang="zh-CN" sz="3600" dirty="0"/>
            </a:p>
          </p:txBody>
        </p:sp>
        <p:sp>
          <p:nvSpPr>
            <p:cNvPr id="65555" name="Line 19"/>
            <p:cNvSpPr/>
            <p:nvPr/>
          </p:nvSpPr>
          <p:spPr>
            <a:xfrm>
              <a:off x="480" y="0"/>
              <a:ext cx="0" cy="384"/>
            </a:xfrm>
            <a:prstGeom prst="line">
              <a:avLst/>
            </a:prstGeom>
            <a:ln w="9525" cap="flat" cmpd="sng">
              <a:solidFill>
                <a:srgbClr val="000099"/>
              </a:solidFill>
              <a:prstDash val="solid"/>
              <a:headEnd type="none" w="med" len="med"/>
              <a:tailEnd type="none" w="med" len="med"/>
            </a:ln>
          </p:spPr>
        </p:sp>
      </p:grpSp>
      <p:cxnSp>
        <p:nvCxnSpPr>
          <p:cNvPr id="76820" name="AutoShape 20"/>
          <p:cNvCxnSpPr>
            <a:stCxn id="65554" idx="3"/>
          </p:cNvCxnSpPr>
          <p:nvPr/>
        </p:nvCxnSpPr>
        <p:spPr>
          <a:xfrm>
            <a:off x="4662488" y="5334000"/>
            <a:ext cx="3414712" cy="319088"/>
          </a:xfrm>
          <a:prstGeom prst="bentConnector4">
            <a:avLst>
              <a:gd name="adj1" fmla="val 11856"/>
              <a:gd name="adj2" fmla="val 322389"/>
            </a:avLst>
          </a:prstGeom>
          <a:ln w="31750" cap="flat" cmpd="sng">
            <a:solidFill>
              <a:srgbClr val="008080"/>
            </a:solidFill>
            <a:prstDash val="solid"/>
            <a:miter/>
            <a:headEnd type="oval" w="sm" len="med"/>
            <a:tailEnd type="triangle" w="med" len="lg"/>
          </a:ln>
        </p:spPr>
      </p:cxnSp>
      <p:sp useBgFill="1">
        <p:nvSpPr>
          <p:cNvPr id="76821" name="Rectangle 21"/>
          <p:cNvSpPr/>
          <p:nvPr/>
        </p:nvSpPr>
        <p:spPr>
          <a:xfrm>
            <a:off x="5486400" y="4953000"/>
            <a:ext cx="2057400" cy="838200"/>
          </a:xfrm>
          <a:prstGeom prst="rect">
            <a:avLst/>
          </a:prstGeom>
          <a:ln w="9525">
            <a:noFill/>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
        <p:nvSpPr>
          <p:cNvPr id="76822" name="Rectangle 22"/>
          <p:cNvSpPr/>
          <p:nvPr/>
        </p:nvSpPr>
        <p:spPr>
          <a:xfrm>
            <a:off x="3152776" y="2438401"/>
            <a:ext cx="6125395" cy="14811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50000"/>
              </a:lnSpc>
              <a:spcBef>
                <a:spcPct val="0"/>
              </a:spcBef>
              <a:buClrTx/>
              <a:buNone/>
            </a:pPr>
            <a:r>
              <a:rPr lang="zh-CN" altLang="zh-CN" b="1" dirty="0">
                <a:solidFill>
                  <a:srgbClr val="9900CC"/>
                </a:solidFill>
              </a:rPr>
              <a:t>q = p-&gt;next;   p-&gt;next = q-&gt;next;</a:t>
            </a:r>
            <a:r>
              <a:rPr lang="zh-CN" altLang="zh-CN" dirty="0"/>
              <a:t>  </a:t>
            </a:r>
          </a:p>
          <a:p>
            <a:pPr marL="0" indent="0" eaLnBrk="1" hangingPunct="1">
              <a:lnSpc>
                <a:spcPct val="150000"/>
              </a:lnSpc>
              <a:spcBef>
                <a:spcPct val="0"/>
              </a:spcBef>
              <a:buClrTx/>
              <a:buNone/>
            </a:pPr>
            <a:r>
              <a:rPr lang="zh-CN" altLang="zh-CN" dirty="0"/>
              <a:t>e = q-&gt;data;     </a:t>
            </a:r>
            <a:r>
              <a:rPr lang="zh-CN" altLang="zh-CN" b="1" i="1" dirty="0">
                <a:solidFill>
                  <a:srgbClr val="000099"/>
                </a:solidFill>
              </a:rPr>
              <a:t>free(q);</a:t>
            </a:r>
          </a:p>
        </p:txBody>
      </p:sp>
      <p:sp>
        <p:nvSpPr>
          <p:cNvPr id="76823" name="Line 23"/>
          <p:cNvSpPr/>
          <p:nvPr/>
        </p:nvSpPr>
        <p:spPr>
          <a:xfrm>
            <a:off x="2895600" y="4572000"/>
            <a:ext cx="685800" cy="457200"/>
          </a:xfrm>
          <a:prstGeom prst="line">
            <a:avLst/>
          </a:prstGeom>
          <a:ln w="38100" cap="flat" cmpd="sng">
            <a:solidFill>
              <a:srgbClr val="993300"/>
            </a:solidFill>
            <a:prstDash val="solid"/>
            <a:headEnd type="none" w="med" len="med"/>
            <a:tailEnd type="triangle" w="med" len="lg"/>
          </a:ln>
        </p:spPr>
      </p:sp>
      <p:sp>
        <p:nvSpPr>
          <p:cNvPr id="76824" name="Text Box 24"/>
          <p:cNvSpPr txBox="1"/>
          <p:nvPr/>
        </p:nvSpPr>
        <p:spPr>
          <a:xfrm>
            <a:off x="2574925" y="4006850"/>
            <a:ext cx="4381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990000"/>
                </a:solidFill>
              </a:rPr>
              <a:t>p</a:t>
            </a:r>
            <a:endParaRPr lang="zh-CN" altLang="zh-CN" sz="3600" dirty="0"/>
          </a:p>
        </p:txBody>
      </p:sp>
      <p:sp>
        <p:nvSpPr>
          <p:cNvPr id="76825" name="Line 25"/>
          <p:cNvSpPr/>
          <p:nvPr/>
        </p:nvSpPr>
        <p:spPr>
          <a:xfrm>
            <a:off x="5257800" y="4572000"/>
            <a:ext cx="685800" cy="457200"/>
          </a:xfrm>
          <a:prstGeom prst="line">
            <a:avLst/>
          </a:prstGeom>
          <a:ln w="38100" cap="flat" cmpd="sng">
            <a:solidFill>
              <a:srgbClr val="993300"/>
            </a:solidFill>
            <a:prstDash val="solid"/>
            <a:headEnd type="none" w="med" len="med"/>
            <a:tailEnd type="triangle" w="med" len="lg"/>
          </a:ln>
        </p:spPr>
      </p:sp>
      <p:sp>
        <p:nvSpPr>
          <p:cNvPr id="76826" name="Text Box 26"/>
          <p:cNvSpPr txBox="1"/>
          <p:nvPr/>
        </p:nvSpPr>
        <p:spPr>
          <a:xfrm>
            <a:off x="4895850" y="4083050"/>
            <a:ext cx="4381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solidFill>
                  <a:srgbClr val="990000"/>
                </a:solidFill>
              </a:rPr>
              <a:t>q</a:t>
            </a:r>
            <a:endParaRPr lang="zh-CN" altLang="zh-CN" sz="3600" dirty="0"/>
          </a:p>
        </p:txBody>
      </p:sp>
      <p:sp>
        <p:nvSpPr>
          <p:cNvPr id="76827" name="Line 27"/>
          <p:cNvSpPr/>
          <p:nvPr/>
        </p:nvSpPr>
        <p:spPr>
          <a:xfrm>
            <a:off x="3200400" y="3200400"/>
            <a:ext cx="2133600" cy="0"/>
          </a:xfrm>
          <a:prstGeom prst="line">
            <a:avLst/>
          </a:prstGeom>
          <a:ln w="57150" cap="flat" cmpd="sng">
            <a:solidFill>
              <a:srgbClr val="660033"/>
            </a:solidFill>
            <a:prstDash val="solid"/>
            <a:headEnd type="none" w="med" len="med"/>
            <a:tailEnd type="none" w="med" len="med"/>
          </a:ln>
        </p:spPr>
      </p:sp>
      <p:sp>
        <p:nvSpPr>
          <p:cNvPr id="76828" name="Line 28"/>
          <p:cNvSpPr/>
          <p:nvPr/>
        </p:nvSpPr>
        <p:spPr>
          <a:xfrm>
            <a:off x="5638800" y="3200400"/>
            <a:ext cx="3276600" cy="0"/>
          </a:xfrm>
          <a:prstGeom prst="line">
            <a:avLst/>
          </a:prstGeom>
          <a:ln w="57150" cap="flat" cmpd="sng">
            <a:solidFill>
              <a:srgbClr val="660033"/>
            </a:solidFill>
            <a:prstDash val="solid"/>
            <a:headEnd type="none" w="med" len="med"/>
            <a:tailEnd type="none" w="med" len="med"/>
          </a:ln>
        </p:spPr>
      </p:sp>
      <p:sp>
        <p:nvSpPr>
          <p:cNvPr id="76829" name="Line 29"/>
          <p:cNvSpPr/>
          <p:nvPr/>
        </p:nvSpPr>
        <p:spPr>
          <a:xfrm>
            <a:off x="5562600" y="3962400"/>
            <a:ext cx="1295400" cy="0"/>
          </a:xfrm>
          <a:prstGeom prst="line">
            <a:avLst/>
          </a:prstGeom>
          <a:ln w="57150" cap="flat" cmpd="sng">
            <a:solidFill>
              <a:srgbClr val="660033"/>
            </a:solidFill>
            <a:prstDash val="solid"/>
            <a:headEnd type="none" w="med" len="med"/>
            <a:tailEnd type="none" w="med" len="med"/>
          </a:ln>
        </p:spPr>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76802"/>
                                        </p:tgtEl>
                                        <p:attrNameLst>
                                          <p:attrName>style.visibility</p:attrName>
                                        </p:attrNameLst>
                                      </p:cBhvr>
                                      <p:to>
                                        <p:strVal val="visible"/>
                                      </p:to>
                                    </p:set>
                                    <p:animEffect transition="in" filter="barn(outVertical)">
                                      <p:cBhvr>
                                        <p:cTn id="7" dur="500"/>
                                        <p:tgtEl>
                                          <p:spTgt spid="7680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76822"/>
                                        </p:tgtEl>
                                        <p:attrNameLst>
                                          <p:attrName>style.visibility</p:attrName>
                                        </p:attrNameLst>
                                      </p:cBhvr>
                                      <p:to>
                                        <p:strVal val="visible"/>
                                      </p:to>
                                    </p:set>
                                    <p:animEffect transition="in" filter="strips(downRight)">
                                      <p:cBhvr>
                                        <p:cTn id="12" dur="500"/>
                                        <p:tgtEl>
                                          <p:spTgt spid="768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6824"/>
                                        </p:tgtEl>
                                        <p:attrNameLst>
                                          <p:attrName>style.visibility</p:attrName>
                                        </p:attrNameLst>
                                      </p:cBhvr>
                                      <p:to>
                                        <p:strVal val="visible"/>
                                      </p:to>
                                    </p:set>
                                    <p:animEffect transition="in" filter="wipe(left)">
                                      <p:cBhvr>
                                        <p:cTn id="30" dur="500"/>
                                        <p:tgtEl>
                                          <p:spTgt spid="76824"/>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76823"/>
                                        </p:tgtEl>
                                        <p:attrNameLst>
                                          <p:attrName>style.visibility</p:attrName>
                                        </p:attrNameLst>
                                      </p:cBhvr>
                                      <p:to>
                                        <p:strVal val="visible"/>
                                      </p:to>
                                    </p:set>
                                    <p:animEffect transition="in" filter="wipe(left)">
                                      <p:cBhvr>
                                        <p:cTn id="34" dur="500"/>
                                        <p:tgtEl>
                                          <p:spTgt spid="76823"/>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nodeType="clickEffect">
                                  <p:stCondLst>
                                    <p:cond delay="0"/>
                                  </p:stCondLst>
                                  <p:childTnLst>
                                    <p:set>
                                      <p:cBhvr>
                                        <p:cTn id="38" dur="1" fill="hold">
                                          <p:stCondLst>
                                            <p:cond delay="0"/>
                                          </p:stCondLst>
                                        </p:cTn>
                                        <p:tgtEl>
                                          <p:spTgt spid="76827"/>
                                        </p:tgtEl>
                                        <p:attrNameLst>
                                          <p:attrName>style.visibility</p:attrName>
                                        </p:attrNameLst>
                                      </p:cBhvr>
                                      <p:to>
                                        <p:strVal val="visible"/>
                                      </p:to>
                                    </p:set>
                                    <p:anim calcmode="lin" valueType="num">
                                      <p:cBhvr>
                                        <p:cTn id="39" dur="500" fill="hold"/>
                                        <p:tgtEl>
                                          <p:spTgt spid="76827"/>
                                        </p:tgtEl>
                                        <p:attrNameLst>
                                          <p:attrName>ppt_x</p:attrName>
                                        </p:attrNameLst>
                                      </p:cBhvr>
                                      <p:tavLst>
                                        <p:tav tm="0">
                                          <p:val>
                                            <p:strVal val="#ppt_x-#ppt_w/2"/>
                                          </p:val>
                                        </p:tav>
                                        <p:tav tm="100000">
                                          <p:val>
                                            <p:strVal val="#ppt_x"/>
                                          </p:val>
                                        </p:tav>
                                      </p:tavLst>
                                    </p:anim>
                                    <p:anim calcmode="lin" valueType="num">
                                      <p:cBhvr>
                                        <p:cTn id="40" dur="500" fill="hold"/>
                                        <p:tgtEl>
                                          <p:spTgt spid="76827"/>
                                        </p:tgtEl>
                                        <p:attrNameLst>
                                          <p:attrName>ppt_y</p:attrName>
                                        </p:attrNameLst>
                                      </p:cBhvr>
                                      <p:tavLst>
                                        <p:tav tm="0">
                                          <p:val>
                                            <p:strVal val="#ppt_y"/>
                                          </p:val>
                                        </p:tav>
                                        <p:tav tm="100000">
                                          <p:val>
                                            <p:strVal val="#ppt_y"/>
                                          </p:val>
                                        </p:tav>
                                      </p:tavLst>
                                    </p:anim>
                                    <p:anim calcmode="lin" valueType="num">
                                      <p:cBhvr>
                                        <p:cTn id="41" dur="500" fill="hold"/>
                                        <p:tgtEl>
                                          <p:spTgt spid="76827"/>
                                        </p:tgtEl>
                                        <p:attrNameLst>
                                          <p:attrName>ppt_w</p:attrName>
                                        </p:attrNameLst>
                                      </p:cBhvr>
                                      <p:tavLst>
                                        <p:tav tm="0">
                                          <p:val>
                                            <p:fltVal val="0"/>
                                          </p:val>
                                        </p:tav>
                                        <p:tav tm="100000">
                                          <p:val>
                                            <p:strVal val="#ppt_w"/>
                                          </p:val>
                                        </p:tav>
                                      </p:tavLst>
                                    </p:anim>
                                    <p:anim calcmode="lin" valueType="num">
                                      <p:cBhvr>
                                        <p:cTn id="42" dur="500" fill="hold"/>
                                        <p:tgtEl>
                                          <p:spTgt spid="76827"/>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6826"/>
                                        </p:tgtEl>
                                        <p:attrNameLst>
                                          <p:attrName>style.visibility</p:attrName>
                                        </p:attrNameLst>
                                      </p:cBhvr>
                                      <p:to>
                                        <p:strVal val="visible"/>
                                      </p:to>
                                    </p:set>
                                    <p:animEffect transition="in" filter="wipe(left)">
                                      <p:cBhvr>
                                        <p:cTn id="47" dur="500"/>
                                        <p:tgtEl>
                                          <p:spTgt spid="76826"/>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76825"/>
                                        </p:tgtEl>
                                        <p:attrNameLst>
                                          <p:attrName>style.visibility</p:attrName>
                                        </p:attrNameLst>
                                      </p:cBhvr>
                                      <p:to>
                                        <p:strVal val="visible"/>
                                      </p:to>
                                    </p:set>
                                    <p:animEffect transition="in" filter="wipe(left)">
                                      <p:cBhvr>
                                        <p:cTn id="51" dur="500"/>
                                        <p:tgtEl>
                                          <p:spTgt spid="76825"/>
                                        </p:tgtEl>
                                      </p:cBhvr>
                                    </p:animEffect>
                                  </p:childTnLst>
                                </p:cTn>
                              </p:par>
                            </p:childTnLst>
                          </p:cTn>
                        </p:par>
                      </p:childTnLst>
                    </p:cTn>
                  </p:par>
                  <p:par>
                    <p:cTn id="52" fill="hold">
                      <p:stCondLst>
                        <p:cond delay="indefinite"/>
                      </p:stCondLst>
                      <p:childTnLst>
                        <p:par>
                          <p:cTn id="53" fill="hold">
                            <p:stCondLst>
                              <p:cond delay="0"/>
                            </p:stCondLst>
                            <p:childTnLst>
                              <p:par>
                                <p:cTn id="54" presetID="17" presetClass="entr" presetSubtype="8" fill="hold" nodeType="clickEffect">
                                  <p:stCondLst>
                                    <p:cond delay="0"/>
                                  </p:stCondLst>
                                  <p:childTnLst>
                                    <p:set>
                                      <p:cBhvr>
                                        <p:cTn id="55" dur="1" fill="hold">
                                          <p:stCondLst>
                                            <p:cond delay="0"/>
                                          </p:stCondLst>
                                        </p:cTn>
                                        <p:tgtEl>
                                          <p:spTgt spid="76828"/>
                                        </p:tgtEl>
                                        <p:attrNameLst>
                                          <p:attrName>style.visibility</p:attrName>
                                        </p:attrNameLst>
                                      </p:cBhvr>
                                      <p:to>
                                        <p:strVal val="visible"/>
                                      </p:to>
                                    </p:set>
                                    <p:anim calcmode="lin" valueType="num">
                                      <p:cBhvr>
                                        <p:cTn id="56" dur="500" fill="hold"/>
                                        <p:tgtEl>
                                          <p:spTgt spid="76828"/>
                                        </p:tgtEl>
                                        <p:attrNameLst>
                                          <p:attrName>ppt_x</p:attrName>
                                        </p:attrNameLst>
                                      </p:cBhvr>
                                      <p:tavLst>
                                        <p:tav tm="0">
                                          <p:val>
                                            <p:strVal val="#ppt_x-#ppt_w/2"/>
                                          </p:val>
                                        </p:tav>
                                        <p:tav tm="100000">
                                          <p:val>
                                            <p:strVal val="#ppt_x"/>
                                          </p:val>
                                        </p:tav>
                                      </p:tavLst>
                                    </p:anim>
                                    <p:anim calcmode="lin" valueType="num">
                                      <p:cBhvr>
                                        <p:cTn id="57" dur="500" fill="hold"/>
                                        <p:tgtEl>
                                          <p:spTgt spid="76828"/>
                                        </p:tgtEl>
                                        <p:attrNameLst>
                                          <p:attrName>ppt_y</p:attrName>
                                        </p:attrNameLst>
                                      </p:cBhvr>
                                      <p:tavLst>
                                        <p:tav tm="0">
                                          <p:val>
                                            <p:strVal val="#ppt_y"/>
                                          </p:val>
                                        </p:tav>
                                        <p:tav tm="100000">
                                          <p:val>
                                            <p:strVal val="#ppt_y"/>
                                          </p:val>
                                        </p:tav>
                                      </p:tavLst>
                                    </p:anim>
                                    <p:anim calcmode="lin" valueType="num">
                                      <p:cBhvr>
                                        <p:cTn id="58" dur="500" fill="hold"/>
                                        <p:tgtEl>
                                          <p:spTgt spid="76828"/>
                                        </p:tgtEl>
                                        <p:attrNameLst>
                                          <p:attrName>ppt_w</p:attrName>
                                        </p:attrNameLst>
                                      </p:cBhvr>
                                      <p:tavLst>
                                        <p:tav tm="0">
                                          <p:val>
                                            <p:fltVal val="0"/>
                                          </p:val>
                                        </p:tav>
                                        <p:tav tm="100000">
                                          <p:val>
                                            <p:strVal val="#ppt_w"/>
                                          </p:val>
                                        </p:tav>
                                      </p:tavLst>
                                    </p:anim>
                                    <p:anim calcmode="lin" valueType="num">
                                      <p:cBhvr>
                                        <p:cTn id="59" dur="500" fill="hold"/>
                                        <p:tgtEl>
                                          <p:spTgt spid="76828"/>
                                        </p:tgtEl>
                                        <p:attrNameLst>
                                          <p:attrName>ppt_h</p:attrName>
                                        </p:attrNameLst>
                                      </p:cBhvr>
                                      <p:tavLst>
                                        <p:tav tm="0">
                                          <p:val>
                                            <p:strVal val="#ppt_h"/>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76816"/>
                                        </p:tgtEl>
                                        <p:attrNameLst>
                                          <p:attrName>style.visibility</p:attrName>
                                        </p:attrNameLst>
                                      </p:cBhvr>
                                      <p:to>
                                        <p:strVal val="visible"/>
                                      </p:to>
                                    </p:set>
                                    <p:animEffect transition="in" filter="wipe(up)">
                                      <p:cBhvr>
                                        <p:cTn id="64" dur="500"/>
                                        <p:tgtEl>
                                          <p:spTgt spid="76816"/>
                                        </p:tgtEl>
                                      </p:cBhvr>
                                    </p:animEffect>
                                  </p:childTnLst>
                                </p:cTn>
                              </p:par>
                            </p:childTnLst>
                          </p:cTn>
                        </p:par>
                        <p:par>
                          <p:cTn id="65" fill="hold">
                            <p:stCondLst>
                              <p:cond delay="500"/>
                            </p:stCondLst>
                            <p:childTnLst>
                              <p:par>
                                <p:cTn id="66" presetID="1" presetClass="entr" presetSubtype="0" fill="hold" nodeType="afterEffect">
                                  <p:stCondLst>
                                    <p:cond delay="0"/>
                                  </p:stCondLst>
                                  <p:childTnLst>
                                    <p:set>
                                      <p:cBhvr>
                                        <p:cTn id="67" dur="1" fill="hold">
                                          <p:stCondLst>
                                            <p:cond delay="499"/>
                                          </p:stCondLst>
                                        </p:cTn>
                                        <p:tgtEl>
                                          <p:spTgt spid="5"/>
                                        </p:tgtEl>
                                        <p:attrNameLst>
                                          <p:attrName>style.visibility</p:attrName>
                                        </p:attrNameLst>
                                      </p:cBhvr>
                                      <p:to>
                                        <p:strVal val="visible"/>
                                      </p:to>
                                    </p:set>
                                  </p:childTnLst>
                                </p:cTn>
                              </p:par>
                            </p:childTnLst>
                          </p:cTn>
                        </p:par>
                        <p:par>
                          <p:cTn id="68" fill="hold">
                            <p:stCondLst>
                              <p:cond delay="1000"/>
                            </p:stCondLst>
                            <p:childTnLst>
                              <p:par>
                                <p:cTn id="69" presetID="22" presetClass="entr" presetSubtype="8" fill="hold" nodeType="afterEffect">
                                  <p:stCondLst>
                                    <p:cond delay="0"/>
                                  </p:stCondLst>
                                  <p:childTnLst>
                                    <p:set>
                                      <p:cBhvr>
                                        <p:cTn id="70" dur="1" fill="hold">
                                          <p:stCondLst>
                                            <p:cond delay="0"/>
                                          </p:stCondLst>
                                        </p:cTn>
                                        <p:tgtEl>
                                          <p:spTgt spid="76820"/>
                                        </p:tgtEl>
                                        <p:attrNameLst>
                                          <p:attrName>style.visibility</p:attrName>
                                        </p:attrNameLst>
                                      </p:cBhvr>
                                      <p:to>
                                        <p:strVal val="visible"/>
                                      </p:to>
                                    </p:set>
                                    <p:animEffect transition="in" filter="wipe(left)">
                                      <p:cBhvr>
                                        <p:cTn id="71" dur="500"/>
                                        <p:tgtEl>
                                          <p:spTgt spid="76820"/>
                                        </p:tgtEl>
                                      </p:cBhvr>
                                    </p:animEffect>
                                  </p:childTnLst>
                                </p:cTn>
                              </p:par>
                            </p:childTnLst>
                          </p:cTn>
                        </p:par>
                      </p:childTnLst>
                    </p:cTn>
                  </p:par>
                  <p:par>
                    <p:cTn id="72" fill="hold">
                      <p:stCondLst>
                        <p:cond delay="indefinite"/>
                      </p:stCondLst>
                      <p:childTnLst>
                        <p:par>
                          <p:cTn id="73" fill="hold">
                            <p:stCondLst>
                              <p:cond delay="0"/>
                            </p:stCondLst>
                            <p:childTnLst>
                              <p:par>
                                <p:cTn id="74" presetID="17" presetClass="entr" presetSubtype="8" fill="hold" nodeType="clickEffect">
                                  <p:stCondLst>
                                    <p:cond delay="0"/>
                                  </p:stCondLst>
                                  <p:childTnLst>
                                    <p:set>
                                      <p:cBhvr>
                                        <p:cTn id="75" dur="1" fill="hold">
                                          <p:stCondLst>
                                            <p:cond delay="0"/>
                                          </p:stCondLst>
                                        </p:cTn>
                                        <p:tgtEl>
                                          <p:spTgt spid="76829"/>
                                        </p:tgtEl>
                                        <p:attrNameLst>
                                          <p:attrName>style.visibility</p:attrName>
                                        </p:attrNameLst>
                                      </p:cBhvr>
                                      <p:to>
                                        <p:strVal val="visible"/>
                                      </p:to>
                                    </p:set>
                                    <p:anim calcmode="lin" valueType="num">
                                      <p:cBhvr>
                                        <p:cTn id="76" dur="500" fill="hold"/>
                                        <p:tgtEl>
                                          <p:spTgt spid="76829"/>
                                        </p:tgtEl>
                                        <p:attrNameLst>
                                          <p:attrName>ppt_x</p:attrName>
                                        </p:attrNameLst>
                                      </p:cBhvr>
                                      <p:tavLst>
                                        <p:tav tm="0">
                                          <p:val>
                                            <p:strVal val="#ppt_x-#ppt_w/2"/>
                                          </p:val>
                                        </p:tav>
                                        <p:tav tm="100000">
                                          <p:val>
                                            <p:strVal val="#ppt_x"/>
                                          </p:val>
                                        </p:tav>
                                      </p:tavLst>
                                    </p:anim>
                                    <p:anim calcmode="lin" valueType="num">
                                      <p:cBhvr>
                                        <p:cTn id="77" dur="500" fill="hold"/>
                                        <p:tgtEl>
                                          <p:spTgt spid="76829"/>
                                        </p:tgtEl>
                                        <p:attrNameLst>
                                          <p:attrName>ppt_y</p:attrName>
                                        </p:attrNameLst>
                                      </p:cBhvr>
                                      <p:tavLst>
                                        <p:tav tm="0">
                                          <p:val>
                                            <p:strVal val="#ppt_y"/>
                                          </p:val>
                                        </p:tav>
                                        <p:tav tm="100000">
                                          <p:val>
                                            <p:strVal val="#ppt_y"/>
                                          </p:val>
                                        </p:tav>
                                      </p:tavLst>
                                    </p:anim>
                                    <p:anim calcmode="lin" valueType="num">
                                      <p:cBhvr>
                                        <p:cTn id="78" dur="500" fill="hold"/>
                                        <p:tgtEl>
                                          <p:spTgt spid="76829"/>
                                        </p:tgtEl>
                                        <p:attrNameLst>
                                          <p:attrName>ppt_w</p:attrName>
                                        </p:attrNameLst>
                                      </p:cBhvr>
                                      <p:tavLst>
                                        <p:tav tm="0">
                                          <p:val>
                                            <p:fltVal val="0"/>
                                          </p:val>
                                        </p:tav>
                                        <p:tav tm="100000">
                                          <p:val>
                                            <p:strVal val="#ppt_w"/>
                                          </p:val>
                                        </p:tav>
                                      </p:tavLst>
                                    </p:anim>
                                    <p:anim calcmode="lin" valueType="num">
                                      <p:cBhvr>
                                        <p:cTn id="79" dur="500" fill="hold"/>
                                        <p:tgtEl>
                                          <p:spTgt spid="76829"/>
                                        </p:tgtEl>
                                        <p:attrNameLst>
                                          <p:attrName>ppt_h</p:attrName>
                                        </p:attrNameLst>
                                      </p:cBhvr>
                                      <p:tavLst>
                                        <p:tav tm="0">
                                          <p:val>
                                            <p:strVal val="#ppt_h"/>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76821"/>
                                        </p:tgtEl>
                                        <p:attrNameLst>
                                          <p:attrName>style.visibility</p:attrName>
                                        </p:attrNameLst>
                                      </p:cBhvr>
                                      <p:to>
                                        <p:strVal val="visible"/>
                                      </p:to>
                                    </p:set>
                                    <p:animEffect transition="in" filter="wipe(left)">
                                      <p:cBhvr>
                                        <p:cTn id="84" dur="500"/>
                                        <p:tgtEl>
                                          <p:spTgt spid="76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p:bldP spid="76816" grpId="0" animBg="1"/>
      <p:bldP spid="76821" grpId="0" animBg="1"/>
      <p:bldP spid="76822" grpId="0"/>
      <p:bldP spid="76824" grpId="0"/>
      <p:bldP spid="7682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1BF8E-93CA-6241-1B6F-E8FDA9822BF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2AA2A47-3DF1-510F-7D2B-D9FA0DA4D0F8}"/>
              </a:ext>
            </a:extLst>
          </p:cNvPr>
          <p:cNvSpPr>
            <a:spLocks noGrp="1"/>
          </p:cNvSpPr>
          <p:nvPr>
            <p:ph type="sldNum" sz="quarter" idx="4294967295"/>
          </p:nvPr>
        </p:nvSpPr>
        <p:spPr>
          <a:xfrm>
            <a:off x="8982739" y="6366983"/>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C0FE0B-717B-41AE-9FA2-CA4BF851D1C3}" type="slidenum">
              <a:rPr kumimoji="0" lang="zh-CN" altLang="en-US" sz="1200" b="0" i="0" u="none" strike="noStrike" kern="1200" cap="none" spc="0" normalizeH="0" baseline="0" noProof="0" smtClean="0">
                <a:ln>
                  <a:noFill/>
                </a:ln>
                <a:solidFill>
                  <a:prstClr val="black">
                    <a:tint val="82000"/>
                  </a:prstClr>
                </a:solidFill>
                <a:effectLst/>
                <a:uLnTx/>
                <a:uFillTx/>
                <a:latin typeface="Times New Roman" panose="020206030504050203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dirty="0">
              <a:ln>
                <a:noFill/>
              </a:ln>
              <a:solidFill>
                <a:prstClr val="black">
                  <a:tint val="82000"/>
                </a:prstClr>
              </a:solidFill>
              <a:effectLst/>
              <a:uLnTx/>
              <a:uFillTx/>
              <a:latin typeface="Times New Roman" panose="02020603050405020304"/>
              <a:ea typeface="宋体" panose="02010600030101010101" pitchFamily="2" charset="-122"/>
              <a:cs typeface="+mn-cs"/>
            </a:endParaRPr>
          </a:p>
        </p:txBody>
      </p:sp>
      <p:sp>
        <p:nvSpPr>
          <p:cNvPr id="55" name="标题 2">
            <a:extLst>
              <a:ext uri="{FF2B5EF4-FFF2-40B4-BE49-F238E27FC236}">
                <a16:creationId xmlns:a16="http://schemas.microsoft.com/office/drawing/2014/main" id="{88ED20F5-3DA6-0F42-4809-1441D12AD4DF}"/>
              </a:ext>
            </a:extLst>
          </p:cNvPr>
          <p:cNvSpPr txBox="1">
            <a:spLocks/>
          </p:cNvSpPr>
          <p:nvPr/>
        </p:nvSpPr>
        <p:spPr>
          <a:xfrm>
            <a:off x="1324758" y="245325"/>
            <a:ext cx="8312489" cy="45668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799"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j-cs"/>
              </a:rPr>
              <a:t>带头结点的单链表删除第</a:t>
            </a:r>
            <a:r>
              <a:rPr kumimoji="0" lang="en-US" altLang="zh-CN" sz="2799" b="1" i="0" u="none" strike="noStrike" kern="1200" cap="none" spc="0" normalizeH="0" baseline="0" noProof="0" dirty="0" err="1">
                <a:ln>
                  <a:noFill/>
                </a:ln>
                <a:solidFill>
                  <a:srgbClr val="C000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rPr>
              <a:t>i</a:t>
            </a:r>
            <a:r>
              <a:rPr kumimoji="0" lang="zh-CN" altLang="en-US" sz="2799"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j-cs"/>
              </a:rPr>
              <a:t>个元素</a:t>
            </a:r>
            <a:endParaRPr kumimoji="0" lang="zh-CN" altLang="en-US" sz="4400" b="0" i="0" u="none" strike="noStrike" kern="1200" cap="none" spc="0" normalizeH="0" baseline="0" noProof="0" dirty="0">
              <a:ln>
                <a:noFill/>
              </a:ln>
              <a:solidFill>
                <a:srgbClr val="002060"/>
              </a:solidFill>
              <a:effectLst/>
              <a:uLnTx/>
              <a:uFillTx/>
              <a:latin typeface="黑体" panose="02010609060101010101" pitchFamily="49" charset="-122"/>
              <a:ea typeface="黑体" panose="02010609060101010101" pitchFamily="49" charset="-122"/>
              <a:cs typeface="+mj-cs"/>
            </a:endParaRPr>
          </a:p>
        </p:txBody>
      </p:sp>
      <p:sp>
        <p:nvSpPr>
          <p:cNvPr id="56" name="文本框 55">
            <a:extLst>
              <a:ext uri="{FF2B5EF4-FFF2-40B4-BE49-F238E27FC236}">
                <a16:creationId xmlns:a16="http://schemas.microsoft.com/office/drawing/2014/main" id="{608CC439-9C34-28F8-10C6-9CC3B6644629}"/>
              </a:ext>
            </a:extLst>
          </p:cNvPr>
          <p:cNvSpPr txBox="1"/>
          <p:nvPr/>
        </p:nvSpPr>
        <p:spPr>
          <a:xfrm>
            <a:off x="531941" y="910080"/>
            <a:ext cx="664797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dirty="0" err="1">
                <a:solidFill>
                  <a:prstClr val="black"/>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ElemType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ListDelete_L</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LinkList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57" name="文本框 56">
            <a:extLst>
              <a:ext uri="{FF2B5EF4-FFF2-40B4-BE49-F238E27FC236}">
                <a16:creationId xmlns:a16="http://schemas.microsoft.com/office/drawing/2014/main" id="{69719D74-033E-A8EC-D36F-692367B98B07}"/>
              </a:ext>
            </a:extLst>
          </p:cNvPr>
          <p:cNvSpPr txBox="1"/>
          <p:nvPr/>
        </p:nvSpPr>
        <p:spPr>
          <a:xfrm>
            <a:off x="874795" y="1635616"/>
            <a:ext cx="584892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LNode *q, *p = L;   </a:t>
            </a:r>
            <a:r>
              <a:rPr kumimoji="0" lang="nn-NO"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nn-NO"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j = 0;</a:t>
            </a:r>
          </a:p>
        </p:txBody>
      </p:sp>
      <p:sp>
        <p:nvSpPr>
          <p:cNvPr id="58" name="矩形 57">
            <a:extLst>
              <a:ext uri="{FF2B5EF4-FFF2-40B4-BE49-F238E27FC236}">
                <a16:creationId xmlns:a16="http://schemas.microsoft.com/office/drawing/2014/main" id="{687A5F10-E5F0-C816-CB90-48B69A581210}"/>
              </a:ext>
            </a:extLst>
          </p:cNvPr>
          <p:cNvSpPr/>
          <p:nvPr/>
        </p:nvSpPr>
        <p:spPr>
          <a:xfrm>
            <a:off x="869620" y="2020219"/>
            <a:ext cx="10250794" cy="388568"/>
          </a:xfrm>
          <a:prstGeom prst="rect">
            <a:avLst/>
          </a:prstGeom>
        </p:spPr>
        <p:txBody>
          <a:bodyPr wrap="square">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while</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1" i="0" u="none" strike="noStrike" kern="1200" cap="none" spc="0" normalizeH="0" baseline="0" noProof="0" dirty="0">
                <a:ln>
                  <a:noFill/>
                </a:ln>
                <a:solidFill>
                  <a:prstClr val="black"/>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(p &amp;&amp; j&lt;</a:t>
            </a:r>
            <a:r>
              <a:rPr kumimoji="0" lang="en-US" altLang="zh-CN" sz="2000" b="1" i="0" u="none" strike="noStrike" kern="1200" cap="none" spc="0" normalizeH="0" baseline="0" noProof="0" dirty="0" err="1">
                <a:ln>
                  <a:noFill/>
                </a:ln>
                <a:solidFill>
                  <a:prstClr val="black"/>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1" i="0" u="none" strike="noStrike" kern="1200" cap="none" spc="0" normalizeH="0" baseline="0" noProof="0" dirty="0">
                <a:ln>
                  <a:noFill/>
                </a:ln>
                <a:solidFill>
                  <a:prstClr val="black"/>
                </a:solidFill>
                <a:effectLst>
                  <a:outerShdw blurRad="38100" dist="38100" dir="2700000" algn="tl">
                    <a:srgbClr val="C0C0C0"/>
                  </a:outerShdw>
                </a:effectLst>
                <a:uLnTx/>
                <a:uFillTx/>
                <a:latin typeface="Courier New" panose="02070309020205020404" pitchFamily="49" charset="0"/>
                <a:ea typeface="宋体" panose="02010600030101010101" pitchFamily="2" charset="-122"/>
                <a:cs typeface="Courier New" panose="02070309020205020404" pitchFamily="49" charset="0"/>
              </a:rPr>
              <a:t>-1) { p = p-&gt;next;  ++j; }</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令</a:t>
            </a:r>
            <a:r>
              <a:rPr kumimoji="0" lang="en-US" altLang="zh-CN" sz="20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a:t>
            </a:r>
            <a:r>
              <a:rPr kumimoji="0" lang="zh-CN" altLang="en-US"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指向第</a:t>
            </a:r>
            <a:r>
              <a:rPr kumimoji="0" lang="en-US" altLang="zh-CN" sz="2000" b="1"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0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-1</a:t>
            </a:r>
            <a:r>
              <a:rPr kumimoji="0" lang="zh-CN" altLang="en-US"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个元素结点</a:t>
            </a:r>
          </a:p>
        </p:txBody>
      </p:sp>
      <p:sp>
        <p:nvSpPr>
          <p:cNvPr id="59" name="矩形 58">
            <a:extLst>
              <a:ext uri="{FF2B5EF4-FFF2-40B4-BE49-F238E27FC236}">
                <a16:creationId xmlns:a16="http://schemas.microsoft.com/office/drawing/2014/main" id="{EBE13A1C-4B00-E243-CE28-B96CE5FD3824}"/>
              </a:ext>
            </a:extLst>
          </p:cNvPr>
          <p:cNvSpPr/>
          <p:nvPr/>
        </p:nvSpPr>
        <p:spPr>
          <a:xfrm>
            <a:off x="869619" y="2393174"/>
            <a:ext cx="9817431" cy="400110"/>
          </a:xfrm>
          <a:prstGeom prst="rect">
            <a:avLst/>
          </a:prstGeom>
        </p:spPr>
        <p:txBody>
          <a:bodyPr wrap="square">
            <a:spAutoFit/>
          </a:bodyPr>
          <a:lstStyle/>
          <a:p>
            <a:pPr marL="0" marR="0" lvl="0" indent="0" algn="l" defTabSz="914400" rtl="0" eaLnBrk="1" fontAlgn="auto" latinLnBrk="0" hangingPunct="1">
              <a:lnSpc>
                <a:spcPct val="100000"/>
              </a:lnSpc>
              <a:spcBef>
                <a:spcPct val="1000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(!p-&gt;next) </a:t>
            </a: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ERROR; </a:t>
            </a:r>
            <a:r>
              <a:rPr kumimoji="0" lang="en-US" altLang="zh-CN"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2000" dirty="0">
                <a:solidFill>
                  <a:srgbClr val="0070C0"/>
                </a:solidFill>
                <a:latin typeface="Courier New" panose="02070309020205020404" pitchFamily="49" charset="0"/>
                <a:cs typeface="Courier New" panose="02070309020205020404" pitchFamily="49" charset="0"/>
              </a:rPr>
              <a:t>第</a:t>
            </a:r>
            <a:r>
              <a:rPr kumimoji="0" lang="en-US" altLang="zh-CN" sz="2000" dirty="0" err="1">
                <a:solidFill>
                  <a:srgbClr val="0070C0"/>
                </a:solidFill>
                <a:latin typeface="Courier New" panose="02070309020205020404" pitchFamily="49" charset="0"/>
                <a:cs typeface="Courier New" panose="02070309020205020404" pitchFamily="49" charset="0"/>
              </a:rPr>
              <a:t>i</a:t>
            </a:r>
            <a:r>
              <a:rPr kumimoji="0" lang="zh-CN" altLang="en-US" sz="2000" dirty="0">
                <a:solidFill>
                  <a:srgbClr val="0070C0"/>
                </a:solidFill>
                <a:latin typeface="Courier New" panose="02070309020205020404" pitchFamily="49" charset="0"/>
                <a:cs typeface="Courier New" panose="02070309020205020404" pitchFamily="49" charset="0"/>
              </a:rPr>
              <a:t>个结点不存在</a:t>
            </a:r>
            <a:r>
              <a:rPr kumimoji="0" lang="zh-CN" altLang="en-US"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，报错</a:t>
            </a:r>
          </a:p>
        </p:txBody>
      </p:sp>
      <p:sp>
        <p:nvSpPr>
          <p:cNvPr id="61" name="矩形 60">
            <a:extLst>
              <a:ext uri="{FF2B5EF4-FFF2-40B4-BE49-F238E27FC236}">
                <a16:creationId xmlns:a16="http://schemas.microsoft.com/office/drawing/2014/main" id="{7FC0C489-A808-BBD9-AE90-F320C2C5FB2D}"/>
              </a:ext>
            </a:extLst>
          </p:cNvPr>
          <p:cNvSpPr/>
          <p:nvPr/>
        </p:nvSpPr>
        <p:spPr>
          <a:xfrm>
            <a:off x="885918" y="3848003"/>
            <a:ext cx="2734880" cy="400110"/>
          </a:xfrm>
          <a:prstGeom prst="rect">
            <a:avLst/>
          </a:prstGeom>
        </p:spPr>
        <p:txBody>
          <a:bodyPr wrap="square">
            <a:spAutoFit/>
          </a:bodyPr>
          <a:lstStyle/>
          <a:p>
            <a:pPr marL="0" marR="0" lvl="0" indent="0" algn="l" defTabSz="914400" rtl="0" eaLnBrk="1" fontAlgn="auto" latinLnBrk="0" hangingPunct="1">
              <a:lnSpc>
                <a:spcPct val="100000"/>
              </a:lnSpc>
              <a:spcBef>
                <a:spcPct val="1000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宋体" panose="02010600030101010101" pitchFamily="2" charset="-122"/>
                <a:cs typeface="Courier New" panose="02070309020205020404" pitchFamily="49" charset="0"/>
              </a:rPr>
              <a:t> e; </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2" name="矩形 61">
            <a:extLst>
              <a:ext uri="{FF2B5EF4-FFF2-40B4-BE49-F238E27FC236}">
                <a16:creationId xmlns:a16="http://schemas.microsoft.com/office/drawing/2014/main" id="{9F485126-3025-6AA7-AD5C-6D6E4139FB18}"/>
              </a:ext>
            </a:extLst>
          </p:cNvPr>
          <p:cNvSpPr/>
          <p:nvPr/>
        </p:nvSpPr>
        <p:spPr>
          <a:xfrm>
            <a:off x="668768" y="4208305"/>
            <a:ext cx="338554" cy="400110"/>
          </a:xfrm>
          <a:prstGeom prst="rect">
            <a:avLst/>
          </a:prstGeom>
        </p:spPr>
        <p:txBody>
          <a:bodyPr wrap="none">
            <a:spAutoFit/>
          </a:bodyPr>
          <a:lstStyle/>
          <a:p>
            <a:pPr marL="0" marR="0" lvl="0" indent="0" algn="l" defTabSz="914400" rtl="0" eaLnBrk="1" fontAlgn="auto" latinLnBrk="0" hangingPunct="1">
              <a:lnSpc>
                <a:spcPct val="100000"/>
              </a:lnSpc>
              <a:spcBef>
                <a:spcPct val="1000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3" name="文本框 62">
            <a:extLst>
              <a:ext uri="{FF2B5EF4-FFF2-40B4-BE49-F238E27FC236}">
                <a16:creationId xmlns:a16="http://schemas.microsoft.com/office/drawing/2014/main" id="{C9F783CC-0B16-A495-A112-05F3DD33E29B}"/>
              </a:ext>
            </a:extLst>
          </p:cNvPr>
          <p:cNvSpPr txBox="1"/>
          <p:nvPr/>
        </p:nvSpPr>
        <p:spPr>
          <a:xfrm>
            <a:off x="885918" y="2853265"/>
            <a:ext cx="9412185" cy="961289"/>
          </a:xfrm>
          <a:prstGeom prst="rect">
            <a:avLst/>
          </a:prstGeom>
          <a:noFill/>
        </p:spPr>
        <p:txBody>
          <a:bodyPr wrap="square" rtlCol="0">
            <a:spAutoFit/>
          </a:bodyPr>
          <a:lstStyle/>
          <a:p>
            <a:pPr>
              <a:lnSpc>
                <a:spcPct val="150000"/>
              </a:lnSpc>
            </a:pPr>
            <a:r>
              <a:rPr lang="zh-CN" altLang="zh-CN" sz="2000" dirty="0">
                <a:solidFill>
                  <a:srgbClr val="FF0000"/>
                </a:solidFill>
              </a:rPr>
              <a:t>q = p-&gt;next;   p-&gt;next = q-&gt;next;  </a:t>
            </a:r>
          </a:p>
          <a:p>
            <a:pPr>
              <a:lnSpc>
                <a:spcPct val="150000"/>
              </a:lnSpc>
            </a:pPr>
            <a:r>
              <a:rPr lang="en-US" altLang="zh-CN" sz="2000" dirty="0" err="1">
                <a:solidFill>
                  <a:srgbClr val="FF0000"/>
                </a:solidFill>
              </a:rPr>
              <a:t>ElemType</a:t>
            </a:r>
            <a:r>
              <a:rPr lang="en-US" altLang="zh-CN" sz="2000" dirty="0">
                <a:solidFill>
                  <a:srgbClr val="FF0000"/>
                </a:solidFill>
              </a:rPr>
              <a:t> </a:t>
            </a:r>
            <a:r>
              <a:rPr lang="zh-CN" altLang="zh-CN" sz="2000" dirty="0">
                <a:solidFill>
                  <a:srgbClr val="FF0000"/>
                </a:solidFill>
              </a:rPr>
              <a:t>e = q-&gt;data;     </a:t>
            </a:r>
            <a:r>
              <a:rPr lang="zh-CN" altLang="zh-CN" sz="2000" i="1" dirty="0">
                <a:solidFill>
                  <a:srgbClr val="FF0000"/>
                </a:solidFill>
              </a:rPr>
              <a:t>free(q);</a:t>
            </a:r>
          </a:p>
        </p:txBody>
      </p:sp>
      <p:sp>
        <p:nvSpPr>
          <p:cNvPr id="99" name="文本框 56">
            <a:extLst>
              <a:ext uri="{FF2B5EF4-FFF2-40B4-BE49-F238E27FC236}">
                <a16:creationId xmlns:a16="http://schemas.microsoft.com/office/drawing/2014/main" id="{7FCCC64B-1F83-01EE-DB63-47042E96EB4F}"/>
              </a:ext>
            </a:extLst>
          </p:cNvPr>
          <p:cNvSpPr txBox="1"/>
          <p:nvPr/>
        </p:nvSpPr>
        <p:spPr>
          <a:xfrm>
            <a:off x="887578" y="1253842"/>
            <a:ext cx="9103281"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nn-NO"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 || i&lt;1) </a:t>
            </a:r>
            <a:r>
              <a:rPr kumimoji="0" lang="nn-NO" altLang="zh-CN" sz="20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nn-NO" altLang="zh-CN" sz="20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ERROR;  </a:t>
            </a:r>
            <a:r>
              <a:rPr kumimoji="0" lang="nn-NO" altLang="zh-CN" sz="20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nn-NO" altLang="zh-CN"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若</a:t>
            </a:r>
            <a:r>
              <a:rPr kumimoji="0" lang="en-US" altLang="zh-CN" sz="20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L</a:t>
            </a:r>
            <a:r>
              <a:rPr kumimoji="0" lang="zh-CN" altLang="en-US"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不存在或</a:t>
            </a:r>
            <a:r>
              <a:rPr kumimoji="0" lang="en-US" altLang="zh-CN" sz="2000" b="1"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zh-CN" altLang="en-US"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不合法，则报错</a:t>
            </a:r>
            <a:endParaRPr kumimoji="0" lang="nn-NO" altLang="zh-CN" sz="20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3" name="Text Box 3">
            <a:extLst>
              <a:ext uri="{FF2B5EF4-FFF2-40B4-BE49-F238E27FC236}">
                <a16:creationId xmlns:a16="http://schemas.microsoft.com/office/drawing/2014/main" id="{6AC4B7A8-0148-F13F-0749-A1B8885871E4}"/>
              </a:ext>
            </a:extLst>
          </p:cNvPr>
          <p:cNvSpPr txBox="1"/>
          <p:nvPr/>
        </p:nvSpPr>
        <p:spPr>
          <a:xfrm>
            <a:off x="7131120" y="5136057"/>
            <a:ext cx="398780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2800" b="1" dirty="0">
                <a:ea typeface="隶书" panose="02010509060101010101" pitchFamily="49" charset="-122"/>
              </a:rPr>
              <a:t>算法</a:t>
            </a:r>
            <a:r>
              <a:rPr lang="zh-CN" altLang="zh-CN" sz="4000" b="1" dirty="0">
                <a:solidFill>
                  <a:srgbClr val="FF0000"/>
                </a:solidFill>
                <a:ea typeface="隶书" panose="02010509060101010101" pitchFamily="49" charset="-122"/>
              </a:rPr>
              <a:t>时间复杂度</a:t>
            </a:r>
            <a:r>
              <a:rPr lang="zh-CN" altLang="zh-CN" b="1" dirty="0">
                <a:ea typeface="隶书" panose="02010509060101010101" pitchFamily="49" charset="-122"/>
              </a:rPr>
              <a:t>为</a:t>
            </a:r>
            <a:r>
              <a:rPr lang="zh-CN" altLang="zh-CN" dirty="0"/>
              <a:t>:</a:t>
            </a:r>
            <a:endParaRPr lang="zh-CN" altLang="zh-CN" sz="4000" dirty="0"/>
          </a:p>
        </p:txBody>
      </p:sp>
      <p:sp>
        <p:nvSpPr>
          <p:cNvPr id="4" name="Text Box 4">
            <a:extLst>
              <a:ext uri="{FF2B5EF4-FFF2-40B4-BE49-F238E27FC236}">
                <a16:creationId xmlns:a16="http://schemas.microsoft.com/office/drawing/2014/main" id="{36744AF7-6869-469E-0539-089936E20AF6}"/>
              </a:ext>
            </a:extLst>
          </p:cNvPr>
          <p:cNvSpPr txBox="1"/>
          <p:nvPr/>
        </p:nvSpPr>
        <p:spPr>
          <a:xfrm>
            <a:off x="7277170" y="5713906"/>
            <a:ext cx="2699393" cy="6463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t>O(ListLen (L))</a:t>
            </a:r>
            <a:endParaRPr lang="zh-CN" altLang="zh-CN" sz="2400" dirty="0"/>
          </a:p>
        </p:txBody>
      </p:sp>
    </p:spTree>
    <p:extLst>
      <p:ext uri="{BB962C8B-B14F-4D97-AF65-F5344CB8AC3E}">
        <p14:creationId xmlns:p14="http://schemas.microsoft.com/office/powerpoint/2010/main" val="105697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left)">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wipe(left)">
                                      <p:cBhvr>
                                        <p:cTn id="12" dur="500"/>
                                        <p:tgtEl>
                                          <p:spTgt spid="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wipe(left)">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wipe(left)">
                                      <p:cBhvr>
                                        <p:cTn id="22" dur="500"/>
                                        <p:tgtEl>
                                          <p:spTgt spid="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wipe(left)">
                                      <p:cBhvr>
                                        <p:cTn id="27" dur="500"/>
                                        <p:tgtEl>
                                          <p:spTgt spid="6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wipe(left)">
                                      <p:cBhvr>
                                        <p:cTn id="32" dur="500"/>
                                        <p:tgtEl>
                                          <p:spTgt spid="6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59" grpId="0"/>
      <p:bldP spid="61" grpId="0"/>
      <p:bldP spid="63" grpId="0"/>
      <p:bldP spid="99" grpId="0"/>
      <p:bldP spid="3" grpId="0"/>
      <p:bldP spid="3" grpId="1"/>
      <p:bldP spid="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p:nvPr/>
        </p:nvSpPr>
        <p:spPr>
          <a:xfrm>
            <a:off x="1752600" y="250826"/>
            <a:ext cx="7519046" cy="7078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ea typeface="楷体_GB2312" pitchFamily="49" charset="-122"/>
              </a:rPr>
              <a:t>操作 </a:t>
            </a:r>
            <a:r>
              <a:rPr lang="zh-CN" altLang="zh-CN" sz="4000" b="1" dirty="0">
                <a:solidFill>
                  <a:srgbClr val="003399"/>
                </a:solidFill>
              </a:rPr>
              <a:t>ClearList(L) </a:t>
            </a:r>
            <a:r>
              <a:rPr lang="zh-CN" altLang="zh-CN" sz="4000" dirty="0">
                <a:ea typeface="楷体_GB2312" pitchFamily="49" charset="-122"/>
              </a:rPr>
              <a:t>在链表中的实现</a:t>
            </a:r>
            <a:r>
              <a:rPr lang="zh-CN" altLang="zh-CN" sz="4000" dirty="0"/>
              <a:t>:</a:t>
            </a:r>
          </a:p>
        </p:txBody>
      </p:sp>
      <p:sp>
        <p:nvSpPr>
          <p:cNvPr id="78851" name="Text Box 3"/>
          <p:cNvSpPr txBox="1"/>
          <p:nvPr/>
        </p:nvSpPr>
        <p:spPr>
          <a:xfrm>
            <a:off x="407368" y="938213"/>
            <a:ext cx="11017224" cy="53664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0000"/>
              </a:lnSpc>
              <a:spcBef>
                <a:spcPct val="0"/>
              </a:spcBef>
              <a:buClrTx/>
              <a:buNone/>
            </a:pPr>
            <a:r>
              <a:rPr lang="zh-CN" altLang="en-US" sz="3600" b="1" dirty="0"/>
              <a:t>void</a:t>
            </a:r>
            <a:r>
              <a:rPr lang="zh-CN" altLang="en-US" sz="3600" dirty="0"/>
              <a:t> ClearList(L) </a:t>
            </a:r>
            <a:r>
              <a:rPr lang="zh-CN" altLang="en-US" sz="3600" b="1" dirty="0"/>
              <a:t>{</a:t>
            </a:r>
            <a:endParaRPr lang="zh-CN" altLang="en-US" sz="3600" dirty="0"/>
          </a:p>
          <a:p>
            <a:pPr marL="0" indent="0" eaLnBrk="1" hangingPunct="1">
              <a:lnSpc>
                <a:spcPct val="120000"/>
              </a:lnSpc>
              <a:spcBef>
                <a:spcPct val="0"/>
              </a:spcBef>
              <a:buClrTx/>
              <a:buNone/>
            </a:pPr>
            <a:r>
              <a:rPr lang="zh-CN" altLang="en-US" sz="3600" dirty="0"/>
              <a:t>   // </a:t>
            </a:r>
            <a:r>
              <a:rPr lang="zh-CN" altLang="en-US" sz="3600" dirty="0">
                <a:ea typeface="楷体_GB2312" pitchFamily="49" charset="-122"/>
              </a:rPr>
              <a:t>将单链表重新置为一个空表</a:t>
            </a:r>
            <a:endParaRPr lang="zh-CN" altLang="en-US" sz="3600" dirty="0"/>
          </a:p>
          <a:p>
            <a:pPr marL="0" indent="0" eaLnBrk="1" hangingPunct="1">
              <a:lnSpc>
                <a:spcPct val="120000"/>
              </a:lnSpc>
              <a:spcBef>
                <a:spcPct val="0"/>
              </a:spcBef>
              <a:buClrTx/>
              <a:buNone/>
            </a:pPr>
            <a:r>
              <a:rPr lang="zh-CN" altLang="en-US" sz="3600" dirty="0"/>
              <a:t>    </a:t>
            </a:r>
            <a:r>
              <a:rPr lang="zh-CN" altLang="en-US" sz="3600" b="1" dirty="0">
                <a:solidFill>
                  <a:srgbClr val="FF0000"/>
                </a:solidFill>
              </a:rPr>
              <a:t>while</a:t>
            </a:r>
            <a:r>
              <a:rPr lang="zh-CN" altLang="en-US" sz="3600" dirty="0">
                <a:solidFill>
                  <a:srgbClr val="FF0000"/>
                </a:solidFill>
              </a:rPr>
              <a:t> (L-&gt;next) </a:t>
            </a:r>
            <a:r>
              <a:rPr lang="zh-CN" altLang="en-US" sz="3600" b="1" dirty="0">
                <a:solidFill>
                  <a:srgbClr val="FF0000"/>
                </a:solidFill>
              </a:rPr>
              <a:t>{</a:t>
            </a:r>
            <a:endParaRPr lang="zh-CN" altLang="en-US" sz="3600" dirty="0"/>
          </a:p>
          <a:p>
            <a:pPr marL="0" indent="0" eaLnBrk="1" hangingPunct="1">
              <a:lnSpc>
                <a:spcPct val="120000"/>
              </a:lnSpc>
              <a:spcBef>
                <a:spcPct val="0"/>
              </a:spcBef>
              <a:buClrTx/>
              <a:buNone/>
            </a:pPr>
            <a:r>
              <a:rPr lang="zh-CN" altLang="en-US" sz="3600" dirty="0"/>
              <a:t>        </a:t>
            </a:r>
            <a:r>
              <a:rPr lang="zh-CN" altLang="en-US" sz="3600" b="1" dirty="0">
                <a:solidFill>
                  <a:srgbClr val="9900CC"/>
                </a:solidFill>
              </a:rPr>
              <a:t>p=L-&gt;next;    L-&gt;next=p-&gt;next;</a:t>
            </a:r>
            <a:endParaRPr lang="zh-CN" altLang="en-US" sz="3600" dirty="0"/>
          </a:p>
          <a:p>
            <a:pPr marL="0" indent="0" eaLnBrk="1" hangingPunct="1">
              <a:lnSpc>
                <a:spcPct val="120000"/>
              </a:lnSpc>
              <a:spcBef>
                <a:spcPct val="0"/>
              </a:spcBef>
              <a:buClrTx/>
              <a:buNone/>
            </a:pPr>
            <a:r>
              <a:rPr lang="zh-CN" altLang="en-US" sz="3600" dirty="0"/>
              <a:t>        </a:t>
            </a:r>
          </a:p>
          <a:p>
            <a:pPr marL="0" indent="0" eaLnBrk="1" hangingPunct="1">
              <a:lnSpc>
                <a:spcPct val="120000"/>
              </a:lnSpc>
              <a:spcBef>
                <a:spcPct val="0"/>
              </a:spcBef>
              <a:buClrTx/>
              <a:buNone/>
            </a:pPr>
            <a:r>
              <a:rPr lang="zh-CN" altLang="en-US" sz="3600" dirty="0"/>
              <a:t>    </a:t>
            </a:r>
            <a:r>
              <a:rPr lang="zh-CN" altLang="en-US" sz="3600" b="1" dirty="0">
                <a:solidFill>
                  <a:srgbClr val="FF0000"/>
                </a:solidFill>
              </a:rPr>
              <a:t>}</a:t>
            </a:r>
            <a:endParaRPr lang="en-US" altLang="zh-CN" sz="3600" b="1" dirty="0">
              <a:solidFill>
                <a:srgbClr val="FF0000"/>
              </a:solidFill>
            </a:endParaRPr>
          </a:p>
          <a:p>
            <a:pPr marL="0" indent="0" eaLnBrk="1" hangingPunct="1">
              <a:lnSpc>
                <a:spcPct val="120000"/>
              </a:lnSpc>
              <a:spcBef>
                <a:spcPct val="0"/>
              </a:spcBef>
              <a:buClrTx/>
              <a:buNone/>
            </a:pPr>
            <a:r>
              <a:rPr lang="en-US" altLang="zh-CN" sz="3600" b="1" dirty="0">
                <a:solidFill>
                  <a:srgbClr val="FF0000"/>
                </a:solidFill>
              </a:rPr>
              <a:t>     free(L);                //</a:t>
            </a:r>
            <a:r>
              <a:rPr lang="zh-CN" altLang="en-US" sz="3600" b="1" dirty="0">
                <a:solidFill>
                  <a:srgbClr val="FF0000"/>
                </a:solidFill>
              </a:rPr>
              <a:t>释放头指针</a:t>
            </a:r>
            <a:endParaRPr lang="zh-CN" altLang="en-US" sz="3600" b="1" dirty="0"/>
          </a:p>
          <a:p>
            <a:pPr marL="0" indent="0" eaLnBrk="1" hangingPunct="1">
              <a:lnSpc>
                <a:spcPct val="120000"/>
              </a:lnSpc>
              <a:spcBef>
                <a:spcPct val="0"/>
              </a:spcBef>
              <a:buClrTx/>
              <a:buNone/>
            </a:pPr>
            <a:r>
              <a:rPr lang="zh-CN" altLang="en-US" sz="3600" b="1" dirty="0"/>
              <a:t>}</a:t>
            </a:r>
            <a:r>
              <a:rPr lang="zh-CN" altLang="en-US" sz="3600" dirty="0"/>
              <a:t> // ClearList</a:t>
            </a:r>
          </a:p>
        </p:txBody>
      </p:sp>
      <p:sp>
        <p:nvSpPr>
          <p:cNvPr id="78852" name="Text Box 4"/>
          <p:cNvSpPr txBox="1"/>
          <p:nvPr/>
        </p:nvSpPr>
        <p:spPr>
          <a:xfrm>
            <a:off x="3194050" y="3625850"/>
            <a:ext cx="16065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i="1" u="sng" dirty="0">
                <a:solidFill>
                  <a:srgbClr val="000099"/>
                </a:solidFill>
              </a:rPr>
              <a:t>free(p);</a:t>
            </a:r>
          </a:p>
        </p:txBody>
      </p:sp>
      <p:sp>
        <p:nvSpPr>
          <p:cNvPr id="78853" name="Text Box 5"/>
          <p:cNvSpPr txBox="1"/>
          <p:nvPr/>
        </p:nvSpPr>
        <p:spPr>
          <a:xfrm>
            <a:off x="1924050" y="5638801"/>
            <a:ext cx="424815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dirty="0">
                <a:ea typeface="隶书" panose="02010509060101010101" pitchFamily="49" charset="-122"/>
              </a:rPr>
              <a:t>算法</a:t>
            </a:r>
            <a:r>
              <a:rPr lang="zh-CN" altLang="zh-CN" sz="4000" dirty="0">
                <a:solidFill>
                  <a:srgbClr val="FF0000"/>
                </a:solidFill>
                <a:ea typeface="隶书" panose="02010509060101010101" pitchFamily="49" charset="-122"/>
              </a:rPr>
              <a:t>时间复杂度</a:t>
            </a:r>
            <a:r>
              <a:rPr lang="zh-CN" altLang="zh-CN" sz="4000" dirty="0">
                <a:ea typeface="隶书" panose="02010509060101010101" pitchFamily="49" charset="-122"/>
              </a:rPr>
              <a:t>：</a:t>
            </a:r>
            <a:endParaRPr lang="zh-CN" altLang="zh-CN" sz="2400" dirty="0"/>
          </a:p>
        </p:txBody>
      </p:sp>
      <p:sp>
        <p:nvSpPr>
          <p:cNvPr id="78854" name="Text Box 6"/>
          <p:cNvSpPr txBox="1"/>
          <p:nvPr/>
        </p:nvSpPr>
        <p:spPr>
          <a:xfrm>
            <a:off x="6064250" y="5638800"/>
            <a:ext cx="2699393" cy="6463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3600" b="1" dirty="0"/>
              <a:t>O(ListLen (L))</a:t>
            </a:r>
            <a:endParaRPr lang="zh-CN" altLang="zh-CN" sz="3600" dirty="0"/>
          </a:p>
        </p:txBody>
      </p:sp>
      <p:sp>
        <p:nvSpPr>
          <p:cNvPr id="78855" name="AutoShape 7">
            <a:hlinkClick r:id="rId2" action="ppaction://hlinksldjump"/>
          </p:cNvPr>
          <p:cNvSpPr/>
          <p:nvPr/>
        </p:nvSpPr>
        <p:spPr>
          <a:xfrm>
            <a:off x="10058400" y="6248400"/>
            <a:ext cx="381000" cy="381000"/>
          </a:xfrm>
          <a:prstGeom prst="actionButtonBackPrevious">
            <a:avLst/>
          </a:prstGeom>
          <a:solidFill>
            <a:schemeClr val="bg2"/>
          </a:solidFill>
          <a:ln w="9525" cap="flat" cmpd="sng">
            <a:solidFill>
              <a:schemeClr val="tx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endParaRPr lang="zh-CN" altLang="en-US" sz="36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78851"/>
                                        </p:tgtEl>
                                        <p:attrNameLst>
                                          <p:attrName>style.visibility</p:attrName>
                                        </p:attrNameLst>
                                      </p:cBhvr>
                                      <p:to>
                                        <p:strVal val="visible"/>
                                      </p:to>
                                    </p:set>
                                    <p:animEffect transition="in" filter="strips(upRight)">
                                      <p:cBhvr>
                                        <p:cTn id="7" dur="500"/>
                                        <p:tgtEl>
                                          <p:spTgt spid="7885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78852"/>
                                        </p:tgtEl>
                                        <p:attrNameLst>
                                          <p:attrName>style.visibility</p:attrName>
                                        </p:attrNameLst>
                                      </p:cBhvr>
                                      <p:to>
                                        <p:strVal val="visible"/>
                                      </p:to>
                                    </p:set>
                                    <p:animEffect transition="in" filter="slide(fromLeft)">
                                      <p:cBhvr>
                                        <p:cTn id="12" dur="500"/>
                                        <p:tgtEl>
                                          <p:spTgt spid="7885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78853"/>
                                        </p:tgtEl>
                                        <p:attrNameLst>
                                          <p:attrName>style.visibility</p:attrName>
                                        </p:attrNameLst>
                                      </p:cBhvr>
                                      <p:to>
                                        <p:strVal val="visible"/>
                                      </p:to>
                                    </p:set>
                                    <p:anim calcmode="lin" valueType="num">
                                      <p:cBhvr additive="base">
                                        <p:cTn id="17" dur="500" fill="hold"/>
                                        <p:tgtEl>
                                          <p:spTgt spid="78853"/>
                                        </p:tgtEl>
                                        <p:attrNameLst>
                                          <p:attrName>ppt_x</p:attrName>
                                        </p:attrNameLst>
                                      </p:cBhvr>
                                      <p:tavLst>
                                        <p:tav tm="0">
                                          <p:val>
                                            <p:strVal val="0-#ppt_w/2"/>
                                          </p:val>
                                        </p:tav>
                                        <p:tav tm="100000">
                                          <p:val>
                                            <p:strVal val="#ppt_x"/>
                                          </p:val>
                                        </p:tav>
                                      </p:tavLst>
                                    </p:anim>
                                    <p:anim calcmode="lin" valueType="num">
                                      <p:cBhvr additive="base">
                                        <p:cTn id="18" dur="500" fill="hold"/>
                                        <p:tgtEl>
                                          <p:spTgt spid="7885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8854"/>
                                        </p:tgtEl>
                                        <p:attrNameLst>
                                          <p:attrName>style.visibility</p:attrName>
                                        </p:attrNameLst>
                                      </p:cBhvr>
                                      <p:to>
                                        <p:strVal val="visible"/>
                                      </p:to>
                                    </p:set>
                                    <p:animEffect transition="in" filter="wipe(left)">
                                      <p:cBhvr>
                                        <p:cTn id="23" dur="500"/>
                                        <p:tgtEl>
                                          <p:spTgt spid="78854"/>
                                        </p:tgtEl>
                                      </p:cBhvr>
                                    </p:animEffect>
                                  </p:childTnLst>
                                </p:cTn>
                              </p:par>
                            </p:childTnLst>
                          </p:cTn>
                        </p:par>
                        <p:par>
                          <p:cTn id="24" fill="hold">
                            <p:stCondLst>
                              <p:cond delay="500"/>
                            </p:stCondLst>
                            <p:childTnLst>
                              <p:par>
                                <p:cTn id="25" presetID="2" presetClass="entr" presetSubtype="6" fill="hold" nodeType="afterEffect">
                                  <p:stCondLst>
                                    <p:cond delay="0"/>
                                  </p:stCondLst>
                                  <p:childTnLst>
                                    <p:set>
                                      <p:cBhvr>
                                        <p:cTn id="26" dur="1" fill="hold">
                                          <p:stCondLst>
                                            <p:cond delay="0"/>
                                          </p:stCondLst>
                                        </p:cTn>
                                        <p:tgtEl>
                                          <p:spTgt spid="78855"/>
                                        </p:tgtEl>
                                        <p:attrNameLst>
                                          <p:attrName>style.visibility</p:attrName>
                                        </p:attrNameLst>
                                      </p:cBhvr>
                                      <p:to>
                                        <p:strVal val="visible"/>
                                      </p:to>
                                    </p:set>
                                    <p:anim calcmode="lin" valueType="num">
                                      <p:cBhvr additive="base">
                                        <p:cTn id="27" dur="500" fill="hold"/>
                                        <p:tgtEl>
                                          <p:spTgt spid="78855"/>
                                        </p:tgtEl>
                                        <p:attrNameLst>
                                          <p:attrName>ppt_x</p:attrName>
                                        </p:attrNameLst>
                                      </p:cBhvr>
                                      <p:tavLst>
                                        <p:tav tm="0">
                                          <p:val>
                                            <p:strVal val="1+#ppt_w/2"/>
                                          </p:val>
                                        </p:tav>
                                        <p:tav tm="100000">
                                          <p:val>
                                            <p:strVal val="#ppt_x"/>
                                          </p:val>
                                        </p:tav>
                                      </p:tavLst>
                                    </p:anim>
                                    <p:anim calcmode="lin" valueType="num">
                                      <p:cBhvr additive="base">
                                        <p:cTn id="28" dur="500" fill="hold"/>
                                        <p:tgtEl>
                                          <p:spTgt spid="788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p:bldP spid="78852" grpId="0"/>
      <p:bldP spid="78853" grpId="0"/>
      <p:bldP spid="78854" grpId="0"/>
      <p:bldP spid="7885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p:nvPr/>
        </p:nvSpPr>
        <p:spPr>
          <a:xfrm>
            <a:off x="2578100" y="1228725"/>
            <a:ext cx="694690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400" b="1" dirty="0">
                <a:ea typeface="楷体_GB2312" pitchFamily="49" charset="-122"/>
              </a:rPr>
              <a:t>如何从线性表得到单链表？</a:t>
            </a:r>
            <a:endParaRPr lang="zh-CN" altLang="zh-CN" sz="4400" dirty="0"/>
          </a:p>
        </p:txBody>
      </p:sp>
      <p:sp>
        <p:nvSpPr>
          <p:cNvPr id="79875" name="Text Box 3"/>
          <p:cNvSpPr txBox="1"/>
          <p:nvPr/>
        </p:nvSpPr>
        <p:spPr>
          <a:xfrm>
            <a:off x="479376" y="2590801"/>
            <a:ext cx="10873208" cy="2468563"/>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30000"/>
              </a:lnSpc>
              <a:spcBef>
                <a:spcPct val="0"/>
              </a:spcBef>
              <a:buClrTx/>
              <a:buNone/>
            </a:pPr>
            <a:r>
              <a:rPr lang="zh-CN" altLang="zh-CN" sz="4000" b="1" dirty="0">
                <a:latin typeface="楷体_GB2312" pitchFamily="49" charset="-122"/>
                <a:ea typeface="楷体_GB2312" pitchFamily="49" charset="-122"/>
              </a:rPr>
              <a:t>链表是一个动态的结构，它不需要予分配空间，因此</a:t>
            </a:r>
            <a:r>
              <a:rPr lang="zh-CN" altLang="zh-CN" sz="4000" b="1" dirty="0">
                <a:solidFill>
                  <a:srgbClr val="6600CC"/>
                </a:solidFill>
                <a:latin typeface="楷体_GB2312" pitchFamily="49" charset="-122"/>
                <a:ea typeface="楷体_GB2312" pitchFamily="49" charset="-122"/>
              </a:rPr>
              <a:t>生成链表的过程</a:t>
            </a:r>
            <a:r>
              <a:rPr lang="zh-CN" altLang="zh-CN" sz="4000" b="1" dirty="0">
                <a:latin typeface="楷体_GB2312" pitchFamily="49" charset="-122"/>
                <a:ea typeface="楷体_GB2312" pitchFamily="49" charset="-122"/>
              </a:rPr>
              <a:t>是一个结点</a:t>
            </a:r>
            <a:r>
              <a:rPr lang="zh-CN" altLang="zh-CN" sz="4000" b="1" dirty="0">
                <a:ea typeface="楷体_GB2312" pitchFamily="49" charset="-122"/>
              </a:rPr>
              <a:t>“</a:t>
            </a:r>
            <a:r>
              <a:rPr lang="zh-CN" altLang="zh-CN" sz="4000" b="1" dirty="0">
                <a:solidFill>
                  <a:srgbClr val="6600CC"/>
                </a:solidFill>
                <a:latin typeface="楷体_GB2312" pitchFamily="49" charset="-122"/>
                <a:ea typeface="楷体_GB2312" pitchFamily="49" charset="-122"/>
              </a:rPr>
              <a:t>逐个插入</a:t>
            </a:r>
            <a:r>
              <a:rPr lang="zh-CN" altLang="zh-CN" sz="4000" b="1" dirty="0">
                <a:ea typeface="楷体_GB2312" pitchFamily="49" charset="-122"/>
              </a:rPr>
              <a:t>”</a:t>
            </a:r>
            <a:r>
              <a:rPr lang="zh-CN" altLang="zh-CN" sz="4000" b="1" dirty="0">
                <a:latin typeface="楷体_GB2312" pitchFamily="49" charset="-122"/>
                <a:ea typeface="楷体_GB2312" pitchFamily="49" charset="-122"/>
              </a:rPr>
              <a:t> 的过程。</a:t>
            </a:r>
            <a:endParaRPr lang="zh-CN" altLang="zh-CN" sz="24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9875"/>
                                        </p:tgtEl>
                                        <p:attrNameLst>
                                          <p:attrName>style.visibility</p:attrName>
                                        </p:attrNameLst>
                                      </p:cBhvr>
                                      <p:to>
                                        <p:strVal val="visible"/>
                                      </p:to>
                                    </p:set>
                                    <p:animEffect transition="in" filter="slide(fromBottom)">
                                      <p:cBhvr>
                                        <p:cTn id="7" dur="500"/>
                                        <p:tgtEl>
                                          <p:spTgt spid="79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78A8AD0-CB32-1029-53DD-6F87462926F2}"/>
              </a:ext>
            </a:extLst>
          </p:cNvPr>
          <p:cNvSpPr>
            <a:spLocks noGrp="1"/>
          </p:cNvSpPr>
          <p:nvPr>
            <p:ph type="sldNum" sz="quarter" idx="4294967295"/>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C0FE0B-717B-41AE-9FA2-CA4BF851D1C3}" type="slidenum">
              <a:rPr kumimoji="0" lang="zh-CN" altLang="en-US" sz="1200" b="0" i="0" u="none" strike="noStrike" kern="1200" cap="none" spc="0" normalizeH="0" baseline="0" noProof="0" smtClean="0">
                <a:ln>
                  <a:noFill/>
                </a:ln>
                <a:solidFill>
                  <a:prstClr val="black">
                    <a:tint val="82000"/>
                  </a:prstClr>
                </a:solidFill>
                <a:effectLst/>
                <a:uLnTx/>
                <a:uFillTx/>
                <a:latin typeface="Times New Roman" panose="020206030504050203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a:ln>
                <a:noFill/>
              </a:ln>
              <a:solidFill>
                <a:prstClr val="black">
                  <a:tint val="82000"/>
                </a:prstClr>
              </a:solidFill>
              <a:effectLst/>
              <a:uLnTx/>
              <a:uFillTx/>
              <a:latin typeface="Times New Roman" panose="02020603050405020304"/>
              <a:ea typeface="宋体" panose="02010600030101010101" pitchFamily="2" charset="-122"/>
              <a:cs typeface="+mn-cs"/>
            </a:endParaRPr>
          </a:p>
        </p:txBody>
      </p:sp>
      <p:grpSp>
        <p:nvGrpSpPr>
          <p:cNvPr id="3" name="组合 2">
            <a:extLst>
              <a:ext uri="{FF2B5EF4-FFF2-40B4-BE49-F238E27FC236}">
                <a16:creationId xmlns:a16="http://schemas.microsoft.com/office/drawing/2014/main" id="{0485D30A-523A-65DB-24A1-750C79607164}"/>
              </a:ext>
            </a:extLst>
          </p:cNvPr>
          <p:cNvGrpSpPr/>
          <p:nvPr/>
        </p:nvGrpSpPr>
        <p:grpSpPr>
          <a:xfrm>
            <a:off x="6090980" y="1434552"/>
            <a:ext cx="825667" cy="461665"/>
            <a:chOff x="4665796" y="1541542"/>
            <a:chExt cx="825667" cy="461665"/>
          </a:xfrm>
        </p:grpSpPr>
        <p:sp>
          <p:nvSpPr>
            <p:cNvPr id="4" name="Text Box 78">
              <a:extLst>
                <a:ext uri="{FF2B5EF4-FFF2-40B4-BE49-F238E27FC236}">
                  <a16:creationId xmlns:a16="http://schemas.microsoft.com/office/drawing/2014/main" id="{B1945219-7A40-82B5-C43D-4FCCB7460817}"/>
                </a:ext>
              </a:extLst>
            </p:cNvPr>
            <p:cNvSpPr txBox="1">
              <a:spLocks noChangeArrowheads="1"/>
            </p:cNvSpPr>
            <p:nvPr/>
          </p:nvSpPr>
          <p:spPr bwMode="auto">
            <a:xfrm>
              <a:off x="4665796" y="1541542"/>
              <a:ext cx="3539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en-US" altLang="zh-CN" sz="2400" b="1" i="0" u="none" strike="noStrike" kern="1200" cap="none" spc="0" normalizeH="0" baseline="0" noProof="0" dirty="0">
                  <a:ln>
                    <a:noFill/>
                  </a:ln>
                  <a:solidFill>
                    <a:srgbClr val="0F14F1"/>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rPr>
                <a:t>L</a:t>
              </a:r>
            </a:p>
          </p:txBody>
        </p:sp>
        <p:cxnSp>
          <p:nvCxnSpPr>
            <p:cNvPr id="5" name="直接箭头连接符 4">
              <a:extLst>
                <a:ext uri="{FF2B5EF4-FFF2-40B4-BE49-F238E27FC236}">
                  <a16:creationId xmlns:a16="http://schemas.microsoft.com/office/drawing/2014/main" id="{2BA5C397-FB42-89E7-56C8-DF014FF90A13}"/>
                </a:ext>
              </a:extLst>
            </p:cNvPr>
            <p:cNvCxnSpPr>
              <a:cxnSpLocks/>
            </p:cNvCxnSpPr>
            <p:nvPr/>
          </p:nvCxnSpPr>
          <p:spPr>
            <a:xfrm>
              <a:off x="5012205" y="1788280"/>
              <a:ext cx="479258" cy="0"/>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56BA019B-5D3D-330D-017B-30CDF128D86B}"/>
              </a:ext>
            </a:extLst>
          </p:cNvPr>
          <p:cNvGrpSpPr/>
          <p:nvPr/>
        </p:nvGrpSpPr>
        <p:grpSpPr>
          <a:xfrm>
            <a:off x="7791231" y="1484376"/>
            <a:ext cx="563509" cy="369461"/>
            <a:chOff x="7383417" y="1497582"/>
            <a:chExt cx="563509" cy="369461"/>
          </a:xfrm>
        </p:grpSpPr>
        <p:sp>
          <p:nvSpPr>
            <p:cNvPr id="7" name="Rectangle 74">
              <a:extLst>
                <a:ext uri="{FF2B5EF4-FFF2-40B4-BE49-F238E27FC236}">
                  <a16:creationId xmlns:a16="http://schemas.microsoft.com/office/drawing/2014/main" id="{B7D2E9BD-2F91-19A1-3ACC-74E7EFBA9CDA}"/>
                </a:ext>
              </a:extLst>
            </p:cNvPr>
            <p:cNvSpPr>
              <a:spLocks noChangeArrowheads="1"/>
            </p:cNvSpPr>
            <p:nvPr/>
          </p:nvSpPr>
          <p:spPr bwMode="auto">
            <a:xfrm>
              <a:off x="7383417" y="1497582"/>
              <a:ext cx="563509" cy="369461"/>
            </a:xfrm>
            <a:prstGeom prst="rect">
              <a:avLst/>
            </a:prstGeom>
            <a:solidFill>
              <a:schemeClr val="accent6">
                <a:lumMod val="20000"/>
                <a:lumOff val="80000"/>
              </a:schemeClr>
            </a:solidFill>
            <a:ln w="25400">
              <a:solidFill>
                <a:srgbClr val="0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8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rgbClr val="0F14F1"/>
                </a:solidFill>
                <a:effectLst/>
                <a:uLnTx/>
                <a:uFillTx/>
                <a:latin typeface="Times New Roman" panose="02020603050405020304"/>
                <a:ea typeface="宋体" panose="02010600030101010101" pitchFamily="2" charset="-122"/>
                <a:cs typeface="+mn-cs"/>
              </a:endParaRPr>
            </a:p>
          </p:txBody>
        </p:sp>
        <p:sp>
          <p:nvSpPr>
            <p:cNvPr id="8" name="Line 75">
              <a:extLst>
                <a:ext uri="{FF2B5EF4-FFF2-40B4-BE49-F238E27FC236}">
                  <a16:creationId xmlns:a16="http://schemas.microsoft.com/office/drawing/2014/main" id="{CB8EEDDA-8826-EDA2-2B76-4D9CF23DDC81}"/>
                </a:ext>
              </a:extLst>
            </p:cNvPr>
            <p:cNvSpPr>
              <a:spLocks noChangeShapeType="1"/>
            </p:cNvSpPr>
            <p:nvPr/>
          </p:nvSpPr>
          <p:spPr bwMode="auto">
            <a:xfrm>
              <a:off x="7721522" y="1497582"/>
              <a:ext cx="0" cy="369461"/>
            </a:xfrm>
            <a:prstGeom prst="line">
              <a:avLst/>
            </a:prstGeom>
            <a:noFill/>
            <a:ln w="25400">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9" name="组合 8">
            <a:extLst>
              <a:ext uri="{FF2B5EF4-FFF2-40B4-BE49-F238E27FC236}">
                <a16:creationId xmlns:a16="http://schemas.microsoft.com/office/drawing/2014/main" id="{7125E5BB-6834-D654-45B6-4AA2340078C1}"/>
              </a:ext>
            </a:extLst>
          </p:cNvPr>
          <p:cNvGrpSpPr/>
          <p:nvPr/>
        </p:nvGrpSpPr>
        <p:grpSpPr>
          <a:xfrm flipH="1">
            <a:off x="6929318" y="804604"/>
            <a:ext cx="276367" cy="686543"/>
            <a:chOff x="6794267" y="1107614"/>
            <a:chExt cx="380999" cy="688861"/>
          </a:xfrm>
        </p:grpSpPr>
        <p:sp>
          <p:nvSpPr>
            <p:cNvPr id="10" name="Text Box 78">
              <a:extLst>
                <a:ext uri="{FF2B5EF4-FFF2-40B4-BE49-F238E27FC236}">
                  <a16:creationId xmlns:a16="http://schemas.microsoft.com/office/drawing/2014/main" id="{6F915CA4-4C06-A012-C7C3-59E68966B2F6}"/>
                </a:ext>
              </a:extLst>
            </p:cNvPr>
            <p:cNvSpPr txBox="1">
              <a:spLocks noChangeArrowheads="1"/>
            </p:cNvSpPr>
            <p:nvPr/>
          </p:nvSpPr>
          <p:spPr bwMode="auto">
            <a:xfrm>
              <a:off x="6794267" y="1107614"/>
              <a:ext cx="380999" cy="304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80000"/>
                </a:lnSpc>
                <a:spcBef>
                  <a:spcPct val="50000"/>
                </a:spcBef>
                <a:spcAft>
                  <a:spcPts val="0"/>
                </a:spcAft>
                <a:buClrTx/>
                <a:buSzTx/>
                <a:buFontTx/>
                <a:buNone/>
                <a:tabLst/>
                <a:defRPr/>
              </a:pPr>
              <a:r>
                <a:rPr kumimoji="0" lang="en-US" altLang="zh-CN" sz="2400" b="1" i="0" u="none" strike="noStrike" kern="1200" cap="none" spc="0" normalizeH="0" baseline="0" noProof="0" dirty="0">
                  <a:ln>
                    <a:noFill/>
                  </a:ln>
                  <a:solidFill>
                    <a:srgbClr val="0F14F1"/>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rPr>
                <a:t>p</a:t>
              </a:r>
            </a:p>
          </p:txBody>
        </p:sp>
        <p:cxnSp>
          <p:nvCxnSpPr>
            <p:cNvPr id="11" name="直接箭头连接符 10">
              <a:extLst>
                <a:ext uri="{FF2B5EF4-FFF2-40B4-BE49-F238E27FC236}">
                  <a16:creationId xmlns:a16="http://schemas.microsoft.com/office/drawing/2014/main" id="{3132DC59-9BE5-1FC5-0552-AA9AE723DBFA}"/>
                </a:ext>
              </a:extLst>
            </p:cNvPr>
            <p:cNvCxnSpPr>
              <a:cxnSpLocks/>
            </p:cNvCxnSpPr>
            <p:nvPr/>
          </p:nvCxnSpPr>
          <p:spPr>
            <a:xfrm>
              <a:off x="6888088" y="1412776"/>
              <a:ext cx="0" cy="383699"/>
            </a:xfrm>
            <a:prstGeom prst="straightConnector1">
              <a:avLst/>
            </a:prstGeom>
            <a:ln w="38100">
              <a:solidFill>
                <a:srgbClr val="0F14F1"/>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97292D12-0515-9EB4-CF6C-D4E5015A9B01}"/>
              </a:ext>
            </a:extLst>
          </p:cNvPr>
          <p:cNvGrpSpPr/>
          <p:nvPr/>
        </p:nvGrpSpPr>
        <p:grpSpPr>
          <a:xfrm>
            <a:off x="6918154" y="1491147"/>
            <a:ext cx="563509" cy="369461"/>
            <a:chOff x="7383417" y="1497582"/>
            <a:chExt cx="563509" cy="369461"/>
          </a:xfrm>
        </p:grpSpPr>
        <p:sp>
          <p:nvSpPr>
            <p:cNvPr id="13" name="Rectangle 74">
              <a:extLst>
                <a:ext uri="{FF2B5EF4-FFF2-40B4-BE49-F238E27FC236}">
                  <a16:creationId xmlns:a16="http://schemas.microsoft.com/office/drawing/2014/main" id="{DEAAAF82-283C-ED36-5C2B-97426FE30FF4}"/>
                </a:ext>
              </a:extLst>
            </p:cNvPr>
            <p:cNvSpPr>
              <a:spLocks noChangeArrowheads="1"/>
            </p:cNvSpPr>
            <p:nvPr/>
          </p:nvSpPr>
          <p:spPr bwMode="auto">
            <a:xfrm>
              <a:off x="7383417" y="1497582"/>
              <a:ext cx="563509" cy="369461"/>
            </a:xfrm>
            <a:prstGeom prst="rect">
              <a:avLst/>
            </a:prstGeom>
            <a:solidFill>
              <a:schemeClr val="accent6">
                <a:lumMod val="20000"/>
                <a:lumOff val="80000"/>
              </a:schemeClr>
            </a:solidFill>
            <a:ln w="25400">
              <a:solidFill>
                <a:srgbClr val="0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8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rgbClr val="0F14F1"/>
                </a:solidFill>
                <a:effectLst/>
                <a:uLnTx/>
                <a:uFillTx/>
                <a:latin typeface="Times New Roman" panose="02020603050405020304"/>
                <a:ea typeface="宋体" panose="02010600030101010101" pitchFamily="2" charset="-122"/>
                <a:cs typeface="+mn-cs"/>
              </a:endParaRPr>
            </a:p>
          </p:txBody>
        </p:sp>
        <p:sp>
          <p:nvSpPr>
            <p:cNvPr id="14" name="Line 75">
              <a:extLst>
                <a:ext uri="{FF2B5EF4-FFF2-40B4-BE49-F238E27FC236}">
                  <a16:creationId xmlns:a16="http://schemas.microsoft.com/office/drawing/2014/main" id="{07838CC7-D7BD-10C8-C81A-B61CD2F03F76}"/>
                </a:ext>
              </a:extLst>
            </p:cNvPr>
            <p:cNvSpPr>
              <a:spLocks noChangeShapeType="1"/>
            </p:cNvSpPr>
            <p:nvPr/>
          </p:nvSpPr>
          <p:spPr bwMode="auto">
            <a:xfrm>
              <a:off x="7721522" y="1497582"/>
              <a:ext cx="0" cy="369461"/>
            </a:xfrm>
            <a:prstGeom prst="line">
              <a:avLst/>
            </a:prstGeom>
            <a:noFill/>
            <a:ln w="25400">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5" name="组合 14">
            <a:extLst>
              <a:ext uri="{FF2B5EF4-FFF2-40B4-BE49-F238E27FC236}">
                <a16:creationId xmlns:a16="http://schemas.microsoft.com/office/drawing/2014/main" id="{F8D1D75A-1C7A-12E1-D234-478407FB2227}"/>
              </a:ext>
            </a:extLst>
          </p:cNvPr>
          <p:cNvGrpSpPr/>
          <p:nvPr/>
        </p:nvGrpSpPr>
        <p:grpSpPr>
          <a:xfrm>
            <a:off x="8679635" y="1491147"/>
            <a:ext cx="563509" cy="369461"/>
            <a:chOff x="7383417" y="1497582"/>
            <a:chExt cx="563509" cy="369461"/>
          </a:xfrm>
        </p:grpSpPr>
        <p:sp>
          <p:nvSpPr>
            <p:cNvPr id="16" name="Rectangle 74">
              <a:extLst>
                <a:ext uri="{FF2B5EF4-FFF2-40B4-BE49-F238E27FC236}">
                  <a16:creationId xmlns:a16="http://schemas.microsoft.com/office/drawing/2014/main" id="{DDA20AEA-483D-5E67-763C-A994A4C4CD0D}"/>
                </a:ext>
              </a:extLst>
            </p:cNvPr>
            <p:cNvSpPr>
              <a:spLocks noChangeArrowheads="1"/>
            </p:cNvSpPr>
            <p:nvPr/>
          </p:nvSpPr>
          <p:spPr bwMode="auto">
            <a:xfrm>
              <a:off x="7383417" y="1497582"/>
              <a:ext cx="563509" cy="369461"/>
            </a:xfrm>
            <a:prstGeom prst="rect">
              <a:avLst/>
            </a:prstGeom>
            <a:solidFill>
              <a:schemeClr val="accent6">
                <a:lumMod val="20000"/>
                <a:lumOff val="80000"/>
              </a:schemeClr>
            </a:solidFill>
            <a:ln w="25400">
              <a:solidFill>
                <a:srgbClr val="0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8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rgbClr val="0F14F1"/>
                </a:solidFill>
                <a:effectLst/>
                <a:uLnTx/>
                <a:uFillTx/>
                <a:latin typeface="Times New Roman" panose="02020603050405020304"/>
                <a:ea typeface="宋体" panose="02010600030101010101" pitchFamily="2" charset="-122"/>
                <a:cs typeface="+mn-cs"/>
              </a:endParaRPr>
            </a:p>
          </p:txBody>
        </p:sp>
        <p:sp>
          <p:nvSpPr>
            <p:cNvPr id="17" name="Line 75">
              <a:extLst>
                <a:ext uri="{FF2B5EF4-FFF2-40B4-BE49-F238E27FC236}">
                  <a16:creationId xmlns:a16="http://schemas.microsoft.com/office/drawing/2014/main" id="{D13176EC-3870-645E-07E9-3468EEA22368}"/>
                </a:ext>
              </a:extLst>
            </p:cNvPr>
            <p:cNvSpPr>
              <a:spLocks noChangeShapeType="1"/>
            </p:cNvSpPr>
            <p:nvPr/>
          </p:nvSpPr>
          <p:spPr bwMode="auto">
            <a:xfrm>
              <a:off x="7721522" y="1497582"/>
              <a:ext cx="0" cy="369461"/>
            </a:xfrm>
            <a:prstGeom prst="line">
              <a:avLst/>
            </a:prstGeom>
            <a:noFill/>
            <a:ln w="25400">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 name="组合 17">
            <a:extLst>
              <a:ext uri="{FF2B5EF4-FFF2-40B4-BE49-F238E27FC236}">
                <a16:creationId xmlns:a16="http://schemas.microsoft.com/office/drawing/2014/main" id="{4F4F2FFE-F969-2D11-9ECC-3C4868444348}"/>
              </a:ext>
            </a:extLst>
          </p:cNvPr>
          <p:cNvGrpSpPr/>
          <p:nvPr/>
        </p:nvGrpSpPr>
        <p:grpSpPr>
          <a:xfrm>
            <a:off x="9546013" y="1483151"/>
            <a:ext cx="563509" cy="369461"/>
            <a:chOff x="7383417" y="1497582"/>
            <a:chExt cx="563509" cy="369461"/>
          </a:xfrm>
        </p:grpSpPr>
        <p:sp>
          <p:nvSpPr>
            <p:cNvPr id="19" name="Rectangle 74">
              <a:extLst>
                <a:ext uri="{FF2B5EF4-FFF2-40B4-BE49-F238E27FC236}">
                  <a16:creationId xmlns:a16="http://schemas.microsoft.com/office/drawing/2014/main" id="{A09B1D21-157F-5B96-D2AB-30DAC65FC19B}"/>
                </a:ext>
              </a:extLst>
            </p:cNvPr>
            <p:cNvSpPr>
              <a:spLocks noChangeArrowheads="1"/>
            </p:cNvSpPr>
            <p:nvPr/>
          </p:nvSpPr>
          <p:spPr bwMode="auto">
            <a:xfrm>
              <a:off x="7383417" y="1497582"/>
              <a:ext cx="563509" cy="369461"/>
            </a:xfrm>
            <a:prstGeom prst="rect">
              <a:avLst/>
            </a:prstGeom>
            <a:solidFill>
              <a:schemeClr val="accent6">
                <a:lumMod val="20000"/>
                <a:lumOff val="80000"/>
              </a:schemeClr>
            </a:solidFill>
            <a:ln w="25400">
              <a:solidFill>
                <a:srgbClr val="0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8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rgbClr val="0F14F1"/>
                </a:solidFill>
                <a:effectLst/>
                <a:uLnTx/>
                <a:uFillTx/>
                <a:latin typeface="Times New Roman" panose="02020603050405020304"/>
                <a:ea typeface="宋体" panose="02010600030101010101" pitchFamily="2" charset="-122"/>
                <a:cs typeface="+mn-cs"/>
              </a:endParaRPr>
            </a:p>
          </p:txBody>
        </p:sp>
        <p:sp>
          <p:nvSpPr>
            <p:cNvPr id="20" name="Line 75">
              <a:extLst>
                <a:ext uri="{FF2B5EF4-FFF2-40B4-BE49-F238E27FC236}">
                  <a16:creationId xmlns:a16="http://schemas.microsoft.com/office/drawing/2014/main" id="{9FD64C1F-4E1E-ADAC-59F4-8437FC039028}"/>
                </a:ext>
              </a:extLst>
            </p:cNvPr>
            <p:cNvSpPr>
              <a:spLocks noChangeShapeType="1"/>
            </p:cNvSpPr>
            <p:nvPr/>
          </p:nvSpPr>
          <p:spPr bwMode="auto">
            <a:xfrm>
              <a:off x="7721522" y="1497582"/>
              <a:ext cx="0" cy="369461"/>
            </a:xfrm>
            <a:prstGeom prst="line">
              <a:avLst/>
            </a:prstGeom>
            <a:noFill/>
            <a:ln w="25400">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21" name="组合 20">
            <a:extLst>
              <a:ext uri="{FF2B5EF4-FFF2-40B4-BE49-F238E27FC236}">
                <a16:creationId xmlns:a16="http://schemas.microsoft.com/office/drawing/2014/main" id="{B1678846-DD78-5D49-C3E4-E2579604F85A}"/>
              </a:ext>
            </a:extLst>
          </p:cNvPr>
          <p:cNvGrpSpPr/>
          <p:nvPr/>
        </p:nvGrpSpPr>
        <p:grpSpPr>
          <a:xfrm>
            <a:off x="10411658" y="1480655"/>
            <a:ext cx="563509" cy="369461"/>
            <a:chOff x="7383417" y="1497582"/>
            <a:chExt cx="563509" cy="369461"/>
          </a:xfrm>
        </p:grpSpPr>
        <p:sp>
          <p:nvSpPr>
            <p:cNvPr id="22" name="Rectangle 74">
              <a:extLst>
                <a:ext uri="{FF2B5EF4-FFF2-40B4-BE49-F238E27FC236}">
                  <a16:creationId xmlns:a16="http://schemas.microsoft.com/office/drawing/2014/main" id="{F1633D78-A867-BE9D-CE28-1F97B4C12194}"/>
                </a:ext>
              </a:extLst>
            </p:cNvPr>
            <p:cNvSpPr>
              <a:spLocks noChangeArrowheads="1"/>
            </p:cNvSpPr>
            <p:nvPr/>
          </p:nvSpPr>
          <p:spPr bwMode="auto">
            <a:xfrm>
              <a:off x="7383417" y="1497582"/>
              <a:ext cx="563509" cy="369461"/>
            </a:xfrm>
            <a:prstGeom prst="rect">
              <a:avLst/>
            </a:prstGeom>
            <a:solidFill>
              <a:schemeClr val="accent6">
                <a:lumMod val="20000"/>
                <a:lumOff val="80000"/>
              </a:schemeClr>
            </a:solidFill>
            <a:ln w="25400">
              <a:solidFill>
                <a:srgbClr val="0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8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rgbClr val="0F14F1"/>
                </a:solidFill>
                <a:effectLst/>
                <a:uLnTx/>
                <a:uFillTx/>
                <a:latin typeface="Times New Roman" panose="02020603050405020304"/>
                <a:ea typeface="宋体" panose="02010600030101010101" pitchFamily="2" charset="-122"/>
                <a:cs typeface="+mn-cs"/>
              </a:endParaRPr>
            </a:p>
          </p:txBody>
        </p:sp>
        <p:sp>
          <p:nvSpPr>
            <p:cNvPr id="23" name="Line 75">
              <a:extLst>
                <a:ext uri="{FF2B5EF4-FFF2-40B4-BE49-F238E27FC236}">
                  <a16:creationId xmlns:a16="http://schemas.microsoft.com/office/drawing/2014/main" id="{DF7192EC-2694-758E-D003-C0BE7177D215}"/>
                </a:ext>
              </a:extLst>
            </p:cNvPr>
            <p:cNvSpPr>
              <a:spLocks noChangeShapeType="1"/>
            </p:cNvSpPr>
            <p:nvPr/>
          </p:nvSpPr>
          <p:spPr bwMode="auto">
            <a:xfrm>
              <a:off x="7721522" y="1497582"/>
              <a:ext cx="0" cy="369461"/>
            </a:xfrm>
            <a:prstGeom prst="line">
              <a:avLst/>
            </a:prstGeom>
            <a:noFill/>
            <a:ln w="25400">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4" name="文本框 23">
            <a:extLst>
              <a:ext uri="{FF2B5EF4-FFF2-40B4-BE49-F238E27FC236}">
                <a16:creationId xmlns:a16="http://schemas.microsoft.com/office/drawing/2014/main" id="{3C3BEAA1-05DC-B16C-D276-8602AA52DE17}"/>
              </a:ext>
            </a:extLst>
          </p:cNvPr>
          <p:cNvSpPr txBox="1"/>
          <p:nvPr/>
        </p:nvSpPr>
        <p:spPr>
          <a:xfrm>
            <a:off x="6260518" y="342547"/>
            <a:ext cx="316423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char</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abcd</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25" name="文本框 24">
            <a:extLst>
              <a:ext uri="{FF2B5EF4-FFF2-40B4-BE49-F238E27FC236}">
                <a16:creationId xmlns:a16="http://schemas.microsoft.com/office/drawing/2014/main" id="{3E3F9A2F-3E16-0290-8953-53ACF798837D}"/>
              </a:ext>
            </a:extLst>
          </p:cNvPr>
          <p:cNvSpPr txBox="1"/>
          <p:nvPr/>
        </p:nvSpPr>
        <p:spPr>
          <a:xfrm>
            <a:off x="6505647" y="1996828"/>
            <a:ext cx="993046" cy="707886"/>
          </a:xfrm>
          <a:prstGeom prst="rect">
            <a:avLst/>
          </a:prstGeom>
          <a:solidFill>
            <a:schemeClr val="accent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初始建头结点</a:t>
            </a:r>
          </a:p>
        </p:txBody>
      </p:sp>
      <p:sp>
        <p:nvSpPr>
          <p:cNvPr id="26" name="文本框 25">
            <a:extLst>
              <a:ext uri="{FF2B5EF4-FFF2-40B4-BE49-F238E27FC236}">
                <a16:creationId xmlns:a16="http://schemas.microsoft.com/office/drawing/2014/main" id="{D2414FEF-F1C1-299E-E79E-23EE2FD3BBF1}"/>
              </a:ext>
            </a:extLst>
          </p:cNvPr>
          <p:cNvSpPr txBox="1"/>
          <p:nvPr/>
        </p:nvSpPr>
        <p:spPr>
          <a:xfrm>
            <a:off x="7791231" y="2002165"/>
            <a:ext cx="3267052" cy="400110"/>
          </a:xfrm>
          <a:prstGeom prst="rect">
            <a:avLst/>
          </a:prstGeom>
          <a:solidFill>
            <a:schemeClr val="accent2">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依次在表尾插入各元素结点</a:t>
            </a:r>
          </a:p>
        </p:txBody>
      </p:sp>
      <p:cxnSp>
        <p:nvCxnSpPr>
          <p:cNvPr id="27" name="直接箭头连接符 26">
            <a:extLst>
              <a:ext uri="{FF2B5EF4-FFF2-40B4-BE49-F238E27FC236}">
                <a16:creationId xmlns:a16="http://schemas.microsoft.com/office/drawing/2014/main" id="{44AE98C8-1055-2377-B08D-9FE404B7E353}"/>
              </a:ext>
            </a:extLst>
          </p:cNvPr>
          <p:cNvCxnSpPr>
            <a:cxnSpLocks/>
          </p:cNvCxnSpPr>
          <p:nvPr/>
        </p:nvCxnSpPr>
        <p:spPr>
          <a:xfrm flipV="1">
            <a:off x="7386175" y="1681126"/>
            <a:ext cx="416380" cy="6770"/>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3CE9C641-4C28-FFAF-E176-5CA44BDDB5A8}"/>
              </a:ext>
            </a:extLst>
          </p:cNvPr>
          <p:cNvCxnSpPr>
            <a:cxnSpLocks/>
          </p:cNvCxnSpPr>
          <p:nvPr/>
        </p:nvCxnSpPr>
        <p:spPr>
          <a:xfrm flipV="1">
            <a:off x="8259252" y="1684511"/>
            <a:ext cx="416380" cy="6770"/>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9F73431A-14DD-F9C0-6A1D-B131F2F069F6}"/>
              </a:ext>
            </a:extLst>
          </p:cNvPr>
          <p:cNvCxnSpPr>
            <a:cxnSpLocks/>
          </p:cNvCxnSpPr>
          <p:nvPr/>
        </p:nvCxnSpPr>
        <p:spPr>
          <a:xfrm flipV="1">
            <a:off x="9131560" y="1687896"/>
            <a:ext cx="416380" cy="6770"/>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1AD1E333-22BC-10A7-B36E-5BF887CF8D2E}"/>
              </a:ext>
            </a:extLst>
          </p:cNvPr>
          <p:cNvCxnSpPr>
            <a:cxnSpLocks/>
          </p:cNvCxnSpPr>
          <p:nvPr/>
        </p:nvCxnSpPr>
        <p:spPr>
          <a:xfrm flipV="1">
            <a:off x="10004425" y="1684511"/>
            <a:ext cx="416380" cy="6770"/>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1" name="Rectangle 22">
            <a:extLst>
              <a:ext uri="{FF2B5EF4-FFF2-40B4-BE49-F238E27FC236}">
                <a16:creationId xmlns:a16="http://schemas.microsoft.com/office/drawing/2014/main" id="{BB047E5F-B859-7C0D-A558-758FD433A8B1}"/>
              </a:ext>
            </a:extLst>
          </p:cNvPr>
          <p:cNvSpPr>
            <a:spLocks noChangeArrowheads="1"/>
          </p:cNvSpPr>
          <p:nvPr/>
        </p:nvSpPr>
        <p:spPr bwMode="auto">
          <a:xfrm>
            <a:off x="10772298" y="1412046"/>
            <a:ext cx="216045" cy="414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ts val="36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rPr>
              <a:t>∧</a:t>
            </a:r>
          </a:p>
        </p:txBody>
      </p:sp>
      <p:sp>
        <p:nvSpPr>
          <p:cNvPr id="32" name="文本框 31">
            <a:extLst>
              <a:ext uri="{FF2B5EF4-FFF2-40B4-BE49-F238E27FC236}">
                <a16:creationId xmlns:a16="http://schemas.microsoft.com/office/drawing/2014/main" id="{53BEA308-72C4-8243-7568-74C346F21A9F}"/>
              </a:ext>
            </a:extLst>
          </p:cNvPr>
          <p:cNvSpPr txBox="1"/>
          <p:nvPr/>
        </p:nvSpPr>
        <p:spPr>
          <a:xfrm>
            <a:off x="0" y="931744"/>
            <a:ext cx="6389727" cy="2197396"/>
          </a:xfrm>
          <a:prstGeom prst="rect">
            <a:avLst/>
          </a:prstGeom>
          <a:noFill/>
        </p:spPr>
        <p:txBody>
          <a:bodyPr wrap="square" rtlCol="0">
            <a:sp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构建单链表，需要逐个结点分配存储空间。</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示例：由元素</a:t>
            </a:r>
            <a:r>
              <a:rPr kumimoji="0" lang="zh-CN" altLang="en-US" sz="2400" b="1" i="0" u="none" strike="noStrike" kern="1200" cap="none" spc="0" normalizeH="0" baseline="0" noProof="0" dirty="0" smtClean="0">
                <a:ln>
                  <a:noFill/>
                </a:ln>
                <a:solidFill>
                  <a:prstClr val="black"/>
                </a:solidFill>
                <a:effectLst/>
                <a:uLnTx/>
                <a:uFillTx/>
                <a:latin typeface="Times New Roman" panose="02020603050405020304"/>
                <a:ea typeface="宋体" panose="02010600030101010101" pitchFamily="2" charset="-122"/>
                <a:cs typeface="+mn-cs"/>
              </a:rPr>
              <a:t>序列</a:t>
            </a:r>
            <a:r>
              <a:rPr kumimoji="0" lang="en-US" altLang="zh-CN" sz="2400" b="1" i="0" u="none" strike="noStrike" kern="1200" cap="none" spc="0" normalizeH="0" baseline="0" noProof="0" dirty="0" smtClean="0">
                <a:ln>
                  <a:noFill/>
                </a:ln>
                <a:solidFill>
                  <a:srgbClr val="C00000"/>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rPr>
              <a:t>s</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 b, c, d”</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构造单链线性表 </a:t>
            </a:r>
            <a:r>
              <a:rPr kumimoji="0" lang="en-US" altLang="zh-CN" sz="24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rPr>
              <a:t>L</a:t>
            </a:r>
            <a:r>
              <a:rPr kumimoji="0" lang="zh-CN" alt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rPr>
              <a:t>。</a:t>
            </a:r>
            <a:endParaRPr kumimoji="0" lang="en-US" altLang="zh-CN"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rPr>
              <a:t>辅助指针 </a:t>
            </a:r>
            <a:r>
              <a:rPr kumimoji="0" lang="en-US" altLang="zh-CN" sz="24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p</a:t>
            </a:r>
            <a:r>
              <a:rPr kumimoji="0" lang="en-US" altLang="zh-CN" sz="2400" b="1" i="0" u="none" strike="noStrike" kern="1200" cap="none" spc="0" normalizeH="0" baseline="0" noProof="0" dirty="0">
                <a:ln>
                  <a:noFill/>
                </a:ln>
                <a:solidFill>
                  <a:srgbClr val="0F14F1"/>
                </a:solidFill>
                <a:effectLst/>
                <a:uLnTx/>
                <a:uFillTx/>
                <a:latin typeface="Times New Roman" panose="02020603050405020304"/>
                <a:ea typeface="宋体" panose="0201060003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总是指着当前</a:t>
            </a:r>
            <a:r>
              <a:rPr kumimoji="0" lang="zh-CN" altLang="en-US" sz="2400" b="1" i="0" u="none" strike="noStrike" kern="1200" cap="none" spc="0" normalizeH="0" baseline="0" noProof="0" dirty="0">
                <a:ln>
                  <a:noFill/>
                </a:ln>
                <a:solidFill>
                  <a:srgbClr val="0F14F1"/>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rPr>
              <a:t>表尾结点</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，以简化</a:t>
            </a:r>
            <a:r>
              <a:rPr kumimoji="0" lang="zh-CN" altLang="en-US" sz="2400" b="1" i="0" u="none" strike="noStrike" kern="1200" cap="none" spc="0" normalizeH="0" baseline="0" noProof="0" dirty="0">
                <a:ln>
                  <a:noFill/>
                </a:ln>
                <a:solidFill>
                  <a:srgbClr val="0F14F1"/>
                </a:solidFill>
                <a:effectLst/>
                <a:uLnTx/>
                <a:uFillTx/>
                <a:latin typeface="Times New Roman" panose="02020603050405020304"/>
                <a:ea typeface="宋体" panose="02010600030101010101" pitchFamily="2" charset="-122"/>
                <a:cs typeface="+mn-cs"/>
              </a:rPr>
              <a:t>在表尾插入结点</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矩形: 圆角 32">
            <a:extLst>
              <a:ext uri="{FF2B5EF4-FFF2-40B4-BE49-F238E27FC236}">
                <a16:creationId xmlns:a16="http://schemas.microsoft.com/office/drawing/2014/main" id="{8DD2FE35-96B2-D2E0-2867-5E0A88D18322}"/>
              </a:ext>
            </a:extLst>
          </p:cNvPr>
          <p:cNvSpPr/>
          <p:nvPr/>
        </p:nvSpPr>
        <p:spPr>
          <a:xfrm>
            <a:off x="1422599" y="186701"/>
            <a:ext cx="4198014" cy="617816"/>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1122A3"/>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rPr>
              <a:t>构建单链线性表</a:t>
            </a:r>
            <a:endParaRPr kumimoji="0" lang="zh-CN" altLang="en-US" sz="2400" b="0" i="0" u="none" strike="noStrike" kern="1200" cap="none" spc="0" normalizeH="0" baseline="0" noProof="0" dirty="0">
              <a:ln>
                <a:noFill/>
              </a:ln>
              <a:solidFill>
                <a:srgbClr val="1122A3"/>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endParaRPr>
          </a:p>
        </p:txBody>
      </p:sp>
      <p:sp>
        <p:nvSpPr>
          <p:cNvPr id="34" name="文本框 33">
            <a:extLst>
              <a:ext uri="{FF2B5EF4-FFF2-40B4-BE49-F238E27FC236}">
                <a16:creationId xmlns:a16="http://schemas.microsoft.com/office/drawing/2014/main" id="{1D60637A-D7DA-1BC1-F0FE-8F5B3E18D12F}"/>
              </a:ext>
            </a:extLst>
          </p:cNvPr>
          <p:cNvSpPr txBox="1"/>
          <p:nvPr/>
        </p:nvSpPr>
        <p:spPr>
          <a:xfrm>
            <a:off x="1412604" y="3158436"/>
            <a:ext cx="10178153" cy="3139321"/>
          </a:xfrm>
          <a:prstGeom prst="rect">
            <a:avLst/>
          </a:prstGeom>
          <a:solidFill>
            <a:schemeClr val="accent6">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LinkList CreateList(</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n, </a:t>
            </a:r>
            <a:r>
              <a:rPr kumimoji="0" lang="en-US" altLang="zh-CN" sz="1800" b="0" i="0" u="none" strike="noStrike" kern="1200" cap="none" spc="0" normalizeH="0" baseline="0" noProof="0" dirty="0" err="1">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ElemType</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18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算法2.11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18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en-US" sz="18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 由元素序列</a:t>
            </a:r>
            <a:r>
              <a:rPr kumimoji="0" lang="zh-CN" altLang="en-US"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s</a:t>
            </a:r>
            <a:r>
              <a:rPr kumimoji="0" lang="zh-CN" altLang="en-US" sz="18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的头</a:t>
            </a:r>
            <a:r>
              <a:rPr kumimoji="0" lang="en-US" altLang="zh-CN"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n</a:t>
            </a:r>
            <a:r>
              <a:rPr kumimoji="0" lang="zh-CN" altLang="en-US" sz="18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个元素建立并返回带表头结点的单链线性表</a:t>
            </a:r>
            <a:endParaRPr kumimoji="0" lang="en-US" altLang="zh-CN" sz="18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(n&lt;0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return</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NULL;</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LinkList L</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 = p = (LinkList)</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alloc</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1, </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sizeof</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(LNode))</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exit(OVERFLOW)</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  for </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i=0; i&lt;n; ++i) </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8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18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将</a:t>
            </a:r>
            <a:r>
              <a:rPr kumimoji="0" lang="zh-CN" altLang="en-US" sz="18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s</a:t>
            </a:r>
            <a:r>
              <a:rPr kumimoji="0" lang="en-US" altLang="zh-CN" sz="1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sz="18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的元素逐个插入</a:t>
            </a:r>
            <a:r>
              <a:rPr kumimoji="0" lang="en-US" altLang="zh-CN" sz="18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L</a:t>
            </a:r>
            <a:r>
              <a:rPr kumimoji="0" lang="zh-CN" altLang="en-US" sz="18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的当前表尾</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if </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p</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-&gt;next = (LinkList)</a:t>
            </a: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m</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alloc</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a:t>
            </a: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izeof</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(LNode))</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exit(OVERFLOW)</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 = p-&gt;next;   p-&gt;data = s[i];   </a:t>
            </a:r>
            <a:r>
              <a:rPr kumimoji="0" lang="en-US" altLang="zh-CN" sz="18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a:t>
            </a:r>
            <a:r>
              <a:rPr kumimoji="0" lang="zh-CN" altLang="en-US" sz="1800" b="0"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rPr>
              <a:t>指向新表尾，存入元素</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a:t>
            </a:r>
            <a:r>
              <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-&gt;next = NULL;</a:t>
            </a:r>
            <a:endPar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1800" b="1" i="0" u="none" strike="noStrike" kern="1200" cap="none" spc="0" normalizeH="0" baseline="0" noProof="0" dirty="0">
              <a:ln>
                <a:noFill/>
              </a:ln>
              <a:solidFill>
                <a:srgbClr val="0070C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35" name="Rectangle 22">
            <a:extLst>
              <a:ext uri="{FF2B5EF4-FFF2-40B4-BE49-F238E27FC236}">
                <a16:creationId xmlns:a16="http://schemas.microsoft.com/office/drawing/2014/main" id="{A09704CB-3063-1505-C2DF-170D7683911D}"/>
              </a:ext>
            </a:extLst>
          </p:cNvPr>
          <p:cNvSpPr>
            <a:spLocks noChangeArrowheads="1"/>
          </p:cNvSpPr>
          <p:nvPr/>
        </p:nvSpPr>
        <p:spPr bwMode="auto">
          <a:xfrm>
            <a:off x="7263379" y="1408742"/>
            <a:ext cx="216045" cy="414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ctr" defTabSz="914400" rtl="0" eaLnBrk="1" fontAlgn="auto" latinLnBrk="0" hangingPunct="1">
              <a:lnSpc>
                <a:spcPts val="36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Times New Roman" panose="02020603050405020304"/>
                <a:ea typeface="宋体" panose="02010600030101010101" pitchFamily="2" charset="-122"/>
                <a:cs typeface="+mn-cs"/>
              </a:rPr>
              <a:t>∧</a:t>
            </a:r>
          </a:p>
        </p:txBody>
      </p:sp>
      <p:cxnSp>
        <p:nvCxnSpPr>
          <p:cNvPr id="36" name="直接连接符 35">
            <a:extLst>
              <a:ext uri="{FF2B5EF4-FFF2-40B4-BE49-F238E27FC236}">
                <a16:creationId xmlns:a16="http://schemas.microsoft.com/office/drawing/2014/main" id="{8A091240-5198-715F-1555-710F838B4DFF}"/>
              </a:ext>
            </a:extLst>
          </p:cNvPr>
          <p:cNvCxnSpPr>
            <a:cxnSpLocks/>
          </p:cNvCxnSpPr>
          <p:nvPr/>
        </p:nvCxnSpPr>
        <p:spPr>
          <a:xfrm>
            <a:off x="2939921" y="4867203"/>
            <a:ext cx="58168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5B196FB5-3983-DC2B-24A8-1E1EDC59D369}"/>
              </a:ext>
            </a:extLst>
          </p:cNvPr>
          <p:cNvCxnSpPr>
            <a:cxnSpLocks/>
          </p:cNvCxnSpPr>
          <p:nvPr/>
        </p:nvCxnSpPr>
        <p:spPr>
          <a:xfrm>
            <a:off x="3660001" y="4867203"/>
            <a:ext cx="56056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C8245D81-4A27-5232-9DD4-9E3927C34A1F}"/>
              </a:ext>
            </a:extLst>
          </p:cNvPr>
          <p:cNvCxnSpPr>
            <a:cxnSpLocks/>
          </p:cNvCxnSpPr>
          <p:nvPr/>
        </p:nvCxnSpPr>
        <p:spPr>
          <a:xfrm>
            <a:off x="2802288" y="5152383"/>
            <a:ext cx="94172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AD62A44F-B7DC-92F0-AA37-8D334E80BBA6}"/>
              </a:ext>
            </a:extLst>
          </p:cNvPr>
          <p:cNvCxnSpPr>
            <a:cxnSpLocks/>
          </p:cNvCxnSpPr>
          <p:nvPr/>
        </p:nvCxnSpPr>
        <p:spPr>
          <a:xfrm flipV="1">
            <a:off x="4319316" y="5136872"/>
            <a:ext cx="4543857" cy="563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4EB24F49-5AE9-8EDF-A591-625C81BCC233}"/>
              </a:ext>
            </a:extLst>
          </p:cNvPr>
          <p:cNvCxnSpPr>
            <a:cxnSpLocks/>
          </p:cNvCxnSpPr>
          <p:nvPr/>
        </p:nvCxnSpPr>
        <p:spPr>
          <a:xfrm>
            <a:off x="2009889" y="5423448"/>
            <a:ext cx="164913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5661E86E-214A-1991-042F-653E3228AEBF}"/>
              </a:ext>
            </a:extLst>
          </p:cNvPr>
          <p:cNvCxnSpPr>
            <a:cxnSpLocks/>
          </p:cNvCxnSpPr>
          <p:nvPr/>
        </p:nvCxnSpPr>
        <p:spPr>
          <a:xfrm>
            <a:off x="4072831" y="5423448"/>
            <a:ext cx="197636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6682E8E-FC16-0CFB-B78C-A364EC8B2357}"/>
              </a:ext>
            </a:extLst>
          </p:cNvPr>
          <p:cNvCxnSpPr>
            <a:cxnSpLocks/>
          </p:cNvCxnSpPr>
          <p:nvPr/>
        </p:nvCxnSpPr>
        <p:spPr>
          <a:xfrm>
            <a:off x="4319316" y="4867203"/>
            <a:ext cx="45693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2CA83326-1F49-601F-C5F8-6161C4772F0F}"/>
              </a:ext>
            </a:extLst>
          </p:cNvPr>
          <p:cNvSpPr txBox="1"/>
          <p:nvPr/>
        </p:nvSpPr>
        <p:spPr>
          <a:xfrm>
            <a:off x="4727896" y="3019489"/>
            <a:ext cx="220406"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4</a:t>
            </a:r>
            <a:endParaRPr kumimoji="0" lang="zh-CN" altLang="en-US"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44" name="文本框 43">
            <a:extLst>
              <a:ext uri="{FF2B5EF4-FFF2-40B4-BE49-F238E27FC236}">
                <a16:creationId xmlns:a16="http://schemas.microsoft.com/office/drawing/2014/main" id="{34247F8C-7F83-258B-7FD1-AFC1709A828C}"/>
              </a:ext>
            </a:extLst>
          </p:cNvPr>
          <p:cNvSpPr txBox="1"/>
          <p:nvPr/>
        </p:nvSpPr>
        <p:spPr>
          <a:xfrm>
            <a:off x="6049191" y="2983426"/>
            <a:ext cx="980781"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r>
              <a:rPr kumimoji="0" lang="en-US" altLang="zh-CN" sz="2000" b="1" i="0" u="none" strike="noStrike" kern="1200" cap="none" spc="0" normalizeH="0" baseline="0" noProof="0" dirty="0" err="1">
                <a:ln>
                  <a:noFill/>
                </a:ln>
                <a:solidFill>
                  <a:srgbClr val="C00000"/>
                </a:solidFill>
                <a:effectLst/>
                <a:uLnTx/>
                <a:uFillTx/>
                <a:latin typeface="Times New Roman" panose="02020603050405020304"/>
                <a:ea typeface="宋体" panose="02010600030101010101" pitchFamily="2" charset="-122"/>
                <a:cs typeface="+mn-cs"/>
              </a:rPr>
              <a:t>abcd</a:t>
            </a:r>
            <a:r>
              <a:rPr kumimoji="0" lang="en-US" altLang="zh-CN"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a:t>
            </a:r>
            <a:endParaRPr kumimoji="0" lang="zh-CN" altLang="en-US"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endParaRPr>
          </a:p>
        </p:txBody>
      </p:sp>
      <p:sp>
        <p:nvSpPr>
          <p:cNvPr id="45" name="文本框 44">
            <a:extLst>
              <a:ext uri="{FF2B5EF4-FFF2-40B4-BE49-F238E27FC236}">
                <a16:creationId xmlns:a16="http://schemas.microsoft.com/office/drawing/2014/main" id="{8BB72C4E-D924-55F8-BE33-0A9A281D92A1}"/>
              </a:ext>
            </a:extLst>
          </p:cNvPr>
          <p:cNvSpPr txBox="1"/>
          <p:nvPr/>
        </p:nvSpPr>
        <p:spPr>
          <a:xfrm>
            <a:off x="7858827" y="1441348"/>
            <a:ext cx="22040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a</a:t>
            </a:r>
            <a:endParaRPr kumimoji="0" lang="zh-CN" altLang="en-US" sz="28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46" name="文本框 45">
            <a:extLst>
              <a:ext uri="{FF2B5EF4-FFF2-40B4-BE49-F238E27FC236}">
                <a16:creationId xmlns:a16="http://schemas.microsoft.com/office/drawing/2014/main" id="{E8DA261B-087B-4F1B-5E1F-846AD97DDD0F}"/>
              </a:ext>
            </a:extLst>
          </p:cNvPr>
          <p:cNvSpPr txBox="1"/>
          <p:nvPr/>
        </p:nvSpPr>
        <p:spPr>
          <a:xfrm>
            <a:off x="8741922" y="1471795"/>
            <a:ext cx="22040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b</a:t>
            </a:r>
            <a:endParaRPr kumimoji="0" lang="zh-CN" altLang="en-US" sz="28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47" name="文本框 46">
            <a:extLst>
              <a:ext uri="{FF2B5EF4-FFF2-40B4-BE49-F238E27FC236}">
                <a16:creationId xmlns:a16="http://schemas.microsoft.com/office/drawing/2014/main" id="{DEA8E2DF-0C94-A10B-8360-FA0E917CBB49}"/>
              </a:ext>
            </a:extLst>
          </p:cNvPr>
          <p:cNvSpPr txBox="1"/>
          <p:nvPr/>
        </p:nvSpPr>
        <p:spPr>
          <a:xfrm>
            <a:off x="9608528" y="1441347"/>
            <a:ext cx="22040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c</a:t>
            </a:r>
            <a:endParaRPr kumimoji="0" lang="zh-CN" altLang="en-US" sz="28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48" name="文本框 47">
            <a:extLst>
              <a:ext uri="{FF2B5EF4-FFF2-40B4-BE49-F238E27FC236}">
                <a16:creationId xmlns:a16="http://schemas.microsoft.com/office/drawing/2014/main" id="{09845F75-0CED-F032-B862-8B7ABF4337A6}"/>
              </a:ext>
            </a:extLst>
          </p:cNvPr>
          <p:cNvSpPr txBox="1"/>
          <p:nvPr/>
        </p:nvSpPr>
        <p:spPr>
          <a:xfrm>
            <a:off x="10468467" y="1458891"/>
            <a:ext cx="22040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rPr>
              <a:t>d</a:t>
            </a:r>
            <a:endParaRPr kumimoji="0" lang="zh-CN" altLang="en-US" sz="2800" b="1" i="0" u="none" strike="noStrike" kern="1200" cap="none" spc="0" normalizeH="0" baseline="0" noProof="0" dirty="0">
              <a:ln>
                <a:noFill/>
              </a:ln>
              <a:solidFill>
                <a:srgbClr val="2D04FC"/>
              </a:solidFill>
              <a:effectLst>
                <a:outerShdw blurRad="38100" dist="38100" dir="2700000" algn="tl">
                  <a:srgbClr val="000000">
                    <a:alpha val="43137"/>
                  </a:srgbClr>
                </a:outerShdw>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49" name="文本框 48">
            <a:extLst>
              <a:ext uri="{FF2B5EF4-FFF2-40B4-BE49-F238E27FC236}">
                <a16:creationId xmlns:a16="http://schemas.microsoft.com/office/drawing/2014/main" id="{D61D1007-0CD1-6F9E-40E6-82D0C1F95A1F}"/>
              </a:ext>
            </a:extLst>
          </p:cNvPr>
          <p:cNvSpPr txBox="1"/>
          <p:nvPr/>
        </p:nvSpPr>
        <p:spPr>
          <a:xfrm>
            <a:off x="387895" y="4561285"/>
            <a:ext cx="980781"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2D04FC"/>
                </a:solidFill>
                <a:effectLst/>
                <a:uLnTx/>
                <a:uFillTx/>
                <a:latin typeface="Courier New" panose="02070309020205020404" pitchFamily="49" charset="0"/>
                <a:ea typeface="宋体" panose="02010600030101010101" pitchFamily="2" charset="-122"/>
                <a:cs typeface="Courier New" panose="02070309020205020404" pitchFamily="49" charset="0"/>
              </a:rPr>
              <a:t>L</a:t>
            </a:r>
            <a:r>
              <a:rPr kumimoji="0" lang="en-US" altLang="zh-CN" sz="2000" b="1" i="0" u="none" strike="noStrike" kern="1200" cap="none" spc="0" normalizeH="0" baseline="0" noProof="0" dirty="0">
                <a:ln>
                  <a:noFill/>
                </a:ln>
                <a:solidFill>
                  <a:srgbClr val="2D04FC"/>
                </a:solidFill>
                <a:effectLst/>
                <a:uLnTx/>
                <a:uFillTx/>
                <a:latin typeface="Courier New" panose="02070309020205020404" pitchFamily="49" charset="0"/>
                <a:ea typeface="宋体" panose="02010600030101010101" pitchFamily="2" charset="-122"/>
                <a:cs typeface="Courier New" panose="02070309020205020404" pitchFamily="49" charset="0"/>
              </a:rPr>
              <a:t>N</a:t>
            </a:r>
            <a:r>
              <a:rPr kumimoji="0" lang="zh-CN" altLang="en-US" sz="2000" b="1" i="0" u="none" strike="noStrike" kern="1200" cap="none" spc="0" normalizeH="0" baseline="0" noProof="0" dirty="0">
                <a:ln>
                  <a:noFill/>
                </a:ln>
                <a:solidFill>
                  <a:srgbClr val="2D04FC"/>
                </a:solidFill>
                <a:effectLst/>
                <a:uLnTx/>
                <a:uFillTx/>
                <a:latin typeface="Courier New" panose="02070309020205020404" pitchFamily="49" charset="0"/>
                <a:ea typeface="宋体" panose="02010600030101010101" pitchFamily="2" charset="-122"/>
                <a:cs typeface="Courier New" panose="02070309020205020404" pitchFamily="49" charset="0"/>
              </a:rPr>
              <a:t>ode</a:t>
            </a:r>
            <a:r>
              <a:rPr kumimoji="0" lang="en-US" altLang="zh-CN" sz="2000" b="1" i="0" u="none" strike="noStrike" kern="1200" cap="none" spc="0" normalizeH="0" baseline="0" noProof="0" dirty="0">
                <a:ln>
                  <a:noFill/>
                </a:ln>
                <a:solidFill>
                  <a:srgbClr val="2D04FC"/>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2000" b="1" i="0" u="none" strike="noStrike" kern="1200" cap="none" spc="0" normalizeH="0" baseline="0" noProof="0" dirty="0">
              <a:ln>
                <a:noFill/>
              </a:ln>
              <a:solidFill>
                <a:srgbClr val="2D04FC"/>
              </a:solidFill>
              <a:effectLst/>
              <a:uLnTx/>
              <a:uFillTx/>
              <a:latin typeface="Times New Roman" panose="02020603050405020304"/>
              <a:ea typeface="宋体" panose="02010600030101010101" pitchFamily="2" charset="-122"/>
              <a:cs typeface="+mn-cs"/>
            </a:endParaRPr>
          </a:p>
        </p:txBody>
      </p:sp>
      <p:cxnSp>
        <p:nvCxnSpPr>
          <p:cNvPr id="50" name="直接连接符 49">
            <a:extLst>
              <a:ext uri="{FF2B5EF4-FFF2-40B4-BE49-F238E27FC236}">
                <a16:creationId xmlns:a16="http://schemas.microsoft.com/office/drawing/2014/main" id="{D3C3DB5E-18E3-13EE-6EF6-CDB748415060}"/>
              </a:ext>
            </a:extLst>
          </p:cNvPr>
          <p:cNvCxnSpPr>
            <a:cxnSpLocks/>
          </p:cNvCxnSpPr>
          <p:nvPr/>
        </p:nvCxnSpPr>
        <p:spPr>
          <a:xfrm flipH="1">
            <a:off x="1300589" y="4502692"/>
            <a:ext cx="3105587" cy="260421"/>
          </a:xfrm>
          <a:prstGeom prst="line">
            <a:avLst/>
          </a:prstGeom>
          <a:ln w="19050">
            <a:solidFill>
              <a:srgbClr val="00B050"/>
            </a:solidFill>
            <a:prstDash val="lgDash"/>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B5ADDAF0-752D-4D9C-888B-8E426EC72B46}"/>
              </a:ext>
            </a:extLst>
          </p:cNvPr>
          <p:cNvSpPr txBox="1"/>
          <p:nvPr/>
        </p:nvSpPr>
        <p:spPr>
          <a:xfrm>
            <a:off x="343967" y="4865712"/>
            <a:ext cx="980781"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C00000"/>
                </a:solidFill>
                <a:effectLst/>
                <a:uLnTx/>
                <a:uFillTx/>
                <a:latin typeface="Times New Roman" panose="02020603050405020304"/>
                <a:ea typeface="宋体" panose="02010600030101010101" pitchFamily="2" charset="-122"/>
                <a:cs typeface="+mn-cs"/>
              </a:rPr>
              <a:t>可互换</a:t>
            </a:r>
          </a:p>
        </p:txBody>
      </p:sp>
      <p:sp>
        <p:nvSpPr>
          <p:cNvPr id="52" name="椭圆 51">
            <a:extLst>
              <a:ext uri="{FF2B5EF4-FFF2-40B4-BE49-F238E27FC236}">
                <a16:creationId xmlns:a16="http://schemas.microsoft.com/office/drawing/2014/main" id="{FF3D177D-A2C8-26B2-A508-97AC92F73E07}"/>
              </a:ext>
            </a:extLst>
          </p:cNvPr>
          <p:cNvSpPr/>
          <p:nvPr/>
        </p:nvSpPr>
        <p:spPr>
          <a:xfrm>
            <a:off x="3041415" y="4309147"/>
            <a:ext cx="288229" cy="288000"/>
          </a:xfrm>
          <a:prstGeom prst="ellipse">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Tree>
    <p:extLst>
      <p:ext uri="{BB962C8B-B14F-4D97-AF65-F5344CB8AC3E}">
        <p14:creationId xmlns:p14="http://schemas.microsoft.com/office/powerpoint/2010/main" val="1969104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wipe(up)">
                                      <p:cBhvr>
                                        <p:cTn id="7" dur="5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4">
                                            <p:bg/>
                                          </p:spTgt>
                                        </p:tgtEl>
                                        <p:attrNameLst>
                                          <p:attrName>style.visibility</p:attrName>
                                        </p:attrNameLst>
                                      </p:cBhvr>
                                      <p:to>
                                        <p:strVal val="visible"/>
                                      </p:to>
                                    </p:set>
                                    <p:animEffect transition="in" filter="wipe(up)">
                                      <p:cBhvr>
                                        <p:cTn id="12" dur="500"/>
                                        <p:tgtEl>
                                          <p:spTgt spid="34">
                                            <p:bg/>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4">
                                            <p:txEl>
                                              <p:pRg st="0" end="0"/>
                                            </p:txEl>
                                          </p:spTgt>
                                        </p:tgtEl>
                                        <p:attrNameLst>
                                          <p:attrName>style.visibility</p:attrName>
                                        </p:attrNameLst>
                                      </p:cBhvr>
                                      <p:to>
                                        <p:strVal val="visible"/>
                                      </p:to>
                                    </p:set>
                                    <p:animEffect transition="in" filter="wipe(up)">
                                      <p:cBhvr>
                                        <p:cTn id="15" dur="500"/>
                                        <p:tgtEl>
                                          <p:spTgt spid="34">
                                            <p:txEl>
                                              <p:pRg st="0" end="0"/>
                                            </p:txEl>
                                          </p:spTgt>
                                        </p:tgtEl>
                                      </p:cBhvr>
                                    </p:animEffect>
                                  </p:childTnLst>
                                </p:cTn>
                              </p:par>
                            </p:childTnLst>
                          </p:cTn>
                        </p:par>
                        <p:par>
                          <p:cTn id="16" fill="hold">
                            <p:stCondLst>
                              <p:cond delay="500"/>
                            </p:stCondLst>
                            <p:childTnLst>
                              <p:par>
                                <p:cTn id="17" presetID="22" presetClass="entr" presetSubtype="1" fill="hold" grpId="0" nodeType="afterEffect">
                                  <p:stCondLst>
                                    <p:cond delay="0"/>
                                  </p:stCondLst>
                                  <p:childTnLst>
                                    <p:set>
                                      <p:cBhvr>
                                        <p:cTn id="18" dur="1" fill="hold">
                                          <p:stCondLst>
                                            <p:cond delay="0"/>
                                          </p:stCondLst>
                                        </p:cTn>
                                        <p:tgtEl>
                                          <p:spTgt spid="34">
                                            <p:txEl>
                                              <p:pRg st="1" end="1"/>
                                            </p:txEl>
                                          </p:spTgt>
                                        </p:tgtEl>
                                        <p:attrNameLst>
                                          <p:attrName>style.visibility</p:attrName>
                                        </p:attrNameLst>
                                      </p:cBhvr>
                                      <p:to>
                                        <p:strVal val="visible"/>
                                      </p:to>
                                    </p:set>
                                    <p:animEffect transition="in" filter="wipe(up)">
                                      <p:cBhvr>
                                        <p:cTn id="19" dur="500"/>
                                        <p:tgtEl>
                                          <p:spTgt spid="3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34">
                                            <p:txEl>
                                              <p:pRg st="2" end="2"/>
                                            </p:txEl>
                                          </p:spTgt>
                                        </p:tgtEl>
                                        <p:attrNameLst>
                                          <p:attrName>style.visibility</p:attrName>
                                        </p:attrNameLst>
                                      </p:cBhvr>
                                      <p:to>
                                        <p:strVal val="visible"/>
                                      </p:to>
                                    </p:set>
                                    <p:animEffect transition="in" filter="wipe(up)">
                                      <p:cBhvr>
                                        <p:cTn id="24" dur="500"/>
                                        <p:tgtEl>
                                          <p:spTgt spid="3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32">
                                            <p:txEl>
                                              <p:pRg st="1" end="1"/>
                                            </p:txEl>
                                          </p:spTgt>
                                        </p:tgtEl>
                                        <p:attrNameLst>
                                          <p:attrName>style.visibility</p:attrName>
                                        </p:attrNameLst>
                                      </p:cBhvr>
                                      <p:to>
                                        <p:strVal val="visible"/>
                                      </p:to>
                                    </p:set>
                                    <p:animEffect transition="in" filter="wipe(up)">
                                      <p:cBhvr>
                                        <p:cTn id="29" dur="500"/>
                                        <p:tgtEl>
                                          <p:spTgt spid="32">
                                            <p:txEl>
                                              <p:pRg st="1" end="1"/>
                                            </p:txEl>
                                          </p:spTgt>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32">
                                            <p:txEl>
                                              <p:pRg st="2" end="2"/>
                                            </p:txEl>
                                          </p:spTgt>
                                        </p:tgtEl>
                                        <p:attrNameLst>
                                          <p:attrName>style.visibility</p:attrName>
                                        </p:attrNameLst>
                                      </p:cBhvr>
                                      <p:to>
                                        <p:strVal val="visible"/>
                                      </p:to>
                                    </p:set>
                                    <p:animEffect transition="in" filter="wipe(up)">
                                      <p:cBhvr>
                                        <p:cTn id="32" dur="500"/>
                                        <p:tgtEl>
                                          <p:spTgt spid="32">
                                            <p:txEl>
                                              <p:pRg st="2" end="2"/>
                                            </p:txEl>
                                          </p:spTgt>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24">
                                            <p:txEl>
                                              <p:pRg st="0" end="0"/>
                                            </p:txEl>
                                          </p:spTgt>
                                        </p:tgtEl>
                                        <p:attrNameLst>
                                          <p:attrName>style.visibility</p:attrName>
                                        </p:attrNameLst>
                                      </p:cBhvr>
                                      <p:to>
                                        <p:strVal val="visible"/>
                                      </p:to>
                                    </p:set>
                                    <p:animEffect transition="in" filter="wipe(left)">
                                      <p:cBhvr>
                                        <p:cTn id="36" dur="500"/>
                                        <p:tgtEl>
                                          <p:spTgt spid="24">
                                            <p:txEl>
                                              <p:pRg st="0" end="0"/>
                                            </p:txEl>
                                          </p:spTgt>
                                        </p:tgtEl>
                                      </p:cBhvr>
                                    </p:animEffect>
                                  </p:childTnLst>
                                </p:cTn>
                              </p:par>
                            </p:childTnLst>
                          </p:cTn>
                        </p:par>
                        <p:par>
                          <p:cTn id="37" fill="hold">
                            <p:stCondLst>
                              <p:cond delay="1000"/>
                            </p:stCondLst>
                            <p:childTnLst>
                              <p:par>
                                <p:cTn id="38" presetID="47" presetClass="entr" presetSubtype="0" fill="hold" grpId="0" nodeType="after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1000"/>
                                        <p:tgtEl>
                                          <p:spTgt spid="43"/>
                                        </p:tgtEl>
                                      </p:cBhvr>
                                    </p:animEffect>
                                    <p:anim calcmode="lin" valueType="num">
                                      <p:cBhvr>
                                        <p:cTn id="41" dur="1000" fill="hold"/>
                                        <p:tgtEl>
                                          <p:spTgt spid="43"/>
                                        </p:tgtEl>
                                        <p:attrNameLst>
                                          <p:attrName>ppt_x</p:attrName>
                                        </p:attrNameLst>
                                      </p:cBhvr>
                                      <p:tavLst>
                                        <p:tav tm="0">
                                          <p:val>
                                            <p:strVal val="#ppt_x"/>
                                          </p:val>
                                        </p:tav>
                                        <p:tav tm="100000">
                                          <p:val>
                                            <p:strVal val="#ppt_x"/>
                                          </p:val>
                                        </p:tav>
                                      </p:tavLst>
                                    </p:anim>
                                    <p:anim calcmode="lin" valueType="num">
                                      <p:cBhvr>
                                        <p:cTn id="42" dur="1000" fill="hold"/>
                                        <p:tgtEl>
                                          <p:spTgt spid="43"/>
                                        </p:tgtEl>
                                        <p:attrNameLst>
                                          <p:attrName>ppt_y</p:attrName>
                                        </p:attrNameLst>
                                      </p:cBhvr>
                                      <p:tavLst>
                                        <p:tav tm="0">
                                          <p:val>
                                            <p:strVal val="#ppt_y-.1"/>
                                          </p:val>
                                        </p:tav>
                                        <p:tav tm="100000">
                                          <p:val>
                                            <p:strVal val="#ppt_y"/>
                                          </p:val>
                                        </p:tav>
                                      </p:tavLst>
                                    </p:anim>
                                  </p:childTnLst>
                                </p:cTn>
                              </p:par>
                            </p:childTnLst>
                          </p:cTn>
                        </p:par>
                        <p:par>
                          <p:cTn id="43" fill="hold">
                            <p:stCondLst>
                              <p:cond delay="2000"/>
                            </p:stCondLst>
                            <p:childTnLst>
                              <p:par>
                                <p:cTn id="44" presetID="47" presetClass="entr" presetSubtype="0" fill="hold" grpId="0" nodeType="after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fade">
                                      <p:cBhvr>
                                        <p:cTn id="46" dur="1000"/>
                                        <p:tgtEl>
                                          <p:spTgt spid="44"/>
                                        </p:tgtEl>
                                      </p:cBhvr>
                                    </p:animEffect>
                                    <p:anim calcmode="lin" valueType="num">
                                      <p:cBhvr>
                                        <p:cTn id="47" dur="1000" fill="hold"/>
                                        <p:tgtEl>
                                          <p:spTgt spid="44"/>
                                        </p:tgtEl>
                                        <p:attrNameLst>
                                          <p:attrName>ppt_x</p:attrName>
                                        </p:attrNameLst>
                                      </p:cBhvr>
                                      <p:tavLst>
                                        <p:tav tm="0">
                                          <p:val>
                                            <p:strVal val="#ppt_x"/>
                                          </p:val>
                                        </p:tav>
                                        <p:tav tm="100000">
                                          <p:val>
                                            <p:strVal val="#ppt_x"/>
                                          </p:val>
                                        </p:tav>
                                      </p:tavLst>
                                    </p:anim>
                                    <p:anim calcmode="lin" valueType="num">
                                      <p:cBhvr>
                                        <p:cTn id="48"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34">
                                            <p:txEl>
                                              <p:pRg st="3" end="3"/>
                                            </p:txEl>
                                          </p:spTgt>
                                        </p:tgtEl>
                                        <p:attrNameLst>
                                          <p:attrName>style.visibility</p:attrName>
                                        </p:attrNameLst>
                                      </p:cBhvr>
                                      <p:to>
                                        <p:strVal val="visible"/>
                                      </p:to>
                                    </p:set>
                                    <p:animEffect transition="in" filter="wipe(up)">
                                      <p:cBhvr>
                                        <p:cTn id="53" dur="500"/>
                                        <p:tgtEl>
                                          <p:spTgt spid="34">
                                            <p:txEl>
                                              <p:pRg st="3" end="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34">
                                            <p:txEl>
                                              <p:pRg st="4" end="4"/>
                                            </p:txEl>
                                          </p:spTgt>
                                        </p:tgtEl>
                                        <p:attrNameLst>
                                          <p:attrName>style.visibility</p:attrName>
                                        </p:attrNameLst>
                                      </p:cBhvr>
                                      <p:to>
                                        <p:strVal val="visible"/>
                                      </p:to>
                                    </p:set>
                                    <p:animEffect transition="in" filter="wipe(up)">
                                      <p:cBhvr>
                                        <p:cTn id="58" dur="500"/>
                                        <p:tgtEl>
                                          <p:spTgt spid="34">
                                            <p:txEl>
                                              <p:pRg st="4" end="4"/>
                                            </p:txEl>
                                          </p:spTgt>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left)">
                                      <p:cBhvr>
                                        <p:cTn id="62" dur="500"/>
                                        <p:tgtEl>
                                          <p:spTgt spid="12"/>
                                        </p:tgtEl>
                                      </p:cBhvr>
                                    </p:animEffect>
                                  </p:childTnLst>
                                </p:cTn>
                              </p:par>
                            </p:childTnLst>
                          </p:cTn>
                        </p:par>
                        <p:par>
                          <p:cTn id="63" fill="hold">
                            <p:stCondLst>
                              <p:cond delay="1000"/>
                            </p:stCondLst>
                            <p:childTnLst>
                              <p:par>
                                <p:cTn id="64" presetID="22" presetClass="entr" presetSubtype="1" fill="hold" nodeType="after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ipe(up)">
                                      <p:cBhvr>
                                        <p:cTn id="66" dur="500"/>
                                        <p:tgtEl>
                                          <p:spTgt spid="9"/>
                                        </p:tgtEl>
                                      </p:cBhvr>
                                    </p:animEffect>
                                  </p:childTnLst>
                                </p:cTn>
                              </p:par>
                            </p:childTnLst>
                          </p:cTn>
                        </p:par>
                        <p:par>
                          <p:cTn id="67" fill="hold">
                            <p:stCondLst>
                              <p:cond delay="1500"/>
                            </p:stCondLst>
                            <p:childTnLst>
                              <p:par>
                                <p:cTn id="68" presetID="22" presetClass="entr" presetSubtype="8" fill="hold" nodeType="afterEffect">
                                  <p:stCondLst>
                                    <p:cond delay="0"/>
                                  </p:stCondLst>
                                  <p:childTnLst>
                                    <p:set>
                                      <p:cBhvr>
                                        <p:cTn id="69" dur="1" fill="hold">
                                          <p:stCondLst>
                                            <p:cond delay="0"/>
                                          </p:stCondLst>
                                        </p:cTn>
                                        <p:tgtEl>
                                          <p:spTgt spid="3"/>
                                        </p:tgtEl>
                                        <p:attrNameLst>
                                          <p:attrName>style.visibility</p:attrName>
                                        </p:attrNameLst>
                                      </p:cBhvr>
                                      <p:to>
                                        <p:strVal val="visible"/>
                                      </p:to>
                                    </p:set>
                                    <p:animEffect transition="in" filter="wipe(left)">
                                      <p:cBhvr>
                                        <p:cTn id="70" dur="500"/>
                                        <p:tgtEl>
                                          <p:spTgt spid="3"/>
                                        </p:tgtEl>
                                      </p:cBhvr>
                                    </p:animEffect>
                                  </p:childTnLst>
                                </p:cTn>
                              </p:par>
                            </p:childTnLst>
                          </p:cTn>
                        </p:par>
                        <p:par>
                          <p:cTn id="71" fill="hold">
                            <p:stCondLst>
                              <p:cond delay="2000"/>
                            </p:stCondLst>
                            <p:childTnLst>
                              <p:par>
                                <p:cTn id="72" presetID="14" presetClass="entr" presetSubtype="10" fill="hold" grpId="0" nodeType="after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randombar(horizontal)">
                                      <p:cBhvr>
                                        <p:cTn id="74" dur="500"/>
                                        <p:tgtEl>
                                          <p:spTgt spid="25"/>
                                        </p:tgtEl>
                                      </p:cBhvr>
                                    </p:animEffect>
                                  </p:childTnLst>
                                </p:cTn>
                              </p:par>
                            </p:childTnLst>
                          </p:cTn>
                        </p:par>
                        <p:par>
                          <p:cTn id="75" fill="hold">
                            <p:stCondLst>
                              <p:cond delay="2500"/>
                            </p:stCondLst>
                            <p:childTnLst>
                              <p:par>
                                <p:cTn id="76" presetID="22" presetClass="entr" presetSubtype="2" fill="hold" nodeType="after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wipe(right)">
                                      <p:cBhvr>
                                        <p:cTn id="78" dur="500"/>
                                        <p:tgtEl>
                                          <p:spTgt spid="50"/>
                                        </p:tgtEl>
                                      </p:cBhvr>
                                    </p:animEffect>
                                  </p:childTnLst>
                                </p:cTn>
                              </p:par>
                            </p:childTnLst>
                          </p:cTn>
                        </p:par>
                        <p:par>
                          <p:cTn id="79" fill="hold">
                            <p:stCondLst>
                              <p:cond delay="3000"/>
                            </p:stCondLst>
                            <p:childTnLst>
                              <p:par>
                                <p:cTn id="80" presetID="22" presetClass="entr" presetSubtype="2" fill="hold" grpId="0" nodeType="after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wipe(right)">
                                      <p:cBhvr>
                                        <p:cTn id="82" dur="500"/>
                                        <p:tgtEl>
                                          <p:spTgt spid="49"/>
                                        </p:tgtEl>
                                      </p:cBhvr>
                                    </p:animEffect>
                                  </p:childTnLst>
                                </p:cTn>
                              </p:par>
                              <p:par>
                                <p:cTn id="83" presetID="22" presetClass="entr" presetSubtype="1"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wipe(up)">
                                      <p:cBhvr>
                                        <p:cTn id="85" dur="500"/>
                                        <p:tgtEl>
                                          <p:spTgt spid="51"/>
                                        </p:tgtEl>
                                      </p:cBhvr>
                                    </p:animEffect>
                                  </p:childTnLst>
                                </p:cTn>
                              </p:par>
                            </p:childTnLst>
                          </p:cTn>
                        </p:par>
                        <p:par>
                          <p:cTn id="86" fill="hold">
                            <p:stCondLst>
                              <p:cond delay="3500"/>
                            </p:stCondLst>
                            <p:childTnLst>
                              <p:par>
                                <p:cTn id="87" presetID="12" presetClass="entr" presetSubtype="1" fill="hold" grpId="0" nodeType="afterEffect">
                                  <p:stCondLst>
                                    <p:cond delay="0"/>
                                  </p:stCondLst>
                                  <p:childTnLst>
                                    <p:set>
                                      <p:cBhvr>
                                        <p:cTn id="88" dur="1" fill="hold">
                                          <p:stCondLst>
                                            <p:cond delay="0"/>
                                          </p:stCondLst>
                                        </p:cTn>
                                        <p:tgtEl>
                                          <p:spTgt spid="35"/>
                                        </p:tgtEl>
                                        <p:attrNameLst>
                                          <p:attrName>style.visibility</p:attrName>
                                        </p:attrNameLst>
                                      </p:cBhvr>
                                      <p:to>
                                        <p:strVal val="visible"/>
                                      </p:to>
                                    </p:set>
                                    <p:anim calcmode="lin" valueType="num">
                                      <p:cBhvr additive="base">
                                        <p:cTn id="89" dur="500"/>
                                        <p:tgtEl>
                                          <p:spTgt spid="35"/>
                                        </p:tgtEl>
                                        <p:attrNameLst>
                                          <p:attrName>ppt_y</p:attrName>
                                        </p:attrNameLst>
                                      </p:cBhvr>
                                      <p:tavLst>
                                        <p:tav tm="0">
                                          <p:val>
                                            <p:strVal val="#ppt_y-#ppt_h*1.125000"/>
                                          </p:val>
                                        </p:tav>
                                        <p:tav tm="100000">
                                          <p:val>
                                            <p:strVal val="#ppt_y"/>
                                          </p:val>
                                        </p:tav>
                                      </p:tavLst>
                                    </p:anim>
                                    <p:animEffect transition="in" filter="wipe(down)">
                                      <p:cBhvr>
                                        <p:cTn id="90" dur="500"/>
                                        <p:tgtEl>
                                          <p:spTgt spid="35"/>
                                        </p:tgtEl>
                                      </p:cBhvr>
                                    </p:animEffect>
                                  </p:childTnLst>
                                </p:cTn>
                              </p:par>
                            </p:childTnLst>
                          </p:cTn>
                        </p:par>
                        <p:par>
                          <p:cTn id="91" fill="hold">
                            <p:stCondLst>
                              <p:cond delay="4000"/>
                            </p:stCondLst>
                            <p:childTnLst>
                              <p:par>
                                <p:cTn id="92" presetID="31" presetClass="entr" presetSubtype="0" fill="hold" grpId="0" nodeType="afterEffect">
                                  <p:stCondLst>
                                    <p:cond delay="0"/>
                                  </p:stCondLst>
                                  <p:childTnLst>
                                    <p:set>
                                      <p:cBhvr>
                                        <p:cTn id="93" dur="1" fill="hold">
                                          <p:stCondLst>
                                            <p:cond delay="0"/>
                                          </p:stCondLst>
                                        </p:cTn>
                                        <p:tgtEl>
                                          <p:spTgt spid="52"/>
                                        </p:tgtEl>
                                        <p:attrNameLst>
                                          <p:attrName>style.visibility</p:attrName>
                                        </p:attrNameLst>
                                      </p:cBhvr>
                                      <p:to>
                                        <p:strVal val="visible"/>
                                      </p:to>
                                    </p:set>
                                    <p:anim calcmode="lin" valueType="num">
                                      <p:cBhvr>
                                        <p:cTn id="94" dur="1000" fill="hold"/>
                                        <p:tgtEl>
                                          <p:spTgt spid="52"/>
                                        </p:tgtEl>
                                        <p:attrNameLst>
                                          <p:attrName>ppt_w</p:attrName>
                                        </p:attrNameLst>
                                      </p:cBhvr>
                                      <p:tavLst>
                                        <p:tav tm="0">
                                          <p:val>
                                            <p:fltVal val="0"/>
                                          </p:val>
                                        </p:tav>
                                        <p:tav tm="100000">
                                          <p:val>
                                            <p:strVal val="#ppt_w"/>
                                          </p:val>
                                        </p:tav>
                                      </p:tavLst>
                                    </p:anim>
                                    <p:anim calcmode="lin" valueType="num">
                                      <p:cBhvr>
                                        <p:cTn id="95" dur="1000" fill="hold"/>
                                        <p:tgtEl>
                                          <p:spTgt spid="52"/>
                                        </p:tgtEl>
                                        <p:attrNameLst>
                                          <p:attrName>ppt_h</p:attrName>
                                        </p:attrNameLst>
                                      </p:cBhvr>
                                      <p:tavLst>
                                        <p:tav tm="0">
                                          <p:val>
                                            <p:fltVal val="0"/>
                                          </p:val>
                                        </p:tav>
                                        <p:tav tm="100000">
                                          <p:val>
                                            <p:strVal val="#ppt_h"/>
                                          </p:val>
                                        </p:tav>
                                      </p:tavLst>
                                    </p:anim>
                                    <p:anim calcmode="lin" valueType="num">
                                      <p:cBhvr>
                                        <p:cTn id="96" dur="1000" fill="hold"/>
                                        <p:tgtEl>
                                          <p:spTgt spid="52"/>
                                        </p:tgtEl>
                                        <p:attrNameLst>
                                          <p:attrName>style.rotation</p:attrName>
                                        </p:attrNameLst>
                                      </p:cBhvr>
                                      <p:tavLst>
                                        <p:tav tm="0">
                                          <p:val>
                                            <p:fltVal val="90"/>
                                          </p:val>
                                        </p:tav>
                                        <p:tav tm="100000">
                                          <p:val>
                                            <p:fltVal val="0"/>
                                          </p:val>
                                        </p:tav>
                                      </p:tavLst>
                                    </p:anim>
                                    <p:animEffect transition="in" filter="fade">
                                      <p:cBhvr>
                                        <p:cTn id="97" dur="1000"/>
                                        <p:tgtEl>
                                          <p:spTgt spid="52"/>
                                        </p:tgtEl>
                                      </p:cBhvr>
                                    </p:animEffect>
                                  </p:childTnLst>
                                </p:cTn>
                              </p:par>
                            </p:childTnLst>
                          </p:cTn>
                        </p:par>
                        <p:par>
                          <p:cTn id="98" fill="hold">
                            <p:stCondLst>
                              <p:cond delay="5000"/>
                            </p:stCondLst>
                            <p:childTnLst>
                              <p:par>
                                <p:cTn id="99" presetID="22" presetClass="entr" presetSubtype="1" fill="hold" grpId="0" nodeType="afterEffect">
                                  <p:stCondLst>
                                    <p:cond delay="0"/>
                                  </p:stCondLst>
                                  <p:childTnLst>
                                    <p:set>
                                      <p:cBhvr>
                                        <p:cTn id="100" dur="1" fill="hold">
                                          <p:stCondLst>
                                            <p:cond delay="0"/>
                                          </p:stCondLst>
                                        </p:cTn>
                                        <p:tgtEl>
                                          <p:spTgt spid="32">
                                            <p:txEl>
                                              <p:pRg st="3" end="3"/>
                                            </p:txEl>
                                          </p:spTgt>
                                        </p:tgtEl>
                                        <p:attrNameLst>
                                          <p:attrName>style.visibility</p:attrName>
                                        </p:attrNameLst>
                                      </p:cBhvr>
                                      <p:to>
                                        <p:strVal val="visible"/>
                                      </p:to>
                                    </p:set>
                                    <p:animEffect transition="in" filter="wipe(up)">
                                      <p:cBhvr>
                                        <p:cTn id="101" dur="500"/>
                                        <p:tgtEl>
                                          <p:spTgt spid="32">
                                            <p:txEl>
                                              <p:pRg st="3" end="3"/>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34">
                                            <p:txEl>
                                              <p:pRg st="5" end="5"/>
                                            </p:txEl>
                                          </p:spTgt>
                                        </p:tgtEl>
                                        <p:attrNameLst>
                                          <p:attrName>style.visibility</p:attrName>
                                        </p:attrNameLst>
                                      </p:cBhvr>
                                      <p:to>
                                        <p:strVal val="visible"/>
                                      </p:to>
                                    </p:set>
                                    <p:animEffect transition="in" filter="wipe(up)">
                                      <p:cBhvr>
                                        <p:cTn id="106" dur="500"/>
                                        <p:tgtEl>
                                          <p:spTgt spid="34">
                                            <p:txEl>
                                              <p:pRg st="5" end="5"/>
                                            </p:txEl>
                                          </p:spTgt>
                                        </p:tgtEl>
                                      </p:cBhvr>
                                    </p:animEffect>
                                  </p:childTnLst>
                                </p:cTn>
                              </p:par>
                            </p:childTnLst>
                          </p:cTn>
                        </p:par>
                        <p:par>
                          <p:cTn id="107" fill="hold">
                            <p:stCondLst>
                              <p:cond delay="500"/>
                            </p:stCondLst>
                            <p:childTnLst>
                              <p:par>
                                <p:cTn id="108" presetID="22" presetClass="entr" presetSubtype="8" fill="hold" nodeType="afterEffect">
                                  <p:stCondLst>
                                    <p:cond delay="0"/>
                                  </p:stCondLst>
                                  <p:childTnLst>
                                    <p:set>
                                      <p:cBhvr>
                                        <p:cTn id="109" dur="1" fill="hold">
                                          <p:stCondLst>
                                            <p:cond delay="0"/>
                                          </p:stCondLst>
                                        </p:cTn>
                                        <p:tgtEl>
                                          <p:spTgt spid="36"/>
                                        </p:tgtEl>
                                        <p:attrNameLst>
                                          <p:attrName>style.visibility</p:attrName>
                                        </p:attrNameLst>
                                      </p:cBhvr>
                                      <p:to>
                                        <p:strVal val="visible"/>
                                      </p:to>
                                    </p:set>
                                    <p:animEffect transition="in" filter="wipe(left)">
                                      <p:cBhvr>
                                        <p:cTn id="110" dur="500"/>
                                        <p:tgtEl>
                                          <p:spTgt spid="36"/>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xit" presetSubtype="2" fill="hold" nodeType="clickEffect">
                                  <p:stCondLst>
                                    <p:cond delay="0"/>
                                  </p:stCondLst>
                                  <p:childTnLst>
                                    <p:animEffect transition="out" filter="wipe(right)">
                                      <p:cBhvr>
                                        <p:cTn id="114" dur="500"/>
                                        <p:tgtEl>
                                          <p:spTgt spid="36"/>
                                        </p:tgtEl>
                                      </p:cBhvr>
                                    </p:animEffect>
                                    <p:set>
                                      <p:cBhvr>
                                        <p:cTn id="115" dur="1" fill="hold">
                                          <p:stCondLst>
                                            <p:cond delay="499"/>
                                          </p:stCondLst>
                                        </p:cTn>
                                        <p:tgtEl>
                                          <p:spTgt spid="36"/>
                                        </p:tgtEl>
                                        <p:attrNameLst>
                                          <p:attrName>style.visibility</p:attrName>
                                        </p:attrNameLst>
                                      </p:cBhvr>
                                      <p:to>
                                        <p:strVal val="hidden"/>
                                      </p:to>
                                    </p:set>
                                  </p:childTnLst>
                                </p:cTn>
                              </p:par>
                              <p:par>
                                <p:cTn id="116" presetID="22" presetClass="entr" presetSubtype="8" fill="hold" nodeType="withEffect">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wipe(left)">
                                      <p:cBhvr>
                                        <p:cTn id="118" dur="500"/>
                                        <p:tgtEl>
                                          <p:spTgt spid="37"/>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1" fill="hold" grpId="0" nodeType="clickEffect">
                                  <p:stCondLst>
                                    <p:cond delay="0"/>
                                  </p:stCondLst>
                                  <p:childTnLst>
                                    <p:set>
                                      <p:cBhvr>
                                        <p:cTn id="122" dur="1" fill="hold">
                                          <p:stCondLst>
                                            <p:cond delay="0"/>
                                          </p:stCondLst>
                                        </p:cTn>
                                        <p:tgtEl>
                                          <p:spTgt spid="34">
                                            <p:txEl>
                                              <p:pRg st="6" end="6"/>
                                            </p:txEl>
                                          </p:spTgt>
                                        </p:tgtEl>
                                        <p:attrNameLst>
                                          <p:attrName>style.visibility</p:attrName>
                                        </p:attrNameLst>
                                      </p:cBhvr>
                                      <p:to>
                                        <p:strVal val="visible"/>
                                      </p:to>
                                    </p:set>
                                    <p:animEffect transition="in" filter="wipe(up)">
                                      <p:cBhvr>
                                        <p:cTn id="123" dur="500"/>
                                        <p:tgtEl>
                                          <p:spTgt spid="34">
                                            <p:txEl>
                                              <p:pRg st="6" end="6"/>
                                            </p:txEl>
                                          </p:spTgt>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1" fill="hold" grpId="0" nodeType="clickEffect">
                                  <p:stCondLst>
                                    <p:cond delay="0"/>
                                  </p:stCondLst>
                                  <p:childTnLst>
                                    <p:set>
                                      <p:cBhvr>
                                        <p:cTn id="127" dur="1" fill="hold">
                                          <p:stCondLst>
                                            <p:cond delay="0"/>
                                          </p:stCondLst>
                                        </p:cTn>
                                        <p:tgtEl>
                                          <p:spTgt spid="34">
                                            <p:txEl>
                                              <p:pRg st="7" end="7"/>
                                            </p:txEl>
                                          </p:spTgt>
                                        </p:tgtEl>
                                        <p:attrNameLst>
                                          <p:attrName>style.visibility</p:attrName>
                                        </p:attrNameLst>
                                      </p:cBhvr>
                                      <p:to>
                                        <p:strVal val="visible"/>
                                      </p:to>
                                    </p:set>
                                    <p:animEffect transition="in" filter="wipe(up)">
                                      <p:cBhvr>
                                        <p:cTn id="128" dur="500"/>
                                        <p:tgtEl>
                                          <p:spTgt spid="34">
                                            <p:txEl>
                                              <p:pRg st="7" end="7"/>
                                            </p:txEl>
                                          </p:spTgt>
                                        </p:tgtEl>
                                      </p:cBhvr>
                                    </p:animEffect>
                                  </p:childTnLst>
                                </p:cTn>
                              </p:par>
                              <p:par>
                                <p:cTn id="129" presetID="22" presetClass="exit" presetSubtype="2" fill="hold" nodeType="withEffect">
                                  <p:stCondLst>
                                    <p:cond delay="0"/>
                                  </p:stCondLst>
                                  <p:childTnLst>
                                    <p:animEffect transition="out" filter="wipe(right)">
                                      <p:cBhvr>
                                        <p:cTn id="130" dur="500"/>
                                        <p:tgtEl>
                                          <p:spTgt spid="37"/>
                                        </p:tgtEl>
                                      </p:cBhvr>
                                    </p:animEffect>
                                    <p:set>
                                      <p:cBhvr>
                                        <p:cTn id="131" dur="1" fill="hold">
                                          <p:stCondLst>
                                            <p:cond delay="499"/>
                                          </p:stCondLst>
                                        </p:cTn>
                                        <p:tgtEl>
                                          <p:spTgt spid="37"/>
                                        </p:tgtEl>
                                        <p:attrNameLst>
                                          <p:attrName>style.visibility</p:attrName>
                                        </p:attrNameLst>
                                      </p:cBhvr>
                                      <p:to>
                                        <p:strVal val="hidden"/>
                                      </p:to>
                                    </p:set>
                                  </p:childTnLst>
                                </p:cTn>
                              </p:par>
                            </p:childTnLst>
                          </p:cTn>
                        </p:par>
                        <p:par>
                          <p:cTn id="132" fill="hold">
                            <p:stCondLst>
                              <p:cond delay="500"/>
                            </p:stCondLst>
                            <p:childTnLst>
                              <p:par>
                                <p:cTn id="133" presetID="22" presetClass="entr" presetSubtype="8" fill="hold" nodeType="afterEffect">
                                  <p:stCondLst>
                                    <p:cond delay="0"/>
                                  </p:stCondLst>
                                  <p:childTnLst>
                                    <p:set>
                                      <p:cBhvr>
                                        <p:cTn id="134" dur="1" fill="hold">
                                          <p:stCondLst>
                                            <p:cond delay="0"/>
                                          </p:stCondLst>
                                        </p:cTn>
                                        <p:tgtEl>
                                          <p:spTgt spid="39"/>
                                        </p:tgtEl>
                                        <p:attrNameLst>
                                          <p:attrName>style.visibility</p:attrName>
                                        </p:attrNameLst>
                                      </p:cBhvr>
                                      <p:to>
                                        <p:strVal val="visible"/>
                                      </p:to>
                                    </p:set>
                                    <p:animEffect transition="in" filter="wipe(left)">
                                      <p:cBhvr>
                                        <p:cTn id="135" dur="1000"/>
                                        <p:tgtEl>
                                          <p:spTgt spid="39"/>
                                        </p:tgtEl>
                                      </p:cBhvr>
                                    </p:animEffect>
                                  </p:childTnLst>
                                </p:cTn>
                              </p:par>
                            </p:childTnLst>
                          </p:cTn>
                        </p:par>
                        <p:par>
                          <p:cTn id="136" fill="hold">
                            <p:stCondLst>
                              <p:cond delay="1500"/>
                            </p:stCondLst>
                            <p:childTnLst>
                              <p:par>
                                <p:cTn id="137" presetID="22" presetClass="entr" presetSubtype="8" fill="hold" nodeType="afterEffect">
                                  <p:stCondLst>
                                    <p:cond delay="0"/>
                                  </p:stCondLst>
                                  <p:childTnLst>
                                    <p:set>
                                      <p:cBhvr>
                                        <p:cTn id="138" dur="1" fill="hold">
                                          <p:stCondLst>
                                            <p:cond delay="0"/>
                                          </p:stCondLst>
                                        </p:cTn>
                                        <p:tgtEl>
                                          <p:spTgt spid="6"/>
                                        </p:tgtEl>
                                        <p:attrNameLst>
                                          <p:attrName>style.visibility</p:attrName>
                                        </p:attrNameLst>
                                      </p:cBhvr>
                                      <p:to>
                                        <p:strVal val="visible"/>
                                      </p:to>
                                    </p:set>
                                    <p:animEffect transition="in" filter="wipe(left)">
                                      <p:cBhvr>
                                        <p:cTn id="139" dur="1000"/>
                                        <p:tgtEl>
                                          <p:spTgt spid="6"/>
                                        </p:tgtEl>
                                      </p:cBhvr>
                                    </p:animEffect>
                                  </p:childTnLst>
                                </p:cTn>
                              </p:par>
                            </p:childTnLst>
                          </p:cTn>
                        </p:par>
                        <p:par>
                          <p:cTn id="140" fill="hold">
                            <p:stCondLst>
                              <p:cond delay="2500"/>
                            </p:stCondLst>
                            <p:childTnLst>
                              <p:par>
                                <p:cTn id="141" presetID="22" presetClass="entr" presetSubtype="8" fill="hold" nodeType="afterEffect">
                                  <p:stCondLst>
                                    <p:cond delay="0"/>
                                  </p:stCondLst>
                                  <p:childTnLst>
                                    <p:set>
                                      <p:cBhvr>
                                        <p:cTn id="142" dur="1" fill="hold">
                                          <p:stCondLst>
                                            <p:cond delay="0"/>
                                          </p:stCondLst>
                                        </p:cTn>
                                        <p:tgtEl>
                                          <p:spTgt spid="38"/>
                                        </p:tgtEl>
                                        <p:attrNameLst>
                                          <p:attrName>style.visibility</p:attrName>
                                        </p:attrNameLst>
                                      </p:cBhvr>
                                      <p:to>
                                        <p:strVal val="visible"/>
                                      </p:to>
                                    </p:set>
                                    <p:animEffect transition="in" filter="wipe(left)">
                                      <p:cBhvr>
                                        <p:cTn id="143" dur="1000"/>
                                        <p:tgtEl>
                                          <p:spTgt spid="38"/>
                                        </p:tgtEl>
                                      </p:cBhvr>
                                    </p:animEffect>
                                  </p:childTnLst>
                                </p:cTn>
                              </p:par>
                            </p:childTnLst>
                          </p:cTn>
                        </p:par>
                        <p:par>
                          <p:cTn id="144" fill="hold">
                            <p:stCondLst>
                              <p:cond delay="3500"/>
                            </p:stCondLst>
                            <p:childTnLst>
                              <p:par>
                                <p:cTn id="145" presetID="22" presetClass="entr" presetSubtype="8" fill="hold" nodeType="afterEffect">
                                  <p:stCondLst>
                                    <p:cond delay="0"/>
                                  </p:stCondLst>
                                  <p:childTnLst>
                                    <p:set>
                                      <p:cBhvr>
                                        <p:cTn id="146" dur="1" fill="hold">
                                          <p:stCondLst>
                                            <p:cond delay="0"/>
                                          </p:stCondLst>
                                        </p:cTn>
                                        <p:tgtEl>
                                          <p:spTgt spid="27"/>
                                        </p:tgtEl>
                                        <p:attrNameLst>
                                          <p:attrName>style.visibility</p:attrName>
                                        </p:attrNameLst>
                                      </p:cBhvr>
                                      <p:to>
                                        <p:strVal val="visible"/>
                                      </p:to>
                                    </p:set>
                                    <p:animEffect transition="in" filter="wipe(left)">
                                      <p:cBhvr>
                                        <p:cTn id="147" dur="1000"/>
                                        <p:tgtEl>
                                          <p:spTgt spid="27"/>
                                        </p:tgtEl>
                                      </p:cBhvr>
                                    </p:animEffect>
                                  </p:childTnLst>
                                </p:cTn>
                              </p:par>
                              <p:par>
                                <p:cTn id="148" presetID="10" presetClass="exit" presetSubtype="0" fill="hold" grpId="1" nodeType="withEffect">
                                  <p:stCondLst>
                                    <p:cond delay="0"/>
                                  </p:stCondLst>
                                  <p:childTnLst>
                                    <p:animEffect transition="out" filter="fade">
                                      <p:cBhvr>
                                        <p:cTn id="149" dur="500"/>
                                        <p:tgtEl>
                                          <p:spTgt spid="35"/>
                                        </p:tgtEl>
                                      </p:cBhvr>
                                    </p:animEffect>
                                    <p:set>
                                      <p:cBhvr>
                                        <p:cTn id="150" dur="1" fill="hold">
                                          <p:stCondLst>
                                            <p:cond delay="499"/>
                                          </p:stCondLst>
                                        </p:cTn>
                                        <p:tgtEl>
                                          <p:spTgt spid="35"/>
                                        </p:tgtEl>
                                        <p:attrNameLst>
                                          <p:attrName>style.visibility</p:attrName>
                                        </p:attrNameLst>
                                      </p:cBhvr>
                                      <p:to>
                                        <p:strVal val="hidden"/>
                                      </p:to>
                                    </p:set>
                                  </p:childTnLst>
                                </p:cTn>
                              </p:par>
                              <p:par>
                                <p:cTn id="151" presetID="22" presetClass="exit" presetSubtype="2" fill="hold" nodeType="withEffect">
                                  <p:stCondLst>
                                    <p:cond delay="0"/>
                                  </p:stCondLst>
                                  <p:childTnLst>
                                    <p:animEffect transition="out" filter="wipe(right)">
                                      <p:cBhvr>
                                        <p:cTn id="152" dur="500"/>
                                        <p:tgtEl>
                                          <p:spTgt spid="38"/>
                                        </p:tgtEl>
                                      </p:cBhvr>
                                    </p:animEffect>
                                    <p:set>
                                      <p:cBhvr>
                                        <p:cTn id="153" dur="1" fill="hold">
                                          <p:stCondLst>
                                            <p:cond delay="499"/>
                                          </p:stCondLst>
                                        </p:cTn>
                                        <p:tgtEl>
                                          <p:spTgt spid="38"/>
                                        </p:tgtEl>
                                        <p:attrNameLst>
                                          <p:attrName>style.visibility</p:attrName>
                                        </p:attrNameLst>
                                      </p:cBhvr>
                                      <p:to>
                                        <p:strVal val="hidden"/>
                                      </p:to>
                                    </p:set>
                                  </p:childTnLst>
                                </p:cTn>
                              </p:par>
                              <p:par>
                                <p:cTn id="154" presetID="22" presetClass="exit" presetSubtype="2" fill="hold" nodeType="withEffect">
                                  <p:stCondLst>
                                    <p:cond delay="0"/>
                                  </p:stCondLst>
                                  <p:childTnLst>
                                    <p:animEffect transition="out" filter="wipe(right)">
                                      <p:cBhvr>
                                        <p:cTn id="155" dur="500"/>
                                        <p:tgtEl>
                                          <p:spTgt spid="39"/>
                                        </p:tgtEl>
                                      </p:cBhvr>
                                    </p:animEffect>
                                    <p:set>
                                      <p:cBhvr>
                                        <p:cTn id="156" dur="1" fill="hold">
                                          <p:stCondLst>
                                            <p:cond delay="499"/>
                                          </p:stCondLst>
                                        </p:cTn>
                                        <p:tgtEl>
                                          <p:spTgt spid="39"/>
                                        </p:tgtEl>
                                        <p:attrNameLst>
                                          <p:attrName>style.visibility</p:attrName>
                                        </p:attrNameLst>
                                      </p:cBhvr>
                                      <p:to>
                                        <p:strVal val="hidden"/>
                                      </p:to>
                                    </p:set>
                                  </p:childTnLst>
                                </p:cTn>
                              </p:par>
                            </p:childTnLst>
                          </p:cTn>
                        </p:par>
                        <p:par>
                          <p:cTn id="157" fill="hold">
                            <p:stCondLst>
                              <p:cond delay="4500"/>
                            </p:stCondLst>
                            <p:childTnLst>
                              <p:par>
                                <p:cTn id="158" presetID="22" presetClass="entr" presetSubtype="8" fill="hold" nodeType="afterEffect">
                                  <p:stCondLst>
                                    <p:cond delay="0"/>
                                  </p:stCondLst>
                                  <p:childTnLst>
                                    <p:set>
                                      <p:cBhvr>
                                        <p:cTn id="159" dur="1" fill="hold">
                                          <p:stCondLst>
                                            <p:cond delay="0"/>
                                          </p:stCondLst>
                                        </p:cTn>
                                        <p:tgtEl>
                                          <p:spTgt spid="40"/>
                                        </p:tgtEl>
                                        <p:attrNameLst>
                                          <p:attrName>style.visibility</p:attrName>
                                        </p:attrNameLst>
                                      </p:cBhvr>
                                      <p:to>
                                        <p:strVal val="visible"/>
                                      </p:to>
                                    </p:set>
                                    <p:animEffect transition="in" filter="wipe(left)">
                                      <p:cBhvr>
                                        <p:cTn id="160" dur="1000"/>
                                        <p:tgtEl>
                                          <p:spTgt spid="40"/>
                                        </p:tgtEl>
                                      </p:cBhvr>
                                    </p:animEffect>
                                  </p:childTnLst>
                                </p:cTn>
                              </p:par>
                            </p:childTnLst>
                          </p:cTn>
                        </p:par>
                        <p:par>
                          <p:cTn id="161" fill="hold">
                            <p:stCondLst>
                              <p:cond delay="5500"/>
                            </p:stCondLst>
                            <p:childTnLst>
                              <p:par>
                                <p:cTn id="162" presetID="63" presetClass="path" presetSubtype="0" accel="50000" decel="50000" fill="hold" nodeType="afterEffect">
                                  <p:stCondLst>
                                    <p:cond delay="0"/>
                                  </p:stCondLst>
                                  <p:childTnLst>
                                    <p:animMotion origin="layout" path="M 2.5E-6 -1.11111E-6 L 0.06419 -0.00092 " pathEditMode="relative" rAng="0" ptsTypes="AA">
                                      <p:cBhvr>
                                        <p:cTn id="163" dur="1000" fill="hold"/>
                                        <p:tgtEl>
                                          <p:spTgt spid="9"/>
                                        </p:tgtEl>
                                        <p:attrNameLst>
                                          <p:attrName>ppt_x</p:attrName>
                                          <p:attrName>ppt_y</p:attrName>
                                        </p:attrNameLst>
                                      </p:cBhvr>
                                      <p:rCtr x="3203" y="-46"/>
                                    </p:animMotion>
                                  </p:childTnLst>
                                </p:cTn>
                              </p:par>
                            </p:childTnLst>
                          </p:cTn>
                        </p:par>
                        <p:par>
                          <p:cTn id="164" fill="hold">
                            <p:stCondLst>
                              <p:cond delay="6500"/>
                            </p:stCondLst>
                            <p:childTnLst>
                              <p:par>
                                <p:cTn id="165" presetID="22" presetClass="exit" presetSubtype="2" fill="hold" nodeType="afterEffect">
                                  <p:stCondLst>
                                    <p:cond delay="0"/>
                                  </p:stCondLst>
                                  <p:childTnLst>
                                    <p:animEffect transition="out" filter="wipe(right)">
                                      <p:cBhvr>
                                        <p:cTn id="166" dur="500"/>
                                        <p:tgtEl>
                                          <p:spTgt spid="40"/>
                                        </p:tgtEl>
                                      </p:cBhvr>
                                    </p:animEffect>
                                    <p:set>
                                      <p:cBhvr>
                                        <p:cTn id="167" dur="1" fill="hold">
                                          <p:stCondLst>
                                            <p:cond delay="499"/>
                                          </p:stCondLst>
                                        </p:cTn>
                                        <p:tgtEl>
                                          <p:spTgt spid="40"/>
                                        </p:tgtEl>
                                        <p:attrNameLst>
                                          <p:attrName>style.visibility</p:attrName>
                                        </p:attrNameLst>
                                      </p:cBhvr>
                                      <p:to>
                                        <p:strVal val="hidden"/>
                                      </p:to>
                                    </p:set>
                                  </p:childTnLst>
                                </p:cTn>
                              </p:par>
                            </p:childTnLst>
                          </p:cTn>
                        </p:par>
                        <p:par>
                          <p:cTn id="168" fill="hold">
                            <p:stCondLst>
                              <p:cond delay="7000"/>
                            </p:stCondLst>
                            <p:childTnLst>
                              <p:par>
                                <p:cTn id="169" presetID="22" presetClass="entr" presetSubtype="8" fill="hold" nodeType="afterEffect">
                                  <p:stCondLst>
                                    <p:cond delay="0"/>
                                  </p:stCondLst>
                                  <p:childTnLst>
                                    <p:set>
                                      <p:cBhvr>
                                        <p:cTn id="170" dur="1" fill="hold">
                                          <p:stCondLst>
                                            <p:cond delay="0"/>
                                          </p:stCondLst>
                                        </p:cTn>
                                        <p:tgtEl>
                                          <p:spTgt spid="41"/>
                                        </p:tgtEl>
                                        <p:attrNameLst>
                                          <p:attrName>style.visibility</p:attrName>
                                        </p:attrNameLst>
                                      </p:cBhvr>
                                      <p:to>
                                        <p:strVal val="visible"/>
                                      </p:to>
                                    </p:set>
                                    <p:animEffect transition="in" filter="wipe(left)">
                                      <p:cBhvr>
                                        <p:cTn id="171" dur="1000"/>
                                        <p:tgtEl>
                                          <p:spTgt spid="41"/>
                                        </p:tgtEl>
                                      </p:cBhvr>
                                    </p:animEffect>
                                  </p:childTnLst>
                                </p:cTn>
                              </p:par>
                            </p:childTnLst>
                          </p:cTn>
                        </p:par>
                        <p:par>
                          <p:cTn id="172" fill="hold">
                            <p:stCondLst>
                              <p:cond delay="8000"/>
                            </p:stCondLst>
                            <p:childTnLst>
                              <p:par>
                                <p:cTn id="173" presetID="47" presetClass="entr" presetSubtype="0" fill="hold" grpId="0" nodeType="afterEffect">
                                  <p:stCondLst>
                                    <p:cond delay="0"/>
                                  </p:stCondLst>
                                  <p:childTnLst>
                                    <p:set>
                                      <p:cBhvr>
                                        <p:cTn id="174" dur="1" fill="hold">
                                          <p:stCondLst>
                                            <p:cond delay="0"/>
                                          </p:stCondLst>
                                        </p:cTn>
                                        <p:tgtEl>
                                          <p:spTgt spid="45"/>
                                        </p:tgtEl>
                                        <p:attrNameLst>
                                          <p:attrName>style.visibility</p:attrName>
                                        </p:attrNameLst>
                                      </p:cBhvr>
                                      <p:to>
                                        <p:strVal val="visible"/>
                                      </p:to>
                                    </p:set>
                                    <p:animEffect transition="in" filter="fade">
                                      <p:cBhvr>
                                        <p:cTn id="175" dur="1000"/>
                                        <p:tgtEl>
                                          <p:spTgt spid="45"/>
                                        </p:tgtEl>
                                      </p:cBhvr>
                                    </p:animEffect>
                                    <p:anim calcmode="lin" valueType="num">
                                      <p:cBhvr>
                                        <p:cTn id="176" dur="1000" fill="hold"/>
                                        <p:tgtEl>
                                          <p:spTgt spid="45"/>
                                        </p:tgtEl>
                                        <p:attrNameLst>
                                          <p:attrName>ppt_x</p:attrName>
                                        </p:attrNameLst>
                                      </p:cBhvr>
                                      <p:tavLst>
                                        <p:tav tm="0">
                                          <p:val>
                                            <p:strVal val="#ppt_x"/>
                                          </p:val>
                                        </p:tav>
                                        <p:tav tm="100000">
                                          <p:val>
                                            <p:strVal val="#ppt_x"/>
                                          </p:val>
                                        </p:tav>
                                      </p:tavLst>
                                    </p:anim>
                                    <p:anim calcmode="lin" valueType="num">
                                      <p:cBhvr>
                                        <p:cTn id="177"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22" presetClass="entr" presetSubtype="1" fill="hold" grpId="0" nodeType="clickEffect">
                                  <p:stCondLst>
                                    <p:cond delay="0"/>
                                  </p:stCondLst>
                                  <p:childTnLst>
                                    <p:set>
                                      <p:cBhvr>
                                        <p:cTn id="181" dur="1" fill="hold">
                                          <p:stCondLst>
                                            <p:cond delay="0"/>
                                          </p:stCondLst>
                                        </p:cTn>
                                        <p:tgtEl>
                                          <p:spTgt spid="34">
                                            <p:txEl>
                                              <p:pRg st="8" end="8"/>
                                            </p:txEl>
                                          </p:spTgt>
                                        </p:tgtEl>
                                        <p:attrNameLst>
                                          <p:attrName>style.visibility</p:attrName>
                                        </p:attrNameLst>
                                      </p:cBhvr>
                                      <p:to>
                                        <p:strVal val="visible"/>
                                      </p:to>
                                    </p:set>
                                    <p:animEffect transition="in" filter="wipe(up)">
                                      <p:cBhvr>
                                        <p:cTn id="182" dur="500"/>
                                        <p:tgtEl>
                                          <p:spTgt spid="34">
                                            <p:txEl>
                                              <p:pRg st="8" end="8"/>
                                            </p:txEl>
                                          </p:spTgt>
                                        </p:tgtEl>
                                      </p:cBhvr>
                                    </p:animEffect>
                                  </p:childTnLst>
                                </p:cTn>
                              </p:par>
                            </p:childTnLst>
                          </p:cTn>
                        </p:par>
                        <p:par>
                          <p:cTn id="183" fill="hold">
                            <p:stCondLst>
                              <p:cond delay="500"/>
                            </p:stCondLst>
                            <p:childTnLst>
                              <p:par>
                                <p:cTn id="184" presetID="22" presetClass="entr" presetSubtype="8" fill="hold" grpId="0" nodeType="afterEffect">
                                  <p:stCondLst>
                                    <p:cond delay="0"/>
                                  </p:stCondLst>
                                  <p:childTnLst>
                                    <p:set>
                                      <p:cBhvr>
                                        <p:cTn id="185" dur="1" fill="hold">
                                          <p:stCondLst>
                                            <p:cond delay="0"/>
                                          </p:stCondLst>
                                        </p:cTn>
                                        <p:tgtEl>
                                          <p:spTgt spid="26"/>
                                        </p:tgtEl>
                                        <p:attrNameLst>
                                          <p:attrName>style.visibility</p:attrName>
                                        </p:attrNameLst>
                                      </p:cBhvr>
                                      <p:to>
                                        <p:strVal val="visible"/>
                                      </p:to>
                                    </p:set>
                                    <p:animEffect transition="in" filter="wipe(left)">
                                      <p:cBhvr>
                                        <p:cTn id="186" dur="1000"/>
                                        <p:tgtEl>
                                          <p:spTgt spid="26"/>
                                        </p:tgtEl>
                                      </p:cBhvr>
                                    </p:animEffect>
                                  </p:childTnLst>
                                </p:cTn>
                              </p:par>
                            </p:childTnLst>
                          </p:cTn>
                        </p:par>
                        <p:par>
                          <p:cTn id="187" fill="hold">
                            <p:stCondLst>
                              <p:cond delay="1500"/>
                            </p:stCondLst>
                            <p:childTnLst>
                              <p:par>
                                <p:cTn id="188" presetID="22" presetClass="exit" presetSubtype="2" fill="hold" nodeType="afterEffect">
                                  <p:stCondLst>
                                    <p:cond delay="0"/>
                                  </p:stCondLst>
                                  <p:childTnLst>
                                    <p:animEffect transition="out" filter="wipe(right)">
                                      <p:cBhvr>
                                        <p:cTn id="189" dur="500"/>
                                        <p:tgtEl>
                                          <p:spTgt spid="41"/>
                                        </p:tgtEl>
                                      </p:cBhvr>
                                    </p:animEffect>
                                    <p:set>
                                      <p:cBhvr>
                                        <p:cTn id="190" dur="1" fill="hold">
                                          <p:stCondLst>
                                            <p:cond delay="499"/>
                                          </p:stCondLst>
                                        </p:cTn>
                                        <p:tgtEl>
                                          <p:spTgt spid="41"/>
                                        </p:tgtEl>
                                        <p:attrNameLst>
                                          <p:attrName>style.visibility</p:attrName>
                                        </p:attrNameLst>
                                      </p:cBhvr>
                                      <p:to>
                                        <p:strVal val="hidden"/>
                                      </p:to>
                                    </p:set>
                                  </p:childTnLst>
                                </p:cTn>
                              </p:par>
                            </p:childTnLst>
                          </p:cTn>
                        </p:par>
                        <p:par>
                          <p:cTn id="191" fill="hold">
                            <p:stCondLst>
                              <p:cond delay="2000"/>
                            </p:stCondLst>
                            <p:childTnLst>
                              <p:par>
                                <p:cTn id="192" presetID="22" presetClass="entr" presetSubtype="8" fill="hold" nodeType="afterEffect">
                                  <p:stCondLst>
                                    <p:cond delay="0"/>
                                  </p:stCondLst>
                                  <p:childTnLst>
                                    <p:set>
                                      <p:cBhvr>
                                        <p:cTn id="193" dur="1" fill="hold">
                                          <p:stCondLst>
                                            <p:cond delay="0"/>
                                          </p:stCondLst>
                                        </p:cTn>
                                        <p:tgtEl>
                                          <p:spTgt spid="42"/>
                                        </p:tgtEl>
                                        <p:attrNameLst>
                                          <p:attrName>style.visibility</p:attrName>
                                        </p:attrNameLst>
                                      </p:cBhvr>
                                      <p:to>
                                        <p:strVal val="visible"/>
                                      </p:to>
                                    </p:set>
                                    <p:animEffect transition="in" filter="wipe(left)">
                                      <p:cBhvr>
                                        <p:cTn id="194" dur="1000"/>
                                        <p:tgtEl>
                                          <p:spTgt spid="42"/>
                                        </p:tgtEl>
                                      </p:cBhvr>
                                    </p:animEffect>
                                  </p:childTnLst>
                                </p:cTn>
                              </p:par>
                            </p:childTnLst>
                          </p:cTn>
                        </p:par>
                        <p:par>
                          <p:cTn id="195" fill="hold">
                            <p:stCondLst>
                              <p:cond delay="3000"/>
                            </p:stCondLst>
                            <p:childTnLst>
                              <p:par>
                                <p:cTn id="196" presetID="22" presetClass="entr" presetSubtype="4" fill="hold" nodeType="afterEffect">
                                  <p:stCondLst>
                                    <p:cond delay="0"/>
                                  </p:stCondLst>
                                  <p:childTnLst>
                                    <p:set>
                                      <p:cBhvr>
                                        <p:cTn id="197" dur="1" fill="hold">
                                          <p:stCondLst>
                                            <p:cond delay="0"/>
                                          </p:stCondLst>
                                        </p:cTn>
                                        <p:tgtEl>
                                          <p:spTgt spid="37"/>
                                        </p:tgtEl>
                                        <p:attrNameLst>
                                          <p:attrName>style.visibility</p:attrName>
                                        </p:attrNameLst>
                                      </p:cBhvr>
                                      <p:to>
                                        <p:strVal val="visible"/>
                                      </p:to>
                                    </p:set>
                                    <p:animEffect transition="in" filter="wipe(down)">
                                      <p:cBhvr>
                                        <p:cTn id="198" dur="1000"/>
                                        <p:tgtEl>
                                          <p:spTgt spid="37"/>
                                        </p:tgtEl>
                                      </p:cBhvr>
                                    </p:animEffect>
                                  </p:childTnLst>
                                </p:cTn>
                              </p:par>
                            </p:childTnLst>
                          </p:cTn>
                        </p:par>
                        <p:par>
                          <p:cTn id="199" fill="hold">
                            <p:stCondLst>
                              <p:cond delay="4000"/>
                            </p:stCondLst>
                            <p:childTnLst>
                              <p:par>
                                <p:cTn id="200" presetID="22" presetClass="exit" presetSubtype="2" fill="hold" nodeType="afterEffect">
                                  <p:stCondLst>
                                    <p:cond delay="0"/>
                                  </p:stCondLst>
                                  <p:childTnLst>
                                    <p:animEffect transition="out" filter="wipe(right)">
                                      <p:cBhvr>
                                        <p:cTn id="201" dur="500"/>
                                        <p:tgtEl>
                                          <p:spTgt spid="42"/>
                                        </p:tgtEl>
                                      </p:cBhvr>
                                    </p:animEffect>
                                    <p:set>
                                      <p:cBhvr>
                                        <p:cTn id="202" dur="1" fill="hold">
                                          <p:stCondLst>
                                            <p:cond delay="499"/>
                                          </p:stCondLst>
                                        </p:cTn>
                                        <p:tgtEl>
                                          <p:spTgt spid="42"/>
                                        </p:tgtEl>
                                        <p:attrNameLst>
                                          <p:attrName>style.visibility</p:attrName>
                                        </p:attrNameLst>
                                      </p:cBhvr>
                                      <p:to>
                                        <p:strVal val="hidden"/>
                                      </p:to>
                                    </p:set>
                                  </p:childTnLst>
                                </p:cTn>
                              </p:par>
                              <p:par>
                                <p:cTn id="203" presetID="10" presetClass="exit" presetSubtype="0" fill="hold" nodeType="withEffect">
                                  <p:stCondLst>
                                    <p:cond delay="0"/>
                                  </p:stCondLst>
                                  <p:childTnLst>
                                    <p:animEffect transition="out" filter="fade">
                                      <p:cBhvr>
                                        <p:cTn id="204" dur="500"/>
                                        <p:tgtEl>
                                          <p:spTgt spid="37"/>
                                        </p:tgtEl>
                                      </p:cBhvr>
                                    </p:animEffect>
                                    <p:set>
                                      <p:cBhvr>
                                        <p:cTn id="205" dur="1" fill="hold">
                                          <p:stCondLst>
                                            <p:cond delay="499"/>
                                          </p:stCondLst>
                                        </p:cTn>
                                        <p:tgtEl>
                                          <p:spTgt spid="37"/>
                                        </p:tgtEl>
                                        <p:attrNameLst>
                                          <p:attrName>style.visibility</p:attrName>
                                        </p:attrNameLst>
                                      </p:cBhvr>
                                      <p:to>
                                        <p:strVal val="hidden"/>
                                      </p:to>
                                    </p:set>
                                  </p:childTnLst>
                                </p:cTn>
                              </p:par>
                            </p:childTnLst>
                          </p:cTn>
                        </p:par>
                        <p:par>
                          <p:cTn id="206" fill="hold">
                            <p:stCondLst>
                              <p:cond delay="4500"/>
                            </p:stCondLst>
                            <p:childTnLst>
                              <p:par>
                                <p:cTn id="207" presetID="22" presetClass="entr" presetSubtype="8" fill="hold" nodeType="afterEffect">
                                  <p:stCondLst>
                                    <p:cond delay="0"/>
                                  </p:stCondLst>
                                  <p:childTnLst>
                                    <p:set>
                                      <p:cBhvr>
                                        <p:cTn id="208" dur="1" fill="hold">
                                          <p:stCondLst>
                                            <p:cond delay="0"/>
                                          </p:stCondLst>
                                        </p:cTn>
                                        <p:tgtEl>
                                          <p:spTgt spid="39"/>
                                        </p:tgtEl>
                                        <p:attrNameLst>
                                          <p:attrName>style.visibility</p:attrName>
                                        </p:attrNameLst>
                                      </p:cBhvr>
                                      <p:to>
                                        <p:strVal val="visible"/>
                                      </p:to>
                                    </p:set>
                                    <p:animEffect transition="in" filter="wipe(left)">
                                      <p:cBhvr>
                                        <p:cTn id="209" dur="1000"/>
                                        <p:tgtEl>
                                          <p:spTgt spid="39"/>
                                        </p:tgtEl>
                                      </p:cBhvr>
                                    </p:animEffect>
                                  </p:childTnLst>
                                </p:cTn>
                              </p:par>
                            </p:childTnLst>
                          </p:cTn>
                        </p:par>
                        <p:par>
                          <p:cTn id="210" fill="hold">
                            <p:stCondLst>
                              <p:cond delay="5500"/>
                            </p:stCondLst>
                            <p:childTnLst>
                              <p:par>
                                <p:cTn id="211" presetID="22" presetClass="entr" presetSubtype="8" fill="hold" nodeType="afterEffect">
                                  <p:stCondLst>
                                    <p:cond delay="0"/>
                                  </p:stCondLst>
                                  <p:childTnLst>
                                    <p:set>
                                      <p:cBhvr>
                                        <p:cTn id="212" dur="1" fill="hold">
                                          <p:stCondLst>
                                            <p:cond delay="0"/>
                                          </p:stCondLst>
                                        </p:cTn>
                                        <p:tgtEl>
                                          <p:spTgt spid="15"/>
                                        </p:tgtEl>
                                        <p:attrNameLst>
                                          <p:attrName>style.visibility</p:attrName>
                                        </p:attrNameLst>
                                      </p:cBhvr>
                                      <p:to>
                                        <p:strVal val="visible"/>
                                      </p:to>
                                    </p:set>
                                    <p:animEffect transition="in" filter="wipe(left)">
                                      <p:cBhvr>
                                        <p:cTn id="213" dur="1000"/>
                                        <p:tgtEl>
                                          <p:spTgt spid="15"/>
                                        </p:tgtEl>
                                      </p:cBhvr>
                                    </p:animEffect>
                                  </p:childTnLst>
                                </p:cTn>
                              </p:par>
                            </p:childTnLst>
                          </p:cTn>
                        </p:par>
                        <p:par>
                          <p:cTn id="214" fill="hold">
                            <p:stCondLst>
                              <p:cond delay="6500"/>
                            </p:stCondLst>
                            <p:childTnLst>
                              <p:par>
                                <p:cTn id="215" presetID="10" presetClass="exit" presetSubtype="0" fill="hold" nodeType="afterEffect">
                                  <p:stCondLst>
                                    <p:cond delay="0"/>
                                  </p:stCondLst>
                                  <p:childTnLst>
                                    <p:animEffect transition="out" filter="fade">
                                      <p:cBhvr>
                                        <p:cTn id="216" dur="500"/>
                                        <p:tgtEl>
                                          <p:spTgt spid="39"/>
                                        </p:tgtEl>
                                      </p:cBhvr>
                                    </p:animEffect>
                                    <p:set>
                                      <p:cBhvr>
                                        <p:cTn id="217" dur="1" fill="hold">
                                          <p:stCondLst>
                                            <p:cond delay="499"/>
                                          </p:stCondLst>
                                        </p:cTn>
                                        <p:tgtEl>
                                          <p:spTgt spid="39"/>
                                        </p:tgtEl>
                                        <p:attrNameLst>
                                          <p:attrName>style.visibility</p:attrName>
                                        </p:attrNameLst>
                                      </p:cBhvr>
                                      <p:to>
                                        <p:strVal val="hidden"/>
                                      </p:to>
                                    </p:set>
                                  </p:childTnLst>
                                </p:cTn>
                              </p:par>
                            </p:childTnLst>
                          </p:cTn>
                        </p:par>
                        <p:par>
                          <p:cTn id="218" fill="hold">
                            <p:stCondLst>
                              <p:cond delay="7000"/>
                            </p:stCondLst>
                            <p:childTnLst>
                              <p:par>
                                <p:cTn id="219" presetID="22" presetClass="entr" presetSubtype="8" fill="hold" nodeType="afterEffect">
                                  <p:stCondLst>
                                    <p:cond delay="0"/>
                                  </p:stCondLst>
                                  <p:childTnLst>
                                    <p:set>
                                      <p:cBhvr>
                                        <p:cTn id="220" dur="1" fill="hold">
                                          <p:stCondLst>
                                            <p:cond delay="0"/>
                                          </p:stCondLst>
                                        </p:cTn>
                                        <p:tgtEl>
                                          <p:spTgt spid="38"/>
                                        </p:tgtEl>
                                        <p:attrNameLst>
                                          <p:attrName>style.visibility</p:attrName>
                                        </p:attrNameLst>
                                      </p:cBhvr>
                                      <p:to>
                                        <p:strVal val="visible"/>
                                      </p:to>
                                    </p:set>
                                    <p:animEffect transition="in" filter="wipe(left)">
                                      <p:cBhvr>
                                        <p:cTn id="221" dur="1000"/>
                                        <p:tgtEl>
                                          <p:spTgt spid="38"/>
                                        </p:tgtEl>
                                      </p:cBhvr>
                                    </p:animEffect>
                                  </p:childTnLst>
                                </p:cTn>
                              </p:par>
                            </p:childTnLst>
                          </p:cTn>
                        </p:par>
                        <p:par>
                          <p:cTn id="222" fill="hold">
                            <p:stCondLst>
                              <p:cond delay="8000"/>
                            </p:stCondLst>
                            <p:childTnLst>
                              <p:par>
                                <p:cTn id="223" presetID="22" presetClass="entr" presetSubtype="8" fill="hold" nodeType="afterEffect">
                                  <p:stCondLst>
                                    <p:cond delay="0"/>
                                  </p:stCondLst>
                                  <p:childTnLst>
                                    <p:set>
                                      <p:cBhvr>
                                        <p:cTn id="224" dur="1" fill="hold">
                                          <p:stCondLst>
                                            <p:cond delay="0"/>
                                          </p:stCondLst>
                                        </p:cTn>
                                        <p:tgtEl>
                                          <p:spTgt spid="28"/>
                                        </p:tgtEl>
                                        <p:attrNameLst>
                                          <p:attrName>style.visibility</p:attrName>
                                        </p:attrNameLst>
                                      </p:cBhvr>
                                      <p:to>
                                        <p:strVal val="visible"/>
                                      </p:to>
                                    </p:set>
                                    <p:animEffect transition="in" filter="wipe(left)">
                                      <p:cBhvr>
                                        <p:cTn id="225" dur="1000"/>
                                        <p:tgtEl>
                                          <p:spTgt spid="28"/>
                                        </p:tgtEl>
                                      </p:cBhvr>
                                    </p:animEffect>
                                  </p:childTnLst>
                                </p:cTn>
                              </p:par>
                            </p:childTnLst>
                          </p:cTn>
                        </p:par>
                        <p:par>
                          <p:cTn id="226" fill="hold">
                            <p:stCondLst>
                              <p:cond delay="9000"/>
                            </p:stCondLst>
                            <p:childTnLst>
                              <p:par>
                                <p:cTn id="227" presetID="10" presetClass="exit" presetSubtype="0" fill="hold" nodeType="afterEffect">
                                  <p:stCondLst>
                                    <p:cond delay="0"/>
                                  </p:stCondLst>
                                  <p:childTnLst>
                                    <p:animEffect transition="out" filter="fade">
                                      <p:cBhvr>
                                        <p:cTn id="228" dur="500"/>
                                        <p:tgtEl>
                                          <p:spTgt spid="38"/>
                                        </p:tgtEl>
                                      </p:cBhvr>
                                    </p:animEffect>
                                    <p:set>
                                      <p:cBhvr>
                                        <p:cTn id="229" dur="1" fill="hold">
                                          <p:stCondLst>
                                            <p:cond delay="499"/>
                                          </p:stCondLst>
                                        </p:cTn>
                                        <p:tgtEl>
                                          <p:spTgt spid="38"/>
                                        </p:tgtEl>
                                        <p:attrNameLst>
                                          <p:attrName>style.visibility</p:attrName>
                                        </p:attrNameLst>
                                      </p:cBhvr>
                                      <p:to>
                                        <p:strVal val="hidden"/>
                                      </p:to>
                                    </p:set>
                                  </p:childTnLst>
                                </p:cTn>
                              </p:par>
                            </p:childTnLst>
                          </p:cTn>
                        </p:par>
                        <p:par>
                          <p:cTn id="230" fill="hold">
                            <p:stCondLst>
                              <p:cond delay="9500"/>
                            </p:stCondLst>
                            <p:childTnLst>
                              <p:par>
                                <p:cTn id="231" presetID="22" presetClass="entr" presetSubtype="8" fill="hold" nodeType="afterEffect">
                                  <p:stCondLst>
                                    <p:cond delay="0"/>
                                  </p:stCondLst>
                                  <p:childTnLst>
                                    <p:set>
                                      <p:cBhvr>
                                        <p:cTn id="232" dur="1" fill="hold">
                                          <p:stCondLst>
                                            <p:cond delay="0"/>
                                          </p:stCondLst>
                                        </p:cTn>
                                        <p:tgtEl>
                                          <p:spTgt spid="40"/>
                                        </p:tgtEl>
                                        <p:attrNameLst>
                                          <p:attrName>style.visibility</p:attrName>
                                        </p:attrNameLst>
                                      </p:cBhvr>
                                      <p:to>
                                        <p:strVal val="visible"/>
                                      </p:to>
                                    </p:set>
                                    <p:animEffect transition="in" filter="wipe(left)">
                                      <p:cBhvr>
                                        <p:cTn id="233" dur="1000"/>
                                        <p:tgtEl>
                                          <p:spTgt spid="40"/>
                                        </p:tgtEl>
                                      </p:cBhvr>
                                    </p:animEffect>
                                  </p:childTnLst>
                                </p:cTn>
                              </p:par>
                            </p:childTnLst>
                          </p:cTn>
                        </p:par>
                        <p:par>
                          <p:cTn id="234" fill="hold">
                            <p:stCondLst>
                              <p:cond delay="10500"/>
                            </p:stCondLst>
                            <p:childTnLst>
                              <p:par>
                                <p:cTn id="235" presetID="63" presetClass="path" presetSubtype="0" accel="50000" decel="50000" fill="hold" nodeType="afterEffect">
                                  <p:stCondLst>
                                    <p:cond delay="0"/>
                                  </p:stCondLst>
                                  <p:childTnLst>
                                    <p:animMotion origin="layout" path="M 0.06419 -0.00092 L 0.13294 0.00023 " pathEditMode="relative" rAng="0" ptsTypes="AA">
                                      <p:cBhvr>
                                        <p:cTn id="236" dur="1000" fill="hold"/>
                                        <p:tgtEl>
                                          <p:spTgt spid="9"/>
                                        </p:tgtEl>
                                        <p:attrNameLst>
                                          <p:attrName>ppt_x</p:attrName>
                                          <p:attrName>ppt_y</p:attrName>
                                        </p:attrNameLst>
                                      </p:cBhvr>
                                      <p:rCtr x="3438" y="46"/>
                                    </p:animMotion>
                                  </p:childTnLst>
                                </p:cTn>
                              </p:par>
                            </p:childTnLst>
                          </p:cTn>
                        </p:par>
                        <p:par>
                          <p:cTn id="237" fill="hold">
                            <p:stCondLst>
                              <p:cond delay="11500"/>
                            </p:stCondLst>
                            <p:childTnLst>
                              <p:par>
                                <p:cTn id="238" presetID="10" presetClass="exit" presetSubtype="0" fill="hold" nodeType="afterEffect">
                                  <p:stCondLst>
                                    <p:cond delay="0"/>
                                  </p:stCondLst>
                                  <p:childTnLst>
                                    <p:animEffect transition="out" filter="fade">
                                      <p:cBhvr>
                                        <p:cTn id="239" dur="500"/>
                                        <p:tgtEl>
                                          <p:spTgt spid="40"/>
                                        </p:tgtEl>
                                      </p:cBhvr>
                                    </p:animEffect>
                                    <p:set>
                                      <p:cBhvr>
                                        <p:cTn id="240" dur="1" fill="hold">
                                          <p:stCondLst>
                                            <p:cond delay="499"/>
                                          </p:stCondLst>
                                        </p:cTn>
                                        <p:tgtEl>
                                          <p:spTgt spid="40"/>
                                        </p:tgtEl>
                                        <p:attrNameLst>
                                          <p:attrName>style.visibility</p:attrName>
                                        </p:attrNameLst>
                                      </p:cBhvr>
                                      <p:to>
                                        <p:strVal val="hidden"/>
                                      </p:to>
                                    </p:set>
                                  </p:childTnLst>
                                </p:cTn>
                              </p:par>
                            </p:childTnLst>
                          </p:cTn>
                        </p:par>
                        <p:par>
                          <p:cTn id="241" fill="hold">
                            <p:stCondLst>
                              <p:cond delay="12000"/>
                            </p:stCondLst>
                            <p:childTnLst>
                              <p:par>
                                <p:cTn id="242" presetID="22" presetClass="entr" presetSubtype="8" fill="hold" nodeType="afterEffect">
                                  <p:stCondLst>
                                    <p:cond delay="0"/>
                                  </p:stCondLst>
                                  <p:childTnLst>
                                    <p:set>
                                      <p:cBhvr>
                                        <p:cTn id="243" dur="1" fill="hold">
                                          <p:stCondLst>
                                            <p:cond delay="0"/>
                                          </p:stCondLst>
                                        </p:cTn>
                                        <p:tgtEl>
                                          <p:spTgt spid="41"/>
                                        </p:tgtEl>
                                        <p:attrNameLst>
                                          <p:attrName>style.visibility</p:attrName>
                                        </p:attrNameLst>
                                      </p:cBhvr>
                                      <p:to>
                                        <p:strVal val="visible"/>
                                      </p:to>
                                    </p:set>
                                    <p:animEffect transition="in" filter="wipe(left)">
                                      <p:cBhvr>
                                        <p:cTn id="244" dur="1000"/>
                                        <p:tgtEl>
                                          <p:spTgt spid="41"/>
                                        </p:tgtEl>
                                      </p:cBhvr>
                                    </p:animEffect>
                                  </p:childTnLst>
                                </p:cTn>
                              </p:par>
                            </p:childTnLst>
                          </p:cTn>
                        </p:par>
                        <p:par>
                          <p:cTn id="245" fill="hold">
                            <p:stCondLst>
                              <p:cond delay="13000"/>
                            </p:stCondLst>
                            <p:childTnLst>
                              <p:par>
                                <p:cTn id="246" presetID="47" presetClass="entr" presetSubtype="0" fill="hold" grpId="0" nodeType="afterEffect">
                                  <p:stCondLst>
                                    <p:cond delay="0"/>
                                  </p:stCondLst>
                                  <p:childTnLst>
                                    <p:set>
                                      <p:cBhvr>
                                        <p:cTn id="247" dur="1" fill="hold">
                                          <p:stCondLst>
                                            <p:cond delay="0"/>
                                          </p:stCondLst>
                                        </p:cTn>
                                        <p:tgtEl>
                                          <p:spTgt spid="46"/>
                                        </p:tgtEl>
                                        <p:attrNameLst>
                                          <p:attrName>style.visibility</p:attrName>
                                        </p:attrNameLst>
                                      </p:cBhvr>
                                      <p:to>
                                        <p:strVal val="visible"/>
                                      </p:to>
                                    </p:set>
                                    <p:animEffect transition="in" filter="fade">
                                      <p:cBhvr>
                                        <p:cTn id="248" dur="1000"/>
                                        <p:tgtEl>
                                          <p:spTgt spid="46"/>
                                        </p:tgtEl>
                                      </p:cBhvr>
                                    </p:animEffect>
                                    <p:anim calcmode="lin" valueType="num">
                                      <p:cBhvr>
                                        <p:cTn id="249" dur="1000" fill="hold"/>
                                        <p:tgtEl>
                                          <p:spTgt spid="46"/>
                                        </p:tgtEl>
                                        <p:attrNameLst>
                                          <p:attrName>ppt_x</p:attrName>
                                        </p:attrNameLst>
                                      </p:cBhvr>
                                      <p:tavLst>
                                        <p:tav tm="0">
                                          <p:val>
                                            <p:strVal val="#ppt_x"/>
                                          </p:val>
                                        </p:tav>
                                        <p:tav tm="100000">
                                          <p:val>
                                            <p:strVal val="#ppt_x"/>
                                          </p:val>
                                        </p:tav>
                                      </p:tavLst>
                                    </p:anim>
                                    <p:anim calcmode="lin" valueType="num">
                                      <p:cBhvr>
                                        <p:cTn id="250" dur="1000" fill="hold"/>
                                        <p:tgtEl>
                                          <p:spTgt spid="46"/>
                                        </p:tgtEl>
                                        <p:attrNameLst>
                                          <p:attrName>ppt_y</p:attrName>
                                        </p:attrNameLst>
                                      </p:cBhvr>
                                      <p:tavLst>
                                        <p:tav tm="0">
                                          <p:val>
                                            <p:strVal val="#ppt_y-.1"/>
                                          </p:val>
                                        </p:tav>
                                        <p:tav tm="100000">
                                          <p:val>
                                            <p:strVal val="#ppt_y"/>
                                          </p:val>
                                        </p:tav>
                                      </p:tavLst>
                                    </p:anim>
                                  </p:childTnLst>
                                </p:cTn>
                              </p:par>
                            </p:childTnLst>
                          </p:cTn>
                        </p:par>
                        <p:par>
                          <p:cTn id="251" fill="hold">
                            <p:stCondLst>
                              <p:cond delay="14000"/>
                            </p:stCondLst>
                            <p:childTnLst>
                              <p:par>
                                <p:cTn id="252" presetID="10" presetClass="exit" presetSubtype="0" fill="hold" nodeType="afterEffect">
                                  <p:stCondLst>
                                    <p:cond delay="0"/>
                                  </p:stCondLst>
                                  <p:childTnLst>
                                    <p:animEffect transition="out" filter="fade">
                                      <p:cBhvr>
                                        <p:cTn id="253" dur="500"/>
                                        <p:tgtEl>
                                          <p:spTgt spid="41"/>
                                        </p:tgtEl>
                                      </p:cBhvr>
                                    </p:animEffect>
                                    <p:set>
                                      <p:cBhvr>
                                        <p:cTn id="254" dur="1" fill="hold">
                                          <p:stCondLst>
                                            <p:cond delay="499"/>
                                          </p:stCondLst>
                                        </p:cTn>
                                        <p:tgtEl>
                                          <p:spTgt spid="41"/>
                                        </p:tgtEl>
                                        <p:attrNameLst>
                                          <p:attrName>style.visibility</p:attrName>
                                        </p:attrNameLst>
                                      </p:cBhvr>
                                      <p:to>
                                        <p:strVal val="hidden"/>
                                      </p:to>
                                    </p:set>
                                  </p:childTnLst>
                                </p:cTn>
                              </p:par>
                              <p:par>
                                <p:cTn id="255" presetID="22" presetClass="entr" presetSubtype="8" fill="hold" nodeType="withEffect">
                                  <p:stCondLst>
                                    <p:cond delay="0"/>
                                  </p:stCondLst>
                                  <p:childTnLst>
                                    <p:set>
                                      <p:cBhvr>
                                        <p:cTn id="256" dur="1" fill="hold">
                                          <p:stCondLst>
                                            <p:cond delay="0"/>
                                          </p:stCondLst>
                                        </p:cTn>
                                        <p:tgtEl>
                                          <p:spTgt spid="18"/>
                                        </p:tgtEl>
                                        <p:attrNameLst>
                                          <p:attrName>style.visibility</p:attrName>
                                        </p:attrNameLst>
                                      </p:cBhvr>
                                      <p:to>
                                        <p:strVal val="visible"/>
                                      </p:to>
                                    </p:set>
                                    <p:animEffect transition="in" filter="wipe(left)">
                                      <p:cBhvr>
                                        <p:cTn id="257" dur="1000"/>
                                        <p:tgtEl>
                                          <p:spTgt spid="18"/>
                                        </p:tgtEl>
                                      </p:cBhvr>
                                    </p:animEffect>
                                  </p:childTnLst>
                                </p:cTn>
                              </p:par>
                            </p:childTnLst>
                          </p:cTn>
                        </p:par>
                        <p:par>
                          <p:cTn id="258" fill="hold">
                            <p:stCondLst>
                              <p:cond delay="15000"/>
                            </p:stCondLst>
                            <p:childTnLst>
                              <p:par>
                                <p:cTn id="259" presetID="22" presetClass="entr" presetSubtype="8" fill="hold" nodeType="afterEffect">
                                  <p:stCondLst>
                                    <p:cond delay="0"/>
                                  </p:stCondLst>
                                  <p:childTnLst>
                                    <p:set>
                                      <p:cBhvr>
                                        <p:cTn id="260" dur="1" fill="hold">
                                          <p:stCondLst>
                                            <p:cond delay="0"/>
                                          </p:stCondLst>
                                        </p:cTn>
                                        <p:tgtEl>
                                          <p:spTgt spid="29"/>
                                        </p:tgtEl>
                                        <p:attrNameLst>
                                          <p:attrName>style.visibility</p:attrName>
                                        </p:attrNameLst>
                                      </p:cBhvr>
                                      <p:to>
                                        <p:strVal val="visible"/>
                                      </p:to>
                                    </p:set>
                                    <p:animEffect transition="in" filter="wipe(left)">
                                      <p:cBhvr>
                                        <p:cTn id="261" dur="1000"/>
                                        <p:tgtEl>
                                          <p:spTgt spid="29"/>
                                        </p:tgtEl>
                                      </p:cBhvr>
                                    </p:animEffect>
                                  </p:childTnLst>
                                </p:cTn>
                              </p:par>
                            </p:childTnLst>
                          </p:cTn>
                        </p:par>
                        <p:par>
                          <p:cTn id="262" fill="hold">
                            <p:stCondLst>
                              <p:cond delay="16000"/>
                            </p:stCondLst>
                            <p:childTnLst>
                              <p:par>
                                <p:cTn id="263" presetID="63" presetClass="path" presetSubtype="0" accel="50000" decel="50000" fill="hold" nodeType="afterEffect">
                                  <p:stCondLst>
                                    <p:cond delay="0"/>
                                  </p:stCondLst>
                                  <p:childTnLst>
                                    <p:animMotion origin="layout" path="M 0.13294 0.00023 L 0.20547 0.00093 " pathEditMode="relative" rAng="0" ptsTypes="AA">
                                      <p:cBhvr>
                                        <p:cTn id="264" dur="1000" fill="hold"/>
                                        <p:tgtEl>
                                          <p:spTgt spid="9"/>
                                        </p:tgtEl>
                                        <p:attrNameLst>
                                          <p:attrName>ppt_x</p:attrName>
                                          <p:attrName>ppt_y</p:attrName>
                                        </p:attrNameLst>
                                      </p:cBhvr>
                                      <p:rCtr x="3620" y="23"/>
                                    </p:animMotion>
                                  </p:childTnLst>
                                </p:cTn>
                              </p:par>
                            </p:childTnLst>
                          </p:cTn>
                        </p:par>
                        <p:par>
                          <p:cTn id="265" fill="hold">
                            <p:stCondLst>
                              <p:cond delay="17000"/>
                            </p:stCondLst>
                            <p:childTnLst>
                              <p:par>
                                <p:cTn id="266" presetID="47" presetClass="entr" presetSubtype="0" fill="hold" grpId="0" nodeType="afterEffect">
                                  <p:stCondLst>
                                    <p:cond delay="0"/>
                                  </p:stCondLst>
                                  <p:childTnLst>
                                    <p:set>
                                      <p:cBhvr>
                                        <p:cTn id="267" dur="1" fill="hold">
                                          <p:stCondLst>
                                            <p:cond delay="0"/>
                                          </p:stCondLst>
                                        </p:cTn>
                                        <p:tgtEl>
                                          <p:spTgt spid="47"/>
                                        </p:tgtEl>
                                        <p:attrNameLst>
                                          <p:attrName>style.visibility</p:attrName>
                                        </p:attrNameLst>
                                      </p:cBhvr>
                                      <p:to>
                                        <p:strVal val="visible"/>
                                      </p:to>
                                    </p:set>
                                    <p:animEffect transition="in" filter="fade">
                                      <p:cBhvr>
                                        <p:cTn id="268" dur="1000"/>
                                        <p:tgtEl>
                                          <p:spTgt spid="47"/>
                                        </p:tgtEl>
                                      </p:cBhvr>
                                    </p:animEffect>
                                    <p:anim calcmode="lin" valueType="num">
                                      <p:cBhvr>
                                        <p:cTn id="269" dur="1000" fill="hold"/>
                                        <p:tgtEl>
                                          <p:spTgt spid="47"/>
                                        </p:tgtEl>
                                        <p:attrNameLst>
                                          <p:attrName>ppt_x</p:attrName>
                                        </p:attrNameLst>
                                      </p:cBhvr>
                                      <p:tavLst>
                                        <p:tav tm="0">
                                          <p:val>
                                            <p:strVal val="#ppt_x"/>
                                          </p:val>
                                        </p:tav>
                                        <p:tav tm="100000">
                                          <p:val>
                                            <p:strVal val="#ppt_x"/>
                                          </p:val>
                                        </p:tav>
                                      </p:tavLst>
                                    </p:anim>
                                    <p:anim calcmode="lin" valueType="num">
                                      <p:cBhvr>
                                        <p:cTn id="270" dur="1000" fill="hold"/>
                                        <p:tgtEl>
                                          <p:spTgt spid="47"/>
                                        </p:tgtEl>
                                        <p:attrNameLst>
                                          <p:attrName>ppt_y</p:attrName>
                                        </p:attrNameLst>
                                      </p:cBhvr>
                                      <p:tavLst>
                                        <p:tav tm="0">
                                          <p:val>
                                            <p:strVal val="#ppt_y-.1"/>
                                          </p:val>
                                        </p:tav>
                                        <p:tav tm="100000">
                                          <p:val>
                                            <p:strVal val="#ppt_y"/>
                                          </p:val>
                                        </p:tav>
                                      </p:tavLst>
                                    </p:anim>
                                  </p:childTnLst>
                                </p:cTn>
                              </p:par>
                            </p:childTnLst>
                          </p:cTn>
                        </p:par>
                        <p:par>
                          <p:cTn id="271" fill="hold">
                            <p:stCondLst>
                              <p:cond delay="18000"/>
                            </p:stCondLst>
                            <p:childTnLst>
                              <p:par>
                                <p:cTn id="272" presetID="22" presetClass="entr" presetSubtype="8" fill="hold" nodeType="afterEffect">
                                  <p:stCondLst>
                                    <p:cond delay="0"/>
                                  </p:stCondLst>
                                  <p:childTnLst>
                                    <p:set>
                                      <p:cBhvr>
                                        <p:cTn id="273" dur="1" fill="hold">
                                          <p:stCondLst>
                                            <p:cond delay="0"/>
                                          </p:stCondLst>
                                        </p:cTn>
                                        <p:tgtEl>
                                          <p:spTgt spid="21"/>
                                        </p:tgtEl>
                                        <p:attrNameLst>
                                          <p:attrName>style.visibility</p:attrName>
                                        </p:attrNameLst>
                                      </p:cBhvr>
                                      <p:to>
                                        <p:strVal val="visible"/>
                                      </p:to>
                                    </p:set>
                                    <p:animEffect transition="in" filter="wipe(left)">
                                      <p:cBhvr>
                                        <p:cTn id="274" dur="1000"/>
                                        <p:tgtEl>
                                          <p:spTgt spid="21"/>
                                        </p:tgtEl>
                                      </p:cBhvr>
                                    </p:animEffect>
                                  </p:childTnLst>
                                </p:cTn>
                              </p:par>
                            </p:childTnLst>
                          </p:cTn>
                        </p:par>
                        <p:par>
                          <p:cTn id="275" fill="hold">
                            <p:stCondLst>
                              <p:cond delay="19000"/>
                            </p:stCondLst>
                            <p:childTnLst>
                              <p:par>
                                <p:cTn id="276" presetID="22" presetClass="entr" presetSubtype="8" fill="hold" nodeType="afterEffect">
                                  <p:stCondLst>
                                    <p:cond delay="0"/>
                                  </p:stCondLst>
                                  <p:childTnLst>
                                    <p:set>
                                      <p:cBhvr>
                                        <p:cTn id="277" dur="1" fill="hold">
                                          <p:stCondLst>
                                            <p:cond delay="0"/>
                                          </p:stCondLst>
                                        </p:cTn>
                                        <p:tgtEl>
                                          <p:spTgt spid="30"/>
                                        </p:tgtEl>
                                        <p:attrNameLst>
                                          <p:attrName>style.visibility</p:attrName>
                                        </p:attrNameLst>
                                      </p:cBhvr>
                                      <p:to>
                                        <p:strVal val="visible"/>
                                      </p:to>
                                    </p:set>
                                    <p:animEffect transition="in" filter="wipe(left)">
                                      <p:cBhvr>
                                        <p:cTn id="278" dur="1000"/>
                                        <p:tgtEl>
                                          <p:spTgt spid="30"/>
                                        </p:tgtEl>
                                      </p:cBhvr>
                                    </p:animEffect>
                                  </p:childTnLst>
                                </p:cTn>
                              </p:par>
                            </p:childTnLst>
                          </p:cTn>
                        </p:par>
                        <p:par>
                          <p:cTn id="279" fill="hold">
                            <p:stCondLst>
                              <p:cond delay="20000"/>
                            </p:stCondLst>
                            <p:childTnLst>
                              <p:par>
                                <p:cTn id="280" presetID="63" presetClass="path" presetSubtype="0" accel="50000" decel="50000" fill="hold" nodeType="afterEffect">
                                  <p:stCondLst>
                                    <p:cond delay="0"/>
                                  </p:stCondLst>
                                  <p:childTnLst>
                                    <p:animMotion origin="layout" path="M 0.20547 0.00093 L 0.27682 -0.00092 " pathEditMode="relative" rAng="0" ptsTypes="AA">
                                      <p:cBhvr>
                                        <p:cTn id="281" dur="1000" fill="hold"/>
                                        <p:tgtEl>
                                          <p:spTgt spid="9"/>
                                        </p:tgtEl>
                                        <p:attrNameLst>
                                          <p:attrName>ppt_x</p:attrName>
                                          <p:attrName>ppt_y</p:attrName>
                                        </p:attrNameLst>
                                      </p:cBhvr>
                                      <p:rCtr x="3568" y="-93"/>
                                    </p:animMotion>
                                  </p:childTnLst>
                                </p:cTn>
                              </p:par>
                            </p:childTnLst>
                          </p:cTn>
                        </p:par>
                        <p:par>
                          <p:cTn id="282" fill="hold">
                            <p:stCondLst>
                              <p:cond delay="21000"/>
                            </p:stCondLst>
                            <p:childTnLst>
                              <p:par>
                                <p:cTn id="283" presetID="47" presetClass="entr" presetSubtype="0" fill="hold" grpId="0" nodeType="afterEffect">
                                  <p:stCondLst>
                                    <p:cond delay="0"/>
                                  </p:stCondLst>
                                  <p:childTnLst>
                                    <p:set>
                                      <p:cBhvr>
                                        <p:cTn id="284" dur="1" fill="hold">
                                          <p:stCondLst>
                                            <p:cond delay="0"/>
                                          </p:stCondLst>
                                        </p:cTn>
                                        <p:tgtEl>
                                          <p:spTgt spid="48"/>
                                        </p:tgtEl>
                                        <p:attrNameLst>
                                          <p:attrName>style.visibility</p:attrName>
                                        </p:attrNameLst>
                                      </p:cBhvr>
                                      <p:to>
                                        <p:strVal val="visible"/>
                                      </p:to>
                                    </p:set>
                                    <p:animEffect transition="in" filter="fade">
                                      <p:cBhvr>
                                        <p:cTn id="285" dur="1000"/>
                                        <p:tgtEl>
                                          <p:spTgt spid="48"/>
                                        </p:tgtEl>
                                      </p:cBhvr>
                                    </p:animEffect>
                                    <p:anim calcmode="lin" valueType="num">
                                      <p:cBhvr>
                                        <p:cTn id="286" dur="1000" fill="hold"/>
                                        <p:tgtEl>
                                          <p:spTgt spid="48"/>
                                        </p:tgtEl>
                                        <p:attrNameLst>
                                          <p:attrName>ppt_x</p:attrName>
                                        </p:attrNameLst>
                                      </p:cBhvr>
                                      <p:tavLst>
                                        <p:tav tm="0">
                                          <p:val>
                                            <p:strVal val="#ppt_x"/>
                                          </p:val>
                                        </p:tav>
                                        <p:tav tm="100000">
                                          <p:val>
                                            <p:strVal val="#ppt_x"/>
                                          </p:val>
                                        </p:tav>
                                      </p:tavLst>
                                    </p:anim>
                                    <p:anim calcmode="lin" valueType="num">
                                      <p:cBhvr>
                                        <p:cTn id="287"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288" fill="hold">
                      <p:stCondLst>
                        <p:cond delay="indefinite"/>
                      </p:stCondLst>
                      <p:childTnLst>
                        <p:par>
                          <p:cTn id="289" fill="hold">
                            <p:stCondLst>
                              <p:cond delay="0"/>
                            </p:stCondLst>
                            <p:childTnLst>
                              <p:par>
                                <p:cTn id="290" presetID="22" presetClass="entr" presetSubtype="1" fill="hold" grpId="0" nodeType="clickEffect">
                                  <p:stCondLst>
                                    <p:cond delay="0"/>
                                  </p:stCondLst>
                                  <p:childTnLst>
                                    <p:set>
                                      <p:cBhvr>
                                        <p:cTn id="291" dur="1" fill="hold">
                                          <p:stCondLst>
                                            <p:cond delay="0"/>
                                          </p:stCondLst>
                                        </p:cTn>
                                        <p:tgtEl>
                                          <p:spTgt spid="34">
                                            <p:txEl>
                                              <p:pRg st="9" end="9"/>
                                            </p:txEl>
                                          </p:spTgt>
                                        </p:tgtEl>
                                        <p:attrNameLst>
                                          <p:attrName>style.visibility</p:attrName>
                                        </p:attrNameLst>
                                      </p:cBhvr>
                                      <p:to>
                                        <p:strVal val="visible"/>
                                      </p:to>
                                    </p:set>
                                    <p:animEffect transition="in" filter="wipe(up)">
                                      <p:cBhvr>
                                        <p:cTn id="292" dur="500"/>
                                        <p:tgtEl>
                                          <p:spTgt spid="34">
                                            <p:txEl>
                                              <p:pRg st="9" end="9"/>
                                            </p:txEl>
                                          </p:spTgt>
                                        </p:tgtEl>
                                      </p:cBhvr>
                                    </p:animEffect>
                                  </p:childTnLst>
                                </p:cTn>
                              </p:par>
                            </p:childTnLst>
                          </p:cTn>
                        </p:par>
                        <p:par>
                          <p:cTn id="293" fill="hold">
                            <p:stCondLst>
                              <p:cond delay="500"/>
                            </p:stCondLst>
                            <p:childTnLst>
                              <p:par>
                                <p:cTn id="294" presetID="12" presetClass="entr" presetSubtype="1" fill="hold" grpId="0" nodeType="afterEffect">
                                  <p:stCondLst>
                                    <p:cond delay="0"/>
                                  </p:stCondLst>
                                  <p:childTnLst>
                                    <p:set>
                                      <p:cBhvr>
                                        <p:cTn id="295" dur="1" fill="hold">
                                          <p:stCondLst>
                                            <p:cond delay="0"/>
                                          </p:stCondLst>
                                        </p:cTn>
                                        <p:tgtEl>
                                          <p:spTgt spid="31"/>
                                        </p:tgtEl>
                                        <p:attrNameLst>
                                          <p:attrName>style.visibility</p:attrName>
                                        </p:attrNameLst>
                                      </p:cBhvr>
                                      <p:to>
                                        <p:strVal val="visible"/>
                                      </p:to>
                                    </p:set>
                                    <p:anim calcmode="lin" valueType="num">
                                      <p:cBhvr additive="base">
                                        <p:cTn id="296" dur="500"/>
                                        <p:tgtEl>
                                          <p:spTgt spid="31"/>
                                        </p:tgtEl>
                                        <p:attrNameLst>
                                          <p:attrName>ppt_y</p:attrName>
                                        </p:attrNameLst>
                                      </p:cBhvr>
                                      <p:tavLst>
                                        <p:tav tm="0">
                                          <p:val>
                                            <p:strVal val="#ppt_y-#ppt_h*1.125000"/>
                                          </p:val>
                                        </p:tav>
                                        <p:tav tm="100000">
                                          <p:val>
                                            <p:strVal val="#ppt_y"/>
                                          </p:val>
                                        </p:tav>
                                      </p:tavLst>
                                    </p:anim>
                                    <p:animEffect transition="in" filter="wipe(down)">
                                      <p:cBhvr>
                                        <p:cTn id="297" dur="500"/>
                                        <p:tgtEl>
                                          <p:spTgt spid="31"/>
                                        </p:tgtEl>
                                      </p:cBhvr>
                                    </p:animEffect>
                                  </p:childTnLst>
                                </p:cTn>
                              </p:par>
                            </p:childTnLst>
                          </p:cTn>
                        </p:par>
                      </p:childTnLst>
                    </p:cTn>
                  </p:par>
                  <p:par>
                    <p:cTn id="298" fill="hold">
                      <p:stCondLst>
                        <p:cond delay="indefinite"/>
                      </p:stCondLst>
                      <p:childTnLst>
                        <p:par>
                          <p:cTn id="299" fill="hold">
                            <p:stCondLst>
                              <p:cond delay="0"/>
                            </p:stCondLst>
                            <p:childTnLst>
                              <p:par>
                                <p:cTn id="300" presetID="22" presetClass="entr" presetSubtype="1" fill="hold" grpId="0" nodeType="clickEffect">
                                  <p:stCondLst>
                                    <p:cond delay="0"/>
                                  </p:stCondLst>
                                  <p:childTnLst>
                                    <p:set>
                                      <p:cBhvr>
                                        <p:cTn id="301" dur="1" fill="hold">
                                          <p:stCondLst>
                                            <p:cond delay="0"/>
                                          </p:stCondLst>
                                        </p:cTn>
                                        <p:tgtEl>
                                          <p:spTgt spid="34">
                                            <p:txEl>
                                              <p:pRg st="10" end="10"/>
                                            </p:txEl>
                                          </p:spTgt>
                                        </p:tgtEl>
                                        <p:attrNameLst>
                                          <p:attrName>style.visibility</p:attrName>
                                        </p:attrNameLst>
                                      </p:cBhvr>
                                      <p:to>
                                        <p:strVal val="visible"/>
                                      </p:to>
                                    </p:set>
                                    <p:animEffect transition="in" filter="wipe(up)">
                                      <p:cBhvr>
                                        <p:cTn id="302" dur="500"/>
                                        <p:tgtEl>
                                          <p:spTgt spid="3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31" grpId="0" autoUpdateAnimBg="0"/>
      <p:bldP spid="32" grpId="0" uiExpand="1" build="p"/>
      <p:bldP spid="34" grpId="0" uiExpand="1" build="p" animBg="1"/>
      <p:bldP spid="35" grpId="0" autoUpdateAnimBg="0"/>
      <p:bldP spid="35" grpId="1"/>
      <p:bldP spid="43" grpId="0"/>
      <p:bldP spid="44" grpId="0"/>
      <p:bldP spid="45" grpId="0"/>
      <p:bldP spid="46" grpId="0"/>
      <p:bldP spid="47" grpId="0"/>
      <p:bldP spid="48" grpId="0"/>
      <p:bldP spid="49" grpId="0"/>
      <p:bldP spid="51" grpId="0"/>
      <p:bldP spid="5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2" name="Rectangle 4"/>
          <p:cNvSpPr>
            <a:spLocks noChangeArrowheads="1"/>
          </p:cNvSpPr>
          <p:nvPr/>
        </p:nvSpPr>
        <p:spPr bwMode="auto">
          <a:xfrm>
            <a:off x="1524000" y="2089151"/>
            <a:ext cx="9144000" cy="2995613"/>
          </a:xfrm>
          <a:prstGeom prst="rect">
            <a:avLst/>
          </a:prstGeom>
          <a:noFill/>
          <a:ln w="9525">
            <a:noFill/>
            <a:miter lim="800000"/>
          </a:ln>
          <a:effectLst/>
        </p:spPr>
        <p:txBody>
          <a:bodyPr/>
          <a:lstStyle/>
          <a:p>
            <a:pPr marL="342900" indent="-342900" algn="ctr">
              <a:spcBef>
                <a:spcPct val="20000"/>
              </a:spcBef>
              <a:defRPr/>
            </a:pPr>
            <a:r>
              <a:rPr lang="zh-CN" altLang="en-US" sz="5400" dirty="0">
                <a:solidFill>
                  <a:srgbClr val="000099"/>
                </a:solidFill>
                <a:effectLst>
                  <a:outerShdw blurRad="38100" dist="38100" dir="2700000" algn="tl">
                    <a:srgbClr val="C0C0C0"/>
                  </a:outerShdw>
                </a:effectLst>
                <a:latin typeface="Times New Roman" panose="02020603050405020304" pitchFamily="18" charset="0"/>
                <a:ea typeface="楷体_GB2312" pitchFamily="49" charset="-122"/>
                <a:cs typeface="+mn-cs"/>
              </a:rPr>
              <a:t>二、循环链表 </a:t>
            </a:r>
          </a:p>
          <a:p>
            <a:pPr marL="342900" indent="-342900" algn="ctr">
              <a:spcBef>
                <a:spcPct val="20000"/>
              </a:spcBef>
              <a:defRPr/>
            </a:pPr>
            <a:r>
              <a:rPr lang="zh-CN" altLang="zh-CN" sz="5400" dirty="0">
                <a:solidFill>
                  <a:srgbClr val="000099"/>
                </a:solidFill>
                <a:effectLst>
                  <a:outerShdw blurRad="38100" dist="38100" dir="2700000" algn="tl">
                    <a:srgbClr val="C0C0C0"/>
                  </a:outerShdw>
                </a:effectLst>
                <a:latin typeface="Times New Roman" panose="02020603050405020304" pitchFamily="18" charset="0"/>
                <a:ea typeface="楷体_GB2312" pitchFamily="49" charset="-122"/>
                <a:cs typeface="+mn-cs"/>
              </a:rPr>
              <a:t>(</a:t>
            </a:r>
            <a:r>
              <a:rPr lang="en-US" altLang="zh-CN" sz="5400" dirty="0">
                <a:solidFill>
                  <a:srgbClr val="000099"/>
                </a:solidFill>
                <a:effectLst>
                  <a:outerShdw blurRad="38100" dist="38100" dir="2700000" algn="tl">
                    <a:srgbClr val="C0C0C0"/>
                  </a:outerShdw>
                </a:effectLst>
                <a:latin typeface="Times New Roman" panose="02020603050405020304" pitchFamily="18" charset="0"/>
                <a:ea typeface="楷体_GB2312" pitchFamily="49" charset="-122"/>
                <a:cs typeface="+mn-cs"/>
              </a:rPr>
              <a:t>Circular List)</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7972">
                                            <p:txEl>
                                              <p:pRg st="0" end="0"/>
                                            </p:txEl>
                                          </p:spTgt>
                                        </p:tgtEl>
                                        <p:attrNameLst>
                                          <p:attrName>style.visibility</p:attrName>
                                        </p:attrNameLst>
                                      </p:cBhvr>
                                      <p:to>
                                        <p:strVal val="visible"/>
                                      </p:to>
                                    </p:set>
                                    <p:anim calcmode="lin" valueType="num">
                                      <p:cBhvr additive="base">
                                        <p:cTn id="7" dur="500" fill="hold"/>
                                        <p:tgtEl>
                                          <p:spTgt spid="46797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6797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67972">
                                            <p:txEl>
                                              <p:pRg st="1" end="1"/>
                                            </p:txEl>
                                          </p:spTgt>
                                        </p:tgtEl>
                                        <p:attrNameLst>
                                          <p:attrName>style.visibility</p:attrName>
                                        </p:attrNameLst>
                                      </p:cBhvr>
                                      <p:to>
                                        <p:strVal val="visible"/>
                                      </p:to>
                                    </p:set>
                                    <p:anim calcmode="lin" valueType="num">
                                      <p:cBhvr additive="base">
                                        <p:cTn id="13" dur="500" fill="hold"/>
                                        <p:tgtEl>
                                          <p:spTgt spid="46797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67972">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2" grpId="0"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6" name="Rectangle 4"/>
          <p:cNvSpPr>
            <a:spLocks noGrp="1" noChangeArrowheads="1"/>
          </p:cNvSpPr>
          <p:nvPr>
            <p:ph idx="1"/>
          </p:nvPr>
        </p:nvSpPr>
        <p:spPr>
          <a:xfrm>
            <a:off x="1919288" y="1398588"/>
            <a:ext cx="8305800" cy="4551362"/>
          </a:xfrm>
        </p:spPr>
        <p:txBody>
          <a:bodyPr/>
          <a:lstStyle/>
          <a:p>
            <a:pPr marL="0" indent="0" eaLnBrk="1" hangingPunct="1">
              <a:lnSpc>
                <a:spcPct val="110000"/>
              </a:lnSpc>
              <a:defRPr/>
            </a:pPr>
            <a:r>
              <a:rPr lang="zh-CN" altLang="en-US" dirty="0">
                <a:cs typeface="+mn-cs"/>
              </a:rPr>
              <a:t>是一种头尾相接的链表，最后一个结点的指针域指向链表的头结点，整个</a:t>
            </a:r>
            <a:r>
              <a:rPr lang="zh-CN" altLang="en-US" dirty="0">
                <a:solidFill>
                  <a:srgbClr val="008000"/>
                </a:solidFill>
                <a:cs typeface="+mn-cs"/>
              </a:rPr>
              <a:t>链表的指针域链接成一个环</a:t>
            </a:r>
            <a:r>
              <a:rPr lang="zh-CN" altLang="en-US" dirty="0">
                <a:cs typeface="+mn-cs"/>
              </a:rPr>
              <a:t>。</a:t>
            </a:r>
          </a:p>
          <a:p>
            <a:pPr marL="0" indent="0" eaLnBrk="1" hangingPunct="1">
              <a:lnSpc>
                <a:spcPct val="110000"/>
              </a:lnSpc>
              <a:buNone/>
              <a:defRPr/>
            </a:pPr>
            <a:r>
              <a:rPr lang="zh-CN" altLang="en-US" dirty="0">
                <a:cs typeface="+mn-cs"/>
              </a:rPr>
              <a:t> 特点：从循环链表的任意一个结点出发都可以找到链表中的其它结点，使得表处理更加方便灵活。</a:t>
            </a:r>
          </a:p>
          <a:p>
            <a:pPr eaLnBrk="1" hangingPunct="1">
              <a:buFont typeface="Wingdings" panose="05000000000000000000" pitchFamily="2" charset="2"/>
              <a:buChar char="ü"/>
              <a:defRPr/>
            </a:pPr>
            <a:endParaRPr lang="zh-CN" altLang="en-US" dirty="0">
              <a:solidFill>
                <a:schemeClr val="tx2"/>
              </a:solidFill>
              <a:effectLst>
                <a:outerShdw blurRad="38100" dist="38100" dir="2700000" algn="tl">
                  <a:srgbClr val="C0C0C0"/>
                </a:outerShdw>
              </a:effectLst>
              <a:cs typeface="+mn-cs"/>
            </a:endParaRPr>
          </a:p>
        </p:txBody>
      </p:sp>
      <p:sp>
        <p:nvSpPr>
          <p:cNvPr id="468997" name="Text Box 5"/>
          <p:cNvSpPr txBox="1">
            <a:spLocks noChangeArrowheads="1"/>
          </p:cNvSpPr>
          <p:nvPr/>
        </p:nvSpPr>
        <p:spPr bwMode="auto">
          <a:xfrm>
            <a:off x="1847851" y="260351"/>
            <a:ext cx="8640763" cy="823913"/>
          </a:xfrm>
          <a:prstGeom prst="rect">
            <a:avLst/>
          </a:prstGeom>
          <a:noFill/>
          <a:ln w="9525">
            <a:noFill/>
            <a:miter lim="800000"/>
          </a:ln>
          <a:effectLst/>
        </p:spPr>
        <p:txBody>
          <a:bodyPr>
            <a:spAutoFit/>
          </a:bodyPr>
          <a:lstStyle/>
          <a:p>
            <a:pPr>
              <a:spcBef>
                <a:spcPct val="50000"/>
              </a:spcBef>
              <a:defRPr/>
            </a:pPr>
            <a:r>
              <a:rPr lang="zh-CN" altLang="en-US" sz="4800" dirty="0">
                <a:effectLst>
                  <a:outerShdw blurRad="38100" dist="38100" dir="2700000" algn="tl">
                    <a:srgbClr val="C0C0C0"/>
                  </a:outerShdw>
                </a:effectLst>
                <a:latin typeface="楷体_GB2312" pitchFamily="49" charset="-122"/>
                <a:ea typeface="楷体_GB2312" pitchFamily="49" charset="-122"/>
                <a:cs typeface="+mn-cs"/>
              </a:rPr>
              <a:t>循环链表的概念</a:t>
            </a:r>
          </a:p>
        </p:txBody>
      </p:sp>
      <p:graphicFrame>
        <p:nvGraphicFramePr>
          <p:cNvPr id="97310" name="Object 30"/>
          <p:cNvGraphicFramePr>
            <a:graphicFrameLocks noChangeAspect="1"/>
          </p:cNvGraphicFramePr>
          <p:nvPr/>
        </p:nvGraphicFramePr>
        <p:xfrm>
          <a:off x="1524000" y="3860801"/>
          <a:ext cx="9144000" cy="1609725"/>
        </p:xfrm>
        <a:graphic>
          <a:graphicData uri="http://schemas.openxmlformats.org/presentationml/2006/ole">
            <mc:AlternateContent xmlns:mc="http://schemas.openxmlformats.org/markup-compatibility/2006">
              <mc:Choice xmlns:v="urn:schemas-microsoft-com:vml" Requires="v">
                <p:oleObj spid="_x0000_s2050" name="Visio" r:id="rId5" imgW="7937500" imgH="1143000" progId="">
                  <p:embed/>
                </p:oleObj>
              </mc:Choice>
              <mc:Fallback>
                <p:oleObj name="Visio" r:id="rId5" imgW="7937500" imgH="1143000" progId="">
                  <p:embed/>
                  <p:pic>
                    <p:nvPicPr>
                      <p:cNvPr id="0" name="图片 8192"/>
                      <p:cNvPicPr>
                        <a:picLocks noChangeAspect="1"/>
                      </p:cNvPicPr>
                      <p:nvPr/>
                    </p:nvPicPr>
                    <p:blipFill>
                      <a:blip r:embed="rId6"/>
                      <a:stretch>
                        <a:fillRect/>
                      </a:stretch>
                    </p:blipFill>
                    <p:spPr>
                      <a:xfrm>
                        <a:off x="1524000" y="3860801"/>
                        <a:ext cx="9144000" cy="1609725"/>
                      </a:xfrm>
                      <a:prstGeom prst="rect">
                        <a:avLst/>
                      </a:prstGeom>
                      <a:noFill/>
                      <a:ln w="9525">
                        <a:noFill/>
                      </a:ln>
                    </p:spPr>
                  </p:pic>
                </p:oleObj>
              </mc:Fallback>
            </mc:AlternateContent>
          </a:graphicData>
        </a:graphic>
      </p:graphicFrame>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8996">
                                            <p:txEl>
                                              <p:pRg st="0" end="0"/>
                                            </p:txEl>
                                          </p:spTgt>
                                        </p:tgtEl>
                                        <p:attrNameLst>
                                          <p:attrName>style.visibility</p:attrName>
                                        </p:attrNameLst>
                                      </p:cBhvr>
                                      <p:to>
                                        <p:strVal val="visible"/>
                                      </p:to>
                                    </p:set>
                                    <p:anim calcmode="lin" valueType="num">
                                      <p:cBhvr additive="base">
                                        <p:cTn id="7" dur="500" fill="hold"/>
                                        <p:tgtEl>
                                          <p:spTgt spid="46899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6899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68996">
                                            <p:txEl>
                                              <p:pRg st="1" end="1"/>
                                            </p:txEl>
                                          </p:spTgt>
                                        </p:tgtEl>
                                        <p:attrNameLst>
                                          <p:attrName>style.visibility</p:attrName>
                                        </p:attrNameLst>
                                      </p:cBhvr>
                                      <p:to>
                                        <p:strVal val="visible"/>
                                      </p:to>
                                    </p:set>
                                    <p:anim calcmode="lin" valueType="num">
                                      <p:cBhvr additive="base">
                                        <p:cTn id="13" dur="500" fill="hold"/>
                                        <p:tgtEl>
                                          <p:spTgt spid="46899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68996">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6" grpId="0" build="p"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标题 2"/>
          <p:cNvSpPr>
            <a:spLocks noGrp="1"/>
          </p:cNvSpPr>
          <p:nvPr>
            <p:ph type="title"/>
          </p:nvPr>
        </p:nvSpPr>
        <p:spPr/>
        <p:txBody>
          <a:bodyPr/>
          <a:lstStyle/>
          <a:p>
            <a:pPr eaLnBrk="1" hangingPunct="1"/>
            <a:r>
              <a:rPr>
                <a:latin typeface="宋体" panose="02010600030101010101" pitchFamily="2" charset="-122"/>
              </a:rPr>
              <a:t>循环链表的操作</a:t>
            </a:r>
            <a:r>
              <a:rPr>
                <a:solidFill>
                  <a:schemeClr val="folHlink"/>
                </a:solidFill>
                <a:latin typeface="宋体" panose="02010600030101010101" pitchFamily="2" charset="-122"/>
              </a:rPr>
              <a:t/>
            </a:r>
            <a:br>
              <a:rPr>
                <a:solidFill>
                  <a:schemeClr val="folHlink"/>
                </a:solidFill>
                <a:latin typeface="宋体" panose="02010600030101010101" pitchFamily="2" charset="-122"/>
              </a:rPr>
            </a:br>
            <a:endParaRPr>
              <a:solidFill>
                <a:schemeClr val="folHlink"/>
              </a:solidFill>
              <a:latin typeface="宋体" panose="02010600030101010101" pitchFamily="2" charset="-122"/>
            </a:endParaRPr>
          </a:p>
        </p:txBody>
      </p:sp>
      <p:sp>
        <p:nvSpPr>
          <p:cNvPr id="122882" name="矩形 3"/>
          <p:cNvSpPr>
            <a:spLocks noChangeArrowheads="1"/>
          </p:cNvSpPr>
          <p:nvPr/>
        </p:nvSpPr>
        <p:spPr bwMode="auto">
          <a:xfrm>
            <a:off x="1524001" y="1163638"/>
            <a:ext cx="8893175" cy="2635250"/>
          </a:xfrm>
          <a:prstGeom prst="rect">
            <a:avLst/>
          </a:prstGeom>
          <a:noFill/>
          <a:ln w="9525">
            <a:noFill/>
            <a:miter lim="800000"/>
          </a:ln>
        </p:spPr>
        <p:txBody>
          <a:bodyPr>
            <a:spAutoFit/>
          </a:bodyPr>
          <a:lstStyle/>
          <a:p>
            <a:pPr>
              <a:lnSpc>
                <a:spcPct val="110000"/>
              </a:lnSpc>
              <a:spcBef>
                <a:spcPct val="20000"/>
              </a:spcBef>
            </a:pPr>
            <a:r>
              <a:rPr lang="zh-CN" altLang="en-US" sz="2800">
                <a:solidFill>
                  <a:srgbClr val="000099"/>
                </a:solidFill>
                <a:latin typeface="宋体" panose="02010600030101010101" pitchFamily="2" charset="-122"/>
                <a:ea typeface="楷体_GB2312"/>
              </a:rPr>
              <a:t>对于单循环链表，除链表的合并外，其它的操作和单线性链表基本上一致，仅仅需要在单线性链表操作算法基础上作以下简单修改：</a:t>
            </a:r>
          </a:p>
          <a:p>
            <a:pPr marL="533400" lvl="1">
              <a:lnSpc>
                <a:spcPct val="110000"/>
              </a:lnSpc>
              <a:spcBef>
                <a:spcPct val="20000"/>
              </a:spcBef>
            </a:pPr>
            <a:r>
              <a:rPr lang="zh-CN" altLang="en-US" sz="2800">
                <a:solidFill>
                  <a:srgbClr val="008000"/>
                </a:solidFill>
                <a:latin typeface="宋体" panose="02010600030101010101" pitchFamily="2" charset="-122"/>
                <a:ea typeface="楷体_GB2312"/>
              </a:rPr>
              <a:t>⑴ 判断是否是空链表：</a:t>
            </a:r>
            <a:r>
              <a:rPr lang="en-US" altLang="zh-CN" sz="2800">
                <a:solidFill>
                  <a:srgbClr val="008000"/>
                </a:solidFill>
                <a:ea typeface="楷体_GB2312"/>
              </a:rPr>
              <a:t>head-&gt;next==head</a:t>
            </a:r>
            <a:r>
              <a:rPr lang="en-US" altLang="zh-CN" sz="2800">
                <a:solidFill>
                  <a:srgbClr val="008000"/>
                </a:solidFill>
                <a:latin typeface="宋体" panose="02010600030101010101" pitchFamily="2" charset="-122"/>
                <a:ea typeface="楷体_GB2312"/>
              </a:rPr>
              <a:t> ;</a:t>
            </a:r>
          </a:p>
          <a:p>
            <a:pPr marL="533400" lvl="1">
              <a:lnSpc>
                <a:spcPct val="110000"/>
              </a:lnSpc>
              <a:spcBef>
                <a:spcPct val="20000"/>
              </a:spcBef>
            </a:pPr>
            <a:r>
              <a:rPr lang="en-US" altLang="zh-CN" sz="2800">
                <a:solidFill>
                  <a:srgbClr val="008000"/>
                </a:solidFill>
                <a:latin typeface="宋体" panose="02010600030101010101" pitchFamily="2" charset="-122"/>
                <a:ea typeface="楷体_GB2312"/>
              </a:rPr>
              <a:t>⑵ </a:t>
            </a:r>
            <a:r>
              <a:rPr lang="zh-CN" altLang="en-US" sz="2800">
                <a:solidFill>
                  <a:srgbClr val="008000"/>
                </a:solidFill>
                <a:latin typeface="宋体" panose="02010600030101010101" pitchFamily="2" charset="-122"/>
                <a:ea typeface="楷体_GB2312"/>
              </a:rPr>
              <a:t>判断是否是表尾结点：</a:t>
            </a:r>
            <a:r>
              <a:rPr lang="en-US" altLang="zh-CN" sz="2800">
                <a:solidFill>
                  <a:srgbClr val="008000"/>
                </a:solidFill>
                <a:ea typeface="楷体_GB2312"/>
              </a:rPr>
              <a:t>p-&gt;next==head</a:t>
            </a:r>
            <a:r>
              <a:rPr lang="en-US" altLang="zh-CN" sz="2800">
                <a:solidFill>
                  <a:srgbClr val="008000"/>
                </a:solidFill>
                <a:latin typeface="宋体" panose="02010600030101010101" pitchFamily="2" charset="-122"/>
                <a:ea typeface="楷体_GB2312"/>
              </a:rPr>
              <a:t> ;</a:t>
            </a:r>
            <a:endParaRPr lang="zh-CN" altLang="en-US">
              <a:solidFill>
                <a:srgbClr val="008000"/>
              </a:solidFill>
              <a:ea typeface="楷体_GB2312"/>
            </a:endParaRPr>
          </a:p>
        </p:txBody>
      </p:sp>
    </p:spTree>
  </p:cSld>
  <p:clrMapOvr>
    <a:masterClrMapping/>
  </p:clrMapOvr>
  <p:transition>
    <p:strips dir="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a:xfrm>
            <a:off x="1524000" y="44451"/>
            <a:ext cx="9144000" cy="1484313"/>
          </a:xfrm>
        </p:spPr>
        <p:txBody>
          <a:bodyPr/>
          <a:lstStyle/>
          <a:p>
            <a:pPr algn="l" eaLnBrk="1" hangingPunct="1">
              <a:lnSpc>
                <a:spcPct val="90000"/>
              </a:lnSpc>
              <a:defRPr/>
            </a:pPr>
            <a:r>
              <a:rPr sz="4000" dirty="0" err="1">
                <a:effectLst>
                  <a:outerShdw blurRad="38100" dist="38100" dir="2700000" algn="tl">
                    <a:srgbClr val="C0C0C0"/>
                  </a:outerShdw>
                </a:effectLst>
                <a:ea typeface="楷体_GB2312" pitchFamily="49" charset="-122"/>
              </a:rPr>
              <a:t>循环链表的应用</a:t>
            </a:r>
            <a:r>
              <a:rPr lang="en-US" altLang="zh-CN" sz="4000" dirty="0">
                <a:effectLst>
                  <a:outerShdw blurRad="38100" dist="38100" dir="2700000" algn="tl">
                    <a:srgbClr val="C0C0C0"/>
                  </a:outerShdw>
                </a:effectLst>
                <a:ea typeface="楷体_GB2312" pitchFamily="49" charset="-122"/>
              </a:rPr>
              <a:t>——</a:t>
            </a:r>
            <a:r>
              <a:rPr sz="4000" dirty="0" err="1">
                <a:effectLst>
                  <a:outerShdw blurRad="38100" dist="38100" dir="2700000" algn="tl">
                    <a:srgbClr val="C0C0C0"/>
                  </a:outerShdw>
                </a:effectLst>
                <a:ea typeface="楷体_GB2312" pitchFamily="49" charset="-122"/>
              </a:rPr>
              <a:t>求解约瑟夫问题</a:t>
            </a:r>
            <a:endParaRPr sz="4000" dirty="0">
              <a:effectLst>
                <a:outerShdw blurRad="38100" dist="38100" dir="2700000" algn="tl">
                  <a:srgbClr val="C0C0C0"/>
                </a:outerShdw>
              </a:effectLst>
              <a:ea typeface="楷体_GB2312" pitchFamily="49" charset="-122"/>
            </a:endParaRPr>
          </a:p>
        </p:txBody>
      </p:sp>
      <p:sp>
        <p:nvSpPr>
          <p:cNvPr id="480259" name="Rectangle 3"/>
          <p:cNvSpPr>
            <a:spLocks noGrp="1" noChangeArrowheads="1"/>
          </p:cNvSpPr>
          <p:nvPr>
            <p:ph idx="1"/>
          </p:nvPr>
        </p:nvSpPr>
        <p:spPr>
          <a:xfrm>
            <a:off x="1919288" y="1716088"/>
            <a:ext cx="8305800" cy="4953000"/>
          </a:xfrm>
        </p:spPr>
        <p:txBody>
          <a:bodyPr/>
          <a:lstStyle/>
          <a:p>
            <a:pPr eaLnBrk="1" hangingPunct="1"/>
            <a:r>
              <a:rPr lang="zh-CN" altLang="en-US">
                <a:latin typeface="楷体_GB2312"/>
              </a:rPr>
              <a:t>约瑟夫问题的提法</a:t>
            </a:r>
          </a:p>
          <a:p>
            <a:pPr eaLnBrk="1" hangingPunct="1">
              <a:buFontTx/>
              <a:buNone/>
            </a:pPr>
            <a:r>
              <a:rPr lang="zh-CN" altLang="en-US">
                <a:latin typeface="楷体_GB2312"/>
              </a:rPr>
              <a:t>      </a:t>
            </a:r>
            <a:r>
              <a:rPr lang="en-US" altLang="zh-CN" i="1">
                <a:latin typeface="楷体_GB2312"/>
              </a:rPr>
              <a:t>n </a:t>
            </a:r>
            <a:r>
              <a:rPr lang="zh-CN" altLang="en-US">
                <a:latin typeface="楷体_GB2312"/>
              </a:rPr>
              <a:t>个人围成一个圆圈，首先第</a:t>
            </a:r>
            <a:r>
              <a:rPr lang="en-US" altLang="zh-CN">
                <a:latin typeface="楷体_GB2312"/>
              </a:rPr>
              <a:t>1</a:t>
            </a:r>
            <a:r>
              <a:rPr lang="zh-CN" altLang="en-US">
                <a:latin typeface="楷体_GB2312"/>
              </a:rPr>
              <a:t>个人从</a:t>
            </a:r>
            <a:r>
              <a:rPr lang="zh-CN" altLang="zh-CN">
                <a:latin typeface="楷体_GB2312"/>
              </a:rPr>
              <a:t>1</a:t>
            </a:r>
            <a:r>
              <a:rPr lang="zh-CN" altLang="en-US">
                <a:latin typeface="楷体_GB2312"/>
              </a:rPr>
              <a:t>开始一个人一个人顺时针报数</a:t>
            </a:r>
            <a:r>
              <a:rPr lang="zh-CN" altLang="zh-CN">
                <a:latin typeface="楷体_GB2312"/>
              </a:rPr>
              <a:t>,  </a:t>
            </a:r>
            <a:r>
              <a:rPr lang="zh-CN" altLang="en-US">
                <a:latin typeface="楷体_GB2312"/>
              </a:rPr>
              <a:t>报到第</a:t>
            </a:r>
            <a:r>
              <a:rPr lang="en-US" altLang="zh-CN" i="1">
                <a:latin typeface="楷体_GB2312"/>
              </a:rPr>
              <a:t>m</a:t>
            </a:r>
            <a:r>
              <a:rPr lang="zh-CN" altLang="en-US">
                <a:latin typeface="楷体_GB2312"/>
              </a:rPr>
              <a:t>个人，令其出列。然后再从下一个人开始，从</a:t>
            </a:r>
            <a:r>
              <a:rPr lang="zh-CN" altLang="zh-CN">
                <a:latin typeface="楷体_GB2312"/>
              </a:rPr>
              <a:t>1</a:t>
            </a:r>
            <a:r>
              <a:rPr lang="zh-CN" altLang="en-US">
                <a:latin typeface="楷体_GB2312"/>
              </a:rPr>
              <a:t>顺时针报数，报到第</a:t>
            </a:r>
            <a:r>
              <a:rPr lang="en-US" altLang="zh-CN" i="1">
                <a:latin typeface="楷体_GB2312"/>
              </a:rPr>
              <a:t>m</a:t>
            </a:r>
            <a:r>
              <a:rPr lang="zh-CN" altLang="en-US">
                <a:latin typeface="楷体_GB2312"/>
              </a:rPr>
              <a:t>个人，再令其出列，</a:t>
            </a:r>
            <a:r>
              <a:rPr lang="zh-CN" altLang="zh-CN"/>
              <a:t>…</a:t>
            </a:r>
            <a:r>
              <a:rPr lang="zh-CN" altLang="en-US">
                <a:latin typeface="楷体_GB2312"/>
              </a:rPr>
              <a:t>，如此下去</a:t>
            </a:r>
            <a:r>
              <a:rPr lang="zh-CN" altLang="zh-CN">
                <a:latin typeface="楷体_GB2312"/>
              </a:rPr>
              <a:t>,  </a:t>
            </a:r>
            <a:r>
              <a:rPr lang="zh-CN" altLang="en-US">
                <a:latin typeface="楷体_GB2312"/>
              </a:rPr>
              <a:t>直到圆圈中只剩一个人为止。此人即为优胜者。</a:t>
            </a:r>
          </a:p>
          <a:p>
            <a:pPr eaLnBrk="1" hangingPunct="1"/>
            <a:r>
              <a:rPr lang="zh-CN" altLang="en-US">
                <a:latin typeface="楷体_GB2312"/>
              </a:rPr>
              <a:t>例如  </a:t>
            </a:r>
            <a:r>
              <a:rPr lang="en-US" altLang="zh-CN" i="1">
                <a:latin typeface="楷体_GB2312"/>
              </a:rPr>
              <a:t>n </a:t>
            </a:r>
            <a:r>
              <a:rPr lang="en-US" altLang="zh-CN">
                <a:latin typeface="楷体_GB2312"/>
              </a:rPr>
              <a:t>= 8   </a:t>
            </a:r>
            <a:r>
              <a:rPr lang="en-US" altLang="zh-CN" i="1">
                <a:latin typeface="楷体_GB2312"/>
              </a:rPr>
              <a:t>m</a:t>
            </a:r>
            <a:r>
              <a:rPr lang="en-US" altLang="zh-CN">
                <a:latin typeface="楷体_GB2312"/>
              </a:rPr>
              <a:t> = 3</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0259">
                                            <p:txEl>
                                              <p:pRg st="0" end="0"/>
                                            </p:txEl>
                                          </p:spTgt>
                                        </p:tgtEl>
                                        <p:attrNameLst>
                                          <p:attrName>style.visibility</p:attrName>
                                        </p:attrNameLst>
                                      </p:cBhvr>
                                      <p:to>
                                        <p:strVal val="visible"/>
                                      </p:to>
                                    </p:set>
                                    <p:anim calcmode="lin" valueType="num">
                                      <p:cBhvr additive="base">
                                        <p:cTn id="7" dur="500" fill="hold"/>
                                        <p:tgtEl>
                                          <p:spTgt spid="4802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8025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80259">
                                            <p:txEl>
                                              <p:pRg st="1" end="1"/>
                                            </p:txEl>
                                          </p:spTgt>
                                        </p:tgtEl>
                                        <p:attrNameLst>
                                          <p:attrName>style.visibility</p:attrName>
                                        </p:attrNameLst>
                                      </p:cBhvr>
                                      <p:to>
                                        <p:strVal val="visible"/>
                                      </p:to>
                                    </p:set>
                                    <p:anim calcmode="lin" valueType="num">
                                      <p:cBhvr additive="base">
                                        <p:cTn id="13" dur="500" fill="hold"/>
                                        <p:tgtEl>
                                          <p:spTgt spid="4802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8025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80259">
                                            <p:txEl>
                                              <p:pRg st="2" end="2"/>
                                            </p:txEl>
                                          </p:spTgt>
                                        </p:tgtEl>
                                        <p:attrNameLst>
                                          <p:attrName>style.visibility</p:attrName>
                                        </p:attrNameLst>
                                      </p:cBhvr>
                                      <p:to>
                                        <p:strVal val="visible"/>
                                      </p:to>
                                    </p:set>
                                    <p:anim calcmode="lin" valueType="num">
                                      <p:cBhvr additive="base">
                                        <p:cTn id="19" dur="500" fill="hold"/>
                                        <p:tgtEl>
                                          <p:spTgt spid="4802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8025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59" grpId="0"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noChangeArrowheads="1"/>
          </p:cNvSpPr>
          <p:nvPr>
            <p:ph idx="1"/>
          </p:nvPr>
        </p:nvSpPr>
        <p:spPr>
          <a:xfrm>
            <a:off x="2362200" y="752475"/>
            <a:ext cx="6096000" cy="685800"/>
          </a:xfrm>
        </p:spPr>
        <p:txBody>
          <a:bodyPr/>
          <a:lstStyle/>
          <a:p>
            <a:pPr eaLnBrk="1" hangingPunct="1">
              <a:lnSpc>
                <a:spcPct val="90000"/>
              </a:lnSpc>
              <a:buFont typeface="Wingdings" panose="05000000000000000000" pitchFamily="2" charset="2"/>
              <a:buNone/>
            </a:pPr>
            <a:r>
              <a:rPr lang="zh-CN" altLang="en-US">
                <a:ea typeface="仿宋_GB2312"/>
                <a:cs typeface="仿宋_GB2312"/>
              </a:rPr>
              <a:t>例如  </a:t>
            </a:r>
            <a:r>
              <a:rPr lang="en-US" altLang="zh-CN" i="1">
                <a:solidFill>
                  <a:srgbClr val="0000CC"/>
                </a:solidFill>
                <a:ea typeface="仿宋_GB2312"/>
                <a:cs typeface="仿宋_GB2312"/>
              </a:rPr>
              <a:t>n </a:t>
            </a:r>
            <a:r>
              <a:rPr lang="en-US" altLang="zh-CN">
                <a:solidFill>
                  <a:srgbClr val="0000CC"/>
                </a:solidFill>
                <a:ea typeface="仿宋_GB2312"/>
                <a:cs typeface="仿宋_GB2312"/>
              </a:rPr>
              <a:t>= 8   </a:t>
            </a:r>
            <a:r>
              <a:rPr lang="en-US" altLang="zh-CN" i="1">
                <a:solidFill>
                  <a:srgbClr val="0000CC"/>
                </a:solidFill>
                <a:ea typeface="仿宋_GB2312"/>
                <a:cs typeface="仿宋_GB2312"/>
              </a:rPr>
              <a:t>m</a:t>
            </a:r>
            <a:r>
              <a:rPr lang="en-US" altLang="zh-CN">
                <a:solidFill>
                  <a:srgbClr val="0000CC"/>
                </a:solidFill>
                <a:ea typeface="仿宋_GB2312"/>
                <a:cs typeface="仿宋_GB2312"/>
              </a:rPr>
              <a:t> = 3</a:t>
            </a:r>
          </a:p>
        </p:txBody>
      </p:sp>
      <p:grpSp>
        <p:nvGrpSpPr>
          <p:cNvPr id="124930" name="Group 30"/>
          <p:cNvGrpSpPr/>
          <p:nvPr/>
        </p:nvGrpSpPr>
        <p:grpSpPr bwMode="auto">
          <a:xfrm>
            <a:off x="1847851" y="1266826"/>
            <a:ext cx="2424113" cy="2665413"/>
            <a:chOff x="96" y="744"/>
            <a:chExt cx="1527" cy="1679"/>
          </a:xfrm>
        </p:grpSpPr>
        <p:grpSp>
          <p:nvGrpSpPr>
            <p:cNvPr id="125061" name="Group 28"/>
            <p:cNvGrpSpPr/>
            <p:nvPr/>
          </p:nvGrpSpPr>
          <p:grpSpPr bwMode="auto">
            <a:xfrm>
              <a:off x="96" y="744"/>
              <a:ext cx="1527" cy="1679"/>
              <a:chOff x="96" y="744"/>
              <a:chExt cx="1527" cy="1679"/>
            </a:xfrm>
          </p:grpSpPr>
          <p:grpSp>
            <p:nvGrpSpPr>
              <p:cNvPr id="125071" name="Group 11"/>
              <p:cNvGrpSpPr/>
              <p:nvPr/>
            </p:nvGrpSpPr>
            <p:grpSpPr bwMode="auto">
              <a:xfrm>
                <a:off x="297" y="1014"/>
                <a:ext cx="1143" cy="1143"/>
                <a:chOff x="864" y="1545"/>
                <a:chExt cx="1143" cy="1143"/>
              </a:xfrm>
            </p:grpSpPr>
            <p:sp>
              <p:nvSpPr>
                <p:cNvPr id="125080" name="Oval 5"/>
                <p:cNvSpPr>
                  <a:spLocks noChangeArrowheads="1"/>
                </p:cNvSpPr>
                <p:nvPr/>
              </p:nvSpPr>
              <p:spPr bwMode="auto">
                <a:xfrm>
                  <a:off x="864" y="1545"/>
                  <a:ext cx="1143" cy="1143"/>
                </a:xfrm>
                <a:prstGeom prst="ellipse">
                  <a:avLst/>
                </a:prstGeom>
                <a:solidFill>
                  <a:srgbClr val="FFFF99"/>
                </a:solidFill>
                <a:ln w="9525">
                  <a:solidFill>
                    <a:schemeClr val="tx1"/>
                  </a:solidFill>
                  <a:round/>
                </a:ln>
              </p:spPr>
              <p:txBody>
                <a:bodyPr wrap="none" anchor="ctr"/>
                <a:lstStyle/>
                <a:p>
                  <a:endParaRPr lang="zh-CN" altLang="en-US">
                    <a:ea typeface="楷体_GB2312"/>
                  </a:endParaRPr>
                </a:p>
              </p:txBody>
            </p:sp>
            <p:sp>
              <p:nvSpPr>
                <p:cNvPr id="125081" name="Line 7"/>
                <p:cNvSpPr>
                  <a:spLocks noChangeShapeType="1"/>
                </p:cNvSpPr>
                <p:nvPr/>
              </p:nvSpPr>
              <p:spPr bwMode="auto">
                <a:xfrm>
                  <a:off x="873" y="2129"/>
                  <a:ext cx="1126" cy="0"/>
                </a:xfrm>
                <a:prstGeom prst="line">
                  <a:avLst/>
                </a:prstGeom>
                <a:noFill/>
                <a:ln w="9525">
                  <a:solidFill>
                    <a:schemeClr val="tx1"/>
                  </a:solidFill>
                  <a:round/>
                </a:ln>
              </p:spPr>
              <p:txBody>
                <a:bodyPr/>
                <a:lstStyle/>
                <a:p>
                  <a:endParaRPr lang="zh-CN" altLang="en-US"/>
                </a:p>
              </p:txBody>
            </p:sp>
            <p:sp>
              <p:nvSpPr>
                <p:cNvPr id="125082" name="Line 8"/>
                <p:cNvSpPr>
                  <a:spLocks noChangeShapeType="1"/>
                </p:cNvSpPr>
                <p:nvPr/>
              </p:nvSpPr>
              <p:spPr bwMode="auto">
                <a:xfrm>
                  <a:off x="1440" y="1545"/>
                  <a:ext cx="0" cy="1126"/>
                </a:xfrm>
                <a:prstGeom prst="line">
                  <a:avLst/>
                </a:prstGeom>
                <a:noFill/>
                <a:ln w="9525">
                  <a:solidFill>
                    <a:schemeClr val="tx1"/>
                  </a:solidFill>
                  <a:round/>
                </a:ln>
              </p:spPr>
              <p:txBody>
                <a:bodyPr/>
                <a:lstStyle/>
                <a:p>
                  <a:endParaRPr lang="zh-CN" altLang="en-US"/>
                </a:p>
              </p:txBody>
            </p:sp>
            <p:sp>
              <p:nvSpPr>
                <p:cNvPr id="125083" name="Line 9"/>
                <p:cNvSpPr>
                  <a:spLocks noChangeShapeType="1"/>
                </p:cNvSpPr>
                <p:nvPr/>
              </p:nvSpPr>
              <p:spPr bwMode="auto">
                <a:xfrm flipH="1">
                  <a:off x="1064" y="1702"/>
                  <a:ext cx="769" cy="847"/>
                </a:xfrm>
                <a:prstGeom prst="line">
                  <a:avLst/>
                </a:prstGeom>
                <a:noFill/>
                <a:ln w="9525">
                  <a:solidFill>
                    <a:schemeClr val="tx1"/>
                  </a:solidFill>
                  <a:round/>
                </a:ln>
              </p:spPr>
              <p:txBody>
                <a:bodyPr/>
                <a:lstStyle/>
                <a:p>
                  <a:endParaRPr lang="zh-CN" altLang="en-US"/>
                </a:p>
              </p:txBody>
            </p:sp>
            <p:sp>
              <p:nvSpPr>
                <p:cNvPr id="125084" name="Line 10"/>
                <p:cNvSpPr>
                  <a:spLocks noChangeShapeType="1"/>
                </p:cNvSpPr>
                <p:nvPr/>
              </p:nvSpPr>
              <p:spPr bwMode="auto">
                <a:xfrm>
                  <a:off x="1064" y="1702"/>
                  <a:ext cx="752" cy="829"/>
                </a:xfrm>
                <a:prstGeom prst="line">
                  <a:avLst/>
                </a:prstGeom>
                <a:noFill/>
                <a:ln w="9525">
                  <a:solidFill>
                    <a:schemeClr val="tx1"/>
                  </a:solidFill>
                  <a:round/>
                </a:ln>
              </p:spPr>
              <p:txBody>
                <a:bodyPr/>
                <a:lstStyle/>
                <a:p>
                  <a:endParaRPr lang="zh-CN" altLang="en-US"/>
                </a:p>
              </p:txBody>
            </p:sp>
            <p:sp>
              <p:nvSpPr>
                <p:cNvPr id="125085" name="Oval 6"/>
                <p:cNvSpPr>
                  <a:spLocks noChangeArrowheads="1"/>
                </p:cNvSpPr>
                <p:nvPr/>
              </p:nvSpPr>
              <p:spPr bwMode="auto">
                <a:xfrm>
                  <a:off x="1135" y="1832"/>
                  <a:ext cx="593" cy="604"/>
                </a:xfrm>
                <a:prstGeom prst="ellipse">
                  <a:avLst/>
                </a:prstGeom>
                <a:solidFill>
                  <a:schemeClr val="bg1"/>
                </a:solidFill>
                <a:ln w="9525">
                  <a:solidFill>
                    <a:schemeClr val="tx1"/>
                  </a:solidFill>
                  <a:round/>
                </a:ln>
              </p:spPr>
              <p:txBody>
                <a:bodyPr wrap="none" anchor="ctr"/>
                <a:lstStyle/>
                <a:p>
                  <a:endParaRPr lang="zh-CN" altLang="en-US">
                    <a:ea typeface="楷体_GB2312"/>
                  </a:endParaRPr>
                </a:p>
              </p:txBody>
            </p:sp>
          </p:grpSp>
          <p:sp>
            <p:nvSpPr>
              <p:cNvPr id="125072" name="Text Box 20"/>
              <p:cNvSpPr txBox="1">
                <a:spLocks noChangeArrowheads="1"/>
              </p:cNvSpPr>
              <p:nvPr/>
            </p:nvSpPr>
            <p:spPr bwMode="auto">
              <a:xfrm>
                <a:off x="857" y="744"/>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0</a:t>
                </a:r>
              </a:p>
            </p:txBody>
          </p:sp>
          <p:sp>
            <p:nvSpPr>
              <p:cNvPr id="125073" name="Text Box 21"/>
              <p:cNvSpPr txBox="1">
                <a:spLocks noChangeArrowheads="1"/>
              </p:cNvSpPr>
              <p:nvPr/>
            </p:nvSpPr>
            <p:spPr bwMode="auto">
              <a:xfrm>
                <a:off x="1320" y="1085"/>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1</a:t>
                </a:r>
              </a:p>
            </p:txBody>
          </p:sp>
          <p:sp>
            <p:nvSpPr>
              <p:cNvPr id="125074" name="Text Box 22"/>
              <p:cNvSpPr txBox="1">
                <a:spLocks noChangeArrowheads="1"/>
              </p:cNvSpPr>
              <p:nvPr/>
            </p:nvSpPr>
            <p:spPr bwMode="auto">
              <a:xfrm>
                <a:off x="1388" y="1590"/>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2</a:t>
                </a:r>
              </a:p>
            </p:txBody>
          </p:sp>
          <p:sp>
            <p:nvSpPr>
              <p:cNvPr id="125075" name="Text Box 23"/>
              <p:cNvSpPr txBox="1">
                <a:spLocks noChangeArrowheads="1"/>
              </p:cNvSpPr>
              <p:nvPr/>
            </p:nvSpPr>
            <p:spPr bwMode="auto">
              <a:xfrm>
                <a:off x="1084" y="202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3</a:t>
                </a:r>
              </a:p>
            </p:txBody>
          </p:sp>
          <p:sp>
            <p:nvSpPr>
              <p:cNvPr id="125076" name="Text Box 24"/>
              <p:cNvSpPr txBox="1">
                <a:spLocks noChangeArrowheads="1"/>
              </p:cNvSpPr>
              <p:nvPr/>
            </p:nvSpPr>
            <p:spPr bwMode="auto">
              <a:xfrm>
                <a:off x="630" y="213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4</a:t>
                </a:r>
              </a:p>
            </p:txBody>
          </p:sp>
          <p:sp>
            <p:nvSpPr>
              <p:cNvPr id="125077" name="Text Box 25"/>
              <p:cNvSpPr txBox="1">
                <a:spLocks noChangeArrowheads="1"/>
              </p:cNvSpPr>
              <p:nvPr/>
            </p:nvSpPr>
            <p:spPr bwMode="auto">
              <a:xfrm>
                <a:off x="237" y="188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5</a:t>
                </a:r>
              </a:p>
            </p:txBody>
          </p:sp>
          <p:sp>
            <p:nvSpPr>
              <p:cNvPr id="125078" name="Text Box 26"/>
              <p:cNvSpPr txBox="1">
                <a:spLocks noChangeArrowheads="1"/>
              </p:cNvSpPr>
              <p:nvPr/>
            </p:nvSpPr>
            <p:spPr bwMode="auto">
              <a:xfrm>
                <a:off x="96" y="1321"/>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6</a:t>
                </a:r>
              </a:p>
            </p:txBody>
          </p:sp>
          <p:sp>
            <p:nvSpPr>
              <p:cNvPr id="125079" name="Text Box 27"/>
              <p:cNvSpPr txBox="1">
                <a:spLocks noChangeArrowheads="1"/>
              </p:cNvSpPr>
              <p:nvPr/>
            </p:nvSpPr>
            <p:spPr bwMode="auto">
              <a:xfrm>
                <a:off x="365" y="90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7</a:t>
                </a:r>
              </a:p>
            </p:txBody>
          </p:sp>
        </p:grpSp>
        <p:sp>
          <p:nvSpPr>
            <p:cNvPr id="125062" name="Text Box 12"/>
            <p:cNvSpPr txBox="1">
              <a:spLocks noChangeArrowheads="1"/>
            </p:cNvSpPr>
            <p:nvPr/>
          </p:nvSpPr>
          <p:spPr bwMode="auto">
            <a:xfrm>
              <a:off x="901" y="1033"/>
              <a:ext cx="246" cy="310"/>
            </a:xfrm>
            <a:prstGeom prst="rect">
              <a:avLst/>
            </a:prstGeom>
            <a:noFill/>
            <a:ln w="9525">
              <a:noFill/>
              <a:miter lim="800000"/>
            </a:ln>
          </p:spPr>
          <p:txBody>
            <a:bodyPr wrap="none">
              <a:spAutoFit/>
            </a:bodyPr>
            <a:lstStyle/>
            <a:p>
              <a:r>
                <a:rPr lang="en-US" altLang="zh-CN" sz="2600">
                  <a:ea typeface="楷体_GB2312"/>
                </a:rPr>
                <a:t>1</a:t>
              </a:r>
            </a:p>
          </p:txBody>
        </p:sp>
        <p:sp>
          <p:nvSpPr>
            <p:cNvPr id="125063" name="Text Box 13"/>
            <p:cNvSpPr txBox="1">
              <a:spLocks noChangeArrowheads="1"/>
            </p:cNvSpPr>
            <p:nvPr/>
          </p:nvSpPr>
          <p:spPr bwMode="auto">
            <a:xfrm>
              <a:off x="1154" y="1277"/>
              <a:ext cx="246" cy="310"/>
            </a:xfrm>
            <a:prstGeom prst="rect">
              <a:avLst/>
            </a:prstGeom>
            <a:noFill/>
            <a:ln w="9525">
              <a:noFill/>
              <a:miter lim="800000"/>
            </a:ln>
          </p:spPr>
          <p:txBody>
            <a:bodyPr wrap="none">
              <a:spAutoFit/>
            </a:bodyPr>
            <a:lstStyle/>
            <a:p>
              <a:r>
                <a:rPr lang="en-US" altLang="zh-CN" sz="2600">
                  <a:ea typeface="楷体_GB2312"/>
                </a:rPr>
                <a:t>2</a:t>
              </a:r>
            </a:p>
          </p:txBody>
        </p:sp>
        <p:sp>
          <p:nvSpPr>
            <p:cNvPr id="125064" name="Text Box 14"/>
            <p:cNvSpPr txBox="1">
              <a:spLocks noChangeArrowheads="1"/>
            </p:cNvSpPr>
            <p:nvPr/>
          </p:nvSpPr>
          <p:spPr bwMode="auto">
            <a:xfrm>
              <a:off x="1145" y="1608"/>
              <a:ext cx="246" cy="310"/>
            </a:xfrm>
            <a:prstGeom prst="rect">
              <a:avLst/>
            </a:prstGeom>
            <a:noFill/>
            <a:ln w="9525">
              <a:noFill/>
              <a:miter lim="800000"/>
            </a:ln>
          </p:spPr>
          <p:txBody>
            <a:bodyPr wrap="none">
              <a:spAutoFit/>
            </a:bodyPr>
            <a:lstStyle/>
            <a:p>
              <a:r>
                <a:rPr lang="en-US" altLang="zh-CN" sz="2600">
                  <a:ea typeface="楷体_GB2312"/>
                </a:rPr>
                <a:t>3</a:t>
              </a:r>
            </a:p>
          </p:txBody>
        </p:sp>
        <p:sp>
          <p:nvSpPr>
            <p:cNvPr id="125065" name="Text Box 15"/>
            <p:cNvSpPr txBox="1">
              <a:spLocks noChangeArrowheads="1"/>
            </p:cNvSpPr>
            <p:nvPr/>
          </p:nvSpPr>
          <p:spPr bwMode="auto">
            <a:xfrm>
              <a:off x="918" y="1825"/>
              <a:ext cx="246" cy="310"/>
            </a:xfrm>
            <a:prstGeom prst="rect">
              <a:avLst/>
            </a:prstGeom>
            <a:noFill/>
            <a:ln w="9525">
              <a:noFill/>
              <a:miter lim="800000"/>
            </a:ln>
          </p:spPr>
          <p:txBody>
            <a:bodyPr wrap="none">
              <a:spAutoFit/>
            </a:bodyPr>
            <a:lstStyle/>
            <a:p>
              <a:r>
                <a:rPr lang="en-US" altLang="zh-CN" sz="2600">
                  <a:ea typeface="楷体_GB2312"/>
                </a:rPr>
                <a:t>4</a:t>
              </a:r>
            </a:p>
          </p:txBody>
        </p:sp>
        <p:sp>
          <p:nvSpPr>
            <p:cNvPr id="125066" name="Text Box 16"/>
            <p:cNvSpPr txBox="1">
              <a:spLocks noChangeArrowheads="1"/>
            </p:cNvSpPr>
            <p:nvPr/>
          </p:nvSpPr>
          <p:spPr bwMode="auto">
            <a:xfrm>
              <a:off x="613" y="1844"/>
              <a:ext cx="246" cy="310"/>
            </a:xfrm>
            <a:prstGeom prst="rect">
              <a:avLst/>
            </a:prstGeom>
            <a:noFill/>
            <a:ln w="9525">
              <a:noFill/>
              <a:miter lim="800000"/>
            </a:ln>
          </p:spPr>
          <p:txBody>
            <a:bodyPr wrap="none">
              <a:spAutoFit/>
            </a:bodyPr>
            <a:lstStyle/>
            <a:p>
              <a:r>
                <a:rPr lang="en-US" altLang="zh-CN" sz="2600">
                  <a:ea typeface="楷体_GB2312"/>
                </a:rPr>
                <a:t>5</a:t>
              </a:r>
            </a:p>
          </p:txBody>
        </p:sp>
        <p:sp>
          <p:nvSpPr>
            <p:cNvPr id="125067" name="Text Box 17"/>
            <p:cNvSpPr txBox="1">
              <a:spLocks noChangeArrowheads="1"/>
            </p:cNvSpPr>
            <p:nvPr/>
          </p:nvSpPr>
          <p:spPr bwMode="auto">
            <a:xfrm>
              <a:off x="368" y="1608"/>
              <a:ext cx="246" cy="310"/>
            </a:xfrm>
            <a:prstGeom prst="rect">
              <a:avLst/>
            </a:prstGeom>
            <a:noFill/>
            <a:ln w="9525">
              <a:noFill/>
              <a:miter lim="800000"/>
            </a:ln>
          </p:spPr>
          <p:txBody>
            <a:bodyPr wrap="none">
              <a:spAutoFit/>
            </a:bodyPr>
            <a:lstStyle/>
            <a:p>
              <a:r>
                <a:rPr lang="en-US" altLang="zh-CN" sz="2600">
                  <a:ea typeface="楷体_GB2312"/>
                </a:rPr>
                <a:t>6</a:t>
              </a:r>
            </a:p>
          </p:txBody>
        </p:sp>
        <p:sp>
          <p:nvSpPr>
            <p:cNvPr id="125068" name="Text Box 18"/>
            <p:cNvSpPr txBox="1">
              <a:spLocks noChangeArrowheads="1"/>
            </p:cNvSpPr>
            <p:nvPr/>
          </p:nvSpPr>
          <p:spPr bwMode="auto">
            <a:xfrm>
              <a:off x="378" y="1268"/>
              <a:ext cx="246" cy="310"/>
            </a:xfrm>
            <a:prstGeom prst="rect">
              <a:avLst/>
            </a:prstGeom>
            <a:noFill/>
            <a:ln w="9525">
              <a:noFill/>
              <a:miter lim="800000"/>
            </a:ln>
          </p:spPr>
          <p:txBody>
            <a:bodyPr wrap="none">
              <a:spAutoFit/>
            </a:bodyPr>
            <a:lstStyle/>
            <a:p>
              <a:r>
                <a:rPr lang="en-US" altLang="zh-CN" sz="2600">
                  <a:ea typeface="楷体_GB2312"/>
                </a:rPr>
                <a:t>7</a:t>
              </a:r>
            </a:p>
          </p:txBody>
        </p:sp>
        <p:sp>
          <p:nvSpPr>
            <p:cNvPr id="125069" name="Text Box 19"/>
            <p:cNvSpPr txBox="1">
              <a:spLocks noChangeArrowheads="1"/>
            </p:cNvSpPr>
            <p:nvPr/>
          </p:nvSpPr>
          <p:spPr bwMode="auto">
            <a:xfrm>
              <a:off x="630" y="1032"/>
              <a:ext cx="246" cy="310"/>
            </a:xfrm>
            <a:prstGeom prst="rect">
              <a:avLst/>
            </a:prstGeom>
            <a:noFill/>
            <a:ln w="9525">
              <a:noFill/>
              <a:miter lim="800000"/>
            </a:ln>
          </p:spPr>
          <p:txBody>
            <a:bodyPr wrap="none">
              <a:spAutoFit/>
            </a:bodyPr>
            <a:lstStyle/>
            <a:p>
              <a:r>
                <a:rPr lang="en-US" altLang="zh-CN" sz="2600">
                  <a:ea typeface="楷体_GB2312"/>
                </a:rPr>
                <a:t>8</a:t>
              </a:r>
            </a:p>
          </p:txBody>
        </p:sp>
        <p:sp>
          <p:nvSpPr>
            <p:cNvPr id="125070" name="Line 29"/>
            <p:cNvSpPr>
              <a:spLocks noChangeShapeType="1"/>
            </p:cNvSpPr>
            <p:nvPr/>
          </p:nvSpPr>
          <p:spPr bwMode="auto">
            <a:xfrm flipH="1">
              <a:off x="1169" y="916"/>
              <a:ext cx="167" cy="175"/>
            </a:xfrm>
            <a:prstGeom prst="line">
              <a:avLst/>
            </a:prstGeom>
            <a:noFill/>
            <a:ln w="9525">
              <a:solidFill>
                <a:schemeClr val="tx1"/>
              </a:solidFill>
              <a:round/>
              <a:tailEnd type="stealth" w="lg" len="lg"/>
            </a:ln>
          </p:spPr>
          <p:txBody>
            <a:bodyPr/>
            <a:lstStyle/>
            <a:p>
              <a:endParaRPr lang="zh-CN" altLang="en-US"/>
            </a:p>
          </p:txBody>
        </p:sp>
      </p:grpSp>
      <p:grpSp>
        <p:nvGrpSpPr>
          <p:cNvPr id="5" name="Group 58"/>
          <p:cNvGrpSpPr/>
          <p:nvPr/>
        </p:nvGrpSpPr>
        <p:grpSpPr bwMode="auto">
          <a:xfrm>
            <a:off x="4292601" y="1266826"/>
            <a:ext cx="2424113" cy="2665413"/>
            <a:chOff x="1744" y="798"/>
            <a:chExt cx="1527" cy="1679"/>
          </a:xfrm>
        </p:grpSpPr>
        <p:grpSp>
          <p:nvGrpSpPr>
            <p:cNvPr id="125036" name="Group 32"/>
            <p:cNvGrpSpPr/>
            <p:nvPr/>
          </p:nvGrpSpPr>
          <p:grpSpPr bwMode="auto">
            <a:xfrm>
              <a:off x="1744" y="798"/>
              <a:ext cx="1527" cy="1679"/>
              <a:chOff x="96" y="744"/>
              <a:chExt cx="1527" cy="1679"/>
            </a:xfrm>
          </p:grpSpPr>
          <p:grpSp>
            <p:nvGrpSpPr>
              <p:cNvPr id="125046" name="Group 33"/>
              <p:cNvGrpSpPr/>
              <p:nvPr/>
            </p:nvGrpSpPr>
            <p:grpSpPr bwMode="auto">
              <a:xfrm>
                <a:off x="297" y="1014"/>
                <a:ext cx="1143" cy="1143"/>
                <a:chOff x="864" y="1545"/>
                <a:chExt cx="1143" cy="1143"/>
              </a:xfrm>
            </p:grpSpPr>
            <p:sp>
              <p:nvSpPr>
                <p:cNvPr id="125055" name="Oval 34"/>
                <p:cNvSpPr>
                  <a:spLocks noChangeArrowheads="1"/>
                </p:cNvSpPr>
                <p:nvPr/>
              </p:nvSpPr>
              <p:spPr bwMode="auto">
                <a:xfrm>
                  <a:off x="864" y="1545"/>
                  <a:ext cx="1143" cy="1143"/>
                </a:xfrm>
                <a:prstGeom prst="ellipse">
                  <a:avLst/>
                </a:prstGeom>
                <a:solidFill>
                  <a:srgbClr val="FFFF99"/>
                </a:solidFill>
                <a:ln w="9525">
                  <a:solidFill>
                    <a:schemeClr val="tx1"/>
                  </a:solidFill>
                  <a:round/>
                </a:ln>
              </p:spPr>
              <p:txBody>
                <a:bodyPr wrap="none" anchor="ctr"/>
                <a:lstStyle/>
                <a:p>
                  <a:endParaRPr lang="zh-CN" altLang="en-US">
                    <a:ea typeface="楷体_GB2312"/>
                  </a:endParaRPr>
                </a:p>
              </p:txBody>
            </p:sp>
            <p:sp>
              <p:nvSpPr>
                <p:cNvPr id="125056" name="Line 35"/>
                <p:cNvSpPr>
                  <a:spLocks noChangeShapeType="1"/>
                </p:cNvSpPr>
                <p:nvPr/>
              </p:nvSpPr>
              <p:spPr bwMode="auto">
                <a:xfrm>
                  <a:off x="873" y="2129"/>
                  <a:ext cx="1126" cy="0"/>
                </a:xfrm>
                <a:prstGeom prst="line">
                  <a:avLst/>
                </a:prstGeom>
                <a:noFill/>
                <a:ln w="9525">
                  <a:solidFill>
                    <a:schemeClr val="tx1"/>
                  </a:solidFill>
                  <a:round/>
                </a:ln>
              </p:spPr>
              <p:txBody>
                <a:bodyPr/>
                <a:lstStyle/>
                <a:p>
                  <a:endParaRPr lang="zh-CN" altLang="en-US"/>
                </a:p>
              </p:txBody>
            </p:sp>
            <p:sp>
              <p:nvSpPr>
                <p:cNvPr id="125057" name="Line 36"/>
                <p:cNvSpPr>
                  <a:spLocks noChangeShapeType="1"/>
                </p:cNvSpPr>
                <p:nvPr/>
              </p:nvSpPr>
              <p:spPr bwMode="auto">
                <a:xfrm>
                  <a:off x="1440" y="1545"/>
                  <a:ext cx="0" cy="1126"/>
                </a:xfrm>
                <a:prstGeom prst="line">
                  <a:avLst/>
                </a:prstGeom>
                <a:noFill/>
                <a:ln w="9525">
                  <a:solidFill>
                    <a:schemeClr val="tx1"/>
                  </a:solidFill>
                  <a:round/>
                </a:ln>
              </p:spPr>
              <p:txBody>
                <a:bodyPr/>
                <a:lstStyle/>
                <a:p>
                  <a:endParaRPr lang="zh-CN" altLang="en-US"/>
                </a:p>
              </p:txBody>
            </p:sp>
            <p:sp>
              <p:nvSpPr>
                <p:cNvPr id="125058" name="Line 37"/>
                <p:cNvSpPr>
                  <a:spLocks noChangeShapeType="1"/>
                </p:cNvSpPr>
                <p:nvPr/>
              </p:nvSpPr>
              <p:spPr bwMode="auto">
                <a:xfrm flipH="1">
                  <a:off x="1064" y="1702"/>
                  <a:ext cx="769" cy="847"/>
                </a:xfrm>
                <a:prstGeom prst="line">
                  <a:avLst/>
                </a:prstGeom>
                <a:noFill/>
                <a:ln w="9525">
                  <a:solidFill>
                    <a:schemeClr val="tx1"/>
                  </a:solidFill>
                  <a:round/>
                </a:ln>
              </p:spPr>
              <p:txBody>
                <a:bodyPr/>
                <a:lstStyle/>
                <a:p>
                  <a:endParaRPr lang="zh-CN" altLang="en-US"/>
                </a:p>
              </p:txBody>
            </p:sp>
            <p:sp>
              <p:nvSpPr>
                <p:cNvPr id="125059" name="Line 38"/>
                <p:cNvSpPr>
                  <a:spLocks noChangeShapeType="1"/>
                </p:cNvSpPr>
                <p:nvPr/>
              </p:nvSpPr>
              <p:spPr bwMode="auto">
                <a:xfrm>
                  <a:off x="1064" y="1702"/>
                  <a:ext cx="752" cy="829"/>
                </a:xfrm>
                <a:prstGeom prst="line">
                  <a:avLst/>
                </a:prstGeom>
                <a:noFill/>
                <a:ln w="9525">
                  <a:solidFill>
                    <a:schemeClr val="tx1"/>
                  </a:solidFill>
                  <a:round/>
                </a:ln>
              </p:spPr>
              <p:txBody>
                <a:bodyPr/>
                <a:lstStyle/>
                <a:p>
                  <a:endParaRPr lang="zh-CN" altLang="en-US"/>
                </a:p>
              </p:txBody>
            </p:sp>
            <p:sp>
              <p:nvSpPr>
                <p:cNvPr id="125060" name="Oval 39"/>
                <p:cNvSpPr>
                  <a:spLocks noChangeArrowheads="1"/>
                </p:cNvSpPr>
                <p:nvPr/>
              </p:nvSpPr>
              <p:spPr bwMode="auto">
                <a:xfrm>
                  <a:off x="1135" y="1832"/>
                  <a:ext cx="593" cy="604"/>
                </a:xfrm>
                <a:prstGeom prst="ellipse">
                  <a:avLst/>
                </a:prstGeom>
                <a:solidFill>
                  <a:schemeClr val="bg1"/>
                </a:solidFill>
                <a:ln w="9525">
                  <a:solidFill>
                    <a:schemeClr val="tx1"/>
                  </a:solidFill>
                  <a:round/>
                </a:ln>
              </p:spPr>
              <p:txBody>
                <a:bodyPr wrap="none" anchor="ctr"/>
                <a:lstStyle/>
                <a:p>
                  <a:endParaRPr lang="zh-CN" altLang="en-US">
                    <a:ea typeface="楷体_GB2312"/>
                  </a:endParaRPr>
                </a:p>
              </p:txBody>
            </p:sp>
          </p:grpSp>
          <p:sp>
            <p:nvSpPr>
              <p:cNvPr id="125047" name="Text Box 40"/>
              <p:cNvSpPr txBox="1">
                <a:spLocks noChangeArrowheads="1"/>
              </p:cNvSpPr>
              <p:nvPr/>
            </p:nvSpPr>
            <p:spPr bwMode="auto">
              <a:xfrm>
                <a:off x="857" y="744"/>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0</a:t>
                </a:r>
              </a:p>
            </p:txBody>
          </p:sp>
          <p:sp>
            <p:nvSpPr>
              <p:cNvPr id="125048" name="Text Box 41"/>
              <p:cNvSpPr txBox="1">
                <a:spLocks noChangeArrowheads="1"/>
              </p:cNvSpPr>
              <p:nvPr/>
            </p:nvSpPr>
            <p:spPr bwMode="auto">
              <a:xfrm>
                <a:off x="1320" y="1085"/>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1</a:t>
                </a:r>
              </a:p>
            </p:txBody>
          </p:sp>
          <p:sp>
            <p:nvSpPr>
              <p:cNvPr id="125049" name="Text Box 42"/>
              <p:cNvSpPr txBox="1">
                <a:spLocks noChangeArrowheads="1"/>
              </p:cNvSpPr>
              <p:nvPr/>
            </p:nvSpPr>
            <p:spPr bwMode="auto">
              <a:xfrm>
                <a:off x="1388" y="1590"/>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2</a:t>
                </a:r>
              </a:p>
            </p:txBody>
          </p:sp>
          <p:sp>
            <p:nvSpPr>
              <p:cNvPr id="125050" name="Text Box 43"/>
              <p:cNvSpPr txBox="1">
                <a:spLocks noChangeArrowheads="1"/>
              </p:cNvSpPr>
              <p:nvPr/>
            </p:nvSpPr>
            <p:spPr bwMode="auto">
              <a:xfrm>
                <a:off x="1084" y="202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3</a:t>
                </a:r>
              </a:p>
            </p:txBody>
          </p:sp>
          <p:sp>
            <p:nvSpPr>
              <p:cNvPr id="125051" name="Text Box 44"/>
              <p:cNvSpPr txBox="1">
                <a:spLocks noChangeArrowheads="1"/>
              </p:cNvSpPr>
              <p:nvPr/>
            </p:nvSpPr>
            <p:spPr bwMode="auto">
              <a:xfrm>
                <a:off x="630" y="213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4</a:t>
                </a:r>
              </a:p>
            </p:txBody>
          </p:sp>
          <p:sp>
            <p:nvSpPr>
              <p:cNvPr id="125052" name="Text Box 45"/>
              <p:cNvSpPr txBox="1">
                <a:spLocks noChangeArrowheads="1"/>
              </p:cNvSpPr>
              <p:nvPr/>
            </p:nvSpPr>
            <p:spPr bwMode="auto">
              <a:xfrm>
                <a:off x="237" y="188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5</a:t>
                </a:r>
              </a:p>
            </p:txBody>
          </p:sp>
          <p:sp>
            <p:nvSpPr>
              <p:cNvPr id="125053" name="Text Box 46"/>
              <p:cNvSpPr txBox="1">
                <a:spLocks noChangeArrowheads="1"/>
              </p:cNvSpPr>
              <p:nvPr/>
            </p:nvSpPr>
            <p:spPr bwMode="auto">
              <a:xfrm>
                <a:off x="96" y="1321"/>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6</a:t>
                </a:r>
              </a:p>
            </p:txBody>
          </p:sp>
          <p:sp>
            <p:nvSpPr>
              <p:cNvPr id="125054" name="Text Box 47"/>
              <p:cNvSpPr txBox="1">
                <a:spLocks noChangeArrowheads="1"/>
              </p:cNvSpPr>
              <p:nvPr/>
            </p:nvSpPr>
            <p:spPr bwMode="auto">
              <a:xfrm>
                <a:off x="365" y="90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7</a:t>
                </a:r>
              </a:p>
            </p:txBody>
          </p:sp>
        </p:grpSp>
        <p:sp>
          <p:nvSpPr>
            <p:cNvPr id="125037" name="Text Box 48"/>
            <p:cNvSpPr txBox="1">
              <a:spLocks noChangeArrowheads="1"/>
            </p:cNvSpPr>
            <p:nvPr/>
          </p:nvSpPr>
          <p:spPr bwMode="auto">
            <a:xfrm>
              <a:off x="2549" y="1087"/>
              <a:ext cx="246" cy="310"/>
            </a:xfrm>
            <a:prstGeom prst="rect">
              <a:avLst/>
            </a:prstGeom>
            <a:noFill/>
            <a:ln w="9525">
              <a:noFill/>
              <a:miter lim="800000"/>
            </a:ln>
          </p:spPr>
          <p:txBody>
            <a:bodyPr wrap="none">
              <a:spAutoFit/>
            </a:bodyPr>
            <a:lstStyle/>
            <a:p>
              <a:r>
                <a:rPr lang="en-US" altLang="zh-CN" sz="2600">
                  <a:ea typeface="楷体_GB2312"/>
                </a:rPr>
                <a:t>1</a:t>
              </a:r>
            </a:p>
          </p:txBody>
        </p:sp>
        <p:sp>
          <p:nvSpPr>
            <p:cNvPr id="125038" name="Text Box 49"/>
            <p:cNvSpPr txBox="1">
              <a:spLocks noChangeArrowheads="1"/>
            </p:cNvSpPr>
            <p:nvPr/>
          </p:nvSpPr>
          <p:spPr bwMode="auto">
            <a:xfrm>
              <a:off x="2802" y="1331"/>
              <a:ext cx="246" cy="310"/>
            </a:xfrm>
            <a:prstGeom prst="rect">
              <a:avLst/>
            </a:prstGeom>
            <a:noFill/>
            <a:ln w="9525">
              <a:noFill/>
              <a:miter lim="800000"/>
            </a:ln>
          </p:spPr>
          <p:txBody>
            <a:bodyPr wrap="none">
              <a:spAutoFit/>
            </a:bodyPr>
            <a:lstStyle/>
            <a:p>
              <a:r>
                <a:rPr lang="en-US" altLang="zh-CN" sz="2600">
                  <a:ea typeface="楷体_GB2312"/>
                </a:rPr>
                <a:t>2</a:t>
              </a:r>
            </a:p>
          </p:txBody>
        </p:sp>
        <p:sp>
          <p:nvSpPr>
            <p:cNvPr id="125039" name="Text Box 50"/>
            <p:cNvSpPr txBox="1">
              <a:spLocks noChangeArrowheads="1"/>
            </p:cNvSpPr>
            <p:nvPr/>
          </p:nvSpPr>
          <p:spPr bwMode="auto">
            <a:xfrm>
              <a:off x="2793" y="1662"/>
              <a:ext cx="246" cy="310"/>
            </a:xfrm>
            <a:prstGeom prst="rect">
              <a:avLst/>
            </a:prstGeom>
            <a:noFill/>
            <a:ln w="9525">
              <a:noFill/>
              <a:miter lim="800000"/>
            </a:ln>
          </p:spPr>
          <p:txBody>
            <a:bodyPr wrap="none">
              <a:spAutoFit/>
            </a:bodyPr>
            <a:lstStyle/>
            <a:p>
              <a:r>
                <a:rPr lang="en-US" altLang="zh-CN" sz="2600">
                  <a:solidFill>
                    <a:srgbClr val="008000"/>
                  </a:solidFill>
                  <a:ea typeface="楷体_GB2312"/>
                </a:rPr>
                <a:t>3</a:t>
              </a:r>
            </a:p>
          </p:txBody>
        </p:sp>
        <p:sp>
          <p:nvSpPr>
            <p:cNvPr id="125040" name="Text Box 51"/>
            <p:cNvSpPr txBox="1">
              <a:spLocks noChangeArrowheads="1"/>
            </p:cNvSpPr>
            <p:nvPr/>
          </p:nvSpPr>
          <p:spPr bwMode="auto">
            <a:xfrm>
              <a:off x="2566" y="1879"/>
              <a:ext cx="246" cy="310"/>
            </a:xfrm>
            <a:prstGeom prst="rect">
              <a:avLst/>
            </a:prstGeom>
            <a:noFill/>
            <a:ln w="9525">
              <a:noFill/>
              <a:miter lim="800000"/>
            </a:ln>
          </p:spPr>
          <p:txBody>
            <a:bodyPr wrap="none">
              <a:spAutoFit/>
            </a:bodyPr>
            <a:lstStyle/>
            <a:p>
              <a:r>
                <a:rPr lang="en-US" altLang="zh-CN" sz="2600">
                  <a:ea typeface="楷体_GB2312"/>
                </a:rPr>
                <a:t>4</a:t>
              </a:r>
            </a:p>
          </p:txBody>
        </p:sp>
        <p:sp>
          <p:nvSpPr>
            <p:cNvPr id="125041" name="Text Box 52"/>
            <p:cNvSpPr txBox="1">
              <a:spLocks noChangeArrowheads="1"/>
            </p:cNvSpPr>
            <p:nvPr/>
          </p:nvSpPr>
          <p:spPr bwMode="auto">
            <a:xfrm>
              <a:off x="2261" y="1898"/>
              <a:ext cx="246" cy="310"/>
            </a:xfrm>
            <a:prstGeom prst="rect">
              <a:avLst/>
            </a:prstGeom>
            <a:noFill/>
            <a:ln w="9525">
              <a:noFill/>
              <a:miter lim="800000"/>
            </a:ln>
          </p:spPr>
          <p:txBody>
            <a:bodyPr wrap="none">
              <a:spAutoFit/>
            </a:bodyPr>
            <a:lstStyle/>
            <a:p>
              <a:r>
                <a:rPr lang="en-US" altLang="zh-CN" sz="2600">
                  <a:ea typeface="楷体_GB2312"/>
                </a:rPr>
                <a:t>5</a:t>
              </a:r>
            </a:p>
          </p:txBody>
        </p:sp>
        <p:sp>
          <p:nvSpPr>
            <p:cNvPr id="125042" name="Text Box 53"/>
            <p:cNvSpPr txBox="1">
              <a:spLocks noChangeArrowheads="1"/>
            </p:cNvSpPr>
            <p:nvPr/>
          </p:nvSpPr>
          <p:spPr bwMode="auto">
            <a:xfrm>
              <a:off x="2016" y="1662"/>
              <a:ext cx="246" cy="310"/>
            </a:xfrm>
            <a:prstGeom prst="rect">
              <a:avLst/>
            </a:prstGeom>
            <a:noFill/>
            <a:ln w="9525">
              <a:noFill/>
              <a:miter lim="800000"/>
            </a:ln>
          </p:spPr>
          <p:txBody>
            <a:bodyPr wrap="none">
              <a:spAutoFit/>
            </a:bodyPr>
            <a:lstStyle/>
            <a:p>
              <a:r>
                <a:rPr lang="en-US" altLang="zh-CN" sz="2600">
                  <a:ea typeface="楷体_GB2312"/>
                </a:rPr>
                <a:t>6</a:t>
              </a:r>
            </a:p>
          </p:txBody>
        </p:sp>
        <p:sp>
          <p:nvSpPr>
            <p:cNvPr id="125043" name="Text Box 54"/>
            <p:cNvSpPr txBox="1">
              <a:spLocks noChangeArrowheads="1"/>
            </p:cNvSpPr>
            <p:nvPr/>
          </p:nvSpPr>
          <p:spPr bwMode="auto">
            <a:xfrm>
              <a:off x="2026" y="1322"/>
              <a:ext cx="246" cy="310"/>
            </a:xfrm>
            <a:prstGeom prst="rect">
              <a:avLst/>
            </a:prstGeom>
            <a:noFill/>
            <a:ln w="9525">
              <a:noFill/>
              <a:miter lim="800000"/>
            </a:ln>
          </p:spPr>
          <p:txBody>
            <a:bodyPr wrap="none">
              <a:spAutoFit/>
            </a:bodyPr>
            <a:lstStyle/>
            <a:p>
              <a:r>
                <a:rPr lang="en-US" altLang="zh-CN" sz="2600">
                  <a:ea typeface="楷体_GB2312"/>
                </a:rPr>
                <a:t>7</a:t>
              </a:r>
            </a:p>
          </p:txBody>
        </p:sp>
        <p:sp>
          <p:nvSpPr>
            <p:cNvPr id="125044" name="Text Box 55"/>
            <p:cNvSpPr txBox="1">
              <a:spLocks noChangeArrowheads="1"/>
            </p:cNvSpPr>
            <p:nvPr/>
          </p:nvSpPr>
          <p:spPr bwMode="auto">
            <a:xfrm>
              <a:off x="2278" y="1086"/>
              <a:ext cx="246" cy="310"/>
            </a:xfrm>
            <a:prstGeom prst="rect">
              <a:avLst/>
            </a:prstGeom>
            <a:noFill/>
            <a:ln w="9525">
              <a:noFill/>
              <a:miter lim="800000"/>
            </a:ln>
          </p:spPr>
          <p:txBody>
            <a:bodyPr wrap="none">
              <a:spAutoFit/>
            </a:bodyPr>
            <a:lstStyle/>
            <a:p>
              <a:r>
                <a:rPr lang="en-US" altLang="zh-CN" sz="2600">
                  <a:ea typeface="楷体_GB2312"/>
                </a:rPr>
                <a:t>8</a:t>
              </a:r>
            </a:p>
          </p:txBody>
        </p:sp>
        <p:sp>
          <p:nvSpPr>
            <p:cNvPr id="125045" name="Line 56"/>
            <p:cNvSpPr>
              <a:spLocks noChangeShapeType="1"/>
            </p:cNvSpPr>
            <p:nvPr/>
          </p:nvSpPr>
          <p:spPr bwMode="auto">
            <a:xfrm flipH="1" flipV="1">
              <a:off x="3009" y="1931"/>
              <a:ext cx="184" cy="139"/>
            </a:xfrm>
            <a:prstGeom prst="line">
              <a:avLst/>
            </a:prstGeom>
            <a:noFill/>
            <a:ln w="9525">
              <a:solidFill>
                <a:schemeClr val="tx1"/>
              </a:solidFill>
              <a:round/>
              <a:tailEnd type="stealth" w="lg" len="lg"/>
            </a:ln>
          </p:spPr>
          <p:txBody>
            <a:bodyPr/>
            <a:lstStyle/>
            <a:p>
              <a:endParaRPr lang="zh-CN" altLang="en-US"/>
            </a:p>
          </p:txBody>
        </p:sp>
      </p:grpSp>
      <p:grpSp>
        <p:nvGrpSpPr>
          <p:cNvPr id="8" name="Group 85"/>
          <p:cNvGrpSpPr/>
          <p:nvPr/>
        </p:nvGrpSpPr>
        <p:grpSpPr bwMode="auto">
          <a:xfrm>
            <a:off x="6716713" y="1265239"/>
            <a:ext cx="2424112" cy="2665413"/>
            <a:chOff x="3271" y="797"/>
            <a:chExt cx="1527" cy="1679"/>
          </a:xfrm>
        </p:grpSpPr>
        <p:grpSp>
          <p:nvGrpSpPr>
            <p:cNvPr id="125011" name="Group 60"/>
            <p:cNvGrpSpPr/>
            <p:nvPr/>
          </p:nvGrpSpPr>
          <p:grpSpPr bwMode="auto">
            <a:xfrm>
              <a:off x="3271" y="797"/>
              <a:ext cx="1527" cy="1679"/>
              <a:chOff x="96" y="744"/>
              <a:chExt cx="1527" cy="1679"/>
            </a:xfrm>
          </p:grpSpPr>
          <p:grpSp>
            <p:nvGrpSpPr>
              <p:cNvPr id="125021" name="Group 61"/>
              <p:cNvGrpSpPr/>
              <p:nvPr/>
            </p:nvGrpSpPr>
            <p:grpSpPr bwMode="auto">
              <a:xfrm>
                <a:off x="297" y="1014"/>
                <a:ext cx="1143" cy="1143"/>
                <a:chOff x="864" y="1545"/>
                <a:chExt cx="1143" cy="1143"/>
              </a:xfrm>
            </p:grpSpPr>
            <p:sp>
              <p:nvSpPr>
                <p:cNvPr id="125030" name="Oval 62"/>
                <p:cNvSpPr>
                  <a:spLocks noChangeArrowheads="1"/>
                </p:cNvSpPr>
                <p:nvPr/>
              </p:nvSpPr>
              <p:spPr bwMode="auto">
                <a:xfrm>
                  <a:off x="864" y="1545"/>
                  <a:ext cx="1143" cy="1143"/>
                </a:xfrm>
                <a:prstGeom prst="ellipse">
                  <a:avLst/>
                </a:prstGeom>
                <a:solidFill>
                  <a:srgbClr val="FFFF99"/>
                </a:solidFill>
                <a:ln w="9525">
                  <a:solidFill>
                    <a:schemeClr val="tx1"/>
                  </a:solidFill>
                  <a:round/>
                </a:ln>
              </p:spPr>
              <p:txBody>
                <a:bodyPr wrap="none" anchor="ctr"/>
                <a:lstStyle/>
                <a:p>
                  <a:endParaRPr lang="zh-CN" altLang="en-US">
                    <a:ea typeface="楷体_GB2312"/>
                  </a:endParaRPr>
                </a:p>
              </p:txBody>
            </p:sp>
            <p:sp>
              <p:nvSpPr>
                <p:cNvPr id="125031" name="Line 63"/>
                <p:cNvSpPr>
                  <a:spLocks noChangeShapeType="1"/>
                </p:cNvSpPr>
                <p:nvPr/>
              </p:nvSpPr>
              <p:spPr bwMode="auto">
                <a:xfrm>
                  <a:off x="873" y="2129"/>
                  <a:ext cx="1126" cy="0"/>
                </a:xfrm>
                <a:prstGeom prst="line">
                  <a:avLst/>
                </a:prstGeom>
                <a:noFill/>
                <a:ln w="9525">
                  <a:solidFill>
                    <a:schemeClr val="tx1"/>
                  </a:solidFill>
                  <a:round/>
                </a:ln>
              </p:spPr>
              <p:txBody>
                <a:bodyPr/>
                <a:lstStyle/>
                <a:p>
                  <a:endParaRPr lang="zh-CN" altLang="en-US"/>
                </a:p>
              </p:txBody>
            </p:sp>
            <p:sp>
              <p:nvSpPr>
                <p:cNvPr id="125032" name="Line 64"/>
                <p:cNvSpPr>
                  <a:spLocks noChangeShapeType="1"/>
                </p:cNvSpPr>
                <p:nvPr/>
              </p:nvSpPr>
              <p:spPr bwMode="auto">
                <a:xfrm>
                  <a:off x="1440" y="1545"/>
                  <a:ext cx="0" cy="1126"/>
                </a:xfrm>
                <a:prstGeom prst="line">
                  <a:avLst/>
                </a:prstGeom>
                <a:noFill/>
                <a:ln w="9525">
                  <a:solidFill>
                    <a:schemeClr val="tx1"/>
                  </a:solidFill>
                  <a:round/>
                </a:ln>
              </p:spPr>
              <p:txBody>
                <a:bodyPr/>
                <a:lstStyle/>
                <a:p>
                  <a:endParaRPr lang="zh-CN" altLang="en-US"/>
                </a:p>
              </p:txBody>
            </p:sp>
            <p:sp>
              <p:nvSpPr>
                <p:cNvPr id="125033" name="Line 65"/>
                <p:cNvSpPr>
                  <a:spLocks noChangeShapeType="1"/>
                </p:cNvSpPr>
                <p:nvPr/>
              </p:nvSpPr>
              <p:spPr bwMode="auto">
                <a:xfrm flipH="1">
                  <a:off x="1064" y="1702"/>
                  <a:ext cx="769" cy="847"/>
                </a:xfrm>
                <a:prstGeom prst="line">
                  <a:avLst/>
                </a:prstGeom>
                <a:noFill/>
                <a:ln w="9525">
                  <a:solidFill>
                    <a:schemeClr val="tx1"/>
                  </a:solidFill>
                  <a:round/>
                </a:ln>
              </p:spPr>
              <p:txBody>
                <a:bodyPr/>
                <a:lstStyle/>
                <a:p>
                  <a:endParaRPr lang="zh-CN" altLang="en-US"/>
                </a:p>
              </p:txBody>
            </p:sp>
            <p:sp>
              <p:nvSpPr>
                <p:cNvPr id="125034" name="Line 66"/>
                <p:cNvSpPr>
                  <a:spLocks noChangeShapeType="1"/>
                </p:cNvSpPr>
                <p:nvPr/>
              </p:nvSpPr>
              <p:spPr bwMode="auto">
                <a:xfrm>
                  <a:off x="1064" y="1702"/>
                  <a:ext cx="752" cy="829"/>
                </a:xfrm>
                <a:prstGeom prst="line">
                  <a:avLst/>
                </a:prstGeom>
                <a:noFill/>
                <a:ln w="9525">
                  <a:solidFill>
                    <a:schemeClr val="tx1"/>
                  </a:solidFill>
                  <a:round/>
                </a:ln>
              </p:spPr>
              <p:txBody>
                <a:bodyPr/>
                <a:lstStyle/>
                <a:p>
                  <a:endParaRPr lang="zh-CN" altLang="en-US"/>
                </a:p>
              </p:txBody>
            </p:sp>
            <p:sp>
              <p:nvSpPr>
                <p:cNvPr id="125035" name="Oval 67"/>
                <p:cNvSpPr>
                  <a:spLocks noChangeArrowheads="1"/>
                </p:cNvSpPr>
                <p:nvPr/>
              </p:nvSpPr>
              <p:spPr bwMode="auto">
                <a:xfrm>
                  <a:off x="1135" y="1832"/>
                  <a:ext cx="593" cy="604"/>
                </a:xfrm>
                <a:prstGeom prst="ellipse">
                  <a:avLst/>
                </a:prstGeom>
                <a:solidFill>
                  <a:schemeClr val="bg1"/>
                </a:solidFill>
                <a:ln w="9525">
                  <a:solidFill>
                    <a:schemeClr val="tx1"/>
                  </a:solidFill>
                  <a:round/>
                </a:ln>
              </p:spPr>
              <p:txBody>
                <a:bodyPr wrap="none" anchor="ctr"/>
                <a:lstStyle/>
                <a:p>
                  <a:endParaRPr lang="zh-CN" altLang="en-US">
                    <a:ea typeface="楷体_GB2312"/>
                  </a:endParaRPr>
                </a:p>
              </p:txBody>
            </p:sp>
          </p:grpSp>
          <p:sp>
            <p:nvSpPr>
              <p:cNvPr id="125022" name="Text Box 68"/>
              <p:cNvSpPr txBox="1">
                <a:spLocks noChangeArrowheads="1"/>
              </p:cNvSpPr>
              <p:nvPr/>
            </p:nvSpPr>
            <p:spPr bwMode="auto">
              <a:xfrm>
                <a:off x="857" y="744"/>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0</a:t>
                </a:r>
              </a:p>
            </p:txBody>
          </p:sp>
          <p:sp>
            <p:nvSpPr>
              <p:cNvPr id="125023" name="Text Box 69"/>
              <p:cNvSpPr txBox="1">
                <a:spLocks noChangeArrowheads="1"/>
              </p:cNvSpPr>
              <p:nvPr/>
            </p:nvSpPr>
            <p:spPr bwMode="auto">
              <a:xfrm>
                <a:off x="1320" y="1085"/>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1</a:t>
                </a:r>
              </a:p>
            </p:txBody>
          </p:sp>
          <p:sp>
            <p:nvSpPr>
              <p:cNvPr id="125024" name="Text Box 70"/>
              <p:cNvSpPr txBox="1">
                <a:spLocks noChangeArrowheads="1"/>
              </p:cNvSpPr>
              <p:nvPr/>
            </p:nvSpPr>
            <p:spPr bwMode="auto">
              <a:xfrm>
                <a:off x="1388" y="1590"/>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2</a:t>
                </a:r>
              </a:p>
            </p:txBody>
          </p:sp>
          <p:sp>
            <p:nvSpPr>
              <p:cNvPr id="125025" name="Text Box 71"/>
              <p:cNvSpPr txBox="1">
                <a:spLocks noChangeArrowheads="1"/>
              </p:cNvSpPr>
              <p:nvPr/>
            </p:nvSpPr>
            <p:spPr bwMode="auto">
              <a:xfrm>
                <a:off x="1084" y="202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3</a:t>
                </a:r>
              </a:p>
            </p:txBody>
          </p:sp>
          <p:sp>
            <p:nvSpPr>
              <p:cNvPr id="125026" name="Text Box 72"/>
              <p:cNvSpPr txBox="1">
                <a:spLocks noChangeArrowheads="1"/>
              </p:cNvSpPr>
              <p:nvPr/>
            </p:nvSpPr>
            <p:spPr bwMode="auto">
              <a:xfrm>
                <a:off x="630" y="213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4</a:t>
                </a:r>
              </a:p>
            </p:txBody>
          </p:sp>
          <p:sp>
            <p:nvSpPr>
              <p:cNvPr id="125027" name="Text Box 73"/>
              <p:cNvSpPr txBox="1">
                <a:spLocks noChangeArrowheads="1"/>
              </p:cNvSpPr>
              <p:nvPr/>
            </p:nvSpPr>
            <p:spPr bwMode="auto">
              <a:xfrm>
                <a:off x="237" y="188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5</a:t>
                </a:r>
              </a:p>
            </p:txBody>
          </p:sp>
          <p:sp>
            <p:nvSpPr>
              <p:cNvPr id="125028" name="Text Box 74"/>
              <p:cNvSpPr txBox="1">
                <a:spLocks noChangeArrowheads="1"/>
              </p:cNvSpPr>
              <p:nvPr/>
            </p:nvSpPr>
            <p:spPr bwMode="auto">
              <a:xfrm>
                <a:off x="96" y="1321"/>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6</a:t>
                </a:r>
              </a:p>
            </p:txBody>
          </p:sp>
          <p:sp>
            <p:nvSpPr>
              <p:cNvPr id="125029" name="Text Box 75"/>
              <p:cNvSpPr txBox="1">
                <a:spLocks noChangeArrowheads="1"/>
              </p:cNvSpPr>
              <p:nvPr/>
            </p:nvSpPr>
            <p:spPr bwMode="auto">
              <a:xfrm>
                <a:off x="365" y="90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7</a:t>
                </a:r>
              </a:p>
            </p:txBody>
          </p:sp>
        </p:grpSp>
        <p:sp>
          <p:nvSpPr>
            <p:cNvPr id="125012" name="Text Box 76"/>
            <p:cNvSpPr txBox="1">
              <a:spLocks noChangeArrowheads="1"/>
            </p:cNvSpPr>
            <p:nvPr/>
          </p:nvSpPr>
          <p:spPr bwMode="auto">
            <a:xfrm>
              <a:off x="4076" y="1086"/>
              <a:ext cx="246" cy="310"/>
            </a:xfrm>
            <a:prstGeom prst="rect">
              <a:avLst/>
            </a:prstGeom>
            <a:noFill/>
            <a:ln w="9525">
              <a:noFill/>
              <a:miter lim="800000"/>
            </a:ln>
          </p:spPr>
          <p:txBody>
            <a:bodyPr wrap="none">
              <a:spAutoFit/>
            </a:bodyPr>
            <a:lstStyle/>
            <a:p>
              <a:r>
                <a:rPr lang="en-US" altLang="zh-CN" sz="2600">
                  <a:ea typeface="楷体_GB2312"/>
                </a:rPr>
                <a:t>1</a:t>
              </a:r>
            </a:p>
          </p:txBody>
        </p:sp>
        <p:sp>
          <p:nvSpPr>
            <p:cNvPr id="125013" name="Text Box 77"/>
            <p:cNvSpPr txBox="1">
              <a:spLocks noChangeArrowheads="1"/>
            </p:cNvSpPr>
            <p:nvPr/>
          </p:nvSpPr>
          <p:spPr bwMode="auto">
            <a:xfrm>
              <a:off x="4329" y="1330"/>
              <a:ext cx="246" cy="310"/>
            </a:xfrm>
            <a:prstGeom prst="rect">
              <a:avLst/>
            </a:prstGeom>
            <a:noFill/>
            <a:ln w="9525">
              <a:noFill/>
              <a:miter lim="800000"/>
            </a:ln>
          </p:spPr>
          <p:txBody>
            <a:bodyPr wrap="none">
              <a:spAutoFit/>
            </a:bodyPr>
            <a:lstStyle/>
            <a:p>
              <a:r>
                <a:rPr lang="en-US" altLang="zh-CN" sz="2600">
                  <a:ea typeface="楷体_GB2312"/>
                </a:rPr>
                <a:t>2</a:t>
              </a:r>
            </a:p>
          </p:txBody>
        </p:sp>
        <p:sp>
          <p:nvSpPr>
            <p:cNvPr id="291918" name="Text Box 78"/>
            <p:cNvSpPr txBox="1">
              <a:spLocks noChangeArrowheads="1"/>
            </p:cNvSpPr>
            <p:nvPr/>
          </p:nvSpPr>
          <p:spPr bwMode="auto">
            <a:xfrm>
              <a:off x="4320" y="1661"/>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3</a:t>
              </a:r>
            </a:p>
          </p:txBody>
        </p:sp>
        <p:sp>
          <p:nvSpPr>
            <p:cNvPr id="125015" name="Text Box 79"/>
            <p:cNvSpPr txBox="1">
              <a:spLocks noChangeArrowheads="1"/>
            </p:cNvSpPr>
            <p:nvPr/>
          </p:nvSpPr>
          <p:spPr bwMode="auto">
            <a:xfrm>
              <a:off x="4093" y="1878"/>
              <a:ext cx="246" cy="310"/>
            </a:xfrm>
            <a:prstGeom prst="rect">
              <a:avLst/>
            </a:prstGeom>
            <a:noFill/>
            <a:ln w="9525">
              <a:noFill/>
              <a:miter lim="800000"/>
            </a:ln>
          </p:spPr>
          <p:txBody>
            <a:bodyPr wrap="none">
              <a:spAutoFit/>
            </a:bodyPr>
            <a:lstStyle/>
            <a:p>
              <a:r>
                <a:rPr lang="en-US" altLang="zh-CN" sz="2600">
                  <a:ea typeface="楷体_GB2312"/>
                </a:rPr>
                <a:t>4</a:t>
              </a:r>
            </a:p>
          </p:txBody>
        </p:sp>
        <p:sp>
          <p:nvSpPr>
            <p:cNvPr id="125016" name="Text Box 80"/>
            <p:cNvSpPr txBox="1">
              <a:spLocks noChangeArrowheads="1"/>
            </p:cNvSpPr>
            <p:nvPr/>
          </p:nvSpPr>
          <p:spPr bwMode="auto">
            <a:xfrm>
              <a:off x="3788" y="1897"/>
              <a:ext cx="246" cy="310"/>
            </a:xfrm>
            <a:prstGeom prst="rect">
              <a:avLst/>
            </a:prstGeom>
            <a:noFill/>
            <a:ln w="9525">
              <a:noFill/>
              <a:miter lim="800000"/>
            </a:ln>
          </p:spPr>
          <p:txBody>
            <a:bodyPr wrap="none">
              <a:spAutoFit/>
            </a:bodyPr>
            <a:lstStyle/>
            <a:p>
              <a:r>
                <a:rPr lang="en-US" altLang="zh-CN" sz="2600">
                  <a:ea typeface="楷体_GB2312"/>
                </a:rPr>
                <a:t>5</a:t>
              </a:r>
            </a:p>
          </p:txBody>
        </p:sp>
        <p:sp>
          <p:nvSpPr>
            <p:cNvPr id="125017" name="Text Box 81"/>
            <p:cNvSpPr txBox="1">
              <a:spLocks noChangeArrowheads="1"/>
            </p:cNvSpPr>
            <p:nvPr/>
          </p:nvSpPr>
          <p:spPr bwMode="auto">
            <a:xfrm>
              <a:off x="3543" y="1661"/>
              <a:ext cx="246" cy="310"/>
            </a:xfrm>
            <a:prstGeom prst="rect">
              <a:avLst/>
            </a:prstGeom>
            <a:noFill/>
            <a:ln w="9525">
              <a:noFill/>
              <a:miter lim="800000"/>
            </a:ln>
          </p:spPr>
          <p:txBody>
            <a:bodyPr wrap="none">
              <a:spAutoFit/>
            </a:bodyPr>
            <a:lstStyle/>
            <a:p>
              <a:r>
                <a:rPr lang="en-US" altLang="zh-CN" sz="2600">
                  <a:solidFill>
                    <a:srgbClr val="008000"/>
                  </a:solidFill>
                  <a:ea typeface="楷体_GB2312"/>
                </a:rPr>
                <a:t>6</a:t>
              </a:r>
            </a:p>
          </p:txBody>
        </p:sp>
        <p:sp>
          <p:nvSpPr>
            <p:cNvPr id="125018" name="Text Box 82"/>
            <p:cNvSpPr txBox="1">
              <a:spLocks noChangeArrowheads="1"/>
            </p:cNvSpPr>
            <p:nvPr/>
          </p:nvSpPr>
          <p:spPr bwMode="auto">
            <a:xfrm>
              <a:off x="3553" y="1321"/>
              <a:ext cx="246" cy="310"/>
            </a:xfrm>
            <a:prstGeom prst="rect">
              <a:avLst/>
            </a:prstGeom>
            <a:noFill/>
            <a:ln w="9525">
              <a:noFill/>
              <a:miter lim="800000"/>
            </a:ln>
          </p:spPr>
          <p:txBody>
            <a:bodyPr wrap="none">
              <a:spAutoFit/>
            </a:bodyPr>
            <a:lstStyle/>
            <a:p>
              <a:r>
                <a:rPr lang="en-US" altLang="zh-CN" sz="2600">
                  <a:ea typeface="楷体_GB2312"/>
                </a:rPr>
                <a:t>7</a:t>
              </a:r>
            </a:p>
          </p:txBody>
        </p:sp>
        <p:sp>
          <p:nvSpPr>
            <p:cNvPr id="125019" name="Text Box 83"/>
            <p:cNvSpPr txBox="1">
              <a:spLocks noChangeArrowheads="1"/>
            </p:cNvSpPr>
            <p:nvPr/>
          </p:nvSpPr>
          <p:spPr bwMode="auto">
            <a:xfrm>
              <a:off x="3805" y="1085"/>
              <a:ext cx="246" cy="310"/>
            </a:xfrm>
            <a:prstGeom prst="rect">
              <a:avLst/>
            </a:prstGeom>
            <a:noFill/>
            <a:ln w="9525">
              <a:noFill/>
              <a:miter lim="800000"/>
            </a:ln>
          </p:spPr>
          <p:txBody>
            <a:bodyPr wrap="none">
              <a:spAutoFit/>
            </a:bodyPr>
            <a:lstStyle/>
            <a:p>
              <a:r>
                <a:rPr lang="en-US" altLang="zh-CN" sz="2600">
                  <a:ea typeface="楷体_GB2312"/>
                </a:rPr>
                <a:t>8</a:t>
              </a:r>
            </a:p>
          </p:txBody>
        </p:sp>
        <p:sp>
          <p:nvSpPr>
            <p:cNvPr id="125020" name="Line 84"/>
            <p:cNvSpPr>
              <a:spLocks noChangeShapeType="1"/>
            </p:cNvSpPr>
            <p:nvPr/>
          </p:nvSpPr>
          <p:spPr bwMode="auto">
            <a:xfrm flipV="1">
              <a:off x="3359" y="1878"/>
              <a:ext cx="173" cy="130"/>
            </a:xfrm>
            <a:prstGeom prst="line">
              <a:avLst/>
            </a:prstGeom>
            <a:noFill/>
            <a:ln w="9525">
              <a:solidFill>
                <a:schemeClr val="tx1"/>
              </a:solidFill>
              <a:round/>
              <a:tailEnd type="stealth" w="lg" len="lg"/>
            </a:ln>
          </p:spPr>
          <p:txBody>
            <a:bodyPr/>
            <a:lstStyle/>
            <a:p>
              <a:endParaRPr lang="zh-CN" altLang="en-US"/>
            </a:p>
          </p:txBody>
        </p:sp>
      </p:grpSp>
      <p:grpSp>
        <p:nvGrpSpPr>
          <p:cNvPr id="11" name="Group 112"/>
          <p:cNvGrpSpPr/>
          <p:nvPr/>
        </p:nvGrpSpPr>
        <p:grpSpPr bwMode="auto">
          <a:xfrm>
            <a:off x="2862263" y="3716340"/>
            <a:ext cx="2424112" cy="2665413"/>
            <a:chOff x="843" y="2341"/>
            <a:chExt cx="1527" cy="1679"/>
          </a:xfrm>
        </p:grpSpPr>
        <p:grpSp>
          <p:nvGrpSpPr>
            <p:cNvPr id="124986" name="Group 87"/>
            <p:cNvGrpSpPr/>
            <p:nvPr/>
          </p:nvGrpSpPr>
          <p:grpSpPr bwMode="auto">
            <a:xfrm>
              <a:off x="843" y="2341"/>
              <a:ext cx="1527" cy="1679"/>
              <a:chOff x="96" y="744"/>
              <a:chExt cx="1527" cy="1679"/>
            </a:xfrm>
          </p:grpSpPr>
          <p:grpSp>
            <p:nvGrpSpPr>
              <p:cNvPr id="124996" name="Group 88"/>
              <p:cNvGrpSpPr/>
              <p:nvPr/>
            </p:nvGrpSpPr>
            <p:grpSpPr bwMode="auto">
              <a:xfrm>
                <a:off x="297" y="1014"/>
                <a:ext cx="1143" cy="1143"/>
                <a:chOff x="864" y="1545"/>
                <a:chExt cx="1143" cy="1143"/>
              </a:xfrm>
            </p:grpSpPr>
            <p:sp>
              <p:nvSpPr>
                <p:cNvPr id="125005" name="Oval 89"/>
                <p:cNvSpPr>
                  <a:spLocks noChangeArrowheads="1"/>
                </p:cNvSpPr>
                <p:nvPr/>
              </p:nvSpPr>
              <p:spPr bwMode="auto">
                <a:xfrm>
                  <a:off x="864" y="1545"/>
                  <a:ext cx="1143" cy="1143"/>
                </a:xfrm>
                <a:prstGeom prst="ellipse">
                  <a:avLst/>
                </a:prstGeom>
                <a:solidFill>
                  <a:srgbClr val="FFFF99"/>
                </a:solidFill>
                <a:ln w="9525">
                  <a:solidFill>
                    <a:schemeClr val="tx1"/>
                  </a:solidFill>
                  <a:round/>
                </a:ln>
              </p:spPr>
              <p:txBody>
                <a:bodyPr wrap="none" anchor="ctr"/>
                <a:lstStyle/>
                <a:p>
                  <a:endParaRPr lang="zh-CN" altLang="en-US">
                    <a:ea typeface="楷体_GB2312"/>
                  </a:endParaRPr>
                </a:p>
              </p:txBody>
            </p:sp>
            <p:sp>
              <p:nvSpPr>
                <p:cNvPr id="125006" name="Line 90"/>
                <p:cNvSpPr>
                  <a:spLocks noChangeShapeType="1"/>
                </p:cNvSpPr>
                <p:nvPr/>
              </p:nvSpPr>
              <p:spPr bwMode="auto">
                <a:xfrm>
                  <a:off x="873" y="2129"/>
                  <a:ext cx="1126" cy="0"/>
                </a:xfrm>
                <a:prstGeom prst="line">
                  <a:avLst/>
                </a:prstGeom>
                <a:noFill/>
                <a:ln w="9525">
                  <a:solidFill>
                    <a:schemeClr val="tx1"/>
                  </a:solidFill>
                  <a:round/>
                </a:ln>
              </p:spPr>
              <p:txBody>
                <a:bodyPr/>
                <a:lstStyle/>
                <a:p>
                  <a:endParaRPr lang="zh-CN" altLang="en-US"/>
                </a:p>
              </p:txBody>
            </p:sp>
            <p:sp>
              <p:nvSpPr>
                <p:cNvPr id="125007" name="Line 91"/>
                <p:cNvSpPr>
                  <a:spLocks noChangeShapeType="1"/>
                </p:cNvSpPr>
                <p:nvPr/>
              </p:nvSpPr>
              <p:spPr bwMode="auto">
                <a:xfrm>
                  <a:off x="1440" y="1545"/>
                  <a:ext cx="0" cy="1126"/>
                </a:xfrm>
                <a:prstGeom prst="line">
                  <a:avLst/>
                </a:prstGeom>
                <a:noFill/>
                <a:ln w="9525">
                  <a:solidFill>
                    <a:schemeClr val="tx1"/>
                  </a:solidFill>
                  <a:round/>
                </a:ln>
              </p:spPr>
              <p:txBody>
                <a:bodyPr/>
                <a:lstStyle/>
                <a:p>
                  <a:endParaRPr lang="zh-CN" altLang="en-US"/>
                </a:p>
              </p:txBody>
            </p:sp>
            <p:sp>
              <p:nvSpPr>
                <p:cNvPr id="125008" name="Line 92"/>
                <p:cNvSpPr>
                  <a:spLocks noChangeShapeType="1"/>
                </p:cNvSpPr>
                <p:nvPr/>
              </p:nvSpPr>
              <p:spPr bwMode="auto">
                <a:xfrm flipH="1">
                  <a:off x="1064" y="1702"/>
                  <a:ext cx="769" cy="847"/>
                </a:xfrm>
                <a:prstGeom prst="line">
                  <a:avLst/>
                </a:prstGeom>
                <a:noFill/>
                <a:ln w="9525">
                  <a:solidFill>
                    <a:schemeClr val="tx1"/>
                  </a:solidFill>
                  <a:round/>
                </a:ln>
              </p:spPr>
              <p:txBody>
                <a:bodyPr/>
                <a:lstStyle/>
                <a:p>
                  <a:endParaRPr lang="zh-CN" altLang="en-US"/>
                </a:p>
              </p:txBody>
            </p:sp>
            <p:sp>
              <p:nvSpPr>
                <p:cNvPr id="125009" name="Line 93"/>
                <p:cNvSpPr>
                  <a:spLocks noChangeShapeType="1"/>
                </p:cNvSpPr>
                <p:nvPr/>
              </p:nvSpPr>
              <p:spPr bwMode="auto">
                <a:xfrm>
                  <a:off x="1064" y="1702"/>
                  <a:ext cx="752" cy="829"/>
                </a:xfrm>
                <a:prstGeom prst="line">
                  <a:avLst/>
                </a:prstGeom>
                <a:noFill/>
                <a:ln w="9525">
                  <a:solidFill>
                    <a:schemeClr val="tx1"/>
                  </a:solidFill>
                  <a:round/>
                </a:ln>
              </p:spPr>
              <p:txBody>
                <a:bodyPr/>
                <a:lstStyle/>
                <a:p>
                  <a:endParaRPr lang="zh-CN" altLang="en-US"/>
                </a:p>
              </p:txBody>
            </p:sp>
            <p:sp>
              <p:nvSpPr>
                <p:cNvPr id="125010" name="Oval 94"/>
                <p:cNvSpPr>
                  <a:spLocks noChangeArrowheads="1"/>
                </p:cNvSpPr>
                <p:nvPr/>
              </p:nvSpPr>
              <p:spPr bwMode="auto">
                <a:xfrm>
                  <a:off x="1135" y="1832"/>
                  <a:ext cx="593" cy="604"/>
                </a:xfrm>
                <a:prstGeom prst="ellipse">
                  <a:avLst/>
                </a:prstGeom>
                <a:solidFill>
                  <a:schemeClr val="bg1"/>
                </a:solidFill>
                <a:ln w="9525">
                  <a:solidFill>
                    <a:schemeClr val="tx1"/>
                  </a:solidFill>
                  <a:round/>
                </a:ln>
              </p:spPr>
              <p:txBody>
                <a:bodyPr wrap="none" anchor="ctr"/>
                <a:lstStyle/>
                <a:p>
                  <a:endParaRPr lang="zh-CN" altLang="en-US">
                    <a:ea typeface="楷体_GB2312"/>
                  </a:endParaRPr>
                </a:p>
              </p:txBody>
            </p:sp>
          </p:grpSp>
          <p:sp>
            <p:nvSpPr>
              <p:cNvPr id="124997" name="Text Box 95"/>
              <p:cNvSpPr txBox="1">
                <a:spLocks noChangeArrowheads="1"/>
              </p:cNvSpPr>
              <p:nvPr/>
            </p:nvSpPr>
            <p:spPr bwMode="auto">
              <a:xfrm>
                <a:off x="857" y="744"/>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0</a:t>
                </a:r>
              </a:p>
            </p:txBody>
          </p:sp>
          <p:sp>
            <p:nvSpPr>
              <p:cNvPr id="124998" name="Text Box 96"/>
              <p:cNvSpPr txBox="1">
                <a:spLocks noChangeArrowheads="1"/>
              </p:cNvSpPr>
              <p:nvPr/>
            </p:nvSpPr>
            <p:spPr bwMode="auto">
              <a:xfrm>
                <a:off x="1320" y="1085"/>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1</a:t>
                </a:r>
              </a:p>
            </p:txBody>
          </p:sp>
          <p:sp>
            <p:nvSpPr>
              <p:cNvPr id="124999" name="Text Box 97"/>
              <p:cNvSpPr txBox="1">
                <a:spLocks noChangeArrowheads="1"/>
              </p:cNvSpPr>
              <p:nvPr/>
            </p:nvSpPr>
            <p:spPr bwMode="auto">
              <a:xfrm>
                <a:off x="1388" y="1590"/>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2</a:t>
                </a:r>
              </a:p>
            </p:txBody>
          </p:sp>
          <p:sp>
            <p:nvSpPr>
              <p:cNvPr id="125000" name="Text Box 98"/>
              <p:cNvSpPr txBox="1">
                <a:spLocks noChangeArrowheads="1"/>
              </p:cNvSpPr>
              <p:nvPr/>
            </p:nvSpPr>
            <p:spPr bwMode="auto">
              <a:xfrm>
                <a:off x="1084" y="202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3</a:t>
                </a:r>
              </a:p>
            </p:txBody>
          </p:sp>
          <p:sp>
            <p:nvSpPr>
              <p:cNvPr id="125001" name="Text Box 99"/>
              <p:cNvSpPr txBox="1">
                <a:spLocks noChangeArrowheads="1"/>
              </p:cNvSpPr>
              <p:nvPr/>
            </p:nvSpPr>
            <p:spPr bwMode="auto">
              <a:xfrm>
                <a:off x="630" y="213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4</a:t>
                </a:r>
              </a:p>
            </p:txBody>
          </p:sp>
          <p:sp>
            <p:nvSpPr>
              <p:cNvPr id="125002" name="Text Box 100"/>
              <p:cNvSpPr txBox="1">
                <a:spLocks noChangeArrowheads="1"/>
              </p:cNvSpPr>
              <p:nvPr/>
            </p:nvSpPr>
            <p:spPr bwMode="auto">
              <a:xfrm>
                <a:off x="237" y="188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5</a:t>
                </a:r>
              </a:p>
            </p:txBody>
          </p:sp>
          <p:sp>
            <p:nvSpPr>
              <p:cNvPr id="125003" name="Text Box 101"/>
              <p:cNvSpPr txBox="1">
                <a:spLocks noChangeArrowheads="1"/>
              </p:cNvSpPr>
              <p:nvPr/>
            </p:nvSpPr>
            <p:spPr bwMode="auto">
              <a:xfrm>
                <a:off x="96" y="1321"/>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6</a:t>
                </a:r>
              </a:p>
            </p:txBody>
          </p:sp>
          <p:sp>
            <p:nvSpPr>
              <p:cNvPr id="125004" name="Text Box 102"/>
              <p:cNvSpPr txBox="1">
                <a:spLocks noChangeArrowheads="1"/>
              </p:cNvSpPr>
              <p:nvPr/>
            </p:nvSpPr>
            <p:spPr bwMode="auto">
              <a:xfrm>
                <a:off x="365" y="90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7</a:t>
                </a:r>
              </a:p>
            </p:txBody>
          </p:sp>
        </p:grpSp>
        <p:sp>
          <p:nvSpPr>
            <p:cNvPr id="124987" name="Text Box 103"/>
            <p:cNvSpPr txBox="1">
              <a:spLocks noChangeArrowheads="1"/>
            </p:cNvSpPr>
            <p:nvPr/>
          </p:nvSpPr>
          <p:spPr bwMode="auto">
            <a:xfrm>
              <a:off x="1648" y="2630"/>
              <a:ext cx="246" cy="310"/>
            </a:xfrm>
            <a:prstGeom prst="rect">
              <a:avLst/>
            </a:prstGeom>
            <a:noFill/>
            <a:ln w="9525">
              <a:noFill/>
              <a:miter lim="800000"/>
            </a:ln>
          </p:spPr>
          <p:txBody>
            <a:bodyPr wrap="none">
              <a:spAutoFit/>
            </a:bodyPr>
            <a:lstStyle/>
            <a:p>
              <a:r>
                <a:rPr lang="en-US" altLang="zh-CN" sz="2600">
                  <a:solidFill>
                    <a:srgbClr val="008000"/>
                  </a:solidFill>
                  <a:ea typeface="楷体_GB2312"/>
                </a:rPr>
                <a:t>1</a:t>
              </a:r>
            </a:p>
          </p:txBody>
        </p:sp>
        <p:sp>
          <p:nvSpPr>
            <p:cNvPr id="124988" name="Text Box 104"/>
            <p:cNvSpPr txBox="1">
              <a:spLocks noChangeArrowheads="1"/>
            </p:cNvSpPr>
            <p:nvPr/>
          </p:nvSpPr>
          <p:spPr bwMode="auto">
            <a:xfrm>
              <a:off x="1901" y="2874"/>
              <a:ext cx="246" cy="310"/>
            </a:xfrm>
            <a:prstGeom prst="rect">
              <a:avLst/>
            </a:prstGeom>
            <a:noFill/>
            <a:ln w="9525">
              <a:noFill/>
              <a:miter lim="800000"/>
            </a:ln>
          </p:spPr>
          <p:txBody>
            <a:bodyPr wrap="none">
              <a:spAutoFit/>
            </a:bodyPr>
            <a:lstStyle/>
            <a:p>
              <a:r>
                <a:rPr lang="en-US" altLang="zh-CN" sz="2600">
                  <a:ea typeface="楷体_GB2312"/>
                </a:rPr>
                <a:t>2</a:t>
              </a:r>
            </a:p>
          </p:txBody>
        </p:sp>
        <p:sp>
          <p:nvSpPr>
            <p:cNvPr id="291945" name="Text Box 105"/>
            <p:cNvSpPr txBox="1">
              <a:spLocks noChangeArrowheads="1"/>
            </p:cNvSpPr>
            <p:nvPr/>
          </p:nvSpPr>
          <p:spPr bwMode="auto">
            <a:xfrm>
              <a:off x="1892" y="3205"/>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3</a:t>
              </a:r>
            </a:p>
          </p:txBody>
        </p:sp>
        <p:sp>
          <p:nvSpPr>
            <p:cNvPr id="124990" name="Text Box 106"/>
            <p:cNvSpPr txBox="1">
              <a:spLocks noChangeArrowheads="1"/>
            </p:cNvSpPr>
            <p:nvPr/>
          </p:nvSpPr>
          <p:spPr bwMode="auto">
            <a:xfrm>
              <a:off x="1665" y="3422"/>
              <a:ext cx="246" cy="310"/>
            </a:xfrm>
            <a:prstGeom prst="rect">
              <a:avLst/>
            </a:prstGeom>
            <a:noFill/>
            <a:ln w="9525">
              <a:noFill/>
              <a:miter lim="800000"/>
            </a:ln>
          </p:spPr>
          <p:txBody>
            <a:bodyPr wrap="none">
              <a:spAutoFit/>
            </a:bodyPr>
            <a:lstStyle/>
            <a:p>
              <a:r>
                <a:rPr lang="en-US" altLang="zh-CN" sz="2600">
                  <a:ea typeface="楷体_GB2312"/>
                </a:rPr>
                <a:t>4</a:t>
              </a:r>
            </a:p>
          </p:txBody>
        </p:sp>
        <p:sp>
          <p:nvSpPr>
            <p:cNvPr id="124991" name="Text Box 107"/>
            <p:cNvSpPr txBox="1">
              <a:spLocks noChangeArrowheads="1"/>
            </p:cNvSpPr>
            <p:nvPr/>
          </p:nvSpPr>
          <p:spPr bwMode="auto">
            <a:xfrm>
              <a:off x="1360" y="3441"/>
              <a:ext cx="246" cy="310"/>
            </a:xfrm>
            <a:prstGeom prst="rect">
              <a:avLst/>
            </a:prstGeom>
            <a:noFill/>
            <a:ln w="9525">
              <a:noFill/>
              <a:miter lim="800000"/>
            </a:ln>
          </p:spPr>
          <p:txBody>
            <a:bodyPr wrap="none">
              <a:spAutoFit/>
            </a:bodyPr>
            <a:lstStyle/>
            <a:p>
              <a:r>
                <a:rPr lang="en-US" altLang="zh-CN" sz="2600">
                  <a:ea typeface="楷体_GB2312"/>
                </a:rPr>
                <a:t>5</a:t>
              </a:r>
            </a:p>
          </p:txBody>
        </p:sp>
        <p:sp>
          <p:nvSpPr>
            <p:cNvPr id="291948" name="Text Box 108"/>
            <p:cNvSpPr txBox="1">
              <a:spLocks noChangeArrowheads="1"/>
            </p:cNvSpPr>
            <p:nvPr/>
          </p:nvSpPr>
          <p:spPr bwMode="auto">
            <a:xfrm>
              <a:off x="1115" y="3205"/>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6</a:t>
              </a:r>
            </a:p>
          </p:txBody>
        </p:sp>
        <p:sp>
          <p:nvSpPr>
            <p:cNvPr id="124993" name="Text Box 109"/>
            <p:cNvSpPr txBox="1">
              <a:spLocks noChangeArrowheads="1"/>
            </p:cNvSpPr>
            <p:nvPr/>
          </p:nvSpPr>
          <p:spPr bwMode="auto">
            <a:xfrm>
              <a:off x="1125" y="2865"/>
              <a:ext cx="246" cy="310"/>
            </a:xfrm>
            <a:prstGeom prst="rect">
              <a:avLst/>
            </a:prstGeom>
            <a:noFill/>
            <a:ln w="9525">
              <a:noFill/>
              <a:miter lim="800000"/>
            </a:ln>
          </p:spPr>
          <p:txBody>
            <a:bodyPr wrap="none">
              <a:spAutoFit/>
            </a:bodyPr>
            <a:lstStyle/>
            <a:p>
              <a:r>
                <a:rPr lang="en-US" altLang="zh-CN" sz="2600">
                  <a:ea typeface="楷体_GB2312"/>
                </a:rPr>
                <a:t>7</a:t>
              </a:r>
            </a:p>
          </p:txBody>
        </p:sp>
        <p:sp>
          <p:nvSpPr>
            <p:cNvPr id="124994" name="Text Box 110"/>
            <p:cNvSpPr txBox="1">
              <a:spLocks noChangeArrowheads="1"/>
            </p:cNvSpPr>
            <p:nvPr/>
          </p:nvSpPr>
          <p:spPr bwMode="auto">
            <a:xfrm>
              <a:off x="1377" y="2629"/>
              <a:ext cx="246" cy="310"/>
            </a:xfrm>
            <a:prstGeom prst="rect">
              <a:avLst/>
            </a:prstGeom>
            <a:noFill/>
            <a:ln w="9525">
              <a:noFill/>
              <a:miter lim="800000"/>
            </a:ln>
          </p:spPr>
          <p:txBody>
            <a:bodyPr wrap="none">
              <a:spAutoFit/>
            </a:bodyPr>
            <a:lstStyle/>
            <a:p>
              <a:r>
                <a:rPr lang="en-US" altLang="zh-CN" sz="2600">
                  <a:ea typeface="楷体_GB2312"/>
                </a:rPr>
                <a:t>8</a:t>
              </a:r>
            </a:p>
          </p:txBody>
        </p:sp>
        <p:sp>
          <p:nvSpPr>
            <p:cNvPr id="124995" name="Line 111"/>
            <p:cNvSpPr>
              <a:spLocks noChangeShapeType="1"/>
            </p:cNvSpPr>
            <p:nvPr/>
          </p:nvSpPr>
          <p:spPr bwMode="auto">
            <a:xfrm flipH="1">
              <a:off x="1845" y="2417"/>
              <a:ext cx="89" cy="228"/>
            </a:xfrm>
            <a:prstGeom prst="line">
              <a:avLst/>
            </a:prstGeom>
            <a:noFill/>
            <a:ln w="9525">
              <a:solidFill>
                <a:schemeClr val="tx1"/>
              </a:solidFill>
              <a:round/>
              <a:tailEnd type="stealth" w="lg" len="lg"/>
            </a:ln>
          </p:spPr>
          <p:txBody>
            <a:bodyPr/>
            <a:lstStyle/>
            <a:p>
              <a:endParaRPr lang="zh-CN" altLang="en-US"/>
            </a:p>
          </p:txBody>
        </p:sp>
      </p:grpSp>
      <p:grpSp>
        <p:nvGrpSpPr>
          <p:cNvPr id="14" name="Group 139"/>
          <p:cNvGrpSpPr/>
          <p:nvPr/>
        </p:nvGrpSpPr>
        <p:grpSpPr bwMode="auto">
          <a:xfrm>
            <a:off x="5318126" y="3714752"/>
            <a:ext cx="2424113" cy="2665413"/>
            <a:chOff x="2390" y="2340"/>
            <a:chExt cx="1527" cy="1679"/>
          </a:xfrm>
        </p:grpSpPr>
        <p:grpSp>
          <p:nvGrpSpPr>
            <p:cNvPr id="124961" name="Group 114"/>
            <p:cNvGrpSpPr/>
            <p:nvPr/>
          </p:nvGrpSpPr>
          <p:grpSpPr bwMode="auto">
            <a:xfrm>
              <a:off x="2390" y="2340"/>
              <a:ext cx="1527" cy="1679"/>
              <a:chOff x="96" y="744"/>
              <a:chExt cx="1527" cy="1679"/>
            </a:xfrm>
          </p:grpSpPr>
          <p:grpSp>
            <p:nvGrpSpPr>
              <p:cNvPr id="124971" name="Group 115"/>
              <p:cNvGrpSpPr/>
              <p:nvPr/>
            </p:nvGrpSpPr>
            <p:grpSpPr bwMode="auto">
              <a:xfrm>
                <a:off x="297" y="1014"/>
                <a:ext cx="1143" cy="1143"/>
                <a:chOff x="864" y="1545"/>
                <a:chExt cx="1143" cy="1143"/>
              </a:xfrm>
            </p:grpSpPr>
            <p:sp>
              <p:nvSpPr>
                <p:cNvPr id="124980" name="Oval 116"/>
                <p:cNvSpPr>
                  <a:spLocks noChangeArrowheads="1"/>
                </p:cNvSpPr>
                <p:nvPr/>
              </p:nvSpPr>
              <p:spPr bwMode="auto">
                <a:xfrm>
                  <a:off x="864" y="1545"/>
                  <a:ext cx="1143" cy="1143"/>
                </a:xfrm>
                <a:prstGeom prst="ellipse">
                  <a:avLst/>
                </a:prstGeom>
                <a:solidFill>
                  <a:srgbClr val="FFFF99"/>
                </a:solidFill>
                <a:ln w="9525">
                  <a:solidFill>
                    <a:schemeClr val="tx1"/>
                  </a:solidFill>
                  <a:round/>
                </a:ln>
              </p:spPr>
              <p:txBody>
                <a:bodyPr wrap="none" anchor="ctr"/>
                <a:lstStyle/>
                <a:p>
                  <a:endParaRPr lang="zh-CN" altLang="en-US">
                    <a:ea typeface="楷体_GB2312"/>
                  </a:endParaRPr>
                </a:p>
              </p:txBody>
            </p:sp>
            <p:sp>
              <p:nvSpPr>
                <p:cNvPr id="124981" name="Line 117"/>
                <p:cNvSpPr>
                  <a:spLocks noChangeShapeType="1"/>
                </p:cNvSpPr>
                <p:nvPr/>
              </p:nvSpPr>
              <p:spPr bwMode="auto">
                <a:xfrm>
                  <a:off x="873" y="2129"/>
                  <a:ext cx="1126" cy="0"/>
                </a:xfrm>
                <a:prstGeom prst="line">
                  <a:avLst/>
                </a:prstGeom>
                <a:noFill/>
                <a:ln w="9525">
                  <a:solidFill>
                    <a:schemeClr val="tx1"/>
                  </a:solidFill>
                  <a:round/>
                </a:ln>
              </p:spPr>
              <p:txBody>
                <a:bodyPr/>
                <a:lstStyle/>
                <a:p>
                  <a:endParaRPr lang="zh-CN" altLang="en-US"/>
                </a:p>
              </p:txBody>
            </p:sp>
            <p:sp>
              <p:nvSpPr>
                <p:cNvPr id="124982" name="Line 118"/>
                <p:cNvSpPr>
                  <a:spLocks noChangeShapeType="1"/>
                </p:cNvSpPr>
                <p:nvPr/>
              </p:nvSpPr>
              <p:spPr bwMode="auto">
                <a:xfrm>
                  <a:off x="1440" y="1545"/>
                  <a:ext cx="0" cy="1126"/>
                </a:xfrm>
                <a:prstGeom prst="line">
                  <a:avLst/>
                </a:prstGeom>
                <a:noFill/>
                <a:ln w="9525">
                  <a:solidFill>
                    <a:schemeClr val="tx1"/>
                  </a:solidFill>
                  <a:round/>
                </a:ln>
              </p:spPr>
              <p:txBody>
                <a:bodyPr/>
                <a:lstStyle/>
                <a:p>
                  <a:endParaRPr lang="zh-CN" altLang="en-US"/>
                </a:p>
              </p:txBody>
            </p:sp>
            <p:sp>
              <p:nvSpPr>
                <p:cNvPr id="124983" name="Line 119"/>
                <p:cNvSpPr>
                  <a:spLocks noChangeShapeType="1"/>
                </p:cNvSpPr>
                <p:nvPr/>
              </p:nvSpPr>
              <p:spPr bwMode="auto">
                <a:xfrm flipH="1">
                  <a:off x="1064" y="1702"/>
                  <a:ext cx="769" cy="847"/>
                </a:xfrm>
                <a:prstGeom prst="line">
                  <a:avLst/>
                </a:prstGeom>
                <a:noFill/>
                <a:ln w="9525">
                  <a:solidFill>
                    <a:schemeClr val="tx1"/>
                  </a:solidFill>
                  <a:round/>
                </a:ln>
              </p:spPr>
              <p:txBody>
                <a:bodyPr/>
                <a:lstStyle/>
                <a:p>
                  <a:endParaRPr lang="zh-CN" altLang="en-US"/>
                </a:p>
              </p:txBody>
            </p:sp>
            <p:sp>
              <p:nvSpPr>
                <p:cNvPr id="124984" name="Line 120"/>
                <p:cNvSpPr>
                  <a:spLocks noChangeShapeType="1"/>
                </p:cNvSpPr>
                <p:nvPr/>
              </p:nvSpPr>
              <p:spPr bwMode="auto">
                <a:xfrm>
                  <a:off x="1064" y="1702"/>
                  <a:ext cx="752" cy="829"/>
                </a:xfrm>
                <a:prstGeom prst="line">
                  <a:avLst/>
                </a:prstGeom>
                <a:noFill/>
                <a:ln w="9525">
                  <a:solidFill>
                    <a:schemeClr val="tx1"/>
                  </a:solidFill>
                  <a:round/>
                </a:ln>
              </p:spPr>
              <p:txBody>
                <a:bodyPr/>
                <a:lstStyle/>
                <a:p>
                  <a:endParaRPr lang="zh-CN" altLang="en-US"/>
                </a:p>
              </p:txBody>
            </p:sp>
            <p:sp>
              <p:nvSpPr>
                <p:cNvPr id="124985" name="Oval 121"/>
                <p:cNvSpPr>
                  <a:spLocks noChangeArrowheads="1"/>
                </p:cNvSpPr>
                <p:nvPr/>
              </p:nvSpPr>
              <p:spPr bwMode="auto">
                <a:xfrm>
                  <a:off x="1135" y="1832"/>
                  <a:ext cx="593" cy="604"/>
                </a:xfrm>
                <a:prstGeom prst="ellipse">
                  <a:avLst/>
                </a:prstGeom>
                <a:solidFill>
                  <a:schemeClr val="bg1"/>
                </a:solidFill>
                <a:ln w="9525">
                  <a:solidFill>
                    <a:schemeClr val="tx1"/>
                  </a:solidFill>
                  <a:round/>
                </a:ln>
              </p:spPr>
              <p:txBody>
                <a:bodyPr wrap="none" anchor="ctr"/>
                <a:lstStyle/>
                <a:p>
                  <a:endParaRPr lang="zh-CN" altLang="en-US">
                    <a:ea typeface="楷体_GB2312"/>
                  </a:endParaRPr>
                </a:p>
              </p:txBody>
            </p:sp>
          </p:grpSp>
          <p:sp>
            <p:nvSpPr>
              <p:cNvPr id="124972" name="Text Box 122"/>
              <p:cNvSpPr txBox="1">
                <a:spLocks noChangeArrowheads="1"/>
              </p:cNvSpPr>
              <p:nvPr/>
            </p:nvSpPr>
            <p:spPr bwMode="auto">
              <a:xfrm>
                <a:off x="857" y="744"/>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0</a:t>
                </a:r>
              </a:p>
            </p:txBody>
          </p:sp>
          <p:sp>
            <p:nvSpPr>
              <p:cNvPr id="124973" name="Text Box 123"/>
              <p:cNvSpPr txBox="1">
                <a:spLocks noChangeArrowheads="1"/>
              </p:cNvSpPr>
              <p:nvPr/>
            </p:nvSpPr>
            <p:spPr bwMode="auto">
              <a:xfrm>
                <a:off x="1320" y="1085"/>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1</a:t>
                </a:r>
              </a:p>
            </p:txBody>
          </p:sp>
          <p:sp>
            <p:nvSpPr>
              <p:cNvPr id="124974" name="Text Box 124"/>
              <p:cNvSpPr txBox="1">
                <a:spLocks noChangeArrowheads="1"/>
              </p:cNvSpPr>
              <p:nvPr/>
            </p:nvSpPr>
            <p:spPr bwMode="auto">
              <a:xfrm>
                <a:off x="1388" y="1590"/>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2</a:t>
                </a:r>
              </a:p>
            </p:txBody>
          </p:sp>
          <p:sp>
            <p:nvSpPr>
              <p:cNvPr id="124975" name="Text Box 125"/>
              <p:cNvSpPr txBox="1">
                <a:spLocks noChangeArrowheads="1"/>
              </p:cNvSpPr>
              <p:nvPr/>
            </p:nvSpPr>
            <p:spPr bwMode="auto">
              <a:xfrm>
                <a:off x="1084" y="202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3</a:t>
                </a:r>
              </a:p>
            </p:txBody>
          </p:sp>
          <p:sp>
            <p:nvSpPr>
              <p:cNvPr id="124976" name="Text Box 126"/>
              <p:cNvSpPr txBox="1">
                <a:spLocks noChangeArrowheads="1"/>
              </p:cNvSpPr>
              <p:nvPr/>
            </p:nvSpPr>
            <p:spPr bwMode="auto">
              <a:xfrm>
                <a:off x="630" y="213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4</a:t>
                </a:r>
              </a:p>
            </p:txBody>
          </p:sp>
          <p:sp>
            <p:nvSpPr>
              <p:cNvPr id="124977" name="Text Box 127"/>
              <p:cNvSpPr txBox="1">
                <a:spLocks noChangeArrowheads="1"/>
              </p:cNvSpPr>
              <p:nvPr/>
            </p:nvSpPr>
            <p:spPr bwMode="auto">
              <a:xfrm>
                <a:off x="237" y="188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5</a:t>
                </a:r>
              </a:p>
            </p:txBody>
          </p:sp>
          <p:sp>
            <p:nvSpPr>
              <p:cNvPr id="124978" name="Text Box 128"/>
              <p:cNvSpPr txBox="1">
                <a:spLocks noChangeArrowheads="1"/>
              </p:cNvSpPr>
              <p:nvPr/>
            </p:nvSpPr>
            <p:spPr bwMode="auto">
              <a:xfrm>
                <a:off x="96" y="1321"/>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6</a:t>
                </a:r>
              </a:p>
            </p:txBody>
          </p:sp>
          <p:sp>
            <p:nvSpPr>
              <p:cNvPr id="124979" name="Text Box 129"/>
              <p:cNvSpPr txBox="1">
                <a:spLocks noChangeArrowheads="1"/>
              </p:cNvSpPr>
              <p:nvPr/>
            </p:nvSpPr>
            <p:spPr bwMode="auto">
              <a:xfrm>
                <a:off x="365" y="90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7</a:t>
                </a:r>
              </a:p>
            </p:txBody>
          </p:sp>
        </p:grpSp>
        <p:sp>
          <p:nvSpPr>
            <p:cNvPr id="291970" name="Text Box 130"/>
            <p:cNvSpPr txBox="1">
              <a:spLocks noChangeArrowheads="1"/>
            </p:cNvSpPr>
            <p:nvPr/>
          </p:nvSpPr>
          <p:spPr bwMode="auto">
            <a:xfrm>
              <a:off x="3195" y="2629"/>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1</a:t>
              </a:r>
            </a:p>
          </p:txBody>
        </p:sp>
        <p:sp>
          <p:nvSpPr>
            <p:cNvPr id="124963" name="Text Box 131"/>
            <p:cNvSpPr txBox="1">
              <a:spLocks noChangeArrowheads="1"/>
            </p:cNvSpPr>
            <p:nvPr/>
          </p:nvSpPr>
          <p:spPr bwMode="auto">
            <a:xfrm>
              <a:off x="3448" y="2873"/>
              <a:ext cx="246" cy="310"/>
            </a:xfrm>
            <a:prstGeom prst="rect">
              <a:avLst/>
            </a:prstGeom>
            <a:noFill/>
            <a:ln w="9525">
              <a:noFill/>
              <a:miter lim="800000"/>
            </a:ln>
          </p:spPr>
          <p:txBody>
            <a:bodyPr wrap="none">
              <a:spAutoFit/>
            </a:bodyPr>
            <a:lstStyle/>
            <a:p>
              <a:r>
                <a:rPr lang="en-US" altLang="zh-CN" sz="2600">
                  <a:ea typeface="楷体_GB2312"/>
                </a:rPr>
                <a:t>2</a:t>
              </a:r>
            </a:p>
          </p:txBody>
        </p:sp>
        <p:sp>
          <p:nvSpPr>
            <p:cNvPr id="291972" name="Text Box 132"/>
            <p:cNvSpPr txBox="1">
              <a:spLocks noChangeArrowheads="1"/>
            </p:cNvSpPr>
            <p:nvPr/>
          </p:nvSpPr>
          <p:spPr bwMode="auto">
            <a:xfrm>
              <a:off x="3439" y="3204"/>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3</a:t>
              </a:r>
            </a:p>
          </p:txBody>
        </p:sp>
        <p:sp>
          <p:nvSpPr>
            <p:cNvPr id="124965" name="Text Box 133"/>
            <p:cNvSpPr txBox="1">
              <a:spLocks noChangeArrowheads="1"/>
            </p:cNvSpPr>
            <p:nvPr/>
          </p:nvSpPr>
          <p:spPr bwMode="auto">
            <a:xfrm>
              <a:off x="3212" y="3421"/>
              <a:ext cx="246" cy="310"/>
            </a:xfrm>
            <a:prstGeom prst="rect">
              <a:avLst/>
            </a:prstGeom>
            <a:noFill/>
            <a:ln w="9525">
              <a:noFill/>
              <a:miter lim="800000"/>
            </a:ln>
          </p:spPr>
          <p:txBody>
            <a:bodyPr wrap="none">
              <a:spAutoFit/>
            </a:bodyPr>
            <a:lstStyle/>
            <a:p>
              <a:r>
                <a:rPr lang="en-US" altLang="zh-CN" sz="2600">
                  <a:ea typeface="楷体_GB2312"/>
                </a:rPr>
                <a:t>4</a:t>
              </a:r>
            </a:p>
          </p:txBody>
        </p:sp>
        <p:sp>
          <p:nvSpPr>
            <p:cNvPr id="124966" name="Text Box 134"/>
            <p:cNvSpPr txBox="1">
              <a:spLocks noChangeArrowheads="1"/>
            </p:cNvSpPr>
            <p:nvPr/>
          </p:nvSpPr>
          <p:spPr bwMode="auto">
            <a:xfrm>
              <a:off x="2907" y="3440"/>
              <a:ext cx="246" cy="310"/>
            </a:xfrm>
            <a:prstGeom prst="rect">
              <a:avLst/>
            </a:prstGeom>
            <a:noFill/>
            <a:ln w="9525">
              <a:noFill/>
              <a:miter lim="800000"/>
            </a:ln>
          </p:spPr>
          <p:txBody>
            <a:bodyPr wrap="none">
              <a:spAutoFit/>
            </a:bodyPr>
            <a:lstStyle/>
            <a:p>
              <a:r>
                <a:rPr lang="en-US" altLang="zh-CN" sz="2600">
                  <a:solidFill>
                    <a:srgbClr val="008000"/>
                  </a:solidFill>
                  <a:ea typeface="楷体_GB2312"/>
                </a:rPr>
                <a:t>5</a:t>
              </a:r>
            </a:p>
          </p:txBody>
        </p:sp>
        <p:sp>
          <p:nvSpPr>
            <p:cNvPr id="291975" name="Text Box 135"/>
            <p:cNvSpPr txBox="1">
              <a:spLocks noChangeArrowheads="1"/>
            </p:cNvSpPr>
            <p:nvPr/>
          </p:nvSpPr>
          <p:spPr bwMode="auto">
            <a:xfrm>
              <a:off x="2662" y="3204"/>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6</a:t>
              </a:r>
            </a:p>
          </p:txBody>
        </p:sp>
        <p:sp>
          <p:nvSpPr>
            <p:cNvPr id="124968" name="Text Box 136"/>
            <p:cNvSpPr txBox="1">
              <a:spLocks noChangeArrowheads="1"/>
            </p:cNvSpPr>
            <p:nvPr/>
          </p:nvSpPr>
          <p:spPr bwMode="auto">
            <a:xfrm>
              <a:off x="2672" y="2864"/>
              <a:ext cx="246" cy="310"/>
            </a:xfrm>
            <a:prstGeom prst="rect">
              <a:avLst/>
            </a:prstGeom>
            <a:noFill/>
            <a:ln w="9525">
              <a:noFill/>
              <a:miter lim="800000"/>
            </a:ln>
          </p:spPr>
          <p:txBody>
            <a:bodyPr wrap="none">
              <a:spAutoFit/>
            </a:bodyPr>
            <a:lstStyle/>
            <a:p>
              <a:r>
                <a:rPr lang="en-US" altLang="zh-CN" sz="2600">
                  <a:ea typeface="楷体_GB2312"/>
                </a:rPr>
                <a:t>7</a:t>
              </a:r>
            </a:p>
          </p:txBody>
        </p:sp>
        <p:sp>
          <p:nvSpPr>
            <p:cNvPr id="124969" name="Text Box 137"/>
            <p:cNvSpPr txBox="1">
              <a:spLocks noChangeArrowheads="1"/>
            </p:cNvSpPr>
            <p:nvPr/>
          </p:nvSpPr>
          <p:spPr bwMode="auto">
            <a:xfrm>
              <a:off x="2924" y="2628"/>
              <a:ext cx="246" cy="310"/>
            </a:xfrm>
            <a:prstGeom prst="rect">
              <a:avLst/>
            </a:prstGeom>
            <a:noFill/>
            <a:ln w="9525">
              <a:noFill/>
              <a:miter lim="800000"/>
            </a:ln>
          </p:spPr>
          <p:txBody>
            <a:bodyPr wrap="none">
              <a:spAutoFit/>
            </a:bodyPr>
            <a:lstStyle/>
            <a:p>
              <a:r>
                <a:rPr lang="en-US" altLang="zh-CN" sz="2600">
                  <a:ea typeface="楷体_GB2312"/>
                </a:rPr>
                <a:t>8</a:t>
              </a:r>
            </a:p>
          </p:txBody>
        </p:sp>
        <p:sp>
          <p:nvSpPr>
            <p:cNvPr id="124970" name="Line 138"/>
            <p:cNvSpPr>
              <a:spLocks noChangeShapeType="1"/>
            </p:cNvSpPr>
            <p:nvPr/>
          </p:nvSpPr>
          <p:spPr bwMode="auto">
            <a:xfrm flipV="1">
              <a:off x="2749" y="3692"/>
              <a:ext cx="172" cy="199"/>
            </a:xfrm>
            <a:prstGeom prst="line">
              <a:avLst/>
            </a:prstGeom>
            <a:noFill/>
            <a:ln w="9525">
              <a:solidFill>
                <a:schemeClr val="tx1"/>
              </a:solidFill>
              <a:round/>
              <a:tailEnd type="stealth" w="lg" len="lg"/>
            </a:ln>
          </p:spPr>
          <p:txBody>
            <a:bodyPr/>
            <a:lstStyle/>
            <a:p>
              <a:endParaRPr lang="zh-CN" altLang="en-US"/>
            </a:p>
          </p:txBody>
        </p:sp>
      </p:grpSp>
      <p:grpSp>
        <p:nvGrpSpPr>
          <p:cNvPr id="17" name="Group 166"/>
          <p:cNvGrpSpPr/>
          <p:nvPr/>
        </p:nvGrpSpPr>
        <p:grpSpPr bwMode="auto">
          <a:xfrm>
            <a:off x="7780338" y="3703640"/>
            <a:ext cx="2424112" cy="2665413"/>
            <a:chOff x="3941" y="2333"/>
            <a:chExt cx="1527" cy="1679"/>
          </a:xfrm>
        </p:grpSpPr>
        <p:grpSp>
          <p:nvGrpSpPr>
            <p:cNvPr id="124936" name="Group 141"/>
            <p:cNvGrpSpPr/>
            <p:nvPr/>
          </p:nvGrpSpPr>
          <p:grpSpPr bwMode="auto">
            <a:xfrm>
              <a:off x="3941" y="2333"/>
              <a:ext cx="1527" cy="1679"/>
              <a:chOff x="96" y="744"/>
              <a:chExt cx="1527" cy="1679"/>
            </a:xfrm>
          </p:grpSpPr>
          <p:grpSp>
            <p:nvGrpSpPr>
              <p:cNvPr id="124946" name="Group 142"/>
              <p:cNvGrpSpPr/>
              <p:nvPr/>
            </p:nvGrpSpPr>
            <p:grpSpPr bwMode="auto">
              <a:xfrm>
                <a:off x="297" y="1014"/>
                <a:ext cx="1143" cy="1143"/>
                <a:chOff x="864" y="1545"/>
                <a:chExt cx="1143" cy="1143"/>
              </a:xfrm>
            </p:grpSpPr>
            <p:sp>
              <p:nvSpPr>
                <p:cNvPr id="124955" name="Oval 143"/>
                <p:cNvSpPr>
                  <a:spLocks noChangeArrowheads="1"/>
                </p:cNvSpPr>
                <p:nvPr/>
              </p:nvSpPr>
              <p:spPr bwMode="auto">
                <a:xfrm>
                  <a:off x="864" y="1545"/>
                  <a:ext cx="1143" cy="1143"/>
                </a:xfrm>
                <a:prstGeom prst="ellipse">
                  <a:avLst/>
                </a:prstGeom>
                <a:solidFill>
                  <a:srgbClr val="FFFF99"/>
                </a:solidFill>
                <a:ln w="9525">
                  <a:solidFill>
                    <a:schemeClr val="tx1"/>
                  </a:solidFill>
                  <a:round/>
                </a:ln>
              </p:spPr>
              <p:txBody>
                <a:bodyPr wrap="none" anchor="ctr"/>
                <a:lstStyle/>
                <a:p>
                  <a:endParaRPr lang="zh-CN" altLang="en-US">
                    <a:ea typeface="楷体_GB2312"/>
                  </a:endParaRPr>
                </a:p>
              </p:txBody>
            </p:sp>
            <p:sp>
              <p:nvSpPr>
                <p:cNvPr id="124956" name="Line 144"/>
                <p:cNvSpPr>
                  <a:spLocks noChangeShapeType="1"/>
                </p:cNvSpPr>
                <p:nvPr/>
              </p:nvSpPr>
              <p:spPr bwMode="auto">
                <a:xfrm>
                  <a:off x="873" y="2129"/>
                  <a:ext cx="1126" cy="0"/>
                </a:xfrm>
                <a:prstGeom prst="line">
                  <a:avLst/>
                </a:prstGeom>
                <a:noFill/>
                <a:ln w="9525">
                  <a:solidFill>
                    <a:schemeClr val="tx1"/>
                  </a:solidFill>
                  <a:round/>
                </a:ln>
              </p:spPr>
              <p:txBody>
                <a:bodyPr/>
                <a:lstStyle/>
                <a:p>
                  <a:endParaRPr lang="zh-CN" altLang="en-US"/>
                </a:p>
              </p:txBody>
            </p:sp>
            <p:sp>
              <p:nvSpPr>
                <p:cNvPr id="124957" name="Line 145"/>
                <p:cNvSpPr>
                  <a:spLocks noChangeShapeType="1"/>
                </p:cNvSpPr>
                <p:nvPr/>
              </p:nvSpPr>
              <p:spPr bwMode="auto">
                <a:xfrm>
                  <a:off x="1440" y="1545"/>
                  <a:ext cx="0" cy="1126"/>
                </a:xfrm>
                <a:prstGeom prst="line">
                  <a:avLst/>
                </a:prstGeom>
                <a:noFill/>
                <a:ln w="9525">
                  <a:solidFill>
                    <a:schemeClr val="tx1"/>
                  </a:solidFill>
                  <a:round/>
                </a:ln>
              </p:spPr>
              <p:txBody>
                <a:bodyPr/>
                <a:lstStyle/>
                <a:p>
                  <a:endParaRPr lang="zh-CN" altLang="en-US"/>
                </a:p>
              </p:txBody>
            </p:sp>
            <p:sp>
              <p:nvSpPr>
                <p:cNvPr id="124958" name="Line 146"/>
                <p:cNvSpPr>
                  <a:spLocks noChangeShapeType="1"/>
                </p:cNvSpPr>
                <p:nvPr/>
              </p:nvSpPr>
              <p:spPr bwMode="auto">
                <a:xfrm flipH="1">
                  <a:off x="1064" y="1702"/>
                  <a:ext cx="769" cy="847"/>
                </a:xfrm>
                <a:prstGeom prst="line">
                  <a:avLst/>
                </a:prstGeom>
                <a:noFill/>
                <a:ln w="9525">
                  <a:solidFill>
                    <a:schemeClr val="tx1"/>
                  </a:solidFill>
                  <a:round/>
                </a:ln>
              </p:spPr>
              <p:txBody>
                <a:bodyPr/>
                <a:lstStyle/>
                <a:p>
                  <a:endParaRPr lang="zh-CN" altLang="en-US"/>
                </a:p>
              </p:txBody>
            </p:sp>
            <p:sp>
              <p:nvSpPr>
                <p:cNvPr id="124959" name="Line 147"/>
                <p:cNvSpPr>
                  <a:spLocks noChangeShapeType="1"/>
                </p:cNvSpPr>
                <p:nvPr/>
              </p:nvSpPr>
              <p:spPr bwMode="auto">
                <a:xfrm>
                  <a:off x="1064" y="1702"/>
                  <a:ext cx="752" cy="829"/>
                </a:xfrm>
                <a:prstGeom prst="line">
                  <a:avLst/>
                </a:prstGeom>
                <a:noFill/>
                <a:ln w="9525">
                  <a:solidFill>
                    <a:schemeClr val="tx1"/>
                  </a:solidFill>
                  <a:round/>
                </a:ln>
              </p:spPr>
              <p:txBody>
                <a:bodyPr/>
                <a:lstStyle/>
                <a:p>
                  <a:endParaRPr lang="zh-CN" altLang="en-US"/>
                </a:p>
              </p:txBody>
            </p:sp>
            <p:sp>
              <p:nvSpPr>
                <p:cNvPr id="124960" name="Oval 148"/>
                <p:cNvSpPr>
                  <a:spLocks noChangeArrowheads="1"/>
                </p:cNvSpPr>
                <p:nvPr/>
              </p:nvSpPr>
              <p:spPr bwMode="auto">
                <a:xfrm>
                  <a:off x="1135" y="1832"/>
                  <a:ext cx="593" cy="604"/>
                </a:xfrm>
                <a:prstGeom prst="ellipse">
                  <a:avLst/>
                </a:prstGeom>
                <a:solidFill>
                  <a:schemeClr val="bg1"/>
                </a:solidFill>
                <a:ln w="9525">
                  <a:solidFill>
                    <a:schemeClr val="tx1"/>
                  </a:solidFill>
                  <a:round/>
                </a:ln>
              </p:spPr>
              <p:txBody>
                <a:bodyPr wrap="none" anchor="ctr"/>
                <a:lstStyle/>
                <a:p>
                  <a:endParaRPr lang="zh-CN" altLang="en-US">
                    <a:ea typeface="楷体_GB2312"/>
                  </a:endParaRPr>
                </a:p>
              </p:txBody>
            </p:sp>
          </p:grpSp>
          <p:sp>
            <p:nvSpPr>
              <p:cNvPr id="124947" name="Text Box 149"/>
              <p:cNvSpPr txBox="1">
                <a:spLocks noChangeArrowheads="1"/>
              </p:cNvSpPr>
              <p:nvPr/>
            </p:nvSpPr>
            <p:spPr bwMode="auto">
              <a:xfrm>
                <a:off x="857" y="744"/>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0</a:t>
                </a:r>
              </a:p>
            </p:txBody>
          </p:sp>
          <p:sp>
            <p:nvSpPr>
              <p:cNvPr id="124948" name="Text Box 150"/>
              <p:cNvSpPr txBox="1">
                <a:spLocks noChangeArrowheads="1"/>
              </p:cNvSpPr>
              <p:nvPr/>
            </p:nvSpPr>
            <p:spPr bwMode="auto">
              <a:xfrm>
                <a:off x="1320" y="1085"/>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1</a:t>
                </a:r>
              </a:p>
            </p:txBody>
          </p:sp>
          <p:sp>
            <p:nvSpPr>
              <p:cNvPr id="124949" name="Text Box 151"/>
              <p:cNvSpPr txBox="1">
                <a:spLocks noChangeArrowheads="1"/>
              </p:cNvSpPr>
              <p:nvPr/>
            </p:nvSpPr>
            <p:spPr bwMode="auto">
              <a:xfrm>
                <a:off x="1388" y="1590"/>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2</a:t>
                </a:r>
              </a:p>
            </p:txBody>
          </p:sp>
          <p:sp>
            <p:nvSpPr>
              <p:cNvPr id="124950" name="Text Box 152"/>
              <p:cNvSpPr txBox="1">
                <a:spLocks noChangeArrowheads="1"/>
              </p:cNvSpPr>
              <p:nvPr/>
            </p:nvSpPr>
            <p:spPr bwMode="auto">
              <a:xfrm>
                <a:off x="1084" y="202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3</a:t>
                </a:r>
              </a:p>
            </p:txBody>
          </p:sp>
          <p:sp>
            <p:nvSpPr>
              <p:cNvPr id="124951" name="Text Box 153"/>
              <p:cNvSpPr txBox="1">
                <a:spLocks noChangeArrowheads="1"/>
              </p:cNvSpPr>
              <p:nvPr/>
            </p:nvSpPr>
            <p:spPr bwMode="auto">
              <a:xfrm>
                <a:off x="630" y="213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4</a:t>
                </a:r>
              </a:p>
            </p:txBody>
          </p:sp>
          <p:sp>
            <p:nvSpPr>
              <p:cNvPr id="124952" name="Text Box 154"/>
              <p:cNvSpPr txBox="1">
                <a:spLocks noChangeArrowheads="1"/>
              </p:cNvSpPr>
              <p:nvPr/>
            </p:nvSpPr>
            <p:spPr bwMode="auto">
              <a:xfrm>
                <a:off x="237" y="188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5</a:t>
                </a:r>
              </a:p>
            </p:txBody>
          </p:sp>
          <p:sp>
            <p:nvSpPr>
              <p:cNvPr id="124953" name="Text Box 155"/>
              <p:cNvSpPr txBox="1">
                <a:spLocks noChangeArrowheads="1"/>
              </p:cNvSpPr>
              <p:nvPr/>
            </p:nvSpPr>
            <p:spPr bwMode="auto">
              <a:xfrm>
                <a:off x="96" y="1321"/>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6</a:t>
                </a:r>
              </a:p>
            </p:txBody>
          </p:sp>
          <p:sp>
            <p:nvSpPr>
              <p:cNvPr id="124954" name="Text Box 156"/>
              <p:cNvSpPr txBox="1">
                <a:spLocks noChangeArrowheads="1"/>
              </p:cNvSpPr>
              <p:nvPr/>
            </p:nvSpPr>
            <p:spPr bwMode="auto">
              <a:xfrm>
                <a:off x="365" y="90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7</a:t>
                </a:r>
              </a:p>
            </p:txBody>
          </p:sp>
        </p:grpSp>
        <p:sp>
          <p:nvSpPr>
            <p:cNvPr id="291997" name="Text Box 157"/>
            <p:cNvSpPr txBox="1">
              <a:spLocks noChangeArrowheads="1"/>
            </p:cNvSpPr>
            <p:nvPr/>
          </p:nvSpPr>
          <p:spPr bwMode="auto">
            <a:xfrm>
              <a:off x="4746" y="2622"/>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1</a:t>
              </a:r>
            </a:p>
          </p:txBody>
        </p:sp>
        <p:sp>
          <p:nvSpPr>
            <p:cNvPr id="124938" name="Text Box 158"/>
            <p:cNvSpPr txBox="1">
              <a:spLocks noChangeArrowheads="1"/>
            </p:cNvSpPr>
            <p:nvPr/>
          </p:nvSpPr>
          <p:spPr bwMode="auto">
            <a:xfrm>
              <a:off x="4999" y="2866"/>
              <a:ext cx="246" cy="310"/>
            </a:xfrm>
            <a:prstGeom prst="rect">
              <a:avLst/>
            </a:prstGeom>
            <a:noFill/>
            <a:ln w="9525">
              <a:noFill/>
              <a:miter lim="800000"/>
            </a:ln>
          </p:spPr>
          <p:txBody>
            <a:bodyPr wrap="none">
              <a:spAutoFit/>
            </a:bodyPr>
            <a:lstStyle/>
            <a:p>
              <a:r>
                <a:rPr lang="en-US" altLang="zh-CN" sz="2600">
                  <a:solidFill>
                    <a:srgbClr val="008000"/>
                  </a:solidFill>
                  <a:ea typeface="楷体_GB2312"/>
                </a:rPr>
                <a:t>2</a:t>
              </a:r>
            </a:p>
          </p:txBody>
        </p:sp>
        <p:sp>
          <p:nvSpPr>
            <p:cNvPr id="291999" name="Text Box 159"/>
            <p:cNvSpPr txBox="1">
              <a:spLocks noChangeArrowheads="1"/>
            </p:cNvSpPr>
            <p:nvPr/>
          </p:nvSpPr>
          <p:spPr bwMode="auto">
            <a:xfrm>
              <a:off x="4990" y="3197"/>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3</a:t>
              </a:r>
            </a:p>
          </p:txBody>
        </p:sp>
        <p:sp>
          <p:nvSpPr>
            <p:cNvPr id="124940" name="Text Box 160"/>
            <p:cNvSpPr txBox="1">
              <a:spLocks noChangeArrowheads="1"/>
            </p:cNvSpPr>
            <p:nvPr/>
          </p:nvSpPr>
          <p:spPr bwMode="auto">
            <a:xfrm>
              <a:off x="4763" y="3414"/>
              <a:ext cx="246" cy="310"/>
            </a:xfrm>
            <a:prstGeom prst="rect">
              <a:avLst/>
            </a:prstGeom>
            <a:noFill/>
            <a:ln w="9525">
              <a:noFill/>
              <a:miter lim="800000"/>
            </a:ln>
          </p:spPr>
          <p:txBody>
            <a:bodyPr wrap="none">
              <a:spAutoFit/>
            </a:bodyPr>
            <a:lstStyle/>
            <a:p>
              <a:r>
                <a:rPr lang="en-US" altLang="zh-CN" sz="2600">
                  <a:ea typeface="楷体_GB2312"/>
                </a:rPr>
                <a:t>4</a:t>
              </a:r>
            </a:p>
          </p:txBody>
        </p:sp>
        <p:sp>
          <p:nvSpPr>
            <p:cNvPr id="292001" name="Text Box 161"/>
            <p:cNvSpPr txBox="1">
              <a:spLocks noChangeArrowheads="1"/>
            </p:cNvSpPr>
            <p:nvPr/>
          </p:nvSpPr>
          <p:spPr bwMode="auto">
            <a:xfrm>
              <a:off x="4458" y="3433"/>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5</a:t>
              </a:r>
            </a:p>
          </p:txBody>
        </p:sp>
        <p:sp>
          <p:nvSpPr>
            <p:cNvPr id="292002" name="Text Box 162"/>
            <p:cNvSpPr txBox="1">
              <a:spLocks noChangeArrowheads="1"/>
            </p:cNvSpPr>
            <p:nvPr/>
          </p:nvSpPr>
          <p:spPr bwMode="auto">
            <a:xfrm>
              <a:off x="4213" y="3197"/>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6</a:t>
              </a:r>
            </a:p>
          </p:txBody>
        </p:sp>
        <p:sp>
          <p:nvSpPr>
            <p:cNvPr id="124943" name="Text Box 163"/>
            <p:cNvSpPr txBox="1">
              <a:spLocks noChangeArrowheads="1"/>
            </p:cNvSpPr>
            <p:nvPr/>
          </p:nvSpPr>
          <p:spPr bwMode="auto">
            <a:xfrm>
              <a:off x="4223" y="2857"/>
              <a:ext cx="246" cy="310"/>
            </a:xfrm>
            <a:prstGeom prst="rect">
              <a:avLst/>
            </a:prstGeom>
            <a:noFill/>
            <a:ln w="9525">
              <a:noFill/>
              <a:miter lim="800000"/>
            </a:ln>
          </p:spPr>
          <p:txBody>
            <a:bodyPr wrap="none">
              <a:spAutoFit/>
            </a:bodyPr>
            <a:lstStyle/>
            <a:p>
              <a:r>
                <a:rPr lang="en-US" altLang="zh-CN" sz="2600">
                  <a:ea typeface="楷体_GB2312"/>
                </a:rPr>
                <a:t>7</a:t>
              </a:r>
            </a:p>
          </p:txBody>
        </p:sp>
        <p:sp>
          <p:nvSpPr>
            <p:cNvPr id="124944" name="Text Box 164"/>
            <p:cNvSpPr txBox="1">
              <a:spLocks noChangeArrowheads="1"/>
            </p:cNvSpPr>
            <p:nvPr/>
          </p:nvSpPr>
          <p:spPr bwMode="auto">
            <a:xfrm>
              <a:off x="4475" y="2621"/>
              <a:ext cx="246" cy="310"/>
            </a:xfrm>
            <a:prstGeom prst="rect">
              <a:avLst/>
            </a:prstGeom>
            <a:noFill/>
            <a:ln w="9525">
              <a:noFill/>
              <a:miter lim="800000"/>
            </a:ln>
          </p:spPr>
          <p:txBody>
            <a:bodyPr wrap="none">
              <a:spAutoFit/>
            </a:bodyPr>
            <a:lstStyle/>
            <a:p>
              <a:r>
                <a:rPr lang="en-US" altLang="zh-CN" sz="2600">
                  <a:ea typeface="楷体_GB2312"/>
                </a:rPr>
                <a:t>8</a:t>
              </a:r>
            </a:p>
          </p:txBody>
        </p:sp>
        <p:sp>
          <p:nvSpPr>
            <p:cNvPr id="124945" name="Line 165"/>
            <p:cNvSpPr>
              <a:spLocks noChangeShapeType="1"/>
            </p:cNvSpPr>
            <p:nvPr/>
          </p:nvSpPr>
          <p:spPr bwMode="auto">
            <a:xfrm flipH="1">
              <a:off x="5258" y="2872"/>
              <a:ext cx="204" cy="115"/>
            </a:xfrm>
            <a:prstGeom prst="line">
              <a:avLst/>
            </a:prstGeom>
            <a:noFill/>
            <a:ln w="9525">
              <a:solidFill>
                <a:schemeClr val="tx1"/>
              </a:solidFill>
              <a:round/>
              <a:tailEnd type="stealth" w="lg" len="lg"/>
            </a:ln>
          </p:spPr>
          <p:txBody>
            <a:bodyPr/>
            <a:lstStyle/>
            <a:p>
              <a:endParaRPr lang="zh-CN" altLang="en-US"/>
            </a:p>
          </p:txBody>
        </p:sp>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p:cNvSpPr>
            <a:spLocks noGrp="1" noChangeArrowheads="1"/>
          </p:cNvSpPr>
          <p:nvPr>
            <p:ph idx="1"/>
          </p:nvPr>
        </p:nvSpPr>
        <p:spPr>
          <a:xfrm>
            <a:off x="4929189" y="3292475"/>
            <a:ext cx="2613025" cy="685800"/>
          </a:xfrm>
        </p:spPr>
        <p:txBody>
          <a:bodyPr/>
          <a:lstStyle/>
          <a:p>
            <a:pPr eaLnBrk="1" hangingPunct="1">
              <a:lnSpc>
                <a:spcPct val="90000"/>
              </a:lnSpc>
              <a:buFont typeface="Wingdings" panose="05000000000000000000" pitchFamily="2" charset="2"/>
              <a:buNone/>
            </a:pPr>
            <a:r>
              <a:rPr lang="en-US" altLang="zh-CN" i="1">
                <a:solidFill>
                  <a:srgbClr val="0000CC"/>
                </a:solidFill>
                <a:ea typeface="仿宋_GB2312"/>
                <a:cs typeface="仿宋_GB2312"/>
              </a:rPr>
              <a:t>n </a:t>
            </a:r>
            <a:r>
              <a:rPr lang="en-US" altLang="zh-CN">
                <a:solidFill>
                  <a:srgbClr val="0000CC"/>
                </a:solidFill>
                <a:ea typeface="仿宋_GB2312"/>
                <a:cs typeface="仿宋_GB2312"/>
              </a:rPr>
              <a:t>= 8   </a:t>
            </a:r>
            <a:r>
              <a:rPr lang="en-US" altLang="zh-CN" i="1">
                <a:solidFill>
                  <a:srgbClr val="0000CC"/>
                </a:solidFill>
                <a:ea typeface="仿宋_GB2312"/>
                <a:cs typeface="仿宋_GB2312"/>
              </a:rPr>
              <a:t>m</a:t>
            </a:r>
            <a:r>
              <a:rPr lang="en-US" altLang="zh-CN">
                <a:solidFill>
                  <a:srgbClr val="0000CC"/>
                </a:solidFill>
                <a:ea typeface="仿宋_GB2312"/>
                <a:cs typeface="仿宋_GB2312"/>
              </a:rPr>
              <a:t> = 3</a:t>
            </a:r>
          </a:p>
        </p:txBody>
      </p:sp>
      <p:sp>
        <p:nvSpPr>
          <p:cNvPr id="125954" name="灯片编号占位符 4"/>
          <p:cNvSpPr>
            <a:spLocks noGrp="1"/>
          </p:cNvSpPr>
          <p:nvPr>
            <p:ph type="sldNum" sz="quarter" idx="12"/>
          </p:nvPr>
        </p:nvSpPr>
        <p:spPr bwMode="auto">
          <a:xfrm>
            <a:off x="8534400" y="6200775"/>
            <a:ext cx="2133600" cy="457200"/>
          </a:xfrm>
          <a:prstGeom prst="rect">
            <a:avLst/>
          </a:prstGeom>
          <a:noFill/>
          <a:ln>
            <a:miter lim="800000"/>
          </a:ln>
        </p:spPr>
        <p:txBody>
          <a:bodyPr/>
          <a:lstStyle/>
          <a:p>
            <a:fld id="{D4DE955D-A541-4601-BF04-1B8543FBB144}" type="slidenum">
              <a:rPr lang="en-US" altLang="zh-CN">
                <a:ea typeface="楷体_GB2312"/>
              </a:rPr>
              <a:t>79</a:t>
            </a:fld>
            <a:endParaRPr lang="en-US" altLang="zh-CN">
              <a:ea typeface="楷体_GB2312"/>
            </a:endParaRPr>
          </a:p>
        </p:txBody>
      </p:sp>
      <p:grpSp>
        <p:nvGrpSpPr>
          <p:cNvPr id="2" name="Group 187"/>
          <p:cNvGrpSpPr/>
          <p:nvPr/>
        </p:nvGrpSpPr>
        <p:grpSpPr bwMode="auto">
          <a:xfrm>
            <a:off x="2249488" y="657226"/>
            <a:ext cx="2424112" cy="2665413"/>
            <a:chOff x="349" y="405"/>
            <a:chExt cx="1527" cy="1679"/>
          </a:xfrm>
        </p:grpSpPr>
        <p:grpSp>
          <p:nvGrpSpPr>
            <p:cNvPr id="126008" name="Group 162"/>
            <p:cNvGrpSpPr/>
            <p:nvPr/>
          </p:nvGrpSpPr>
          <p:grpSpPr bwMode="auto">
            <a:xfrm>
              <a:off x="349" y="405"/>
              <a:ext cx="1527" cy="1679"/>
              <a:chOff x="96" y="744"/>
              <a:chExt cx="1527" cy="1679"/>
            </a:xfrm>
          </p:grpSpPr>
          <p:grpSp>
            <p:nvGrpSpPr>
              <p:cNvPr id="126018" name="Group 163"/>
              <p:cNvGrpSpPr/>
              <p:nvPr/>
            </p:nvGrpSpPr>
            <p:grpSpPr bwMode="auto">
              <a:xfrm>
                <a:off x="297" y="1014"/>
                <a:ext cx="1143" cy="1143"/>
                <a:chOff x="864" y="1545"/>
                <a:chExt cx="1143" cy="1143"/>
              </a:xfrm>
            </p:grpSpPr>
            <p:sp>
              <p:nvSpPr>
                <p:cNvPr id="126027" name="Oval 164"/>
                <p:cNvSpPr>
                  <a:spLocks noChangeArrowheads="1"/>
                </p:cNvSpPr>
                <p:nvPr/>
              </p:nvSpPr>
              <p:spPr bwMode="auto">
                <a:xfrm>
                  <a:off x="864" y="1545"/>
                  <a:ext cx="1143" cy="1143"/>
                </a:xfrm>
                <a:prstGeom prst="ellipse">
                  <a:avLst/>
                </a:prstGeom>
                <a:solidFill>
                  <a:srgbClr val="FFFF99"/>
                </a:solidFill>
                <a:ln w="9525">
                  <a:solidFill>
                    <a:schemeClr val="tx1"/>
                  </a:solidFill>
                  <a:round/>
                </a:ln>
              </p:spPr>
              <p:txBody>
                <a:bodyPr wrap="none" anchor="ctr"/>
                <a:lstStyle/>
                <a:p>
                  <a:endParaRPr lang="zh-CN" altLang="en-US">
                    <a:ea typeface="楷体_GB2312"/>
                  </a:endParaRPr>
                </a:p>
              </p:txBody>
            </p:sp>
            <p:sp>
              <p:nvSpPr>
                <p:cNvPr id="126028" name="Line 165"/>
                <p:cNvSpPr>
                  <a:spLocks noChangeShapeType="1"/>
                </p:cNvSpPr>
                <p:nvPr/>
              </p:nvSpPr>
              <p:spPr bwMode="auto">
                <a:xfrm>
                  <a:off x="873" y="2129"/>
                  <a:ext cx="1126" cy="0"/>
                </a:xfrm>
                <a:prstGeom prst="line">
                  <a:avLst/>
                </a:prstGeom>
                <a:noFill/>
                <a:ln w="9525">
                  <a:solidFill>
                    <a:schemeClr val="tx1"/>
                  </a:solidFill>
                  <a:round/>
                </a:ln>
              </p:spPr>
              <p:txBody>
                <a:bodyPr/>
                <a:lstStyle/>
                <a:p>
                  <a:endParaRPr lang="zh-CN" altLang="en-US"/>
                </a:p>
              </p:txBody>
            </p:sp>
            <p:sp>
              <p:nvSpPr>
                <p:cNvPr id="126029" name="Line 166"/>
                <p:cNvSpPr>
                  <a:spLocks noChangeShapeType="1"/>
                </p:cNvSpPr>
                <p:nvPr/>
              </p:nvSpPr>
              <p:spPr bwMode="auto">
                <a:xfrm>
                  <a:off x="1440" y="1545"/>
                  <a:ext cx="0" cy="1126"/>
                </a:xfrm>
                <a:prstGeom prst="line">
                  <a:avLst/>
                </a:prstGeom>
                <a:noFill/>
                <a:ln w="9525">
                  <a:solidFill>
                    <a:schemeClr val="tx1"/>
                  </a:solidFill>
                  <a:round/>
                </a:ln>
              </p:spPr>
              <p:txBody>
                <a:bodyPr/>
                <a:lstStyle/>
                <a:p>
                  <a:endParaRPr lang="zh-CN" altLang="en-US"/>
                </a:p>
              </p:txBody>
            </p:sp>
            <p:sp>
              <p:nvSpPr>
                <p:cNvPr id="126030" name="Line 167"/>
                <p:cNvSpPr>
                  <a:spLocks noChangeShapeType="1"/>
                </p:cNvSpPr>
                <p:nvPr/>
              </p:nvSpPr>
              <p:spPr bwMode="auto">
                <a:xfrm flipH="1">
                  <a:off x="1064" y="1702"/>
                  <a:ext cx="769" cy="847"/>
                </a:xfrm>
                <a:prstGeom prst="line">
                  <a:avLst/>
                </a:prstGeom>
                <a:noFill/>
                <a:ln w="9525">
                  <a:solidFill>
                    <a:schemeClr val="tx1"/>
                  </a:solidFill>
                  <a:round/>
                </a:ln>
              </p:spPr>
              <p:txBody>
                <a:bodyPr/>
                <a:lstStyle/>
                <a:p>
                  <a:endParaRPr lang="zh-CN" altLang="en-US"/>
                </a:p>
              </p:txBody>
            </p:sp>
            <p:sp>
              <p:nvSpPr>
                <p:cNvPr id="126031" name="Line 168"/>
                <p:cNvSpPr>
                  <a:spLocks noChangeShapeType="1"/>
                </p:cNvSpPr>
                <p:nvPr/>
              </p:nvSpPr>
              <p:spPr bwMode="auto">
                <a:xfrm>
                  <a:off x="1064" y="1702"/>
                  <a:ext cx="752" cy="829"/>
                </a:xfrm>
                <a:prstGeom prst="line">
                  <a:avLst/>
                </a:prstGeom>
                <a:noFill/>
                <a:ln w="9525">
                  <a:solidFill>
                    <a:schemeClr val="tx1"/>
                  </a:solidFill>
                  <a:round/>
                </a:ln>
              </p:spPr>
              <p:txBody>
                <a:bodyPr/>
                <a:lstStyle/>
                <a:p>
                  <a:endParaRPr lang="zh-CN" altLang="en-US"/>
                </a:p>
              </p:txBody>
            </p:sp>
            <p:sp>
              <p:nvSpPr>
                <p:cNvPr id="126032" name="Oval 169"/>
                <p:cNvSpPr>
                  <a:spLocks noChangeArrowheads="1"/>
                </p:cNvSpPr>
                <p:nvPr/>
              </p:nvSpPr>
              <p:spPr bwMode="auto">
                <a:xfrm>
                  <a:off x="1135" y="1832"/>
                  <a:ext cx="593" cy="604"/>
                </a:xfrm>
                <a:prstGeom prst="ellipse">
                  <a:avLst/>
                </a:prstGeom>
                <a:solidFill>
                  <a:schemeClr val="bg1"/>
                </a:solidFill>
                <a:ln w="9525">
                  <a:solidFill>
                    <a:schemeClr val="tx1"/>
                  </a:solidFill>
                  <a:round/>
                </a:ln>
              </p:spPr>
              <p:txBody>
                <a:bodyPr wrap="none" anchor="ctr"/>
                <a:lstStyle/>
                <a:p>
                  <a:endParaRPr lang="zh-CN" altLang="en-US">
                    <a:ea typeface="楷体_GB2312"/>
                  </a:endParaRPr>
                </a:p>
              </p:txBody>
            </p:sp>
          </p:grpSp>
          <p:sp>
            <p:nvSpPr>
              <p:cNvPr id="126019" name="Text Box 170"/>
              <p:cNvSpPr txBox="1">
                <a:spLocks noChangeArrowheads="1"/>
              </p:cNvSpPr>
              <p:nvPr/>
            </p:nvSpPr>
            <p:spPr bwMode="auto">
              <a:xfrm>
                <a:off x="857" y="744"/>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0</a:t>
                </a:r>
              </a:p>
            </p:txBody>
          </p:sp>
          <p:sp>
            <p:nvSpPr>
              <p:cNvPr id="126020" name="Text Box 171"/>
              <p:cNvSpPr txBox="1">
                <a:spLocks noChangeArrowheads="1"/>
              </p:cNvSpPr>
              <p:nvPr/>
            </p:nvSpPr>
            <p:spPr bwMode="auto">
              <a:xfrm>
                <a:off x="1320" y="1085"/>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1</a:t>
                </a:r>
              </a:p>
            </p:txBody>
          </p:sp>
          <p:sp>
            <p:nvSpPr>
              <p:cNvPr id="126021" name="Text Box 172"/>
              <p:cNvSpPr txBox="1">
                <a:spLocks noChangeArrowheads="1"/>
              </p:cNvSpPr>
              <p:nvPr/>
            </p:nvSpPr>
            <p:spPr bwMode="auto">
              <a:xfrm>
                <a:off x="1388" y="1590"/>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2</a:t>
                </a:r>
              </a:p>
            </p:txBody>
          </p:sp>
          <p:sp>
            <p:nvSpPr>
              <p:cNvPr id="126022" name="Text Box 173"/>
              <p:cNvSpPr txBox="1">
                <a:spLocks noChangeArrowheads="1"/>
              </p:cNvSpPr>
              <p:nvPr/>
            </p:nvSpPr>
            <p:spPr bwMode="auto">
              <a:xfrm>
                <a:off x="1084" y="202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3</a:t>
                </a:r>
              </a:p>
            </p:txBody>
          </p:sp>
          <p:sp>
            <p:nvSpPr>
              <p:cNvPr id="126023" name="Text Box 174"/>
              <p:cNvSpPr txBox="1">
                <a:spLocks noChangeArrowheads="1"/>
              </p:cNvSpPr>
              <p:nvPr/>
            </p:nvSpPr>
            <p:spPr bwMode="auto">
              <a:xfrm>
                <a:off x="630" y="213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4</a:t>
                </a:r>
              </a:p>
            </p:txBody>
          </p:sp>
          <p:sp>
            <p:nvSpPr>
              <p:cNvPr id="126024" name="Text Box 175"/>
              <p:cNvSpPr txBox="1">
                <a:spLocks noChangeArrowheads="1"/>
              </p:cNvSpPr>
              <p:nvPr/>
            </p:nvSpPr>
            <p:spPr bwMode="auto">
              <a:xfrm>
                <a:off x="237" y="188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5</a:t>
                </a:r>
              </a:p>
            </p:txBody>
          </p:sp>
          <p:sp>
            <p:nvSpPr>
              <p:cNvPr id="126025" name="Text Box 176"/>
              <p:cNvSpPr txBox="1">
                <a:spLocks noChangeArrowheads="1"/>
              </p:cNvSpPr>
              <p:nvPr/>
            </p:nvSpPr>
            <p:spPr bwMode="auto">
              <a:xfrm>
                <a:off x="96" y="1321"/>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6</a:t>
                </a:r>
              </a:p>
            </p:txBody>
          </p:sp>
          <p:sp>
            <p:nvSpPr>
              <p:cNvPr id="126026" name="Text Box 177"/>
              <p:cNvSpPr txBox="1">
                <a:spLocks noChangeArrowheads="1"/>
              </p:cNvSpPr>
              <p:nvPr/>
            </p:nvSpPr>
            <p:spPr bwMode="auto">
              <a:xfrm>
                <a:off x="365" y="90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7</a:t>
                </a:r>
              </a:p>
            </p:txBody>
          </p:sp>
        </p:grpSp>
        <p:sp>
          <p:nvSpPr>
            <p:cNvPr id="412850" name="Text Box 178"/>
            <p:cNvSpPr txBox="1">
              <a:spLocks noChangeArrowheads="1"/>
            </p:cNvSpPr>
            <p:nvPr/>
          </p:nvSpPr>
          <p:spPr bwMode="auto">
            <a:xfrm>
              <a:off x="1154" y="694"/>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1</a:t>
              </a:r>
            </a:p>
          </p:txBody>
        </p:sp>
        <p:sp>
          <p:nvSpPr>
            <p:cNvPr id="412851" name="Text Box 179"/>
            <p:cNvSpPr txBox="1">
              <a:spLocks noChangeArrowheads="1"/>
            </p:cNvSpPr>
            <p:nvPr/>
          </p:nvSpPr>
          <p:spPr bwMode="auto">
            <a:xfrm>
              <a:off x="1407" y="938"/>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2</a:t>
              </a:r>
            </a:p>
          </p:txBody>
        </p:sp>
        <p:sp>
          <p:nvSpPr>
            <p:cNvPr id="412852" name="Text Box 180"/>
            <p:cNvSpPr txBox="1">
              <a:spLocks noChangeArrowheads="1"/>
            </p:cNvSpPr>
            <p:nvPr/>
          </p:nvSpPr>
          <p:spPr bwMode="auto">
            <a:xfrm>
              <a:off x="1398" y="1269"/>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3</a:t>
              </a:r>
            </a:p>
          </p:txBody>
        </p:sp>
        <p:sp>
          <p:nvSpPr>
            <p:cNvPr id="126012" name="Text Box 181"/>
            <p:cNvSpPr txBox="1">
              <a:spLocks noChangeArrowheads="1"/>
            </p:cNvSpPr>
            <p:nvPr/>
          </p:nvSpPr>
          <p:spPr bwMode="auto">
            <a:xfrm>
              <a:off x="1171" y="1486"/>
              <a:ext cx="246" cy="310"/>
            </a:xfrm>
            <a:prstGeom prst="rect">
              <a:avLst/>
            </a:prstGeom>
            <a:noFill/>
            <a:ln w="9525">
              <a:noFill/>
              <a:miter lim="800000"/>
            </a:ln>
          </p:spPr>
          <p:txBody>
            <a:bodyPr wrap="none">
              <a:spAutoFit/>
            </a:bodyPr>
            <a:lstStyle/>
            <a:p>
              <a:r>
                <a:rPr lang="en-US" altLang="zh-CN" sz="2600">
                  <a:ea typeface="楷体_GB2312"/>
                </a:rPr>
                <a:t>4</a:t>
              </a:r>
            </a:p>
          </p:txBody>
        </p:sp>
        <p:sp>
          <p:nvSpPr>
            <p:cNvPr id="412854" name="Text Box 182"/>
            <p:cNvSpPr txBox="1">
              <a:spLocks noChangeArrowheads="1"/>
            </p:cNvSpPr>
            <p:nvPr/>
          </p:nvSpPr>
          <p:spPr bwMode="auto">
            <a:xfrm>
              <a:off x="866" y="1505"/>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5</a:t>
              </a:r>
            </a:p>
          </p:txBody>
        </p:sp>
        <p:sp>
          <p:nvSpPr>
            <p:cNvPr id="412855" name="Text Box 183"/>
            <p:cNvSpPr txBox="1">
              <a:spLocks noChangeArrowheads="1"/>
            </p:cNvSpPr>
            <p:nvPr/>
          </p:nvSpPr>
          <p:spPr bwMode="auto">
            <a:xfrm>
              <a:off x="621" y="1269"/>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6</a:t>
              </a:r>
            </a:p>
          </p:txBody>
        </p:sp>
        <p:sp>
          <p:nvSpPr>
            <p:cNvPr id="126015" name="Text Box 184"/>
            <p:cNvSpPr txBox="1">
              <a:spLocks noChangeArrowheads="1"/>
            </p:cNvSpPr>
            <p:nvPr/>
          </p:nvSpPr>
          <p:spPr bwMode="auto">
            <a:xfrm>
              <a:off x="631" y="929"/>
              <a:ext cx="246" cy="310"/>
            </a:xfrm>
            <a:prstGeom prst="rect">
              <a:avLst/>
            </a:prstGeom>
            <a:noFill/>
            <a:ln w="9525">
              <a:noFill/>
              <a:miter lim="800000"/>
            </a:ln>
          </p:spPr>
          <p:txBody>
            <a:bodyPr wrap="none">
              <a:spAutoFit/>
            </a:bodyPr>
            <a:lstStyle/>
            <a:p>
              <a:r>
                <a:rPr lang="en-US" altLang="zh-CN" sz="2600">
                  <a:ea typeface="楷体_GB2312"/>
                </a:rPr>
                <a:t>7</a:t>
              </a:r>
            </a:p>
          </p:txBody>
        </p:sp>
        <p:sp>
          <p:nvSpPr>
            <p:cNvPr id="126016" name="Text Box 185"/>
            <p:cNvSpPr txBox="1">
              <a:spLocks noChangeArrowheads="1"/>
            </p:cNvSpPr>
            <p:nvPr/>
          </p:nvSpPr>
          <p:spPr bwMode="auto">
            <a:xfrm>
              <a:off x="883" y="693"/>
              <a:ext cx="246" cy="310"/>
            </a:xfrm>
            <a:prstGeom prst="rect">
              <a:avLst/>
            </a:prstGeom>
            <a:noFill/>
            <a:ln w="9525">
              <a:noFill/>
              <a:miter lim="800000"/>
            </a:ln>
          </p:spPr>
          <p:txBody>
            <a:bodyPr wrap="none">
              <a:spAutoFit/>
            </a:bodyPr>
            <a:lstStyle/>
            <a:p>
              <a:r>
                <a:rPr lang="en-US" altLang="zh-CN" sz="2600">
                  <a:solidFill>
                    <a:srgbClr val="008000"/>
                  </a:solidFill>
                  <a:ea typeface="楷体_GB2312"/>
                </a:rPr>
                <a:t>8</a:t>
              </a:r>
            </a:p>
          </p:txBody>
        </p:sp>
        <p:sp>
          <p:nvSpPr>
            <p:cNvPr id="126017" name="Line 186"/>
            <p:cNvSpPr>
              <a:spLocks noChangeShapeType="1"/>
            </p:cNvSpPr>
            <p:nvPr/>
          </p:nvSpPr>
          <p:spPr bwMode="auto">
            <a:xfrm>
              <a:off x="822" y="473"/>
              <a:ext cx="93" cy="237"/>
            </a:xfrm>
            <a:prstGeom prst="line">
              <a:avLst/>
            </a:prstGeom>
            <a:noFill/>
            <a:ln w="9525">
              <a:solidFill>
                <a:schemeClr val="tx1"/>
              </a:solidFill>
              <a:round/>
              <a:tailEnd type="stealth" w="lg" len="lg"/>
            </a:ln>
          </p:spPr>
          <p:txBody>
            <a:bodyPr/>
            <a:lstStyle/>
            <a:p>
              <a:endParaRPr lang="zh-CN" altLang="en-US"/>
            </a:p>
          </p:txBody>
        </p:sp>
      </p:grpSp>
      <p:grpSp>
        <p:nvGrpSpPr>
          <p:cNvPr id="5" name="Group 241"/>
          <p:cNvGrpSpPr/>
          <p:nvPr/>
        </p:nvGrpSpPr>
        <p:grpSpPr bwMode="auto">
          <a:xfrm>
            <a:off x="7467601" y="655639"/>
            <a:ext cx="2424113" cy="2665413"/>
            <a:chOff x="3744" y="413"/>
            <a:chExt cx="1527" cy="1679"/>
          </a:xfrm>
        </p:grpSpPr>
        <p:grpSp>
          <p:nvGrpSpPr>
            <p:cNvPr id="125983" name="Group 189"/>
            <p:cNvGrpSpPr/>
            <p:nvPr/>
          </p:nvGrpSpPr>
          <p:grpSpPr bwMode="auto">
            <a:xfrm>
              <a:off x="3744" y="413"/>
              <a:ext cx="1527" cy="1679"/>
              <a:chOff x="96" y="744"/>
              <a:chExt cx="1527" cy="1679"/>
            </a:xfrm>
          </p:grpSpPr>
          <p:grpSp>
            <p:nvGrpSpPr>
              <p:cNvPr id="125993" name="Group 190"/>
              <p:cNvGrpSpPr/>
              <p:nvPr/>
            </p:nvGrpSpPr>
            <p:grpSpPr bwMode="auto">
              <a:xfrm>
                <a:off x="297" y="1014"/>
                <a:ext cx="1143" cy="1143"/>
                <a:chOff x="864" y="1545"/>
                <a:chExt cx="1143" cy="1143"/>
              </a:xfrm>
            </p:grpSpPr>
            <p:sp>
              <p:nvSpPr>
                <p:cNvPr id="126002" name="Oval 191"/>
                <p:cNvSpPr>
                  <a:spLocks noChangeArrowheads="1"/>
                </p:cNvSpPr>
                <p:nvPr/>
              </p:nvSpPr>
              <p:spPr bwMode="auto">
                <a:xfrm>
                  <a:off x="864" y="1545"/>
                  <a:ext cx="1143" cy="1143"/>
                </a:xfrm>
                <a:prstGeom prst="ellipse">
                  <a:avLst/>
                </a:prstGeom>
                <a:solidFill>
                  <a:srgbClr val="FFFF99"/>
                </a:solidFill>
                <a:ln w="9525">
                  <a:solidFill>
                    <a:schemeClr val="tx1"/>
                  </a:solidFill>
                  <a:round/>
                </a:ln>
              </p:spPr>
              <p:txBody>
                <a:bodyPr wrap="none" anchor="ctr"/>
                <a:lstStyle/>
                <a:p>
                  <a:endParaRPr lang="zh-CN" altLang="en-US">
                    <a:ea typeface="楷体_GB2312"/>
                  </a:endParaRPr>
                </a:p>
              </p:txBody>
            </p:sp>
            <p:sp>
              <p:nvSpPr>
                <p:cNvPr id="126003" name="Line 192"/>
                <p:cNvSpPr>
                  <a:spLocks noChangeShapeType="1"/>
                </p:cNvSpPr>
                <p:nvPr/>
              </p:nvSpPr>
              <p:spPr bwMode="auto">
                <a:xfrm>
                  <a:off x="873" y="2129"/>
                  <a:ext cx="1126" cy="0"/>
                </a:xfrm>
                <a:prstGeom prst="line">
                  <a:avLst/>
                </a:prstGeom>
                <a:noFill/>
                <a:ln w="9525">
                  <a:solidFill>
                    <a:schemeClr val="tx1"/>
                  </a:solidFill>
                  <a:round/>
                </a:ln>
              </p:spPr>
              <p:txBody>
                <a:bodyPr/>
                <a:lstStyle/>
                <a:p>
                  <a:endParaRPr lang="zh-CN" altLang="en-US"/>
                </a:p>
              </p:txBody>
            </p:sp>
            <p:sp>
              <p:nvSpPr>
                <p:cNvPr id="126004" name="Line 193"/>
                <p:cNvSpPr>
                  <a:spLocks noChangeShapeType="1"/>
                </p:cNvSpPr>
                <p:nvPr/>
              </p:nvSpPr>
              <p:spPr bwMode="auto">
                <a:xfrm>
                  <a:off x="1440" y="1545"/>
                  <a:ext cx="0" cy="1126"/>
                </a:xfrm>
                <a:prstGeom prst="line">
                  <a:avLst/>
                </a:prstGeom>
                <a:noFill/>
                <a:ln w="9525">
                  <a:solidFill>
                    <a:schemeClr val="tx1"/>
                  </a:solidFill>
                  <a:round/>
                </a:ln>
              </p:spPr>
              <p:txBody>
                <a:bodyPr/>
                <a:lstStyle/>
                <a:p>
                  <a:endParaRPr lang="zh-CN" altLang="en-US"/>
                </a:p>
              </p:txBody>
            </p:sp>
            <p:sp>
              <p:nvSpPr>
                <p:cNvPr id="126005" name="Line 194"/>
                <p:cNvSpPr>
                  <a:spLocks noChangeShapeType="1"/>
                </p:cNvSpPr>
                <p:nvPr/>
              </p:nvSpPr>
              <p:spPr bwMode="auto">
                <a:xfrm flipH="1">
                  <a:off x="1064" y="1702"/>
                  <a:ext cx="769" cy="847"/>
                </a:xfrm>
                <a:prstGeom prst="line">
                  <a:avLst/>
                </a:prstGeom>
                <a:noFill/>
                <a:ln w="9525">
                  <a:solidFill>
                    <a:schemeClr val="tx1"/>
                  </a:solidFill>
                  <a:round/>
                </a:ln>
              </p:spPr>
              <p:txBody>
                <a:bodyPr/>
                <a:lstStyle/>
                <a:p>
                  <a:endParaRPr lang="zh-CN" altLang="en-US"/>
                </a:p>
              </p:txBody>
            </p:sp>
            <p:sp>
              <p:nvSpPr>
                <p:cNvPr id="126006" name="Line 195"/>
                <p:cNvSpPr>
                  <a:spLocks noChangeShapeType="1"/>
                </p:cNvSpPr>
                <p:nvPr/>
              </p:nvSpPr>
              <p:spPr bwMode="auto">
                <a:xfrm>
                  <a:off x="1064" y="1702"/>
                  <a:ext cx="752" cy="829"/>
                </a:xfrm>
                <a:prstGeom prst="line">
                  <a:avLst/>
                </a:prstGeom>
                <a:noFill/>
                <a:ln w="9525">
                  <a:solidFill>
                    <a:schemeClr val="tx1"/>
                  </a:solidFill>
                  <a:round/>
                </a:ln>
              </p:spPr>
              <p:txBody>
                <a:bodyPr/>
                <a:lstStyle/>
                <a:p>
                  <a:endParaRPr lang="zh-CN" altLang="en-US"/>
                </a:p>
              </p:txBody>
            </p:sp>
            <p:sp>
              <p:nvSpPr>
                <p:cNvPr id="126007" name="Oval 196"/>
                <p:cNvSpPr>
                  <a:spLocks noChangeArrowheads="1"/>
                </p:cNvSpPr>
                <p:nvPr/>
              </p:nvSpPr>
              <p:spPr bwMode="auto">
                <a:xfrm>
                  <a:off x="1135" y="1832"/>
                  <a:ext cx="593" cy="604"/>
                </a:xfrm>
                <a:prstGeom prst="ellipse">
                  <a:avLst/>
                </a:prstGeom>
                <a:solidFill>
                  <a:schemeClr val="bg1"/>
                </a:solidFill>
                <a:ln w="9525">
                  <a:solidFill>
                    <a:schemeClr val="tx1"/>
                  </a:solidFill>
                  <a:round/>
                </a:ln>
              </p:spPr>
              <p:txBody>
                <a:bodyPr wrap="none" anchor="ctr"/>
                <a:lstStyle/>
                <a:p>
                  <a:endParaRPr lang="zh-CN" altLang="en-US">
                    <a:ea typeface="楷体_GB2312"/>
                  </a:endParaRPr>
                </a:p>
              </p:txBody>
            </p:sp>
          </p:grpSp>
          <p:sp>
            <p:nvSpPr>
              <p:cNvPr id="125994" name="Text Box 197"/>
              <p:cNvSpPr txBox="1">
                <a:spLocks noChangeArrowheads="1"/>
              </p:cNvSpPr>
              <p:nvPr/>
            </p:nvSpPr>
            <p:spPr bwMode="auto">
              <a:xfrm>
                <a:off x="857" y="744"/>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0</a:t>
                </a:r>
              </a:p>
            </p:txBody>
          </p:sp>
          <p:sp>
            <p:nvSpPr>
              <p:cNvPr id="125995" name="Text Box 198"/>
              <p:cNvSpPr txBox="1">
                <a:spLocks noChangeArrowheads="1"/>
              </p:cNvSpPr>
              <p:nvPr/>
            </p:nvSpPr>
            <p:spPr bwMode="auto">
              <a:xfrm>
                <a:off x="1320" y="1085"/>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1</a:t>
                </a:r>
              </a:p>
            </p:txBody>
          </p:sp>
          <p:sp>
            <p:nvSpPr>
              <p:cNvPr id="125996" name="Text Box 199"/>
              <p:cNvSpPr txBox="1">
                <a:spLocks noChangeArrowheads="1"/>
              </p:cNvSpPr>
              <p:nvPr/>
            </p:nvSpPr>
            <p:spPr bwMode="auto">
              <a:xfrm>
                <a:off x="1388" y="1590"/>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2</a:t>
                </a:r>
              </a:p>
            </p:txBody>
          </p:sp>
          <p:sp>
            <p:nvSpPr>
              <p:cNvPr id="125997" name="Text Box 200"/>
              <p:cNvSpPr txBox="1">
                <a:spLocks noChangeArrowheads="1"/>
              </p:cNvSpPr>
              <p:nvPr/>
            </p:nvSpPr>
            <p:spPr bwMode="auto">
              <a:xfrm>
                <a:off x="1084" y="202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3</a:t>
                </a:r>
              </a:p>
            </p:txBody>
          </p:sp>
          <p:sp>
            <p:nvSpPr>
              <p:cNvPr id="125998" name="Text Box 201"/>
              <p:cNvSpPr txBox="1">
                <a:spLocks noChangeArrowheads="1"/>
              </p:cNvSpPr>
              <p:nvPr/>
            </p:nvSpPr>
            <p:spPr bwMode="auto">
              <a:xfrm>
                <a:off x="630" y="213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4</a:t>
                </a:r>
              </a:p>
            </p:txBody>
          </p:sp>
          <p:sp>
            <p:nvSpPr>
              <p:cNvPr id="125999" name="Text Box 202"/>
              <p:cNvSpPr txBox="1">
                <a:spLocks noChangeArrowheads="1"/>
              </p:cNvSpPr>
              <p:nvPr/>
            </p:nvSpPr>
            <p:spPr bwMode="auto">
              <a:xfrm>
                <a:off x="237" y="188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5</a:t>
                </a:r>
              </a:p>
            </p:txBody>
          </p:sp>
          <p:sp>
            <p:nvSpPr>
              <p:cNvPr id="126000" name="Text Box 203"/>
              <p:cNvSpPr txBox="1">
                <a:spLocks noChangeArrowheads="1"/>
              </p:cNvSpPr>
              <p:nvPr/>
            </p:nvSpPr>
            <p:spPr bwMode="auto">
              <a:xfrm>
                <a:off x="96" y="1321"/>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6</a:t>
                </a:r>
              </a:p>
            </p:txBody>
          </p:sp>
          <p:sp>
            <p:nvSpPr>
              <p:cNvPr id="126001" name="Text Box 204"/>
              <p:cNvSpPr txBox="1">
                <a:spLocks noChangeArrowheads="1"/>
              </p:cNvSpPr>
              <p:nvPr/>
            </p:nvSpPr>
            <p:spPr bwMode="auto">
              <a:xfrm>
                <a:off x="365" y="90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7</a:t>
                </a:r>
              </a:p>
            </p:txBody>
          </p:sp>
        </p:grpSp>
        <p:sp>
          <p:nvSpPr>
            <p:cNvPr id="412877" name="Text Box 205"/>
            <p:cNvSpPr txBox="1">
              <a:spLocks noChangeArrowheads="1"/>
            </p:cNvSpPr>
            <p:nvPr/>
          </p:nvSpPr>
          <p:spPr bwMode="auto">
            <a:xfrm>
              <a:off x="4549" y="702"/>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1</a:t>
              </a:r>
            </a:p>
          </p:txBody>
        </p:sp>
        <p:sp>
          <p:nvSpPr>
            <p:cNvPr id="412878" name="Text Box 206"/>
            <p:cNvSpPr txBox="1">
              <a:spLocks noChangeArrowheads="1"/>
            </p:cNvSpPr>
            <p:nvPr/>
          </p:nvSpPr>
          <p:spPr bwMode="auto">
            <a:xfrm>
              <a:off x="4802" y="946"/>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2</a:t>
              </a:r>
            </a:p>
          </p:txBody>
        </p:sp>
        <p:sp>
          <p:nvSpPr>
            <p:cNvPr id="412879" name="Text Box 207"/>
            <p:cNvSpPr txBox="1">
              <a:spLocks noChangeArrowheads="1"/>
            </p:cNvSpPr>
            <p:nvPr/>
          </p:nvSpPr>
          <p:spPr bwMode="auto">
            <a:xfrm>
              <a:off x="4793" y="1277"/>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3</a:t>
              </a:r>
            </a:p>
          </p:txBody>
        </p:sp>
        <p:sp>
          <p:nvSpPr>
            <p:cNvPr id="412880" name="Text Box 208"/>
            <p:cNvSpPr txBox="1">
              <a:spLocks noChangeArrowheads="1"/>
            </p:cNvSpPr>
            <p:nvPr/>
          </p:nvSpPr>
          <p:spPr bwMode="auto">
            <a:xfrm>
              <a:off x="4566" y="1494"/>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4</a:t>
              </a:r>
            </a:p>
          </p:txBody>
        </p:sp>
        <p:sp>
          <p:nvSpPr>
            <p:cNvPr id="412881" name="Text Box 209"/>
            <p:cNvSpPr txBox="1">
              <a:spLocks noChangeArrowheads="1"/>
            </p:cNvSpPr>
            <p:nvPr/>
          </p:nvSpPr>
          <p:spPr bwMode="auto">
            <a:xfrm>
              <a:off x="4261" y="1513"/>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5</a:t>
              </a:r>
            </a:p>
          </p:txBody>
        </p:sp>
        <p:sp>
          <p:nvSpPr>
            <p:cNvPr id="412882" name="Text Box 210"/>
            <p:cNvSpPr txBox="1">
              <a:spLocks noChangeArrowheads="1"/>
            </p:cNvSpPr>
            <p:nvPr/>
          </p:nvSpPr>
          <p:spPr bwMode="auto">
            <a:xfrm>
              <a:off x="4016" y="1277"/>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6</a:t>
              </a:r>
            </a:p>
          </p:txBody>
        </p:sp>
        <p:sp>
          <p:nvSpPr>
            <p:cNvPr id="125990" name="Text Box 211"/>
            <p:cNvSpPr txBox="1">
              <a:spLocks noChangeArrowheads="1"/>
            </p:cNvSpPr>
            <p:nvPr/>
          </p:nvSpPr>
          <p:spPr bwMode="auto">
            <a:xfrm>
              <a:off x="4026" y="937"/>
              <a:ext cx="246" cy="310"/>
            </a:xfrm>
            <a:prstGeom prst="rect">
              <a:avLst/>
            </a:prstGeom>
            <a:noFill/>
            <a:ln w="9525">
              <a:noFill/>
              <a:miter lim="800000"/>
            </a:ln>
          </p:spPr>
          <p:txBody>
            <a:bodyPr wrap="none">
              <a:spAutoFit/>
            </a:bodyPr>
            <a:lstStyle/>
            <a:p>
              <a:r>
                <a:rPr lang="en-US" altLang="zh-CN" sz="2600">
                  <a:solidFill>
                    <a:srgbClr val="008000"/>
                  </a:solidFill>
                  <a:ea typeface="楷体_GB2312"/>
                </a:rPr>
                <a:t>7</a:t>
              </a:r>
            </a:p>
          </p:txBody>
        </p:sp>
        <p:sp>
          <p:nvSpPr>
            <p:cNvPr id="412884" name="Text Box 212"/>
            <p:cNvSpPr txBox="1">
              <a:spLocks noChangeArrowheads="1"/>
            </p:cNvSpPr>
            <p:nvPr/>
          </p:nvSpPr>
          <p:spPr bwMode="auto">
            <a:xfrm>
              <a:off x="4278" y="701"/>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8</a:t>
              </a:r>
            </a:p>
          </p:txBody>
        </p:sp>
        <p:sp>
          <p:nvSpPr>
            <p:cNvPr id="125992" name="Line 213"/>
            <p:cNvSpPr>
              <a:spLocks noChangeShapeType="1"/>
            </p:cNvSpPr>
            <p:nvPr/>
          </p:nvSpPr>
          <p:spPr bwMode="auto">
            <a:xfrm>
              <a:off x="3810" y="824"/>
              <a:ext cx="198" cy="130"/>
            </a:xfrm>
            <a:prstGeom prst="line">
              <a:avLst/>
            </a:prstGeom>
            <a:noFill/>
            <a:ln w="9525">
              <a:solidFill>
                <a:schemeClr val="tx1"/>
              </a:solidFill>
              <a:round/>
              <a:tailEnd type="stealth" w="lg" len="lg"/>
            </a:ln>
          </p:spPr>
          <p:txBody>
            <a:bodyPr/>
            <a:lstStyle/>
            <a:p>
              <a:endParaRPr lang="zh-CN" altLang="en-US"/>
            </a:p>
          </p:txBody>
        </p:sp>
      </p:grpSp>
      <p:grpSp>
        <p:nvGrpSpPr>
          <p:cNvPr id="8" name="Group 215"/>
          <p:cNvGrpSpPr/>
          <p:nvPr/>
        </p:nvGrpSpPr>
        <p:grpSpPr bwMode="auto">
          <a:xfrm>
            <a:off x="4857751" y="657226"/>
            <a:ext cx="2424113" cy="2665413"/>
            <a:chOff x="2059" y="413"/>
            <a:chExt cx="1527" cy="1679"/>
          </a:xfrm>
        </p:grpSpPr>
        <p:grpSp>
          <p:nvGrpSpPr>
            <p:cNvPr id="125958" name="Group 216"/>
            <p:cNvGrpSpPr/>
            <p:nvPr/>
          </p:nvGrpSpPr>
          <p:grpSpPr bwMode="auto">
            <a:xfrm>
              <a:off x="2059" y="413"/>
              <a:ext cx="1527" cy="1679"/>
              <a:chOff x="96" y="744"/>
              <a:chExt cx="1527" cy="1679"/>
            </a:xfrm>
          </p:grpSpPr>
          <p:grpSp>
            <p:nvGrpSpPr>
              <p:cNvPr id="125968" name="Group 217"/>
              <p:cNvGrpSpPr/>
              <p:nvPr/>
            </p:nvGrpSpPr>
            <p:grpSpPr bwMode="auto">
              <a:xfrm>
                <a:off x="297" y="1014"/>
                <a:ext cx="1143" cy="1143"/>
                <a:chOff x="864" y="1545"/>
                <a:chExt cx="1143" cy="1143"/>
              </a:xfrm>
            </p:grpSpPr>
            <p:sp>
              <p:nvSpPr>
                <p:cNvPr id="125977" name="Oval 218"/>
                <p:cNvSpPr>
                  <a:spLocks noChangeArrowheads="1"/>
                </p:cNvSpPr>
                <p:nvPr/>
              </p:nvSpPr>
              <p:spPr bwMode="auto">
                <a:xfrm>
                  <a:off x="864" y="1545"/>
                  <a:ext cx="1143" cy="1143"/>
                </a:xfrm>
                <a:prstGeom prst="ellipse">
                  <a:avLst/>
                </a:prstGeom>
                <a:solidFill>
                  <a:srgbClr val="FFFF99"/>
                </a:solidFill>
                <a:ln w="9525">
                  <a:solidFill>
                    <a:schemeClr val="tx1"/>
                  </a:solidFill>
                  <a:round/>
                </a:ln>
              </p:spPr>
              <p:txBody>
                <a:bodyPr wrap="none" anchor="ctr"/>
                <a:lstStyle/>
                <a:p>
                  <a:endParaRPr lang="zh-CN" altLang="en-US">
                    <a:ea typeface="楷体_GB2312"/>
                  </a:endParaRPr>
                </a:p>
              </p:txBody>
            </p:sp>
            <p:sp>
              <p:nvSpPr>
                <p:cNvPr id="125978" name="Line 219"/>
                <p:cNvSpPr>
                  <a:spLocks noChangeShapeType="1"/>
                </p:cNvSpPr>
                <p:nvPr/>
              </p:nvSpPr>
              <p:spPr bwMode="auto">
                <a:xfrm>
                  <a:off x="873" y="2129"/>
                  <a:ext cx="1126" cy="0"/>
                </a:xfrm>
                <a:prstGeom prst="line">
                  <a:avLst/>
                </a:prstGeom>
                <a:noFill/>
                <a:ln w="9525">
                  <a:solidFill>
                    <a:schemeClr val="tx1"/>
                  </a:solidFill>
                  <a:round/>
                </a:ln>
              </p:spPr>
              <p:txBody>
                <a:bodyPr/>
                <a:lstStyle/>
                <a:p>
                  <a:endParaRPr lang="zh-CN" altLang="en-US"/>
                </a:p>
              </p:txBody>
            </p:sp>
            <p:sp>
              <p:nvSpPr>
                <p:cNvPr id="125979" name="Line 220"/>
                <p:cNvSpPr>
                  <a:spLocks noChangeShapeType="1"/>
                </p:cNvSpPr>
                <p:nvPr/>
              </p:nvSpPr>
              <p:spPr bwMode="auto">
                <a:xfrm>
                  <a:off x="1440" y="1545"/>
                  <a:ext cx="0" cy="1126"/>
                </a:xfrm>
                <a:prstGeom prst="line">
                  <a:avLst/>
                </a:prstGeom>
                <a:noFill/>
                <a:ln w="9525">
                  <a:solidFill>
                    <a:schemeClr val="tx1"/>
                  </a:solidFill>
                  <a:round/>
                </a:ln>
              </p:spPr>
              <p:txBody>
                <a:bodyPr/>
                <a:lstStyle/>
                <a:p>
                  <a:endParaRPr lang="zh-CN" altLang="en-US"/>
                </a:p>
              </p:txBody>
            </p:sp>
            <p:sp>
              <p:nvSpPr>
                <p:cNvPr id="125980" name="Line 221"/>
                <p:cNvSpPr>
                  <a:spLocks noChangeShapeType="1"/>
                </p:cNvSpPr>
                <p:nvPr/>
              </p:nvSpPr>
              <p:spPr bwMode="auto">
                <a:xfrm flipH="1">
                  <a:off x="1064" y="1702"/>
                  <a:ext cx="769" cy="847"/>
                </a:xfrm>
                <a:prstGeom prst="line">
                  <a:avLst/>
                </a:prstGeom>
                <a:noFill/>
                <a:ln w="9525">
                  <a:solidFill>
                    <a:schemeClr val="tx1"/>
                  </a:solidFill>
                  <a:round/>
                </a:ln>
              </p:spPr>
              <p:txBody>
                <a:bodyPr/>
                <a:lstStyle/>
                <a:p>
                  <a:endParaRPr lang="zh-CN" altLang="en-US"/>
                </a:p>
              </p:txBody>
            </p:sp>
            <p:sp>
              <p:nvSpPr>
                <p:cNvPr id="125981" name="Line 222"/>
                <p:cNvSpPr>
                  <a:spLocks noChangeShapeType="1"/>
                </p:cNvSpPr>
                <p:nvPr/>
              </p:nvSpPr>
              <p:spPr bwMode="auto">
                <a:xfrm>
                  <a:off x="1064" y="1702"/>
                  <a:ext cx="752" cy="829"/>
                </a:xfrm>
                <a:prstGeom prst="line">
                  <a:avLst/>
                </a:prstGeom>
                <a:noFill/>
                <a:ln w="9525">
                  <a:solidFill>
                    <a:schemeClr val="tx1"/>
                  </a:solidFill>
                  <a:round/>
                </a:ln>
              </p:spPr>
              <p:txBody>
                <a:bodyPr/>
                <a:lstStyle/>
                <a:p>
                  <a:endParaRPr lang="zh-CN" altLang="en-US"/>
                </a:p>
              </p:txBody>
            </p:sp>
            <p:sp>
              <p:nvSpPr>
                <p:cNvPr id="125982" name="Oval 223"/>
                <p:cNvSpPr>
                  <a:spLocks noChangeArrowheads="1"/>
                </p:cNvSpPr>
                <p:nvPr/>
              </p:nvSpPr>
              <p:spPr bwMode="auto">
                <a:xfrm>
                  <a:off x="1135" y="1832"/>
                  <a:ext cx="593" cy="604"/>
                </a:xfrm>
                <a:prstGeom prst="ellipse">
                  <a:avLst/>
                </a:prstGeom>
                <a:solidFill>
                  <a:schemeClr val="bg1"/>
                </a:solidFill>
                <a:ln w="9525">
                  <a:solidFill>
                    <a:schemeClr val="tx1"/>
                  </a:solidFill>
                  <a:round/>
                </a:ln>
              </p:spPr>
              <p:txBody>
                <a:bodyPr wrap="none" anchor="ctr"/>
                <a:lstStyle/>
                <a:p>
                  <a:endParaRPr lang="zh-CN" altLang="en-US">
                    <a:ea typeface="楷体_GB2312"/>
                  </a:endParaRPr>
                </a:p>
              </p:txBody>
            </p:sp>
          </p:grpSp>
          <p:sp>
            <p:nvSpPr>
              <p:cNvPr id="125969" name="Text Box 224"/>
              <p:cNvSpPr txBox="1">
                <a:spLocks noChangeArrowheads="1"/>
              </p:cNvSpPr>
              <p:nvPr/>
            </p:nvSpPr>
            <p:spPr bwMode="auto">
              <a:xfrm>
                <a:off x="857" y="744"/>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0</a:t>
                </a:r>
              </a:p>
            </p:txBody>
          </p:sp>
          <p:sp>
            <p:nvSpPr>
              <p:cNvPr id="125970" name="Text Box 225"/>
              <p:cNvSpPr txBox="1">
                <a:spLocks noChangeArrowheads="1"/>
              </p:cNvSpPr>
              <p:nvPr/>
            </p:nvSpPr>
            <p:spPr bwMode="auto">
              <a:xfrm>
                <a:off x="1320" y="1085"/>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1</a:t>
                </a:r>
              </a:p>
            </p:txBody>
          </p:sp>
          <p:sp>
            <p:nvSpPr>
              <p:cNvPr id="125971" name="Text Box 226"/>
              <p:cNvSpPr txBox="1">
                <a:spLocks noChangeArrowheads="1"/>
              </p:cNvSpPr>
              <p:nvPr/>
            </p:nvSpPr>
            <p:spPr bwMode="auto">
              <a:xfrm>
                <a:off x="1388" y="1590"/>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2</a:t>
                </a:r>
              </a:p>
            </p:txBody>
          </p:sp>
          <p:sp>
            <p:nvSpPr>
              <p:cNvPr id="125972" name="Text Box 227"/>
              <p:cNvSpPr txBox="1">
                <a:spLocks noChangeArrowheads="1"/>
              </p:cNvSpPr>
              <p:nvPr/>
            </p:nvSpPr>
            <p:spPr bwMode="auto">
              <a:xfrm>
                <a:off x="1084" y="202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3</a:t>
                </a:r>
              </a:p>
            </p:txBody>
          </p:sp>
          <p:sp>
            <p:nvSpPr>
              <p:cNvPr id="125973" name="Text Box 228"/>
              <p:cNvSpPr txBox="1">
                <a:spLocks noChangeArrowheads="1"/>
              </p:cNvSpPr>
              <p:nvPr/>
            </p:nvSpPr>
            <p:spPr bwMode="auto">
              <a:xfrm>
                <a:off x="630" y="213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4</a:t>
                </a:r>
              </a:p>
            </p:txBody>
          </p:sp>
          <p:sp>
            <p:nvSpPr>
              <p:cNvPr id="125974" name="Text Box 229"/>
              <p:cNvSpPr txBox="1">
                <a:spLocks noChangeArrowheads="1"/>
              </p:cNvSpPr>
              <p:nvPr/>
            </p:nvSpPr>
            <p:spPr bwMode="auto">
              <a:xfrm>
                <a:off x="237" y="1888"/>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5</a:t>
                </a:r>
              </a:p>
            </p:txBody>
          </p:sp>
          <p:sp>
            <p:nvSpPr>
              <p:cNvPr id="125975" name="Text Box 230"/>
              <p:cNvSpPr txBox="1">
                <a:spLocks noChangeArrowheads="1"/>
              </p:cNvSpPr>
              <p:nvPr/>
            </p:nvSpPr>
            <p:spPr bwMode="auto">
              <a:xfrm>
                <a:off x="96" y="1321"/>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6</a:t>
                </a:r>
              </a:p>
            </p:txBody>
          </p:sp>
          <p:sp>
            <p:nvSpPr>
              <p:cNvPr id="125976" name="Text Box 231"/>
              <p:cNvSpPr txBox="1">
                <a:spLocks noChangeArrowheads="1"/>
              </p:cNvSpPr>
              <p:nvPr/>
            </p:nvSpPr>
            <p:spPr bwMode="auto">
              <a:xfrm>
                <a:off x="365" y="902"/>
                <a:ext cx="235" cy="291"/>
              </a:xfrm>
              <a:prstGeom prst="rect">
                <a:avLst/>
              </a:prstGeom>
              <a:noFill/>
              <a:ln w="9525">
                <a:noFill/>
                <a:miter lim="800000"/>
              </a:ln>
            </p:spPr>
            <p:txBody>
              <a:bodyPr wrap="none">
                <a:spAutoFit/>
              </a:bodyPr>
              <a:lstStyle/>
              <a:p>
                <a:r>
                  <a:rPr lang="en-US" altLang="zh-CN" sz="2400">
                    <a:solidFill>
                      <a:srgbClr val="CC0000"/>
                    </a:solidFill>
                    <a:ea typeface="楷体_GB2312"/>
                  </a:rPr>
                  <a:t>7</a:t>
                </a:r>
              </a:p>
            </p:txBody>
          </p:sp>
        </p:grpSp>
        <p:sp>
          <p:nvSpPr>
            <p:cNvPr id="412904" name="Text Box 232"/>
            <p:cNvSpPr txBox="1">
              <a:spLocks noChangeArrowheads="1"/>
            </p:cNvSpPr>
            <p:nvPr/>
          </p:nvSpPr>
          <p:spPr bwMode="auto">
            <a:xfrm>
              <a:off x="2864" y="702"/>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1</a:t>
              </a:r>
            </a:p>
          </p:txBody>
        </p:sp>
        <p:sp>
          <p:nvSpPr>
            <p:cNvPr id="412905" name="Text Box 233"/>
            <p:cNvSpPr txBox="1">
              <a:spLocks noChangeArrowheads="1"/>
            </p:cNvSpPr>
            <p:nvPr/>
          </p:nvSpPr>
          <p:spPr bwMode="auto">
            <a:xfrm>
              <a:off x="3117" y="946"/>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2</a:t>
              </a:r>
            </a:p>
          </p:txBody>
        </p:sp>
        <p:sp>
          <p:nvSpPr>
            <p:cNvPr id="412906" name="Text Box 234"/>
            <p:cNvSpPr txBox="1">
              <a:spLocks noChangeArrowheads="1"/>
            </p:cNvSpPr>
            <p:nvPr/>
          </p:nvSpPr>
          <p:spPr bwMode="auto">
            <a:xfrm>
              <a:off x="3108" y="1277"/>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3</a:t>
              </a:r>
            </a:p>
          </p:txBody>
        </p:sp>
        <p:sp>
          <p:nvSpPr>
            <p:cNvPr id="125962" name="Text Box 235"/>
            <p:cNvSpPr txBox="1">
              <a:spLocks noChangeArrowheads="1"/>
            </p:cNvSpPr>
            <p:nvPr/>
          </p:nvSpPr>
          <p:spPr bwMode="auto">
            <a:xfrm>
              <a:off x="2881" y="1494"/>
              <a:ext cx="246" cy="310"/>
            </a:xfrm>
            <a:prstGeom prst="rect">
              <a:avLst/>
            </a:prstGeom>
            <a:noFill/>
            <a:ln w="9525">
              <a:noFill/>
              <a:miter lim="800000"/>
            </a:ln>
          </p:spPr>
          <p:txBody>
            <a:bodyPr wrap="none">
              <a:spAutoFit/>
            </a:bodyPr>
            <a:lstStyle/>
            <a:p>
              <a:r>
                <a:rPr lang="en-US" altLang="zh-CN" sz="2600">
                  <a:solidFill>
                    <a:srgbClr val="008000"/>
                  </a:solidFill>
                  <a:ea typeface="楷体_GB2312"/>
                </a:rPr>
                <a:t>4</a:t>
              </a:r>
            </a:p>
          </p:txBody>
        </p:sp>
        <p:sp>
          <p:nvSpPr>
            <p:cNvPr id="412908" name="Text Box 236"/>
            <p:cNvSpPr txBox="1">
              <a:spLocks noChangeArrowheads="1"/>
            </p:cNvSpPr>
            <p:nvPr/>
          </p:nvSpPr>
          <p:spPr bwMode="auto">
            <a:xfrm>
              <a:off x="2576" y="1513"/>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5</a:t>
              </a:r>
            </a:p>
          </p:txBody>
        </p:sp>
        <p:sp>
          <p:nvSpPr>
            <p:cNvPr id="412909" name="Text Box 237"/>
            <p:cNvSpPr txBox="1">
              <a:spLocks noChangeArrowheads="1"/>
            </p:cNvSpPr>
            <p:nvPr/>
          </p:nvSpPr>
          <p:spPr bwMode="auto">
            <a:xfrm>
              <a:off x="2331" y="1277"/>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6</a:t>
              </a:r>
            </a:p>
          </p:txBody>
        </p:sp>
        <p:sp>
          <p:nvSpPr>
            <p:cNvPr id="125965" name="Text Box 238"/>
            <p:cNvSpPr txBox="1">
              <a:spLocks noChangeArrowheads="1"/>
            </p:cNvSpPr>
            <p:nvPr/>
          </p:nvSpPr>
          <p:spPr bwMode="auto">
            <a:xfrm>
              <a:off x="2341" y="937"/>
              <a:ext cx="246" cy="310"/>
            </a:xfrm>
            <a:prstGeom prst="rect">
              <a:avLst/>
            </a:prstGeom>
            <a:noFill/>
            <a:ln w="9525">
              <a:noFill/>
              <a:miter lim="800000"/>
            </a:ln>
          </p:spPr>
          <p:txBody>
            <a:bodyPr wrap="none">
              <a:spAutoFit/>
            </a:bodyPr>
            <a:lstStyle/>
            <a:p>
              <a:r>
                <a:rPr lang="en-US" altLang="zh-CN" sz="2600">
                  <a:ea typeface="楷体_GB2312"/>
                </a:rPr>
                <a:t>7</a:t>
              </a:r>
            </a:p>
          </p:txBody>
        </p:sp>
        <p:sp>
          <p:nvSpPr>
            <p:cNvPr id="412911" name="Text Box 239"/>
            <p:cNvSpPr txBox="1">
              <a:spLocks noChangeArrowheads="1"/>
            </p:cNvSpPr>
            <p:nvPr/>
          </p:nvSpPr>
          <p:spPr bwMode="auto">
            <a:xfrm>
              <a:off x="2593" y="701"/>
              <a:ext cx="246" cy="310"/>
            </a:xfrm>
            <a:prstGeom prst="rect">
              <a:avLst/>
            </a:prstGeom>
            <a:noFill/>
            <a:ln>
              <a:noFill/>
            </a:ln>
            <a:effectLst/>
          </p:spPr>
          <p:txBody>
            <a:bodyPr wrap="none">
              <a:spAutoFit/>
            </a:bodyPr>
            <a:lstStyle>
              <a:lvl1pPr eaLnBrk="0" hangingPunct="0">
                <a:defRPr kumimoji="1" sz="3600" b="1">
                  <a:solidFill>
                    <a:schemeClr val="tx2"/>
                  </a:solidFill>
                  <a:latin typeface="楷体_GB2312" pitchFamily="49" charset="-122"/>
                  <a:ea typeface="楷体_GB2312" pitchFamily="49" charset="-122"/>
                </a:defRPr>
              </a:lvl1pPr>
              <a:lvl2pPr marL="742950" indent="-285750" eaLnBrk="0" hangingPunct="0">
                <a:defRPr kumimoji="1" sz="3600" b="1">
                  <a:solidFill>
                    <a:schemeClr val="tx2"/>
                  </a:solidFill>
                  <a:latin typeface="楷体_GB2312" pitchFamily="49" charset="-122"/>
                  <a:ea typeface="楷体_GB2312" pitchFamily="49" charset="-122"/>
                </a:defRPr>
              </a:lvl2pPr>
              <a:lvl3pPr marL="1143000" indent="-228600" eaLnBrk="0" hangingPunct="0">
                <a:defRPr kumimoji="1" sz="3600" b="1">
                  <a:solidFill>
                    <a:schemeClr val="tx2"/>
                  </a:solidFill>
                  <a:latin typeface="楷体_GB2312" pitchFamily="49" charset="-122"/>
                  <a:ea typeface="楷体_GB2312" pitchFamily="49" charset="-122"/>
                </a:defRPr>
              </a:lvl3pPr>
              <a:lvl4pPr marL="1600200" indent="-228600" eaLnBrk="0" hangingPunct="0">
                <a:defRPr kumimoji="1" sz="3600" b="1">
                  <a:solidFill>
                    <a:schemeClr val="tx2"/>
                  </a:solidFill>
                  <a:latin typeface="楷体_GB2312" pitchFamily="49" charset="-122"/>
                  <a:ea typeface="楷体_GB2312" pitchFamily="49" charset="-122"/>
                </a:defRPr>
              </a:lvl4pPr>
              <a:lvl5pPr marL="2057400" indent="-228600" eaLnBrk="0" hangingPunct="0">
                <a:defRPr kumimoji="1" sz="36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3600" b="1">
                  <a:solidFill>
                    <a:schemeClr val="tx2"/>
                  </a:solidFill>
                  <a:latin typeface="楷体_GB2312" pitchFamily="49" charset="-122"/>
                  <a:ea typeface="楷体_GB2312" pitchFamily="49" charset="-122"/>
                </a:defRPr>
              </a:lvl9pPr>
            </a:lstStyle>
            <a:p>
              <a:pPr eaLnBrk="1" hangingPunct="1">
                <a:defRPr/>
              </a:pPr>
              <a:r>
                <a:rPr lang="en-US" altLang="zh-CN" sz="26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cs typeface="+mn-cs"/>
                </a:rPr>
                <a:t>8</a:t>
              </a:r>
            </a:p>
          </p:txBody>
        </p:sp>
        <p:sp>
          <p:nvSpPr>
            <p:cNvPr id="125967" name="Line 240"/>
            <p:cNvSpPr>
              <a:spLocks noChangeShapeType="1"/>
            </p:cNvSpPr>
            <p:nvPr/>
          </p:nvSpPr>
          <p:spPr bwMode="auto">
            <a:xfrm flipH="1" flipV="1">
              <a:off x="3009" y="1792"/>
              <a:ext cx="73" cy="243"/>
            </a:xfrm>
            <a:prstGeom prst="line">
              <a:avLst/>
            </a:prstGeom>
            <a:noFill/>
            <a:ln w="9525">
              <a:solidFill>
                <a:schemeClr val="tx1"/>
              </a:solidFill>
              <a:round/>
              <a:tailEnd type="stealth" w="lg" len="lg"/>
            </a:ln>
          </p:spPr>
          <p:txBody>
            <a:bodyPr/>
            <a:lstStyle/>
            <a:p>
              <a:endParaRPr lang="zh-CN" altLang="en-US"/>
            </a:p>
          </p:txBody>
        </p:sp>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标题 1"/>
          <p:cNvSpPr>
            <a:spLocks noGrp="1"/>
          </p:cNvSpPr>
          <p:nvPr>
            <p:ph type="title"/>
          </p:nvPr>
        </p:nvSpPr>
        <p:spPr/>
        <p:txBody>
          <a:bodyPr/>
          <a:lstStyle/>
          <a:p>
            <a:pPr eaLnBrk="1" hangingPunct="1"/>
            <a:endParaRPr/>
          </a:p>
        </p:txBody>
      </p:sp>
      <p:sp>
        <p:nvSpPr>
          <p:cNvPr id="126978" name="内容占位符 2"/>
          <p:cNvSpPr>
            <a:spLocks noGrp="1"/>
          </p:cNvSpPr>
          <p:nvPr>
            <p:ph idx="1"/>
          </p:nvPr>
        </p:nvSpPr>
        <p:spPr/>
        <p:txBody>
          <a:bodyPr/>
          <a:lstStyle/>
          <a:p>
            <a:pPr eaLnBrk="1" hangingPunct="1"/>
            <a:endParaRPr lang="zh-CN" altLang="en-US"/>
          </a:p>
        </p:txBody>
      </p:sp>
      <p:pic>
        <p:nvPicPr>
          <p:cNvPr id="126979" name="Picture 2"/>
          <p:cNvPicPr>
            <a:picLocks noChangeAspect="1" noChangeArrowheads="1"/>
          </p:cNvPicPr>
          <p:nvPr/>
        </p:nvPicPr>
        <p:blipFill>
          <a:blip r:embed="rId2"/>
          <a:srcRect/>
          <a:stretch>
            <a:fillRect/>
          </a:stretch>
        </p:blipFill>
        <p:spPr bwMode="auto">
          <a:xfrm>
            <a:off x="2705100" y="847725"/>
            <a:ext cx="6781800" cy="5162550"/>
          </a:xfrm>
          <a:prstGeom prst="rect">
            <a:avLst/>
          </a:prstGeom>
          <a:noFill/>
          <a:ln w="9525">
            <a:noFill/>
            <a:miter lim="800000"/>
            <a:headEnd/>
            <a:tailEnd/>
          </a:ln>
        </p:spPr>
      </p:pic>
    </p:spTree>
  </p:cSld>
  <p:clrMapOvr>
    <a:masterClrMapping/>
  </p:clrMapOvr>
  <p:transition>
    <p:strips dir="r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标题 1"/>
          <p:cNvSpPr>
            <a:spLocks noGrp="1"/>
          </p:cNvSpPr>
          <p:nvPr>
            <p:ph type="title"/>
          </p:nvPr>
        </p:nvSpPr>
        <p:spPr/>
        <p:txBody>
          <a:bodyPr/>
          <a:lstStyle/>
          <a:p>
            <a:pPr eaLnBrk="1" hangingPunct="1"/>
            <a:endParaRPr/>
          </a:p>
        </p:txBody>
      </p:sp>
      <p:sp>
        <p:nvSpPr>
          <p:cNvPr id="128002" name="内容占位符 2"/>
          <p:cNvSpPr>
            <a:spLocks noGrp="1"/>
          </p:cNvSpPr>
          <p:nvPr>
            <p:ph idx="1"/>
          </p:nvPr>
        </p:nvSpPr>
        <p:spPr/>
        <p:txBody>
          <a:bodyPr/>
          <a:lstStyle/>
          <a:p>
            <a:pPr eaLnBrk="1" hangingPunct="1"/>
            <a:r>
              <a:rPr lang="zh-CN" altLang="en-US"/>
              <a:t>分析：</a:t>
            </a:r>
            <a:endParaRPr lang="en-US" altLang="zh-CN"/>
          </a:p>
          <a:p>
            <a:pPr eaLnBrk="1" hangingPunct="1"/>
            <a:r>
              <a:rPr lang="en-US" altLang="zh-CN"/>
              <a:t>Position:</a:t>
            </a:r>
            <a:r>
              <a:rPr lang="zh-CN" altLang="en-US"/>
              <a:t>纪录报数的人在循环链表</a:t>
            </a:r>
            <a:r>
              <a:rPr lang="en-US" altLang="zh-CN"/>
              <a:t>La</a:t>
            </a:r>
            <a:r>
              <a:rPr lang="zh-CN" altLang="en-US"/>
              <a:t>中的序号，每报一个数，</a:t>
            </a:r>
            <a:r>
              <a:rPr lang="en-US" altLang="zh-CN"/>
              <a:t> Position++</a:t>
            </a:r>
            <a:r>
              <a:rPr lang="zh-CN" altLang="en-US"/>
              <a:t>，当</a:t>
            </a:r>
            <a:r>
              <a:rPr lang="en-US" altLang="zh-CN"/>
              <a:t>Position&gt;ListLength(La), Position=1</a:t>
            </a:r>
          </a:p>
          <a:p>
            <a:pPr eaLnBrk="1" hangingPunct="1"/>
            <a:r>
              <a:rPr lang="zh-CN" altLang="en-US"/>
              <a:t>报到</a:t>
            </a:r>
            <a:r>
              <a:rPr lang="en-US" altLang="zh-CN"/>
              <a:t>m</a:t>
            </a:r>
            <a:r>
              <a:rPr lang="zh-CN" altLang="en-US"/>
              <a:t>时，删除</a:t>
            </a:r>
            <a:r>
              <a:rPr lang="en-US" altLang="zh-CN"/>
              <a:t>positon</a:t>
            </a:r>
            <a:r>
              <a:rPr lang="zh-CN" altLang="en-US"/>
              <a:t>所指示的结点</a:t>
            </a:r>
            <a:endParaRPr lang="en-US" altLang="zh-CN"/>
          </a:p>
          <a:p>
            <a:pPr eaLnBrk="1" hangingPunct="1"/>
            <a:r>
              <a:rPr lang="zh-CN" altLang="en-US"/>
              <a:t>下一轮，从</a:t>
            </a:r>
            <a:r>
              <a:rPr lang="en-US" altLang="zh-CN"/>
              <a:t>positon</a:t>
            </a:r>
            <a:r>
              <a:rPr lang="zh-CN" altLang="en-US"/>
              <a:t>指向的结点开始报数</a:t>
            </a:r>
          </a:p>
        </p:txBody>
      </p:sp>
    </p:spTree>
  </p:cSld>
  <p:clrMapOvr>
    <a:masterClrMapping/>
  </p:clrMapOvr>
  <p:transition>
    <p:strips dir="r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ChangeArrowheads="1"/>
          </p:cNvSpPr>
          <p:nvPr/>
        </p:nvSpPr>
        <p:spPr bwMode="auto">
          <a:xfrm>
            <a:off x="1524000" y="1773238"/>
            <a:ext cx="9144000" cy="2735262"/>
          </a:xfrm>
          <a:prstGeom prst="rect">
            <a:avLst/>
          </a:prstGeom>
          <a:noFill/>
          <a:ln w="9525">
            <a:noFill/>
            <a:miter lim="800000"/>
          </a:ln>
          <a:effectLst/>
        </p:spPr>
        <p:txBody>
          <a:bodyPr/>
          <a:lstStyle/>
          <a:p>
            <a:pPr marL="342900" indent="-342900" algn="ctr">
              <a:spcBef>
                <a:spcPct val="20000"/>
              </a:spcBef>
              <a:defRPr/>
            </a:pPr>
            <a:r>
              <a:rPr lang="zh-CN" altLang="en-US" sz="4800" dirty="0">
                <a:solidFill>
                  <a:schemeClr val="hlink"/>
                </a:solidFill>
                <a:effectLst>
                  <a:outerShdw blurRad="38100" dist="38100" dir="2700000" algn="tl">
                    <a:srgbClr val="C0C0C0"/>
                  </a:outerShdw>
                </a:effectLst>
                <a:latin typeface="Times New Roman" panose="02020603050405020304" pitchFamily="18" charset="0"/>
                <a:ea typeface="楷体_GB2312" pitchFamily="49" charset="-122"/>
                <a:cs typeface="+mn-cs"/>
              </a:rPr>
              <a:t>实例研究</a:t>
            </a:r>
            <a:r>
              <a:rPr lang="en-US" altLang="zh-CN" sz="4800" dirty="0">
                <a:solidFill>
                  <a:schemeClr val="hlink"/>
                </a:solidFill>
                <a:effectLst>
                  <a:outerShdw blurRad="38100" dist="38100" dir="2700000" algn="tl">
                    <a:srgbClr val="C0C0C0"/>
                  </a:outerShdw>
                </a:effectLst>
                <a:latin typeface="Times New Roman" panose="02020603050405020304" pitchFamily="18" charset="0"/>
                <a:ea typeface="楷体_GB2312" pitchFamily="49" charset="-122"/>
                <a:cs typeface="+mn-cs"/>
              </a:rPr>
              <a:t>——</a:t>
            </a:r>
            <a:r>
              <a:rPr lang="zh-CN" altLang="en-US" sz="4800" dirty="0">
                <a:solidFill>
                  <a:schemeClr val="hlink"/>
                </a:solidFill>
                <a:effectLst>
                  <a:outerShdw blurRad="38100" dist="38100" dir="2700000" algn="tl">
                    <a:srgbClr val="C0C0C0"/>
                  </a:outerShdw>
                </a:effectLst>
                <a:latin typeface="Times New Roman" panose="02020603050405020304" pitchFamily="18" charset="0"/>
                <a:ea typeface="楷体_GB2312" pitchFamily="49" charset="-122"/>
                <a:cs typeface="+mn-cs"/>
              </a:rPr>
              <a:t>一元多项式的表示</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08930">
                                            <p:txEl>
                                              <p:pRg st="0" end="0"/>
                                            </p:txEl>
                                          </p:spTgt>
                                        </p:tgtEl>
                                        <p:attrNameLst>
                                          <p:attrName>style.visibility</p:attrName>
                                        </p:attrNameLst>
                                      </p:cBhvr>
                                      <p:to>
                                        <p:strVal val="visible"/>
                                      </p:to>
                                    </p:set>
                                    <p:anim calcmode="lin" valueType="num">
                                      <p:cBhvr additive="base">
                                        <p:cTn id="7" dur="500" fill="hold"/>
                                        <p:tgtEl>
                                          <p:spTgt spid="5089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0893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0" grpId="0" build="p"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854" name="对象 78853"/>
          <p:cNvGraphicFramePr/>
          <p:nvPr/>
        </p:nvGraphicFramePr>
        <p:xfrm>
          <a:off x="2406651" y="1430339"/>
          <a:ext cx="7383463" cy="788987"/>
        </p:xfrm>
        <a:graphic>
          <a:graphicData uri="http://schemas.openxmlformats.org/presentationml/2006/ole">
            <mc:AlternateContent xmlns:mc="http://schemas.openxmlformats.org/markup-compatibility/2006">
              <mc:Choice xmlns:v="urn:schemas-microsoft-com:vml" Requires="v">
                <p:oleObj spid="_x0000_s3074" r:id="rId3" imgW="2246630" imgH="241300" progId="Equation.3">
                  <p:embed/>
                </p:oleObj>
              </mc:Choice>
              <mc:Fallback>
                <p:oleObj r:id="rId3" imgW="2246630" imgH="241300" progId="Equation.3">
                  <p:embed/>
                  <p:pic>
                    <p:nvPicPr>
                      <p:cNvPr id="0" name="图片 3075"/>
                      <p:cNvPicPr/>
                      <p:nvPr/>
                    </p:nvPicPr>
                    <p:blipFill>
                      <a:blip r:embed="rId4"/>
                      <a:stretch>
                        <a:fillRect/>
                      </a:stretch>
                    </p:blipFill>
                    <p:spPr>
                      <a:xfrm>
                        <a:off x="2406651" y="1430339"/>
                        <a:ext cx="7383463" cy="788987"/>
                      </a:xfrm>
                      <a:prstGeom prst="rect">
                        <a:avLst/>
                      </a:prstGeom>
                      <a:noFill/>
                      <a:ln w="38100">
                        <a:noFill/>
                        <a:miter/>
                      </a:ln>
                    </p:spPr>
                  </p:pic>
                </p:oleObj>
              </mc:Fallback>
            </mc:AlternateContent>
          </a:graphicData>
        </a:graphic>
      </p:graphicFrame>
      <p:sp>
        <p:nvSpPr>
          <p:cNvPr id="78855" name="文本框 78854"/>
          <p:cNvSpPr txBox="1"/>
          <p:nvPr/>
        </p:nvSpPr>
        <p:spPr>
          <a:xfrm>
            <a:off x="1949451" y="2344738"/>
            <a:ext cx="8239125" cy="1554162"/>
          </a:xfrm>
          <a:prstGeom prst="rect">
            <a:avLst/>
          </a:prstGeom>
          <a:noFill/>
          <a:ln w="9525">
            <a:noFill/>
          </a:ln>
        </p:spPr>
        <p:txBody>
          <a:bodyPr wrap="none" anchor="t" anchorCtr="0">
            <a:spAutoFit/>
          </a:bodyPr>
          <a:lstStyle/>
          <a:p>
            <a:pPr>
              <a:lnSpc>
                <a:spcPct val="120000"/>
              </a:lnSpc>
            </a:pPr>
            <a:r>
              <a:rPr lang="zh-CN" altLang="en-US" dirty="0">
                <a:latin typeface="楷体_GB2312" pitchFamily="49" charset="-122"/>
                <a:ea typeface="楷体_GB2312" pitchFamily="49" charset="-122"/>
              </a:rPr>
              <a:t>在计算机中，可以用一个线性表来表示</a:t>
            </a:r>
            <a:r>
              <a:rPr lang="en-US" altLang="zh-CN" dirty="0">
                <a:latin typeface="楷体_GB2312" pitchFamily="49" charset="-122"/>
                <a:ea typeface="楷体_GB2312" pitchFamily="49" charset="-122"/>
              </a:rPr>
              <a:t>:</a:t>
            </a:r>
            <a:endParaRPr lang="en-US" altLang="zh-CN" sz="4400" dirty="0">
              <a:latin typeface="楷体_GB2312" pitchFamily="49" charset="-122"/>
              <a:ea typeface="楷体_GB2312" pitchFamily="49" charset="-122"/>
            </a:endParaRPr>
          </a:p>
          <a:p>
            <a:pPr>
              <a:lnSpc>
                <a:spcPct val="120000"/>
              </a:lnSpc>
            </a:pPr>
            <a:r>
              <a:rPr lang="en-US" altLang="zh-CN" sz="4400" dirty="0">
                <a:ea typeface="楷体_GB2312" pitchFamily="49" charset="-122"/>
              </a:rPr>
              <a:t>      </a:t>
            </a:r>
            <a:r>
              <a:rPr lang="en-US" altLang="zh-CN" sz="4400">
                <a:ea typeface="楷体_GB2312" pitchFamily="49" charset="-122"/>
              </a:rPr>
              <a:t>P = (p</a:t>
            </a:r>
            <a:r>
              <a:rPr lang="en-US" altLang="zh-CN" sz="4400" baseline="-25000">
                <a:ea typeface="楷体_GB2312" pitchFamily="49" charset="-122"/>
              </a:rPr>
              <a:t>0</a:t>
            </a:r>
            <a:r>
              <a:rPr lang="en-US" altLang="zh-CN" sz="4400">
                <a:ea typeface="楷体_GB2312" pitchFamily="49" charset="-122"/>
              </a:rPr>
              <a:t>, p</a:t>
            </a:r>
            <a:r>
              <a:rPr lang="en-US" altLang="zh-CN" sz="4400" baseline="-25000">
                <a:ea typeface="楷体_GB2312" pitchFamily="49" charset="-122"/>
              </a:rPr>
              <a:t>1</a:t>
            </a:r>
            <a:r>
              <a:rPr lang="en-US" altLang="zh-CN" sz="4400">
                <a:ea typeface="楷体_GB2312" pitchFamily="49" charset="-122"/>
              </a:rPr>
              <a:t>, </a:t>
            </a:r>
            <a:r>
              <a:rPr lang="en-US" altLang="zh-CN" sz="4400">
                <a:latin typeface="Times New Roman" panose="02020603050405020304" pitchFamily="18" charset="-52"/>
                <a:ea typeface="楷体_GB2312" pitchFamily="49" charset="-122"/>
              </a:rPr>
              <a:t>…</a:t>
            </a:r>
            <a:r>
              <a:rPr lang="zh-CN" altLang="en-US" sz="4400">
                <a:ea typeface="楷体_GB2312" pitchFamily="49" charset="-122"/>
              </a:rPr>
              <a:t>，</a:t>
            </a:r>
            <a:r>
              <a:rPr lang="en-US" altLang="zh-CN" sz="4400" err="1">
                <a:ea typeface="楷体_GB2312" pitchFamily="49" charset="-122"/>
              </a:rPr>
              <a:t>p</a:t>
            </a:r>
            <a:r>
              <a:rPr lang="en-US" altLang="zh-CN" sz="4400" baseline="-25000" err="1">
                <a:ea typeface="楷体_GB2312" pitchFamily="49" charset="-122"/>
              </a:rPr>
              <a:t>n</a:t>
            </a:r>
            <a:r>
              <a:rPr lang="en-US" altLang="zh-CN" sz="4400">
                <a:ea typeface="楷体_GB2312" pitchFamily="49" charset="-122"/>
              </a:rPr>
              <a:t>)</a:t>
            </a:r>
            <a:endParaRPr lang="en-US" altLang="zh-CN" sz="4400"/>
          </a:p>
        </p:txBody>
      </p:sp>
      <p:sp>
        <p:nvSpPr>
          <p:cNvPr id="78856" name="文本框 78855"/>
          <p:cNvSpPr txBox="1"/>
          <p:nvPr/>
        </p:nvSpPr>
        <p:spPr>
          <a:xfrm>
            <a:off x="2057401" y="533400"/>
            <a:ext cx="3001963" cy="762000"/>
          </a:xfrm>
          <a:prstGeom prst="rect">
            <a:avLst/>
          </a:prstGeom>
          <a:noFill/>
          <a:ln w="9525">
            <a:noFill/>
          </a:ln>
        </p:spPr>
        <p:txBody>
          <a:bodyPr wrap="none" anchor="t" anchorCtr="0">
            <a:spAutoFit/>
          </a:bodyPr>
          <a:lstStyle/>
          <a:p>
            <a:r>
              <a:rPr lang="zh-CN" altLang="en-US" sz="4400" dirty="0">
                <a:solidFill>
                  <a:srgbClr val="3333CC"/>
                </a:solidFill>
                <a:latin typeface="楷体_GB2312" pitchFamily="49" charset="-122"/>
                <a:ea typeface="楷体_GB2312" pitchFamily="49" charset="-122"/>
              </a:rPr>
              <a:t>一元多项式</a:t>
            </a:r>
            <a:endParaRPr lang="zh-CN" altLang="en-US" sz="2400"/>
          </a:p>
        </p:txBody>
      </p:sp>
      <p:sp>
        <p:nvSpPr>
          <p:cNvPr id="78857" name="文本框 78856"/>
          <p:cNvSpPr txBox="1"/>
          <p:nvPr/>
        </p:nvSpPr>
        <p:spPr>
          <a:xfrm>
            <a:off x="1981200" y="4114800"/>
            <a:ext cx="8382000" cy="2166620"/>
          </a:xfrm>
          <a:prstGeom prst="rect">
            <a:avLst/>
          </a:prstGeom>
          <a:noFill/>
          <a:ln w="9525">
            <a:noFill/>
          </a:ln>
        </p:spPr>
        <p:txBody>
          <a:bodyPr>
            <a:spAutoFit/>
          </a:bodyPr>
          <a:lstStyle/>
          <a:p>
            <a:pPr>
              <a:spcBef>
                <a:spcPct val="50000"/>
              </a:spcBef>
            </a:pPr>
            <a:r>
              <a:rPr lang="zh-CN" altLang="en-US" sz="3200" dirty="0">
                <a:ea typeface="楷体_GB2312" pitchFamily="49" charset="-122"/>
              </a:rPr>
              <a:t>但是对于形如</a:t>
            </a:r>
            <a:endParaRPr lang="zh-CN" altLang="en-US" sz="2000" dirty="0"/>
          </a:p>
          <a:p>
            <a:pPr>
              <a:spcBef>
                <a:spcPct val="50000"/>
              </a:spcBef>
            </a:pPr>
            <a:r>
              <a:rPr lang="zh-CN" altLang="en-US">
                <a:ea typeface="楷体_GB2312" pitchFamily="49" charset="-122"/>
              </a:rPr>
              <a:t> </a:t>
            </a:r>
            <a:r>
              <a:rPr lang="zh-CN" altLang="en-US" sz="4000">
                <a:ea typeface="楷体_GB2312" pitchFamily="49" charset="-122"/>
              </a:rPr>
              <a:t>     </a:t>
            </a:r>
            <a:r>
              <a:rPr lang="en-US" altLang="zh-CN" sz="4000">
                <a:solidFill>
                  <a:srgbClr val="000099"/>
                </a:solidFill>
                <a:ea typeface="楷体_GB2312" pitchFamily="49" charset="-122"/>
              </a:rPr>
              <a:t>S(x) = 1 + 3x</a:t>
            </a:r>
            <a:r>
              <a:rPr lang="en-US" altLang="zh-CN" sz="4000" baseline="30000">
                <a:solidFill>
                  <a:srgbClr val="000099"/>
                </a:solidFill>
                <a:ea typeface="楷体_GB2312" pitchFamily="49" charset="-122"/>
              </a:rPr>
              <a:t>10000</a:t>
            </a:r>
            <a:r>
              <a:rPr lang="en-US" altLang="zh-CN" sz="4000">
                <a:solidFill>
                  <a:srgbClr val="000099"/>
                </a:solidFill>
                <a:ea typeface="楷体_GB2312" pitchFamily="49" charset="-122"/>
              </a:rPr>
              <a:t> – 2x</a:t>
            </a:r>
            <a:r>
              <a:rPr lang="en-US" altLang="zh-CN" sz="4000" baseline="30000">
                <a:solidFill>
                  <a:srgbClr val="000099"/>
                </a:solidFill>
                <a:ea typeface="楷体_GB2312" pitchFamily="49" charset="-122"/>
              </a:rPr>
              <a:t>20000</a:t>
            </a:r>
          </a:p>
          <a:p>
            <a:pPr>
              <a:spcBef>
                <a:spcPct val="50000"/>
              </a:spcBef>
            </a:pPr>
            <a:r>
              <a:rPr lang="zh-CN" altLang="en-US" sz="4400" baseline="30000" dirty="0">
                <a:ea typeface="楷体_GB2312" pitchFamily="49" charset="-122"/>
              </a:rPr>
              <a:t>的多项式，上述表示方法是否合适？</a:t>
            </a:r>
          </a:p>
        </p:txBody>
      </p:sp>
    </p:spTree>
  </p:cSld>
  <p:clrMapOvr>
    <a:masterClrMapping/>
  </p:clrMapOvr>
  <p:transition spd="med">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文本框 79873"/>
          <p:cNvSpPr txBox="1"/>
          <p:nvPr/>
        </p:nvSpPr>
        <p:spPr>
          <a:xfrm>
            <a:off x="1893889" y="223839"/>
            <a:ext cx="7667625" cy="2761615"/>
          </a:xfrm>
          <a:prstGeom prst="rect">
            <a:avLst/>
          </a:prstGeom>
          <a:noFill/>
          <a:ln w="9525">
            <a:noFill/>
          </a:ln>
        </p:spPr>
        <p:txBody>
          <a:bodyPr wrap="none" anchor="t" anchorCtr="0">
            <a:spAutoFit/>
          </a:bodyPr>
          <a:lstStyle/>
          <a:p>
            <a:pPr>
              <a:lnSpc>
                <a:spcPct val="140000"/>
              </a:lnSpc>
            </a:pPr>
            <a:r>
              <a:rPr lang="en-US" altLang="zh-CN" sz="1800" dirty="0">
                <a:ea typeface="楷体_GB2312" pitchFamily="49" charset="-122"/>
              </a:rPr>
              <a:t> </a:t>
            </a:r>
            <a:r>
              <a:rPr lang="zh-CN" altLang="en-US" sz="2800" dirty="0">
                <a:ea typeface="楷体_GB2312" pitchFamily="49" charset="-122"/>
              </a:rPr>
              <a:t>一般情况下的</a:t>
            </a:r>
            <a:r>
              <a:rPr lang="zh-CN" altLang="en-US" sz="2800" dirty="0">
                <a:solidFill>
                  <a:srgbClr val="000099"/>
                </a:solidFill>
                <a:ea typeface="楷体_GB2312" pitchFamily="49" charset="-122"/>
              </a:rPr>
              <a:t>一元稀疏多项式</a:t>
            </a:r>
            <a:r>
              <a:rPr lang="zh-CN" altLang="en-US" sz="2800" dirty="0">
                <a:ea typeface="楷体_GB2312" pitchFamily="49" charset="-122"/>
              </a:rPr>
              <a:t>可写成</a:t>
            </a:r>
            <a:endParaRPr lang="zh-CN" altLang="en-US" sz="3200" dirty="0">
              <a:ea typeface="楷体_GB2312" pitchFamily="49" charset="-122"/>
            </a:endParaRPr>
          </a:p>
          <a:p>
            <a:pPr>
              <a:lnSpc>
                <a:spcPct val="140000"/>
              </a:lnSpc>
            </a:pPr>
            <a:r>
              <a:rPr lang="zh-CN" altLang="en-US" sz="3200" dirty="0">
                <a:ea typeface="楷体_GB2312" pitchFamily="49" charset="-122"/>
              </a:rPr>
              <a:t>      </a:t>
            </a:r>
            <a:r>
              <a:rPr lang="en-US" altLang="zh-CN" sz="3200" err="1">
                <a:solidFill>
                  <a:srgbClr val="3333CC"/>
                </a:solidFill>
                <a:ea typeface="楷体_GB2312" pitchFamily="49" charset="-122"/>
              </a:rPr>
              <a:t>P</a:t>
            </a:r>
            <a:r>
              <a:rPr lang="en-US" altLang="zh-CN" sz="3200" baseline="-25000" err="1">
                <a:solidFill>
                  <a:srgbClr val="3333CC"/>
                </a:solidFill>
                <a:ea typeface="楷体_GB2312" pitchFamily="49" charset="-122"/>
              </a:rPr>
              <a:t>n</a:t>
            </a:r>
            <a:r>
              <a:rPr lang="en-US" altLang="zh-CN" sz="3200">
                <a:solidFill>
                  <a:srgbClr val="3333CC"/>
                </a:solidFill>
                <a:ea typeface="楷体_GB2312" pitchFamily="49" charset="-122"/>
              </a:rPr>
              <a:t>(x) = p</a:t>
            </a:r>
            <a:r>
              <a:rPr lang="en-US" altLang="zh-CN" sz="3200" baseline="-25000">
                <a:solidFill>
                  <a:srgbClr val="3333CC"/>
                </a:solidFill>
                <a:ea typeface="楷体_GB2312" pitchFamily="49" charset="-122"/>
              </a:rPr>
              <a:t>1</a:t>
            </a:r>
            <a:r>
              <a:rPr lang="en-US" altLang="zh-CN" sz="3200">
                <a:solidFill>
                  <a:srgbClr val="3333CC"/>
                </a:solidFill>
                <a:ea typeface="楷体_GB2312" pitchFamily="49" charset="-122"/>
              </a:rPr>
              <a:t>x</a:t>
            </a:r>
            <a:r>
              <a:rPr lang="en-US" altLang="zh-CN" sz="3200" baseline="30000">
                <a:solidFill>
                  <a:srgbClr val="3333CC"/>
                </a:solidFill>
                <a:ea typeface="楷体_GB2312" pitchFamily="49" charset="-122"/>
              </a:rPr>
              <a:t>e1</a:t>
            </a:r>
            <a:r>
              <a:rPr lang="en-US" altLang="zh-CN" sz="3200">
                <a:solidFill>
                  <a:srgbClr val="3333CC"/>
                </a:solidFill>
                <a:ea typeface="楷体_GB2312" pitchFamily="49" charset="-122"/>
              </a:rPr>
              <a:t> + p</a:t>
            </a:r>
            <a:r>
              <a:rPr lang="en-US" altLang="zh-CN" sz="3200" baseline="-25000">
                <a:solidFill>
                  <a:srgbClr val="3333CC"/>
                </a:solidFill>
                <a:ea typeface="楷体_GB2312" pitchFamily="49" charset="-122"/>
              </a:rPr>
              <a:t>2</a:t>
            </a:r>
            <a:r>
              <a:rPr lang="en-US" altLang="zh-CN" sz="3200">
                <a:solidFill>
                  <a:srgbClr val="3333CC"/>
                </a:solidFill>
                <a:ea typeface="楷体_GB2312" pitchFamily="49" charset="-122"/>
              </a:rPr>
              <a:t>x</a:t>
            </a:r>
            <a:r>
              <a:rPr lang="en-US" altLang="zh-CN" sz="3200" baseline="30000">
                <a:solidFill>
                  <a:srgbClr val="3333CC"/>
                </a:solidFill>
                <a:ea typeface="楷体_GB2312" pitchFamily="49" charset="-122"/>
              </a:rPr>
              <a:t>e2</a:t>
            </a:r>
            <a:r>
              <a:rPr lang="en-US" altLang="zh-CN" sz="3200">
                <a:solidFill>
                  <a:srgbClr val="3333CC"/>
                </a:solidFill>
                <a:ea typeface="楷体_GB2312" pitchFamily="49" charset="-122"/>
              </a:rPr>
              <a:t> + </a:t>
            </a:r>
            <a:r>
              <a:rPr lang="en-US" altLang="zh-CN" sz="3200">
                <a:solidFill>
                  <a:srgbClr val="3333CC"/>
                </a:solidFill>
                <a:latin typeface="楷体_GB2312" pitchFamily="49" charset="-122"/>
                <a:ea typeface="楷体_GB2312" pitchFamily="49" charset="-122"/>
              </a:rPr>
              <a:t>┄</a:t>
            </a:r>
            <a:r>
              <a:rPr lang="en-US" altLang="zh-CN" sz="3200">
                <a:solidFill>
                  <a:srgbClr val="3333CC"/>
                </a:solidFill>
                <a:ea typeface="楷体_GB2312" pitchFamily="49" charset="-122"/>
              </a:rPr>
              <a:t> +</a:t>
            </a:r>
            <a:r>
              <a:rPr lang="en-US" altLang="zh-CN" sz="3200" err="1">
                <a:solidFill>
                  <a:srgbClr val="3333CC"/>
                </a:solidFill>
                <a:ea typeface="楷体_GB2312" pitchFamily="49" charset="-122"/>
              </a:rPr>
              <a:t> p</a:t>
            </a:r>
            <a:r>
              <a:rPr lang="en-US" altLang="zh-CN" sz="3200" baseline="-25000" err="1">
                <a:solidFill>
                  <a:srgbClr val="3333CC"/>
                </a:solidFill>
                <a:ea typeface="楷体_GB2312" pitchFamily="49" charset="-122"/>
              </a:rPr>
              <a:t>m</a:t>
            </a:r>
            <a:r>
              <a:rPr lang="en-US" altLang="zh-CN" sz="3200" err="1">
                <a:solidFill>
                  <a:srgbClr val="3333CC"/>
                </a:solidFill>
                <a:ea typeface="楷体_GB2312" pitchFamily="49" charset="-122"/>
              </a:rPr>
              <a:t>x</a:t>
            </a:r>
            <a:r>
              <a:rPr lang="en-US" altLang="zh-CN" sz="3200" baseline="30000" err="1">
                <a:solidFill>
                  <a:srgbClr val="3333CC"/>
                </a:solidFill>
                <a:ea typeface="楷体_GB2312" pitchFamily="49" charset="-122"/>
              </a:rPr>
              <a:t>em</a:t>
            </a:r>
            <a:endParaRPr lang="en-US" altLang="zh-CN" sz="3200" err="1">
              <a:ea typeface="楷体_GB2312" pitchFamily="49" charset="-122"/>
            </a:endParaRPr>
          </a:p>
          <a:p>
            <a:pPr>
              <a:lnSpc>
                <a:spcPct val="140000"/>
              </a:lnSpc>
            </a:pPr>
            <a:r>
              <a:rPr lang="zh-CN" altLang="en-US" sz="2800" dirty="0">
                <a:ea typeface="楷体_GB2312" pitchFamily="49" charset="-122"/>
              </a:rPr>
              <a:t>其中</a:t>
            </a:r>
            <a:r>
              <a:rPr lang="zh-CN" altLang="en-US" sz="3200" dirty="0">
                <a:ea typeface="楷体_GB2312" pitchFamily="49" charset="-122"/>
              </a:rPr>
              <a:t>：</a:t>
            </a:r>
            <a:r>
              <a:rPr lang="en-US" altLang="zh-CN" sz="3200">
                <a:solidFill>
                  <a:srgbClr val="000099"/>
                </a:solidFill>
                <a:ea typeface="楷体_GB2312" pitchFamily="49" charset="-122"/>
              </a:rPr>
              <a:t>p</a:t>
            </a:r>
            <a:r>
              <a:rPr lang="en-US" altLang="zh-CN" sz="3200" baseline="-25000">
                <a:solidFill>
                  <a:srgbClr val="000099"/>
                </a:solidFill>
                <a:ea typeface="楷体_GB2312" pitchFamily="49" charset="-122"/>
              </a:rPr>
              <a:t>i</a:t>
            </a:r>
            <a:r>
              <a:rPr lang="en-US" altLang="zh-CN" sz="3200">
                <a:ea typeface="楷体_GB2312" pitchFamily="49" charset="-122"/>
              </a:rPr>
              <a:t> </a:t>
            </a:r>
            <a:r>
              <a:rPr lang="zh-CN" altLang="en-US" sz="2800" dirty="0">
                <a:ea typeface="楷体_GB2312" pitchFamily="49" charset="-122"/>
              </a:rPr>
              <a:t>是指数为</a:t>
            </a:r>
            <a:r>
              <a:rPr lang="en-US" altLang="zh-CN" sz="3200" err="1">
                <a:solidFill>
                  <a:srgbClr val="000099"/>
                </a:solidFill>
                <a:ea typeface="楷体_GB2312" pitchFamily="49" charset="-122"/>
              </a:rPr>
              <a:t>e</a:t>
            </a:r>
            <a:r>
              <a:rPr lang="en-US" altLang="zh-CN" sz="3200" baseline="-25000" err="1">
                <a:solidFill>
                  <a:srgbClr val="000099"/>
                </a:solidFill>
                <a:ea typeface="楷体_GB2312" pitchFamily="49" charset="-122"/>
              </a:rPr>
              <a:t>i</a:t>
            </a:r>
            <a:r>
              <a:rPr lang="en-US" altLang="zh-CN" sz="3200" err="1">
                <a:solidFill>
                  <a:srgbClr val="000099"/>
                </a:solidFill>
                <a:ea typeface="楷体_GB2312" pitchFamily="49" charset="-122"/>
              </a:rPr>
              <a:t> </a:t>
            </a:r>
            <a:r>
              <a:rPr lang="zh-CN" altLang="en-US" sz="2800" dirty="0">
                <a:ea typeface="楷体_GB2312" pitchFamily="49" charset="-122"/>
              </a:rPr>
              <a:t>的项的非零系数</a:t>
            </a:r>
            <a:r>
              <a:rPr lang="zh-CN" altLang="en-US" sz="3200" dirty="0">
                <a:ea typeface="楷体_GB2312" pitchFamily="49" charset="-122"/>
              </a:rPr>
              <a:t>，</a:t>
            </a:r>
          </a:p>
          <a:p>
            <a:pPr>
              <a:lnSpc>
                <a:spcPct val="140000"/>
              </a:lnSpc>
            </a:pPr>
            <a:r>
              <a:rPr lang="zh-CN" altLang="en-US" sz="3200" dirty="0">
                <a:ea typeface="楷体_GB2312" pitchFamily="49" charset="-122"/>
              </a:rPr>
              <a:t>            </a:t>
            </a:r>
            <a:r>
              <a:rPr lang="en-US" altLang="zh-CN" sz="3200" dirty="0">
                <a:solidFill>
                  <a:srgbClr val="000099"/>
                </a:solidFill>
                <a:ea typeface="楷体_GB2312" pitchFamily="49" charset="-122"/>
              </a:rPr>
              <a:t>0≤ </a:t>
            </a:r>
            <a:r>
              <a:rPr lang="en-US" altLang="zh-CN" sz="3200">
                <a:solidFill>
                  <a:srgbClr val="000099"/>
                </a:solidFill>
                <a:ea typeface="楷体_GB2312" pitchFamily="49" charset="-122"/>
              </a:rPr>
              <a:t>e</a:t>
            </a:r>
            <a:r>
              <a:rPr lang="en-US" altLang="zh-CN" sz="3200" baseline="-25000">
                <a:solidFill>
                  <a:srgbClr val="000099"/>
                </a:solidFill>
                <a:ea typeface="楷体_GB2312" pitchFamily="49" charset="-122"/>
              </a:rPr>
              <a:t>1</a:t>
            </a:r>
            <a:r>
              <a:rPr lang="en-US" altLang="zh-CN" sz="3200">
                <a:solidFill>
                  <a:srgbClr val="000099"/>
                </a:solidFill>
                <a:ea typeface="楷体_GB2312" pitchFamily="49" charset="-122"/>
              </a:rPr>
              <a:t> &lt; e</a:t>
            </a:r>
            <a:r>
              <a:rPr lang="en-US" altLang="zh-CN" sz="3200" baseline="-25000">
                <a:solidFill>
                  <a:srgbClr val="000099"/>
                </a:solidFill>
                <a:ea typeface="楷体_GB2312" pitchFamily="49" charset="-122"/>
              </a:rPr>
              <a:t>2</a:t>
            </a:r>
            <a:r>
              <a:rPr lang="en-US" altLang="zh-CN" sz="3200">
                <a:solidFill>
                  <a:srgbClr val="000099"/>
                </a:solidFill>
                <a:ea typeface="楷体_GB2312" pitchFamily="49" charset="-122"/>
              </a:rPr>
              <a:t> &lt; ┄ &lt; e</a:t>
            </a:r>
            <a:r>
              <a:rPr lang="en-US" altLang="zh-CN" sz="3200" baseline="-25000">
                <a:solidFill>
                  <a:srgbClr val="000099"/>
                </a:solidFill>
                <a:ea typeface="楷体_GB2312" pitchFamily="49" charset="-122"/>
              </a:rPr>
              <a:t>m</a:t>
            </a:r>
            <a:r>
              <a:rPr lang="en-US" altLang="zh-CN" sz="3200">
                <a:solidFill>
                  <a:srgbClr val="000099"/>
                </a:solidFill>
                <a:ea typeface="楷体_GB2312" pitchFamily="49" charset="-122"/>
              </a:rPr>
              <a:t> = n</a:t>
            </a:r>
          </a:p>
        </p:txBody>
      </p:sp>
      <p:sp>
        <p:nvSpPr>
          <p:cNvPr id="79875" name="文本框 79874"/>
          <p:cNvSpPr txBox="1"/>
          <p:nvPr/>
        </p:nvSpPr>
        <p:spPr>
          <a:xfrm>
            <a:off x="1981201" y="3995739"/>
            <a:ext cx="7736413" cy="1260153"/>
          </a:xfrm>
          <a:prstGeom prst="rect">
            <a:avLst/>
          </a:prstGeom>
          <a:noFill/>
          <a:ln w="9525">
            <a:noFill/>
          </a:ln>
        </p:spPr>
        <p:txBody>
          <a:bodyPr wrap="none" anchor="t" anchorCtr="0">
            <a:spAutoFit/>
          </a:bodyPr>
          <a:lstStyle/>
          <a:p>
            <a:pPr>
              <a:lnSpc>
                <a:spcPct val="125000"/>
              </a:lnSpc>
            </a:pPr>
            <a:r>
              <a:rPr lang="zh-CN" altLang="en-US" sz="2800" dirty="0">
                <a:ea typeface="楷体_GB2312" pitchFamily="49" charset="-122"/>
              </a:rPr>
              <a:t>可以下列线性表表示：</a:t>
            </a:r>
          </a:p>
          <a:p>
            <a:pPr>
              <a:lnSpc>
                <a:spcPct val="125000"/>
              </a:lnSpc>
            </a:pPr>
            <a:r>
              <a:rPr lang="zh-CN" altLang="en-US" dirty="0">
                <a:solidFill>
                  <a:srgbClr val="3333CC"/>
                </a:solidFill>
                <a:ea typeface="楷体_GB2312" pitchFamily="49" charset="-122"/>
              </a:rPr>
              <a:t>（（</a:t>
            </a:r>
            <a:r>
              <a:rPr lang="en-US" altLang="zh-CN">
                <a:solidFill>
                  <a:srgbClr val="3333CC"/>
                </a:solidFill>
                <a:ea typeface="楷体_GB2312" pitchFamily="49" charset="-122"/>
              </a:rPr>
              <a:t>p</a:t>
            </a:r>
            <a:r>
              <a:rPr lang="en-US" altLang="zh-CN" baseline="-25000">
                <a:solidFill>
                  <a:srgbClr val="3333CC"/>
                </a:solidFill>
                <a:ea typeface="楷体_GB2312" pitchFamily="49" charset="-122"/>
              </a:rPr>
              <a:t>1</a:t>
            </a:r>
            <a:r>
              <a:rPr lang="en-US" altLang="zh-CN">
                <a:solidFill>
                  <a:srgbClr val="3333CC"/>
                </a:solidFill>
                <a:ea typeface="楷体_GB2312" pitchFamily="49" charset="-122"/>
              </a:rPr>
              <a:t>, e</a:t>
            </a:r>
            <a:r>
              <a:rPr lang="en-US" altLang="zh-CN" baseline="-25000">
                <a:solidFill>
                  <a:srgbClr val="3333CC"/>
                </a:solidFill>
                <a:ea typeface="楷体_GB2312" pitchFamily="49" charset="-122"/>
              </a:rPr>
              <a:t>1</a:t>
            </a:r>
            <a:r>
              <a:rPr lang="zh-CN" altLang="en-US">
                <a:solidFill>
                  <a:srgbClr val="3333CC"/>
                </a:solidFill>
                <a:ea typeface="楷体_GB2312" pitchFamily="49" charset="-122"/>
              </a:rPr>
              <a:t>）</a:t>
            </a:r>
            <a:r>
              <a:rPr lang="en-US" altLang="zh-CN">
                <a:solidFill>
                  <a:srgbClr val="3333CC"/>
                </a:solidFill>
                <a:ea typeface="楷体_GB2312" pitchFamily="49" charset="-122"/>
              </a:rPr>
              <a:t>, (p</a:t>
            </a:r>
            <a:r>
              <a:rPr lang="en-US" altLang="zh-CN" baseline="-25000">
                <a:solidFill>
                  <a:srgbClr val="3333CC"/>
                </a:solidFill>
                <a:ea typeface="楷体_GB2312" pitchFamily="49" charset="-122"/>
              </a:rPr>
              <a:t>2</a:t>
            </a:r>
            <a:r>
              <a:rPr lang="en-US" altLang="zh-CN">
                <a:solidFill>
                  <a:srgbClr val="3333CC"/>
                </a:solidFill>
                <a:ea typeface="楷体_GB2312" pitchFamily="49" charset="-122"/>
              </a:rPr>
              <a:t>, e</a:t>
            </a:r>
            <a:r>
              <a:rPr lang="en-US" altLang="zh-CN" baseline="-25000">
                <a:solidFill>
                  <a:srgbClr val="3333CC"/>
                </a:solidFill>
                <a:ea typeface="楷体_GB2312" pitchFamily="49" charset="-122"/>
              </a:rPr>
              <a:t>2</a:t>
            </a:r>
            <a:r>
              <a:rPr lang="en-US" altLang="zh-CN">
                <a:solidFill>
                  <a:srgbClr val="3333CC"/>
                </a:solidFill>
                <a:ea typeface="楷体_GB2312" pitchFamily="49" charset="-122"/>
              </a:rPr>
              <a:t>), </a:t>
            </a:r>
            <a:r>
              <a:rPr lang="en-US" altLang="zh-CN">
                <a:solidFill>
                  <a:srgbClr val="3333CC"/>
                </a:solidFill>
                <a:latin typeface="楷体_GB2312" pitchFamily="49" charset="-122"/>
                <a:ea typeface="楷体_GB2312" pitchFamily="49" charset="-122"/>
              </a:rPr>
              <a:t>┄</a:t>
            </a:r>
            <a:r>
              <a:rPr lang="en-US" altLang="zh-CN">
                <a:solidFill>
                  <a:srgbClr val="3333CC"/>
                </a:solidFill>
                <a:ea typeface="楷体_GB2312" pitchFamily="49" charset="-122"/>
              </a:rPr>
              <a:t>, (</a:t>
            </a:r>
            <a:r>
              <a:rPr lang="en-US" altLang="zh-CN" err="1">
                <a:solidFill>
                  <a:srgbClr val="3333CC"/>
                </a:solidFill>
                <a:ea typeface="楷体_GB2312" pitchFamily="49" charset="-122"/>
              </a:rPr>
              <a:t>p</a:t>
            </a:r>
            <a:r>
              <a:rPr lang="en-US" altLang="zh-CN" baseline="-25000" err="1">
                <a:solidFill>
                  <a:srgbClr val="3333CC"/>
                </a:solidFill>
                <a:ea typeface="楷体_GB2312" pitchFamily="49" charset="-122"/>
              </a:rPr>
              <a:t>m</a:t>
            </a:r>
            <a:r>
              <a:rPr lang="en-US" altLang="zh-CN">
                <a:solidFill>
                  <a:srgbClr val="3333CC"/>
                </a:solidFill>
                <a:ea typeface="楷体_GB2312" pitchFamily="49" charset="-122"/>
              </a:rPr>
              <a:t>,e</a:t>
            </a:r>
            <a:r>
              <a:rPr lang="en-US" altLang="zh-CN" baseline="-25000">
                <a:solidFill>
                  <a:srgbClr val="3333CC"/>
                </a:solidFill>
                <a:ea typeface="楷体_GB2312" pitchFamily="49" charset="-122"/>
              </a:rPr>
              <a:t>m</a:t>
            </a:r>
            <a:r>
              <a:rPr lang="en-US" altLang="zh-CN">
                <a:solidFill>
                  <a:srgbClr val="3333CC"/>
                </a:solidFill>
                <a:ea typeface="楷体_GB2312" pitchFamily="49" charset="-122"/>
              </a:rPr>
              <a:t>) </a:t>
            </a:r>
            <a:r>
              <a:rPr lang="zh-CN" altLang="en-US">
                <a:solidFill>
                  <a:srgbClr val="3333CC"/>
                </a:solidFill>
                <a:ea typeface="楷体_GB2312" pitchFamily="49" charset="-122"/>
              </a:rPr>
              <a:t>）</a:t>
            </a:r>
          </a:p>
        </p:txBody>
      </p:sp>
    </p:spTree>
  </p:cSld>
  <p:clrMapOvr>
    <a:masterClrMapping/>
  </p:clrMapOvr>
  <p:transition spd="med">
    <p:zo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文本框 109569"/>
          <p:cNvSpPr txBox="1"/>
          <p:nvPr/>
        </p:nvSpPr>
        <p:spPr>
          <a:xfrm>
            <a:off x="3019426" y="1371601"/>
            <a:ext cx="6141425" cy="646331"/>
          </a:xfrm>
          <a:prstGeom prst="rect">
            <a:avLst/>
          </a:prstGeom>
          <a:noFill/>
          <a:ln w="9525">
            <a:noFill/>
          </a:ln>
        </p:spPr>
        <p:txBody>
          <a:bodyPr wrap="none" anchor="t" anchorCtr="0">
            <a:spAutoFit/>
          </a:bodyPr>
          <a:lstStyle/>
          <a:p>
            <a:r>
              <a:rPr lang="en-US" altLang="zh-CN" sz="2000">
                <a:ea typeface="楷体_GB2312" pitchFamily="49" charset="-122"/>
              </a:rPr>
              <a:t> </a:t>
            </a:r>
            <a:r>
              <a:rPr lang="en-US" altLang="zh-CN">
                <a:solidFill>
                  <a:srgbClr val="3333CC"/>
                </a:solidFill>
                <a:ea typeface="楷体_GB2312" pitchFamily="49" charset="-122"/>
              </a:rPr>
              <a:t>P</a:t>
            </a:r>
            <a:r>
              <a:rPr lang="en-US" altLang="zh-CN" baseline="-25000">
                <a:solidFill>
                  <a:srgbClr val="3333CC"/>
                </a:solidFill>
                <a:ea typeface="楷体_GB2312" pitchFamily="49" charset="-122"/>
              </a:rPr>
              <a:t>999</a:t>
            </a:r>
            <a:r>
              <a:rPr lang="en-US" altLang="zh-CN">
                <a:solidFill>
                  <a:srgbClr val="3333CC"/>
                </a:solidFill>
                <a:ea typeface="楷体_GB2312" pitchFamily="49" charset="-122"/>
              </a:rPr>
              <a:t>(x) = 7x</a:t>
            </a:r>
            <a:r>
              <a:rPr lang="en-US" altLang="zh-CN" baseline="30000">
                <a:solidFill>
                  <a:srgbClr val="3333CC"/>
                </a:solidFill>
                <a:ea typeface="楷体_GB2312" pitchFamily="49" charset="-122"/>
              </a:rPr>
              <a:t>3</a:t>
            </a:r>
            <a:r>
              <a:rPr lang="en-US" altLang="zh-CN">
                <a:solidFill>
                  <a:srgbClr val="3333CC"/>
                </a:solidFill>
                <a:ea typeface="楷体_GB2312" pitchFamily="49" charset="-122"/>
              </a:rPr>
              <a:t> - 2x</a:t>
            </a:r>
            <a:r>
              <a:rPr lang="en-US" altLang="zh-CN" baseline="30000">
                <a:solidFill>
                  <a:srgbClr val="3333CC"/>
                </a:solidFill>
                <a:ea typeface="楷体_GB2312" pitchFamily="49" charset="-122"/>
              </a:rPr>
              <a:t>12</a:t>
            </a:r>
            <a:r>
              <a:rPr lang="en-US" altLang="zh-CN">
                <a:solidFill>
                  <a:srgbClr val="3333CC"/>
                </a:solidFill>
                <a:ea typeface="楷体_GB2312" pitchFamily="49" charset="-122"/>
              </a:rPr>
              <a:t> - 8x</a:t>
            </a:r>
            <a:r>
              <a:rPr lang="en-US" altLang="zh-CN" baseline="30000">
                <a:solidFill>
                  <a:srgbClr val="3333CC"/>
                </a:solidFill>
                <a:ea typeface="楷体_GB2312" pitchFamily="49" charset="-122"/>
              </a:rPr>
              <a:t>999</a:t>
            </a:r>
          </a:p>
        </p:txBody>
      </p:sp>
      <p:sp>
        <p:nvSpPr>
          <p:cNvPr id="109571" name="文本框 109570"/>
          <p:cNvSpPr txBox="1"/>
          <p:nvPr/>
        </p:nvSpPr>
        <p:spPr>
          <a:xfrm>
            <a:off x="2041525" y="377826"/>
            <a:ext cx="1379538" cy="701675"/>
          </a:xfrm>
          <a:prstGeom prst="rect">
            <a:avLst/>
          </a:prstGeom>
          <a:noFill/>
          <a:ln w="9525">
            <a:noFill/>
          </a:ln>
        </p:spPr>
        <p:txBody>
          <a:bodyPr wrap="none" anchor="t" anchorCtr="0">
            <a:spAutoFit/>
          </a:bodyPr>
          <a:lstStyle/>
          <a:p>
            <a:r>
              <a:rPr lang="zh-CN" altLang="en-US" sz="4000" dirty="0"/>
              <a:t>例如</a:t>
            </a:r>
            <a:r>
              <a:rPr lang="en-US" altLang="zh-CN" sz="4000" dirty="0"/>
              <a:t>:</a:t>
            </a:r>
            <a:endParaRPr lang="en-US" altLang="zh-CN" sz="2400"/>
          </a:p>
        </p:txBody>
      </p:sp>
      <p:sp>
        <p:nvSpPr>
          <p:cNvPr id="109572" name="文本框 109571"/>
          <p:cNvSpPr txBox="1"/>
          <p:nvPr/>
        </p:nvSpPr>
        <p:spPr>
          <a:xfrm>
            <a:off x="2209801" y="2498725"/>
            <a:ext cx="6396303" cy="1882760"/>
          </a:xfrm>
          <a:prstGeom prst="rect">
            <a:avLst/>
          </a:prstGeom>
          <a:noFill/>
          <a:ln w="9525">
            <a:noFill/>
          </a:ln>
        </p:spPr>
        <p:txBody>
          <a:bodyPr wrap="none" anchor="t" anchorCtr="0">
            <a:spAutoFit/>
          </a:bodyPr>
          <a:lstStyle/>
          <a:p>
            <a:pPr>
              <a:lnSpc>
                <a:spcPct val="125000"/>
              </a:lnSpc>
            </a:pPr>
            <a:r>
              <a:rPr lang="zh-CN" altLang="en-US" sz="3200" dirty="0">
                <a:ea typeface="楷体_GB2312" pitchFamily="49" charset="-122"/>
              </a:rPr>
              <a:t>可用线性表</a:t>
            </a:r>
          </a:p>
          <a:p>
            <a:pPr>
              <a:lnSpc>
                <a:spcPct val="125000"/>
              </a:lnSpc>
            </a:pPr>
            <a:r>
              <a:rPr lang="zh-CN" altLang="en-US" sz="3200" dirty="0">
                <a:ea typeface="楷体_GB2312" pitchFamily="49" charset="-122"/>
              </a:rPr>
              <a:t>       </a:t>
            </a:r>
            <a:r>
              <a:rPr lang="en-US" altLang="zh-CN" sz="3200" dirty="0">
                <a:solidFill>
                  <a:srgbClr val="3333CC"/>
                </a:solidFill>
                <a:ea typeface="楷体_GB2312" pitchFamily="49" charset="-122"/>
              </a:rPr>
              <a:t>( (7, 3), (-2, 12), (-8, 999) )</a:t>
            </a:r>
            <a:endParaRPr lang="en-US" altLang="zh-CN" sz="3200" dirty="0">
              <a:ea typeface="楷体_GB2312" pitchFamily="49" charset="-122"/>
            </a:endParaRPr>
          </a:p>
          <a:p>
            <a:pPr>
              <a:lnSpc>
                <a:spcPct val="125000"/>
              </a:lnSpc>
            </a:pPr>
            <a:r>
              <a:rPr lang="zh-CN" altLang="en-US" sz="3200" dirty="0">
                <a:ea typeface="楷体_GB2312" pitchFamily="49" charset="-122"/>
              </a:rPr>
              <a:t>表示</a:t>
            </a:r>
          </a:p>
        </p:txBody>
      </p:sp>
    </p:spTree>
  </p:cSld>
  <p:clrMapOvr>
    <a:masterClrMapping/>
  </p:clrMapOvr>
  <p:transition spd="med">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文本框 113665"/>
          <p:cNvSpPr txBox="1"/>
          <p:nvPr/>
        </p:nvSpPr>
        <p:spPr>
          <a:xfrm>
            <a:off x="2209801" y="288926"/>
            <a:ext cx="4799013" cy="701675"/>
          </a:xfrm>
          <a:prstGeom prst="rect">
            <a:avLst/>
          </a:prstGeom>
          <a:noFill/>
          <a:ln w="9525">
            <a:noFill/>
          </a:ln>
        </p:spPr>
        <p:txBody>
          <a:bodyPr wrap="none" anchor="t" anchorCtr="0">
            <a:spAutoFit/>
          </a:bodyPr>
          <a:lstStyle/>
          <a:p>
            <a:r>
              <a:rPr lang="zh-CN" altLang="en-US" sz="4000" dirty="0">
                <a:solidFill>
                  <a:srgbClr val="3333CC"/>
                </a:solidFill>
                <a:ea typeface="隶书" panose="02010509060101010101" pitchFamily="49" charset="-122"/>
              </a:rPr>
              <a:t>一元多项式的实现：</a:t>
            </a:r>
            <a:endParaRPr lang="zh-CN" altLang="en-US" sz="2400" dirty="0"/>
          </a:p>
        </p:txBody>
      </p:sp>
      <p:sp>
        <p:nvSpPr>
          <p:cNvPr id="2" name="文本框 1">
            <a:extLst>
              <a:ext uri="{FF2B5EF4-FFF2-40B4-BE49-F238E27FC236}">
                <a16:creationId xmlns:a16="http://schemas.microsoft.com/office/drawing/2014/main" id="{1B75D967-60CF-5AD4-FBDA-596B4B890EC7}"/>
              </a:ext>
            </a:extLst>
          </p:cNvPr>
          <p:cNvSpPr txBox="1"/>
          <p:nvPr/>
        </p:nvSpPr>
        <p:spPr>
          <a:xfrm>
            <a:off x="407368" y="990601"/>
            <a:ext cx="11089232" cy="5293757"/>
          </a:xfrm>
          <a:prstGeom prst="rect">
            <a:avLst/>
          </a:prstGeom>
          <a:noFill/>
        </p:spPr>
        <p:txBody>
          <a:bodyPr wrap="square" rtlCol="0">
            <a:spAutoFit/>
          </a:bodyPr>
          <a:lstStyle/>
          <a:p>
            <a:pPr algn="just">
              <a:buNone/>
            </a:pPr>
            <a:r>
              <a:rPr lang="zh-CN" altLang="zh-CN" sz="3200" kern="100" dirty="0">
                <a:latin typeface="Times New Roman" panose="02020603050405020304" pitchFamily="18" charset="0"/>
                <a:cs typeface="Times New Roman" panose="02020603050405020304" pitchFamily="18" charset="0"/>
              </a:rPr>
              <a:t>一元稀疏多项式的顺序表类型定义如下：</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Bef>
                <a:spcPts val="600"/>
              </a:spcBef>
              <a:buNone/>
            </a:pPr>
            <a:r>
              <a:rPr lang="en-US" altLang="zh-CN" sz="3200" kern="100" dirty="0">
                <a:latin typeface="Courier New" panose="02070309020205020404" pitchFamily="49" charset="0"/>
                <a:cs typeface="Times New Roman" panose="02020603050405020304" pitchFamily="18" charset="0"/>
              </a:rPr>
              <a:t>typedef struct {</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3200" kern="100" dirty="0">
                <a:latin typeface="Courier New" panose="02070309020205020404" pitchFamily="49" charset="0"/>
                <a:cs typeface="Times New Roman" panose="02020603050405020304" pitchFamily="18" charset="0"/>
              </a:rPr>
              <a:t>  float </a:t>
            </a:r>
            <a:r>
              <a:rPr lang="en-US" altLang="zh-CN" sz="3200" kern="100" dirty="0" err="1">
                <a:latin typeface="Courier New" panose="02070309020205020404" pitchFamily="49" charset="0"/>
                <a:cs typeface="Times New Roman" panose="02020603050405020304" pitchFamily="18" charset="0"/>
              </a:rPr>
              <a:t>coef</a:t>
            </a:r>
            <a:r>
              <a:rPr lang="en-US" altLang="zh-CN" sz="3200" kern="100" dirty="0">
                <a:latin typeface="Courier New" panose="02070309020205020404" pitchFamily="49" charset="0"/>
                <a:cs typeface="Times New Roman" panose="02020603050405020304" pitchFamily="18" charset="0"/>
              </a:rPr>
              <a:t>;        </a:t>
            </a:r>
            <a:r>
              <a:rPr lang="en-US" altLang="zh-CN" sz="3200"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zh-CN" sz="3200" kern="100" dirty="0">
                <a:solidFill>
                  <a:schemeClr val="accent6">
                    <a:lumMod val="75000"/>
                  </a:schemeClr>
                </a:solidFill>
                <a:latin typeface="Courier New" panose="02070309020205020404" pitchFamily="49" charset="0"/>
                <a:cs typeface="Courier New" panose="02070309020205020404" pitchFamily="49" charset="0"/>
              </a:rPr>
              <a:t>系数</a:t>
            </a:r>
            <a:endParaRPr lang="zh-CN" altLang="zh-CN" sz="3200" kern="100" dirty="0">
              <a:solidFill>
                <a:schemeClr val="accent6">
                  <a:lumMod val="75000"/>
                </a:schemeClr>
              </a:solidFill>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3200" kern="100" dirty="0">
                <a:latin typeface="Courier New" panose="02070309020205020404" pitchFamily="49" charset="0"/>
                <a:cs typeface="Times New Roman" panose="02020603050405020304" pitchFamily="18" charset="0"/>
              </a:rPr>
              <a:t>  int    </a:t>
            </a:r>
            <a:r>
              <a:rPr lang="en-US" altLang="zh-CN" sz="3200" kern="100" dirty="0" err="1">
                <a:latin typeface="Courier New" panose="02070309020205020404" pitchFamily="49" charset="0"/>
                <a:cs typeface="Times New Roman" panose="02020603050405020304" pitchFamily="18" charset="0"/>
              </a:rPr>
              <a:t>expn</a:t>
            </a:r>
            <a:r>
              <a:rPr lang="en-US" altLang="zh-CN" sz="3200" kern="100" dirty="0">
                <a:latin typeface="Courier New" panose="02070309020205020404" pitchFamily="49" charset="0"/>
                <a:cs typeface="Times New Roman" panose="02020603050405020304" pitchFamily="18" charset="0"/>
              </a:rPr>
              <a:t>;       </a:t>
            </a:r>
            <a:r>
              <a:rPr lang="en-US" altLang="zh-CN" sz="3200"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zh-CN" sz="3200" kern="100" dirty="0">
                <a:solidFill>
                  <a:schemeClr val="accent6">
                    <a:lumMod val="75000"/>
                  </a:schemeClr>
                </a:solidFill>
                <a:latin typeface="Courier New" panose="02070309020205020404" pitchFamily="49" charset="0"/>
                <a:cs typeface="Times New Roman" panose="02020603050405020304" pitchFamily="18" charset="0"/>
              </a:rPr>
              <a:t>指数</a:t>
            </a:r>
          </a:p>
          <a:p>
            <a:pPr algn="just">
              <a:spcAft>
                <a:spcPts val="600"/>
              </a:spcAft>
              <a:buNone/>
            </a:pPr>
            <a:r>
              <a:rPr lang="en-US" altLang="zh-CN" sz="3200" kern="100" dirty="0">
                <a:latin typeface="Courier New" panose="02070309020205020404" pitchFamily="49" charset="0"/>
                <a:cs typeface="Times New Roman" panose="02020603050405020304" pitchFamily="18" charset="0"/>
              </a:rPr>
              <a:t>} Term;              </a:t>
            </a:r>
            <a:r>
              <a:rPr lang="en-US" altLang="zh-CN" sz="3200"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zh-CN" sz="3200" kern="100" dirty="0">
                <a:solidFill>
                  <a:schemeClr val="accent6">
                    <a:lumMod val="75000"/>
                  </a:schemeClr>
                </a:solidFill>
                <a:latin typeface="Courier New" panose="02070309020205020404" pitchFamily="49" charset="0"/>
                <a:cs typeface="Times New Roman" panose="02020603050405020304" pitchFamily="18" charset="0"/>
              </a:rPr>
              <a:t>项类型</a:t>
            </a:r>
          </a:p>
          <a:p>
            <a:pPr algn="just">
              <a:buNone/>
            </a:pPr>
            <a:r>
              <a:rPr lang="en-US" altLang="zh-CN" sz="3200" kern="100" dirty="0">
                <a:latin typeface="Courier New" panose="02070309020205020404" pitchFamily="49" charset="0"/>
                <a:cs typeface="Times New Roman" panose="02020603050405020304" pitchFamily="18" charset="0"/>
              </a:rPr>
              <a:t>typedef struct {</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3200" kern="100" dirty="0">
                <a:latin typeface="Courier New" panose="02070309020205020404" pitchFamily="49" charset="0"/>
                <a:cs typeface="Times New Roman" panose="02020603050405020304" pitchFamily="18" charset="0"/>
              </a:rPr>
              <a:t>  Term  *term;       </a:t>
            </a:r>
            <a:r>
              <a:rPr lang="en-US" altLang="zh-CN" sz="3200"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zh-CN" sz="3200" kern="100" dirty="0">
                <a:solidFill>
                  <a:schemeClr val="accent6">
                    <a:lumMod val="75000"/>
                  </a:schemeClr>
                </a:solidFill>
                <a:latin typeface="Courier New" panose="02070309020205020404" pitchFamily="49" charset="0"/>
                <a:cs typeface="Times New Roman" panose="02020603050405020304" pitchFamily="18" charset="0"/>
              </a:rPr>
              <a:t>存储空间基址</a:t>
            </a:r>
          </a:p>
          <a:p>
            <a:pPr algn="just">
              <a:buNone/>
            </a:pPr>
            <a:r>
              <a:rPr lang="en-US" altLang="zh-CN" sz="3200" kern="100" dirty="0">
                <a:latin typeface="Courier New" panose="02070309020205020404" pitchFamily="49" charset="0"/>
                <a:cs typeface="Times New Roman" panose="02020603050405020304" pitchFamily="18" charset="0"/>
              </a:rPr>
              <a:t>  int    </a:t>
            </a:r>
            <a:r>
              <a:rPr lang="en-US" altLang="zh-CN" sz="3200" kern="100" dirty="0" err="1">
                <a:latin typeface="Courier New" panose="02070309020205020404" pitchFamily="49" charset="0"/>
                <a:cs typeface="Times New Roman" panose="02020603050405020304" pitchFamily="18" charset="0"/>
              </a:rPr>
              <a:t>termNum</a:t>
            </a:r>
            <a:r>
              <a:rPr lang="en-US" altLang="zh-CN" sz="3200" kern="100" dirty="0">
                <a:latin typeface="Courier New" panose="02070309020205020404" pitchFamily="49" charset="0"/>
                <a:cs typeface="Times New Roman" panose="02020603050405020304" pitchFamily="18" charset="0"/>
              </a:rPr>
              <a:t>;    </a:t>
            </a:r>
            <a:r>
              <a:rPr lang="en-US" altLang="zh-CN" sz="3200"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zh-CN" sz="3200" kern="100" dirty="0">
                <a:solidFill>
                  <a:schemeClr val="accent6">
                    <a:lumMod val="75000"/>
                  </a:schemeClr>
                </a:solidFill>
                <a:latin typeface="Courier New" panose="02070309020205020404" pitchFamily="49" charset="0"/>
                <a:cs typeface="Times New Roman" panose="02020603050405020304" pitchFamily="18" charset="0"/>
              </a:rPr>
              <a:t>长度（项数）</a:t>
            </a:r>
          </a:p>
          <a:p>
            <a:pPr algn="just">
              <a:spcAft>
                <a:spcPts val="600"/>
              </a:spcAft>
              <a:buNone/>
            </a:pPr>
            <a:r>
              <a:rPr lang="en-US" altLang="zh-CN" sz="3200" kern="100" dirty="0">
                <a:latin typeface="Courier New" panose="02070309020205020404" pitchFamily="49" charset="0"/>
                <a:cs typeface="Times New Roman" panose="02020603050405020304" pitchFamily="18" charset="0"/>
              </a:rPr>
              <a:t>} *Poly;  </a:t>
            </a:r>
            <a:r>
              <a:rPr lang="en-US" altLang="zh-CN" sz="3200"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zh-CN" sz="3200" kern="100" dirty="0">
                <a:solidFill>
                  <a:schemeClr val="accent6">
                    <a:lumMod val="75000"/>
                  </a:schemeClr>
                </a:solidFill>
                <a:latin typeface="Courier New" panose="02070309020205020404" pitchFamily="49" charset="0"/>
                <a:cs typeface="Times New Roman" panose="02020603050405020304" pitchFamily="18" charset="0"/>
              </a:rPr>
              <a:t>一元稀疏多项式（指针）类型（需动态生成，可彻底回收</a:t>
            </a:r>
            <a:endParaRPr lang="zh-CN" altLang="en-US" sz="3200" dirty="0"/>
          </a:p>
        </p:txBody>
      </p:sp>
    </p:spTree>
  </p:cSld>
  <p:clrMapOvr>
    <a:masterClrMapping/>
  </p:clrMapOvr>
  <p:transition spd="med">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266FBA9-C10B-7A8C-733B-7A81F26D4586}"/>
              </a:ext>
            </a:extLst>
          </p:cNvPr>
          <p:cNvSpPr>
            <a:spLocks noGrp="1"/>
          </p:cNvSpPr>
          <p:nvPr>
            <p:ph type="sldNum" sz="quarter" idx="4294967295"/>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C0FE0B-717B-41AE-9FA2-CA4BF851D1C3}" type="slidenum">
              <a:rPr kumimoji="0" lang="zh-CN" altLang="en-US" sz="1200" b="0" i="0" u="none" strike="noStrike" kern="1200" cap="none" spc="0" normalizeH="0" baseline="0" noProof="0" smtClean="0">
                <a:ln>
                  <a:noFill/>
                </a:ln>
                <a:solidFill>
                  <a:prstClr val="black">
                    <a:tint val="82000"/>
                  </a:prstClr>
                </a:solidFill>
                <a:effectLst/>
                <a:uLnTx/>
                <a:uFillTx/>
                <a:latin typeface="Times New Roman" panose="020206030504050203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zh-CN" altLang="en-US" sz="1200" b="0" i="0" u="none" strike="noStrike" kern="1200" cap="none" spc="0" normalizeH="0" baseline="0" noProof="0">
              <a:ln>
                <a:noFill/>
              </a:ln>
              <a:solidFill>
                <a:prstClr val="black">
                  <a:tint val="82000"/>
                </a:prstClr>
              </a:solidFill>
              <a:effectLst/>
              <a:uLnTx/>
              <a:uFillTx/>
              <a:latin typeface="Times New Roman" panose="02020603050405020304"/>
              <a:ea typeface="宋体" panose="02010600030101010101" pitchFamily="2" charset="-122"/>
              <a:cs typeface="+mn-cs"/>
            </a:endParaRPr>
          </a:p>
        </p:txBody>
      </p:sp>
      <p:sp>
        <p:nvSpPr>
          <p:cNvPr id="5" name="矩形: 圆角 4">
            <a:extLst>
              <a:ext uri="{FF2B5EF4-FFF2-40B4-BE49-F238E27FC236}">
                <a16:creationId xmlns:a16="http://schemas.microsoft.com/office/drawing/2014/main" id="{EB54521C-04DA-0F7E-4918-1557F8C1E31F}"/>
              </a:ext>
            </a:extLst>
          </p:cNvPr>
          <p:cNvSpPr/>
          <p:nvPr/>
        </p:nvSpPr>
        <p:spPr>
          <a:xfrm>
            <a:off x="1334386" y="223284"/>
            <a:ext cx="4960088" cy="536944"/>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zh-CN" sz="2400" b="1" i="0" u="none" strike="noStrike" kern="100" cap="none" spc="0" normalizeH="0" baseline="0" noProof="0" dirty="0">
                <a:ln>
                  <a:noFill/>
                </a:ln>
                <a:solidFill>
                  <a:srgbClr val="C00000"/>
                </a:solidFill>
                <a:effectLst/>
                <a:uLnTx/>
                <a:uFillTx/>
                <a:latin typeface="等线" panose="02010600030101010101" pitchFamily="2" charset="-122"/>
                <a:ea typeface="黑体" panose="02010609060101010101" pitchFamily="49" charset="-122"/>
                <a:cs typeface="Times New Roman" panose="02020603050405020304" pitchFamily="18" charset="0"/>
              </a:rPr>
              <a:t>算法</a:t>
            </a:r>
            <a:r>
              <a:rPr kumimoji="0" lang="en-US" altLang="zh-CN" sz="2400" b="1" i="0" u="none" strike="noStrike" kern="100" cap="none" spc="0" normalizeH="0" baseline="0" noProof="0" dirty="0">
                <a:ln>
                  <a:noFill/>
                </a:ln>
                <a:solidFill>
                  <a:srgbClr val="C00000"/>
                </a:solidFill>
                <a:effectLst/>
                <a:uLnTx/>
                <a:uFillTx/>
                <a:latin typeface="等线" panose="02010600030101010101" pitchFamily="2" charset="-122"/>
                <a:ea typeface="黑体" panose="02010609060101010101" pitchFamily="49" charset="-122"/>
                <a:cs typeface="Times New Roman" panose="02020603050405020304" pitchFamily="18" charset="0"/>
              </a:rPr>
              <a:t> 2.19   </a:t>
            </a:r>
            <a:r>
              <a:rPr kumimoji="0" lang="zh-CN" altLang="zh-CN" sz="2400" b="1" i="0" u="none" strike="noStrike" kern="1200" cap="none" spc="0" normalizeH="0" baseline="0" noProof="0" dirty="0">
                <a:ln>
                  <a:noFill/>
                </a:ln>
                <a:solidFill>
                  <a:srgbClr val="050EBB"/>
                </a:solidFill>
                <a:effectLst/>
                <a:uLnTx/>
                <a:uFillTx/>
                <a:latin typeface="Times New Roman" panose="02020603050405020304"/>
                <a:ea typeface="宋体" panose="02010600030101010101" pitchFamily="2" charset="-122"/>
                <a:cs typeface="+mn-cs"/>
              </a:rPr>
              <a:t>构建一元稀疏多项式</a:t>
            </a:r>
            <a:endParaRPr kumimoji="0" lang="zh-CN" altLang="zh-CN" sz="2400" b="1" i="0" u="none" strike="noStrike" kern="100" cap="none" spc="0" normalizeH="0" baseline="0" noProof="0" dirty="0">
              <a:ln>
                <a:noFill/>
              </a:ln>
              <a:solidFill>
                <a:srgbClr val="050EBB"/>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358F0800-E724-D480-D204-1E2CCCAAF724}"/>
              </a:ext>
            </a:extLst>
          </p:cNvPr>
          <p:cNvSpPr txBox="1"/>
          <p:nvPr/>
        </p:nvSpPr>
        <p:spPr>
          <a:xfrm>
            <a:off x="388090" y="2864453"/>
            <a:ext cx="10329530" cy="3770263"/>
          </a:xfrm>
          <a:prstGeom prst="rect">
            <a:avLst/>
          </a:prstGeom>
          <a:solidFill>
            <a:schemeClr val="bg2"/>
          </a:solidFill>
        </p:spPr>
        <p:txBody>
          <a:bodyPr wrap="square">
            <a:spAutoFit/>
          </a:bodyPr>
          <a:lstStyle/>
          <a:p>
            <a:pPr marL="0" marR="0" lvl="0" indent="0" algn="just" defTabSz="914400" rtl="0" eaLnBrk="1" fontAlgn="auto" latinLnBrk="0" hangingPunct="1">
              <a:lnSpc>
                <a:spcPct val="100000"/>
              </a:lnSpc>
              <a:spcBef>
                <a:spcPts val="60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Poly </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allocPoly</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int</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m) </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辅助操作：为一个</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m</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项多项式分配存储空间</a:t>
            </a:r>
            <a:endParaRPr kumimoji="0" lang="zh-CN" altLang="zh-CN" sz="2800" b="0" i="0" u="none" strike="noStrike" kern="100" cap="none" spc="0" normalizeH="0" baseline="0" noProof="0" dirty="0">
              <a:ln>
                <a:noFill/>
              </a:ln>
              <a:solidFill>
                <a:srgbClr val="4EA72E">
                  <a:lumMod val="75000"/>
                </a:srgbClr>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Poly Q;</a:t>
            </a:r>
            <a:endParaRPr kumimoji="0" lang="zh-CN" altLang="zh-CN"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if</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(Q = (Poly)</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malloc</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8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sizeof</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(*Q)))) </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exit</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(OVERFLOW);  </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分配结构记录空间</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if</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(Q-&gt;term = (Term*)</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malloc</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(m*</a:t>
            </a:r>
            <a:r>
              <a:rPr kumimoji="0" lang="en-US" altLang="zh-CN" sz="18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sizeof</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       </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分配</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m</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项存储空间</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exit</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(OVERFLOW); </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若失败，则异常退出</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return</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Q; </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返回分配了空间的</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空</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多项式</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endParaRPr kumimoji="0" lang="zh-CN" altLang="zh-CN"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60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Poly </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CreatePoly</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 </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ts</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int</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m) </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由</a:t>
            </a:r>
            <a:r>
              <a:rPr kumimoji="0" lang="en-US" altLang="zh-CN" sz="1800" b="0" i="0" u="none" strike="noStrike" kern="100" cap="none" spc="0" normalizeH="0" baseline="0" noProof="0" dirty="0" err="1">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ts</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前</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m</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项构建并返回一元稀疏多项式</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Poly P = </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allocPoly</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(m));                      </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分配</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m</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项空间</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for</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int</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=0; </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&lt;m; </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P-&gt;term[</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 </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ts</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依次存入</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m</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项（系数和指数）</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P-&gt;</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termNum</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 m;                              </a:t>
            </a:r>
            <a:r>
              <a:rPr kumimoji="0" lang="en-US"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保存项数</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return</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a:t>
            </a:r>
            <a:endParaRPr kumimoji="0" lang="zh-CN" altLang="zh-CN"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endParaRPr kumimoji="0" lang="zh-CN" altLang="zh-CN" sz="2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grpSp>
        <p:nvGrpSpPr>
          <p:cNvPr id="8" name="组合 7">
            <a:extLst>
              <a:ext uri="{FF2B5EF4-FFF2-40B4-BE49-F238E27FC236}">
                <a16:creationId xmlns:a16="http://schemas.microsoft.com/office/drawing/2014/main" id="{9D18FCA4-9D00-E6FD-8EBD-E8FD44F81A82}"/>
              </a:ext>
            </a:extLst>
          </p:cNvPr>
          <p:cNvGrpSpPr/>
          <p:nvPr/>
        </p:nvGrpSpPr>
        <p:grpSpPr>
          <a:xfrm>
            <a:off x="7214065" y="1217177"/>
            <a:ext cx="2297353" cy="1052631"/>
            <a:chOff x="712255" y="1057250"/>
            <a:chExt cx="2297353" cy="1052631"/>
          </a:xfrm>
        </p:grpSpPr>
        <p:grpSp>
          <p:nvGrpSpPr>
            <p:cNvPr id="9" name="组合 8">
              <a:extLst>
                <a:ext uri="{FF2B5EF4-FFF2-40B4-BE49-F238E27FC236}">
                  <a16:creationId xmlns:a16="http://schemas.microsoft.com/office/drawing/2014/main" id="{5B950910-021C-AC6C-9470-12A631FD8854}"/>
                </a:ext>
              </a:extLst>
            </p:cNvPr>
            <p:cNvGrpSpPr/>
            <p:nvPr/>
          </p:nvGrpSpPr>
          <p:grpSpPr>
            <a:xfrm>
              <a:off x="1714112" y="1327506"/>
              <a:ext cx="1239978" cy="782375"/>
              <a:chOff x="1690258" y="540327"/>
              <a:chExt cx="1239978" cy="782375"/>
            </a:xfrm>
          </p:grpSpPr>
          <p:sp>
            <p:nvSpPr>
              <p:cNvPr id="16" name="文本框 15">
                <a:extLst>
                  <a:ext uri="{FF2B5EF4-FFF2-40B4-BE49-F238E27FC236}">
                    <a16:creationId xmlns:a16="http://schemas.microsoft.com/office/drawing/2014/main" id="{4B4A4BE1-4909-2D8E-4579-C33A4F6D2991}"/>
                  </a:ext>
                </a:extLst>
              </p:cNvPr>
              <p:cNvSpPr txBox="1"/>
              <p:nvPr/>
            </p:nvSpPr>
            <p:spPr>
              <a:xfrm>
                <a:off x="1696804" y="542355"/>
                <a:ext cx="30198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AE28AC1B-BEC9-BFAC-151E-BC0DCB10A7AA}"/>
                  </a:ext>
                </a:extLst>
              </p:cNvPr>
              <p:cNvSpPr txBox="1"/>
              <p:nvPr/>
            </p:nvSpPr>
            <p:spPr>
              <a:xfrm>
                <a:off x="2005336" y="542355"/>
                <a:ext cx="30198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文本框 17">
                <a:extLst>
                  <a:ext uri="{FF2B5EF4-FFF2-40B4-BE49-F238E27FC236}">
                    <a16:creationId xmlns:a16="http://schemas.microsoft.com/office/drawing/2014/main" id="{ABECED41-7B85-ACE8-1B0E-222A094CCD09}"/>
                  </a:ext>
                </a:extLst>
              </p:cNvPr>
              <p:cNvSpPr txBox="1"/>
              <p:nvPr/>
            </p:nvSpPr>
            <p:spPr>
              <a:xfrm>
                <a:off x="2313867" y="540327"/>
                <a:ext cx="30198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文本框 18">
                <a:extLst>
                  <a:ext uri="{FF2B5EF4-FFF2-40B4-BE49-F238E27FC236}">
                    <a16:creationId xmlns:a16="http://schemas.microsoft.com/office/drawing/2014/main" id="{366D6D5B-A5D1-8F9B-55E6-2B7915226F16}"/>
                  </a:ext>
                </a:extLst>
              </p:cNvPr>
              <p:cNvSpPr txBox="1"/>
              <p:nvPr/>
            </p:nvSpPr>
            <p:spPr>
              <a:xfrm>
                <a:off x="2628250" y="540327"/>
                <a:ext cx="30198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文本框 19">
                <a:extLst>
                  <a:ext uri="{FF2B5EF4-FFF2-40B4-BE49-F238E27FC236}">
                    <a16:creationId xmlns:a16="http://schemas.microsoft.com/office/drawing/2014/main" id="{5662185B-CB80-5536-0A61-8E110B3E7CDD}"/>
                  </a:ext>
                </a:extLst>
              </p:cNvPr>
              <p:cNvSpPr txBox="1"/>
              <p:nvPr/>
            </p:nvSpPr>
            <p:spPr>
              <a:xfrm>
                <a:off x="1696804" y="935168"/>
                <a:ext cx="301986"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文本框 20">
                <a:extLst>
                  <a:ext uri="{FF2B5EF4-FFF2-40B4-BE49-F238E27FC236}">
                    <a16:creationId xmlns:a16="http://schemas.microsoft.com/office/drawing/2014/main" id="{B3C2C587-E479-AF21-2CF5-8E97C0F6A45E}"/>
                  </a:ext>
                </a:extLst>
              </p:cNvPr>
              <p:cNvSpPr txBox="1"/>
              <p:nvPr/>
            </p:nvSpPr>
            <p:spPr>
              <a:xfrm>
                <a:off x="2005336" y="935168"/>
                <a:ext cx="301986"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文本框 21">
                <a:extLst>
                  <a:ext uri="{FF2B5EF4-FFF2-40B4-BE49-F238E27FC236}">
                    <a16:creationId xmlns:a16="http://schemas.microsoft.com/office/drawing/2014/main" id="{3199183F-0DA1-A31A-1103-DBD2714AF683}"/>
                  </a:ext>
                </a:extLst>
              </p:cNvPr>
              <p:cNvSpPr txBox="1"/>
              <p:nvPr/>
            </p:nvSpPr>
            <p:spPr>
              <a:xfrm>
                <a:off x="2313867" y="933889"/>
                <a:ext cx="301986"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文本框 22">
                <a:extLst>
                  <a:ext uri="{FF2B5EF4-FFF2-40B4-BE49-F238E27FC236}">
                    <a16:creationId xmlns:a16="http://schemas.microsoft.com/office/drawing/2014/main" id="{3CC1E89E-6FA7-295B-0E49-B379CE0E87B7}"/>
                  </a:ext>
                </a:extLst>
              </p:cNvPr>
              <p:cNvSpPr txBox="1"/>
              <p:nvPr/>
            </p:nvSpPr>
            <p:spPr>
              <a:xfrm>
                <a:off x="2627868" y="934788"/>
                <a:ext cx="301986"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矩形 23">
                <a:extLst>
                  <a:ext uri="{FF2B5EF4-FFF2-40B4-BE49-F238E27FC236}">
                    <a16:creationId xmlns:a16="http://schemas.microsoft.com/office/drawing/2014/main" id="{CD4A7EA9-D007-430F-F58C-A94FEBCFCBAD}"/>
                  </a:ext>
                </a:extLst>
              </p:cNvPr>
              <p:cNvSpPr/>
              <p:nvPr/>
            </p:nvSpPr>
            <p:spPr>
              <a:xfrm>
                <a:off x="1690258" y="541223"/>
                <a:ext cx="1239978" cy="77417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noFill/>
                  <a:effectLst/>
                  <a:uLnTx/>
                  <a:uFillTx/>
                  <a:latin typeface="Times New Roman" panose="02020603050405020304"/>
                  <a:ea typeface="宋体" panose="02010600030101010101" pitchFamily="2" charset="-122"/>
                  <a:cs typeface="+mn-cs"/>
                </a:endParaRPr>
              </a:p>
            </p:txBody>
          </p:sp>
        </p:grpSp>
        <p:sp>
          <p:nvSpPr>
            <p:cNvPr id="10" name="文本框 9">
              <a:extLst>
                <a:ext uri="{FF2B5EF4-FFF2-40B4-BE49-F238E27FC236}">
                  <a16:creationId xmlns:a16="http://schemas.microsoft.com/office/drawing/2014/main" id="{223BBE6B-F711-04E1-36E7-EA6ED22B7457}"/>
                </a:ext>
              </a:extLst>
            </p:cNvPr>
            <p:cNvSpPr txBox="1"/>
            <p:nvPr/>
          </p:nvSpPr>
          <p:spPr>
            <a:xfrm>
              <a:off x="1730014" y="1065533"/>
              <a:ext cx="1279594" cy="230832"/>
            </a:xfrm>
            <a:prstGeom prst="rect">
              <a:avLst/>
            </a:prstGeom>
            <a:noFill/>
          </p:spPr>
          <p:txBody>
            <a:bodyPr wrap="square" t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0    1     2     3</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90C3BF98-04C2-2119-5F89-11A68FF35A99}"/>
                </a:ext>
              </a:extLst>
            </p:cNvPr>
            <p:cNvSpPr txBox="1"/>
            <p:nvPr/>
          </p:nvSpPr>
          <p:spPr>
            <a:xfrm>
              <a:off x="952796" y="1382773"/>
              <a:ext cx="777218"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coef</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2" name="文本框 11">
              <a:extLst>
                <a:ext uri="{FF2B5EF4-FFF2-40B4-BE49-F238E27FC236}">
                  <a16:creationId xmlns:a16="http://schemas.microsoft.com/office/drawing/2014/main" id="{D30EAC4B-1771-07AC-4F4D-7E77996ACD72}"/>
                </a:ext>
              </a:extLst>
            </p:cNvPr>
            <p:cNvSpPr txBox="1"/>
            <p:nvPr/>
          </p:nvSpPr>
          <p:spPr>
            <a:xfrm>
              <a:off x="959738" y="1742673"/>
              <a:ext cx="777218"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expn</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3" name="文本框 12">
              <a:extLst>
                <a:ext uri="{FF2B5EF4-FFF2-40B4-BE49-F238E27FC236}">
                  <a16:creationId xmlns:a16="http://schemas.microsoft.com/office/drawing/2014/main" id="{F099742B-7DDC-51B0-3741-7DB2203E2E16}"/>
                </a:ext>
              </a:extLst>
            </p:cNvPr>
            <p:cNvSpPr txBox="1"/>
            <p:nvPr/>
          </p:nvSpPr>
          <p:spPr>
            <a:xfrm>
              <a:off x="712255" y="1057250"/>
              <a:ext cx="1017759"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term[]</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grpSp>
      <p:grpSp>
        <p:nvGrpSpPr>
          <p:cNvPr id="25" name="组合 24">
            <a:extLst>
              <a:ext uri="{FF2B5EF4-FFF2-40B4-BE49-F238E27FC236}">
                <a16:creationId xmlns:a16="http://schemas.microsoft.com/office/drawing/2014/main" id="{C46CAC1C-F7A6-44DE-2414-2A6A981D9105}"/>
              </a:ext>
            </a:extLst>
          </p:cNvPr>
          <p:cNvGrpSpPr/>
          <p:nvPr/>
        </p:nvGrpSpPr>
        <p:grpSpPr>
          <a:xfrm>
            <a:off x="9673016" y="1217177"/>
            <a:ext cx="1943354" cy="1052251"/>
            <a:chOff x="3171206" y="1057250"/>
            <a:chExt cx="1943354" cy="1052251"/>
          </a:xfrm>
        </p:grpSpPr>
        <p:sp>
          <p:nvSpPr>
            <p:cNvPr id="26" name="文本框 25">
              <a:extLst>
                <a:ext uri="{FF2B5EF4-FFF2-40B4-BE49-F238E27FC236}">
                  <a16:creationId xmlns:a16="http://schemas.microsoft.com/office/drawing/2014/main" id="{C734606E-FBA5-F118-98A5-23C85487BF6A}"/>
                </a:ext>
              </a:extLst>
            </p:cNvPr>
            <p:cNvSpPr txBox="1"/>
            <p:nvPr/>
          </p:nvSpPr>
          <p:spPr>
            <a:xfrm>
              <a:off x="4188965" y="1065533"/>
              <a:ext cx="925595" cy="230832"/>
            </a:xfrm>
            <a:prstGeom prst="rect">
              <a:avLst/>
            </a:prstGeom>
            <a:noFill/>
          </p:spPr>
          <p:txBody>
            <a:bodyPr wrap="square" t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0    1    2</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 name="文本框 26">
              <a:extLst>
                <a:ext uri="{FF2B5EF4-FFF2-40B4-BE49-F238E27FC236}">
                  <a16:creationId xmlns:a16="http://schemas.microsoft.com/office/drawing/2014/main" id="{8E921580-EA5A-4516-F7CC-AEF5B848DB73}"/>
                </a:ext>
              </a:extLst>
            </p:cNvPr>
            <p:cNvSpPr txBox="1"/>
            <p:nvPr/>
          </p:nvSpPr>
          <p:spPr>
            <a:xfrm>
              <a:off x="3411747" y="1382773"/>
              <a:ext cx="777218"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coef</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28" name="文本框 27">
              <a:extLst>
                <a:ext uri="{FF2B5EF4-FFF2-40B4-BE49-F238E27FC236}">
                  <a16:creationId xmlns:a16="http://schemas.microsoft.com/office/drawing/2014/main" id="{63AF5CE0-2788-E9F9-477D-43EC083999E1}"/>
                </a:ext>
              </a:extLst>
            </p:cNvPr>
            <p:cNvSpPr txBox="1"/>
            <p:nvPr/>
          </p:nvSpPr>
          <p:spPr>
            <a:xfrm>
              <a:off x="3418689" y="1742673"/>
              <a:ext cx="777218"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expn</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29" name="文本框 28">
              <a:extLst>
                <a:ext uri="{FF2B5EF4-FFF2-40B4-BE49-F238E27FC236}">
                  <a16:creationId xmlns:a16="http://schemas.microsoft.com/office/drawing/2014/main" id="{57EA53B2-CA9C-9C8F-0AC1-D59894E0C87F}"/>
                </a:ext>
              </a:extLst>
            </p:cNvPr>
            <p:cNvSpPr txBox="1"/>
            <p:nvPr/>
          </p:nvSpPr>
          <p:spPr>
            <a:xfrm>
              <a:off x="3171206" y="1057250"/>
              <a:ext cx="1017759"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term[]</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grpSp>
          <p:nvGrpSpPr>
            <p:cNvPr id="32" name="组合 31">
              <a:extLst>
                <a:ext uri="{FF2B5EF4-FFF2-40B4-BE49-F238E27FC236}">
                  <a16:creationId xmlns:a16="http://schemas.microsoft.com/office/drawing/2014/main" id="{0C380BB5-AADA-1795-11B9-8BC35FC3F9F4}"/>
                </a:ext>
              </a:extLst>
            </p:cNvPr>
            <p:cNvGrpSpPr/>
            <p:nvPr/>
          </p:nvGrpSpPr>
          <p:grpSpPr>
            <a:xfrm>
              <a:off x="4175873" y="1335330"/>
              <a:ext cx="925595" cy="774171"/>
              <a:chOff x="3486556" y="2656467"/>
              <a:chExt cx="925595" cy="774171"/>
            </a:xfrm>
          </p:grpSpPr>
          <p:sp>
            <p:nvSpPr>
              <p:cNvPr id="33" name="文本框 32">
                <a:extLst>
                  <a:ext uri="{FF2B5EF4-FFF2-40B4-BE49-F238E27FC236}">
                    <a16:creationId xmlns:a16="http://schemas.microsoft.com/office/drawing/2014/main" id="{37D4BF61-8631-D0FE-5223-40C95602C888}"/>
                  </a:ext>
                </a:extLst>
              </p:cNvPr>
              <p:cNvSpPr txBox="1"/>
              <p:nvPr/>
            </p:nvSpPr>
            <p:spPr>
              <a:xfrm>
                <a:off x="3495593" y="3041466"/>
                <a:ext cx="316398" cy="388800"/>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4" name="文本框 33">
                <a:extLst>
                  <a:ext uri="{FF2B5EF4-FFF2-40B4-BE49-F238E27FC236}">
                    <a16:creationId xmlns:a16="http://schemas.microsoft.com/office/drawing/2014/main" id="{44B26D32-AF84-EC6D-EA05-982820F66BEC}"/>
                  </a:ext>
                </a:extLst>
              </p:cNvPr>
              <p:cNvSpPr txBox="1"/>
              <p:nvPr/>
            </p:nvSpPr>
            <p:spPr>
              <a:xfrm>
                <a:off x="4099565" y="3041466"/>
                <a:ext cx="301986"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 name="文本框 34">
                <a:extLst>
                  <a:ext uri="{FF2B5EF4-FFF2-40B4-BE49-F238E27FC236}">
                    <a16:creationId xmlns:a16="http://schemas.microsoft.com/office/drawing/2014/main" id="{A8731921-1C96-7574-C532-CB53EABA4ABF}"/>
                  </a:ext>
                </a:extLst>
              </p:cNvPr>
              <p:cNvSpPr txBox="1"/>
              <p:nvPr/>
            </p:nvSpPr>
            <p:spPr>
              <a:xfrm>
                <a:off x="3797579" y="3041466"/>
                <a:ext cx="301986" cy="388800"/>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文本框 35">
                <a:extLst>
                  <a:ext uri="{FF2B5EF4-FFF2-40B4-BE49-F238E27FC236}">
                    <a16:creationId xmlns:a16="http://schemas.microsoft.com/office/drawing/2014/main" id="{56CEB0D5-152F-28CF-39E0-2AF60F2A84E4}"/>
                  </a:ext>
                </a:extLst>
              </p:cNvPr>
              <p:cNvSpPr txBox="1"/>
              <p:nvPr/>
            </p:nvSpPr>
            <p:spPr>
              <a:xfrm>
                <a:off x="3495593" y="2664244"/>
                <a:ext cx="316398" cy="388800"/>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文本框 36">
                <a:extLst>
                  <a:ext uri="{FF2B5EF4-FFF2-40B4-BE49-F238E27FC236}">
                    <a16:creationId xmlns:a16="http://schemas.microsoft.com/office/drawing/2014/main" id="{1455060E-1929-57DB-D8FE-9D83CAA00521}"/>
                  </a:ext>
                </a:extLst>
              </p:cNvPr>
              <p:cNvSpPr txBox="1"/>
              <p:nvPr/>
            </p:nvSpPr>
            <p:spPr>
              <a:xfrm>
                <a:off x="4099565" y="2664243"/>
                <a:ext cx="306050" cy="380480"/>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文本框 37">
                <a:extLst>
                  <a:ext uri="{FF2B5EF4-FFF2-40B4-BE49-F238E27FC236}">
                    <a16:creationId xmlns:a16="http://schemas.microsoft.com/office/drawing/2014/main" id="{73C8FD97-BEAE-2939-D343-6D88EBED51F0}"/>
                  </a:ext>
                </a:extLst>
              </p:cNvPr>
              <p:cNvSpPr txBox="1"/>
              <p:nvPr/>
            </p:nvSpPr>
            <p:spPr>
              <a:xfrm>
                <a:off x="3797579" y="2664244"/>
                <a:ext cx="301986" cy="388800"/>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矩形 38">
                <a:extLst>
                  <a:ext uri="{FF2B5EF4-FFF2-40B4-BE49-F238E27FC236}">
                    <a16:creationId xmlns:a16="http://schemas.microsoft.com/office/drawing/2014/main" id="{6AE6FB6B-93C4-4627-92A0-2AD2AA9902A5}"/>
                  </a:ext>
                </a:extLst>
              </p:cNvPr>
              <p:cNvSpPr/>
              <p:nvPr/>
            </p:nvSpPr>
            <p:spPr>
              <a:xfrm>
                <a:off x="3486556" y="2656467"/>
                <a:ext cx="925595" cy="77417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noFill/>
                  <a:effectLst/>
                  <a:uLnTx/>
                  <a:uFillTx/>
                  <a:latin typeface="Times New Roman" panose="02020603050405020304"/>
                  <a:ea typeface="宋体" panose="02010600030101010101" pitchFamily="2" charset="-122"/>
                  <a:cs typeface="+mn-cs"/>
                </a:endParaRPr>
              </a:p>
            </p:txBody>
          </p:sp>
        </p:grpSp>
      </p:grpSp>
      <p:sp>
        <p:nvSpPr>
          <p:cNvPr id="40" name="文本框 39">
            <a:extLst>
              <a:ext uri="{FF2B5EF4-FFF2-40B4-BE49-F238E27FC236}">
                <a16:creationId xmlns:a16="http://schemas.microsoft.com/office/drawing/2014/main" id="{06387D12-8EA7-D969-FFDC-A238EFB33D91}"/>
              </a:ext>
            </a:extLst>
          </p:cNvPr>
          <p:cNvSpPr txBox="1"/>
          <p:nvPr/>
        </p:nvSpPr>
        <p:spPr>
          <a:xfrm>
            <a:off x="7538531" y="2376999"/>
            <a:ext cx="4151968" cy="307777"/>
          </a:xfrm>
          <a:prstGeom prst="rect">
            <a:avLst/>
          </a:prstGeom>
          <a:noFill/>
        </p:spPr>
        <p:txBody>
          <a:bodyPr wrap="square" t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图</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2.17  </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一元稀疏多项式</a:t>
            </a:r>
            <a:r>
              <a:rPr kumimoji="0" lang="zh-CN" altLang="en-US" sz="18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构建</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示例</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 name="文本框 41">
            <a:extLst>
              <a:ext uri="{FF2B5EF4-FFF2-40B4-BE49-F238E27FC236}">
                <a16:creationId xmlns:a16="http://schemas.microsoft.com/office/drawing/2014/main" id="{12274A21-3922-6A5A-04BE-627F6EE00288}"/>
              </a:ext>
            </a:extLst>
          </p:cNvPr>
          <p:cNvSpPr txBox="1"/>
          <p:nvPr/>
        </p:nvSpPr>
        <p:spPr>
          <a:xfrm>
            <a:off x="388703" y="977500"/>
            <a:ext cx="4432949"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构建  </a:t>
            </a: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7+3x+9x</a:t>
            </a:r>
            <a:r>
              <a:rPr kumimoji="0" lang="en-US" altLang="zh-CN" sz="2000" b="0" i="0" u="none" strike="noStrike" kern="1200" cap="none" spc="0" normalizeH="0" baseline="30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8</a:t>
            </a: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+5x</a:t>
            </a:r>
            <a:r>
              <a:rPr kumimoji="0" lang="en-US" altLang="zh-CN" sz="2000" b="0" i="0" u="none" strike="noStrike" kern="1200" cap="none" spc="0" normalizeH="0" baseline="30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17</a:t>
            </a:r>
            <a:r>
              <a:rPr kumimoji="0" lang="en-US" altLang="zh-CN" sz="2000" b="0" i="0" u="none" strike="noStrike" kern="1200" cap="none" spc="0" normalizeH="0" baseline="3000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0" lang="zh-CN"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8x+22x</a:t>
            </a:r>
            <a:r>
              <a:rPr kumimoji="0" lang="en-US" altLang="zh-CN" sz="2000" b="0" i="0" u="none" strike="noStrike" kern="1200" cap="none" spc="0" normalizeH="0" baseline="30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7</a:t>
            </a: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-9x</a:t>
            </a:r>
            <a:r>
              <a:rPr kumimoji="0" lang="en-US" altLang="zh-CN" sz="2000" b="0" i="0" u="none" strike="noStrike" kern="1200" cap="none" spc="0" normalizeH="0" baseline="3000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8</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43" name="文本框 42">
            <a:extLst>
              <a:ext uri="{FF2B5EF4-FFF2-40B4-BE49-F238E27FC236}">
                <a16:creationId xmlns:a16="http://schemas.microsoft.com/office/drawing/2014/main" id="{01C63273-D257-53FA-E1E2-69492153E3D5}"/>
              </a:ext>
            </a:extLst>
          </p:cNvPr>
          <p:cNvSpPr txBox="1"/>
          <p:nvPr/>
        </p:nvSpPr>
        <p:spPr>
          <a:xfrm>
            <a:off x="388090" y="1358034"/>
            <a:ext cx="626320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Term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tsa</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 {7,0}, {3,1}, {9,8}, {5,17}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Poly pa = </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CreatePoly</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tsa</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4);</a:t>
            </a:r>
            <a:endPar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cxnSp>
        <p:nvCxnSpPr>
          <p:cNvPr id="44" name="直接连接符 43">
            <a:extLst>
              <a:ext uri="{FF2B5EF4-FFF2-40B4-BE49-F238E27FC236}">
                <a16:creationId xmlns:a16="http://schemas.microsoft.com/office/drawing/2014/main" id="{2CED7DBC-BDB6-FED7-411C-135D8C9AC599}"/>
              </a:ext>
            </a:extLst>
          </p:cNvPr>
          <p:cNvCxnSpPr>
            <a:cxnSpLocks/>
          </p:cNvCxnSpPr>
          <p:nvPr/>
        </p:nvCxnSpPr>
        <p:spPr>
          <a:xfrm>
            <a:off x="866383" y="5460272"/>
            <a:ext cx="3120826"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46" name="文本框 45">
            <a:extLst>
              <a:ext uri="{FF2B5EF4-FFF2-40B4-BE49-F238E27FC236}">
                <a16:creationId xmlns:a16="http://schemas.microsoft.com/office/drawing/2014/main" id="{4D8C260D-5C48-402B-2831-D7F3122B2675}"/>
              </a:ext>
            </a:extLst>
          </p:cNvPr>
          <p:cNvSpPr txBox="1"/>
          <p:nvPr/>
        </p:nvSpPr>
        <p:spPr>
          <a:xfrm>
            <a:off x="8277368" y="1533061"/>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7" name="文本框 46">
            <a:extLst>
              <a:ext uri="{FF2B5EF4-FFF2-40B4-BE49-F238E27FC236}">
                <a16:creationId xmlns:a16="http://schemas.microsoft.com/office/drawing/2014/main" id="{DA447497-E7C9-662C-301D-0AE49F3E3AA6}"/>
              </a:ext>
            </a:extLst>
          </p:cNvPr>
          <p:cNvSpPr txBox="1"/>
          <p:nvPr/>
        </p:nvSpPr>
        <p:spPr>
          <a:xfrm>
            <a:off x="8586694" y="1538812"/>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 name="文本框 45">
            <a:extLst>
              <a:ext uri="{FF2B5EF4-FFF2-40B4-BE49-F238E27FC236}">
                <a16:creationId xmlns:a16="http://schemas.microsoft.com/office/drawing/2014/main" id="{4D8C260D-5C48-402B-2831-D7F3122B2675}"/>
              </a:ext>
            </a:extLst>
          </p:cNvPr>
          <p:cNvSpPr txBox="1"/>
          <p:nvPr/>
        </p:nvSpPr>
        <p:spPr>
          <a:xfrm>
            <a:off x="8898780" y="1540081"/>
            <a:ext cx="203459" cy="307777"/>
          </a:xfrm>
          <a:prstGeom prst="rect">
            <a:avLst/>
          </a:prstGeom>
          <a:noFill/>
          <a:ln w="12700">
            <a:noFill/>
          </a:ln>
        </p:spPr>
        <p:txBody>
          <a:bodyPr wrap="square" lIns="0" tIns="0" rIns="0" bIns="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9</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9" name="文本框 45">
            <a:extLst>
              <a:ext uri="{FF2B5EF4-FFF2-40B4-BE49-F238E27FC236}">
                <a16:creationId xmlns:a16="http://schemas.microsoft.com/office/drawing/2014/main" id="{4D8C260D-5C48-402B-2831-D7F3122B2675}"/>
              </a:ext>
            </a:extLst>
          </p:cNvPr>
          <p:cNvSpPr txBox="1"/>
          <p:nvPr/>
        </p:nvSpPr>
        <p:spPr>
          <a:xfrm>
            <a:off x="9210447" y="1536367"/>
            <a:ext cx="203459" cy="307777"/>
          </a:xfrm>
          <a:prstGeom prst="rect">
            <a:avLst/>
          </a:prstGeom>
          <a:noFill/>
          <a:ln w="12700">
            <a:noFill/>
          </a:ln>
        </p:spPr>
        <p:txBody>
          <a:bodyPr wrap="square" lIns="0" tIns="0" rIns="0" bIns="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 name="文本框 49">
            <a:extLst>
              <a:ext uri="{FF2B5EF4-FFF2-40B4-BE49-F238E27FC236}">
                <a16:creationId xmlns:a16="http://schemas.microsoft.com/office/drawing/2014/main" id="{7CF1F683-5D72-DEDD-4681-FC9ADC8E7E72}"/>
              </a:ext>
            </a:extLst>
          </p:cNvPr>
          <p:cNvSpPr txBox="1"/>
          <p:nvPr/>
        </p:nvSpPr>
        <p:spPr>
          <a:xfrm>
            <a:off x="8277368" y="1915172"/>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1" name="文本框 50">
            <a:extLst>
              <a:ext uri="{FF2B5EF4-FFF2-40B4-BE49-F238E27FC236}">
                <a16:creationId xmlns:a16="http://schemas.microsoft.com/office/drawing/2014/main" id="{81D8D7D0-3B95-1250-EEF5-0675ED7B55D0}"/>
              </a:ext>
            </a:extLst>
          </p:cNvPr>
          <p:cNvSpPr txBox="1"/>
          <p:nvPr/>
        </p:nvSpPr>
        <p:spPr>
          <a:xfrm>
            <a:off x="8586694" y="1920923"/>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2" name="文本框 45">
            <a:extLst>
              <a:ext uri="{FF2B5EF4-FFF2-40B4-BE49-F238E27FC236}">
                <a16:creationId xmlns:a16="http://schemas.microsoft.com/office/drawing/2014/main" id="{FE790005-D38C-EC21-8F2F-6E2FD3658338}"/>
              </a:ext>
            </a:extLst>
          </p:cNvPr>
          <p:cNvSpPr txBox="1"/>
          <p:nvPr/>
        </p:nvSpPr>
        <p:spPr>
          <a:xfrm>
            <a:off x="8898780" y="1922192"/>
            <a:ext cx="203459" cy="307777"/>
          </a:xfrm>
          <a:prstGeom prst="rect">
            <a:avLst/>
          </a:prstGeom>
          <a:noFill/>
          <a:ln w="12700">
            <a:noFill/>
          </a:ln>
        </p:spPr>
        <p:txBody>
          <a:bodyPr wrap="square" lIns="0" tIns="0" rIns="0" bIns="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8</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 name="文本框 45">
            <a:extLst>
              <a:ext uri="{FF2B5EF4-FFF2-40B4-BE49-F238E27FC236}">
                <a16:creationId xmlns:a16="http://schemas.microsoft.com/office/drawing/2014/main" id="{95E7108D-7430-EBE1-2CED-F8B20C4417FB}"/>
              </a:ext>
            </a:extLst>
          </p:cNvPr>
          <p:cNvSpPr txBox="1"/>
          <p:nvPr/>
        </p:nvSpPr>
        <p:spPr>
          <a:xfrm>
            <a:off x="9170190" y="1918478"/>
            <a:ext cx="270044" cy="307777"/>
          </a:xfrm>
          <a:prstGeom prst="rect">
            <a:avLst/>
          </a:prstGeom>
          <a:noFill/>
          <a:ln w="12700">
            <a:noFill/>
          </a:ln>
        </p:spPr>
        <p:txBody>
          <a:bodyPr wrap="square" lIns="0" tIns="0" rIns="0" bIns="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17</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4" name="文本框 53">
            <a:extLst>
              <a:ext uri="{FF2B5EF4-FFF2-40B4-BE49-F238E27FC236}">
                <a16:creationId xmlns:a16="http://schemas.microsoft.com/office/drawing/2014/main" id="{29C028C4-A9FB-5E77-7852-42C4AC39446B}"/>
              </a:ext>
            </a:extLst>
          </p:cNvPr>
          <p:cNvSpPr txBox="1"/>
          <p:nvPr/>
        </p:nvSpPr>
        <p:spPr>
          <a:xfrm>
            <a:off x="10735385" y="1535744"/>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8</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5" name="文本框 54">
            <a:extLst>
              <a:ext uri="{FF2B5EF4-FFF2-40B4-BE49-F238E27FC236}">
                <a16:creationId xmlns:a16="http://schemas.microsoft.com/office/drawing/2014/main" id="{0B6B1638-A9AF-2D7A-71D7-8A14030F22ED}"/>
              </a:ext>
            </a:extLst>
          </p:cNvPr>
          <p:cNvSpPr txBox="1"/>
          <p:nvPr/>
        </p:nvSpPr>
        <p:spPr>
          <a:xfrm>
            <a:off x="10998703" y="1535744"/>
            <a:ext cx="283967"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22</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 name="文本框 45">
            <a:extLst>
              <a:ext uri="{FF2B5EF4-FFF2-40B4-BE49-F238E27FC236}">
                <a16:creationId xmlns:a16="http://schemas.microsoft.com/office/drawing/2014/main" id="{9CD2BE04-DCAF-0F91-6332-A3DE9F97C2C2}"/>
              </a:ext>
            </a:extLst>
          </p:cNvPr>
          <p:cNvSpPr txBox="1"/>
          <p:nvPr/>
        </p:nvSpPr>
        <p:spPr>
          <a:xfrm>
            <a:off x="11305044" y="1542764"/>
            <a:ext cx="283967" cy="307777"/>
          </a:xfrm>
          <a:prstGeom prst="rect">
            <a:avLst/>
          </a:prstGeom>
          <a:noFill/>
          <a:ln w="12700">
            <a:noFill/>
          </a:ln>
        </p:spPr>
        <p:txBody>
          <a:bodyPr wrap="square" lIns="0" tIns="0" rIns="0" bIns="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-9</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文本框 56">
            <a:extLst>
              <a:ext uri="{FF2B5EF4-FFF2-40B4-BE49-F238E27FC236}">
                <a16:creationId xmlns:a16="http://schemas.microsoft.com/office/drawing/2014/main" id="{A4A375B3-23EA-2C42-C4E6-B60C1BB69E80}"/>
              </a:ext>
            </a:extLst>
          </p:cNvPr>
          <p:cNvSpPr txBox="1"/>
          <p:nvPr/>
        </p:nvSpPr>
        <p:spPr>
          <a:xfrm>
            <a:off x="10735385" y="1917855"/>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 name="文本框 57">
            <a:extLst>
              <a:ext uri="{FF2B5EF4-FFF2-40B4-BE49-F238E27FC236}">
                <a16:creationId xmlns:a16="http://schemas.microsoft.com/office/drawing/2014/main" id="{D15F4891-EE3C-A5D7-081C-0AD9FE590DD6}"/>
              </a:ext>
            </a:extLst>
          </p:cNvPr>
          <p:cNvSpPr txBox="1"/>
          <p:nvPr/>
        </p:nvSpPr>
        <p:spPr>
          <a:xfrm>
            <a:off x="11044711" y="1923606"/>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文本框 45">
            <a:extLst>
              <a:ext uri="{FF2B5EF4-FFF2-40B4-BE49-F238E27FC236}">
                <a16:creationId xmlns:a16="http://schemas.microsoft.com/office/drawing/2014/main" id="{5CD183F7-CA7B-DBDA-E0D3-782F3CC618F6}"/>
              </a:ext>
            </a:extLst>
          </p:cNvPr>
          <p:cNvSpPr txBox="1"/>
          <p:nvPr/>
        </p:nvSpPr>
        <p:spPr>
          <a:xfrm>
            <a:off x="11356797" y="1924875"/>
            <a:ext cx="203459" cy="307777"/>
          </a:xfrm>
          <a:prstGeom prst="rect">
            <a:avLst/>
          </a:prstGeom>
          <a:noFill/>
          <a:ln w="12700">
            <a:noFill/>
          </a:ln>
        </p:spPr>
        <p:txBody>
          <a:bodyPr wrap="square" lIns="0" tIns="0" rIns="0" bIns="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8</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62" name="组合 61">
            <a:extLst>
              <a:ext uri="{FF2B5EF4-FFF2-40B4-BE49-F238E27FC236}">
                <a16:creationId xmlns:a16="http://schemas.microsoft.com/office/drawing/2014/main" id="{A9467DA1-3156-DE35-9948-BA1EC22FC322}"/>
              </a:ext>
            </a:extLst>
          </p:cNvPr>
          <p:cNvGrpSpPr/>
          <p:nvPr/>
        </p:nvGrpSpPr>
        <p:grpSpPr>
          <a:xfrm>
            <a:off x="7461547" y="760228"/>
            <a:ext cx="365485" cy="512609"/>
            <a:chOff x="7461547" y="760228"/>
            <a:chExt cx="365485" cy="512609"/>
          </a:xfrm>
        </p:grpSpPr>
        <p:sp>
          <p:nvSpPr>
            <p:cNvPr id="60" name="文本框 59">
              <a:extLst>
                <a:ext uri="{FF2B5EF4-FFF2-40B4-BE49-F238E27FC236}">
                  <a16:creationId xmlns:a16="http://schemas.microsoft.com/office/drawing/2014/main" id="{B31B32DE-BEED-45C6-80B6-B340A556205F}"/>
                </a:ext>
              </a:extLst>
            </p:cNvPr>
            <p:cNvSpPr txBox="1"/>
            <p:nvPr/>
          </p:nvSpPr>
          <p:spPr>
            <a:xfrm>
              <a:off x="7461547" y="760228"/>
              <a:ext cx="365485"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cxnSp>
          <p:nvCxnSpPr>
            <p:cNvPr id="61" name="直接箭头连接符 60">
              <a:extLst>
                <a:ext uri="{FF2B5EF4-FFF2-40B4-BE49-F238E27FC236}">
                  <a16:creationId xmlns:a16="http://schemas.microsoft.com/office/drawing/2014/main" id="{38B408B6-090C-4CEA-324D-80C5C0FAAF1F}"/>
                </a:ext>
              </a:extLst>
            </p:cNvPr>
            <p:cNvCxnSpPr/>
            <p:nvPr/>
          </p:nvCxnSpPr>
          <p:spPr>
            <a:xfrm>
              <a:off x="7667286" y="1042249"/>
              <a:ext cx="0" cy="230588"/>
            </a:xfrm>
            <a:prstGeom prst="straightConnector1">
              <a:avLst/>
            </a:prstGeom>
            <a:ln w="28575">
              <a:tailEnd type="triangle" w="med" len="lg"/>
            </a:ln>
          </p:spPr>
          <p:style>
            <a:lnRef idx="1">
              <a:schemeClr val="accent1"/>
            </a:lnRef>
            <a:fillRef idx="0">
              <a:schemeClr val="accent1"/>
            </a:fillRef>
            <a:effectRef idx="0">
              <a:schemeClr val="accent1"/>
            </a:effectRef>
            <a:fontRef idx="minor">
              <a:schemeClr val="tx1"/>
            </a:fontRef>
          </p:style>
        </p:cxnSp>
      </p:grpSp>
      <p:grpSp>
        <p:nvGrpSpPr>
          <p:cNvPr id="63" name="组合 62">
            <a:extLst>
              <a:ext uri="{FF2B5EF4-FFF2-40B4-BE49-F238E27FC236}">
                <a16:creationId xmlns:a16="http://schemas.microsoft.com/office/drawing/2014/main" id="{1E12FB10-745B-4250-F4A3-7BAF365F0966}"/>
              </a:ext>
            </a:extLst>
          </p:cNvPr>
          <p:cNvGrpSpPr/>
          <p:nvPr/>
        </p:nvGrpSpPr>
        <p:grpSpPr>
          <a:xfrm>
            <a:off x="9982200" y="763472"/>
            <a:ext cx="365485" cy="512609"/>
            <a:chOff x="7461547" y="760228"/>
            <a:chExt cx="365485" cy="512609"/>
          </a:xfrm>
        </p:grpSpPr>
        <p:sp>
          <p:nvSpPr>
            <p:cNvPr id="64" name="文本框 63">
              <a:extLst>
                <a:ext uri="{FF2B5EF4-FFF2-40B4-BE49-F238E27FC236}">
                  <a16:creationId xmlns:a16="http://schemas.microsoft.com/office/drawing/2014/main" id="{3D057D48-9B36-9876-14F5-1218F61E862F}"/>
                </a:ext>
              </a:extLst>
            </p:cNvPr>
            <p:cNvSpPr txBox="1"/>
            <p:nvPr/>
          </p:nvSpPr>
          <p:spPr>
            <a:xfrm>
              <a:off x="7461547" y="760228"/>
              <a:ext cx="365485"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cxnSp>
          <p:nvCxnSpPr>
            <p:cNvPr id="65" name="直接箭头连接符 64">
              <a:extLst>
                <a:ext uri="{FF2B5EF4-FFF2-40B4-BE49-F238E27FC236}">
                  <a16:creationId xmlns:a16="http://schemas.microsoft.com/office/drawing/2014/main" id="{B12D8A2D-5A17-258B-3D2F-8EFDC684C313}"/>
                </a:ext>
              </a:extLst>
            </p:cNvPr>
            <p:cNvCxnSpPr/>
            <p:nvPr/>
          </p:nvCxnSpPr>
          <p:spPr>
            <a:xfrm>
              <a:off x="7667286" y="1042249"/>
              <a:ext cx="0" cy="230588"/>
            </a:xfrm>
            <a:prstGeom prst="straightConnector1">
              <a:avLst/>
            </a:prstGeom>
            <a:ln w="28575">
              <a:tailEnd type="triangle" w="med" len="lg"/>
            </a:ln>
          </p:spPr>
          <p:style>
            <a:lnRef idx="1">
              <a:schemeClr val="accent1"/>
            </a:lnRef>
            <a:fillRef idx="0">
              <a:schemeClr val="accent1"/>
            </a:fillRef>
            <a:effectRef idx="0">
              <a:schemeClr val="accent1"/>
            </a:effectRef>
            <a:fontRef idx="minor">
              <a:schemeClr val="tx1"/>
            </a:fontRef>
          </p:style>
        </p:cxnSp>
      </p:grpSp>
      <p:cxnSp>
        <p:nvCxnSpPr>
          <p:cNvPr id="66" name="直接连接符 65">
            <a:extLst>
              <a:ext uri="{FF2B5EF4-FFF2-40B4-BE49-F238E27FC236}">
                <a16:creationId xmlns:a16="http://schemas.microsoft.com/office/drawing/2014/main" id="{A71A4C2B-8278-7968-6B7B-8C2F2D72BCBD}"/>
              </a:ext>
            </a:extLst>
          </p:cNvPr>
          <p:cNvCxnSpPr>
            <a:cxnSpLocks/>
          </p:cNvCxnSpPr>
          <p:nvPr/>
        </p:nvCxnSpPr>
        <p:spPr>
          <a:xfrm>
            <a:off x="866383" y="5733132"/>
            <a:ext cx="5895797"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68" name="文本框 67">
            <a:extLst>
              <a:ext uri="{FF2B5EF4-FFF2-40B4-BE49-F238E27FC236}">
                <a16:creationId xmlns:a16="http://schemas.microsoft.com/office/drawing/2014/main" id="{3DF594B1-E257-E6F8-11CE-3EB1BA3BD1DB}"/>
              </a:ext>
            </a:extLst>
          </p:cNvPr>
          <p:cNvSpPr txBox="1"/>
          <p:nvPr/>
        </p:nvSpPr>
        <p:spPr>
          <a:xfrm>
            <a:off x="365047" y="2051656"/>
            <a:ext cx="68490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Term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tsb</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 {8,1}, {22,7}, {-9,8}, {5,17}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Poly pb = </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CreatePoly</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tsb</a:t>
            </a:r>
            <a:r>
              <a:rPr kumimoji="0" lang="en-US" altLang="zh-CN" sz="18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3);</a:t>
            </a:r>
            <a:endParaRPr kumimoji="0" lang="zh-CN" altLang="en-US"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grpSp>
        <p:nvGrpSpPr>
          <p:cNvPr id="69" name="组合 68">
            <a:extLst>
              <a:ext uri="{FF2B5EF4-FFF2-40B4-BE49-F238E27FC236}">
                <a16:creationId xmlns:a16="http://schemas.microsoft.com/office/drawing/2014/main" id="{E9563553-7400-16B5-D779-1366ABB58D9D}"/>
              </a:ext>
            </a:extLst>
          </p:cNvPr>
          <p:cNvGrpSpPr/>
          <p:nvPr/>
        </p:nvGrpSpPr>
        <p:grpSpPr>
          <a:xfrm>
            <a:off x="7423250" y="756550"/>
            <a:ext cx="473693" cy="512609"/>
            <a:chOff x="7429651" y="760228"/>
            <a:chExt cx="473693" cy="512609"/>
          </a:xfrm>
        </p:grpSpPr>
        <p:sp>
          <p:nvSpPr>
            <p:cNvPr id="70" name="文本框 69">
              <a:extLst>
                <a:ext uri="{FF2B5EF4-FFF2-40B4-BE49-F238E27FC236}">
                  <a16:creationId xmlns:a16="http://schemas.microsoft.com/office/drawing/2014/main" id="{4C5F8356-173F-381D-CD0D-5F5DFF7C6C16}"/>
                </a:ext>
              </a:extLst>
            </p:cNvPr>
            <p:cNvSpPr txBox="1"/>
            <p:nvPr/>
          </p:nvSpPr>
          <p:spPr>
            <a:xfrm>
              <a:off x="7429651" y="760228"/>
              <a:ext cx="473693"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pa</a:t>
              </a:r>
              <a:endParaRPr kumimoji="0" lang="zh-CN" altLang="en-US"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cxnSp>
          <p:nvCxnSpPr>
            <p:cNvPr id="71" name="直接箭头连接符 70">
              <a:extLst>
                <a:ext uri="{FF2B5EF4-FFF2-40B4-BE49-F238E27FC236}">
                  <a16:creationId xmlns:a16="http://schemas.microsoft.com/office/drawing/2014/main" id="{DC21CC20-8D18-E4A9-49DB-6A5B1EB3F918}"/>
                </a:ext>
              </a:extLst>
            </p:cNvPr>
            <p:cNvCxnSpPr/>
            <p:nvPr/>
          </p:nvCxnSpPr>
          <p:spPr>
            <a:xfrm>
              <a:off x="7667286" y="1042249"/>
              <a:ext cx="0" cy="230588"/>
            </a:xfrm>
            <a:prstGeom prst="straightConnector1">
              <a:avLst/>
            </a:prstGeom>
            <a:ln w="28575">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72" name="组合 71">
            <a:extLst>
              <a:ext uri="{FF2B5EF4-FFF2-40B4-BE49-F238E27FC236}">
                <a16:creationId xmlns:a16="http://schemas.microsoft.com/office/drawing/2014/main" id="{E4AAF9F4-728F-4333-6B44-40B27873C565}"/>
              </a:ext>
            </a:extLst>
          </p:cNvPr>
          <p:cNvGrpSpPr/>
          <p:nvPr/>
        </p:nvGrpSpPr>
        <p:grpSpPr>
          <a:xfrm>
            <a:off x="9945049" y="772362"/>
            <a:ext cx="473693" cy="512609"/>
            <a:chOff x="7429651" y="760228"/>
            <a:chExt cx="473693" cy="512609"/>
          </a:xfrm>
        </p:grpSpPr>
        <p:sp>
          <p:nvSpPr>
            <p:cNvPr id="73" name="文本框 72">
              <a:extLst>
                <a:ext uri="{FF2B5EF4-FFF2-40B4-BE49-F238E27FC236}">
                  <a16:creationId xmlns:a16="http://schemas.microsoft.com/office/drawing/2014/main" id="{932444F5-3E15-DA70-F1D5-2D85A333D85D}"/>
                </a:ext>
              </a:extLst>
            </p:cNvPr>
            <p:cNvSpPr txBox="1"/>
            <p:nvPr/>
          </p:nvSpPr>
          <p:spPr>
            <a:xfrm>
              <a:off x="7429651" y="760228"/>
              <a:ext cx="473693"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pb</a:t>
              </a:r>
              <a:endParaRPr kumimoji="0" lang="zh-CN" altLang="en-US"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cxnSp>
          <p:nvCxnSpPr>
            <p:cNvPr id="74" name="直接箭头连接符 73">
              <a:extLst>
                <a:ext uri="{FF2B5EF4-FFF2-40B4-BE49-F238E27FC236}">
                  <a16:creationId xmlns:a16="http://schemas.microsoft.com/office/drawing/2014/main" id="{BAD0209B-0BA2-41F9-9185-B1A9DC19566C}"/>
                </a:ext>
              </a:extLst>
            </p:cNvPr>
            <p:cNvCxnSpPr/>
            <p:nvPr/>
          </p:nvCxnSpPr>
          <p:spPr>
            <a:xfrm>
              <a:off x="7667286" y="1042249"/>
              <a:ext cx="0" cy="230588"/>
            </a:xfrm>
            <a:prstGeom prst="straightConnector1">
              <a:avLst/>
            </a:prstGeom>
            <a:ln w="28575">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51384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anim calcmode="lin" valueType="num">
                                      <p:cBhvr>
                                        <p:cTn id="8" dur="1000" fill="hold"/>
                                        <p:tgtEl>
                                          <p:spTgt spid="42"/>
                                        </p:tgtEl>
                                        <p:attrNameLst>
                                          <p:attrName>ppt_x</p:attrName>
                                        </p:attrNameLst>
                                      </p:cBhvr>
                                      <p:tavLst>
                                        <p:tav tm="0">
                                          <p:val>
                                            <p:strVal val="#ppt_x"/>
                                          </p:val>
                                        </p:tav>
                                        <p:tav tm="100000">
                                          <p:val>
                                            <p:strVal val="#ppt_x"/>
                                          </p:val>
                                        </p:tav>
                                      </p:tavLst>
                                    </p:anim>
                                    <p:anim calcmode="lin" valueType="num">
                                      <p:cBhvr>
                                        <p:cTn id="9"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fade">
                                      <p:cBhvr>
                                        <p:cTn id="14" dur="1000"/>
                                        <p:tgtEl>
                                          <p:spTgt spid="43"/>
                                        </p:tgtEl>
                                      </p:cBhvr>
                                    </p:animEffect>
                                    <p:anim calcmode="lin" valueType="num">
                                      <p:cBhvr>
                                        <p:cTn id="15" dur="1000" fill="hold"/>
                                        <p:tgtEl>
                                          <p:spTgt spid="43"/>
                                        </p:tgtEl>
                                        <p:attrNameLst>
                                          <p:attrName>ppt_x</p:attrName>
                                        </p:attrNameLst>
                                      </p:cBhvr>
                                      <p:tavLst>
                                        <p:tav tm="0">
                                          <p:val>
                                            <p:strVal val="#ppt_x"/>
                                          </p:val>
                                        </p:tav>
                                        <p:tav tm="100000">
                                          <p:val>
                                            <p:strVal val="#ppt_x"/>
                                          </p:val>
                                        </p:tav>
                                      </p:tavLst>
                                    </p:anim>
                                    <p:anim calcmode="lin" valueType="num">
                                      <p:cBhvr>
                                        <p:cTn id="16"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wipe(left)">
                                      <p:cBhvr>
                                        <p:cTn id="21" dur="1000"/>
                                        <p:tgtEl>
                                          <p:spTgt spid="44"/>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2"/>
                                        </p:tgtEl>
                                        <p:attrNameLst>
                                          <p:attrName>style.visibility</p:attrName>
                                        </p:attrNameLst>
                                      </p:cBhvr>
                                      <p:to>
                                        <p:strVal val="visible"/>
                                      </p:to>
                                    </p:set>
                                    <p:animEffect transition="in" filter="fade">
                                      <p:cBhvr>
                                        <p:cTn id="26" dur="1000"/>
                                        <p:tgtEl>
                                          <p:spTgt spid="62"/>
                                        </p:tgtEl>
                                      </p:cBhvr>
                                    </p:animEffect>
                                    <p:anim calcmode="lin" valueType="num">
                                      <p:cBhvr>
                                        <p:cTn id="27" dur="1000" fill="hold"/>
                                        <p:tgtEl>
                                          <p:spTgt spid="62"/>
                                        </p:tgtEl>
                                        <p:attrNameLst>
                                          <p:attrName>ppt_x</p:attrName>
                                        </p:attrNameLst>
                                      </p:cBhvr>
                                      <p:tavLst>
                                        <p:tav tm="0">
                                          <p:val>
                                            <p:strVal val="#ppt_x"/>
                                          </p:val>
                                        </p:tav>
                                        <p:tav tm="100000">
                                          <p:val>
                                            <p:strVal val="#ppt_x"/>
                                          </p:val>
                                        </p:tav>
                                      </p:tavLst>
                                    </p:anim>
                                    <p:anim calcmode="lin" valueType="num">
                                      <p:cBhvr>
                                        <p:cTn id="28" dur="1000" fill="hold"/>
                                        <p:tgtEl>
                                          <p:spTgt spid="62"/>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22" presetClass="exit" presetSubtype="1" fill="hold" nodeType="afterEffect">
                                  <p:stCondLst>
                                    <p:cond delay="0"/>
                                  </p:stCondLst>
                                  <p:childTnLst>
                                    <p:animEffect transition="out" filter="wipe(up)">
                                      <p:cBhvr>
                                        <p:cTn id="36" dur="500"/>
                                        <p:tgtEl>
                                          <p:spTgt spid="44"/>
                                        </p:tgtEl>
                                      </p:cBhvr>
                                    </p:animEffect>
                                    <p:set>
                                      <p:cBhvr>
                                        <p:cTn id="37" dur="1" fill="hold">
                                          <p:stCondLst>
                                            <p:cond delay="499"/>
                                          </p:stCondLst>
                                        </p:cTn>
                                        <p:tgtEl>
                                          <p:spTgt spid="44"/>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6"/>
                                        </p:tgtEl>
                                        <p:attrNameLst>
                                          <p:attrName>style.visibility</p:attrName>
                                        </p:attrNameLst>
                                      </p:cBhvr>
                                      <p:to>
                                        <p:strVal val="visible"/>
                                      </p:to>
                                    </p:set>
                                    <p:animEffect transition="in" filter="wipe(left)">
                                      <p:cBhvr>
                                        <p:cTn id="42" dur="1000"/>
                                        <p:tgtEl>
                                          <p:spTgt spid="66"/>
                                        </p:tgtEl>
                                      </p:cBhvr>
                                    </p:animEffect>
                                  </p:childTnLst>
                                </p:cTn>
                              </p:par>
                            </p:childTnLst>
                          </p:cTn>
                        </p:par>
                        <p:par>
                          <p:cTn id="43" fill="hold">
                            <p:stCondLst>
                              <p:cond delay="1000"/>
                            </p:stCondLst>
                            <p:childTnLst>
                              <p:par>
                                <p:cTn id="44" presetID="22" presetClass="exit" presetSubtype="1" fill="hold" nodeType="afterEffect">
                                  <p:stCondLst>
                                    <p:cond delay="0"/>
                                  </p:stCondLst>
                                  <p:childTnLst>
                                    <p:animEffect transition="out" filter="wipe(up)">
                                      <p:cBhvr>
                                        <p:cTn id="45" dur="500"/>
                                        <p:tgtEl>
                                          <p:spTgt spid="66"/>
                                        </p:tgtEl>
                                      </p:cBhvr>
                                    </p:animEffect>
                                    <p:set>
                                      <p:cBhvr>
                                        <p:cTn id="46" dur="1" fill="hold">
                                          <p:stCondLst>
                                            <p:cond delay="499"/>
                                          </p:stCondLst>
                                        </p:cTn>
                                        <p:tgtEl>
                                          <p:spTgt spid="66"/>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fade">
                                      <p:cBhvr>
                                        <p:cTn id="51" dur="1000"/>
                                        <p:tgtEl>
                                          <p:spTgt spid="46"/>
                                        </p:tgtEl>
                                      </p:cBhvr>
                                    </p:animEffect>
                                    <p:anim calcmode="lin" valueType="num">
                                      <p:cBhvr>
                                        <p:cTn id="52" dur="1000" fill="hold"/>
                                        <p:tgtEl>
                                          <p:spTgt spid="46"/>
                                        </p:tgtEl>
                                        <p:attrNameLst>
                                          <p:attrName>ppt_x</p:attrName>
                                        </p:attrNameLst>
                                      </p:cBhvr>
                                      <p:tavLst>
                                        <p:tav tm="0">
                                          <p:val>
                                            <p:strVal val="#ppt_x"/>
                                          </p:val>
                                        </p:tav>
                                        <p:tav tm="100000">
                                          <p:val>
                                            <p:strVal val="#ppt_x"/>
                                          </p:val>
                                        </p:tav>
                                      </p:tavLst>
                                    </p:anim>
                                    <p:anim calcmode="lin" valueType="num">
                                      <p:cBhvr>
                                        <p:cTn id="53" dur="1000" fill="hold"/>
                                        <p:tgtEl>
                                          <p:spTgt spid="46"/>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fade">
                                      <p:cBhvr>
                                        <p:cTn id="56" dur="1000"/>
                                        <p:tgtEl>
                                          <p:spTgt spid="50"/>
                                        </p:tgtEl>
                                      </p:cBhvr>
                                    </p:animEffect>
                                    <p:anim calcmode="lin" valueType="num">
                                      <p:cBhvr>
                                        <p:cTn id="57" dur="1000" fill="hold"/>
                                        <p:tgtEl>
                                          <p:spTgt spid="50"/>
                                        </p:tgtEl>
                                        <p:attrNameLst>
                                          <p:attrName>ppt_x</p:attrName>
                                        </p:attrNameLst>
                                      </p:cBhvr>
                                      <p:tavLst>
                                        <p:tav tm="0">
                                          <p:val>
                                            <p:strVal val="#ppt_x"/>
                                          </p:val>
                                        </p:tav>
                                        <p:tav tm="100000">
                                          <p:val>
                                            <p:strVal val="#ppt_x"/>
                                          </p:val>
                                        </p:tav>
                                      </p:tavLst>
                                    </p:anim>
                                    <p:anim calcmode="lin" valueType="num">
                                      <p:cBhvr>
                                        <p:cTn id="58" dur="1000" fill="hold"/>
                                        <p:tgtEl>
                                          <p:spTgt spid="50"/>
                                        </p:tgtEl>
                                        <p:attrNameLst>
                                          <p:attrName>ppt_y</p:attrName>
                                        </p:attrNameLst>
                                      </p:cBhvr>
                                      <p:tavLst>
                                        <p:tav tm="0">
                                          <p:val>
                                            <p:strVal val="#ppt_y+.1"/>
                                          </p:val>
                                        </p:tav>
                                        <p:tav tm="100000">
                                          <p:val>
                                            <p:strVal val="#ppt_y"/>
                                          </p:val>
                                        </p:tav>
                                      </p:tavLst>
                                    </p:anim>
                                  </p:childTnLst>
                                </p:cTn>
                              </p:par>
                            </p:childTnLst>
                          </p:cTn>
                        </p:par>
                        <p:par>
                          <p:cTn id="59" fill="hold">
                            <p:stCondLst>
                              <p:cond delay="1000"/>
                            </p:stCondLst>
                            <p:childTnLst>
                              <p:par>
                                <p:cTn id="60" presetID="22" presetClass="exit" presetSubtype="4" fill="hold" nodeType="afterEffect">
                                  <p:stCondLst>
                                    <p:cond delay="0"/>
                                  </p:stCondLst>
                                  <p:childTnLst>
                                    <p:animEffect transition="out" filter="wipe(down)">
                                      <p:cBhvr>
                                        <p:cTn id="61" dur="500"/>
                                        <p:tgtEl>
                                          <p:spTgt spid="66"/>
                                        </p:tgtEl>
                                      </p:cBhvr>
                                    </p:animEffect>
                                    <p:set>
                                      <p:cBhvr>
                                        <p:cTn id="62" dur="1" fill="hold">
                                          <p:stCondLst>
                                            <p:cond delay="499"/>
                                          </p:stCondLst>
                                        </p:cTn>
                                        <p:tgtEl>
                                          <p:spTgt spid="66"/>
                                        </p:tgtEl>
                                        <p:attrNameLst>
                                          <p:attrName>style.visibility</p:attrName>
                                        </p:attrNameLst>
                                      </p:cBhvr>
                                      <p:to>
                                        <p:strVal val="hidden"/>
                                      </p:to>
                                    </p:set>
                                  </p:childTnLst>
                                </p:cTn>
                              </p:par>
                            </p:childTnLst>
                          </p:cTn>
                        </p:par>
                        <p:par>
                          <p:cTn id="63" fill="hold">
                            <p:stCondLst>
                              <p:cond delay="1500"/>
                            </p:stCondLst>
                            <p:childTnLst>
                              <p:par>
                                <p:cTn id="64" presetID="22" presetClass="entr" presetSubtype="8" fill="hold" nodeType="afterEffect">
                                  <p:stCondLst>
                                    <p:cond delay="0"/>
                                  </p:stCondLst>
                                  <p:childTnLst>
                                    <p:set>
                                      <p:cBhvr>
                                        <p:cTn id="65" dur="1" fill="hold">
                                          <p:stCondLst>
                                            <p:cond delay="0"/>
                                          </p:stCondLst>
                                        </p:cTn>
                                        <p:tgtEl>
                                          <p:spTgt spid="66"/>
                                        </p:tgtEl>
                                        <p:attrNameLst>
                                          <p:attrName>style.visibility</p:attrName>
                                        </p:attrNameLst>
                                      </p:cBhvr>
                                      <p:to>
                                        <p:strVal val="visible"/>
                                      </p:to>
                                    </p:set>
                                    <p:animEffect transition="in" filter="wipe(left)">
                                      <p:cBhvr>
                                        <p:cTn id="66" dur="1000"/>
                                        <p:tgtEl>
                                          <p:spTgt spid="66"/>
                                        </p:tgtEl>
                                      </p:cBhvr>
                                    </p:animEffect>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1000"/>
                                        <p:tgtEl>
                                          <p:spTgt spid="47"/>
                                        </p:tgtEl>
                                      </p:cBhvr>
                                    </p:animEffect>
                                    <p:anim calcmode="lin" valueType="num">
                                      <p:cBhvr>
                                        <p:cTn id="72" dur="1000" fill="hold"/>
                                        <p:tgtEl>
                                          <p:spTgt spid="47"/>
                                        </p:tgtEl>
                                        <p:attrNameLst>
                                          <p:attrName>ppt_x</p:attrName>
                                        </p:attrNameLst>
                                      </p:cBhvr>
                                      <p:tavLst>
                                        <p:tav tm="0">
                                          <p:val>
                                            <p:strVal val="#ppt_x"/>
                                          </p:val>
                                        </p:tav>
                                        <p:tav tm="100000">
                                          <p:val>
                                            <p:strVal val="#ppt_x"/>
                                          </p:val>
                                        </p:tav>
                                      </p:tavLst>
                                    </p:anim>
                                    <p:anim calcmode="lin" valueType="num">
                                      <p:cBhvr>
                                        <p:cTn id="73" dur="1000" fill="hold"/>
                                        <p:tgtEl>
                                          <p:spTgt spid="47"/>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51"/>
                                        </p:tgtEl>
                                        <p:attrNameLst>
                                          <p:attrName>style.visibility</p:attrName>
                                        </p:attrNameLst>
                                      </p:cBhvr>
                                      <p:to>
                                        <p:strVal val="visible"/>
                                      </p:to>
                                    </p:set>
                                    <p:animEffect transition="in" filter="fade">
                                      <p:cBhvr>
                                        <p:cTn id="76" dur="1000"/>
                                        <p:tgtEl>
                                          <p:spTgt spid="51"/>
                                        </p:tgtEl>
                                      </p:cBhvr>
                                    </p:animEffect>
                                    <p:anim calcmode="lin" valueType="num">
                                      <p:cBhvr>
                                        <p:cTn id="77" dur="1000" fill="hold"/>
                                        <p:tgtEl>
                                          <p:spTgt spid="51"/>
                                        </p:tgtEl>
                                        <p:attrNameLst>
                                          <p:attrName>ppt_x</p:attrName>
                                        </p:attrNameLst>
                                      </p:cBhvr>
                                      <p:tavLst>
                                        <p:tav tm="0">
                                          <p:val>
                                            <p:strVal val="#ppt_x"/>
                                          </p:val>
                                        </p:tav>
                                        <p:tav tm="100000">
                                          <p:val>
                                            <p:strVal val="#ppt_x"/>
                                          </p:val>
                                        </p:tav>
                                      </p:tavLst>
                                    </p:anim>
                                    <p:anim calcmode="lin" valueType="num">
                                      <p:cBhvr>
                                        <p:cTn id="78" dur="1000" fill="hold"/>
                                        <p:tgtEl>
                                          <p:spTgt spid="51"/>
                                        </p:tgtEl>
                                        <p:attrNameLst>
                                          <p:attrName>ppt_y</p:attrName>
                                        </p:attrNameLst>
                                      </p:cBhvr>
                                      <p:tavLst>
                                        <p:tav tm="0">
                                          <p:val>
                                            <p:strVal val="#ppt_y+.1"/>
                                          </p:val>
                                        </p:tav>
                                        <p:tav tm="100000">
                                          <p:val>
                                            <p:strVal val="#ppt_y"/>
                                          </p:val>
                                        </p:tav>
                                      </p:tavLst>
                                    </p:anim>
                                  </p:childTnLst>
                                </p:cTn>
                              </p:par>
                            </p:childTnLst>
                          </p:cTn>
                        </p:par>
                        <p:par>
                          <p:cTn id="79" fill="hold">
                            <p:stCondLst>
                              <p:cond delay="1000"/>
                            </p:stCondLst>
                            <p:childTnLst>
                              <p:par>
                                <p:cTn id="80" presetID="22" presetClass="exit" presetSubtype="4" fill="hold" nodeType="afterEffect">
                                  <p:stCondLst>
                                    <p:cond delay="0"/>
                                  </p:stCondLst>
                                  <p:childTnLst>
                                    <p:animEffect transition="out" filter="wipe(down)">
                                      <p:cBhvr>
                                        <p:cTn id="81" dur="500"/>
                                        <p:tgtEl>
                                          <p:spTgt spid="66"/>
                                        </p:tgtEl>
                                      </p:cBhvr>
                                    </p:animEffect>
                                    <p:set>
                                      <p:cBhvr>
                                        <p:cTn id="82" dur="1" fill="hold">
                                          <p:stCondLst>
                                            <p:cond delay="499"/>
                                          </p:stCondLst>
                                        </p:cTn>
                                        <p:tgtEl>
                                          <p:spTgt spid="66"/>
                                        </p:tgtEl>
                                        <p:attrNameLst>
                                          <p:attrName>style.visibility</p:attrName>
                                        </p:attrNameLst>
                                      </p:cBhvr>
                                      <p:to>
                                        <p:strVal val="hidden"/>
                                      </p:to>
                                    </p:set>
                                  </p:childTnLst>
                                </p:cTn>
                              </p:par>
                            </p:childTnLst>
                          </p:cTn>
                        </p:par>
                        <p:par>
                          <p:cTn id="83" fill="hold">
                            <p:stCondLst>
                              <p:cond delay="1500"/>
                            </p:stCondLst>
                            <p:childTnLst>
                              <p:par>
                                <p:cTn id="84" presetID="22" presetClass="entr" presetSubtype="8" fill="hold" nodeType="afterEffect">
                                  <p:stCondLst>
                                    <p:cond delay="0"/>
                                  </p:stCondLst>
                                  <p:childTnLst>
                                    <p:set>
                                      <p:cBhvr>
                                        <p:cTn id="85" dur="1" fill="hold">
                                          <p:stCondLst>
                                            <p:cond delay="0"/>
                                          </p:stCondLst>
                                        </p:cTn>
                                        <p:tgtEl>
                                          <p:spTgt spid="66"/>
                                        </p:tgtEl>
                                        <p:attrNameLst>
                                          <p:attrName>style.visibility</p:attrName>
                                        </p:attrNameLst>
                                      </p:cBhvr>
                                      <p:to>
                                        <p:strVal val="visible"/>
                                      </p:to>
                                    </p:set>
                                    <p:animEffect transition="in" filter="wipe(left)">
                                      <p:cBhvr>
                                        <p:cTn id="86" dur="1000"/>
                                        <p:tgtEl>
                                          <p:spTgt spid="66"/>
                                        </p:tgtEl>
                                      </p:cBhvr>
                                    </p:animEffect>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48"/>
                                        </p:tgtEl>
                                        <p:attrNameLst>
                                          <p:attrName>style.visibility</p:attrName>
                                        </p:attrNameLst>
                                      </p:cBhvr>
                                      <p:to>
                                        <p:strVal val="visible"/>
                                      </p:to>
                                    </p:set>
                                    <p:animEffect transition="in" filter="fade">
                                      <p:cBhvr>
                                        <p:cTn id="91" dur="1000"/>
                                        <p:tgtEl>
                                          <p:spTgt spid="48"/>
                                        </p:tgtEl>
                                      </p:cBhvr>
                                    </p:animEffect>
                                    <p:anim calcmode="lin" valueType="num">
                                      <p:cBhvr>
                                        <p:cTn id="92" dur="1000" fill="hold"/>
                                        <p:tgtEl>
                                          <p:spTgt spid="48"/>
                                        </p:tgtEl>
                                        <p:attrNameLst>
                                          <p:attrName>ppt_x</p:attrName>
                                        </p:attrNameLst>
                                      </p:cBhvr>
                                      <p:tavLst>
                                        <p:tav tm="0">
                                          <p:val>
                                            <p:strVal val="#ppt_x"/>
                                          </p:val>
                                        </p:tav>
                                        <p:tav tm="100000">
                                          <p:val>
                                            <p:strVal val="#ppt_x"/>
                                          </p:val>
                                        </p:tav>
                                      </p:tavLst>
                                    </p:anim>
                                    <p:anim calcmode="lin" valueType="num">
                                      <p:cBhvr>
                                        <p:cTn id="93" dur="1000" fill="hold"/>
                                        <p:tgtEl>
                                          <p:spTgt spid="48"/>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52"/>
                                        </p:tgtEl>
                                        <p:attrNameLst>
                                          <p:attrName>style.visibility</p:attrName>
                                        </p:attrNameLst>
                                      </p:cBhvr>
                                      <p:to>
                                        <p:strVal val="visible"/>
                                      </p:to>
                                    </p:set>
                                    <p:animEffect transition="in" filter="fade">
                                      <p:cBhvr>
                                        <p:cTn id="96" dur="1000"/>
                                        <p:tgtEl>
                                          <p:spTgt spid="52"/>
                                        </p:tgtEl>
                                      </p:cBhvr>
                                    </p:animEffect>
                                    <p:anim calcmode="lin" valueType="num">
                                      <p:cBhvr>
                                        <p:cTn id="97" dur="1000" fill="hold"/>
                                        <p:tgtEl>
                                          <p:spTgt spid="52"/>
                                        </p:tgtEl>
                                        <p:attrNameLst>
                                          <p:attrName>ppt_x</p:attrName>
                                        </p:attrNameLst>
                                      </p:cBhvr>
                                      <p:tavLst>
                                        <p:tav tm="0">
                                          <p:val>
                                            <p:strVal val="#ppt_x"/>
                                          </p:val>
                                        </p:tav>
                                        <p:tav tm="100000">
                                          <p:val>
                                            <p:strVal val="#ppt_x"/>
                                          </p:val>
                                        </p:tav>
                                      </p:tavLst>
                                    </p:anim>
                                    <p:anim calcmode="lin" valueType="num">
                                      <p:cBhvr>
                                        <p:cTn id="98" dur="1000" fill="hold"/>
                                        <p:tgtEl>
                                          <p:spTgt spid="52"/>
                                        </p:tgtEl>
                                        <p:attrNameLst>
                                          <p:attrName>ppt_y</p:attrName>
                                        </p:attrNameLst>
                                      </p:cBhvr>
                                      <p:tavLst>
                                        <p:tav tm="0">
                                          <p:val>
                                            <p:strVal val="#ppt_y+.1"/>
                                          </p:val>
                                        </p:tav>
                                        <p:tav tm="100000">
                                          <p:val>
                                            <p:strVal val="#ppt_y"/>
                                          </p:val>
                                        </p:tav>
                                      </p:tavLst>
                                    </p:anim>
                                  </p:childTnLst>
                                </p:cTn>
                              </p:par>
                            </p:childTnLst>
                          </p:cTn>
                        </p:par>
                        <p:par>
                          <p:cTn id="99" fill="hold">
                            <p:stCondLst>
                              <p:cond delay="1000"/>
                            </p:stCondLst>
                            <p:childTnLst>
                              <p:par>
                                <p:cTn id="100" presetID="22" presetClass="exit" presetSubtype="4" fill="hold" nodeType="afterEffect">
                                  <p:stCondLst>
                                    <p:cond delay="0"/>
                                  </p:stCondLst>
                                  <p:childTnLst>
                                    <p:animEffect transition="out" filter="wipe(down)">
                                      <p:cBhvr>
                                        <p:cTn id="101" dur="500"/>
                                        <p:tgtEl>
                                          <p:spTgt spid="66"/>
                                        </p:tgtEl>
                                      </p:cBhvr>
                                    </p:animEffect>
                                    <p:set>
                                      <p:cBhvr>
                                        <p:cTn id="102" dur="1" fill="hold">
                                          <p:stCondLst>
                                            <p:cond delay="499"/>
                                          </p:stCondLst>
                                        </p:cTn>
                                        <p:tgtEl>
                                          <p:spTgt spid="66"/>
                                        </p:tgtEl>
                                        <p:attrNameLst>
                                          <p:attrName>style.visibility</p:attrName>
                                        </p:attrNameLst>
                                      </p:cBhvr>
                                      <p:to>
                                        <p:strVal val="hidden"/>
                                      </p:to>
                                    </p:set>
                                  </p:childTnLst>
                                </p:cTn>
                              </p:par>
                            </p:childTnLst>
                          </p:cTn>
                        </p:par>
                        <p:par>
                          <p:cTn id="103" fill="hold">
                            <p:stCondLst>
                              <p:cond delay="1500"/>
                            </p:stCondLst>
                            <p:childTnLst>
                              <p:par>
                                <p:cTn id="104" presetID="22" presetClass="entr" presetSubtype="8" fill="hold" nodeType="afterEffect">
                                  <p:stCondLst>
                                    <p:cond delay="0"/>
                                  </p:stCondLst>
                                  <p:childTnLst>
                                    <p:set>
                                      <p:cBhvr>
                                        <p:cTn id="105" dur="1" fill="hold">
                                          <p:stCondLst>
                                            <p:cond delay="0"/>
                                          </p:stCondLst>
                                        </p:cTn>
                                        <p:tgtEl>
                                          <p:spTgt spid="66"/>
                                        </p:tgtEl>
                                        <p:attrNameLst>
                                          <p:attrName>style.visibility</p:attrName>
                                        </p:attrNameLst>
                                      </p:cBhvr>
                                      <p:to>
                                        <p:strVal val="visible"/>
                                      </p:to>
                                    </p:set>
                                    <p:animEffect transition="in" filter="wipe(left)">
                                      <p:cBhvr>
                                        <p:cTn id="106" dur="1000"/>
                                        <p:tgtEl>
                                          <p:spTgt spid="66"/>
                                        </p:tgtEl>
                                      </p:cBhvr>
                                    </p:animEffect>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49"/>
                                        </p:tgtEl>
                                        <p:attrNameLst>
                                          <p:attrName>style.visibility</p:attrName>
                                        </p:attrNameLst>
                                      </p:cBhvr>
                                      <p:to>
                                        <p:strVal val="visible"/>
                                      </p:to>
                                    </p:set>
                                    <p:animEffect transition="in" filter="fade">
                                      <p:cBhvr>
                                        <p:cTn id="111" dur="1000"/>
                                        <p:tgtEl>
                                          <p:spTgt spid="49"/>
                                        </p:tgtEl>
                                      </p:cBhvr>
                                    </p:animEffect>
                                    <p:anim calcmode="lin" valueType="num">
                                      <p:cBhvr>
                                        <p:cTn id="112" dur="1000" fill="hold"/>
                                        <p:tgtEl>
                                          <p:spTgt spid="49"/>
                                        </p:tgtEl>
                                        <p:attrNameLst>
                                          <p:attrName>ppt_x</p:attrName>
                                        </p:attrNameLst>
                                      </p:cBhvr>
                                      <p:tavLst>
                                        <p:tav tm="0">
                                          <p:val>
                                            <p:strVal val="#ppt_x"/>
                                          </p:val>
                                        </p:tav>
                                        <p:tav tm="100000">
                                          <p:val>
                                            <p:strVal val="#ppt_x"/>
                                          </p:val>
                                        </p:tav>
                                      </p:tavLst>
                                    </p:anim>
                                    <p:anim calcmode="lin" valueType="num">
                                      <p:cBhvr>
                                        <p:cTn id="113" dur="1000" fill="hold"/>
                                        <p:tgtEl>
                                          <p:spTgt spid="49"/>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53"/>
                                        </p:tgtEl>
                                        <p:attrNameLst>
                                          <p:attrName>style.visibility</p:attrName>
                                        </p:attrNameLst>
                                      </p:cBhvr>
                                      <p:to>
                                        <p:strVal val="visible"/>
                                      </p:to>
                                    </p:set>
                                    <p:animEffect transition="in" filter="fade">
                                      <p:cBhvr>
                                        <p:cTn id="116" dur="1000"/>
                                        <p:tgtEl>
                                          <p:spTgt spid="53"/>
                                        </p:tgtEl>
                                      </p:cBhvr>
                                    </p:animEffect>
                                    <p:anim calcmode="lin" valueType="num">
                                      <p:cBhvr>
                                        <p:cTn id="117" dur="1000" fill="hold"/>
                                        <p:tgtEl>
                                          <p:spTgt spid="53"/>
                                        </p:tgtEl>
                                        <p:attrNameLst>
                                          <p:attrName>ppt_x</p:attrName>
                                        </p:attrNameLst>
                                      </p:cBhvr>
                                      <p:tavLst>
                                        <p:tav tm="0">
                                          <p:val>
                                            <p:strVal val="#ppt_x"/>
                                          </p:val>
                                        </p:tav>
                                        <p:tav tm="100000">
                                          <p:val>
                                            <p:strVal val="#ppt_x"/>
                                          </p:val>
                                        </p:tav>
                                      </p:tavLst>
                                    </p:anim>
                                    <p:anim calcmode="lin" valueType="num">
                                      <p:cBhvr>
                                        <p:cTn id="118" dur="1000" fill="hold"/>
                                        <p:tgtEl>
                                          <p:spTgt spid="53"/>
                                        </p:tgtEl>
                                        <p:attrNameLst>
                                          <p:attrName>ppt_y</p:attrName>
                                        </p:attrNameLst>
                                      </p:cBhvr>
                                      <p:tavLst>
                                        <p:tav tm="0">
                                          <p:val>
                                            <p:strVal val="#ppt_y+.1"/>
                                          </p:val>
                                        </p:tav>
                                        <p:tav tm="100000">
                                          <p:val>
                                            <p:strVal val="#ppt_y"/>
                                          </p:val>
                                        </p:tav>
                                      </p:tavLst>
                                    </p:anim>
                                  </p:childTnLst>
                                </p:cTn>
                              </p:par>
                            </p:childTnLst>
                          </p:cTn>
                        </p:par>
                        <p:par>
                          <p:cTn id="119" fill="hold">
                            <p:stCondLst>
                              <p:cond delay="1000"/>
                            </p:stCondLst>
                            <p:childTnLst>
                              <p:par>
                                <p:cTn id="120" presetID="22" presetClass="exit" presetSubtype="1" fill="hold" nodeType="afterEffect">
                                  <p:stCondLst>
                                    <p:cond delay="0"/>
                                  </p:stCondLst>
                                  <p:childTnLst>
                                    <p:animEffect transition="out" filter="wipe(up)">
                                      <p:cBhvr>
                                        <p:cTn id="121" dur="500"/>
                                        <p:tgtEl>
                                          <p:spTgt spid="66"/>
                                        </p:tgtEl>
                                      </p:cBhvr>
                                    </p:animEffect>
                                    <p:set>
                                      <p:cBhvr>
                                        <p:cTn id="122" dur="1" fill="hold">
                                          <p:stCondLst>
                                            <p:cond delay="499"/>
                                          </p:stCondLst>
                                        </p:cTn>
                                        <p:tgtEl>
                                          <p:spTgt spid="66"/>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47" presetClass="entr" presetSubtype="0" fill="hold" nodeType="clickEffect">
                                  <p:stCondLst>
                                    <p:cond delay="0"/>
                                  </p:stCondLst>
                                  <p:childTnLst>
                                    <p:set>
                                      <p:cBhvr>
                                        <p:cTn id="126" dur="1" fill="hold">
                                          <p:stCondLst>
                                            <p:cond delay="0"/>
                                          </p:stCondLst>
                                        </p:cTn>
                                        <p:tgtEl>
                                          <p:spTgt spid="69"/>
                                        </p:tgtEl>
                                        <p:attrNameLst>
                                          <p:attrName>style.visibility</p:attrName>
                                        </p:attrNameLst>
                                      </p:cBhvr>
                                      <p:to>
                                        <p:strVal val="visible"/>
                                      </p:to>
                                    </p:set>
                                    <p:animEffect transition="in" filter="fade">
                                      <p:cBhvr>
                                        <p:cTn id="127" dur="1000"/>
                                        <p:tgtEl>
                                          <p:spTgt spid="69"/>
                                        </p:tgtEl>
                                      </p:cBhvr>
                                    </p:animEffect>
                                    <p:anim calcmode="lin" valueType="num">
                                      <p:cBhvr>
                                        <p:cTn id="128" dur="1000" fill="hold"/>
                                        <p:tgtEl>
                                          <p:spTgt spid="69"/>
                                        </p:tgtEl>
                                        <p:attrNameLst>
                                          <p:attrName>ppt_x</p:attrName>
                                        </p:attrNameLst>
                                      </p:cBhvr>
                                      <p:tavLst>
                                        <p:tav tm="0">
                                          <p:val>
                                            <p:strVal val="#ppt_x"/>
                                          </p:val>
                                        </p:tav>
                                        <p:tav tm="100000">
                                          <p:val>
                                            <p:strVal val="#ppt_x"/>
                                          </p:val>
                                        </p:tav>
                                      </p:tavLst>
                                    </p:anim>
                                    <p:anim calcmode="lin" valueType="num">
                                      <p:cBhvr>
                                        <p:cTn id="129" dur="1000" fill="hold"/>
                                        <p:tgtEl>
                                          <p:spTgt spid="69"/>
                                        </p:tgtEl>
                                        <p:attrNameLst>
                                          <p:attrName>ppt_y</p:attrName>
                                        </p:attrNameLst>
                                      </p:cBhvr>
                                      <p:tavLst>
                                        <p:tav tm="0">
                                          <p:val>
                                            <p:strVal val="#ppt_y-.1"/>
                                          </p:val>
                                        </p:tav>
                                        <p:tav tm="100000">
                                          <p:val>
                                            <p:strVal val="#ppt_y"/>
                                          </p:val>
                                        </p:tav>
                                      </p:tavLst>
                                    </p:anim>
                                  </p:childTnLst>
                                </p:cTn>
                              </p:par>
                              <p:par>
                                <p:cTn id="130" presetID="10" presetClass="exit" presetSubtype="0" fill="hold" nodeType="withEffect">
                                  <p:stCondLst>
                                    <p:cond delay="0"/>
                                  </p:stCondLst>
                                  <p:childTnLst>
                                    <p:animEffect transition="out" filter="fade">
                                      <p:cBhvr>
                                        <p:cTn id="131" dur="500"/>
                                        <p:tgtEl>
                                          <p:spTgt spid="62"/>
                                        </p:tgtEl>
                                      </p:cBhvr>
                                    </p:animEffect>
                                    <p:set>
                                      <p:cBhvr>
                                        <p:cTn id="132" dur="1" fill="hold">
                                          <p:stCondLst>
                                            <p:cond delay="499"/>
                                          </p:stCondLst>
                                        </p:cTn>
                                        <p:tgtEl>
                                          <p:spTgt spid="62"/>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42" presetClass="entr" presetSubtype="0" fill="hold" grpId="0" nodeType="clickEffect">
                                  <p:stCondLst>
                                    <p:cond delay="0"/>
                                  </p:stCondLst>
                                  <p:childTnLst>
                                    <p:set>
                                      <p:cBhvr>
                                        <p:cTn id="136" dur="1" fill="hold">
                                          <p:stCondLst>
                                            <p:cond delay="0"/>
                                          </p:stCondLst>
                                        </p:cTn>
                                        <p:tgtEl>
                                          <p:spTgt spid="68"/>
                                        </p:tgtEl>
                                        <p:attrNameLst>
                                          <p:attrName>style.visibility</p:attrName>
                                        </p:attrNameLst>
                                      </p:cBhvr>
                                      <p:to>
                                        <p:strVal val="visible"/>
                                      </p:to>
                                    </p:set>
                                    <p:animEffect transition="in" filter="fade">
                                      <p:cBhvr>
                                        <p:cTn id="137" dur="1000"/>
                                        <p:tgtEl>
                                          <p:spTgt spid="68"/>
                                        </p:tgtEl>
                                      </p:cBhvr>
                                    </p:animEffect>
                                    <p:anim calcmode="lin" valueType="num">
                                      <p:cBhvr>
                                        <p:cTn id="138" dur="1000" fill="hold"/>
                                        <p:tgtEl>
                                          <p:spTgt spid="68"/>
                                        </p:tgtEl>
                                        <p:attrNameLst>
                                          <p:attrName>ppt_x</p:attrName>
                                        </p:attrNameLst>
                                      </p:cBhvr>
                                      <p:tavLst>
                                        <p:tav tm="0">
                                          <p:val>
                                            <p:strVal val="#ppt_x"/>
                                          </p:val>
                                        </p:tav>
                                        <p:tav tm="100000">
                                          <p:val>
                                            <p:strVal val="#ppt_x"/>
                                          </p:val>
                                        </p:tav>
                                      </p:tavLst>
                                    </p:anim>
                                    <p:anim calcmode="lin" valueType="num">
                                      <p:cBhvr>
                                        <p:cTn id="139"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presetID="42" presetClass="entr" presetSubtype="0" fill="hold" nodeType="clickEffect">
                                  <p:stCondLst>
                                    <p:cond delay="0"/>
                                  </p:stCondLst>
                                  <p:childTnLst>
                                    <p:set>
                                      <p:cBhvr>
                                        <p:cTn id="143" dur="1" fill="hold">
                                          <p:stCondLst>
                                            <p:cond delay="0"/>
                                          </p:stCondLst>
                                        </p:cTn>
                                        <p:tgtEl>
                                          <p:spTgt spid="63"/>
                                        </p:tgtEl>
                                        <p:attrNameLst>
                                          <p:attrName>style.visibility</p:attrName>
                                        </p:attrNameLst>
                                      </p:cBhvr>
                                      <p:to>
                                        <p:strVal val="visible"/>
                                      </p:to>
                                    </p:set>
                                    <p:animEffect transition="in" filter="fade">
                                      <p:cBhvr>
                                        <p:cTn id="144" dur="1000"/>
                                        <p:tgtEl>
                                          <p:spTgt spid="63"/>
                                        </p:tgtEl>
                                      </p:cBhvr>
                                    </p:animEffect>
                                    <p:anim calcmode="lin" valueType="num">
                                      <p:cBhvr>
                                        <p:cTn id="145" dur="1000" fill="hold"/>
                                        <p:tgtEl>
                                          <p:spTgt spid="63"/>
                                        </p:tgtEl>
                                        <p:attrNameLst>
                                          <p:attrName>ppt_x</p:attrName>
                                        </p:attrNameLst>
                                      </p:cBhvr>
                                      <p:tavLst>
                                        <p:tav tm="0">
                                          <p:val>
                                            <p:strVal val="#ppt_x"/>
                                          </p:val>
                                        </p:tav>
                                        <p:tav tm="100000">
                                          <p:val>
                                            <p:strVal val="#ppt_x"/>
                                          </p:val>
                                        </p:tav>
                                      </p:tavLst>
                                    </p:anim>
                                    <p:anim calcmode="lin" valueType="num">
                                      <p:cBhvr>
                                        <p:cTn id="146" dur="1000" fill="hold"/>
                                        <p:tgtEl>
                                          <p:spTgt spid="63"/>
                                        </p:tgtEl>
                                        <p:attrNameLst>
                                          <p:attrName>ppt_y</p:attrName>
                                        </p:attrNameLst>
                                      </p:cBhvr>
                                      <p:tavLst>
                                        <p:tav tm="0">
                                          <p:val>
                                            <p:strVal val="#ppt_y+.1"/>
                                          </p:val>
                                        </p:tav>
                                        <p:tav tm="100000">
                                          <p:val>
                                            <p:strVal val="#ppt_y"/>
                                          </p:val>
                                        </p:tav>
                                      </p:tavLst>
                                    </p:anim>
                                  </p:childTnLst>
                                </p:cTn>
                              </p:par>
                              <p:par>
                                <p:cTn id="147" presetID="42" presetClass="entr" presetSubtype="0" fill="hold" nodeType="withEffect">
                                  <p:stCondLst>
                                    <p:cond delay="0"/>
                                  </p:stCondLst>
                                  <p:childTnLst>
                                    <p:set>
                                      <p:cBhvr>
                                        <p:cTn id="148" dur="1" fill="hold">
                                          <p:stCondLst>
                                            <p:cond delay="0"/>
                                          </p:stCondLst>
                                        </p:cTn>
                                        <p:tgtEl>
                                          <p:spTgt spid="25"/>
                                        </p:tgtEl>
                                        <p:attrNameLst>
                                          <p:attrName>style.visibility</p:attrName>
                                        </p:attrNameLst>
                                      </p:cBhvr>
                                      <p:to>
                                        <p:strVal val="visible"/>
                                      </p:to>
                                    </p:set>
                                    <p:animEffect transition="in" filter="fade">
                                      <p:cBhvr>
                                        <p:cTn id="149" dur="1000"/>
                                        <p:tgtEl>
                                          <p:spTgt spid="25"/>
                                        </p:tgtEl>
                                      </p:cBhvr>
                                    </p:animEffect>
                                    <p:anim calcmode="lin" valueType="num">
                                      <p:cBhvr>
                                        <p:cTn id="150" dur="1000" fill="hold"/>
                                        <p:tgtEl>
                                          <p:spTgt spid="25"/>
                                        </p:tgtEl>
                                        <p:attrNameLst>
                                          <p:attrName>ppt_x</p:attrName>
                                        </p:attrNameLst>
                                      </p:cBhvr>
                                      <p:tavLst>
                                        <p:tav tm="0">
                                          <p:val>
                                            <p:strVal val="#ppt_x"/>
                                          </p:val>
                                        </p:tav>
                                        <p:tav tm="100000">
                                          <p:val>
                                            <p:strVal val="#ppt_x"/>
                                          </p:val>
                                        </p:tav>
                                      </p:tavLst>
                                    </p:anim>
                                    <p:anim calcmode="lin" valueType="num">
                                      <p:cBhvr>
                                        <p:cTn id="15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42" presetClass="entr" presetSubtype="0" fill="hold" grpId="0" nodeType="clickEffect">
                                  <p:stCondLst>
                                    <p:cond delay="0"/>
                                  </p:stCondLst>
                                  <p:childTnLst>
                                    <p:set>
                                      <p:cBhvr>
                                        <p:cTn id="155" dur="1" fill="hold">
                                          <p:stCondLst>
                                            <p:cond delay="0"/>
                                          </p:stCondLst>
                                        </p:cTn>
                                        <p:tgtEl>
                                          <p:spTgt spid="54"/>
                                        </p:tgtEl>
                                        <p:attrNameLst>
                                          <p:attrName>style.visibility</p:attrName>
                                        </p:attrNameLst>
                                      </p:cBhvr>
                                      <p:to>
                                        <p:strVal val="visible"/>
                                      </p:to>
                                    </p:set>
                                    <p:animEffect transition="in" filter="fade">
                                      <p:cBhvr>
                                        <p:cTn id="156" dur="1000"/>
                                        <p:tgtEl>
                                          <p:spTgt spid="54"/>
                                        </p:tgtEl>
                                      </p:cBhvr>
                                    </p:animEffect>
                                    <p:anim calcmode="lin" valueType="num">
                                      <p:cBhvr>
                                        <p:cTn id="157" dur="1000" fill="hold"/>
                                        <p:tgtEl>
                                          <p:spTgt spid="54"/>
                                        </p:tgtEl>
                                        <p:attrNameLst>
                                          <p:attrName>ppt_x</p:attrName>
                                        </p:attrNameLst>
                                      </p:cBhvr>
                                      <p:tavLst>
                                        <p:tav tm="0">
                                          <p:val>
                                            <p:strVal val="#ppt_x"/>
                                          </p:val>
                                        </p:tav>
                                        <p:tav tm="100000">
                                          <p:val>
                                            <p:strVal val="#ppt_x"/>
                                          </p:val>
                                        </p:tav>
                                      </p:tavLst>
                                    </p:anim>
                                    <p:anim calcmode="lin" valueType="num">
                                      <p:cBhvr>
                                        <p:cTn id="158" dur="1000" fill="hold"/>
                                        <p:tgtEl>
                                          <p:spTgt spid="54"/>
                                        </p:tgtEl>
                                        <p:attrNameLst>
                                          <p:attrName>ppt_y</p:attrName>
                                        </p:attrNameLst>
                                      </p:cBhvr>
                                      <p:tavLst>
                                        <p:tav tm="0">
                                          <p:val>
                                            <p:strVal val="#ppt_y+.1"/>
                                          </p:val>
                                        </p:tav>
                                        <p:tav tm="100000">
                                          <p:val>
                                            <p:strVal val="#ppt_y"/>
                                          </p:val>
                                        </p:tav>
                                      </p:tavLst>
                                    </p:anim>
                                  </p:childTnLst>
                                </p:cTn>
                              </p:par>
                              <p:par>
                                <p:cTn id="159" presetID="42" presetClass="entr" presetSubtype="0" fill="hold" grpId="0" nodeType="withEffect">
                                  <p:stCondLst>
                                    <p:cond delay="0"/>
                                  </p:stCondLst>
                                  <p:childTnLst>
                                    <p:set>
                                      <p:cBhvr>
                                        <p:cTn id="160" dur="1" fill="hold">
                                          <p:stCondLst>
                                            <p:cond delay="0"/>
                                          </p:stCondLst>
                                        </p:cTn>
                                        <p:tgtEl>
                                          <p:spTgt spid="57"/>
                                        </p:tgtEl>
                                        <p:attrNameLst>
                                          <p:attrName>style.visibility</p:attrName>
                                        </p:attrNameLst>
                                      </p:cBhvr>
                                      <p:to>
                                        <p:strVal val="visible"/>
                                      </p:to>
                                    </p:set>
                                    <p:animEffect transition="in" filter="fade">
                                      <p:cBhvr>
                                        <p:cTn id="161" dur="1000"/>
                                        <p:tgtEl>
                                          <p:spTgt spid="57"/>
                                        </p:tgtEl>
                                      </p:cBhvr>
                                    </p:animEffect>
                                    <p:anim calcmode="lin" valueType="num">
                                      <p:cBhvr>
                                        <p:cTn id="162" dur="1000" fill="hold"/>
                                        <p:tgtEl>
                                          <p:spTgt spid="57"/>
                                        </p:tgtEl>
                                        <p:attrNameLst>
                                          <p:attrName>ppt_x</p:attrName>
                                        </p:attrNameLst>
                                      </p:cBhvr>
                                      <p:tavLst>
                                        <p:tav tm="0">
                                          <p:val>
                                            <p:strVal val="#ppt_x"/>
                                          </p:val>
                                        </p:tav>
                                        <p:tav tm="100000">
                                          <p:val>
                                            <p:strVal val="#ppt_x"/>
                                          </p:val>
                                        </p:tav>
                                      </p:tavLst>
                                    </p:anim>
                                    <p:anim calcmode="lin" valueType="num">
                                      <p:cBhvr>
                                        <p:cTn id="163" dur="1000" fill="hold"/>
                                        <p:tgtEl>
                                          <p:spTgt spid="57"/>
                                        </p:tgtEl>
                                        <p:attrNameLst>
                                          <p:attrName>ppt_y</p:attrName>
                                        </p:attrNameLst>
                                      </p:cBhvr>
                                      <p:tavLst>
                                        <p:tav tm="0">
                                          <p:val>
                                            <p:strVal val="#ppt_y+.1"/>
                                          </p:val>
                                        </p:tav>
                                        <p:tav tm="100000">
                                          <p:val>
                                            <p:strVal val="#ppt_y"/>
                                          </p:val>
                                        </p:tav>
                                      </p:tavLst>
                                    </p:anim>
                                  </p:childTnLst>
                                </p:cTn>
                              </p:par>
                            </p:childTnLst>
                          </p:cTn>
                        </p:par>
                        <p:par>
                          <p:cTn id="164" fill="hold">
                            <p:stCondLst>
                              <p:cond delay="1000"/>
                            </p:stCondLst>
                            <p:childTnLst>
                              <p:par>
                                <p:cTn id="165" presetID="42" presetClass="entr" presetSubtype="0" fill="hold" grpId="0" nodeType="afterEffect">
                                  <p:stCondLst>
                                    <p:cond delay="0"/>
                                  </p:stCondLst>
                                  <p:childTnLst>
                                    <p:set>
                                      <p:cBhvr>
                                        <p:cTn id="166" dur="1" fill="hold">
                                          <p:stCondLst>
                                            <p:cond delay="0"/>
                                          </p:stCondLst>
                                        </p:cTn>
                                        <p:tgtEl>
                                          <p:spTgt spid="55"/>
                                        </p:tgtEl>
                                        <p:attrNameLst>
                                          <p:attrName>style.visibility</p:attrName>
                                        </p:attrNameLst>
                                      </p:cBhvr>
                                      <p:to>
                                        <p:strVal val="visible"/>
                                      </p:to>
                                    </p:set>
                                    <p:animEffect transition="in" filter="fade">
                                      <p:cBhvr>
                                        <p:cTn id="167" dur="1000"/>
                                        <p:tgtEl>
                                          <p:spTgt spid="55"/>
                                        </p:tgtEl>
                                      </p:cBhvr>
                                    </p:animEffect>
                                    <p:anim calcmode="lin" valueType="num">
                                      <p:cBhvr>
                                        <p:cTn id="168" dur="1000" fill="hold"/>
                                        <p:tgtEl>
                                          <p:spTgt spid="55"/>
                                        </p:tgtEl>
                                        <p:attrNameLst>
                                          <p:attrName>ppt_x</p:attrName>
                                        </p:attrNameLst>
                                      </p:cBhvr>
                                      <p:tavLst>
                                        <p:tav tm="0">
                                          <p:val>
                                            <p:strVal val="#ppt_x"/>
                                          </p:val>
                                        </p:tav>
                                        <p:tav tm="100000">
                                          <p:val>
                                            <p:strVal val="#ppt_x"/>
                                          </p:val>
                                        </p:tav>
                                      </p:tavLst>
                                    </p:anim>
                                    <p:anim calcmode="lin" valueType="num">
                                      <p:cBhvr>
                                        <p:cTn id="169" dur="1000" fill="hold"/>
                                        <p:tgtEl>
                                          <p:spTgt spid="55"/>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58"/>
                                        </p:tgtEl>
                                        <p:attrNameLst>
                                          <p:attrName>style.visibility</p:attrName>
                                        </p:attrNameLst>
                                      </p:cBhvr>
                                      <p:to>
                                        <p:strVal val="visible"/>
                                      </p:to>
                                    </p:set>
                                    <p:animEffect transition="in" filter="fade">
                                      <p:cBhvr>
                                        <p:cTn id="172" dur="1000"/>
                                        <p:tgtEl>
                                          <p:spTgt spid="58"/>
                                        </p:tgtEl>
                                      </p:cBhvr>
                                    </p:animEffect>
                                    <p:anim calcmode="lin" valueType="num">
                                      <p:cBhvr>
                                        <p:cTn id="173" dur="1000" fill="hold"/>
                                        <p:tgtEl>
                                          <p:spTgt spid="58"/>
                                        </p:tgtEl>
                                        <p:attrNameLst>
                                          <p:attrName>ppt_x</p:attrName>
                                        </p:attrNameLst>
                                      </p:cBhvr>
                                      <p:tavLst>
                                        <p:tav tm="0">
                                          <p:val>
                                            <p:strVal val="#ppt_x"/>
                                          </p:val>
                                        </p:tav>
                                        <p:tav tm="100000">
                                          <p:val>
                                            <p:strVal val="#ppt_x"/>
                                          </p:val>
                                        </p:tav>
                                      </p:tavLst>
                                    </p:anim>
                                    <p:anim calcmode="lin" valueType="num">
                                      <p:cBhvr>
                                        <p:cTn id="174" dur="1000" fill="hold"/>
                                        <p:tgtEl>
                                          <p:spTgt spid="58"/>
                                        </p:tgtEl>
                                        <p:attrNameLst>
                                          <p:attrName>ppt_y</p:attrName>
                                        </p:attrNameLst>
                                      </p:cBhvr>
                                      <p:tavLst>
                                        <p:tav tm="0">
                                          <p:val>
                                            <p:strVal val="#ppt_y+.1"/>
                                          </p:val>
                                        </p:tav>
                                        <p:tav tm="100000">
                                          <p:val>
                                            <p:strVal val="#ppt_y"/>
                                          </p:val>
                                        </p:tav>
                                      </p:tavLst>
                                    </p:anim>
                                  </p:childTnLst>
                                </p:cTn>
                              </p:par>
                            </p:childTnLst>
                          </p:cTn>
                        </p:par>
                        <p:par>
                          <p:cTn id="175" fill="hold">
                            <p:stCondLst>
                              <p:cond delay="2000"/>
                            </p:stCondLst>
                            <p:childTnLst>
                              <p:par>
                                <p:cTn id="176" presetID="42" presetClass="entr" presetSubtype="0" fill="hold" grpId="0" nodeType="afterEffect">
                                  <p:stCondLst>
                                    <p:cond delay="0"/>
                                  </p:stCondLst>
                                  <p:childTnLst>
                                    <p:set>
                                      <p:cBhvr>
                                        <p:cTn id="177" dur="1" fill="hold">
                                          <p:stCondLst>
                                            <p:cond delay="0"/>
                                          </p:stCondLst>
                                        </p:cTn>
                                        <p:tgtEl>
                                          <p:spTgt spid="56"/>
                                        </p:tgtEl>
                                        <p:attrNameLst>
                                          <p:attrName>style.visibility</p:attrName>
                                        </p:attrNameLst>
                                      </p:cBhvr>
                                      <p:to>
                                        <p:strVal val="visible"/>
                                      </p:to>
                                    </p:set>
                                    <p:animEffect transition="in" filter="fade">
                                      <p:cBhvr>
                                        <p:cTn id="178" dur="1000"/>
                                        <p:tgtEl>
                                          <p:spTgt spid="56"/>
                                        </p:tgtEl>
                                      </p:cBhvr>
                                    </p:animEffect>
                                    <p:anim calcmode="lin" valueType="num">
                                      <p:cBhvr>
                                        <p:cTn id="179" dur="1000" fill="hold"/>
                                        <p:tgtEl>
                                          <p:spTgt spid="56"/>
                                        </p:tgtEl>
                                        <p:attrNameLst>
                                          <p:attrName>ppt_x</p:attrName>
                                        </p:attrNameLst>
                                      </p:cBhvr>
                                      <p:tavLst>
                                        <p:tav tm="0">
                                          <p:val>
                                            <p:strVal val="#ppt_x"/>
                                          </p:val>
                                        </p:tav>
                                        <p:tav tm="100000">
                                          <p:val>
                                            <p:strVal val="#ppt_x"/>
                                          </p:val>
                                        </p:tav>
                                      </p:tavLst>
                                    </p:anim>
                                    <p:anim calcmode="lin" valueType="num">
                                      <p:cBhvr>
                                        <p:cTn id="180" dur="1000" fill="hold"/>
                                        <p:tgtEl>
                                          <p:spTgt spid="56"/>
                                        </p:tgtEl>
                                        <p:attrNameLst>
                                          <p:attrName>ppt_y</p:attrName>
                                        </p:attrNameLst>
                                      </p:cBhvr>
                                      <p:tavLst>
                                        <p:tav tm="0">
                                          <p:val>
                                            <p:strVal val="#ppt_y+.1"/>
                                          </p:val>
                                        </p:tav>
                                        <p:tav tm="100000">
                                          <p:val>
                                            <p:strVal val="#ppt_y"/>
                                          </p:val>
                                        </p:tav>
                                      </p:tavLst>
                                    </p:anim>
                                  </p:childTnLst>
                                </p:cTn>
                              </p:par>
                              <p:par>
                                <p:cTn id="181" presetID="42" presetClass="entr" presetSubtype="0" fill="hold" grpId="0" nodeType="withEffect">
                                  <p:stCondLst>
                                    <p:cond delay="0"/>
                                  </p:stCondLst>
                                  <p:childTnLst>
                                    <p:set>
                                      <p:cBhvr>
                                        <p:cTn id="182" dur="1" fill="hold">
                                          <p:stCondLst>
                                            <p:cond delay="0"/>
                                          </p:stCondLst>
                                        </p:cTn>
                                        <p:tgtEl>
                                          <p:spTgt spid="59"/>
                                        </p:tgtEl>
                                        <p:attrNameLst>
                                          <p:attrName>style.visibility</p:attrName>
                                        </p:attrNameLst>
                                      </p:cBhvr>
                                      <p:to>
                                        <p:strVal val="visible"/>
                                      </p:to>
                                    </p:set>
                                    <p:animEffect transition="in" filter="fade">
                                      <p:cBhvr>
                                        <p:cTn id="183" dur="1000"/>
                                        <p:tgtEl>
                                          <p:spTgt spid="59"/>
                                        </p:tgtEl>
                                      </p:cBhvr>
                                    </p:animEffect>
                                    <p:anim calcmode="lin" valueType="num">
                                      <p:cBhvr>
                                        <p:cTn id="184" dur="1000" fill="hold"/>
                                        <p:tgtEl>
                                          <p:spTgt spid="59"/>
                                        </p:tgtEl>
                                        <p:attrNameLst>
                                          <p:attrName>ppt_x</p:attrName>
                                        </p:attrNameLst>
                                      </p:cBhvr>
                                      <p:tavLst>
                                        <p:tav tm="0">
                                          <p:val>
                                            <p:strVal val="#ppt_x"/>
                                          </p:val>
                                        </p:tav>
                                        <p:tav tm="100000">
                                          <p:val>
                                            <p:strVal val="#ppt_x"/>
                                          </p:val>
                                        </p:tav>
                                      </p:tavLst>
                                    </p:anim>
                                    <p:anim calcmode="lin" valueType="num">
                                      <p:cBhvr>
                                        <p:cTn id="185"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186" fill="hold">
                      <p:stCondLst>
                        <p:cond delay="indefinite"/>
                      </p:stCondLst>
                      <p:childTnLst>
                        <p:par>
                          <p:cTn id="187" fill="hold">
                            <p:stCondLst>
                              <p:cond delay="0"/>
                            </p:stCondLst>
                            <p:childTnLst>
                              <p:par>
                                <p:cTn id="188" presetID="10" presetClass="exit" presetSubtype="0" fill="hold" nodeType="clickEffect">
                                  <p:stCondLst>
                                    <p:cond delay="0"/>
                                  </p:stCondLst>
                                  <p:childTnLst>
                                    <p:animEffect transition="out" filter="fade">
                                      <p:cBhvr>
                                        <p:cTn id="189" dur="500"/>
                                        <p:tgtEl>
                                          <p:spTgt spid="63"/>
                                        </p:tgtEl>
                                      </p:cBhvr>
                                    </p:animEffect>
                                    <p:set>
                                      <p:cBhvr>
                                        <p:cTn id="190" dur="1" fill="hold">
                                          <p:stCondLst>
                                            <p:cond delay="499"/>
                                          </p:stCondLst>
                                        </p:cTn>
                                        <p:tgtEl>
                                          <p:spTgt spid="63"/>
                                        </p:tgtEl>
                                        <p:attrNameLst>
                                          <p:attrName>style.visibility</p:attrName>
                                        </p:attrNameLst>
                                      </p:cBhvr>
                                      <p:to>
                                        <p:strVal val="hidden"/>
                                      </p:to>
                                    </p:set>
                                  </p:childTnLst>
                                </p:cTn>
                              </p:par>
                            </p:childTnLst>
                          </p:cTn>
                        </p:par>
                      </p:childTnLst>
                    </p:cTn>
                  </p:par>
                  <p:par>
                    <p:cTn id="191" fill="hold">
                      <p:stCondLst>
                        <p:cond delay="indefinite"/>
                      </p:stCondLst>
                      <p:childTnLst>
                        <p:par>
                          <p:cTn id="192" fill="hold">
                            <p:stCondLst>
                              <p:cond delay="0"/>
                            </p:stCondLst>
                            <p:childTnLst>
                              <p:par>
                                <p:cTn id="193" presetID="47" presetClass="entr" presetSubtype="0" fill="hold" nodeType="clickEffect">
                                  <p:stCondLst>
                                    <p:cond delay="0"/>
                                  </p:stCondLst>
                                  <p:childTnLst>
                                    <p:set>
                                      <p:cBhvr>
                                        <p:cTn id="194" dur="1" fill="hold">
                                          <p:stCondLst>
                                            <p:cond delay="0"/>
                                          </p:stCondLst>
                                        </p:cTn>
                                        <p:tgtEl>
                                          <p:spTgt spid="72"/>
                                        </p:tgtEl>
                                        <p:attrNameLst>
                                          <p:attrName>style.visibility</p:attrName>
                                        </p:attrNameLst>
                                      </p:cBhvr>
                                      <p:to>
                                        <p:strVal val="visible"/>
                                      </p:to>
                                    </p:set>
                                    <p:animEffect transition="in" filter="fade">
                                      <p:cBhvr>
                                        <p:cTn id="195" dur="1000"/>
                                        <p:tgtEl>
                                          <p:spTgt spid="72"/>
                                        </p:tgtEl>
                                      </p:cBhvr>
                                    </p:animEffect>
                                    <p:anim calcmode="lin" valueType="num">
                                      <p:cBhvr>
                                        <p:cTn id="196" dur="1000" fill="hold"/>
                                        <p:tgtEl>
                                          <p:spTgt spid="72"/>
                                        </p:tgtEl>
                                        <p:attrNameLst>
                                          <p:attrName>ppt_x</p:attrName>
                                        </p:attrNameLst>
                                      </p:cBhvr>
                                      <p:tavLst>
                                        <p:tav tm="0">
                                          <p:val>
                                            <p:strVal val="#ppt_x"/>
                                          </p:val>
                                        </p:tav>
                                        <p:tav tm="100000">
                                          <p:val>
                                            <p:strVal val="#ppt_x"/>
                                          </p:val>
                                        </p:tav>
                                      </p:tavLst>
                                    </p:anim>
                                    <p:anim calcmode="lin" valueType="num">
                                      <p:cBhvr>
                                        <p:cTn id="197" dur="1000" fill="hold"/>
                                        <p:tgtEl>
                                          <p:spTgt spid="7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矩形 111">
            <a:extLst>
              <a:ext uri="{FF2B5EF4-FFF2-40B4-BE49-F238E27FC236}">
                <a16:creationId xmlns:a16="http://schemas.microsoft.com/office/drawing/2014/main" id="{9E01C1A3-3464-1ADB-6103-9327C3FE92EB}"/>
              </a:ext>
            </a:extLst>
          </p:cNvPr>
          <p:cNvSpPr/>
          <p:nvPr/>
        </p:nvSpPr>
        <p:spPr>
          <a:xfrm>
            <a:off x="175267" y="1863450"/>
            <a:ext cx="7193263" cy="3075373"/>
          </a:xfrm>
          <a:prstGeom prst="rect">
            <a:avLst/>
          </a:prstGeom>
          <a:solidFill>
            <a:srgbClr val="FDF3E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85" name="文本框 84">
            <a:extLst>
              <a:ext uri="{FF2B5EF4-FFF2-40B4-BE49-F238E27FC236}">
                <a16:creationId xmlns:a16="http://schemas.microsoft.com/office/drawing/2014/main" id="{8746B412-2BB5-8DFB-289C-301D480AF722}"/>
              </a:ext>
            </a:extLst>
          </p:cNvPr>
          <p:cNvSpPr txBox="1"/>
          <p:nvPr/>
        </p:nvSpPr>
        <p:spPr>
          <a:xfrm>
            <a:off x="106762" y="935983"/>
            <a:ext cx="10423378" cy="5860066"/>
          </a:xfrm>
          <a:prstGeom prst="rect">
            <a:avLst/>
          </a:prstGeom>
          <a:noFill/>
        </p:spPr>
        <p:txBody>
          <a:bodyPr wrap="square">
            <a:spAutoFit/>
          </a:bodyPr>
          <a:lstStyle/>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Poly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AddPoly</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(Poly pa, Poly pb)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Courier New" panose="02070309020205020404" pitchFamily="49" charset="0"/>
              </a:rPr>
              <a:t>两个一元稀疏多项式相加，返回和多项式</a:t>
            </a:r>
            <a:endParaRPr kumimoji="0" lang="zh-CN" altLang="zh-CN" sz="1600" b="0" i="0" u="none" strike="noStrike" kern="100" cap="none" spc="0" normalizeH="0" baseline="0" noProof="0" dirty="0">
              <a:ln>
                <a:noFill/>
              </a:ln>
              <a:solidFill>
                <a:srgbClr val="4EA72E">
                  <a:lumMod val="75000"/>
                </a:srgbClr>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int</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=0, j=0, k=0;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float</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c;</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pam = pa-&gt;</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termNum</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pbn</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 pb-&gt;</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termNum</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两个多项式的项</a:t>
            </a:r>
            <a:r>
              <a:rPr kumimoji="0" lang="zh-CN"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数</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Poly pc =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allocPoly</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(pam +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pbn</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按最大需求预分配和多项式</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pc</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存储空间</a:t>
            </a: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while</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&lt; pam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&amp;&amp;</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j &lt;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pbn</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依次比较两多项式的项的指数</a:t>
            </a: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switch</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(Compare(pa-&gt;term[</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expn</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pb-&gt;term[j].</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expn</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比较指数</a:t>
            </a: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case</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-1: pc-&gt;term[k++] = pa-&gt;term[</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break</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pa</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项指数较小</a:t>
            </a: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case</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1: pc-&gt;term[k++] = pb-&gt;term[</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j++</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break</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pb</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项指数较小</a:t>
            </a: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case</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0: c = pa-&gt;term[</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coef</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 pb-&gt;term[j].</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coef</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相等</a:t>
            </a:r>
            <a:r>
              <a:rPr kumimoji="0" lang="zh-CN" altLang="en-US"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则系数相加</a:t>
            </a:r>
            <a:endPar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if</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(c!=0)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系数和不为</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0</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，构建和项，并添加到</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p</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c</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pc-&gt;term[k].</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expn</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 pa-&gt;term[</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expn</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pc-&gt;term[k].</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coef</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 c;</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k++;</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系数和为</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0</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则消去此项</a:t>
            </a: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j++</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pa</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和</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pb</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均取下一项</a:t>
            </a: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//switch</a:t>
            </a: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pc-&gt;</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termNum</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en-US"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与</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k</a:t>
            </a:r>
            <a:r>
              <a:rPr kumimoji="0" lang="zh-CN" altLang="en-US"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同步，支持</a:t>
            </a:r>
            <a:r>
              <a:rPr kumimoji="0" lang="en-US" altLang="zh-CN" sz="1600" b="1" i="0" u="none" strike="noStrike" kern="100" cap="none" spc="0" normalizeH="0" baseline="0" noProof="0" dirty="0" err="1">
                <a:ln>
                  <a:noFill/>
                </a:ln>
                <a:solidFill>
                  <a:srgbClr val="00B050"/>
                </a:solidFill>
                <a:effectLst/>
                <a:uLnTx/>
                <a:uFillTx/>
                <a:latin typeface="Courier New" panose="02070309020205020404" pitchFamily="49" charset="0"/>
                <a:ea typeface="宋体" panose="02010600030101010101" pitchFamily="2" charset="-122"/>
                <a:cs typeface="Times New Roman" panose="02020603050405020304" pitchFamily="18" charset="0"/>
              </a:rPr>
              <a:t>AnyviewC</a:t>
            </a:r>
            <a:r>
              <a:rPr kumimoji="0" lang="zh-CN" altLang="en-US"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实时可视跟踪</a:t>
            </a:r>
            <a:endPar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if</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 pam)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pa</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已处理完，将</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pb</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剩余部分添加到</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pc</a:t>
            </a:r>
            <a:endPar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memcpy</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(pc-&gt;</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term+k</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pb-&gt;</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term+j</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pbn</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-j)*</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sizeof</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  k +=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pbn</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-j;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endParaRPr kumimoji="0" lang="zh-CN"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if</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(j ==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pbn</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pb</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已处理完，将</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pa</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剩余部分添加到</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pc</a:t>
            </a:r>
            <a:endPar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memcpy</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(pc-&gt;</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term+k</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pa-&gt;</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term+i</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(pam-</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sizeof</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  k += pam-</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endParaRPr kumimoji="0" lang="zh-CN"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if</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(k &lt; pam +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pbn</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若</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pc</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的实际项数</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k</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小于预分配的项数，则按实际调整空间</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if</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(NULL == (pc-&gt;term = (Term*)</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realloc</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(pc-&gt;term, k*</a:t>
            </a:r>
            <a:r>
              <a:rPr kumimoji="0" lang="en-US" altLang="zh-CN" sz="16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sizeof</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return</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NULL;</a:t>
            </a:r>
            <a:endParaRPr kumimoji="0" lang="zh-CN"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pc-&gt;</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termNum</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 k;  </a:t>
            </a: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return</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 pc;  </a:t>
            </a:r>
            <a:r>
              <a:rPr kumimoji="0" lang="en-US"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 </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和多项式的项数</a:t>
            </a:r>
            <a:r>
              <a:rPr kumimoji="0" lang="zh-CN" altLang="en-US"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a:t>
            </a:r>
            <a:r>
              <a:rPr kumimoji="0" lang="zh-CN" altLang="zh-CN" sz="1600" b="0" i="0" u="none" strike="noStrike" kern="100" cap="none" spc="0" normalizeH="0" baseline="0" noProof="0" dirty="0">
                <a:ln>
                  <a:noFill/>
                </a:ln>
                <a:solidFill>
                  <a:srgbClr val="4EA72E">
                    <a:lumMod val="75000"/>
                  </a:srgbClr>
                </a:solidFill>
                <a:effectLst/>
                <a:uLnTx/>
                <a:uFillTx/>
                <a:latin typeface="Courier New" panose="02070309020205020404" pitchFamily="49" charset="0"/>
                <a:ea typeface="宋体" panose="02010600030101010101" pitchFamily="2" charset="-122"/>
                <a:cs typeface="Times New Roman" panose="02020603050405020304" pitchFamily="18" charset="0"/>
              </a:rPr>
              <a:t>返回所求的和多项式</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zh-CN" sz="16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Times New Roman" panose="02020603050405020304" pitchFamily="18" charset="0"/>
              </a:rPr>
              <a:t>}</a:t>
            </a:r>
          </a:p>
        </p:txBody>
      </p:sp>
      <p:sp>
        <p:nvSpPr>
          <p:cNvPr id="2" name="灯片编号占位符 1">
            <a:extLst>
              <a:ext uri="{FF2B5EF4-FFF2-40B4-BE49-F238E27FC236}">
                <a16:creationId xmlns:a16="http://schemas.microsoft.com/office/drawing/2014/main" id="{423B4C92-B4D1-4CA4-EB22-7F050DFD6730}"/>
              </a:ext>
            </a:extLst>
          </p:cNvPr>
          <p:cNvSpPr>
            <a:spLocks noGrp="1"/>
          </p:cNvSpPr>
          <p:nvPr>
            <p:ph type="sldNum" sz="quarter" idx="4294967295"/>
          </p:nvPr>
        </p:nvSpPr>
        <p:spPr>
          <a:xfrm>
            <a:off x="10923146" y="6356350"/>
            <a:ext cx="430653"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C0FE0B-717B-41AE-9FA2-CA4BF851D1C3}" type="slidenum">
              <a:rPr kumimoji="0" lang="zh-CN" altLang="en-US" sz="1200" b="0" i="0" u="none" strike="noStrike" kern="1200" cap="none" spc="0" normalizeH="0" baseline="0" noProof="0" smtClean="0">
                <a:ln>
                  <a:noFill/>
                </a:ln>
                <a:solidFill>
                  <a:prstClr val="black">
                    <a:tint val="82000"/>
                  </a:prstClr>
                </a:solidFill>
                <a:effectLst/>
                <a:uLnTx/>
                <a:uFillTx/>
                <a:latin typeface="Times New Roman" panose="020206030504050203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zh-CN" altLang="en-US" sz="1200" b="0" i="0" u="none" strike="noStrike" kern="1200" cap="none" spc="0" normalizeH="0" baseline="0" noProof="0" dirty="0">
              <a:ln>
                <a:noFill/>
              </a:ln>
              <a:solidFill>
                <a:prstClr val="black">
                  <a:tint val="82000"/>
                </a:prstClr>
              </a:solidFill>
              <a:effectLst/>
              <a:uLnTx/>
              <a:uFillTx/>
              <a:latin typeface="Times New Roman" panose="02020603050405020304"/>
              <a:ea typeface="宋体" panose="02010600030101010101" pitchFamily="2" charset="-122"/>
              <a:cs typeface="+mn-cs"/>
            </a:endParaRPr>
          </a:p>
        </p:txBody>
      </p:sp>
      <p:sp>
        <p:nvSpPr>
          <p:cNvPr id="3" name="矩形: 圆角 2">
            <a:extLst>
              <a:ext uri="{FF2B5EF4-FFF2-40B4-BE49-F238E27FC236}">
                <a16:creationId xmlns:a16="http://schemas.microsoft.com/office/drawing/2014/main" id="{A47AD3E0-C032-B6E4-7877-93B114155913}"/>
              </a:ext>
            </a:extLst>
          </p:cNvPr>
          <p:cNvSpPr/>
          <p:nvPr/>
        </p:nvSpPr>
        <p:spPr>
          <a:xfrm>
            <a:off x="1334386" y="223284"/>
            <a:ext cx="4960088" cy="536944"/>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srgbClr val="050EBB"/>
                </a:solidFill>
                <a:effectLst/>
                <a:uLnTx/>
                <a:uFillTx/>
                <a:latin typeface="Times New Roman" panose="02020603050405020304"/>
                <a:ea typeface="宋体" panose="02010600030101010101" pitchFamily="2" charset="-122"/>
                <a:cs typeface="+mn-cs"/>
              </a:rPr>
              <a:t>一元稀疏多项式</a:t>
            </a:r>
            <a:r>
              <a:rPr kumimoji="0" lang="zh-CN" altLang="en-US" sz="2400" b="1" i="0" u="none" strike="noStrike" kern="1200" cap="none" spc="0" normalizeH="0" baseline="0" noProof="0" dirty="0">
                <a:ln>
                  <a:noFill/>
                </a:ln>
                <a:solidFill>
                  <a:srgbClr val="050EBB"/>
                </a:solidFill>
                <a:effectLst/>
                <a:uLnTx/>
                <a:uFillTx/>
                <a:latin typeface="Times New Roman" panose="02020603050405020304"/>
                <a:ea typeface="宋体" panose="02010600030101010101" pitchFamily="2" charset="-122"/>
                <a:cs typeface="+mn-cs"/>
              </a:rPr>
              <a:t>相加</a:t>
            </a:r>
            <a:endParaRPr kumimoji="0" lang="zh-CN" altLang="zh-CN" sz="2400" b="1" i="0" u="none" strike="noStrike" kern="100" cap="none" spc="0" normalizeH="0" baseline="0" noProof="0" dirty="0">
              <a:ln>
                <a:noFill/>
              </a:ln>
              <a:solidFill>
                <a:srgbClr val="050EBB"/>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grpSp>
        <p:nvGrpSpPr>
          <p:cNvPr id="4" name="组合 3">
            <a:extLst>
              <a:ext uri="{FF2B5EF4-FFF2-40B4-BE49-F238E27FC236}">
                <a16:creationId xmlns:a16="http://schemas.microsoft.com/office/drawing/2014/main" id="{7F858084-0ED0-893D-2182-167C6ADC2AB0}"/>
              </a:ext>
            </a:extLst>
          </p:cNvPr>
          <p:cNvGrpSpPr/>
          <p:nvPr/>
        </p:nvGrpSpPr>
        <p:grpSpPr>
          <a:xfrm>
            <a:off x="9235779" y="911162"/>
            <a:ext cx="2297353" cy="1052631"/>
            <a:chOff x="712255" y="1057250"/>
            <a:chExt cx="2297353" cy="1052631"/>
          </a:xfrm>
        </p:grpSpPr>
        <p:grpSp>
          <p:nvGrpSpPr>
            <p:cNvPr id="5" name="组合 4">
              <a:extLst>
                <a:ext uri="{FF2B5EF4-FFF2-40B4-BE49-F238E27FC236}">
                  <a16:creationId xmlns:a16="http://schemas.microsoft.com/office/drawing/2014/main" id="{544AB463-F988-F740-A8B6-63B510887589}"/>
                </a:ext>
              </a:extLst>
            </p:cNvPr>
            <p:cNvGrpSpPr/>
            <p:nvPr/>
          </p:nvGrpSpPr>
          <p:grpSpPr>
            <a:xfrm>
              <a:off x="1714112" y="1327506"/>
              <a:ext cx="1239978" cy="782375"/>
              <a:chOff x="1690258" y="540327"/>
              <a:chExt cx="1239978" cy="782375"/>
            </a:xfrm>
          </p:grpSpPr>
          <p:sp>
            <p:nvSpPr>
              <p:cNvPr id="10" name="文本框 9">
                <a:extLst>
                  <a:ext uri="{FF2B5EF4-FFF2-40B4-BE49-F238E27FC236}">
                    <a16:creationId xmlns:a16="http://schemas.microsoft.com/office/drawing/2014/main" id="{218CAAF5-700C-2DCD-AC9E-BDE4E7F0B0B1}"/>
                  </a:ext>
                </a:extLst>
              </p:cNvPr>
              <p:cNvSpPr txBox="1"/>
              <p:nvPr/>
            </p:nvSpPr>
            <p:spPr>
              <a:xfrm>
                <a:off x="1696804" y="542355"/>
                <a:ext cx="30198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9B56EE52-348E-3623-1B35-A802A05AC00B}"/>
                  </a:ext>
                </a:extLst>
              </p:cNvPr>
              <p:cNvSpPr txBox="1"/>
              <p:nvPr/>
            </p:nvSpPr>
            <p:spPr>
              <a:xfrm>
                <a:off x="2005336" y="542355"/>
                <a:ext cx="30198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A258D633-A217-0A4E-E9AA-FA7043CCCB49}"/>
                  </a:ext>
                </a:extLst>
              </p:cNvPr>
              <p:cNvSpPr txBox="1"/>
              <p:nvPr/>
            </p:nvSpPr>
            <p:spPr>
              <a:xfrm>
                <a:off x="2313867" y="540327"/>
                <a:ext cx="30198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文本框 12">
                <a:extLst>
                  <a:ext uri="{FF2B5EF4-FFF2-40B4-BE49-F238E27FC236}">
                    <a16:creationId xmlns:a16="http://schemas.microsoft.com/office/drawing/2014/main" id="{703DDE24-8910-068E-03B7-5F59A464F058}"/>
                  </a:ext>
                </a:extLst>
              </p:cNvPr>
              <p:cNvSpPr txBox="1"/>
              <p:nvPr/>
            </p:nvSpPr>
            <p:spPr>
              <a:xfrm>
                <a:off x="2628250" y="540327"/>
                <a:ext cx="30198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6CC0EDC6-C584-ADB8-D90B-B4A1091428BE}"/>
                  </a:ext>
                </a:extLst>
              </p:cNvPr>
              <p:cNvSpPr txBox="1"/>
              <p:nvPr/>
            </p:nvSpPr>
            <p:spPr>
              <a:xfrm>
                <a:off x="1696804" y="935168"/>
                <a:ext cx="301986"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文本框 14">
                <a:extLst>
                  <a:ext uri="{FF2B5EF4-FFF2-40B4-BE49-F238E27FC236}">
                    <a16:creationId xmlns:a16="http://schemas.microsoft.com/office/drawing/2014/main" id="{A6FD1B43-10B9-6CCC-3274-FC5B91570453}"/>
                  </a:ext>
                </a:extLst>
              </p:cNvPr>
              <p:cNvSpPr txBox="1"/>
              <p:nvPr/>
            </p:nvSpPr>
            <p:spPr>
              <a:xfrm>
                <a:off x="2005336" y="935168"/>
                <a:ext cx="301986"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文本框 15">
                <a:extLst>
                  <a:ext uri="{FF2B5EF4-FFF2-40B4-BE49-F238E27FC236}">
                    <a16:creationId xmlns:a16="http://schemas.microsoft.com/office/drawing/2014/main" id="{6A97C6BD-FFC2-4272-4FCC-D12113FDC35C}"/>
                  </a:ext>
                </a:extLst>
              </p:cNvPr>
              <p:cNvSpPr txBox="1"/>
              <p:nvPr/>
            </p:nvSpPr>
            <p:spPr>
              <a:xfrm>
                <a:off x="2313867" y="933889"/>
                <a:ext cx="301986"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387E5864-180B-13E5-6DB4-FA52A20D1E61}"/>
                  </a:ext>
                </a:extLst>
              </p:cNvPr>
              <p:cNvSpPr txBox="1"/>
              <p:nvPr/>
            </p:nvSpPr>
            <p:spPr>
              <a:xfrm>
                <a:off x="2627868" y="934788"/>
                <a:ext cx="301986"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矩形 17">
                <a:extLst>
                  <a:ext uri="{FF2B5EF4-FFF2-40B4-BE49-F238E27FC236}">
                    <a16:creationId xmlns:a16="http://schemas.microsoft.com/office/drawing/2014/main" id="{4D1A50D9-8377-418B-2AEE-1B89807EFD6A}"/>
                  </a:ext>
                </a:extLst>
              </p:cNvPr>
              <p:cNvSpPr/>
              <p:nvPr/>
            </p:nvSpPr>
            <p:spPr>
              <a:xfrm>
                <a:off x="1690258" y="541223"/>
                <a:ext cx="1239978" cy="77417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noFill/>
                  <a:effectLst/>
                  <a:uLnTx/>
                  <a:uFillTx/>
                  <a:latin typeface="Times New Roman" panose="02020603050405020304"/>
                  <a:ea typeface="宋体" panose="02010600030101010101" pitchFamily="2" charset="-122"/>
                  <a:cs typeface="+mn-cs"/>
                </a:endParaRPr>
              </a:p>
            </p:txBody>
          </p:sp>
        </p:grpSp>
        <p:sp>
          <p:nvSpPr>
            <p:cNvPr id="6" name="文本框 5">
              <a:extLst>
                <a:ext uri="{FF2B5EF4-FFF2-40B4-BE49-F238E27FC236}">
                  <a16:creationId xmlns:a16="http://schemas.microsoft.com/office/drawing/2014/main" id="{F3DE0666-7FE1-28FB-6EB8-A2D13F01C265}"/>
                </a:ext>
              </a:extLst>
            </p:cNvPr>
            <p:cNvSpPr txBox="1"/>
            <p:nvPr/>
          </p:nvSpPr>
          <p:spPr>
            <a:xfrm>
              <a:off x="1730014" y="1065533"/>
              <a:ext cx="1279594" cy="230832"/>
            </a:xfrm>
            <a:prstGeom prst="rect">
              <a:avLst/>
            </a:prstGeom>
            <a:noFill/>
          </p:spPr>
          <p:txBody>
            <a:bodyPr wrap="square" t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0    1     2     3</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83239BBA-BD97-C431-7A4F-F1AA156F2966}"/>
                </a:ext>
              </a:extLst>
            </p:cNvPr>
            <p:cNvSpPr txBox="1"/>
            <p:nvPr/>
          </p:nvSpPr>
          <p:spPr>
            <a:xfrm>
              <a:off x="952796" y="1382773"/>
              <a:ext cx="777218"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coef</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8" name="文本框 7">
              <a:extLst>
                <a:ext uri="{FF2B5EF4-FFF2-40B4-BE49-F238E27FC236}">
                  <a16:creationId xmlns:a16="http://schemas.microsoft.com/office/drawing/2014/main" id="{A0F06D97-F6D3-C751-4A03-7BE564B6A12D}"/>
                </a:ext>
              </a:extLst>
            </p:cNvPr>
            <p:cNvSpPr txBox="1"/>
            <p:nvPr/>
          </p:nvSpPr>
          <p:spPr>
            <a:xfrm>
              <a:off x="959738" y="1742673"/>
              <a:ext cx="777218"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expn</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9" name="文本框 8">
              <a:extLst>
                <a:ext uri="{FF2B5EF4-FFF2-40B4-BE49-F238E27FC236}">
                  <a16:creationId xmlns:a16="http://schemas.microsoft.com/office/drawing/2014/main" id="{5C56CE4F-D2AD-3A8F-7ED1-68E2D40BE37F}"/>
                </a:ext>
              </a:extLst>
            </p:cNvPr>
            <p:cNvSpPr txBox="1"/>
            <p:nvPr/>
          </p:nvSpPr>
          <p:spPr>
            <a:xfrm>
              <a:off x="712255" y="1057250"/>
              <a:ext cx="1017759"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term[]</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grpSp>
      <p:grpSp>
        <p:nvGrpSpPr>
          <p:cNvPr id="19" name="组合 18">
            <a:extLst>
              <a:ext uri="{FF2B5EF4-FFF2-40B4-BE49-F238E27FC236}">
                <a16:creationId xmlns:a16="http://schemas.microsoft.com/office/drawing/2014/main" id="{7D8AFF23-6B06-4BA4-B913-E07A01D719B4}"/>
              </a:ext>
            </a:extLst>
          </p:cNvPr>
          <p:cNvGrpSpPr/>
          <p:nvPr/>
        </p:nvGrpSpPr>
        <p:grpSpPr>
          <a:xfrm>
            <a:off x="9237082" y="2466604"/>
            <a:ext cx="1943354" cy="1052251"/>
            <a:chOff x="3171206" y="1057250"/>
            <a:chExt cx="1943354" cy="1052251"/>
          </a:xfrm>
        </p:grpSpPr>
        <p:sp>
          <p:nvSpPr>
            <p:cNvPr id="20" name="文本框 19">
              <a:extLst>
                <a:ext uri="{FF2B5EF4-FFF2-40B4-BE49-F238E27FC236}">
                  <a16:creationId xmlns:a16="http://schemas.microsoft.com/office/drawing/2014/main" id="{83F2316F-C4A8-E121-7C1A-F4C602119FA8}"/>
                </a:ext>
              </a:extLst>
            </p:cNvPr>
            <p:cNvSpPr txBox="1"/>
            <p:nvPr/>
          </p:nvSpPr>
          <p:spPr>
            <a:xfrm>
              <a:off x="4188965" y="1065533"/>
              <a:ext cx="925595" cy="230832"/>
            </a:xfrm>
            <a:prstGeom prst="rect">
              <a:avLst/>
            </a:prstGeom>
            <a:noFill/>
          </p:spPr>
          <p:txBody>
            <a:bodyPr wrap="square" t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0    1    2</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文本框 20">
              <a:extLst>
                <a:ext uri="{FF2B5EF4-FFF2-40B4-BE49-F238E27FC236}">
                  <a16:creationId xmlns:a16="http://schemas.microsoft.com/office/drawing/2014/main" id="{69DF7568-5210-970A-6ACC-EB8B59627716}"/>
                </a:ext>
              </a:extLst>
            </p:cNvPr>
            <p:cNvSpPr txBox="1"/>
            <p:nvPr/>
          </p:nvSpPr>
          <p:spPr>
            <a:xfrm>
              <a:off x="3411747" y="1382773"/>
              <a:ext cx="777218"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coef</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22" name="文本框 21">
              <a:extLst>
                <a:ext uri="{FF2B5EF4-FFF2-40B4-BE49-F238E27FC236}">
                  <a16:creationId xmlns:a16="http://schemas.microsoft.com/office/drawing/2014/main" id="{0AB794D3-1D2D-5F32-DD82-E371F2EF38C4}"/>
                </a:ext>
              </a:extLst>
            </p:cNvPr>
            <p:cNvSpPr txBox="1"/>
            <p:nvPr/>
          </p:nvSpPr>
          <p:spPr>
            <a:xfrm>
              <a:off x="3418689" y="1742673"/>
              <a:ext cx="777218"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expn</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23" name="文本框 22">
              <a:extLst>
                <a:ext uri="{FF2B5EF4-FFF2-40B4-BE49-F238E27FC236}">
                  <a16:creationId xmlns:a16="http://schemas.microsoft.com/office/drawing/2014/main" id="{352A49BA-C5F8-ED1F-F2E5-635E2295609B}"/>
                </a:ext>
              </a:extLst>
            </p:cNvPr>
            <p:cNvSpPr txBox="1"/>
            <p:nvPr/>
          </p:nvSpPr>
          <p:spPr>
            <a:xfrm>
              <a:off x="3171206" y="1057250"/>
              <a:ext cx="1017759"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term[]</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grpSp>
          <p:nvGrpSpPr>
            <p:cNvPr id="24" name="组合 23">
              <a:extLst>
                <a:ext uri="{FF2B5EF4-FFF2-40B4-BE49-F238E27FC236}">
                  <a16:creationId xmlns:a16="http://schemas.microsoft.com/office/drawing/2014/main" id="{92B41438-6787-0396-AB4E-B587869202E5}"/>
                </a:ext>
              </a:extLst>
            </p:cNvPr>
            <p:cNvGrpSpPr/>
            <p:nvPr/>
          </p:nvGrpSpPr>
          <p:grpSpPr>
            <a:xfrm>
              <a:off x="4175873" y="1335330"/>
              <a:ext cx="925595" cy="774171"/>
              <a:chOff x="3486556" y="2656467"/>
              <a:chExt cx="925595" cy="774171"/>
            </a:xfrm>
          </p:grpSpPr>
          <p:sp>
            <p:nvSpPr>
              <p:cNvPr id="25" name="文本框 24">
                <a:extLst>
                  <a:ext uri="{FF2B5EF4-FFF2-40B4-BE49-F238E27FC236}">
                    <a16:creationId xmlns:a16="http://schemas.microsoft.com/office/drawing/2014/main" id="{1E358985-6DC3-5C68-64BF-D3E8F414AEDE}"/>
                  </a:ext>
                </a:extLst>
              </p:cNvPr>
              <p:cNvSpPr txBox="1"/>
              <p:nvPr/>
            </p:nvSpPr>
            <p:spPr>
              <a:xfrm>
                <a:off x="3495593" y="3041466"/>
                <a:ext cx="316398" cy="388800"/>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文本框 25">
                <a:extLst>
                  <a:ext uri="{FF2B5EF4-FFF2-40B4-BE49-F238E27FC236}">
                    <a16:creationId xmlns:a16="http://schemas.microsoft.com/office/drawing/2014/main" id="{3B4C96BC-22B5-6213-2322-B8A1E016AF3A}"/>
                  </a:ext>
                </a:extLst>
              </p:cNvPr>
              <p:cNvSpPr txBox="1"/>
              <p:nvPr/>
            </p:nvSpPr>
            <p:spPr>
              <a:xfrm>
                <a:off x="4099565" y="3041466"/>
                <a:ext cx="301986"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 name="文本框 26">
                <a:extLst>
                  <a:ext uri="{FF2B5EF4-FFF2-40B4-BE49-F238E27FC236}">
                    <a16:creationId xmlns:a16="http://schemas.microsoft.com/office/drawing/2014/main" id="{BE1C989E-50F1-2A57-9179-0B5899D95AFE}"/>
                  </a:ext>
                </a:extLst>
              </p:cNvPr>
              <p:cNvSpPr txBox="1"/>
              <p:nvPr/>
            </p:nvSpPr>
            <p:spPr>
              <a:xfrm>
                <a:off x="3797579" y="3041466"/>
                <a:ext cx="301986" cy="388800"/>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algn="ctr">
                  <a:defRPr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 name="文本框 27">
                <a:extLst>
                  <a:ext uri="{FF2B5EF4-FFF2-40B4-BE49-F238E27FC236}">
                    <a16:creationId xmlns:a16="http://schemas.microsoft.com/office/drawing/2014/main" id="{E162C275-FC5D-3915-4B53-9EAF37F4966C}"/>
                  </a:ext>
                </a:extLst>
              </p:cNvPr>
              <p:cNvSpPr txBox="1"/>
              <p:nvPr/>
            </p:nvSpPr>
            <p:spPr>
              <a:xfrm>
                <a:off x="3495593" y="2664244"/>
                <a:ext cx="316398" cy="388800"/>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文本框 28">
                <a:extLst>
                  <a:ext uri="{FF2B5EF4-FFF2-40B4-BE49-F238E27FC236}">
                    <a16:creationId xmlns:a16="http://schemas.microsoft.com/office/drawing/2014/main" id="{5283B15B-FB9B-C86A-FE0F-F2307B97A53F}"/>
                  </a:ext>
                </a:extLst>
              </p:cNvPr>
              <p:cNvSpPr txBox="1"/>
              <p:nvPr/>
            </p:nvSpPr>
            <p:spPr>
              <a:xfrm>
                <a:off x="4099565" y="2664243"/>
                <a:ext cx="306050" cy="380480"/>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5355B655-FFB1-31E4-CE8B-82EEA202D9D4}"/>
                  </a:ext>
                </a:extLst>
              </p:cNvPr>
              <p:cNvSpPr txBox="1"/>
              <p:nvPr/>
            </p:nvSpPr>
            <p:spPr>
              <a:xfrm>
                <a:off x="3797579" y="2664244"/>
                <a:ext cx="301986" cy="388800"/>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algn="ctr">
                  <a:defRPr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 name="矩形 30">
                <a:extLst>
                  <a:ext uri="{FF2B5EF4-FFF2-40B4-BE49-F238E27FC236}">
                    <a16:creationId xmlns:a16="http://schemas.microsoft.com/office/drawing/2014/main" id="{D2F88A7D-6301-773E-0601-7F514F4477EF}"/>
                  </a:ext>
                </a:extLst>
              </p:cNvPr>
              <p:cNvSpPr/>
              <p:nvPr/>
            </p:nvSpPr>
            <p:spPr>
              <a:xfrm>
                <a:off x="3486556" y="2656467"/>
                <a:ext cx="925595" cy="77417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noFill/>
                  <a:effectLst/>
                  <a:uLnTx/>
                  <a:uFillTx/>
                  <a:latin typeface="Times New Roman" panose="02020603050405020304"/>
                  <a:ea typeface="宋体" panose="02010600030101010101" pitchFamily="2" charset="-122"/>
                  <a:cs typeface="+mn-cs"/>
                </a:endParaRPr>
              </a:p>
            </p:txBody>
          </p:sp>
        </p:grpSp>
      </p:grpSp>
      <p:sp>
        <p:nvSpPr>
          <p:cNvPr id="33" name="文本框 32">
            <a:extLst>
              <a:ext uri="{FF2B5EF4-FFF2-40B4-BE49-F238E27FC236}">
                <a16:creationId xmlns:a16="http://schemas.microsoft.com/office/drawing/2014/main" id="{BDDC5AF7-6771-1029-AB3E-757FAD687ECF}"/>
              </a:ext>
            </a:extLst>
          </p:cNvPr>
          <p:cNvSpPr txBox="1"/>
          <p:nvPr/>
        </p:nvSpPr>
        <p:spPr>
          <a:xfrm>
            <a:off x="10299082" y="1227046"/>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4" name="文本框 33">
            <a:extLst>
              <a:ext uri="{FF2B5EF4-FFF2-40B4-BE49-F238E27FC236}">
                <a16:creationId xmlns:a16="http://schemas.microsoft.com/office/drawing/2014/main" id="{A51F1AB1-F575-8E2A-E36F-BEF8D8E11013}"/>
              </a:ext>
            </a:extLst>
          </p:cNvPr>
          <p:cNvSpPr txBox="1"/>
          <p:nvPr/>
        </p:nvSpPr>
        <p:spPr>
          <a:xfrm>
            <a:off x="10608408" y="1232797"/>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 name="文本框 45">
            <a:extLst>
              <a:ext uri="{FF2B5EF4-FFF2-40B4-BE49-F238E27FC236}">
                <a16:creationId xmlns:a16="http://schemas.microsoft.com/office/drawing/2014/main" id="{CA549ED1-D5A6-D009-DD87-483EEA749A24}"/>
              </a:ext>
            </a:extLst>
          </p:cNvPr>
          <p:cNvSpPr txBox="1"/>
          <p:nvPr/>
        </p:nvSpPr>
        <p:spPr>
          <a:xfrm>
            <a:off x="10920494" y="1234066"/>
            <a:ext cx="203459" cy="307777"/>
          </a:xfrm>
          <a:prstGeom prst="rect">
            <a:avLst/>
          </a:prstGeom>
          <a:noFill/>
          <a:ln w="12700">
            <a:noFill/>
          </a:ln>
        </p:spPr>
        <p:txBody>
          <a:bodyPr wrap="square" lIns="0" tIns="0" rIns="0" bIns="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9</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文本框 45">
            <a:extLst>
              <a:ext uri="{FF2B5EF4-FFF2-40B4-BE49-F238E27FC236}">
                <a16:creationId xmlns:a16="http://schemas.microsoft.com/office/drawing/2014/main" id="{CC3E3E6F-597E-A214-AA0B-98BA2EC02D17}"/>
              </a:ext>
            </a:extLst>
          </p:cNvPr>
          <p:cNvSpPr txBox="1"/>
          <p:nvPr/>
        </p:nvSpPr>
        <p:spPr>
          <a:xfrm>
            <a:off x="11232161" y="1230352"/>
            <a:ext cx="203459" cy="307777"/>
          </a:xfrm>
          <a:prstGeom prst="rect">
            <a:avLst/>
          </a:prstGeom>
          <a:noFill/>
          <a:ln w="12700">
            <a:noFill/>
          </a:ln>
        </p:spPr>
        <p:txBody>
          <a:bodyPr wrap="square" lIns="0" tIns="0" rIns="0" bIns="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文本框 36">
            <a:extLst>
              <a:ext uri="{FF2B5EF4-FFF2-40B4-BE49-F238E27FC236}">
                <a16:creationId xmlns:a16="http://schemas.microsoft.com/office/drawing/2014/main" id="{2F87F348-779A-6813-21E5-3CEA7DB59E51}"/>
              </a:ext>
            </a:extLst>
          </p:cNvPr>
          <p:cNvSpPr txBox="1"/>
          <p:nvPr/>
        </p:nvSpPr>
        <p:spPr>
          <a:xfrm>
            <a:off x="10299082" y="1609157"/>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文本框 37">
            <a:extLst>
              <a:ext uri="{FF2B5EF4-FFF2-40B4-BE49-F238E27FC236}">
                <a16:creationId xmlns:a16="http://schemas.microsoft.com/office/drawing/2014/main" id="{2E77ED7A-FD8C-7673-C6C2-B57A3D74BB3D}"/>
              </a:ext>
            </a:extLst>
          </p:cNvPr>
          <p:cNvSpPr txBox="1"/>
          <p:nvPr/>
        </p:nvSpPr>
        <p:spPr>
          <a:xfrm>
            <a:off x="10608408" y="1614908"/>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文本框 45">
            <a:extLst>
              <a:ext uri="{FF2B5EF4-FFF2-40B4-BE49-F238E27FC236}">
                <a16:creationId xmlns:a16="http://schemas.microsoft.com/office/drawing/2014/main" id="{61AD7575-24D3-EAE6-3E82-0C61D565EAA2}"/>
              </a:ext>
            </a:extLst>
          </p:cNvPr>
          <p:cNvSpPr txBox="1"/>
          <p:nvPr/>
        </p:nvSpPr>
        <p:spPr>
          <a:xfrm>
            <a:off x="10920494" y="1616177"/>
            <a:ext cx="203459" cy="307777"/>
          </a:xfrm>
          <a:prstGeom prst="rect">
            <a:avLst/>
          </a:prstGeom>
          <a:noFill/>
          <a:ln w="12700">
            <a:noFill/>
          </a:ln>
        </p:spPr>
        <p:txBody>
          <a:bodyPr wrap="square" lIns="0" tIns="0" rIns="0" bIns="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8</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文本框 45">
            <a:extLst>
              <a:ext uri="{FF2B5EF4-FFF2-40B4-BE49-F238E27FC236}">
                <a16:creationId xmlns:a16="http://schemas.microsoft.com/office/drawing/2014/main" id="{AFE35CB9-8D5C-9936-3808-975A5AAE3E52}"/>
              </a:ext>
            </a:extLst>
          </p:cNvPr>
          <p:cNvSpPr txBox="1"/>
          <p:nvPr/>
        </p:nvSpPr>
        <p:spPr>
          <a:xfrm>
            <a:off x="11191904" y="1612463"/>
            <a:ext cx="270044" cy="307777"/>
          </a:xfrm>
          <a:prstGeom prst="rect">
            <a:avLst/>
          </a:prstGeom>
          <a:noFill/>
          <a:ln w="12700">
            <a:noFill/>
          </a:ln>
        </p:spPr>
        <p:txBody>
          <a:bodyPr wrap="square" lIns="0" tIns="0" rIns="0" bIns="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17</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1" name="文本框 40">
            <a:extLst>
              <a:ext uri="{FF2B5EF4-FFF2-40B4-BE49-F238E27FC236}">
                <a16:creationId xmlns:a16="http://schemas.microsoft.com/office/drawing/2014/main" id="{41973D22-3AEB-39FA-AD65-84A7274EAD8D}"/>
              </a:ext>
            </a:extLst>
          </p:cNvPr>
          <p:cNvSpPr txBox="1"/>
          <p:nvPr/>
        </p:nvSpPr>
        <p:spPr>
          <a:xfrm>
            <a:off x="10299451" y="2785171"/>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8</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 name="文本框 41">
            <a:extLst>
              <a:ext uri="{FF2B5EF4-FFF2-40B4-BE49-F238E27FC236}">
                <a16:creationId xmlns:a16="http://schemas.microsoft.com/office/drawing/2014/main" id="{DF209075-9CE6-115C-1B5B-A63594A4EE89}"/>
              </a:ext>
            </a:extLst>
          </p:cNvPr>
          <p:cNvSpPr txBox="1"/>
          <p:nvPr/>
        </p:nvSpPr>
        <p:spPr>
          <a:xfrm>
            <a:off x="10562769" y="2785171"/>
            <a:ext cx="283967"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22</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 name="文本框 45">
            <a:extLst>
              <a:ext uri="{FF2B5EF4-FFF2-40B4-BE49-F238E27FC236}">
                <a16:creationId xmlns:a16="http://schemas.microsoft.com/office/drawing/2014/main" id="{8666787B-39C9-F437-E80B-B5FCF179B563}"/>
              </a:ext>
            </a:extLst>
          </p:cNvPr>
          <p:cNvSpPr txBox="1"/>
          <p:nvPr/>
        </p:nvSpPr>
        <p:spPr>
          <a:xfrm>
            <a:off x="10869110" y="2792191"/>
            <a:ext cx="283967" cy="307777"/>
          </a:xfrm>
          <a:prstGeom prst="rect">
            <a:avLst/>
          </a:prstGeom>
          <a:noFill/>
          <a:ln w="12700">
            <a:noFill/>
          </a:ln>
        </p:spPr>
        <p:txBody>
          <a:bodyPr wrap="square" lIns="0" tIns="0" rIns="0" bIns="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-9</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文本框 43">
            <a:extLst>
              <a:ext uri="{FF2B5EF4-FFF2-40B4-BE49-F238E27FC236}">
                <a16:creationId xmlns:a16="http://schemas.microsoft.com/office/drawing/2014/main" id="{5CF6DAAE-DEFB-6AF9-6A69-82A67B00B1A1}"/>
              </a:ext>
            </a:extLst>
          </p:cNvPr>
          <p:cNvSpPr txBox="1"/>
          <p:nvPr/>
        </p:nvSpPr>
        <p:spPr>
          <a:xfrm>
            <a:off x="10299451" y="3177914"/>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文本框 44">
            <a:extLst>
              <a:ext uri="{FF2B5EF4-FFF2-40B4-BE49-F238E27FC236}">
                <a16:creationId xmlns:a16="http://schemas.microsoft.com/office/drawing/2014/main" id="{86F2E6D4-6763-9B6F-6E58-1AB588FA2386}"/>
              </a:ext>
            </a:extLst>
          </p:cNvPr>
          <p:cNvSpPr txBox="1"/>
          <p:nvPr/>
        </p:nvSpPr>
        <p:spPr>
          <a:xfrm>
            <a:off x="10608777" y="3183665"/>
            <a:ext cx="203459" cy="307777"/>
          </a:xfrm>
          <a:prstGeom prst="rect">
            <a:avLst/>
          </a:prstGeom>
          <a:noFill/>
          <a:ln w="12700">
            <a:noFill/>
          </a:ln>
        </p:spPr>
        <p:txBody>
          <a:bodyPr wrap="square" lIns="0" tIns="0" rIns="0" bIns="0" rtlCol="0">
            <a:spAutoFit/>
          </a:bodyPr>
          <a:lstStyle>
            <a:defPPr>
              <a:defRPr lang="zh-CN"/>
            </a:defPPr>
            <a:lvl1pPr algn="ctr">
              <a:defRPr sz="2000" b="1">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6" name="文本框 45">
            <a:extLst>
              <a:ext uri="{FF2B5EF4-FFF2-40B4-BE49-F238E27FC236}">
                <a16:creationId xmlns:a16="http://schemas.microsoft.com/office/drawing/2014/main" id="{54AF2B3B-F172-C14B-4938-CF28F7F13C65}"/>
              </a:ext>
            </a:extLst>
          </p:cNvPr>
          <p:cNvSpPr txBox="1"/>
          <p:nvPr/>
        </p:nvSpPr>
        <p:spPr>
          <a:xfrm>
            <a:off x="10920863" y="3184934"/>
            <a:ext cx="203459" cy="307777"/>
          </a:xfrm>
          <a:prstGeom prst="rect">
            <a:avLst/>
          </a:prstGeom>
          <a:noFill/>
          <a:ln w="12700">
            <a:noFill/>
          </a:ln>
        </p:spPr>
        <p:txBody>
          <a:bodyPr wrap="square" lIns="0" tIns="0" rIns="0" bIns="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8</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53" name="组合 52">
            <a:extLst>
              <a:ext uri="{FF2B5EF4-FFF2-40B4-BE49-F238E27FC236}">
                <a16:creationId xmlns:a16="http://schemas.microsoft.com/office/drawing/2014/main" id="{3BFC62AE-46AC-6243-410D-E67B77560ACA}"/>
              </a:ext>
            </a:extLst>
          </p:cNvPr>
          <p:cNvGrpSpPr/>
          <p:nvPr/>
        </p:nvGrpSpPr>
        <p:grpSpPr>
          <a:xfrm>
            <a:off x="9487215" y="450535"/>
            <a:ext cx="473693" cy="512609"/>
            <a:chOff x="7429651" y="760228"/>
            <a:chExt cx="473693" cy="512609"/>
          </a:xfrm>
        </p:grpSpPr>
        <p:sp>
          <p:nvSpPr>
            <p:cNvPr id="54" name="文本框 53">
              <a:extLst>
                <a:ext uri="{FF2B5EF4-FFF2-40B4-BE49-F238E27FC236}">
                  <a16:creationId xmlns:a16="http://schemas.microsoft.com/office/drawing/2014/main" id="{484E7428-C34C-29CF-92FF-DC41B8E54D21}"/>
                </a:ext>
              </a:extLst>
            </p:cNvPr>
            <p:cNvSpPr txBox="1"/>
            <p:nvPr/>
          </p:nvSpPr>
          <p:spPr>
            <a:xfrm>
              <a:off x="7429651" y="760228"/>
              <a:ext cx="473693"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pa</a:t>
              </a:r>
              <a:endParaRPr kumimoji="0" lang="zh-CN" altLang="en-US"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cxnSp>
          <p:nvCxnSpPr>
            <p:cNvPr id="55" name="直接箭头连接符 54">
              <a:extLst>
                <a:ext uri="{FF2B5EF4-FFF2-40B4-BE49-F238E27FC236}">
                  <a16:creationId xmlns:a16="http://schemas.microsoft.com/office/drawing/2014/main" id="{EFA77043-880E-EBDD-2EAE-AE0F2457E493}"/>
                </a:ext>
              </a:extLst>
            </p:cNvPr>
            <p:cNvCxnSpPr/>
            <p:nvPr/>
          </p:nvCxnSpPr>
          <p:spPr>
            <a:xfrm>
              <a:off x="7667286" y="1042249"/>
              <a:ext cx="0" cy="230588"/>
            </a:xfrm>
            <a:prstGeom prst="straightConnector1">
              <a:avLst/>
            </a:prstGeom>
            <a:ln w="28575">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56" name="组合 55">
            <a:extLst>
              <a:ext uri="{FF2B5EF4-FFF2-40B4-BE49-F238E27FC236}">
                <a16:creationId xmlns:a16="http://schemas.microsoft.com/office/drawing/2014/main" id="{1051FA38-0599-8C52-20F0-18B7F0CBFF10}"/>
              </a:ext>
            </a:extLst>
          </p:cNvPr>
          <p:cNvGrpSpPr/>
          <p:nvPr/>
        </p:nvGrpSpPr>
        <p:grpSpPr>
          <a:xfrm>
            <a:off x="9441821" y="2013867"/>
            <a:ext cx="473693" cy="512609"/>
            <a:chOff x="7429651" y="760228"/>
            <a:chExt cx="473693" cy="512609"/>
          </a:xfrm>
        </p:grpSpPr>
        <p:sp>
          <p:nvSpPr>
            <p:cNvPr id="57" name="文本框 56">
              <a:extLst>
                <a:ext uri="{FF2B5EF4-FFF2-40B4-BE49-F238E27FC236}">
                  <a16:creationId xmlns:a16="http://schemas.microsoft.com/office/drawing/2014/main" id="{976092EB-86E4-FFDE-87D7-34259148F793}"/>
                </a:ext>
              </a:extLst>
            </p:cNvPr>
            <p:cNvSpPr txBox="1"/>
            <p:nvPr/>
          </p:nvSpPr>
          <p:spPr>
            <a:xfrm>
              <a:off x="7429651" y="760228"/>
              <a:ext cx="473693" cy="276999"/>
            </a:xfrm>
            <a:prstGeom prst="rect">
              <a:avLst/>
            </a:prstGeom>
            <a:noFill/>
          </p:spPr>
          <p:txBody>
            <a:bodyPr wrap="square" t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pb</a:t>
              </a:r>
              <a:endParaRPr kumimoji="0" lang="zh-CN" altLang="en-US"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cxnSp>
          <p:nvCxnSpPr>
            <p:cNvPr id="58" name="直接箭头连接符 57">
              <a:extLst>
                <a:ext uri="{FF2B5EF4-FFF2-40B4-BE49-F238E27FC236}">
                  <a16:creationId xmlns:a16="http://schemas.microsoft.com/office/drawing/2014/main" id="{F7B43B4A-5E04-83BA-1AF5-973FFA7F1FA7}"/>
                </a:ext>
              </a:extLst>
            </p:cNvPr>
            <p:cNvCxnSpPr/>
            <p:nvPr/>
          </p:nvCxnSpPr>
          <p:spPr>
            <a:xfrm>
              <a:off x="7667286" y="1042249"/>
              <a:ext cx="0" cy="230588"/>
            </a:xfrm>
            <a:prstGeom prst="straightConnector1">
              <a:avLst/>
            </a:prstGeom>
            <a:ln w="28575">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59" name="组合 58">
            <a:extLst>
              <a:ext uri="{FF2B5EF4-FFF2-40B4-BE49-F238E27FC236}">
                <a16:creationId xmlns:a16="http://schemas.microsoft.com/office/drawing/2014/main" id="{C9A8D65E-1EAA-487B-9427-F2DBD12145B0}"/>
              </a:ext>
            </a:extLst>
          </p:cNvPr>
          <p:cNvGrpSpPr/>
          <p:nvPr/>
        </p:nvGrpSpPr>
        <p:grpSpPr>
          <a:xfrm>
            <a:off x="8722726" y="3409067"/>
            <a:ext cx="3255645" cy="1501629"/>
            <a:chOff x="5630157" y="600301"/>
            <a:chExt cx="3255645" cy="1501629"/>
          </a:xfrm>
        </p:grpSpPr>
        <p:grpSp>
          <p:nvGrpSpPr>
            <p:cNvPr id="60" name="组合 59">
              <a:extLst>
                <a:ext uri="{FF2B5EF4-FFF2-40B4-BE49-F238E27FC236}">
                  <a16:creationId xmlns:a16="http://schemas.microsoft.com/office/drawing/2014/main" id="{B8004D9F-BB39-4033-BCE9-801979BECBA5}"/>
                </a:ext>
              </a:extLst>
            </p:cNvPr>
            <p:cNvGrpSpPr/>
            <p:nvPr/>
          </p:nvGrpSpPr>
          <p:grpSpPr>
            <a:xfrm>
              <a:off x="6632014" y="1319554"/>
              <a:ext cx="1239978" cy="782376"/>
              <a:chOff x="1690258" y="540326"/>
              <a:chExt cx="1239978" cy="782376"/>
            </a:xfrm>
          </p:grpSpPr>
          <p:sp>
            <p:nvSpPr>
              <p:cNvPr id="75" name="文本框 61">
                <a:extLst>
                  <a:ext uri="{FF2B5EF4-FFF2-40B4-BE49-F238E27FC236}">
                    <a16:creationId xmlns:a16="http://schemas.microsoft.com/office/drawing/2014/main" id="{C8B1A11B-0F09-4CCC-8ABC-D7F62DDCBECF}"/>
                  </a:ext>
                </a:extLst>
              </p:cNvPr>
              <p:cNvSpPr txBox="1"/>
              <p:nvPr/>
            </p:nvSpPr>
            <p:spPr>
              <a:xfrm>
                <a:off x="1696803" y="542355"/>
                <a:ext cx="322497" cy="387534"/>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6" name="文本框 62">
                <a:extLst>
                  <a:ext uri="{FF2B5EF4-FFF2-40B4-BE49-F238E27FC236}">
                    <a16:creationId xmlns:a16="http://schemas.microsoft.com/office/drawing/2014/main" id="{21169247-B06B-424D-AD04-3D3DED5D828A}"/>
                  </a:ext>
                </a:extLst>
              </p:cNvPr>
              <p:cNvSpPr txBox="1"/>
              <p:nvPr/>
            </p:nvSpPr>
            <p:spPr>
              <a:xfrm>
                <a:off x="2005336" y="542355"/>
                <a:ext cx="301986" cy="387534"/>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7" name="文本框 64">
                <a:extLst>
                  <a:ext uri="{FF2B5EF4-FFF2-40B4-BE49-F238E27FC236}">
                    <a16:creationId xmlns:a16="http://schemas.microsoft.com/office/drawing/2014/main" id="{C4E590B4-A33D-4DD0-ADF6-7113EF641456}"/>
                  </a:ext>
                </a:extLst>
              </p:cNvPr>
              <p:cNvSpPr txBox="1"/>
              <p:nvPr/>
            </p:nvSpPr>
            <p:spPr>
              <a:xfrm>
                <a:off x="2620299" y="540327"/>
                <a:ext cx="301986" cy="387534"/>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 name="文本框 65">
                <a:extLst>
                  <a:ext uri="{FF2B5EF4-FFF2-40B4-BE49-F238E27FC236}">
                    <a16:creationId xmlns:a16="http://schemas.microsoft.com/office/drawing/2014/main" id="{6CD7803A-25AD-4EA4-A3AB-A6FF64A97E6C}"/>
                  </a:ext>
                </a:extLst>
              </p:cNvPr>
              <p:cNvSpPr txBox="1"/>
              <p:nvPr/>
            </p:nvSpPr>
            <p:spPr>
              <a:xfrm>
                <a:off x="1696804" y="935168"/>
                <a:ext cx="301986" cy="387534"/>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9" name="文本框 66">
                <a:extLst>
                  <a:ext uri="{FF2B5EF4-FFF2-40B4-BE49-F238E27FC236}">
                    <a16:creationId xmlns:a16="http://schemas.microsoft.com/office/drawing/2014/main" id="{A0864BB5-625E-48BA-8436-0A10135FEA79}"/>
                  </a:ext>
                </a:extLst>
              </p:cNvPr>
              <p:cNvSpPr txBox="1"/>
              <p:nvPr/>
            </p:nvSpPr>
            <p:spPr>
              <a:xfrm>
                <a:off x="2005336" y="935168"/>
                <a:ext cx="301986" cy="387534"/>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0" name="文本框 67">
                <a:extLst>
                  <a:ext uri="{FF2B5EF4-FFF2-40B4-BE49-F238E27FC236}">
                    <a16:creationId xmlns:a16="http://schemas.microsoft.com/office/drawing/2014/main" id="{B0B6E0E9-E886-4D7A-8887-7166CE4AEA6F}"/>
                  </a:ext>
                </a:extLst>
              </p:cNvPr>
              <p:cNvSpPr txBox="1"/>
              <p:nvPr/>
            </p:nvSpPr>
            <p:spPr>
              <a:xfrm>
                <a:off x="2313867" y="939592"/>
                <a:ext cx="306050" cy="380480"/>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文本框 68">
                <a:extLst>
                  <a:ext uri="{FF2B5EF4-FFF2-40B4-BE49-F238E27FC236}">
                    <a16:creationId xmlns:a16="http://schemas.microsoft.com/office/drawing/2014/main" id="{E386BB0D-5364-4846-BAE2-EFAADF330AB7}"/>
                  </a:ext>
                </a:extLst>
              </p:cNvPr>
              <p:cNvSpPr txBox="1"/>
              <p:nvPr/>
            </p:nvSpPr>
            <p:spPr>
              <a:xfrm>
                <a:off x="2619917" y="934788"/>
                <a:ext cx="301986" cy="387534"/>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2" name="矩形 81">
                <a:extLst>
                  <a:ext uri="{FF2B5EF4-FFF2-40B4-BE49-F238E27FC236}">
                    <a16:creationId xmlns:a16="http://schemas.microsoft.com/office/drawing/2014/main" id="{8A404CCC-F890-47BD-95E2-4AD164D5DEBE}"/>
                  </a:ext>
                </a:extLst>
              </p:cNvPr>
              <p:cNvSpPr/>
              <p:nvPr/>
            </p:nvSpPr>
            <p:spPr>
              <a:xfrm>
                <a:off x="1690258" y="541223"/>
                <a:ext cx="1239978" cy="77417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noFill/>
                  <a:effectLst/>
                  <a:uLnTx/>
                  <a:uFillTx/>
                  <a:latin typeface="Times New Roman" panose="02020603050405020304"/>
                  <a:ea typeface="宋体" panose="02010600030101010101" pitchFamily="2" charset="-122"/>
                  <a:cs typeface="+mn-cs"/>
                </a:endParaRPr>
              </a:p>
            </p:txBody>
          </p:sp>
          <p:sp>
            <p:nvSpPr>
              <p:cNvPr id="83" name="文本框 63">
                <a:extLst>
                  <a:ext uri="{FF2B5EF4-FFF2-40B4-BE49-F238E27FC236}">
                    <a16:creationId xmlns:a16="http://schemas.microsoft.com/office/drawing/2014/main" id="{A224F0A1-707B-4D9D-92D0-1FC4B53F3034}"/>
                  </a:ext>
                </a:extLst>
              </p:cNvPr>
              <p:cNvSpPr txBox="1"/>
              <p:nvPr/>
            </p:nvSpPr>
            <p:spPr>
              <a:xfrm>
                <a:off x="2313866" y="540326"/>
                <a:ext cx="314019" cy="389975"/>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1" name="文本框 55">
              <a:extLst>
                <a:ext uri="{FF2B5EF4-FFF2-40B4-BE49-F238E27FC236}">
                  <a16:creationId xmlns:a16="http://schemas.microsoft.com/office/drawing/2014/main" id="{A88DCF5A-025E-49DF-A036-785D2D7F65FB}"/>
                </a:ext>
              </a:extLst>
            </p:cNvPr>
            <p:cNvSpPr txBox="1"/>
            <p:nvPr/>
          </p:nvSpPr>
          <p:spPr>
            <a:xfrm>
              <a:off x="6647915" y="1067072"/>
              <a:ext cx="2237887" cy="230832"/>
            </a:xfrm>
            <a:prstGeom prst="rect">
              <a:avLst/>
            </a:prstGeom>
            <a:noFill/>
          </p:spPr>
          <p:txBody>
            <a:bodyPr wrap="square" t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0     1    2    3     4    5     6</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 name="文本框 56">
              <a:extLst>
                <a:ext uri="{FF2B5EF4-FFF2-40B4-BE49-F238E27FC236}">
                  <a16:creationId xmlns:a16="http://schemas.microsoft.com/office/drawing/2014/main" id="{28DAC43F-153D-452C-A502-C79B95AB14E8}"/>
                </a:ext>
              </a:extLst>
            </p:cNvPr>
            <p:cNvSpPr txBox="1"/>
            <p:nvPr/>
          </p:nvSpPr>
          <p:spPr>
            <a:xfrm>
              <a:off x="5870698" y="1382773"/>
              <a:ext cx="777218" cy="276999"/>
            </a:xfrm>
            <a:prstGeom prst="rect">
              <a:avLst/>
            </a:prstGeom>
            <a:noFill/>
          </p:spPr>
          <p:txBody>
            <a:bodyPr wrap="square" t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coef</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3" name="文本框 57">
              <a:extLst>
                <a:ext uri="{FF2B5EF4-FFF2-40B4-BE49-F238E27FC236}">
                  <a16:creationId xmlns:a16="http://schemas.microsoft.com/office/drawing/2014/main" id="{F7EDF7A3-30B8-4B5B-8856-97BCE1A5CD68}"/>
                </a:ext>
              </a:extLst>
            </p:cNvPr>
            <p:cNvSpPr txBox="1"/>
            <p:nvPr/>
          </p:nvSpPr>
          <p:spPr>
            <a:xfrm>
              <a:off x="5877640" y="1742673"/>
              <a:ext cx="777218" cy="276999"/>
            </a:xfrm>
            <a:prstGeom prst="rect">
              <a:avLst/>
            </a:prstGeom>
            <a:noFill/>
          </p:spPr>
          <p:txBody>
            <a:bodyPr wrap="square" t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expn</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4" name="文本框 58">
              <a:extLst>
                <a:ext uri="{FF2B5EF4-FFF2-40B4-BE49-F238E27FC236}">
                  <a16:creationId xmlns:a16="http://schemas.microsoft.com/office/drawing/2014/main" id="{68C16D50-9B3C-4150-8256-A7658E51FFF0}"/>
                </a:ext>
              </a:extLst>
            </p:cNvPr>
            <p:cNvSpPr txBox="1"/>
            <p:nvPr/>
          </p:nvSpPr>
          <p:spPr>
            <a:xfrm>
              <a:off x="5630157" y="1057250"/>
              <a:ext cx="1017759" cy="276999"/>
            </a:xfrm>
            <a:prstGeom prst="rect">
              <a:avLst/>
            </a:prstGeom>
            <a:noFill/>
          </p:spPr>
          <p:txBody>
            <a:bodyPr wrap="square" t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term[]</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65" name="文本框 59">
              <a:extLst>
                <a:ext uri="{FF2B5EF4-FFF2-40B4-BE49-F238E27FC236}">
                  <a16:creationId xmlns:a16="http://schemas.microsoft.com/office/drawing/2014/main" id="{069BF4DF-57B9-4441-A0D6-91896CAE63D4}"/>
                </a:ext>
              </a:extLst>
            </p:cNvPr>
            <p:cNvSpPr txBox="1"/>
            <p:nvPr/>
          </p:nvSpPr>
          <p:spPr>
            <a:xfrm>
              <a:off x="5798183" y="600301"/>
              <a:ext cx="506258" cy="276999"/>
            </a:xfrm>
            <a:prstGeom prst="rect">
              <a:avLst/>
            </a:prstGeom>
            <a:noFill/>
          </p:spPr>
          <p:txBody>
            <a:bodyPr wrap="square" t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pc</a:t>
              </a:r>
              <a:endParaRPr kumimoji="0" lang="zh-CN" altLang="en-US"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cxnSp>
          <p:nvCxnSpPr>
            <p:cNvPr id="66" name="直接箭头连接符 65">
              <a:extLst>
                <a:ext uri="{FF2B5EF4-FFF2-40B4-BE49-F238E27FC236}">
                  <a16:creationId xmlns:a16="http://schemas.microsoft.com/office/drawing/2014/main" id="{30A2BE8D-652B-4264-B9E9-9F249FBA8D18}"/>
                </a:ext>
              </a:extLst>
            </p:cNvPr>
            <p:cNvCxnSpPr/>
            <p:nvPr/>
          </p:nvCxnSpPr>
          <p:spPr>
            <a:xfrm>
              <a:off x="6083378" y="882322"/>
              <a:ext cx="0" cy="230588"/>
            </a:xfrm>
            <a:prstGeom prst="straightConnector1">
              <a:avLst/>
            </a:prstGeom>
            <a:ln w="28575">
              <a:tailEnd type="triangle" w="med" len="lg"/>
            </a:ln>
          </p:spPr>
          <p:style>
            <a:lnRef idx="1">
              <a:schemeClr val="accent1"/>
            </a:lnRef>
            <a:fillRef idx="0">
              <a:schemeClr val="accent1"/>
            </a:fillRef>
            <a:effectRef idx="0">
              <a:schemeClr val="accent1"/>
            </a:effectRef>
            <a:fontRef idx="minor">
              <a:schemeClr val="tx1"/>
            </a:fontRef>
          </p:style>
        </p:cxnSp>
        <p:grpSp>
          <p:nvGrpSpPr>
            <p:cNvPr id="67" name="组合 66">
              <a:extLst>
                <a:ext uri="{FF2B5EF4-FFF2-40B4-BE49-F238E27FC236}">
                  <a16:creationId xmlns:a16="http://schemas.microsoft.com/office/drawing/2014/main" id="{5C69BAE6-91EE-4F67-AD1C-1334312DED66}"/>
                </a:ext>
              </a:extLst>
            </p:cNvPr>
            <p:cNvGrpSpPr/>
            <p:nvPr/>
          </p:nvGrpSpPr>
          <p:grpSpPr>
            <a:xfrm>
              <a:off x="7862634" y="1318275"/>
              <a:ext cx="937627" cy="782376"/>
              <a:chOff x="1690258" y="540326"/>
              <a:chExt cx="937627" cy="782376"/>
            </a:xfrm>
          </p:grpSpPr>
          <p:sp>
            <p:nvSpPr>
              <p:cNvPr id="68" name="文本框 72">
                <a:extLst>
                  <a:ext uri="{FF2B5EF4-FFF2-40B4-BE49-F238E27FC236}">
                    <a16:creationId xmlns:a16="http://schemas.microsoft.com/office/drawing/2014/main" id="{C71F81B1-BC44-448D-BDA9-322D6143D023}"/>
                  </a:ext>
                </a:extLst>
              </p:cNvPr>
              <p:cNvSpPr txBox="1"/>
              <p:nvPr/>
            </p:nvSpPr>
            <p:spPr>
              <a:xfrm>
                <a:off x="1696804" y="542355"/>
                <a:ext cx="301986" cy="387534"/>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文本框 73">
                <a:extLst>
                  <a:ext uri="{FF2B5EF4-FFF2-40B4-BE49-F238E27FC236}">
                    <a16:creationId xmlns:a16="http://schemas.microsoft.com/office/drawing/2014/main" id="{C8DB730E-6141-467D-B779-7E6D8B858218}"/>
                  </a:ext>
                </a:extLst>
              </p:cNvPr>
              <p:cNvSpPr txBox="1"/>
              <p:nvPr/>
            </p:nvSpPr>
            <p:spPr>
              <a:xfrm>
                <a:off x="2005336" y="542355"/>
                <a:ext cx="301986" cy="387534"/>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0" name="文本框 75">
                <a:extLst>
                  <a:ext uri="{FF2B5EF4-FFF2-40B4-BE49-F238E27FC236}">
                    <a16:creationId xmlns:a16="http://schemas.microsoft.com/office/drawing/2014/main" id="{084546F3-D30D-4D40-A954-17D23936834A}"/>
                  </a:ext>
                </a:extLst>
              </p:cNvPr>
              <p:cNvSpPr txBox="1"/>
              <p:nvPr/>
            </p:nvSpPr>
            <p:spPr>
              <a:xfrm>
                <a:off x="1696804" y="935168"/>
                <a:ext cx="301986" cy="387534"/>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 name="文本框 76">
                <a:extLst>
                  <a:ext uri="{FF2B5EF4-FFF2-40B4-BE49-F238E27FC236}">
                    <a16:creationId xmlns:a16="http://schemas.microsoft.com/office/drawing/2014/main" id="{608332EC-83E9-4DF2-8F63-8C947DF41AB4}"/>
                  </a:ext>
                </a:extLst>
              </p:cNvPr>
              <p:cNvSpPr txBox="1"/>
              <p:nvPr/>
            </p:nvSpPr>
            <p:spPr>
              <a:xfrm>
                <a:off x="2005336" y="935168"/>
                <a:ext cx="301986" cy="387534"/>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2" name="文本框 77">
                <a:extLst>
                  <a:ext uri="{FF2B5EF4-FFF2-40B4-BE49-F238E27FC236}">
                    <a16:creationId xmlns:a16="http://schemas.microsoft.com/office/drawing/2014/main" id="{514A3313-5448-4426-AA65-FE2080709D6B}"/>
                  </a:ext>
                </a:extLst>
              </p:cNvPr>
              <p:cNvSpPr txBox="1"/>
              <p:nvPr/>
            </p:nvSpPr>
            <p:spPr>
              <a:xfrm>
                <a:off x="2313867" y="939592"/>
                <a:ext cx="306050" cy="380480"/>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 name="矩形 72">
                <a:extLst>
                  <a:ext uri="{FF2B5EF4-FFF2-40B4-BE49-F238E27FC236}">
                    <a16:creationId xmlns:a16="http://schemas.microsoft.com/office/drawing/2014/main" id="{3341D20D-BDC8-4437-A36A-F51762797102}"/>
                  </a:ext>
                </a:extLst>
              </p:cNvPr>
              <p:cNvSpPr/>
              <p:nvPr/>
            </p:nvSpPr>
            <p:spPr>
              <a:xfrm>
                <a:off x="1690258" y="541223"/>
                <a:ext cx="937627" cy="77417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noFill/>
                  <a:effectLst/>
                  <a:uLnTx/>
                  <a:uFillTx/>
                  <a:latin typeface="Times New Roman" panose="02020603050405020304"/>
                  <a:ea typeface="宋体" panose="02010600030101010101" pitchFamily="2" charset="-122"/>
                  <a:cs typeface="+mn-cs"/>
                </a:endParaRPr>
              </a:p>
            </p:txBody>
          </p:sp>
          <p:sp>
            <p:nvSpPr>
              <p:cNvPr id="74" name="文本框 80">
                <a:extLst>
                  <a:ext uri="{FF2B5EF4-FFF2-40B4-BE49-F238E27FC236}">
                    <a16:creationId xmlns:a16="http://schemas.microsoft.com/office/drawing/2014/main" id="{7C657C2D-A575-4DD8-B181-6C072623A0B0}"/>
                  </a:ext>
                </a:extLst>
              </p:cNvPr>
              <p:cNvSpPr txBox="1"/>
              <p:nvPr/>
            </p:nvSpPr>
            <p:spPr>
              <a:xfrm>
                <a:off x="2313866" y="540326"/>
                <a:ext cx="314019" cy="389975"/>
              </a:xfrm>
              <a:prstGeom prst="rect">
                <a:avLst/>
              </a:prstGeom>
              <a:solidFill>
                <a:schemeClr val="bg2"/>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grpSp>
      <p:grpSp>
        <p:nvGrpSpPr>
          <p:cNvPr id="88" name="组合 87">
            <a:extLst>
              <a:ext uri="{FF2B5EF4-FFF2-40B4-BE49-F238E27FC236}">
                <a16:creationId xmlns:a16="http://schemas.microsoft.com/office/drawing/2014/main" id="{15B28BC9-852E-5E7D-24F0-B898526BEEA1}"/>
              </a:ext>
            </a:extLst>
          </p:cNvPr>
          <p:cNvGrpSpPr/>
          <p:nvPr/>
        </p:nvGrpSpPr>
        <p:grpSpPr>
          <a:xfrm>
            <a:off x="10242570" y="1177772"/>
            <a:ext cx="314767" cy="780347"/>
            <a:chOff x="10838311" y="5276789"/>
            <a:chExt cx="314767" cy="780347"/>
          </a:xfrm>
        </p:grpSpPr>
        <p:sp>
          <p:nvSpPr>
            <p:cNvPr id="86" name="文本框 61">
              <a:extLst>
                <a:ext uri="{FF2B5EF4-FFF2-40B4-BE49-F238E27FC236}">
                  <a16:creationId xmlns:a16="http://schemas.microsoft.com/office/drawing/2014/main" id="{83C8C027-E36B-BD9E-0686-58D7A2513B6D}"/>
                </a:ext>
              </a:extLst>
            </p:cNvPr>
            <p:cNvSpPr txBox="1"/>
            <p:nvPr/>
          </p:nvSpPr>
          <p:spPr>
            <a:xfrm>
              <a:off x="10838312" y="5276789"/>
              <a:ext cx="31476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7" name="文本框 65">
              <a:extLst>
                <a:ext uri="{FF2B5EF4-FFF2-40B4-BE49-F238E27FC236}">
                  <a16:creationId xmlns:a16="http://schemas.microsoft.com/office/drawing/2014/main" id="{C768444F-BA10-E698-9C29-7E6E438D87F0}"/>
                </a:ext>
              </a:extLst>
            </p:cNvPr>
            <p:cNvSpPr txBox="1"/>
            <p:nvPr/>
          </p:nvSpPr>
          <p:spPr>
            <a:xfrm>
              <a:off x="10838311" y="5669602"/>
              <a:ext cx="314765"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90" name="组合 89">
            <a:extLst>
              <a:ext uri="{FF2B5EF4-FFF2-40B4-BE49-F238E27FC236}">
                <a16:creationId xmlns:a16="http://schemas.microsoft.com/office/drawing/2014/main" id="{B1FC06F1-1DF7-E27A-38F9-7245D4C90237}"/>
              </a:ext>
            </a:extLst>
          </p:cNvPr>
          <p:cNvGrpSpPr/>
          <p:nvPr/>
        </p:nvGrpSpPr>
        <p:grpSpPr>
          <a:xfrm>
            <a:off x="10554024" y="1181931"/>
            <a:ext cx="314767" cy="780347"/>
            <a:chOff x="10838311" y="5276789"/>
            <a:chExt cx="314767" cy="780347"/>
          </a:xfrm>
        </p:grpSpPr>
        <p:sp>
          <p:nvSpPr>
            <p:cNvPr id="91" name="文本框 61">
              <a:extLst>
                <a:ext uri="{FF2B5EF4-FFF2-40B4-BE49-F238E27FC236}">
                  <a16:creationId xmlns:a16="http://schemas.microsoft.com/office/drawing/2014/main" id="{CB296141-197B-14C9-3A1C-D2A4F2516125}"/>
                </a:ext>
              </a:extLst>
            </p:cNvPr>
            <p:cNvSpPr txBox="1"/>
            <p:nvPr/>
          </p:nvSpPr>
          <p:spPr>
            <a:xfrm>
              <a:off x="10838312" y="5276789"/>
              <a:ext cx="31476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 name="文本框 65">
              <a:extLst>
                <a:ext uri="{FF2B5EF4-FFF2-40B4-BE49-F238E27FC236}">
                  <a16:creationId xmlns:a16="http://schemas.microsoft.com/office/drawing/2014/main" id="{1EAB691C-D66A-3D13-05B4-190C864AB780}"/>
                </a:ext>
              </a:extLst>
            </p:cNvPr>
            <p:cNvSpPr txBox="1"/>
            <p:nvPr/>
          </p:nvSpPr>
          <p:spPr>
            <a:xfrm>
              <a:off x="10838311" y="5669602"/>
              <a:ext cx="314765"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93" name="组合 92">
            <a:extLst>
              <a:ext uri="{FF2B5EF4-FFF2-40B4-BE49-F238E27FC236}">
                <a16:creationId xmlns:a16="http://schemas.microsoft.com/office/drawing/2014/main" id="{A0864668-856E-CA39-BCB4-7D637D0DCCEC}"/>
              </a:ext>
            </a:extLst>
          </p:cNvPr>
          <p:cNvGrpSpPr/>
          <p:nvPr/>
        </p:nvGrpSpPr>
        <p:grpSpPr>
          <a:xfrm>
            <a:off x="10234018" y="2743153"/>
            <a:ext cx="314767" cy="780347"/>
            <a:chOff x="10838311" y="5276789"/>
            <a:chExt cx="314767" cy="780347"/>
          </a:xfrm>
        </p:grpSpPr>
        <p:sp>
          <p:nvSpPr>
            <p:cNvPr id="94" name="文本框 61">
              <a:extLst>
                <a:ext uri="{FF2B5EF4-FFF2-40B4-BE49-F238E27FC236}">
                  <a16:creationId xmlns:a16="http://schemas.microsoft.com/office/drawing/2014/main" id="{E8C7DD02-6879-2549-7A0F-5362299B89DF}"/>
                </a:ext>
              </a:extLst>
            </p:cNvPr>
            <p:cNvSpPr txBox="1"/>
            <p:nvPr/>
          </p:nvSpPr>
          <p:spPr>
            <a:xfrm>
              <a:off x="10838312" y="5276789"/>
              <a:ext cx="314766" cy="387534"/>
            </a:xfrm>
            <a:prstGeom prst="rect">
              <a:avLst/>
            </a:prstGeom>
            <a:solidFill>
              <a:schemeClr val="accent2">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11</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5" name="文本框 65">
              <a:extLst>
                <a:ext uri="{FF2B5EF4-FFF2-40B4-BE49-F238E27FC236}">
                  <a16:creationId xmlns:a16="http://schemas.microsoft.com/office/drawing/2014/main" id="{86246713-4CF2-F31D-42D0-FF38A25C5D99}"/>
                </a:ext>
              </a:extLst>
            </p:cNvPr>
            <p:cNvSpPr txBox="1"/>
            <p:nvPr/>
          </p:nvSpPr>
          <p:spPr>
            <a:xfrm>
              <a:off x="10838311" y="5669602"/>
              <a:ext cx="314765"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cxnSp>
        <p:nvCxnSpPr>
          <p:cNvPr id="96" name="直接连接符 95">
            <a:extLst>
              <a:ext uri="{FF2B5EF4-FFF2-40B4-BE49-F238E27FC236}">
                <a16:creationId xmlns:a16="http://schemas.microsoft.com/office/drawing/2014/main" id="{BC02EBE7-8908-4A0B-5440-241E3C3C4D7F}"/>
              </a:ext>
            </a:extLst>
          </p:cNvPr>
          <p:cNvCxnSpPr>
            <a:cxnSpLocks/>
          </p:cNvCxnSpPr>
          <p:nvPr/>
        </p:nvCxnSpPr>
        <p:spPr>
          <a:xfrm>
            <a:off x="175267" y="1216867"/>
            <a:ext cx="3663086"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98" name="直接连接符 97">
            <a:extLst>
              <a:ext uri="{FF2B5EF4-FFF2-40B4-BE49-F238E27FC236}">
                <a16:creationId xmlns:a16="http://schemas.microsoft.com/office/drawing/2014/main" id="{F8A1ABAD-C99A-1420-7B18-E67FAAFC6F0B}"/>
              </a:ext>
            </a:extLst>
          </p:cNvPr>
          <p:cNvCxnSpPr>
            <a:cxnSpLocks/>
          </p:cNvCxnSpPr>
          <p:nvPr/>
        </p:nvCxnSpPr>
        <p:spPr>
          <a:xfrm>
            <a:off x="396779" y="1419850"/>
            <a:ext cx="3632961"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01" name="文本框 100">
            <a:extLst>
              <a:ext uri="{FF2B5EF4-FFF2-40B4-BE49-F238E27FC236}">
                <a16:creationId xmlns:a16="http://schemas.microsoft.com/office/drawing/2014/main" id="{5D04E10C-7891-B251-E27F-C43A46A593B1}"/>
              </a:ext>
            </a:extLst>
          </p:cNvPr>
          <p:cNvSpPr txBox="1"/>
          <p:nvPr/>
        </p:nvSpPr>
        <p:spPr>
          <a:xfrm>
            <a:off x="11394097" y="727534"/>
            <a:ext cx="641441" cy="473206"/>
          </a:xfrm>
          <a:prstGeom prst="rect">
            <a:avLst/>
          </a:prstGeom>
          <a:noFill/>
        </p:spPr>
        <p:txBody>
          <a:bodyPr wrap="square" tIns="0" bIns="0" rtlCol="0">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B0F0"/>
                </a:solidFill>
                <a:effectLst/>
                <a:uLnTx/>
                <a:uFillTx/>
                <a:latin typeface="Courier New" panose="02070309020205020404" pitchFamily="49" charset="0"/>
                <a:ea typeface="宋体" panose="02010600030101010101" pitchFamily="2" charset="-122"/>
                <a:cs typeface="Courier New" panose="02070309020205020404" pitchFamily="49" charset="0"/>
              </a:rPr>
              <a:t>Pam</a:t>
            </a:r>
          </a:p>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B0F0"/>
                </a:solidFill>
                <a:effectLst/>
                <a:uLnTx/>
                <a:uFillTx/>
                <a:latin typeface="Courier New" panose="02070309020205020404" pitchFamily="49" charset="0"/>
                <a:ea typeface="宋体" panose="02010600030101010101" pitchFamily="2" charset="-122"/>
                <a:cs typeface="Courier New" panose="02070309020205020404" pitchFamily="49" charset="0"/>
              </a:rPr>
              <a:t>=4</a:t>
            </a:r>
            <a:endParaRPr kumimoji="0" lang="zh-CN" altLang="en-US" sz="1800" b="1" i="0" u="none" strike="noStrike" kern="1200" cap="none" spc="0" normalizeH="0" baseline="0" noProof="0" dirty="0">
              <a:ln>
                <a:noFill/>
              </a:ln>
              <a:solidFill>
                <a:srgbClr val="00B0F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03" name="文本框 102">
            <a:extLst>
              <a:ext uri="{FF2B5EF4-FFF2-40B4-BE49-F238E27FC236}">
                <a16:creationId xmlns:a16="http://schemas.microsoft.com/office/drawing/2014/main" id="{3CC4CC36-D840-B676-662F-ABE8C278C597}"/>
              </a:ext>
            </a:extLst>
          </p:cNvPr>
          <p:cNvSpPr txBox="1"/>
          <p:nvPr/>
        </p:nvSpPr>
        <p:spPr>
          <a:xfrm>
            <a:off x="11123953" y="2290866"/>
            <a:ext cx="641441" cy="473206"/>
          </a:xfrm>
          <a:prstGeom prst="rect">
            <a:avLst/>
          </a:prstGeom>
          <a:noFill/>
        </p:spPr>
        <p:txBody>
          <a:bodyPr wrap="square" tIns="0" bIns="0" rtlCol="0">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00B0F0"/>
                </a:solidFill>
                <a:effectLst/>
                <a:uLnTx/>
                <a:uFillTx/>
                <a:latin typeface="Courier New" panose="02070309020205020404" pitchFamily="49" charset="0"/>
                <a:ea typeface="宋体" panose="02010600030101010101" pitchFamily="2" charset="-122"/>
                <a:cs typeface="Courier New" panose="02070309020205020404" pitchFamily="49" charset="0"/>
              </a:rPr>
              <a:t>Pbn</a:t>
            </a:r>
            <a:endParaRPr kumimoji="0" lang="en-US" altLang="zh-CN" sz="1800" b="1" i="0" u="none" strike="noStrike" kern="1200" cap="none" spc="0" normalizeH="0" baseline="0" noProof="0" dirty="0">
              <a:ln>
                <a:noFill/>
              </a:ln>
              <a:solidFill>
                <a:srgbClr val="00B0F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B0F0"/>
                </a:solidFill>
                <a:effectLst/>
                <a:uLnTx/>
                <a:uFillTx/>
                <a:latin typeface="Courier New" panose="02070309020205020404" pitchFamily="49" charset="0"/>
                <a:ea typeface="宋体" panose="02010600030101010101" pitchFamily="2" charset="-122"/>
                <a:cs typeface="Courier New" panose="02070309020205020404" pitchFamily="49" charset="0"/>
              </a:rPr>
              <a:t>=3</a:t>
            </a:r>
            <a:endParaRPr kumimoji="0" lang="zh-CN" altLang="en-US" sz="1800" b="1" i="0" u="none" strike="noStrike" kern="1200" cap="none" spc="0" normalizeH="0" baseline="0" noProof="0" dirty="0">
              <a:ln>
                <a:noFill/>
              </a:ln>
              <a:solidFill>
                <a:srgbClr val="00B0F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05" name="文本框 100">
            <a:extLst>
              <a:ext uri="{FF2B5EF4-FFF2-40B4-BE49-F238E27FC236}">
                <a16:creationId xmlns:a16="http://schemas.microsoft.com/office/drawing/2014/main" id="{5D04E10C-7891-B251-E27F-C43A46A593B1}"/>
              </a:ext>
            </a:extLst>
          </p:cNvPr>
          <p:cNvSpPr txBox="1"/>
          <p:nvPr/>
        </p:nvSpPr>
        <p:spPr>
          <a:xfrm>
            <a:off x="10251895" y="733074"/>
            <a:ext cx="296888" cy="250068"/>
          </a:xfrm>
          <a:prstGeom prst="rect">
            <a:avLst/>
          </a:prstGeom>
          <a:noFill/>
        </p:spPr>
        <p:txBody>
          <a:bodyPr wrap="square" t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i</a:t>
            </a:r>
          </a:p>
        </p:txBody>
      </p:sp>
      <p:sp>
        <p:nvSpPr>
          <p:cNvPr id="106" name="文本框 100">
            <a:extLst>
              <a:ext uri="{FF2B5EF4-FFF2-40B4-BE49-F238E27FC236}">
                <a16:creationId xmlns:a16="http://schemas.microsoft.com/office/drawing/2014/main" id="{1E19AE5C-BCE4-2969-85AE-6210598ED1D1}"/>
              </a:ext>
            </a:extLst>
          </p:cNvPr>
          <p:cNvSpPr txBox="1"/>
          <p:nvPr/>
        </p:nvSpPr>
        <p:spPr>
          <a:xfrm>
            <a:off x="10242574" y="2266678"/>
            <a:ext cx="296888" cy="250068"/>
          </a:xfrm>
          <a:prstGeom prst="rect">
            <a:avLst/>
          </a:prstGeom>
          <a:noFill/>
        </p:spPr>
        <p:txBody>
          <a:bodyPr wrap="square" t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j</a:t>
            </a:r>
          </a:p>
        </p:txBody>
      </p:sp>
      <p:sp>
        <p:nvSpPr>
          <p:cNvPr id="107" name="文本框 100">
            <a:extLst>
              <a:ext uri="{FF2B5EF4-FFF2-40B4-BE49-F238E27FC236}">
                <a16:creationId xmlns:a16="http://schemas.microsoft.com/office/drawing/2014/main" id="{B574C28F-3333-A9EF-4120-FFDDB09E0901}"/>
              </a:ext>
            </a:extLst>
          </p:cNvPr>
          <p:cNvSpPr txBox="1"/>
          <p:nvPr/>
        </p:nvSpPr>
        <p:spPr>
          <a:xfrm>
            <a:off x="9733585" y="3688897"/>
            <a:ext cx="296888" cy="250068"/>
          </a:xfrm>
          <a:prstGeom prst="rect">
            <a:avLst/>
          </a:prstGeom>
          <a:noFill/>
        </p:spPr>
        <p:txBody>
          <a:bodyPr wrap="square" t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k</a:t>
            </a:r>
          </a:p>
        </p:txBody>
      </p:sp>
      <p:cxnSp>
        <p:nvCxnSpPr>
          <p:cNvPr id="108" name="直接连接符 107">
            <a:extLst>
              <a:ext uri="{FF2B5EF4-FFF2-40B4-BE49-F238E27FC236}">
                <a16:creationId xmlns:a16="http://schemas.microsoft.com/office/drawing/2014/main" id="{1CB83A1D-6BF2-4BFC-CB72-DBDBC4324E5C}"/>
              </a:ext>
            </a:extLst>
          </p:cNvPr>
          <p:cNvCxnSpPr>
            <a:cxnSpLocks/>
          </p:cNvCxnSpPr>
          <p:nvPr/>
        </p:nvCxnSpPr>
        <p:spPr>
          <a:xfrm>
            <a:off x="396779" y="1650318"/>
            <a:ext cx="4797226"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0" name="直接连接符 109">
            <a:extLst>
              <a:ext uri="{FF2B5EF4-FFF2-40B4-BE49-F238E27FC236}">
                <a16:creationId xmlns:a16="http://schemas.microsoft.com/office/drawing/2014/main" id="{20A55C01-456E-278D-F553-7B9541CF0E1A}"/>
              </a:ext>
            </a:extLst>
          </p:cNvPr>
          <p:cNvCxnSpPr>
            <a:cxnSpLocks/>
          </p:cNvCxnSpPr>
          <p:nvPr/>
        </p:nvCxnSpPr>
        <p:spPr>
          <a:xfrm>
            <a:off x="396779" y="1863450"/>
            <a:ext cx="387750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3" name="椭圆 112">
            <a:extLst>
              <a:ext uri="{FF2B5EF4-FFF2-40B4-BE49-F238E27FC236}">
                <a16:creationId xmlns:a16="http://schemas.microsoft.com/office/drawing/2014/main" id="{7CA8BBB3-1907-5405-C670-EA00EC79EDEF}"/>
              </a:ext>
            </a:extLst>
          </p:cNvPr>
          <p:cNvSpPr/>
          <p:nvPr/>
        </p:nvSpPr>
        <p:spPr>
          <a:xfrm>
            <a:off x="10245922" y="1603841"/>
            <a:ext cx="314765" cy="303098"/>
          </a:xfrm>
          <a:prstGeom prst="ellipse">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114" name="椭圆 113">
            <a:extLst>
              <a:ext uri="{FF2B5EF4-FFF2-40B4-BE49-F238E27FC236}">
                <a16:creationId xmlns:a16="http://schemas.microsoft.com/office/drawing/2014/main" id="{A3CD265A-01AB-8668-B7FD-B5035E606529}"/>
              </a:ext>
            </a:extLst>
          </p:cNvPr>
          <p:cNvSpPr/>
          <p:nvPr/>
        </p:nvSpPr>
        <p:spPr>
          <a:xfrm>
            <a:off x="10227317" y="3175849"/>
            <a:ext cx="314765" cy="303098"/>
          </a:xfrm>
          <a:prstGeom prst="ellipse">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cxnSp>
        <p:nvCxnSpPr>
          <p:cNvPr id="115" name="直接连接符 114">
            <a:extLst>
              <a:ext uri="{FF2B5EF4-FFF2-40B4-BE49-F238E27FC236}">
                <a16:creationId xmlns:a16="http://schemas.microsoft.com/office/drawing/2014/main" id="{97324039-ACB5-7946-1356-6EF660A9A01B}"/>
              </a:ext>
            </a:extLst>
          </p:cNvPr>
          <p:cNvCxnSpPr>
            <a:cxnSpLocks/>
          </p:cNvCxnSpPr>
          <p:nvPr/>
        </p:nvCxnSpPr>
        <p:spPr>
          <a:xfrm>
            <a:off x="1601802" y="2290866"/>
            <a:ext cx="542631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8" name="直接连接符 117">
            <a:extLst>
              <a:ext uri="{FF2B5EF4-FFF2-40B4-BE49-F238E27FC236}">
                <a16:creationId xmlns:a16="http://schemas.microsoft.com/office/drawing/2014/main" id="{C8C53164-5A26-2C40-740A-EA14F57D70FD}"/>
              </a:ext>
            </a:extLst>
          </p:cNvPr>
          <p:cNvCxnSpPr>
            <a:cxnSpLocks/>
          </p:cNvCxnSpPr>
          <p:nvPr/>
        </p:nvCxnSpPr>
        <p:spPr>
          <a:xfrm>
            <a:off x="1561128" y="2518938"/>
            <a:ext cx="542631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9" name="椭圆 118">
            <a:extLst>
              <a:ext uri="{FF2B5EF4-FFF2-40B4-BE49-F238E27FC236}">
                <a16:creationId xmlns:a16="http://schemas.microsoft.com/office/drawing/2014/main" id="{34F786B9-CB98-1750-D0C8-F25232A215C1}"/>
              </a:ext>
            </a:extLst>
          </p:cNvPr>
          <p:cNvSpPr/>
          <p:nvPr/>
        </p:nvSpPr>
        <p:spPr>
          <a:xfrm>
            <a:off x="10553312" y="1611751"/>
            <a:ext cx="314765" cy="303098"/>
          </a:xfrm>
          <a:prstGeom prst="ellipse">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120" name="椭圆 119">
            <a:extLst>
              <a:ext uri="{FF2B5EF4-FFF2-40B4-BE49-F238E27FC236}">
                <a16:creationId xmlns:a16="http://schemas.microsoft.com/office/drawing/2014/main" id="{A2B23244-9550-5B55-2964-12FD5E80A618}"/>
              </a:ext>
            </a:extLst>
          </p:cNvPr>
          <p:cNvSpPr/>
          <p:nvPr/>
        </p:nvSpPr>
        <p:spPr>
          <a:xfrm>
            <a:off x="10234486" y="3179927"/>
            <a:ext cx="314765" cy="303098"/>
          </a:xfrm>
          <a:prstGeom prst="ellipse">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cxnSp>
        <p:nvCxnSpPr>
          <p:cNvPr id="121" name="直接连接符 120">
            <a:extLst>
              <a:ext uri="{FF2B5EF4-FFF2-40B4-BE49-F238E27FC236}">
                <a16:creationId xmlns:a16="http://schemas.microsoft.com/office/drawing/2014/main" id="{7C585843-7716-D5D8-4DB1-D84D0FB9F697}"/>
              </a:ext>
            </a:extLst>
          </p:cNvPr>
          <p:cNvCxnSpPr>
            <a:cxnSpLocks/>
          </p:cNvCxnSpPr>
          <p:nvPr/>
        </p:nvCxnSpPr>
        <p:spPr>
          <a:xfrm>
            <a:off x="1561128" y="2974365"/>
            <a:ext cx="542631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126" name="组合 125">
            <a:extLst>
              <a:ext uri="{FF2B5EF4-FFF2-40B4-BE49-F238E27FC236}">
                <a16:creationId xmlns:a16="http://schemas.microsoft.com/office/drawing/2014/main" id="{E51897A9-6DCC-120B-EA52-310EDE880D81}"/>
              </a:ext>
            </a:extLst>
          </p:cNvPr>
          <p:cNvGrpSpPr/>
          <p:nvPr/>
        </p:nvGrpSpPr>
        <p:grpSpPr>
          <a:xfrm>
            <a:off x="10555009" y="2738064"/>
            <a:ext cx="314767" cy="780347"/>
            <a:chOff x="10838311" y="5276789"/>
            <a:chExt cx="314767" cy="780347"/>
          </a:xfrm>
        </p:grpSpPr>
        <p:sp>
          <p:nvSpPr>
            <p:cNvPr id="127" name="文本框 61">
              <a:extLst>
                <a:ext uri="{FF2B5EF4-FFF2-40B4-BE49-F238E27FC236}">
                  <a16:creationId xmlns:a16="http://schemas.microsoft.com/office/drawing/2014/main" id="{E2CFAED9-F2D6-26DC-81EC-CB9A080EE7A8}"/>
                </a:ext>
              </a:extLst>
            </p:cNvPr>
            <p:cNvSpPr txBox="1"/>
            <p:nvPr/>
          </p:nvSpPr>
          <p:spPr>
            <a:xfrm>
              <a:off x="10838312" y="5276789"/>
              <a:ext cx="31476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22</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8" name="文本框 65">
              <a:extLst>
                <a:ext uri="{FF2B5EF4-FFF2-40B4-BE49-F238E27FC236}">
                  <a16:creationId xmlns:a16="http://schemas.microsoft.com/office/drawing/2014/main" id="{E8D74FA3-829F-7E20-3510-E857AE551473}"/>
                </a:ext>
              </a:extLst>
            </p:cNvPr>
            <p:cNvSpPr txBox="1"/>
            <p:nvPr/>
          </p:nvSpPr>
          <p:spPr>
            <a:xfrm>
              <a:off x="10838311" y="5669602"/>
              <a:ext cx="314765"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29" name="椭圆 128">
            <a:extLst>
              <a:ext uri="{FF2B5EF4-FFF2-40B4-BE49-F238E27FC236}">
                <a16:creationId xmlns:a16="http://schemas.microsoft.com/office/drawing/2014/main" id="{6043D9FF-0A8A-3EC3-37DD-8EF6BC7C7CB3}"/>
              </a:ext>
            </a:extLst>
          </p:cNvPr>
          <p:cNvSpPr/>
          <p:nvPr/>
        </p:nvSpPr>
        <p:spPr>
          <a:xfrm>
            <a:off x="10852908" y="1616177"/>
            <a:ext cx="314765" cy="303098"/>
          </a:xfrm>
          <a:prstGeom prst="ellipse">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130" name="椭圆 129">
            <a:extLst>
              <a:ext uri="{FF2B5EF4-FFF2-40B4-BE49-F238E27FC236}">
                <a16:creationId xmlns:a16="http://schemas.microsoft.com/office/drawing/2014/main" id="{21FF6F60-BCE9-2E29-4B50-57FB9AB820A4}"/>
              </a:ext>
            </a:extLst>
          </p:cNvPr>
          <p:cNvSpPr/>
          <p:nvPr/>
        </p:nvSpPr>
        <p:spPr>
          <a:xfrm>
            <a:off x="10535898" y="3173095"/>
            <a:ext cx="314765" cy="303098"/>
          </a:xfrm>
          <a:prstGeom prst="ellipse">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cxnSp>
        <p:nvCxnSpPr>
          <p:cNvPr id="131" name="直接连接符 130">
            <a:extLst>
              <a:ext uri="{FF2B5EF4-FFF2-40B4-BE49-F238E27FC236}">
                <a16:creationId xmlns:a16="http://schemas.microsoft.com/office/drawing/2014/main" id="{14FD8FAD-9941-E37B-10FF-EBAAF0F302CF}"/>
              </a:ext>
            </a:extLst>
          </p:cNvPr>
          <p:cNvCxnSpPr>
            <a:cxnSpLocks/>
          </p:cNvCxnSpPr>
          <p:nvPr/>
        </p:nvCxnSpPr>
        <p:spPr>
          <a:xfrm>
            <a:off x="1561128" y="2743606"/>
            <a:ext cx="542631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32" name="椭圆 131">
            <a:extLst>
              <a:ext uri="{FF2B5EF4-FFF2-40B4-BE49-F238E27FC236}">
                <a16:creationId xmlns:a16="http://schemas.microsoft.com/office/drawing/2014/main" id="{DC6B24F1-6048-0ADF-208A-690C9107B65B}"/>
              </a:ext>
            </a:extLst>
          </p:cNvPr>
          <p:cNvSpPr/>
          <p:nvPr/>
        </p:nvSpPr>
        <p:spPr>
          <a:xfrm>
            <a:off x="10850478" y="3179927"/>
            <a:ext cx="314765" cy="303098"/>
          </a:xfrm>
          <a:prstGeom prst="ellipse">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sp>
        <p:nvSpPr>
          <p:cNvPr id="133" name="椭圆 132">
            <a:extLst>
              <a:ext uri="{FF2B5EF4-FFF2-40B4-BE49-F238E27FC236}">
                <a16:creationId xmlns:a16="http://schemas.microsoft.com/office/drawing/2014/main" id="{7D3F4BAA-958A-DF5C-CCA5-12ABF4606D00}"/>
              </a:ext>
            </a:extLst>
          </p:cNvPr>
          <p:cNvSpPr/>
          <p:nvPr/>
        </p:nvSpPr>
        <p:spPr>
          <a:xfrm>
            <a:off x="10843832" y="1611496"/>
            <a:ext cx="314765" cy="303098"/>
          </a:xfrm>
          <a:prstGeom prst="ellipse">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cxnSp>
        <p:nvCxnSpPr>
          <p:cNvPr id="135" name="直接连接符 134">
            <a:extLst>
              <a:ext uri="{FF2B5EF4-FFF2-40B4-BE49-F238E27FC236}">
                <a16:creationId xmlns:a16="http://schemas.microsoft.com/office/drawing/2014/main" id="{F07CD15C-7B1F-445F-49E8-B51070373C8A}"/>
              </a:ext>
            </a:extLst>
          </p:cNvPr>
          <p:cNvCxnSpPr>
            <a:cxnSpLocks/>
          </p:cNvCxnSpPr>
          <p:nvPr/>
        </p:nvCxnSpPr>
        <p:spPr>
          <a:xfrm>
            <a:off x="1978968" y="3162011"/>
            <a:ext cx="1207577"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37" name="直接连接符 136">
            <a:extLst>
              <a:ext uri="{FF2B5EF4-FFF2-40B4-BE49-F238E27FC236}">
                <a16:creationId xmlns:a16="http://schemas.microsoft.com/office/drawing/2014/main" id="{DA122786-4DE1-CA65-16DF-9639EF612998}"/>
              </a:ext>
            </a:extLst>
          </p:cNvPr>
          <p:cNvCxnSpPr>
            <a:cxnSpLocks/>
          </p:cNvCxnSpPr>
          <p:nvPr/>
        </p:nvCxnSpPr>
        <p:spPr>
          <a:xfrm>
            <a:off x="1978968" y="4284229"/>
            <a:ext cx="1418167"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39" name="直接连接符 138">
            <a:extLst>
              <a:ext uri="{FF2B5EF4-FFF2-40B4-BE49-F238E27FC236}">
                <a16:creationId xmlns:a16="http://schemas.microsoft.com/office/drawing/2014/main" id="{A015BE90-B341-DA66-4972-D951792B715B}"/>
              </a:ext>
            </a:extLst>
          </p:cNvPr>
          <p:cNvCxnSpPr>
            <a:cxnSpLocks/>
          </p:cNvCxnSpPr>
          <p:nvPr/>
        </p:nvCxnSpPr>
        <p:spPr>
          <a:xfrm>
            <a:off x="2477461" y="2081356"/>
            <a:ext cx="1418167"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0" name="直接连接符 139">
            <a:extLst>
              <a:ext uri="{FF2B5EF4-FFF2-40B4-BE49-F238E27FC236}">
                <a16:creationId xmlns:a16="http://schemas.microsoft.com/office/drawing/2014/main" id="{24B3CBD4-8A45-27FD-28D6-BD7D997638A8}"/>
              </a:ext>
            </a:extLst>
          </p:cNvPr>
          <p:cNvCxnSpPr>
            <a:cxnSpLocks/>
          </p:cNvCxnSpPr>
          <p:nvPr/>
        </p:nvCxnSpPr>
        <p:spPr>
          <a:xfrm>
            <a:off x="396779" y="5134899"/>
            <a:ext cx="158218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2" name="直接连接符 141">
            <a:extLst>
              <a:ext uri="{FF2B5EF4-FFF2-40B4-BE49-F238E27FC236}">
                <a16:creationId xmlns:a16="http://schemas.microsoft.com/office/drawing/2014/main" id="{F57D4E73-C9E2-E127-3088-712C84676824}"/>
              </a:ext>
            </a:extLst>
          </p:cNvPr>
          <p:cNvCxnSpPr>
            <a:cxnSpLocks/>
          </p:cNvCxnSpPr>
          <p:nvPr/>
        </p:nvCxnSpPr>
        <p:spPr>
          <a:xfrm>
            <a:off x="810707" y="5370426"/>
            <a:ext cx="8425072"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144" name="组合 143">
            <a:extLst>
              <a:ext uri="{FF2B5EF4-FFF2-40B4-BE49-F238E27FC236}">
                <a16:creationId xmlns:a16="http://schemas.microsoft.com/office/drawing/2014/main" id="{675673DF-5EDB-0B09-0DAC-622F40B5CB2A}"/>
              </a:ext>
            </a:extLst>
          </p:cNvPr>
          <p:cNvGrpSpPr/>
          <p:nvPr/>
        </p:nvGrpSpPr>
        <p:grpSpPr>
          <a:xfrm>
            <a:off x="11168061" y="1180674"/>
            <a:ext cx="314767" cy="780347"/>
            <a:chOff x="10838311" y="5276789"/>
            <a:chExt cx="314767" cy="780347"/>
          </a:xfrm>
        </p:grpSpPr>
        <p:sp>
          <p:nvSpPr>
            <p:cNvPr id="145" name="文本框 61">
              <a:extLst>
                <a:ext uri="{FF2B5EF4-FFF2-40B4-BE49-F238E27FC236}">
                  <a16:creationId xmlns:a16="http://schemas.microsoft.com/office/drawing/2014/main" id="{1669C33F-14A3-FC87-66CC-4271625A3020}"/>
                </a:ext>
              </a:extLst>
            </p:cNvPr>
            <p:cNvSpPr txBox="1"/>
            <p:nvPr/>
          </p:nvSpPr>
          <p:spPr>
            <a:xfrm>
              <a:off x="10838312" y="5276789"/>
              <a:ext cx="31476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6" name="文本框 65">
              <a:extLst>
                <a:ext uri="{FF2B5EF4-FFF2-40B4-BE49-F238E27FC236}">
                  <a16:creationId xmlns:a16="http://schemas.microsoft.com/office/drawing/2014/main" id="{695494E7-A81D-ECD8-7CE0-B66E75C60453}"/>
                </a:ext>
              </a:extLst>
            </p:cNvPr>
            <p:cNvSpPr txBox="1"/>
            <p:nvPr/>
          </p:nvSpPr>
          <p:spPr>
            <a:xfrm>
              <a:off x="10838311" y="5669602"/>
              <a:ext cx="314765"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17</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cxnSp>
        <p:nvCxnSpPr>
          <p:cNvPr id="147" name="直接连接符 146">
            <a:extLst>
              <a:ext uri="{FF2B5EF4-FFF2-40B4-BE49-F238E27FC236}">
                <a16:creationId xmlns:a16="http://schemas.microsoft.com/office/drawing/2014/main" id="{994FE462-2FAE-A49E-3C1D-84E2E70FABAD}"/>
              </a:ext>
            </a:extLst>
          </p:cNvPr>
          <p:cNvCxnSpPr>
            <a:cxnSpLocks/>
          </p:cNvCxnSpPr>
          <p:nvPr/>
        </p:nvCxnSpPr>
        <p:spPr>
          <a:xfrm>
            <a:off x="396779" y="5586557"/>
            <a:ext cx="1625985"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9" name="直接连接符 148">
            <a:extLst>
              <a:ext uri="{FF2B5EF4-FFF2-40B4-BE49-F238E27FC236}">
                <a16:creationId xmlns:a16="http://schemas.microsoft.com/office/drawing/2014/main" id="{3C75D8B1-8901-506C-7ED5-6A085118F10F}"/>
              </a:ext>
            </a:extLst>
          </p:cNvPr>
          <p:cNvCxnSpPr>
            <a:cxnSpLocks/>
          </p:cNvCxnSpPr>
          <p:nvPr/>
        </p:nvCxnSpPr>
        <p:spPr>
          <a:xfrm>
            <a:off x="396779" y="6024361"/>
            <a:ext cx="221895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51" name="直接连接符 150">
            <a:extLst>
              <a:ext uri="{FF2B5EF4-FFF2-40B4-BE49-F238E27FC236}">
                <a16:creationId xmlns:a16="http://schemas.microsoft.com/office/drawing/2014/main" id="{88C417DD-0708-6CF5-0B8A-33367389C9BF}"/>
              </a:ext>
            </a:extLst>
          </p:cNvPr>
          <p:cNvCxnSpPr>
            <a:cxnSpLocks/>
          </p:cNvCxnSpPr>
          <p:nvPr/>
        </p:nvCxnSpPr>
        <p:spPr>
          <a:xfrm>
            <a:off x="654473" y="6254347"/>
            <a:ext cx="7935345"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153" name="组合 152">
            <a:extLst>
              <a:ext uri="{FF2B5EF4-FFF2-40B4-BE49-F238E27FC236}">
                <a16:creationId xmlns:a16="http://schemas.microsoft.com/office/drawing/2014/main" id="{EEDDEC61-B06C-4A53-97B6-05352EDBF6E0}"/>
              </a:ext>
            </a:extLst>
          </p:cNvPr>
          <p:cNvGrpSpPr/>
          <p:nvPr/>
        </p:nvGrpSpPr>
        <p:grpSpPr>
          <a:xfrm>
            <a:off x="8725825" y="3411226"/>
            <a:ext cx="2241835" cy="1501629"/>
            <a:chOff x="5630157" y="600301"/>
            <a:chExt cx="2241835" cy="1501629"/>
          </a:xfrm>
        </p:grpSpPr>
        <p:grpSp>
          <p:nvGrpSpPr>
            <p:cNvPr id="154" name="组合 153">
              <a:extLst>
                <a:ext uri="{FF2B5EF4-FFF2-40B4-BE49-F238E27FC236}">
                  <a16:creationId xmlns:a16="http://schemas.microsoft.com/office/drawing/2014/main" id="{78C64023-36FA-4595-813C-3792CC52E09F}"/>
                </a:ext>
              </a:extLst>
            </p:cNvPr>
            <p:cNvGrpSpPr/>
            <p:nvPr/>
          </p:nvGrpSpPr>
          <p:grpSpPr>
            <a:xfrm>
              <a:off x="6632014" y="1319554"/>
              <a:ext cx="1239978" cy="782376"/>
              <a:chOff x="1690258" y="540326"/>
              <a:chExt cx="1239978" cy="782376"/>
            </a:xfrm>
          </p:grpSpPr>
          <p:sp>
            <p:nvSpPr>
              <p:cNvPr id="161" name="文本框 98">
                <a:extLst>
                  <a:ext uri="{FF2B5EF4-FFF2-40B4-BE49-F238E27FC236}">
                    <a16:creationId xmlns:a16="http://schemas.microsoft.com/office/drawing/2014/main" id="{F68E1C56-6A1A-461D-BBC7-18C5C6ACBC60}"/>
                  </a:ext>
                </a:extLst>
              </p:cNvPr>
              <p:cNvSpPr txBox="1"/>
              <p:nvPr/>
            </p:nvSpPr>
            <p:spPr>
              <a:xfrm>
                <a:off x="1696804" y="542355"/>
                <a:ext cx="30198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 name="文本框 99">
                <a:extLst>
                  <a:ext uri="{FF2B5EF4-FFF2-40B4-BE49-F238E27FC236}">
                    <a16:creationId xmlns:a16="http://schemas.microsoft.com/office/drawing/2014/main" id="{53A87542-C6FA-4B51-95B1-C344D570C603}"/>
                  </a:ext>
                </a:extLst>
              </p:cNvPr>
              <p:cNvSpPr txBox="1"/>
              <p:nvPr/>
            </p:nvSpPr>
            <p:spPr>
              <a:xfrm>
                <a:off x="2005336" y="542355"/>
                <a:ext cx="30198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11</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3" name="文本框 100">
                <a:extLst>
                  <a:ext uri="{FF2B5EF4-FFF2-40B4-BE49-F238E27FC236}">
                    <a16:creationId xmlns:a16="http://schemas.microsoft.com/office/drawing/2014/main" id="{B3B22910-0076-4AD7-B436-8467366E774C}"/>
                  </a:ext>
                </a:extLst>
              </p:cNvPr>
              <p:cNvSpPr txBox="1"/>
              <p:nvPr/>
            </p:nvSpPr>
            <p:spPr>
              <a:xfrm>
                <a:off x="2620299" y="540327"/>
                <a:ext cx="301986" cy="387534"/>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4" name="文本框 101">
                <a:extLst>
                  <a:ext uri="{FF2B5EF4-FFF2-40B4-BE49-F238E27FC236}">
                    <a16:creationId xmlns:a16="http://schemas.microsoft.com/office/drawing/2014/main" id="{47092B36-C994-435E-BDBA-5DB27F6E6694}"/>
                  </a:ext>
                </a:extLst>
              </p:cNvPr>
              <p:cNvSpPr txBox="1"/>
              <p:nvPr/>
            </p:nvSpPr>
            <p:spPr>
              <a:xfrm>
                <a:off x="1696804" y="935168"/>
                <a:ext cx="301986"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5" name="文本框 102">
                <a:extLst>
                  <a:ext uri="{FF2B5EF4-FFF2-40B4-BE49-F238E27FC236}">
                    <a16:creationId xmlns:a16="http://schemas.microsoft.com/office/drawing/2014/main" id="{4D3836DD-8EB8-48C4-B92A-A4C2D9FCA2CA}"/>
                  </a:ext>
                </a:extLst>
              </p:cNvPr>
              <p:cNvSpPr txBox="1"/>
              <p:nvPr/>
            </p:nvSpPr>
            <p:spPr>
              <a:xfrm>
                <a:off x="2005336" y="935168"/>
                <a:ext cx="301986"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6" name="文本框 103">
                <a:extLst>
                  <a:ext uri="{FF2B5EF4-FFF2-40B4-BE49-F238E27FC236}">
                    <a16:creationId xmlns:a16="http://schemas.microsoft.com/office/drawing/2014/main" id="{26FAFB03-CA9D-4A73-B8F2-51133DD340FB}"/>
                  </a:ext>
                </a:extLst>
              </p:cNvPr>
              <p:cNvSpPr txBox="1"/>
              <p:nvPr/>
            </p:nvSpPr>
            <p:spPr>
              <a:xfrm>
                <a:off x="2313867" y="939592"/>
                <a:ext cx="306050" cy="380480"/>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7" name="文本框 104">
                <a:extLst>
                  <a:ext uri="{FF2B5EF4-FFF2-40B4-BE49-F238E27FC236}">
                    <a16:creationId xmlns:a16="http://schemas.microsoft.com/office/drawing/2014/main" id="{F369E0B4-6B90-4558-B5E5-BFDCAC6EC568}"/>
                  </a:ext>
                </a:extLst>
              </p:cNvPr>
              <p:cNvSpPr txBox="1"/>
              <p:nvPr/>
            </p:nvSpPr>
            <p:spPr>
              <a:xfrm>
                <a:off x="2619917" y="934788"/>
                <a:ext cx="301986" cy="387534"/>
              </a:xfrm>
              <a:prstGeom prst="rect">
                <a:avLst/>
              </a:prstGeom>
              <a:solidFill>
                <a:schemeClr val="accent4">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17</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8" name="矩形 167">
                <a:extLst>
                  <a:ext uri="{FF2B5EF4-FFF2-40B4-BE49-F238E27FC236}">
                    <a16:creationId xmlns:a16="http://schemas.microsoft.com/office/drawing/2014/main" id="{F5BD4279-6576-4D22-8566-6FB115758C47}"/>
                  </a:ext>
                </a:extLst>
              </p:cNvPr>
              <p:cNvSpPr/>
              <p:nvPr/>
            </p:nvSpPr>
            <p:spPr>
              <a:xfrm>
                <a:off x="1690258" y="541223"/>
                <a:ext cx="1239978" cy="77417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noFill/>
                  <a:effectLst/>
                  <a:uLnTx/>
                  <a:uFillTx/>
                  <a:latin typeface="Times New Roman" panose="02020603050405020304"/>
                  <a:ea typeface="宋体" panose="02010600030101010101" pitchFamily="2" charset="-122"/>
                  <a:cs typeface="+mn-cs"/>
                </a:endParaRPr>
              </a:p>
            </p:txBody>
          </p:sp>
          <p:sp>
            <p:nvSpPr>
              <p:cNvPr id="169" name="文本框 106">
                <a:extLst>
                  <a:ext uri="{FF2B5EF4-FFF2-40B4-BE49-F238E27FC236}">
                    <a16:creationId xmlns:a16="http://schemas.microsoft.com/office/drawing/2014/main" id="{FC228AA0-DD6E-4537-988A-CAD602C1A3FE}"/>
                  </a:ext>
                </a:extLst>
              </p:cNvPr>
              <p:cNvSpPr txBox="1"/>
              <p:nvPr/>
            </p:nvSpPr>
            <p:spPr>
              <a:xfrm>
                <a:off x="2313866" y="540326"/>
                <a:ext cx="314019" cy="389975"/>
              </a:xfrm>
              <a:prstGeom prst="rect">
                <a:avLst/>
              </a:prstGeom>
              <a:solidFill>
                <a:schemeClr val="accent6">
                  <a:lumMod val="20000"/>
                  <a:lumOff val="80000"/>
                </a:schemeClr>
              </a:solidFill>
              <a:ln w="12700">
                <a:solidFill>
                  <a:schemeClr val="tx1"/>
                </a:solidFill>
              </a:ln>
            </p:spPr>
            <p:txBody>
              <a:bodyPr wrap="square" lIns="0" tIns="36000" rIns="0" bIns="36000" rtlCol="0">
                <a:spAutoFit/>
              </a:bodyPr>
              <a:lstStyle>
                <a:defPPr>
                  <a:defRPr lang="zh-CN"/>
                </a:defPPr>
                <a:lvl1pPr marL="0" algn="ctr" defTabSz="914400" rtl="0" eaLnBrk="1" latinLnBrk="0" hangingPunct="1">
                  <a:defRPr sz="2000" b="1"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22</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55" name="文本框 84">
              <a:extLst>
                <a:ext uri="{FF2B5EF4-FFF2-40B4-BE49-F238E27FC236}">
                  <a16:creationId xmlns:a16="http://schemas.microsoft.com/office/drawing/2014/main" id="{2ABFB980-4342-4D20-B8D0-0C1D9AB1A814}"/>
                </a:ext>
              </a:extLst>
            </p:cNvPr>
            <p:cNvSpPr txBox="1"/>
            <p:nvPr/>
          </p:nvSpPr>
          <p:spPr>
            <a:xfrm>
              <a:off x="6647916" y="1067070"/>
              <a:ext cx="1215742" cy="230832"/>
            </a:xfrm>
            <a:prstGeom prst="rect">
              <a:avLst/>
            </a:prstGeom>
            <a:noFill/>
          </p:spPr>
          <p:txBody>
            <a:bodyPr wrap="square" t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0    1    2    3 </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6" name="文本框 85">
              <a:extLst>
                <a:ext uri="{FF2B5EF4-FFF2-40B4-BE49-F238E27FC236}">
                  <a16:creationId xmlns:a16="http://schemas.microsoft.com/office/drawing/2014/main" id="{D0487A7C-CFEE-44AC-8AB9-7F1594C7EF79}"/>
                </a:ext>
              </a:extLst>
            </p:cNvPr>
            <p:cNvSpPr txBox="1"/>
            <p:nvPr/>
          </p:nvSpPr>
          <p:spPr>
            <a:xfrm>
              <a:off x="5870698" y="1382773"/>
              <a:ext cx="777218" cy="276999"/>
            </a:xfrm>
            <a:prstGeom prst="rect">
              <a:avLst/>
            </a:prstGeom>
            <a:noFill/>
          </p:spPr>
          <p:txBody>
            <a:bodyPr wrap="square" t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coef</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57" name="文本框 86">
              <a:extLst>
                <a:ext uri="{FF2B5EF4-FFF2-40B4-BE49-F238E27FC236}">
                  <a16:creationId xmlns:a16="http://schemas.microsoft.com/office/drawing/2014/main" id="{0758C1C0-651B-486B-9A95-222155A54E95}"/>
                </a:ext>
              </a:extLst>
            </p:cNvPr>
            <p:cNvSpPr txBox="1"/>
            <p:nvPr/>
          </p:nvSpPr>
          <p:spPr>
            <a:xfrm>
              <a:off x="5877640" y="1742673"/>
              <a:ext cx="777218" cy="276999"/>
            </a:xfrm>
            <a:prstGeom prst="rect">
              <a:avLst/>
            </a:prstGeom>
            <a:noFill/>
          </p:spPr>
          <p:txBody>
            <a:bodyPr wrap="square" t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expn</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58" name="文本框 87">
              <a:extLst>
                <a:ext uri="{FF2B5EF4-FFF2-40B4-BE49-F238E27FC236}">
                  <a16:creationId xmlns:a16="http://schemas.microsoft.com/office/drawing/2014/main" id="{5236C270-F665-402C-BB1F-87986C7C2746}"/>
                </a:ext>
              </a:extLst>
            </p:cNvPr>
            <p:cNvSpPr txBox="1"/>
            <p:nvPr/>
          </p:nvSpPr>
          <p:spPr>
            <a:xfrm>
              <a:off x="5630157" y="1057250"/>
              <a:ext cx="1017759" cy="276999"/>
            </a:xfrm>
            <a:prstGeom prst="rect">
              <a:avLst/>
            </a:prstGeom>
            <a:noFill/>
          </p:spPr>
          <p:txBody>
            <a:bodyPr wrap="square" t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term[]</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159" name="文本框 88">
              <a:extLst>
                <a:ext uri="{FF2B5EF4-FFF2-40B4-BE49-F238E27FC236}">
                  <a16:creationId xmlns:a16="http://schemas.microsoft.com/office/drawing/2014/main" id="{8C216DCA-3FA8-4B7B-B083-4C44399BDDE2}"/>
                </a:ext>
              </a:extLst>
            </p:cNvPr>
            <p:cNvSpPr txBox="1"/>
            <p:nvPr/>
          </p:nvSpPr>
          <p:spPr>
            <a:xfrm>
              <a:off x="5778871" y="600301"/>
              <a:ext cx="525569" cy="276999"/>
            </a:xfrm>
            <a:prstGeom prst="rect">
              <a:avLst/>
            </a:prstGeom>
            <a:noFill/>
          </p:spPr>
          <p:txBody>
            <a:bodyPr wrap="square" t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pc</a:t>
              </a:r>
              <a:endParaRPr kumimoji="0" lang="zh-CN" altLang="en-US" sz="1800" b="1"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cxnSp>
          <p:nvCxnSpPr>
            <p:cNvPr id="160" name="直接箭头连接符 159">
              <a:extLst>
                <a:ext uri="{FF2B5EF4-FFF2-40B4-BE49-F238E27FC236}">
                  <a16:creationId xmlns:a16="http://schemas.microsoft.com/office/drawing/2014/main" id="{20899FBB-316D-424E-912F-50892E0D7C0C}"/>
                </a:ext>
              </a:extLst>
            </p:cNvPr>
            <p:cNvCxnSpPr/>
            <p:nvPr/>
          </p:nvCxnSpPr>
          <p:spPr>
            <a:xfrm>
              <a:off x="6083378" y="882322"/>
              <a:ext cx="0" cy="230588"/>
            </a:xfrm>
            <a:prstGeom prst="straightConnector1">
              <a:avLst/>
            </a:prstGeom>
            <a:ln w="28575">
              <a:tailEnd type="triangle" w="med"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86050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wipe(left)">
                                      <p:cBhvr>
                                        <p:cTn id="7" dur="1000"/>
                                        <p:tgtEl>
                                          <p:spTgt spid="96"/>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fade">
                                      <p:cBhvr>
                                        <p:cTn id="12" dur="1000"/>
                                        <p:tgtEl>
                                          <p:spTgt spid="53"/>
                                        </p:tgtEl>
                                      </p:cBhvr>
                                    </p:animEffect>
                                    <p:anim calcmode="lin" valueType="num">
                                      <p:cBhvr>
                                        <p:cTn id="13" dur="1000" fill="hold"/>
                                        <p:tgtEl>
                                          <p:spTgt spid="53"/>
                                        </p:tgtEl>
                                        <p:attrNameLst>
                                          <p:attrName>ppt_x</p:attrName>
                                        </p:attrNameLst>
                                      </p:cBhvr>
                                      <p:tavLst>
                                        <p:tav tm="0">
                                          <p:val>
                                            <p:strVal val="#ppt_x"/>
                                          </p:val>
                                        </p:tav>
                                        <p:tav tm="100000">
                                          <p:val>
                                            <p:strVal val="#ppt_x"/>
                                          </p:val>
                                        </p:tav>
                                      </p:tavLst>
                                    </p:anim>
                                    <p:anim calcmode="lin" valueType="num">
                                      <p:cBhvr>
                                        <p:cTn id="14"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fade">
                                      <p:cBhvr>
                                        <p:cTn id="19" dur="1000"/>
                                        <p:tgtEl>
                                          <p:spTgt spid="56"/>
                                        </p:tgtEl>
                                      </p:cBhvr>
                                    </p:animEffect>
                                    <p:anim calcmode="lin" valueType="num">
                                      <p:cBhvr>
                                        <p:cTn id="20" dur="1000" fill="hold"/>
                                        <p:tgtEl>
                                          <p:spTgt spid="56"/>
                                        </p:tgtEl>
                                        <p:attrNameLst>
                                          <p:attrName>ppt_x</p:attrName>
                                        </p:attrNameLst>
                                      </p:cBhvr>
                                      <p:tavLst>
                                        <p:tav tm="0">
                                          <p:val>
                                            <p:strVal val="#ppt_x"/>
                                          </p:val>
                                        </p:tav>
                                        <p:tav tm="100000">
                                          <p:val>
                                            <p:strVal val="#ppt_x"/>
                                          </p:val>
                                        </p:tav>
                                      </p:tavLst>
                                    </p:anim>
                                    <p:anim calcmode="lin" valueType="num">
                                      <p:cBhvr>
                                        <p:cTn id="21" dur="1000" fill="hold"/>
                                        <p:tgtEl>
                                          <p:spTgt spid="56"/>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22" presetClass="exit" presetSubtype="1" fill="hold" nodeType="afterEffect">
                                  <p:stCondLst>
                                    <p:cond delay="0"/>
                                  </p:stCondLst>
                                  <p:childTnLst>
                                    <p:animEffect transition="out" filter="wipe(up)">
                                      <p:cBhvr>
                                        <p:cTn id="24" dur="500"/>
                                        <p:tgtEl>
                                          <p:spTgt spid="96"/>
                                        </p:tgtEl>
                                      </p:cBhvr>
                                    </p:animEffect>
                                    <p:set>
                                      <p:cBhvr>
                                        <p:cTn id="25" dur="1" fill="hold">
                                          <p:stCondLst>
                                            <p:cond delay="499"/>
                                          </p:stCondLst>
                                        </p:cTn>
                                        <p:tgtEl>
                                          <p:spTgt spid="96"/>
                                        </p:tgtEl>
                                        <p:attrNameLst>
                                          <p:attrName>style.visibility</p:attrName>
                                        </p:attrNameLst>
                                      </p:cBhvr>
                                      <p:to>
                                        <p:strVal val="hidden"/>
                                      </p:to>
                                    </p:se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98"/>
                                        </p:tgtEl>
                                        <p:attrNameLst>
                                          <p:attrName>style.visibility</p:attrName>
                                        </p:attrNameLst>
                                      </p:cBhvr>
                                      <p:to>
                                        <p:strVal val="visible"/>
                                      </p:to>
                                    </p:set>
                                    <p:animEffect transition="in" filter="wipe(left)">
                                      <p:cBhvr>
                                        <p:cTn id="29" dur="1000"/>
                                        <p:tgtEl>
                                          <p:spTgt spid="98"/>
                                        </p:tgtEl>
                                      </p:cBhvr>
                                    </p:animEffect>
                                  </p:childTnLst>
                                </p:cTn>
                              </p:par>
                            </p:childTnLst>
                          </p:cTn>
                        </p:par>
                      </p:childTnLst>
                    </p:cTn>
                  </p:par>
                  <p:par>
                    <p:cTn id="30" fill="hold">
                      <p:stCondLst>
                        <p:cond delay="indefinite"/>
                      </p:stCondLst>
                      <p:childTnLst>
                        <p:par>
                          <p:cTn id="31" fill="hold">
                            <p:stCondLst>
                              <p:cond delay="0"/>
                            </p:stCondLst>
                            <p:childTnLst>
                              <p:par>
                                <p:cTn id="32" presetID="47" presetClass="entr" presetSubtype="0" fill="hold" grpId="0" nodeType="clickEffect">
                                  <p:stCondLst>
                                    <p:cond delay="0"/>
                                  </p:stCondLst>
                                  <p:childTnLst>
                                    <p:set>
                                      <p:cBhvr>
                                        <p:cTn id="33" dur="1" fill="hold">
                                          <p:stCondLst>
                                            <p:cond delay="0"/>
                                          </p:stCondLst>
                                        </p:cTn>
                                        <p:tgtEl>
                                          <p:spTgt spid="105"/>
                                        </p:tgtEl>
                                        <p:attrNameLst>
                                          <p:attrName>style.visibility</p:attrName>
                                        </p:attrNameLst>
                                      </p:cBhvr>
                                      <p:to>
                                        <p:strVal val="visible"/>
                                      </p:to>
                                    </p:set>
                                    <p:animEffect transition="in" filter="fade">
                                      <p:cBhvr>
                                        <p:cTn id="34" dur="1000"/>
                                        <p:tgtEl>
                                          <p:spTgt spid="105"/>
                                        </p:tgtEl>
                                      </p:cBhvr>
                                    </p:animEffect>
                                    <p:anim calcmode="lin" valueType="num">
                                      <p:cBhvr>
                                        <p:cTn id="35" dur="1000" fill="hold"/>
                                        <p:tgtEl>
                                          <p:spTgt spid="105"/>
                                        </p:tgtEl>
                                        <p:attrNameLst>
                                          <p:attrName>ppt_x</p:attrName>
                                        </p:attrNameLst>
                                      </p:cBhvr>
                                      <p:tavLst>
                                        <p:tav tm="0">
                                          <p:val>
                                            <p:strVal val="#ppt_x"/>
                                          </p:val>
                                        </p:tav>
                                        <p:tav tm="100000">
                                          <p:val>
                                            <p:strVal val="#ppt_x"/>
                                          </p:val>
                                        </p:tav>
                                      </p:tavLst>
                                    </p:anim>
                                    <p:anim calcmode="lin" valueType="num">
                                      <p:cBhvr>
                                        <p:cTn id="36" dur="1000" fill="hold"/>
                                        <p:tgtEl>
                                          <p:spTgt spid="105"/>
                                        </p:tgtEl>
                                        <p:attrNameLst>
                                          <p:attrName>ppt_y</p:attrName>
                                        </p:attrNameLst>
                                      </p:cBhvr>
                                      <p:tavLst>
                                        <p:tav tm="0">
                                          <p:val>
                                            <p:strVal val="#ppt_y-.1"/>
                                          </p:val>
                                        </p:tav>
                                        <p:tav tm="100000">
                                          <p:val>
                                            <p:strVal val="#ppt_y"/>
                                          </p:val>
                                        </p:tav>
                                      </p:tavLst>
                                    </p:anim>
                                  </p:childTnLst>
                                </p:cTn>
                              </p:par>
                            </p:childTnLst>
                          </p:cTn>
                        </p:par>
                        <p:par>
                          <p:cTn id="37" fill="hold">
                            <p:stCondLst>
                              <p:cond delay="1000"/>
                            </p:stCondLst>
                            <p:childTnLst>
                              <p:par>
                                <p:cTn id="38" presetID="47" presetClass="entr" presetSubtype="0" fill="hold" grpId="0" nodeType="afterEffect">
                                  <p:stCondLst>
                                    <p:cond delay="0"/>
                                  </p:stCondLst>
                                  <p:childTnLst>
                                    <p:set>
                                      <p:cBhvr>
                                        <p:cTn id="39" dur="1" fill="hold">
                                          <p:stCondLst>
                                            <p:cond delay="0"/>
                                          </p:stCondLst>
                                        </p:cTn>
                                        <p:tgtEl>
                                          <p:spTgt spid="106"/>
                                        </p:tgtEl>
                                        <p:attrNameLst>
                                          <p:attrName>style.visibility</p:attrName>
                                        </p:attrNameLst>
                                      </p:cBhvr>
                                      <p:to>
                                        <p:strVal val="visible"/>
                                      </p:to>
                                    </p:set>
                                    <p:animEffect transition="in" filter="fade">
                                      <p:cBhvr>
                                        <p:cTn id="40" dur="1000"/>
                                        <p:tgtEl>
                                          <p:spTgt spid="106"/>
                                        </p:tgtEl>
                                      </p:cBhvr>
                                    </p:animEffect>
                                    <p:anim calcmode="lin" valueType="num">
                                      <p:cBhvr>
                                        <p:cTn id="41" dur="1000" fill="hold"/>
                                        <p:tgtEl>
                                          <p:spTgt spid="106"/>
                                        </p:tgtEl>
                                        <p:attrNameLst>
                                          <p:attrName>ppt_x</p:attrName>
                                        </p:attrNameLst>
                                      </p:cBhvr>
                                      <p:tavLst>
                                        <p:tav tm="0">
                                          <p:val>
                                            <p:strVal val="#ppt_x"/>
                                          </p:val>
                                        </p:tav>
                                        <p:tav tm="100000">
                                          <p:val>
                                            <p:strVal val="#ppt_x"/>
                                          </p:val>
                                        </p:tav>
                                      </p:tavLst>
                                    </p:anim>
                                    <p:anim calcmode="lin" valueType="num">
                                      <p:cBhvr>
                                        <p:cTn id="42" dur="1000" fill="hold"/>
                                        <p:tgtEl>
                                          <p:spTgt spid="106"/>
                                        </p:tgtEl>
                                        <p:attrNameLst>
                                          <p:attrName>ppt_y</p:attrName>
                                        </p:attrNameLst>
                                      </p:cBhvr>
                                      <p:tavLst>
                                        <p:tav tm="0">
                                          <p:val>
                                            <p:strVal val="#ppt_y-.1"/>
                                          </p:val>
                                        </p:tav>
                                        <p:tav tm="100000">
                                          <p:val>
                                            <p:strVal val="#ppt_y"/>
                                          </p:val>
                                        </p:tav>
                                      </p:tavLst>
                                    </p:anim>
                                  </p:childTnLst>
                                </p:cTn>
                              </p:par>
                            </p:childTnLst>
                          </p:cTn>
                        </p:par>
                        <p:par>
                          <p:cTn id="43" fill="hold">
                            <p:stCondLst>
                              <p:cond delay="2000"/>
                            </p:stCondLst>
                            <p:childTnLst>
                              <p:par>
                                <p:cTn id="44" presetID="47" presetClass="entr" presetSubtype="0" fill="hold" grpId="0" nodeType="afterEffect">
                                  <p:stCondLst>
                                    <p:cond delay="0"/>
                                  </p:stCondLst>
                                  <p:childTnLst>
                                    <p:set>
                                      <p:cBhvr>
                                        <p:cTn id="45" dur="1" fill="hold">
                                          <p:stCondLst>
                                            <p:cond delay="0"/>
                                          </p:stCondLst>
                                        </p:cTn>
                                        <p:tgtEl>
                                          <p:spTgt spid="107"/>
                                        </p:tgtEl>
                                        <p:attrNameLst>
                                          <p:attrName>style.visibility</p:attrName>
                                        </p:attrNameLst>
                                      </p:cBhvr>
                                      <p:to>
                                        <p:strVal val="visible"/>
                                      </p:to>
                                    </p:set>
                                    <p:animEffect transition="in" filter="fade">
                                      <p:cBhvr>
                                        <p:cTn id="46" dur="1000"/>
                                        <p:tgtEl>
                                          <p:spTgt spid="107"/>
                                        </p:tgtEl>
                                      </p:cBhvr>
                                    </p:animEffect>
                                    <p:anim calcmode="lin" valueType="num">
                                      <p:cBhvr>
                                        <p:cTn id="47" dur="1000" fill="hold"/>
                                        <p:tgtEl>
                                          <p:spTgt spid="107"/>
                                        </p:tgtEl>
                                        <p:attrNameLst>
                                          <p:attrName>ppt_x</p:attrName>
                                        </p:attrNameLst>
                                      </p:cBhvr>
                                      <p:tavLst>
                                        <p:tav tm="0">
                                          <p:val>
                                            <p:strVal val="#ppt_x"/>
                                          </p:val>
                                        </p:tav>
                                        <p:tav tm="100000">
                                          <p:val>
                                            <p:strVal val="#ppt_x"/>
                                          </p:val>
                                        </p:tav>
                                      </p:tavLst>
                                    </p:anim>
                                    <p:anim calcmode="lin" valueType="num">
                                      <p:cBhvr>
                                        <p:cTn id="48" dur="1000" fill="hold"/>
                                        <p:tgtEl>
                                          <p:spTgt spid="107"/>
                                        </p:tgtEl>
                                        <p:attrNameLst>
                                          <p:attrName>ppt_y</p:attrName>
                                        </p:attrNameLst>
                                      </p:cBhvr>
                                      <p:tavLst>
                                        <p:tav tm="0">
                                          <p:val>
                                            <p:strVal val="#ppt_y-.1"/>
                                          </p:val>
                                        </p:tav>
                                        <p:tav tm="100000">
                                          <p:val>
                                            <p:strVal val="#ppt_y"/>
                                          </p:val>
                                        </p:tav>
                                      </p:tavLst>
                                    </p:anim>
                                  </p:childTnLst>
                                </p:cTn>
                              </p:par>
                            </p:childTnLst>
                          </p:cTn>
                        </p:par>
                        <p:par>
                          <p:cTn id="49" fill="hold">
                            <p:stCondLst>
                              <p:cond delay="3000"/>
                            </p:stCondLst>
                            <p:childTnLst>
                              <p:par>
                                <p:cTn id="50" presetID="22" presetClass="exit" presetSubtype="1" fill="hold" nodeType="afterEffect">
                                  <p:stCondLst>
                                    <p:cond delay="0"/>
                                  </p:stCondLst>
                                  <p:childTnLst>
                                    <p:animEffect transition="out" filter="wipe(up)">
                                      <p:cBhvr>
                                        <p:cTn id="51" dur="500"/>
                                        <p:tgtEl>
                                          <p:spTgt spid="98"/>
                                        </p:tgtEl>
                                      </p:cBhvr>
                                    </p:animEffect>
                                    <p:set>
                                      <p:cBhvr>
                                        <p:cTn id="52" dur="1" fill="hold">
                                          <p:stCondLst>
                                            <p:cond delay="499"/>
                                          </p:stCondLst>
                                        </p:cTn>
                                        <p:tgtEl>
                                          <p:spTgt spid="98"/>
                                        </p:tgtEl>
                                        <p:attrNameLst>
                                          <p:attrName>style.visibility</p:attrName>
                                        </p:attrNameLst>
                                      </p:cBhvr>
                                      <p:to>
                                        <p:strVal val="hidden"/>
                                      </p:to>
                                    </p:set>
                                  </p:childTnLst>
                                </p:cTn>
                              </p:par>
                            </p:childTnLst>
                          </p:cTn>
                        </p:par>
                        <p:par>
                          <p:cTn id="53" fill="hold">
                            <p:stCondLst>
                              <p:cond delay="3500"/>
                            </p:stCondLst>
                            <p:childTnLst>
                              <p:par>
                                <p:cTn id="54" presetID="22" presetClass="entr" presetSubtype="8" fill="hold" nodeType="afterEffect">
                                  <p:stCondLst>
                                    <p:cond delay="0"/>
                                  </p:stCondLst>
                                  <p:childTnLst>
                                    <p:set>
                                      <p:cBhvr>
                                        <p:cTn id="55" dur="1" fill="hold">
                                          <p:stCondLst>
                                            <p:cond delay="0"/>
                                          </p:stCondLst>
                                        </p:cTn>
                                        <p:tgtEl>
                                          <p:spTgt spid="108"/>
                                        </p:tgtEl>
                                        <p:attrNameLst>
                                          <p:attrName>style.visibility</p:attrName>
                                        </p:attrNameLst>
                                      </p:cBhvr>
                                      <p:to>
                                        <p:strVal val="visible"/>
                                      </p:to>
                                    </p:set>
                                    <p:animEffect transition="in" filter="wipe(left)">
                                      <p:cBhvr>
                                        <p:cTn id="56" dur="1000"/>
                                        <p:tgtEl>
                                          <p:spTgt spid="108"/>
                                        </p:tgtEl>
                                      </p:cBhvr>
                                    </p:animEffect>
                                  </p:childTnLst>
                                </p:cTn>
                              </p:par>
                            </p:childTnLst>
                          </p:cTn>
                        </p:par>
                      </p:childTnLst>
                    </p:cTn>
                  </p:par>
                  <p:par>
                    <p:cTn id="57" fill="hold">
                      <p:stCondLst>
                        <p:cond delay="indefinite"/>
                      </p:stCondLst>
                      <p:childTnLst>
                        <p:par>
                          <p:cTn id="58" fill="hold">
                            <p:stCondLst>
                              <p:cond delay="0"/>
                            </p:stCondLst>
                            <p:childTnLst>
                              <p:par>
                                <p:cTn id="59" presetID="47" presetClass="entr" presetSubtype="0" fill="hold" grpId="0" nodeType="clickEffect">
                                  <p:stCondLst>
                                    <p:cond delay="0"/>
                                  </p:stCondLst>
                                  <p:childTnLst>
                                    <p:set>
                                      <p:cBhvr>
                                        <p:cTn id="60" dur="1" fill="hold">
                                          <p:stCondLst>
                                            <p:cond delay="0"/>
                                          </p:stCondLst>
                                        </p:cTn>
                                        <p:tgtEl>
                                          <p:spTgt spid="101"/>
                                        </p:tgtEl>
                                        <p:attrNameLst>
                                          <p:attrName>style.visibility</p:attrName>
                                        </p:attrNameLst>
                                      </p:cBhvr>
                                      <p:to>
                                        <p:strVal val="visible"/>
                                      </p:to>
                                    </p:set>
                                    <p:animEffect transition="in" filter="fade">
                                      <p:cBhvr>
                                        <p:cTn id="61" dur="1000"/>
                                        <p:tgtEl>
                                          <p:spTgt spid="101"/>
                                        </p:tgtEl>
                                      </p:cBhvr>
                                    </p:animEffect>
                                    <p:anim calcmode="lin" valueType="num">
                                      <p:cBhvr>
                                        <p:cTn id="62" dur="1000" fill="hold"/>
                                        <p:tgtEl>
                                          <p:spTgt spid="101"/>
                                        </p:tgtEl>
                                        <p:attrNameLst>
                                          <p:attrName>ppt_x</p:attrName>
                                        </p:attrNameLst>
                                      </p:cBhvr>
                                      <p:tavLst>
                                        <p:tav tm="0">
                                          <p:val>
                                            <p:strVal val="#ppt_x"/>
                                          </p:val>
                                        </p:tav>
                                        <p:tav tm="100000">
                                          <p:val>
                                            <p:strVal val="#ppt_x"/>
                                          </p:val>
                                        </p:tav>
                                      </p:tavLst>
                                    </p:anim>
                                    <p:anim calcmode="lin" valueType="num">
                                      <p:cBhvr>
                                        <p:cTn id="63" dur="1000" fill="hold"/>
                                        <p:tgtEl>
                                          <p:spTgt spid="101"/>
                                        </p:tgtEl>
                                        <p:attrNameLst>
                                          <p:attrName>ppt_y</p:attrName>
                                        </p:attrNameLst>
                                      </p:cBhvr>
                                      <p:tavLst>
                                        <p:tav tm="0">
                                          <p:val>
                                            <p:strVal val="#ppt_y-.1"/>
                                          </p:val>
                                        </p:tav>
                                        <p:tav tm="100000">
                                          <p:val>
                                            <p:strVal val="#ppt_y"/>
                                          </p:val>
                                        </p:tav>
                                      </p:tavLst>
                                    </p:anim>
                                  </p:childTnLst>
                                </p:cTn>
                              </p:par>
                            </p:childTnLst>
                          </p:cTn>
                        </p:par>
                        <p:par>
                          <p:cTn id="64" fill="hold">
                            <p:stCondLst>
                              <p:cond delay="1000"/>
                            </p:stCondLst>
                            <p:childTnLst>
                              <p:par>
                                <p:cTn id="65" presetID="47" presetClass="entr" presetSubtype="0" fill="hold" grpId="0" nodeType="afterEffect">
                                  <p:stCondLst>
                                    <p:cond delay="0"/>
                                  </p:stCondLst>
                                  <p:childTnLst>
                                    <p:set>
                                      <p:cBhvr>
                                        <p:cTn id="66" dur="1" fill="hold">
                                          <p:stCondLst>
                                            <p:cond delay="0"/>
                                          </p:stCondLst>
                                        </p:cTn>
                                        <p:tgtEl>
                                          <p:spTgt spid="103"/>
                                        </p:tgtEl>
                                        <p:attrNameLst>
                                          <p:attrName>style.visibility</p:attrName>
                                        </p:attrNameLst>
                                      </p:cBhvr>
                                      <p:to>
                                        <p:strVal val="visible"/>
                                      </p:to>
                                    </p:set>
                                    <p:animEffect transition="in" filter="fade">
                                      <p:cBhvr>
                                        <p:cTn id="67" dur="1000"/>
                                        <p:tgtEl>
                                          <p:spTgt spid="103"/>
                                        </p:tgtEl>
                                      </p:cBhvr>
                                    </p:animEffect>
                                    <p:anim calcmode="lin" valueType="num">
                                      <p:cBhvr>
                                        <p:cTn id="68" dur="1000" fill="hold"/>
                                        <p:tgtEl>
                                          <p:spTgt spid="103"/>
                                        </p:tgtEl>
                                        <p:attrNameLst>
                                          <p:attrName>ppt_x</p:attrName>
                                        </p:attrNameLst>
                                      </p:cBhvr>
                                      <p:tavLst>
                                        <p:tav tm="0">
                                          <p:val>
                                            <p:strVal val="#ppt_x"/>
                                          </p:val>
                                        </p:tav>
                                        <p:tav tm="100000">
                                          <p:val>
                                            <p:strVal val="#ppt_x"/>
                                          </p:val>
                                        </p:tav>
                                      </p:tavLst>
                                    </p:anim>
                                    <p:anim calcmode="lin" valueType="num">
                                      <p:cBhvr>
                                        <p:cTn id="69" dur="1000" fill="hold"/>
                                        <p:tgtEl>
                                          <p:spTgt spid="103"/>
                                        </p:tgtEl>
                                        <p:attrNameLst>
                                          <p:attrName>ppt_y</p:attrName>
                                        </p:attrNameLst>
                                      </p:cBhvr>
                                      <p:tavLst>
                                        <p:tav tm="0">
                                          <p:val>
                                            <p:strVal val="#ppt_y-.1"/>
                                          </p:val>
                                        </p:tav>
                                        <p:tav tm="100000">
                                          <p:val>
                                            <p:strVal val="#ppt_y"/>
                                          </p:val>
                                        </p:tav>
                                      </p:tavLst>
                                    </p:anim>
                                  </p:childTnLst>
                                </p:cTn>
                              </p:par>
                            </p:childTnLst>
                          </p:cTn>
                        </p:par>
                        <p:par>
                          <p:cTn id="70" fill="hold">
                            <p:stCondLst>
                              <p:cond delay="2000"/>
                            </p:stCondLst>
                            <p:childTnLst>
                              <p:par>
                                <p:cTn id="71" presetID="22" presetClass="exit" presetSubtype="1" fill="hold" nodeType="afterEffect">
                                  <p:stCondLst>
                                    <p:cond delay="0"/>
                                  </p:stCondLst>
                                  <p:childTnLst>
                                    <p:animEffect transition="out" filter="wipe(up)">
                                      <p:cBhvr>
                                        <p:cTn id="72" dur="500"/>
                                        <p:tgtEl>
                                          <p:spTgt spid="108"/>
                                        </p:tgtEl>
                                      </p:cBhvr>
                                    </p:animEffect>
                                    <p:set>
                                      <p:cBhvr>
                                        <p:cTn id="73" dur="1" fill="hold">
                                          <p:stCondLst>
                                            <p:cond delay="499"/>
                                          </p:stCondLst>
                                        </p:cTn>
                                        <p:tgtEl>
                                          <p:spTgt spid="108"/>
                                        </p:tgtEl>
                                        <p:attrNameLst>
                                          <p:attrName>style.visibility</p:attrName>
                                        </p:attrNameLst>
                                      </p:cBhvr>
                                      <p:to>
                                        <p:strVal val="hidden"/>
                                      </p:to>
                                    </p:set>
                                  </p:childTnLst>
                                </p:cTn>
                              </p:par>
                            </p:childTnLst>
                          </p:cTn>
                        </p:par>
                        <p:par>
                          <p:cTn id="74" fill="hold">
                            <p:stCondLst>
                              <p:cond delay="2500"/>
                            </p:stCondLst>
                            <p:childTnLst>
                              <p:par>
                                <p:cTn id="75" presetID="22" presetClass="entr" presetSubtype="8" fill="hold" nodeType="afterEffect">
                                  <p:stCondLst>
                                    <p:cond delay="0"/>
                                  </p:stCondLst>
                                  <p:childTnLst>
                                    <p:set>
                                      <p:cBhvr>
                                        <p:cTn id="76" dur="1" fill="hold">
                                          <p:stCondLst>
                                            <p:cond delay="0"/>
                                          </p:stCondLst>
                                        </p:cTn>
                                        <p:tgtEl>
                                          <p:spTgt spid="110"/>
                                        </p:tgtEl>
                                        <p:attrNameLst>
                                          <p:attrName>style.visibility</p:attrName>
                                        </p:attrNameLst>
                                      </p:cBhvr>
                                      <p:to>
                                        <p:strVal val="visible"/>
                                      </p:to>
                                    </p:set>
                                    <p:animEffect transition="in" filter="wipe(left)">
                                      <p:cBhvr>
                                        <p:cTn id="77" dur="1000"/>
                                        <p:tgtEl>
                                          <p:spTgt spid="110"/>
                                        </p:tgtEl>
                                      </p:cBhvr>
                                    </p:animEffect>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59"/>
                                        </p:tgtEl>
                                        <p:attrNameLst>
                                          <p:attrName>style.visibility</p:attrName>
                                        </p:attrNameLst>
                                      </p:cBhvr>
                                      <p:to>
                                        <p:strVal val="visible"/>
                                      </p:to>
                                    </p:set>
                                    <p:animEffect transition="in" filter="fade">
                                      <p:cBhvr>
                                        <p:cTn id="82" dur="1000"/>
                                        <p:tgtEl>
                                          <p:spTgt spid="59"/>
                                        </p:tgtEl>
                                      </p:cBhvr>
                                    </p:animEffect>
                                    <p:anim calcmode="lin" valueType="num">
                                      <p:cBhvr>
                                        <p:cTn id="83" dur="1000" fill="hold"/>
                                        <p:tgtEl>
                                          <p:spTgt spid="59"/>
                                        </p:tgtEl>
                                        <p:attrNameLst>
                                          <p:attrName>ppt_x</p:attrName>
                                        </p:attrNameLst>
                                      </p:cBhvr>
                                      <p:tavLst>
                                        <p:tav tm="0">
                                          <p:val>
                                            <p:strVal val="#ppt_x"/>
                                          </p:val>
                                        </p:tav>
                                        <p:tav tm="100000">
                                          <p:val>
                                            <p:strVal val="#ppt_x"/>
                                          </p:val>
                                        </p:tav>
                                      </p:tavLst>
                                    </p:anim>
                                    <p:anim calcmode="lin" valueType="num">
                                      <p:cBhvr>
                                        <p:cTn id="84" dur="1000" fill="hold"/>
                                        <p:tgtEl>
                                          <p:spTgt spid="59"/>
                                        </p:tgtEl>
                                        <p:attrNameLst>
                                          <p:attrName>ppt_y</p:attrName>
                                        </p:attrNameLst>
                                      </p:cBhvr>
                                      <p:tavLst>
                                        <p:tav tm="0">
                                          <p:val>
                                            <p:strVal val="#ppt_y+.1"/>
                                          </p:val>
                                        </p:tav>
                                        <p:tav tm="100000">
                                          <p:val>
                                            <p:strVal val="#ppt_y"/>
                                          </p:val>
                                        </p:tav>
                                      </p:tavLst>
                                    </p:anim>
                                  </p:childTnLst>
                                </p:cTn>
                              </p:par>
                            </p:childTnLst>
                          </p:cTn>
                        </p:par>
                        <p:par>
                          <p:cTn id="85" fill="hold">
                            <p:stCondLst>
                              <p:cond delay="1000"/>
                            </p:stCondLst>
                            <p:childTnLst>
                              <p:par>
                                <p:cTn id="86" presetID="22" presetClass="exit" presetSubtype="1" fill="hold" nodeType="afterEffect">
                                  <p:stCondLst>
                                    <p:cond delay="0"/>
                                  </p:stCondLst>
                                  <p:childTnLst>
                                    <p:animEffect transition="out" filter="wipe(up)">
                                      <p:cBhvr>
                                        <p:cTn id="87" dur="500"/>
                                        <p:tgtEl>
                                          <p:spTgt spid="110"/>
                                        </p:tgtEl>
                                      </p:cBhvr>
                                    </p:animEffect>
                                    <p:set>
                                      <p:cBhvr>
                                        <p:cTn id="88" dur="1" fill="hold">
                                          <p:stCondLst>
                                            <p:cond delay="499"/>
                                          </p:stCondLst>
                                        </p:cTn>
                                        <p:tgtEl>
                                          <p:spTgt spid="110"/>
                                        </p:tgtEl>
                                        <p:attrNameLst>
                                          <p:attrName>style.visibility</p:attrName>
                                        </p:attrNameLst>
                                      </p:cBhvr>
                                      <p:to>
                                        <p:strVal val="hidden"/>
                                      </p:to>
                                    </p:set>
                                  </p:childTnLst>
                                </p:cTn>
                              </p:par>
                            </p:childTnLst>
                          </p:cTn>
                        </p:par>
                        <p:par>
                          <p:cTn id="89" fill="hold">
                            <p:stCondLst>
                              <p:cond delay="1500"/>
                            </p:stCondLst>
                            <p:childTnLst>
                              <p:par>
                                <p:cTn id="90" presetID="16" presetClass="entr" presetSubtype="26" fill="hold" grpId="0" nodeType="afterEffect">
                                  <p:stCondLst>
                                    <p:cond delay="0"/>
                                  </p:stCondLst>
                                  <p:childTnLst>
                                    <p:set>
                                      <p:cBhvr>
                                        <p:cTn id="91" dur="1" fill="hold">
                                          <p:stCondLst>
                                            <p:cond delay="0"/>
                                          </p:stCondLst>
                                        </p:cTn>
                                        <p:tgtEl>
                                          <p:spTgt spid="112"/>
                                        </p:tgtEl>
                                        <p:attrNameLst>
                                          <p:attrName>style.visibility</p:attrName>
                                        </p:attrNameLst>
                                      </p:cBhvr>
                                      <p:to>
                                        <p:strVal val="visible"/>
                                      </p:to>
                                    </p:set>
                                    <p:animEffect transition="in" filter="barn(inHorizontal)">
                                      <p:cBhvr>
                                        <p:cTn id="92" dur="1000"/>
                                        <p:tgtEl>
                                          <p:spTgt spid="112"/>
                                        </p:tgtEl>
                                      </p:cBhvr>
                                    </p:animEffect>
                                  </p:childTnLst>
                                </p:cTn>
                              </p:par>
                            </p:childTnLst>
                          </p:cTn>
                        </p:par>
                        <p:par>
                          <p:cTn id="93" fill="hold">
                            <p:stCondLst>
                              <p:cond delay="2500"/>
                            </p:stCondLst>
                            <p:childTnLst>
                              <p:par>
                                <p:cTn id="94" presetID="22" presetClass="entr" presetSubtype="8" fill="hold" nodeType="afterEffect">
                                  <p:stCondLst>
                                    <p:cond delay="0"/>
                                  </p:stCondLst>
                                  <p:childTnLst>
                                    <p:set>
                                      <p:cBhvr>
                                        <p:cTn id="95" dur="1" fill="hold">
                                          <p:stCondLst>
                                            <p:cond delay="0"/>
                                          </p:stCondLst>
                                        </p:cTn>
                                        <p:tgtEl>
                                          <p:spTgt spid="115"/>
                                        </p:tgtEl>
                                        <p:attrNameLst>
                                          <p:attrName>style.visibility</p:attrName>
                                        </p:attrNameLst>
                                      </p:cBhvr>
                                      <p:to>
                                        <p:strVal val="visible"/>
                                      </p:to>
                                    </p:set>
                                    <p:animEffect transition="in" filter="wipe(left)">
                                      <p:cBhvr>
                                        <p:cTn id="96" dur="1000"/>
                                        <p:tgtEl>
                                          <p:spTgt spid="115"/>
                                        </p:tgtEl>
                                      </p:cBhvr>
                                    </p:animEffect>
                                  </p:childTnLst>
                                </p:cTn>
                              </p:par>
                            </p:childTnLst>
                          </p:cTn>
                        </p:par>
                      </p:childTnLst>
                    </p:cTn>
                  </p:par>
                  <p:par>
                    <p:cTn id="97" fill="hold">
                      <p:stCondLst>
                        <p:cond delay="indefinite"/>
                      </p:stCondLst>
                      <p:childTnLst>
                        <p:par>
                          <p:cTn id="98" fill="hold">
                            <p:stCondLst>
                              <p:cond delay="0"/>
                            </p:stCondLst>
                            <p:childTnLst>
                              <p:par>
                                <p:cTn id="99" presetID="31" presetClass="entr" presetSubtype="0" fill="hold" grpId="0" nodeType="clickEffect">
                                  <p:stCondLst>
                                    <p:cond delay="0"/>
                                  </p:stCondLst>
                                  <p:childTnLst>
                                    <p:set>
                                      <p:cBhvr>
                                        <p:cTn id="100" dur="1" fill="hold">
                                          <p:stCondLst>
                                            <p:cond delay="0"/>
                                          </p:stCondLst>
                                        </p:cTn>
                                        <p:tgtEl>
                                          <p:spTgt spid="113"/>
                                        </p:tgtEl>
                                        <p:attrNameLst>
                                          <p:attrName>style.visibility</p:attrName>
                                        </p:attrNameLst>
                                      </p:cBhvr>
                                      <p:to>
                                        <p:strVal val="visible"/>
                                      </p:to>
                                    </p:set>
                                    <p:anim calcmode="lin" valueType="num">
                                      <p:cBhvr>
                                        <p:cTn id="101" dur="1000" fill="hold"/>
                                        <p:tgtEl>
                                          <p:spTgt spid="113"/>
                                        </p:tgtEl>
                                        <p:attrNameLst>
                                          <p:attrName>ppt_w</p:attrName>
                                        </p:attrNameLst>
                                      </p:cBhvr>
                                      <p:tavLst>
                                        <p:tav tm="0">
                                          <p:val>
                                            <p:fltVal val="0"/>
                                          </p:val>
                                        </p:tav>
                                        <p:tav tm="100000">
                                          <p:val>
                                            <p:strVal val="#ppt_w"/>
                                          </p:val>
                                        </p:tav>
                                      </p:tavLst>
                                    </p:anim>
                                    <p:anim calcmode="lin" valueType="num">
                                      <p:cBhvr>
                                        <p:cTn id="102" dur="1000" fill="hold"/>
                                        <p:tgtEl>
                                          <p:spTgt spid="113"/>
                                        </p:tgtEl>
                                        <p:attrNameLst>
                                          <p:attrName>ppt_h</p:attrName>
                                        </p:attrNameLst>
                                      </p:cBhvr>
                                      <p:tavLst>
                                        <p:tav tm="0">
                                          <p:val>
                                            <p:fltVal val="0"/>
                                          </p:val>
                                        </p:tav>
                                        <p:tav tm="100000">
                                          <p:val>
                                            <p:strVal val="#ppt_h"/>
                                          </p:val>
                                        </p:tav>
                                      </p:tavLst>
                                    </p:anim>
                                    <p:anim calcmode="lin" valueType="num">
                                      <p:cBhvr>
                                        <p:cTn id="103" dur="1000" fill="hold"/>
                                        <p:tgtEl>
                                          <p:spTgt spid="113"/>
                                        </p:tgtEl>
                                        <p:attrNameLst>
                                          <p:attrName>style.rotation</p:attrName>
                                        </p:attrNameLst>
                                      </p:cBhvr>
                                      <p:tavLst>
                                        <p:tav tm="0">
                                          <p:val>
                                            <p:fltVal val="90"/>
                                          </p:val>
                                        </p:tav>
                                        <p:tav tm="100000">
                                          <p:val>
                                            <p:fltVal val="0"/>
                                          </p:val>
                                        </p:tav>
                                      </p:tavLst>
                                    </p:anim>
                                    <p:animEffect transition="in" filter="fade">
                                      <p:cBhvr>
                                        <p:cTn id="104" dur="1000"/>
                                        <p:tgtEl>
                                          <p:spTgt spid="113"/>
                                        </p:tgtEl>
                                      </p:cBhvr>
                                    </p:animEffect>
                                  </p:childTnLst>
                                </p:cTn>
                              </p:par>
                              <p:par>
                                <p:cTn id="105" presetID="31" presetClass="entr" presetSubtype="0" fill="hold" grpId="0" nodeType="withEffect">
                                  <p:stCondLst>
                                    <p:cond delay="0"/>
                                  </p:stCondLst>
                                  <p:childTnLst>
                                    <p:set>
                                      <p:cBhvr>
                                        <p:cTn id="106" dur="1" fill="hold">
                                          <p:stCondLst>
                                            <p:cond delay="0"/>
                                          </p:stCondLst>
                                        </p:cTn>
                                        <p:tgtEl>
                                          <p:spTgt spid="114"/>
                                        </p:tgtEl>
                                        <p:attrNameLst>
                                          <p:attrName>style.visibility</p:attrName>
                                        </p:attrNameLst>
                                      </p:cBhvr>
                                      <p:to>
                                        <p:strVal val="visible"/>
                                      </p:to>
                                    </p:set>
                                    <p:anim calcmode="lin" valueType="num">
                                      <p:cBhvr>
                                        <p:cTn id="107" dur="1000" fill="hold"/>
                                        <p:tgtEl>
                                          <p:spTgt spid="114"/>
                                        </p:tgtEl>
                                        <p:attrNameLst>
                                          <p:attrName>ppt_w</p:attrName>
                                        </p:attrNameLst>
                                      </p:cBhvr>
                                      <p:tavLst>
                                        <p:tav tm="0">
                                          <p:val>
                                            <p:fltVal val="0"/>
                                          </p:val>
                                        </p:tav>
                                        <p:tav tm="100000">
                                          <p:val>
                                            <p:strVal val="#ppt_w"/>
                                          </p:val>
                                        </p:tav>
                                      </p:tavLst>
                                    </p:anim>
                                    <p:anim calcmode="lin" valueType="num">
                                      <p:cBhvr>
                                        <p:cTn id="108" dur="1000" fill="hold"/>
                                        <p:tgtEl>
                                          <p:spTgt spid="114"/>
                                        </p:tgtEl>
                                        <p:attrNameLst>
                                          <p:attrName>ppt_h</p:attrName>
                                        </p:attrNameLst>
                                      </p:cBhvr>
                                      <p:tavLst>
                                        <p:tav tm="0">
                                          <p:val>
                                            <p:fltVal val="0"/>
                                          </p:val>
                                        </p:tav>
                                        <p:tav tm="100000">
                                          <p:val>
                                            <p:strVal val="#ppt_h"/>
                                          </p:val>
                                        </p:tav>
                                      </p:tavLst>
                                    </p:anim>
                                    <p:anim calcmode="lin" valueType="num">
                                      <p:cBhvr>
                                        <p:cTn id="109" dur="1000" fill="hold"/>
                                        <p:tgtEl>
                                          <p:spTgt spid="114"/>
                                        </p:tgtEl>
                                        <p:attrNameLst>
                                          <p:attrName>style.rotation</p:attrName>
                                        </p:attrNameLst>
                                      </p:cBhvr>
                                      <p:tavLst>
                                        <p:tav tm="0">
                                          <p:val>
                                            <p:fltVal val="90"/>
                                          </p:val>
                                        </p:tav>
                                        <p:tav tm="100000">
                                          <p:val>
                                            <p:fltVal val="0"/>
                                          </p:val>
                                        </p:tav>
                                      </p:tavLst>
                                    </p:anim>
                                    <p:animEffect transition="in" filter="fade">
                                      <p:cBhvr>
                                        <p:cTn id="110" dur="1000"/>
                                        <p:tgtEl>
                                          <p:spTgt spid="114"/>
                                        </p:tgtEl>
                                      </p:cBhvr>
                                    </p:animEffect>
                                  </p:childTnLst>
                                </p:cTn>
                              </p:par>
                            </p:childTnLst>
                          </p:cTn>
                        </p:par>
                        <p:par>
                          <p:cTn id="111" fill="hold">
                            <p:stCondLst>
                              <p:cond delay="1000"/>
                            </p:stCondLst>
                            <p:childTnLst>
                              <p:par>
                                <p:cTn id="112" presetID="35" presetClass="path" presetSubtype="0" accel="50000" decel="50000" fill="hold" grpId="1" nodeType="afterEffect">
                                  <p:stCondLst>
                                    <p:cond delay="0"/>
                                  </p:stCondLst>
                                  <p:childTnLst>
                                    <p:animMotion origin="layout" path="M 4.79167E-6 2.96296E-6 L -0.71472 0.09352 " pathEditMode="relative" rAng="0" ptsTypes="AA">
                                      <p:cBhvr>
                                        <p:cTn id="113" dur="2000" fill="hold"/>
                                        <p:tgtEl>
                                          <p:spTgt spid="113"/>
                                        </p:tgtEl>
                                        <p:attrNameLst>
                                          <p:attrName>ppt_x</p:attrName>
                                          <p:attrName>ppt_y</p:attrName>
                                        </p:attrNameLst>
                                      </p:cBhvr>
                                      <p:rCtr x="-35742" y="4676"/>
                                    </p:animMotion>
                                  </p:childTnLst>
                                </p:cTn>
                              </p:par>
                              <p:par>
                                <p:cTn id="114" presetID="35" presetClass="path" presetSubtype="0" accel="50000" decel="50000" fill="hold" grpId="1" nodeType="withEffect">
                                  <p:stCondLst>
                                    <p:cond delay="0"/>
                                  </p:stCondLst>
                                  <p:childTnLst>
                                    <p:animMotion origin="layout" path="M -2.70833E-6 4.81481E-6 L -0.71315 -0.13264 " pathEditMode="relative" rAng="0" ptsTypes="AA">
                                      <p:cBhvr>
                                        <p:cTn id="115" dur="2000" fill="hold"/>
                                        <p:tgtEl>
                                          <p:spTgt spid="114"/>
                                        </p:tgtEl>
                                        <p:attrNameLst>
                                          <p:attrName>ppt_x</p:attrName>
                                          <p:attrName>ppt_y</p:attrName>
                                        </p:attrNameLst>
                                      </p:cBhvr>
                                      <p:rCtr x="-35664" y="-6644"/>
                                    </p:animMotion>
                                  </p:childTnLst>
                                </p:cTn>
                              </p:par>
                            </p:childTnLst>
                          </p:cTn>
                        </p:par>
                        <p:par>
                          <p:cTn id="116" fill="hold">
                            <p:stCondLst>
                              <p:cond delay="3000"/>
                            </p:stCondLst>
                            <p:childTnLst>
                              <p:par>
                                <p:cTn id="117" presetID="16" presetClass="exit" presetSubtype="21" fill="hold" grpId="2" nodeType="afterEffect">
                                  <p:stCondLst>
                                    <p:cond delay="0"/>
                                  </p:stCondLst>
                                  <p:childTnLst>
                                    <p:animEffect transition="out" filter="barn(inVertical)">
                                      <p:cBhvr>
                                        <p:cTn id="118" dur="500"/>
                                        <p:tgtEl>
                                          <p:spTgt spid="113"/>
                                        </p:tgtEl>
                                      </p:cBhvr>
                                    </p:animEffect>
                                    <p:set>
                                      <p:cBhvr>
                                        <p:cTn id="119" dur="1" fill="hold">
                                          <p:stCondLst>
                                            <p:cond delay="499"/>
                                          </p:stCondLst>
                                        </p:cTn>
                                        <p:tgtEl>
                                          <p:spTgt spid="113"/>
                                        </p:tgtEl>
                                        <p:attrNameLst>
                                          <p:attrName>style.visibility</p:attrName>
                                        </p:attrNameLst>
                                      </p:cBhvr>
                                      <p:to>
                                        <p:strVal val="hidden"/>
                                      </p:to>
                                    </p:set>
                                  </p:childTnLst>
                                </p:cTn>
                              </p:par>
                              <p:par>
                                <p:cTn id="120" presetID="16" presetClass="exit" presetSubtype="21" fill="hold" grpId="2" nodeType="withEffect">
                                  <p:stCondLst>
                                    <p:cond delay="0"/>
                                  </p:stCondLst>
                                  <p:childTnLst>
                                    <p:animEffect transition="out" filter="barn(inVertical)">
                                      <p:cBhvr>
                                        <p:cTn id="121" dur="500"/>
                                        <p:tgtEl>
                                          <p:spTgt spid="114"/>
                                        </p:tgtEl>
                                      </p:cBhvr>
                                    </p:animEffect>
                                    <p:set>
                                      <p:cBhvr>
                                        <p:cTn id="122" dur="1" fill="hold">
                                          <p:stCondLst>
                                            <p:cond delay="499"/>
                                          </p:stCondLst>
                                        </p:cTn>
                                        <p:tgtEl>
                                          <p:spTgt spid="114"/>
                                        </p:tgtEl>
                                        <p:attrNameLst>
                                          <p:attrName>style.visibility</p:attrName>
                                        </p:attrNameLst>
                                      </p:cBhvr>
                                      <p:to>
                                        <p:strVal val="hidden"/>
                                      </p:to>
                                    </p:set>
                                  </p:childTnLst>
                                </p:cTn>
                              </p:par>
                            </p:childTnLst>
                          </p:cTn>
                        </p:par>
                        <p:par>
                          <p:cTn id="123" fill="hold">
                            <p:stCondLst>
                              <p:cond delay="3500"/>
                            </p:stCondLst>
                            <p:childTnLst>
                              <p:par>
                                <p:cTn id="124" presetID="22" presetClass="exit" presetSubtype="1" fill="hold" nodeType="afterEffect">
                                  <p:stCondLst>
                                    <p:cond delay="0"/>
                                  </p:stCondLst>
                                  <p:childTnLst>
                                    <p:animEffect transition="out" filter="wipe(up)">
                                      <p:cBhvr>
                                        <p:cTn id="125" dur="500"/>
                                        <p:tgtEl>
                                          <p:spTgt spid="115"/>
                                        </p:tgtEl>
                                      </p:cBhvr>
                                    </p:animEffect>
                                    <p:set>
                                      <p:cBhvr>
                                        <p:cTn id="126" dur="1" fill="hold">
                                          <p:stCondLst>
                                            <p:cond delay="499"/>
                                          </p:stCondLst>
                                        </p:cTn>
                                        <p:tgtEl>
                                          <p:spTgt spid="115"/>
                                        </p:tgtEl>
                                        <p:attrNameLst>
                                          <p:attrName>style.visibility</p:attrName>
                                        </p:attrNameLst>
                                      </p:cBhvr>
                                      <p:to>
                                        <p:strVal val="hidden"/>
                                      </p:to>
                                    </p:set>
                                  </p:childTnLst>
                                </p:cTn>
                              </p:par>
                            </p:childTnLst>
                          </p:cTn>
                        </p:par>
                        <p:par>
                          <p:cTn id="127" fill="hold">
                            <p:stCondLst>
                              <p:cond delay="4000"/>
                            </p:stCondLst>
                            <p:childTnLst>
                              <p:par>
                                <p:cTn id="128" presetID="22" presetClass="entr" presetSubtype="8" fill="hold" nodeType="afterEffect">
                                  <p:stCondLst>
                                    <p:cond delay="0"/>
                                  </p:stCondLst>
                                  <p:childTnLst>
                                    <p:set>
                                      <p:cBhvr>
                                        <p:cTn id="129" dur="1" fill="hold">
                                          <p:stCondLst>
                                            <p:cond delay="0"/>
                                          </p:stCondLst>
                                        </p:cTn>
                                        <p:tgtEl>
                                          <p:spTgt spid="118"/>
                                        </p:tgtEl>
                                        <p:attrNameLst>
                                          <p:attrName>style.visibility</p:attrName>
                                        </p:attrNameLst>
                                      </p:cBhvr>
                                      <p:to>
                                        <p:strVal val="visible"/>
                                      </p:to>
                                    </p:set>
                                    <p:animEffect transition="in" filter="wipe(left)">
                                      <p:cBhvr>
                                        <p:cTn id="130" dur="1000"/>
                                        <p:tgtEl>
                                          <p:spTgt spid="118"/>
                                        </p:tgtEl>
                                      </p:cBhvr>
                                    </p:animEffec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88"/>
                                        </p:tgtEl>
                                        <p:attrNameLst>
                                          <p:attrName>style.visibility</p:attrName>
                                        </p:attrNameLst>
                                      </p:cBhvr>
                                      <p:to>
                                        <p:strVal val="visible"/>
                                      </p:to>
                                    </p:set>
                                  </p:childTnLst>
                                </p:cTn>
                              </p:par>
                              <p:par>
                                <p:cTn id="135" presetID="42" presetClass="path" presetSubtype="0" accel="50000" decel="50000" fill="hold" nodeType="withEffect">
                                  <p:stCondLst>
                                    <p:cond delay="0"/>
                                  </p:stCondLst>
                                  <p:childTnLst>
                                    <p:animMotion origin="layout" path="M -4.79167E-6 -2.22222E-6 L -0.04153 0.43102 " pathEditMode="relative" rAng="0" ptsTypes="AA">
                                      <p:cBhvr>
                                        <p:cTn id="136" dur="2000" fill="hold"/>
                                        <p:tgtEl>
                                          <p:spTgt spid="88"/>
                                        </p:tgtEl>
                                        <p:attrNameLst>
                                          <p:attrName>ppt_x</p:attrName>
                                          <p:attrName>ppt_y</p:attrName>
                                        </p:attrNameLst>
                                      </p:cBhvr>
                                      <p:rCtr x="-2083" y="21551"/>
                                    </p:animMotion>
                                  </p:childTnLst>
                                </p:cTn>
                              </p:par>
                            </p:childTnLst>
                          </p:cTn>
                        </p:par>
                        <p:par>
                          <p:cTn id="137" fill="hold">
                            <p:stCondLst>
                              <p:cond delay="2000"/>
                            </p:stCondLst>
                            <p:childTnLst>
                              <p:par>
                                <p:cTn id="138" presetID="63" presetClass="path" presetSubtype="0" accel="50000" decel="50000" fill="hold" grpId="1" nodeType="afterEffect">
                                  <p:stCondLst>
                                    <p:cond delay="0"/>
                                  </p:stCondLst>
                                  <p:childTnLst>
                                    <p:animMotion origin="layout" path="M -4.79167E-6 0 L 0.02292 0 " pathEditMode="relative" rAng="0" ptsTypes="AA">
                                      <p:cBhvr>
                                        <p:cTn id="139" dur="1000" fill="hold"/>
                                        <p:tgtEl>
                                          <p:spTgt spid="105"/>
                                        </p:tgtEl>
                                        <p:attrNameLst>
                                          <p:attrName>ppt_x</p:attrName>
                                          <p:attrName>ppt_y</p:attrName>
                                        </p:attrNameLst>
                                      </p:cBhvr>
                                      <p:rCtr x="1146" y="0"/>
                                    </p:animMotion>
                                  </p:childTnLst>
                                </p:cTn>
                              </p:par>
                            </p:childTnLst>
                          </p:cTn>
                        </p:par>
                        <p:par>
                          <p:cTn id="140" fill="hold">
                            <p:stCondLst>
                              <p:cond delay="3000"/>
                            </p:stCondLst>
                            <p:childTnLst>
                              <p:par>
                                <p:cTn id="141" presetID="63" presetClass="path" presetSubtype="0" accel="50000" decel="50000" fill="hold" grpId="1" nodeType="afterEffect">
                                  <p:stCondLst>
                                    <p:cond delay="0"/>
                                  </p:stCondLst>
                                  <p:childTnLst>
                                    <p:animMotion origin="layout" path="M 3.33333E-6 1.48148E-6 L 0.02721 -0.00023 " pathEditMode="relative" rAng="0" ptsTypes="AA">
                                      <p:cBhvr>
                                        <p:cTn id="142" dur="1000" fill="hold"/>
                                        <p:tgtEl>
                                          <p:spTgt spid="107"/>
                                        </p:tgtEl>
                                        <p:attrNameLst>
                                          <p:attrName>ppt_x</p:attrName>
                                          <p:attrName>ppt_y</p:attrName>
                                        </p:attrNameLst>
                                      </p:cBhvr>
                                      <p:rCtr x="1354" y="-23"/>
                                    </p:animMotion>
                                  </p:childTnLst>
                                </p:cTn>
                              </p:par>
                            </p:childTnLst>
                          </p:cTn>
                        </p:par>
                        <p:par>
                          <p:cTn id="143" fill="hold">
                            <p:stCondLst>
                              <p:cond delay="4000"/>
                            </p:stCondLst>
                            <p:childTnLst>
                              <p:par>
                                <p:cTn id="144" presetID="22" presetClass="exit" presetSubtype="1" fill="hold" nodeType="afterEffect">
                                  <p:stCondLst>
                                    <p:cond delay="0"/>
                                  </p:stCondLst>
                                  <p:childTnLst>
                                    <p:animEffect transition="out" filter="wipe(up)">
                                      <p:cBhvr>
                                        <p:cTn id="145" dur="500"/>
                                        <p:tgtEl>
                                          <p:spTgt spid="118"/>
                                        </p:tgtEl>
                                      </p:cBhvr>
                                    </p:animEffect>
                                    <p:set>
                                      <p:cBhvr>
                                        <p:cTn id="146" dur="1" fill="hold">
                                          <p:stCondLst>
                                            <p:cond delay="499"/>
                                          </p:stCondLst>
                                        </p:cTn>
                                        <p:tgtEl>
                                          <p:spTgt spid="118"/>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nodeType="clickEffect">
                                  <p:stCondLst>
                                    <p:cond delay="0"/>
                                  </p:stCondLst>
                                  <p:childTnLst>
                                    <p:set>
                                      <p:cBhvr>
                                        <p:cTn id="150" dur="1" fill="hold">
                                          <p:stCondLst>
                                            <p:cond delay="0"/>
                                          </p:stCondLst>
                                        </p:cTn>
                                        <p:tgtEl>
                                          <p:spTgt spid="115"/>
                                        </p:tgtEl>
                                        <p:attrNameLst>
                                          <p:attrName>style.visibility</p:attrName>
                                        </p:attrNameLst>
                                      </p:cBhvr>
                                      <p:to>
                                        <p:strVal val="visible"/>
                                      </p:to>
                                    </p:set>
                                    <p:animEffect transition="in" filter="wipe(left)">
                                      <p:cBhvr>
                                        <p:cTn id="151" dur="1000"/>
                                        <p:tgtEl>
                                          <p:spTgt spid="115"/>
                                        </p:tgtEl>
                                      </p:cBhvr>
                                    </p:animEffect>
                                  </p:childTnLst>
                                </p:cTn>
                              </p:par>
                            </p:childTnLst>
                          </p:cTn>
                        </p:par>
                      </p:childTnLst>
                    </p:cTn>
                  </p:par>
                  <p:par>
                    <p:cTn id="152" fill="hold">
                      <p:stCondLst>
                        <p:cond delay="indefinite"/>
                      </p:stCondLst>
                      <p:childTnLst>
                        <p:par>
                          <p:cTn id="153" fill="hold">
                            <p:stCondLst>
                              <p:cond delay="0"/>
                            </p:stCondLst>
                            <p:childTnLst>
                              <p:par>
                                <p:cTn id="154" presetID="31" presetClass="entr" presetSubtype="0" fill="hold" grpId="0" nodeType="clickEffect">
                                  <p:stCondLst>
                                    <p:cond delay="0"/>
                                  </p:stCondLst>
                                  <p:childTnLst>
                                    <p:set>
                                      <p:cBhvr>
                                        <p:cTn id="155" dur="1" fill="hold">
                                          <p:stCondLst>
                                            <p:cond delay="0"/>
                                          </p:stCondLst>
                                        </p:cTn>
                                        <p:tgtEl>
                                          <p:spTgt spid="119"/>
                                        </p:tgtEl>
                                        <p:attrNameLst>
                                          <p:attrName>style.visibility</p:attrName>
                                        </p:attrNameLst>
                                      </p:cBhvr>
                                      <p:to>
                                        <p:strVal val="visible"/>
                                      </p:to>
                                    </p:set>
                                    <p:anim calcmode="lin" valueType="num">
                                      <p:cBhvr>
                                        <p:cTn id="156" dur="1000" fill="hold"/>
                                        <p:tgtEl>
                                          <p:spTgt spid="119"/>
                                        </p:tgtEl>
                                        <p:attrNameLst>
                                          <p:attrName>ppt_w</p:attrName>
                                        </p:attrNameLst>
                                      </p:cBhvr>
                                      <p:tavLst>
                                        <p:tav tm="0">
                                          <p:val>
                                            <p:fltVal val="0"/>
                                          </p:val>
                                        </p:tav>
                                        <p:tav tm="100000">
                                          <p:val>
                                            <p:strVal val="#ppt_w"/>
                                          </p:val>
                                        </p:tav>
                                      </p:tavLst>
                                    </p:anim>
                                    <p:anim calcmode="lin" valueType="num">
                                      <p:cBhvr>
                                        <p:cTn id="157" dur="1000" fill="hold"/>
                                        <p:tgtEl>
                                          <p:spTgt spid="119"/>
                                        </p:tgtEl>
                                        <p:attrNameLst>
                                          <p:attrName>ppt_h</p:attrName>
                                        </p:attrNameLst>
                                      </p:cBhvr>
                                      <p:tavLst>
                                        <p:tav tm="0">
                                          <p:val>
                                            <p:fltVal val="0"/>
                                          </p:val>
                                        </p:tav>
                                        <p:tav tm="100000">
                                          <p:val>
                                            <p:strVal val="#ppt_h"/>
                                          </p:val>
                                        </p:tav>
                                      </p:tavLst>
                                    </p:anim>
                                    <p:anim calcmode="lin" valueType="num">
                                      <p:cBhvr>
                                        <p:cTn id="158" dur="1000" fill="hold"/>
                                        <p:tgtEl>
                                          <p:spTgt spid="119"/>
                                        </p:tgtEl>
                                        <p:attrNameLst>
                                          <p:attrName>style.rotation</p:attrName>
                                        </p:attrNameLst>
                                      </p:cBhvr>
                                      <p:tavLst>
                                        <p:tav tm="0">
                                          <p:val>
                                            <p:fltVal val="90"/>
                                          </p:val>
                                        </p:tav>
                                        <p:tav tm="100000">
                                          <p:val>
                                            <p:fltVal val="0"/>
                                          </p:val>
                                        </p:tav>
                                      </p:tavLst>
                                    </p:anim>
                                    <p:animEffect transition="in" filter="fade">
                                      <p:cBhvr>
                                        <p:cTn id="159" dur="1000"/>
                                        <p:tgtEl>
                                          <p:spTgt spid="119"/>
                                        </p:tgtEl>
                                      </p:cBhvr>
                                    </p:animEffect>
                                  </p:childTnLst>
                                </p:cTn>
                              </p:par>
                              <p:par>
                                <p:cTn id="160" presetID="31" presetClass="entr" presetSubtype="0" fill="hold" grpId="0" nodeType="withEffect">
                                  <p:stCondLst>
                                    <p:cond delay="0"/>
                                  </p:stCondLst>
                                  <p:childTnLst>
                                    <p:set>
                                      <p:cBhvr>
                                        <p:cTn id="161" dur="1" fill="hold">
                                          <p:stCondLst>
                                            <p:cond delay="0"/>
                                          </p:stCondLst>
                                        </p:cTn>
                                        <p:tgtEl>
                                          <p:spTgt spid="120"/>
                                        </p:tgtEl>
                                        <p:attrNameLst>
                                          <p:attrName>style.visibility</p:attrName>
                                        </p:attrNameLst>
                                      </p:cBhvr>
                                      <p:to>
                                        <p:strVal val="visible"/>
                                      </p:to>
                                    </p:set>
                                    <p:anim calcmode="lin" valueType="num">
                                      <p:cBhvr>
                                        <p:cTn id="162" dur="1000" fill="hold"/>
                                        <p:tgtEl>
                                          <p:spTgt spid="120"/>
                                        </p:tgtEl>
                                        <p:attrNameLst>
                                          <p:attrName>ppt_w</p:attrName>
                                        </p:attrNameLst>
                                      </p:cBhvr>
                                      <p:tavLst>
                                        <p:tav tm="0">
                                          <p:val>
                                            <p:fltVal val="0"/>
                                          </p:val>
                                        </p:tav>
                                        <p:tav tm="100000">
                                          <p:val>
                                            <p:strVal val="#ppt_w"/>
                                          </p:val>
                                        </p:tav>
                                      </p:tavLst>
                                    </p:anim>
                                    <p:anim calcmode="lin" valueType="num">
                                      <p:cBhvr>
                                        <p:cTn id="163" dur="1000" fill="hold"/>
                                        <p:tgtEl>
                                          <p:spTgt spid="120"/>
                                        </p:tgtEl>
                                        <p:attrNameLst>
                                          <p:attrName>ppt_h</p:attrName>
                                        </p:attrNameLst>
                                      </p:cBhvr>
                                      <p:tavLst>
                                        <p:tav tm="0">
                                          <p:val>
                                            <p:fltVal val="0"/>
                                          </p:val>
                                        </p:tav>
                                        <p:tav tm="100000">
                                          <p:val>
                                            <p:strVal val="#ppt_h"/>
                                          </p:val>
                                        </p:tav>
                                      </p:tavLst>
                                    </p:anim>
                                    <p:anim calcmode="lin" valueType="num">
                                      <p:cBhvr>
                                        <p:cTn id="164" dur="1000" fill="hold"/>
                                        <p:tgtEl>
                                          <p:spTgt spid="120"/>
                                        </p:tgtEl>
                                        <p:attrNameLst>
                                          <p:attrName>style.rotation</p:attrName>
                                        </p:attrNameLst>
                                      </p:cBhvr>
                                      <p:tavLst>
                                        <p:tav tm="0">
                                          <p:val>
                                            <p:fltVal val="90"/>
                                          </p:val>
                                        </p:tav>
                                        <p:tav tm="100000">
                                          <p:val>
                                            <p:fltVal val="0"/>
                                          </p:val>
                                        </p:tav>
                                      </p:tavLst>
                                    </p:anim>
                                    <p:animEffect transition="in" filter="fade">
                                      <p:cBhvr>
                                        <p:cTn id="165" dur="1000"/>
                                        <p:tgtEl>
                                          <p:spTgt spid="120"/>
                                        </p:tgtEl>
                                      </p:cBhvr>
                                    </p:animEffect>
                                  </p:childTnLst>
                                </p:cTn>
                              </p:par>
                            </p:childTnLst>
                          </p:cTn>
                        </p:par>
                        <p:par>
                          <p:cTn id="166" fill="hold">
                            <p:stCondLst>
                              <p:cond delay="1000"/>
                            </p:stCondLst>
                            <p:childTnLst>
                              <p:par>
                                <p:cTn id="167" presetID="35" presetClass="path" presetSubtype="0" accel="50000" decel="50000" fill="hold" grpId="1" nodeType="afterEffect">
                                  <p:stCondLst>
                                    <p:cond delay="0"/>
                                  </p:stCondLst>
                                  <p:childTnLst>
                                    <p:animMotion origin="layout" path="M 4.375E-6 -4.44444E-6 L -0.73998 0.15857 " pathEditMode="relative" rAng="0" ptsTypes="AA">
                                      <p:cBhvr>
                                        <p:cTn id="168" dur="2000" fill="hold"/>
                                        <p:tgtEl>
                                          <p:spTgt spid="119"/>
                                        </p:tgtEl>
                                        <p:attrNameLst>
                                          <p:attrName>ppt_x</p:attrName>
                                          <p:attrName>ppt_y</p:attrName>
                                        </p:attrNameLst>
                                      </p:cBhvr>
                                      <p:rCtr x="-37005" y="7917"/>
                                    </p:animMotion>
                                  </p:childTnLst>
                                </p:cTn>
                              </p:par>
                              <p:par>
                                <p:cTn id="169" presetID="35" presetClass="path" presetSubtype="0" accel="50000" decel="50000" fill="hold" grpId="1" nodeType="withEffect">
                                  <p:stCondLst>
                                    <p:cond delay="0"/>
                                  </p:stCondLst>
                                  <p:childTnLst>
                                    <p:animMotion origin="layout" path="M -3.75E-6 1.85185E-6 L -0.7138 -0.06875 " pathEditMode="relative" rAng="0" ptsTypes="AA">
                                      <p:cBhvr>
                                        <p:cTn id="170" dur="2000" fill="hold"/>
                                        <p:tgtEl>
                                          <p:spTgt spid="120"/>
                                        </p:tgtEl>
                                        <p:attrNameLst>
                                          <p:attrName>ppt_x</p:attrName>
                                          <p:attrName>ppt_y</p:attrName>
                                        </p:attrNameLst>
                                      </p:cBhvr>
                                      <p:rCtr x="-35690" y="-3449"/>
                                    </p:animMotion>
                                  </p:childTnLst>
                                </p:cTn>
                              </p:par>
                            </p:childTnLst>
                          </p:cTn>
                        </p:par>
                        <p:par>
                          <p:cTn id="171" fill="hold">
                            <p:stCondLst>
                              <p:cond delay="3000"/>
                            </p:stCondLst>
                            <p:childTnLst>
                              <p:par>
                                <p:cTn id="172" presetID="16" presetClass="exit" presetSubtype="21" fill="hold" grpId="2" nodeType="afterEffect">
                                  <p:stCondLst>
                                    <p:cond delay="0"/>
                                  </p:stCondLst>
                                  <p:childTnLst>
                                    <p:animEffect transition="out" filter="barn(inVertical)">
                                      <p:cBhvr>
                                        <p:cTn id="173" dur="500"/>
                                        <p:tgtEl>
                                          <p:spTgt spid="119"/>
                                        </p:tgtEl>
                                      </p:cBhvr>
                                    </p:animEffect>
                                    <p:set>
                                      <p:cBhvr>
                                        <p:cTn id="174" dur="1" fill="hold">
                                          <p:stCondLst>
                                            <p:cond delay="499"/>
                                          </p:stCondLst>
                                        </p:cTn>
                                        <p:tgtEl>
                                          <p:spTgt spid="119"/>
                                        </p:tgtEl>
                                        <p:attrNameLst>
                                          <p:attrName>style.visibility</p:attrName>
                                        </p:attrNameLst>
                                      </p:cBhvr>
                                      <p:to>
                                        <p:strVal val="hidden"/>
                                      </p:to>
                                    </p:set>
                                  </p:childTnLst>
                                </p:cTn>
                              </p:par>
                              <p:par>
                                <p:cTn id="175" presetID="16" presetClass="exit" presetSubtype="21" fill="hold" grpId="2" nodeType="withEffect">
                                  <p:stCondLst>
                                    <p:cond delay="0"/>
                                  </p:stCondLst>
                                  <p:childTnLst>
                                    <p:animEffect transition="out" filter="barn(inVertical)">
                                      <p:cBhvr>
                                        <p:cTn id="176" dur="500"/>
                                        <p:tgtEl>
                                          <p:spTgt spid="120"/>
                                        </p:tgtEl>
                                      </p:cBhvr>
                                    </p:animEffect>
                                    <p:set>
                                      <p:cBhvr>
                                        <p:cTn id="177" dur="1" fill="hold">
                                          <p:stCondLst>
                                            <p:cond delay="499"/>
                                          </p:stCondLst>
                                        </p:cTn>
                                        <p:tgtEl>
                                          <p:spTgt spid="120"/>
                                        </p:tgtEl>
                                        <p:attrNameLst>
                                          <p:attrName>style.visibility</p:attrName>
                                        </p:attrNameLst>
                                      </p:cBhvr>
                                      <p:to>
                                        <p:strVal val="hidden"/>
                                      </p:to>
                                    </p:set>
                                  </p:childTnLst>
                                </p:cTn>
                              </p:par>
                            </p:childTnLst>
                          </p:cTn>
                        </p:par>
                      </p:childTnLst>
                    </p:cTn>
                  </p:par>
                  <p:par>
                    <p:cTn id="178" fill="hold">
                      <p:stCondLst>
                        <p:cond delay="indefinite"/>
                      </p:stCondLst>
                      <p:childTnLst>
                        <p:par>
                          <p:cTn id="179" fill="hold">
                            <p:stCondLst>
                              <p:cond delay="0"/>
                            </p:stCondLst>
                            <p:childTnLst>
                              <p:par>
                                <p:cTn id="180" presetID="22" presetClass="exit" presetSubtype="1" fill="hold" nodeType="clickEffect">
                                  <p:stCondLst>
                                    <p:cond delay="0"/>
                                  </p:stCondLst>
                                  <p:childTnLst>
                                    <p:animEffect transition="out" filter="wipe(up)">
                                      <p:cBhvr>
                                        <p:cTn id="181" dur="500"/>
                                        <p:tgtEl>
                                          <p:spTgt spid="115"/>
                                        </p:tgtEl>
                                      </p:cBhvr>
                                    </p:animEffect>
                                    <p:set>
                                      <p:cBhvr>
                                        <p:cTn id="182" dur="1" fill="hold">
                                          <p:stCondLst>
                                            <p:cond delay="499"/>
                                          </p:stCondLst>
                                        </p:cTn>
                                        <p:tgtEl>
                                          <p:spTgt spid="115"/>
                                        </p:tgtEl>
                                        <p:attrNameLst>
                                          <p:attrName>style.visibility</p:attrName>
                                        </p:attrNameLst>
                                      </p:cBhvr>
                                      <p:to>
                                        <p:strVal val="hidden"/>
                                      </p:to>
                                    </p:set>
                                  </p:childTnLst>
                                </p:cTn>
                              </p:par>
                            </p:childTnLst>
                          </p:cTn>
                        </p:par>
                        <p:par>
                          <p:cTn id="183" fill="hold">
                            <p:stCondLst>
                              <p:cond delay="500"/>
                            </p:stCondLst>
                            <p:childTnLst>
                              <p:par>
                                <p:cTn id="184" presetID="22" presetClass="entr" presetSubtype="8" fill="hold" nodeType="afterEffect">
                                  <p:stCondLst>
                                    <p:cond delay="0"/>
                                  </p:stCondLst>
                                  <p:childTnLst>
                                    <p:set>
                                      <p:cBhvr>
                                        <p:cTn id="185" dur="1" fill="hold">
                                          <p:stCondLst>
                                            <p:cond delay="0"/>
                                          </p:stCondLst>
                                        </p:cTn>
                                        <p:tgtEl>
                                          <p:spTgt spid="121"/>
                                        </p:tgtEl>
                                        <p:attrNameLst>
                                          <p:attrName>style.visibility</p:attrName>
                                        </p:attrNameLst>
                                      </p:cBhvr>
                                      <p:to>
                                        <p:strVal val="visible"/>
                                      </p:to>
                                    </p:set>
                                    <p:animEffect transition="in" filter="wipe(left)">
                                      <p:cBhvr>
                                        <p:cTn id="186" dur="1000"/>
                                        <p:tgtEl>
                                          <p:spTgt spid="121"/>
                                        </p:tgtEl>
                                      </p:cBhvr>
                                    </p:animEffect>
                                  </p:childTnLst>
                                </p:cTn>
                              </p:par>
                            </p:childTnLst>
                          </p:cTn>
                        </p:par>
                      </p:childTnLst>
                    </p:cTn>
                  </p:par>
                  <p:par>
                    <p:cTn id="187" fill="hold">
                      <p:stCondLst>
                        <p:cond delay="indefinite"/>
                      </p:stCondLst>
                      <p:childTnLst>
                        <p:par>
                          <p:cTn id="188" fill="hold">
                            <p:stCondLst>
                              <p:cond delay="0"/>
                            </p:stCondLst>
                            <p:childTnLst>
                              <p:par>
                                <p:cTn id="189" presetID="42" presetClass="path" presetSubtype="0" accel="50000" decel="50000" fill="hold" nodeType="clickEffect">
                                  <p:stCondLst>
                                    <p:cond delay="0"/>
                                  </p:stCondLst>
                                  <p:childTnLst>
                                    <p:animMotion origin="layout" path="M -8.33333E-7 3.7037E-6 L -8.33333E-7 0.18634 " pathEditMode="relative" rAng="0" ptsTypes="AA">
                                      <p:cBhvr>
                                        <p:cTn id="190" dur="3000" fill="hold"/>
                                        <p:tgtEl>
                                          <p:spTgt spid="121"/>
                                        </p:tgtEl>
                                        <p:attrNameLst>
                                          <p:attrName>ppt_x</p:attrName>
                                          <p:attrName>ppt_y</p:attrName>
                                        </p:attrNameLst>
                                      </p:cBhvr>
                                      <p:rCtr x="0" y="9306"/>
                                    </p:animMotion>
                                  </p:childTnLst>
                                </p:cTn>
                              </p:par>
                            </p:childTnLst>
                          </p:cTn>
                        </p:par>
                        <p:par>
                          <p:cTn id="191" fill="hold">
                            <p:stCondLst>
                              <p:cond delay="3000"/>
                            </p:stCondLst>
                            <p:childTnLst>
                              <p:par>
                                <p:cTn id="192" presetID="1" presetClass="entr" presetSubtype="0" fill="hold" nodeType="afterEffect">
                                  <p:stCondLst>
                                    <p:cond delay="0"/>
                                  </p:stCondLst>
                                  <p:childTnLst>
                                    <p:set>
                                      <p:cBhvr>
                                        <p:cTn id="193" dur="1" fill="hold">
                                          <p:stCondLst>
                                            <p:cond delay="0"/>
                                          </p:stCondLst>
                                        </p:cTn>
                                        <p:tgtEl>
                                          <p:spTgt spid="90"/>
                                        </p:tgtEl>
                                        <p:attrNameLst>
                                          <p:attrName>style.visibility</p:attrName>
                                        </p:attrNameLst>
                                      </p:cBhvr>
                                      <p:to>
                                        <p:strVal val="visible"/>
                                      </p:to>
                                    </p:set>
                                  </p:childTnLst>
                                </p:cTn>
                              </p:par>
                              <p:par>
                                <p:cTn id="194" presetID="42" presetClass="path" presetSubtype="0" accel="50000" decel="50000" fill="hold" nodeType="withEffect">
                                  <p:stCondLst>
                                    <p:cond delay="0"/>
                                  </p:stCondLst>
                                  <p:childTnLst>
                                    <p:animMotion origin="layout" path="M 4.375E-6 3.33333E-6 L -0.02513 0.22708 " pathEditMode="relative" rAng="0" ptsTypes="AA">
                                      <p:cBhvr>
                                        <p:cTn id="195" dur="2000" fill="hold"/>
                                        <p:tgtEl>
                                          <p:spTgt spid="90"/>
                                        </p:tgtEl>
                                        <p:attrNameLst>
                                          <p:attrName>ppt_x</p:attrName>
                                          <p:attrName>ppt_y</p:attrName>
                                        </p:attrNameLst>
                                      </p:cBhvr>
                                      <p:rCtr x="-1263" y="11343"/>
                                    </p:animMotion>
                                  </p:childTnLst>
                                </p:cTn>
                              </p:par>
                            </p:childTnLst>
                          </p:cTn>
                        </p:par>
                        <p:par>
                          <p:cTn id="196" fill="hold">
                            <p:stCondLst>
                              <p:cond delay="5000"/>
                            </p:stCondLst>
                            <p:childTnLst>
                              <p:par>
                                <p:cTn id="197" presetID="10" presetClass="exit" presetSubtype="0" fill="hold" nodeType="afterEffect">
                                  <p:stCondLst>
                                    <p:cond delay="0"/>
                                  </p:stCondLst>
                                  <p:childTnLst>
                                    <p:animEffect transition="out" filter="fade">
                                      <p:cBhvr>
                                        <p:cTn id="198" dur="500"/>
                                        <p:tgtEl>
                                          <p:spTgt spid="90"/>
                                        </p:tgtEl>
                                      </p:cBhvr>
                                    </p:animEffect>
                                    <p:set>
                                      <p:cBhvr>
                                        <p:cTn id="199" dur="1" fill="hold">
                                          <p:stCondLst>
                                            <p:cond delay="499"/>
                                          </p:stCondLst>
                                        </p:cTn>
                                        <p:tgtEl>
                                          <p:spTgt spid="90"/>
                                        </p:tgtEl>
                                        <p:attrNameLst>
                                          <p:attrName>style.visibility</p:attrName>
                                        </p:attrNameLst>
                                      </p:cBhvr>
                                      <p:to>
                                        <p:strVal val="hidden"/>
                                      </p:to>
                                    </p:set>
                                  </p:childTnLst>
                                </p:cTn>
                              </p:par>
                            </p:childTnLst>
                          </p:cTn>
                        </p:par>
                        <p:par>
                          <p:cTn id="200" fill="hold">
                            <p:stCondLst>
                              <p:cond delay="5500"/>
                            </p:stCondLst>
                            <p:childTnLst>
                              <p:par>
                                <p:cTn id="201" presetID="1" presetClass="entr" presetSubtype="0" fill="hold" nodeType="afterEffect">
                                  <p:stCondLst>
                                    <p:cond delay="0"/>
                                  </p:stCondLst>
                                  <p:childTnLst>
                                    <p:set>
                                      <p:cBhvr>
                                        <p:cTn id="202" dur="1" fill="hold">
                                          <p:stCondLst>
                                            <p:cond delay="0"/>
                                          </p:stCondLst>
                                        </p:cTn>
                                        <p:tgtEl>
                                          <p:spTgt spid="93"/>
                                        </p:tgtEl>
                                        <p:attrNameLst>
                                          <p:attrName>style.visibility</p:attrName>
                                        </p:attrNameLst>
                                      </p:cBhvr>
                                      <p:to>
                                        <p:strVal val="visible"/>
                                      </p:to>
                                    </p:set>
                                  </p:childTnLst>
                                </p:cTn>
                              </p:par>
                            </p:childTnLst>
                          </p:cTn>
                        </p:par>
                        <p:par>
                          <p:cTn id="203" fill="hold">
                            <p:stCondLst>
                              <p:cond delay="5500"/>
                            </p:stCondLst>
                            <p:childTnLst>
                              <p:par>
                                <p:cTn id="204" presetID="42" presetClass="path" presetSubtype="0" accel="50000" decel="50000" fill="hold" nodeType="afterEffect">
                                  <p:stCondLst>
                                    <p:cond delay="0"/>
                                  </p:stCondLst>
                                  <p:childTnLst>
                                    <p:animMotion origin="layout" path="M -3.75E-6 -4.44444E-6 L -0.01562 0.20116 " pathEditMode="relative" rAng="0" ptsTypes="AA">
                                      <p:cBhvr>
                                        <p:cTn id="205" dur="2000" fill="hold"/>
                                        <p:tgtEl>
                                          <p:spTgt spid="93"/>
                                        </p:tgtEl>
                                        <p:attrNameLst>
                                          <p:attrName>ppt_x</p:attrName>
                                          <p:attrName>ppt_y</p:attrName>
                                        </p:attrNameLst>
                                      </p:cBhvr>
                                      <p:rCtr x="-781" y="10046"/>
                                    </p:animMotion>
                                  </p:childTnLst>
                                </p:cTn>
                              </p:par>
                            </p:childTnLst>
                          </p:cTn>
                        </p:par>
                        <p:par>
                          <p:cTn id="206" fill="hold">
                            <p:stCondLst>
                              <p:cond delay="7500"/>
                            </p:stCondLst>
                            <p:childTnLst>
                              <p:par>
                                <p:cTn id="207" presetID="63" presetClass="path" presetSubtype="0" accel="50000" decel="50000" fill="hold" grpId="2" nodeType="afterEffect">
                                  <p:stCondLst>
                                    <p:cond delay="0"/>
                                  </p:stCondLst>
                                  <p:childTnLst>
                                    <p:animMotion origin="layout" path="M 0.02292 0 L 0.05053 0.00046 " pathEditMode="relative" rAng="0" ptsTypes="AA">
                                      <p:cBhvr>
                                        <p:cTn id="208" dur="1000" fill="hold"/>
                                        <p:tgtEl>
                                          <p:spTgt spid="105"/>
                                        </p:tgtEl>
                                        <p:attrNameLst>
                                          <p:attrName>ppt_x</p:attrName>
                                          <p:attrName>ppt_y</p:attrName>
                                        </p:attrNameLst>
                                      </p:cBhvr>
                                      <p:rCtr x="1380" y="23"/>
                                    </p:animMotion>
                                  </p:childTnLst>
                                </p:cTn>
                              </p:par>
                            </p:childTnLst>
                          </p:cTn>
                        </p:par>
                        <p:par>
                          <p:cTn id="209" fill="hold">
                            <p:stCondLst>
                              <p:cond delay="8500"/>
                            </p:stCondLst>
                            <p:childTnLst>
                              <p:par>
                                <p:cTn id="210" presetID="63" presetClass="path" presetSubtype="0" accel="50000" decel="50000" fill="hold" grpId="1" nodeType="afterEffect">
                                  <p:stCondLst>
                                    <p:cond delay="0"/>
                                  </p:stCondLst>
                                  <p:childTnLst>
                                    <p:animMotion origin="layout" path="M -3.54167E-6 -1.11111E-6 L 0.02435 0.0007 " pathEditMode="relative" rAng="0" ptsTypes="AA">
                                      <p:cBhvr>
                                        <p:cTn id="211" dur="1000" fill="hold"/>
                                        <p:tgtEl>
                                          <p:spTgt spid="106"/>
                                        </p:tgtEl>
                                        <p:attrNameLst>
                                          <p:attrName>ppt_x</p:attrName>
                                          <p:attrName>ppt_y</p:attrName>
                                        </p:attrNameLst>
                                      </p:cBhvr>
                                      <p:rCtr x="1211" y="23"/>
                                    </p:animMotion>
                                  </p:childTnLst>
                                </p:cTn>
                              </p:par>
                            </p:childTnLst>
                          </p:cTn>
                        </p:par>
                        <p:par>
                          <p:cTn id="212" fill="hold">
                            <p:stCondLst>
                              <p:cond delay="9500"/>
                            </p:stCondLst>
                            <p:childTnLst>
                              <p:par>
                                <p:cTn id="213" presetID="63" presetClass="path" presetSubtype="0" accel="50000" decel="50000" fill="hold" grpId="2" nodeType="afterEffect">
                                  <p:stCondLst>
                                    <p:cond delay="0"/>
                                  </p:stCondLst>
                                  <p:childTnLst>
                                    <p:animMotion origin="layout" path="M 0.02721 -0.00023 L 0.05156 0.00023 " pathEditMode="relative" rAng="0" ptsTypes="AA">
                                      <p:cBhvr>
                                        <p:cTn id="214" dur="1000" fill="hold"/>
                                        <p:tgtEl>
                                          <p:spTgt spid="107"/>
                                        </p:tgtEl>
                                        <p:attrNameLst>
                                          <p:attrName>ppt_x</p:attrName>
                                          <p:attrName>ppt_y</p:attrName>
                                        </p:attrNameLst>
                                      </p:cBhvr>
                                      <p:rCtr x="1211" y="23"/>
                                    </p:animMotion>
                                  </p:childTnLst>
                                </p:cTn>
                              </p:par>
                            </p:childTnLst>
                          </p:cTn>
                        </p:par>
                        <p:par>
                          <p:cTn id="215" fill="hold">
                            <p:stCondLst>
                              <p:cond delay="10500"/>
                            </p:stCondLst>
                            <p:childTnLst>
                              <p:par>
                                <p:cTn id="216" presetID="22" presetClass="exit" presetSubtype="1" fill="hold" nodeType="afterEffect">
                                  <p:stCondLst>
                                    <p:cond delay="0"/>
                                  </p:stCondLst>
                                  <p:childTnLst>
                                    <p:animEffect transition="out" filter="wipe(up)">
                                      <p:cBhvr>
                                        <p:cTn id="217" dur="500"/>
                                        <p:tgtEl>
                                          <p:spTgt spid="121"/>
                                        </p:tgtEl>
                                      </p:cBhvr>
                                    </p:animEffect>
                                    <p:set>
                                      <p:cBhvr>
                                        <p:cTn id="218" dur="1" fill="hold">
                                          <p:stCondLst>
                                            <p:cond delay="499"/>
                                          </p:stCondLst>
                                        </p:cTn>
                                        <p:tgtEl>
                                          <p:spTgt spid="121"/>
                                        </p:tgtEl>
                                        <p:attrNameLst>
                                          <p:attrName>style.visibility</p:attrName>
                                        </p:attrNameLst>
                                      </p:cBhvr>
                                      <p:to>
                                        <p:strVal val="hidden"/>
                                      </p:to>
                                    </p:set>
                                  </p:childTnLst>
                                </p:cTn>
                              </p:par>
                            </p:childTnLst>
                          </p:cTn>
                        </p:par>
                        <p:par>
                          <p:cTn id="219" fill="hold">
                            <p:stCondLst>
                              <p:cond delay="11000"/>
                            </p:stCondLst>
                            <p:childTnLst>
                              <p:par>
                                <p:cTn id="220" presetID="22" presetClass="entr" presetSubtype="8" fill="hold" nodeType="afterEffect">
                                  <p:stCondLst>
                                    <p:cond delay="0"/>
                                  </p:stCondLst>
                                  <p:childTnLst>
                                    <p:set>
                                      <p:cBhvr>
                                        <p:cTn id="221" dur="1" fill="hold">
                                          <p:stCondLst>
                                            <p:cond delay="0"/>
                                          </p:stCondLst>
                                        </p:cTn>
                                        <p:tgtEl>
                                          <p:spTgt spid="115"/>
                                        </p:tgtEl>
                                        <p:attrNameLst>
                                          <p:attrName>style.visibility</p:attrName>
                                        </p:attrNameLst>
                                      </p:cBhvr>
                                      <p:to>
                                        <p:strVal val="visible"/>
                                      </p:to>
                                    </p:set>
                                    <p:animEffect transition="in" filter="wipe(left)">
                                      <p:cBhvr>
                                        <p:cTn id="222" dur="1000"/>
                                        <p:tgtEl>
                                          <p:spTgt spid="115"/>
                                        </p:tgtEl>
                                      </p:cBhvr>
                                    </p:animEffect>
                                  </p:childTnLst>
                                </p:cTn>
                              </p:par>
                            </p:childTnLst>
                          </p:cTn>
                        </p:par>
                      </p:childTnLst>
                    </p:cTn>
                  </p:par>
                  <p:par>
                    <p:cTn id="223" fill="hold">
                      <p:stCondLst>
                        <p:cond delay="indefinite"/>
                      </p:stCondLst>
                      <p:childTnLst>
                        <p:par>
                          <p:cTn id="224" fill="hold">
                            <p:stCondLst>
                              <p:cond delay="0"/>
                            </p:stCondLst>
                            <p:childTnLst>
                              <p:par>
                                <p:cTn id="225" presetID="31" presetClass="entr" presetSubtype="0" fill="hold" grpId="0" nodeType="clickEffect">
                                  <p:stCondLst>
                                    <p:cond delay="0"/>
                                  </p:stCondLst>
                                  <p:childTnLst>
                                    <p:set>
                                      <p:cBhvr>
                                        <p:cTn id="226" dur="1" fill="hold">
                                          <p:stCondLst>
                                            <p:cond delay="0"/>
                                          </p:stCondLst>
                                        </p:cTn>
                                        <p:tgtEl>
                                          <p:spTgt spid="129"/>
                                        </p:tgtEl>
                                        <p:attrNameLst>
                                          <p:attrName>style.visibility</p:attrName>
                                        </p:attrNameLst>
                                      </p:cBhvr>
                                      <p:to>
                                        <p:strVal val="visible"/>
                                      </p:to>
                                    </p:set>
                                    <p:anim calcmode="lin" valueType="num">
                                      <p:cBhvr>
                                        <p:cTn id="227" dur="1000" fill="hold"/>
                                        <p:tgtEl>
                                          <p:spTgt spid="129"/>
                                        </p:tgtEl>
                                        <p:attrNameLst>
                                          <p:attrName>ppt_w</p:attrName>
                                        </p:attrNameLst>
                                      </p:cBhvr>
                                      <p:tavLst>
                                        <p:tav tm="0">
                                          <p:val>
                                            <p:fltVal val="0"/>
                                          </p:val>
                                        </p:tav>
                                        <p:tav tm="100000">
                                          <p:val>
                                            <p:strVal val="#ppt_w"/>
                                          </p:val>
                                        </p:tav>
                                      </p:tavLst>
                                    </p:anim>
                                    <p:anim calcmode="lin" valueType="num">
                                      <p:cBhvr>
                                        <p:cTn id="228" dur="1000" fill="hold"/>
                                        <p:tgtEl>
                                          <p:spTgt spid="129"/>
                                        </p:tgtEl>
                                        <p:attrNameLst>
                                          <p:attrName>ppt_h</p:attrName>
                                        </p:attrNameLst>
                                      </p:cBhvr>
                                      <p:tavLst>
                                        <p:tav tm="0">
                                          <p:val>
                                            <p:fltVal val="0"/>
                                          </p:val>
                                        </p:tav>
                                        <p:tav tm="100000">
                                          <p:val>
                                            <p:strVal val="#ppt_h"/>
                                          </p:val>
                                        </p:tav>
                                      </p:tavLst>
                                    </p:anim>
                                    <p:anim calcmode="lin" valueType="num">
                                      <p:cBhvr>
                                        <p:cTn id="229" dur="1000" fill="hold"/>
                                        <p:tgtEl>
                                          <p:spTgt spid="129"/>
                                        </p:tgtEl>
                                        <p:attrNameLst>
                                          <p:attrName>style.rotation</p:attrName>
                                        </p:attrNameLst>
                                      </p:cBhvr>
                                      <p:tavLst>
                                        <p:tav tm="0">
                                          <p:val>
                                            <p:fltVal val="90"/>
                                          </p:val>
                                        </p:tav>
                                        <p:tav tm="100000">
                                          <p:val>
                                            <p:fltVal val="0"/>
                                          </p:val>
                                        </p:tav>
                                      </p:tavLst>
                                    </p:anim>
                                    <p:animEffect transition="in" filter="fade">
                                      <p:cBhvr>
                                        <p:cTn id="230" dur="1000"/>
                                        <p:tgtEl>
                                          <p:spTgt spid="129"/>
                                        </p:tgtEl>
                                      </p:cBhvr>
                                    </p:animEffect>
                                  </p:childTnLst>
                                </p:cTn>
                              </p:par>
                              <p:par>
                                <p:cTn id="231" presetID="31" presetClass="entr" presetSubtype="0" fill="hold" grpId="0" nodeType="withEffect">
                                  <p:stCondLst>
                                    <p:cond delay="0"/>
                                  </p:stCondLst>
                                  <p:childTnLst>
                                    <p:set>
                                      <p:cBhvr>
                                        <p:cTn id="232" dur="1" fill="hold">
                                          <p:stCondLst>
                                            <p:cond delay="0"/>
                                          </p:stCondLst>
                                        </p:cTn>
                                        <p:tgtEl>
                                          <p:spTgt spid="130"/>
                                        </p:tgtEl>
                                        <p:attrNameLst>
                                          <p:attrName>style.visibility</p:attrName>
                                        </p:attrNameLst>
                                      </p:cBhvr>
                                      <p:to>
                                        <p:strVal val="visible"/>
                                      </p:to>
                                    </p:set>
                                    <p:anim calcmode="lin" valueType="num">
                                      <p:cBhvr>
                                        <p:cTn id="233" dur="1000" fill="hold"/>
                                        <p:tgtEl>
                                          <p:spTgt spid="130"/>
                                        </p:tgtEl>
                                        <p:attrNameLst>
                                          <p:attrName>ppt_w</p:attrName>
                                        </p:attrNameLst>
                                      </p:cBhvr>
                                      <p:tavLst>
                                        <p:tav tm="0">
                                          <p:val>
                                            <p:fltVal val="0"/>
                                          </p:val>
                                        </p:tav>
                                        <p:tav tm="100000">
                                          <p:val>
                                            <p:strVal val="#ppt_w"/>
                                          </p:val>
                                        </p:tav>
                                      </p:tavLst>
                                    </p:anim>
                                    <p:anim calcmode="lin" valueType="num">
                                      <p:cBhvr>
                                        <p:cTn id="234" dur="1000" fill="hold"/>
                                        <p:tgtEl>
                                          <p:spTgt spid="130"/>
                                        </p:tgtEl>
                                        <p:attrNameLst>
                                          <p:attrName>ppt_h</p:attrName>
                                        </p:attrNameLst>
                                      </p:cBhvr>
                                      <p:tavLst>
                                        <p:tav tm="0">
                                          <p:val>
                                            <p:fltVal val="0"/>
                                          </p:val>
                                        </p:tav>
                                        <p:tav tm="100000">
                                          <p:val>
                                            <p:strVal val="#ppt_h"/>
                                          </p:val>
                                        </p:tav>
                                      </p:tavLst>
                                    </p:anim>
                                    <p:anim calcmode="lin" valueType="num">
                                      <p:cBhvr>
                                        <p:cTn id="235" dur="1000" fill="hold"/>
                                        <p:tgtEl>
                                          <p:spTgt spid="130"/>
                                        </p:tgtEl>
                                        <p:attrNameLst>
                                          <p:attrName>style.rotation</p:attrName>
                                        </p:attrNameLst>
                                      </p:cBhvr>
                                      <p:tavLst>
                                        <p:tav tm="0">
                                          <p:val>
                                            <p:fltVal val="90"/>
                                          </p:val>
                                        </p:tav>
                                        <p:tav tm="100000">
                                          <p:val>
                                            <p:fltVal val="0"/>
                                          </p:val>
                                        </p:tav>
                                      </p:tavLst>
                                    </p:anim>
                                    <p:animEffect transition="in" filter="fade">
                                      <p:cBhvr>
                                        <p:cTn id="236" dur="1000"/>
                                        <p:tgtEl>
                                          <p:spTgt spid="130"/>
                                        </p:tgtEl>
                                      </p:cBhvr>
                                    </p:animEffect>
                                  </p:childTnLst>
                                </p:cTn>
                              </p:par>
                            </p:childTnLst>
                          </p:cTn>
                        </p:par>
                        <p:par>
                          <p:cTn id="237" fill="hold">
                            <p:stCondLst>
                              <p:cond delay="1000"/>
                            </p:stCondLst>
                            <p:childTnLst>
                              <p:par>
                                <p:cTn id="238" presetID="35" presetClass="path" presetSubtype="0" accel="50000" decel="50000" fill="hold" grpId="1" nodeType="afterEffect">
                                  <p:stCondLst>
                                    <p:cond delay="0"/>
                                  </p:stCondLst>
                                  <p:childTnLst>
                                    <p:animMotion origin="layout" path="M -4.79167E-6 1.11111E-6 L -0.76445 0.125 " pathEditMode="relative" rAng="0" ptsTypes="AA">
                                      <p:cBhvr>
                                        <p:cTn id="239" dur="2000" fill="hold"/>
                                        <p:tgtEl>
                                          <p:spTgt spid="129"/>
                                        </p:tgtEl>
                                        <p:attrNameLst>
                                          <p:attrName>ppt_x</p:attrName>
                                          <p:attrName>ppt_y</p:attrName>
                                        </p:attrNameLst>
                                      </p:cBhvr>
                                      <p:rCtr x="-38229" y="6250"/>
                                    </p:animMotion>
                                  </p:childTnLst>
                                </p:cTn>
                              </p:par>
                              <p:par>
                                <p:cTn id="240" presetID="35" presetClass="path" presetSubtype="0" accel="50000" decel="50000" fill="hold" grpId="1" nodeType="withEffect">
                                  <p:stCondLst>
                                    <p:cond delay="0"/>
                                  </p:stCondLst>
                                  <p:childTnLst>
                                    <p:animMotion origin="layout" path="M -3.33333E-6 -2.22222E-6 L -0.73854 -0.10185 " pathEditMode="relative" rAng="0" ptsTypes="AA">
                                      <p:cBhvr>
                                        <p:cTn id="241" dur="2000" fill="hold"/>
                                        <p:tgtEl>
                                          <p:spTgt spid="130"/>
                                        </p:tgtEl>
                                        <p:attrNameLst>
                                          <p:attrName>ppt_x</p:attrName>
                                          <p:attrName>ppt_y</p:attrName>
                                        </p:attrNameLst>
                                      </p:cBhvr>
                                      <p:rCtr x="-36927" y="-5093"/>
                                    </p:animMotion>
                                  </p:childTnLst>
                                </p:cTn>
                              </p:par>
                            </p:childTnLst>
                          </p:cTn>
                        </p:par>
                        <p:par>
                          <p:cTn id="242" fill="hold">
                            <p:stCondLst>
                              <p:cond delay="3000"/>
                            </p:stCondLst>
                            <p:childTnLst>
                              <p:par>
                                <p:cTn id="243" presetID="16" presetClass="exit" presetSubtype="21" fill="hold" grpId="2" nodeType="afterEffect">
                                  <p:stCondLst>
                                    <p:cond delay="0"/>
                                  </p:stCondLst>
                                  <p:childTnLst>
                                    <p:animEffect transition="out" filter="barn(inVertical)">
                                      <p:cBhvr>
                                        <p:cTn id="244" dur="500"/>
                                        <p:tgtEl>
                                          <p:spTgt spid="129"/>
                                        </p:tgtEl>
                                      </p:cBhvr>
                                    </p:animEffect>
                                    <p:set>
                                      <p:cBhvr>
                                        <p:cTn id="245" dur="1" fill="hold">
                                          <p:stCondLst>
                                            <p:cond delay="499"/>
                                          </p:stCondLst>
                                        </p:cTn>
                                        <p:tgtEl>
                                          <p:spTgt spid="129"/>
                                        </p:tgtEl>
                                        <p:attrNameLst>
                                          <p:attrName>style.visibility</p:attrName>
                                        </p:attrNameLst>
                                      </p:cBhvr>
                                      <p:to>
                                        <p:strVal val="hidden"/>
                                      </p:to>
                                    </p:set>
                                  </p:childTnLst>
                                </p:cTn>
                              </p:par>
                              <p:par>
                                <p:cTn id="246" presetID="16" presetClass="exit" presetSubtype="21" fill="hold" grpId="2" nodeType="withEffect">
                                  <p:stCondLst>
                                    <p:cond delay="0"/>
                                  </p:stCondLst>
                                  <p:childTnLst>
                                    <p:animEffect transition="out" filter="barn(inVertical)">
                                      <p:cBhvr>
                                        <p:cTn id="247" dur="500"/>
                                        <p:tgtEl>
                                          <p:spTgt spid="130"/>
                                        </p:tgtEl>
                                      </p:cBhvr>
                                    </p:animEffect>
                                    <p:set>
                                      <p:cBhvr>
                                        <p:cTn id="248" dur="1" fill="hold">
                                          <p:stCondLst>
                                            <p:cond delay="499"/>
                                          </p:stCondLst>
                                        </p:cTn>
                                        <p:tgtEl>
                                          <p:spTgt spid="130"/>
                                        </p:tgtEl>
                                        <p:attrNameLst>
                                          <p:attrName>style.visibility</p:attrName>
                                        </p:attrNameLst>
                                      </p:cBhvr>
                                      <p:to>
                                        <p:strVal val="hidden"/>
                                      </p:to>
                                    </p:set>
                                  </p:childTnLst>
                                </p:cTn>
                              </p:par>
                            </p:childTnLst>
                          </p:cTn>
                        </p:par>
                        <p:par>
                          <p:cTn id="249" fill="hold">
                            <p:stCondLst>
                              <p:cond delay="3500"/>
                            </p:stCondLst>
                            <p:childTnLst>
                              <p:par>
                                <p:cTn id="250" presetID="22" presetClass="exit" presetSubtype="1" fill="hold" nodeType="afterEffect">
                                  <p:stCondLst>
                                    <p:cond delay="0"/>
                                  </p:stCondLst>
                                  <p:childTnLst>
                                    <p:animEffect transition="out" filter="wipe(up)">
                                      <p:cBhvr>
                                        <p:cTn id="251" dur="500"/>
                                        <p:tgtEl>
                                          <p:spTgt spid="115"/>
                                        </p:tgtEl>
                                      </p:cBhvr>
                                    </p:animEffect>
                                    <p:set>
                                      <p:cBhvr>
                                        <p:cTn id="252" dur="1" fill="hold">
                                          <p:stCondLst>
                                            <p:cond delay="499"/>
                                          </p:stCondLst>
                                        </p:cTn>
                                        <p:tgtEl>
                                          <p:spTgt spid="115"/>
                                        </p:tgtEl>
                                        <p:attrNameLst>
                                          <p:attrName>style.visibility</p:attrName>
                                        </p:attrNameLst>
                                      </p:cBhvr>
                                      <p:to>
                                        <p:strVal val="hidden"/>
                                      </p:to>
                                    </p:set>
                                  </p:childTnLst>
                                </p:cTn>
                              </p:par>
                            </p:childTnLst>
                          </p:cTn>
                        </p:par>
                        <p:par>
                          <p:cTn id="253" fill="hold">
                            <p:stCondLst>
                              <p:cond delay="4000"/>
                            </p:stCondLst>
                            <p:childTnLst>
                              <p:par>
                                <p:cTn id="254" presetID="22" presetClass="entr" presetSubtype="8" fill="hold" nodeType="afterEffect">
                                  <p:stCondLst>
                                    <p:cond delay="0"/>
                                  </p:stCondLst>
                                  <p:childTnLst>
                                    <p:set>
                                      <p:cBhvr>
                                        <p:cTn id="255" dur="1" fill="hold">
                                          <p:stCondLst>
                                            <p:cond delay="0"/>
                                          </p:stCondLst>
                                        </p:cTn>
                                        <p:tgtEl>
                                          <p:spTgt spid="131"/>
                                        </p:tgtEl>
                                        <p:attrNameLst>
                                          <p:attrName>style.visibility</p:attrName>
                                        </p:attrNameLst>
                                      </p:cBhvr>
                                      <p:to>
                                        <p:strVal val="visible"/>
                                      </p:to>
                                    </p:set>
                                    <p:animEffect transition="in" filter="wipe(left)">
                                      <p:cBhvr>
                                        <p:cTn id="256" dur="1000"/>
                                        <p:tgtEl>
                                          <p:spTgt spid="131"/>
                                        </p:tgtEl>
                                      </p:cBhvr>
                                    </p:animEffect>
                                  </p:childTnLst>
                                </p:cTn>
                              </p:par>
                            </p:childTnLst>
                          </p:cTn>
                        </p:par>
                      </p:childTnLst>
                    </p:cTn>
                  </p:par>
                  <p:par>
                    <p:cTn id="257" fill="hold">
                      <p:stCondLst>
                        <p:cond delay="indefinite"/>
                      </p:stCondLst>
                      <p:childTnLst>
                        <p:par>
                          <p:cTn id="258" fill="hold">
                            <p:stCondLst>
                              <p:cond delay="0"/>
                            </p:stCondLst>
                            <p:childTnLst>
                              <p:par>
                                <p:cTn id="259" presetID="1" presetClass="entr" presetSubtype="0" fill="hold" nodeType="clickEffect">
                                  <p:stCondLst>
                                    <p:cond delay="0"/>
                                  </p:stCondLst>
                                  <p:childTnLst>
                                    <p:set>
                                      <p:cBhvr>
                                        <p:cTn id="260" dur="1" fill="hold">
                                          <p:stCondLst>
                                            <p:cond delay="0"/>
                                          </p:stCondLst>
                                        </p:cTn>
                                        <p:tgtEl>
                                          <p:spTgt spid="126"/>
                                        </p:tgtEl>
                                        <p:attrNameLst>
                                          <p:attrName>style.visibility</p:attrName>
                                        </p:attrNameLst>
                                      </p:cBhvr>
                                      <p:to>
                                        <p:strVal val="visible"/>
                                      </p:to>
                                    </p:set>
                                  </p:childTnLst>
                                </p:cTn>
                              </p:par>
                              <p:par>
                                <p:cTn id="261" presetID="42" presetClass="path" presetSubtype="0" accel="50000" decel="50000" fill="hold" nodeType="withEffect">
                                  <p:stCondLst>
                                    <p:cond delay="0"/>
                                  </p:stCondLst>
                                  <p:childTnLst>
                                    <p:animMotion origin="layout" path="M 4.16667E-6 1.48148E-6 L -0.01706 0.20185 " pathEditMode="relative" rAng="0" ptsTypes="AA">
                                      <p:cBhvr>
                                        <p:cTn id="262" dur="2000" fill="hold"/>
                                        <p:tgtEl>
                                          <p:spTgt spid="126"/>
                                        </p:tgtEl>
                                        <p:attrNameLst>
                                          <p:attrName>ppt_x</p:attrName>
                                          <p:attrName>ppt_y</p:attrName>
                                        </p:attrNameLst>
                                      </p:cBhvr>
                                      <p:rCtr x="-859" y="10093"/>
                                    </p:animMotion>
                                  </p:childTnLst>
                                </p:cTn>
                              </p:par>
                            </p:childTnLst>
                          </p:cTn>
                        </p:par>
                        <p:par>
                          <p:cTn id="263" fill="hold">
                            <p:stCondLst>
                              <p:cond delay="2000"/>
                            </p:stCondLst>
                            <p:childTnLst>
                              <p:par>
                                <p:cTn id="264" presetID="63" presetClass="path" presetSubtype="0" accel="50000" decel="50000" fill="hold" grpId="2" nodeType="afterEffect">
                                  <p:stCondLst>
                                    <p:cond delay="0"/>
                                  </p:stCondLst>
                                  <p:childTnLst>
                                    <p:animMotion origin="layout" path="M 0.02435 0.0007 L 0.0487 0.00162 " pathEditMode="relative" rAng="0" ptsTypes="AA">
                                      <p:cBhvr>
                                        <p:cTn id="265" dur="1000" fill="hold"/>
                                        <p:tgtEl>
                                          <p:spTgt spid="106"/>
                                        </p:tgtEl>
                                        <p:attrNameLst>
                                          <p:attrName>ppt_x</p:attrName>
                                          <p:attrName>ppt_y</p:attrName>
                                        </p:attrNameLst>
                                      </p:cBhvr>
                                      <p:rCtr x="1211" y="46"/>
                                    </p:animMotion>
                                  </p:childTnLst>
                                </p:cTn>
                              </p:par>
                            </p:childTnLst>
                          </p:cTn>
                        </p:par>
                        <p:par>
                          <p:cTn id="266" fill="hold">
                            <p:stCondLst>
                              <p:cond delay="3000"/>
                            </p:stCondLst>
                            <p:childTnLst>
                              <p:par>
                                <p:cTn id="267" presetID="63" presetClass="path" presetSubtype="0" accel="50000" decel="50000" fill="hold" grpId="3" nodeType="afterEffect">
                                  <p:stCondLst>
                                    <p:cond delay="0"/>
                                  </p:stCondLst>
                                  <p:childTnLst>
                                    <p:animMotion origin="layout" path="M 0.05156 0.00023 L 0.07591 1.48148E-6 " pathEditMode="relative" rAng="0" ptsTypes="AA">
                                      <p:cBhvr>
                                        <p:cTn id="268" dur="1000" fill="hold"/>
                                        <p:tgtEl>
                                          <p:spTgt spid="107"/>
                                        </p:tgtEl>
                                        <p:attrNameLst>
                                          <p:attrName>ppt_x</p:attrName>
                                          <p:attrName>ppt_y</p:attrName>
                                        </p:attrNameLst>
                                      </p:cBhvr>
                                      <p:rCtr x="1211" y="-23"/>
                                    </p:animMotion>
                                  </p:childTnLst>
                                </p:cTn>
                              </p:par>
                            </p:childTnLst>
                          </p:cTn>
                        </p:par>
                        <p:par>
                          <p:cTn id="269" fill="hold">
                            <p:stCondLst>
                              <p:cond delay="4000"/>
                            </p:stCondLst>
                            <p:childTnLst>
                              <p:par>
                                <p:cTn id="270" presetID="22" presetClass="exit" presetSubtype="1" fill="hold" nodeType="afterEffect">
                                  <p:stCondLst>
                                    <p:cond delay="0"/>
                                  </p:stCondLst>
                                  <p:childTnLst>
                                    <p:animEffect transition="out" filter="wipe(up)">
                                      <p:cBhvr>
                                        <p:cTn id="271" dur="500"/>
                                        <p:tgtEl>
                                          <p:spTgt spid="131"/>
                                        </p:tgtEl>
                                      </p:cBhvr>
                                    </p:animEffect>
                                    <p:set>
                                      <p:cBhvr>
                                        <p:cTn id="272" dur="1" fill="hold">
                                          <p:stCondLst>
                                            <p:cond delay="499"/>
                                          </p:stCondLst>
                                        </p:cTn>
                                        <p:tgtEl>
                                          <p:spTgt spid="131"/>
                                        </p:tgtEl>
                                        <p:attrNameLst>
                                          <p:attrName>style.visibility</p:attrName>
                                        </p:attrNameLst>
                                      </p:cBhvr>
                                      <p:to>
                                        <p:strVal val="hidden"/>
                                      </p:to>
                                    </p:set>
                                  </p:childTnLst>
                                </p:cTn>
                              </p:par>
                            </p:childTnLst>
                          </p:cTn>
                        </p:par>
                        <p:par>
                          <p:cTn id="273" fill="hold">
                            <p:stCondLst>
                              <p:cond delay="4500"/>
                            </p:stCondLst>
                            <p:childTnLst>
                              <p:par>
                                <p:cTn id="274" presetID="22" presetClass="entr" presetSubtype="8" fill="hold" nodeType="afterEffect">
                                  <p:stCondLst>
                                    <p:cond delay="0"/>
                                  </p:stCondLst>
                                  <p:childTnLst>
                                    <p:set>
                                      <p:cBhvr>
                                        <p:cTn id="275" dur="1" fill="hold">
                                          <p:stCondLst>
                                            <p:cond delay="0"/>
                                          </p:stCondLst>
                                        </p:cTn>
                                        <p:tgtEl>
                                          <p:spTgt spid="115"/>
                                        </p:tgtEl>
                                        <p:attrNameLst>
                                          <p:attrName>style.visibility</p:attrName>
                                        </p:attrNameLst>
                                      </p:cBhvr>
                                      <p:to>
                                        <p:strVal val="visible"/>
                                      </p:to>
                                    </p:set>
                                    <p:animEffect transition="in" filter="wipe(left)">
                                      <p:cBhvr>
                                        <p:cTn id="276" dur="1000"/>
                                        <p:tgtEl>
                                          <p:spTgt spid="115"/>
                                        </p:tgtEl>
                                      </p:cBhvr>
                                    </p:animEffect>
                                  </p:childTnLst>
                                </p:cTn>
                              </p:par>
                            </p:childTnLst>
                          </p:cTn>
                        </p:par>
                      </p:childTnLst>
                    </p:cTn>
                  </p:par>
                  <p:par>
                    <p:cTn id="277" fill="hold">
                      <p:stCondLst>
                        <p:cond delay="indefinite"/>
                      </p:stCondLst>
                      <p:childTnLst>
                        <p:par>
                          <p:cTn id="278" fill="hold">
                            <p:stCondLst>
                              <p:cond delay="0"/>
                            </p:stCondLst>
                            <p:childTnLst>
                              <p:par>
                                <p:cTn id="279" presetID="31" presetClass="entr" presetSubtype="0" fill="hold" grpId="0" nodeType="clickEffect">
                                  <p:stCondLst>
                                    <p:cond delay="0"/>
                                  </p:stCondLst>
                                  <p:childTnLst>
                                    <p:set>
                                      <p:cBhvr>
                                        <p:cTn id="280" dur="1" fill="hold">
                                          <p:stCondLst>
                                            <p:cond delay="0"/>
                                          </p:stCondLst>
                                        </p:cTn>
                                        <p:tgtEl>
                                          <p:spTgt spid="133"/>
                                        </p:tgtEl>
                                        <p:attrNameLst>
                                          <p:attrName>style.visibility</p:attrName>
                                        </p:attrNameLst>
                                      </p:cBhvr>
                                      <p:to>
                                        <p:strVal val="visible"/>
                                      </p:to>
                                    </p:set>
                                    <p:anim calcmode="lin" valueType="num">
                                      <p:cBhvr>
                                        <p:cTn id="281" dur="1000" fill="hold"/>
                                        <p:tgtEl>
                                          <p:spTgt spid="133"/>
                                        </p:tgtEl>
                                        <p:attrNameLst>
                                          <p:attrName>ppt_w</p:attrName>
                                        </p:attrNameLst>
                                      </p:cBhvr>
                                      <p:tavLst>
                                        <p:tav tm="0">
                                          <p:val>
                                            <p:fltVal val="0"/>
                                          </p:val>
                                        </p:tav>
                                        <p:tav tm="100000">
                                          <p:val>
                                            <p:strVal val="#ppt_w"/>
                                          </p:val>
                                        </p:tav>
                                      </p:tavLst>
                                    </p:anim>
                                    <p:anim calcmode="lin" valueType="num">
                                      <p:cBhvr>
                                        <p:cTn id="282" dur="1000" fill="hold"/>
                                        <p:tgtEl>
                                          <p:spTgt spid="133"/>
                                        </p:tgtEl>
                                        <p:attrNameLst>
                                          <p:attrName>ppt_h</p:attrName>
                                        </p:attrNameLst>
                                      </p:cBhvr>
                                      <p:tavLst>
                                        <p:tav tm="0">
                                          <p:val>
                                            <p:fltVal val="0"/>
                                          </p:val>
                                        </p:tav>
                                        <p:tav tm="100000">
                                          <p:val>
                                            <p:strVal val="#ppt_h"/>
                                          </p:val>
                                        </p:tav>
                                      </p:tavLst>
                                    </p:anim>
                                    <p:anim calcmode="lin" valueType="num">
                                      <p:cBhvr>
                                        <p:cTn id="283" dur="1000" fill="hold"/>
                                        <p:tgtEl>
                                          <p:spTgt spid="133"/>
                                        </p:tgtEl>
                                        <p:attrNameLst>
                                          <p:attrName>style.rotation</p:attrName>
                                        </p:attrNameLst>
                                      </p:cBhvr>
                                      <p:tavLst>
                                        <p:tav tm="0">
                                          <p:val>
                                            <p:fltVal val="90"/>
                                          </p:val>
                                        </p:tav>
                                        <p:tav tm="100000">
                                          <p:val>
                                            <p:fltVal val="0"/>
                                          </p:val>
                                        </p:tav>
                                      </p:tavLst>
                                    </p:anim>
                                    <p:animEffect transition="in" filter="fade">
                                      <p:cBhvr>
                                        <p:cTn id="284" dur="1000"/>
                                        <p:tgtEl>
                                          <p:spTgt spid="133"/>
                                        </p:tgtEl>
                                      </p:cBhvr>
                                    </p:animEffect>
                                  </p:childTnLst>
                                </p:cTn>
                              </p:par>
                              <p:par>
                                <p:cTn id="285" presetID="31" presetClass="entr" presetSubtype="0" fill="hold" grpId="0" nodeType="withEffect">
                                  <p:stCondLst>
                                    <p:cond delay="0"/>
                                  </p:stCondLst>
                                  <p:childTnLst>
                                    <p:set>
                                      <p:cBhvr>
                                        <p:cTn id="286" dur="1" fill="hold">
                                          <p:stCondLst>
                                            <p:cond delay="0"/>
                                          </p:stCondLst>
                                        </p:cTn>
                                        <p:tgtEl>
                                          <p:spTgt spid="132"/>
                                        </p:tgtEl>
                                        <p:attrNameLst>
                                          <p:attrName>style.visibility</p:attrName>
                                        </p:attrNameLst>
                                      </p:cBhvr>
                                      <p:to>
                                        <p:strVal val="visible"/>
                                      </p:to>
                                    </p:set>
                                    <p:anim calcmode="lin" valueType="num">
                                      <p:cBhvr>
                                        <p:cTn id="287" dur="1000" fill="hold"/>
                                        <p:tgtEl>
                                          <p:spTgt spid="132"/>
                                        </p:tgtEl>
                                        <p:attrNameLst>
                                          <p:attrName>ppt_w</p:attrName>
                                        </p:attrNameLst>
                                      </p:cBhvr>
                                      <p:tavLst>
                                        <p:tav tm="0">
                                          <p:val>
                                            <p:fltVal val="0"/>
                                          </p:val>
                                        </p:tav>
                                        <p:tav tm="100000">
                                          <p:val>
                                            <p:strVal val="#ppt_w"/>
                                          </p:val>
                                        </p:tav>
                                      </p:tavLst>
                                    </p:anim>
                                    <p:anim calcmode="lin" valueType="num">
                                      <p:cBhvr>
                                        <p:cTn id="288" dur="1000" fill="hold"/>
                                        <p:tgtEl>
                                          <p:spTgt spid="132"/>
                                        </p:tgtEl>
                                        <p:attrNameLst>
                                          <p:attrName>ppt_h</p:attrName>
                                        </p:attrNameLst>
                                      </p:cBhvr>
                                      <p:tavLst>
                                        <p:tav tm="0">
                                          <p:val>
                                            <p:fltVal val="0"/>
                                          </p:val>
                                        </p:tav>
                                        <p:tav tm="100000">
                                          <p:val>
                                            <p:strVal val="#ppt_h"/>
                                          </p:val>
                                        </p:tav>
                                      </p:tavLst>
                                    </p:anim>
                                    <p:anim calcmode="lin" valueType="num">
                                      <p:cBhvr>
                                        <p:cTn id="289" dur="1000" fill="hold"/>
                                        <p:tgtEl>
                                          <p:spTgt spid="132"/>
                                        </p:tgtEl>
                                        <p:attrNameLst>
                                          <p:attrName>style.rotation</p:attrName>
                                        </p:attrNameLst>
                                      </p:cBhvr>
                                      <p:tavLst>
                                        <p:tav tm="0">
                                          <p:val>
                                            <p:fltVal val="90"/>
                                          </p:val>
                                        </p:tav>
                                        <p:tav tm="100000">
                                          <p:val>
                                            <p:fltVal val="0"/>
                                          </p:val>
                                        </p:tav>
                                      </p:tavLst>
                                    </p:anim>
                                    <p:animEffect transition="in" filter="fade">
                                      <p:cBhvr>
                                        <p:cTn id="290" dur="1000"/>
                                        <p:tgtEl>
                                          <p:spTgt spid="132"/>
                                        </p:tgtEl>
                                      </p:cBhvr>
                                    </p:animEffect>
                                  </p:childTnLst>
                                </p:cTn>
                              </p:par>
                            </p:childTnLst>
                          </p:cTn>
                        </p:par>
                        <p:par>
                          <p:cTn id="291" fill="hold">
                            <p:stCondLst>
                              <p:cond delay="1000"/>
                            </p:stCondLst>
                            <p:childTnLst>
                              <p:par>
                                <p:cTn id="292" presetID="35" presetClass="path" presetSubtype="0" accel="50000" decel="50000" fill="hold" grpId="1" nodeType="afterEffect">
                                  <p:stCondLst>
                                    <p:cond delay="0"/>
                                  </p:stCondLst>
                                  <p:childTnLst>
                                    <p:animMotion origin="layout" path="M -3.75E-6 -4.44444E-6 L -0.76445 0.125 " pathEditMode="relative" rAng="0" ptsTypes="AA">
                                      <p:cBhvr>
                                        <p:cTn id="293" dur="2000" fill="hold"/>
                                        <p:tgtEl>
                                          <p:spTgt spid="133"/>
                                        </p:tgtEl>
                                        <p:attrNameLst>
                                          <p:attrName>ppt_x</p:attrName>
                                          <p:attrName>ppt_y</p:attrName>
                                        </p:attrNameLst>
                                      </p:cBhvr>
                                      <p:rCtr x="-38229" y="6250"/>
                                    </p:animMotion>
                                  </p:childTnLst>
                                </p:cTn>
                              </p:par>
                              <p:par>
                                <p:cTn id="294" presetID="35" presetClass="path" presetSubtype="0" accel="50000" decel="50000" fill="hold" grpId="1" nodeType="withEffect">
                                  <p:stCondLst>
                                    <p:cond delay="0"/>
                                  </p:stCondLst>
                                  <p:childTnLst>
                                    <p:animMotion origin="layout" path="M -4.58333E-6 1.85185E-6 L -0.76432 -0.10347 " pathEditMode="relative" rAng="0" ptsTypes="AA">
                                      <p:cBhvr>
                                        <p:cTn id="295" dur="2000" fill="hold"/>
                                        <p:tgtEl>
                                          <p:spTgt spid="132"/>
                                        </p:tgtEl>
                                        <p:attrNameLst>
                                          <p:attrName>ppt_x</p:attrName>
                                          <p:attrName>ppt_y</p:attrName>
                                        </p:attrNameLst>
                                      </p:cBhvr>
                                      <p:rCtr x="-38216" y="-5185"/>
                                    </p:animMotion>
                                  </p:childTnLst>
                                </p:cTn>
                              </p:par>
                            </p:childTnLst>
                          </p:cTn>
                        </p:par>
                        <p:par>
                          <p:cTn id="296" fill="hold">
                            <p:stCondLst>
                              <p:cond delay="3000"/>
                            </p:stCondLst>
                            <p:childTnLst>
                              <p:par>
                                <p:cTn id="297" presetID="16" presetClass="exit" presetSubtype="21" fill="hold" grpId="2" nodeType="afterEffect">
                                  <p:stCondLst>
                                    <p:cond delay="0"/>
                                  </p:stCondLst>
                                  <p:childTnLst>
                                    <p:animEffect transition="out" filter="barn(inVertical)">
                                      <p:cBhvr>
                                        <p:cTn id="298" dur="500"/>
                                        <p:tgtEl>
                                          <p:spTgt spid="133"/>
                                        </p:tgtEl>
                                      </p:cBhvr>
                                    </p:animEffect>
                                    <p:set>
                                      <p:cBhvr>
                                        <p:cTn id="299" dur="1" fill="hold">
                                          <p:stCondLst>
                                            <p:cond delay="499"/>
                                          </p:stCondLst>
                                        </p:cTn>
                                        <p:tgtEl>
                                          <p:spTgt spid="133"/>
                                        </p:tgtEl>
                                        <p:attrNameLst>
                                          <p:attrName>style.visibility</p:attrName>
                                        </p:attrNameLst>
                                      </p:cBhvr>
                                      <p:to>
                                        <p:strVal val="hidden"/>
                                      </p:to>
                                    </p:set>
                                  </p:childTnLst>
                                </p:cTn>
                              </p:par>
                              <p:par>
                                <p:cTn id="300" presetID="16" presetClass="exit" presetSubtype="21" fill="hold" grpId="2" nodeType="withEffect">
                                  <p:stCondLst>
                                    <p:cond delay="0"/>
                                  </p:stCondLst>
                                  <p:childTnLst>
                                    <p:animEffect transition="out" filter="barn(inVertical)">
                                      <p:cBhvr>
                                        <p:cTn id="301" dur="500"/>
                                        <p:tgtEl>
                                          <p:spTgt spid="132"/>
                                        </p:tgtEl>
                                      </p:cBhvr>
                                    </p:animEffect>
                                    <p:set>
                                      <p:cBhvr>
                                        <p:cTn id="302" dur="1" fill="hold">
                                          <p:stCondLst>
                                            <p:cond delay="499"/>
                                          </p:stCondLst>
                                        </p:cTn>
                                        <p:tgtEl>
                                          <p:spTgt spid="132"/>
                                        </p:tgtEl>
                                        <p:attrNameLst>
                                          <p:attrName>style.visibility</p:attrName>
                                        </p:attrNameLst>
                                      </p:cBhvr>
                                      <p:to>
                                        <p:strVal val="hidden"/>
                                      </p:to>
                                    </p:set>
                                  </p:childTnLst>
                                </p:cTn>
                              </p:par>
                            </p:childTnLst>
                          </p:cTn>
                        </p:par>
                        <p:par>
                          <p:cTn id="303" fill="hold">
                            <p:stCondLst>
                              <p:cond delay="3500"/>
                            </p:stCondLst>
                            <p:childTnLst>
                              <p:par>
                                <p:cTn id="304" presetID="22" presetClass="exit" presetSubtype="1" fill="hold" nodeType="afterEffect">
                                  <p:stCondLst>
                                    <p:cond delay="0"/>
                                  </p:stCondLst>
                                  <p:childTnLst>
                                    <p:animEffect transition="out" filter="wipe(up)">
                                      <p:cBhvr>
                                        <p:cTn id="305" dur="500"/>
                                        <p:tgtEl>
                                          <p:spTgt spid="115"/>
                                        </p:tgtEl>
                                      </p:cBhvr>
                                    </p:animEffect>
                                    <p:set>
                                      <p:cBhvr>
                                        <p:cTn id="306" dur="1" fill="hold">
                                          <p:stCondLst>
                                            <p:cond delay="499"/>
                                          </p:stCondLst>
                                        </p:cTn>
                                        <p:tgtEl>
                                          <p:spTgt spid="115"/>
                                        </p:tgtEl>
                                        <p:attrNameLst>
                                          <p:attrName>style.visibility</p:attrName>
                                        </p:attrNameLst>
                                      </p:cBhvr>
                                      <p:to>
                                        <p:strVal val="hidden"/>
                                      </p:to>
                                    </p:set>
                                  </p:childTnLst>
                                </p:cTn>
                              </p:par>
                            </p:childTnLst>
                          </p:cTn>
                        </p:par>
                        <p:par>
                          <p:cTn id="307" fill="hold">
                            <p:stCondLst>
                              <p:cond delay="4000"/>
                            </p:stCondLst>
                            <p:childTnLst>
                              <p:par>
                                <p:cTn id="308" presetID="22" presetClass="entr" presetSubtype="8" fill="hold" nodeType="afterEffect">
                                  <p:stCondLst>
                                    <p:cond delay="0"/>
                                  </p:stCondLst>
                                  <p:childTnLst>
                                    <p:set>
                                      <p:cBhvr>
                                        <p:cTn id="309" dur="1" fill="hold">
                                          <p:stCondLst>
                                            <p:cond delay="0"/>
                                          </p:stCondLst>
                                        </p:cTn>
                                        <p:tgtEl>
                                          <p:spTgt spid="121"/>
                                        </p:tgtEl>
                                        <p:attrNameLst>
                                          <p:attrName>style.visibility</p:attrName>
                                        </p:attrNameLst>
                                      </p:cBhvr>
                                      <p:to>
                                        <p:strVal val="visible"/>
                                      </p:to>
                                    </p:set>
                                    <p:animEffect transition="in" filter="wipe(left)">
                                      <p:cBhvr>
                                        <p:cTn id="310" dur="1000"/>
                                        <p:tgtEl>
                                          <p:spTgt spid="121"/>
                                        </p:tgtEl>
                                      </p:cBhvr>
                                    </p:animEffect>
                                  </p:childTnLst>
                                </p:cTn>
                              </p:par>
                            </p:childTnLst>
                          </p:cTn>
                        </p:par>
                      </p:childTnLst>
                    </p:cTn>
                  </p:par>
                  <p:par>
                    <p:cTn id="311" fill="hold">
                      <p:stCondLst>
                        <p:cond delay="indefinite"/>
                      </p:stCondLst>
                      <p:childTnLst>
                        <p:par>
                          <p:cTn id="312" fill="hold">
                            <p:stCondLst>
                              <p:cond delay="0"/>
                            </p:stCondLst>
                            <p:childTnLst>
                              <p:par>
                                <p:cTn id="313" presetID="22" presetClass="exit" presetSubtype="1" fill="hold" nodeType="clickEffect">
                                  <p:stCondLst>
                                    <p:cond delay="0"/>
                                  </p:stCondLst>
                                  <p:childTnLst>
                                    <p:animEffect transition="out" filter="wipe(up)">
                                      <p:cBhvr>
                                        <p:cTn id="314" dur="500"/>
                                        <p:tgtEl>
                                          <p:spTgt spid="121"/>
                                        </p:tgtEl>
                                      </p:cBhvr>
                                    </p:animEffect>
                                    <p:set>
                                      <p:cBhvr>
                                        <p:cTn id="315" dur="1" fill="hold">
                                          <p:stCondLst>
                                            <p:cond delay="499"/>
                                          </p:stCondLst>
                                        </p:cTn>
                                        <p:tgtEl>
                                          <p:spTgt spid="121"/>
                                        </p:tgtEl>
                                        <p:attrNameLst>
                                          <p:attrName>style.visibility</p:attrName>
                                        </p:attrNameLst>
                                      </p:cBhvr>
                                      <p:to>
                                        <p:strVal val="hidden"/>
                                      </p:to>
                                    </p:set>
                                  </p:childTnLst>
                                </p:cTn>
                              </p:par>
                            </p:childTnLst>
                          </p:cTn>
                        </p:par>
                        <p:par>
                          <p:cTn id="316" fill="hold">
                            <p:stCondLst>
                              <p:cond delay="500"/>
                            </p:stCondLst>
                            <p:childTnLst>
                              <p:par>
                                <p:cTn id="317" presetID="22" presetClass="entr" presetSubtype="8" fill="hold" nodeType="afterEffect">
                                  <p:stCondLst>
                                    <p:cond delay="0"/>
                                  </p:stCondLst>
                                  <p:childTnLst>
                                    <p:set>
                                      <p:cBhvr>
                                        <p:cTn id="318" dur="1" fill="hold">
                                          <p:stCondLst>
                                            <p:cond delay="0"/>
                                          </p:stCondLst>
                                        </p:cTn>
                                        <p:tgtEl>
                                          <p:spTgt spid="135"/>
                                        </p:tgtEl>
                                        <p:attrNameLst>
                                          <p:attrName>style.visibility</p:attrName>
                                        </p:attrNameLst>
                                      </p:cBhvr>
                                      <p:to>
                                        <p:strVal val="visible"/>
                                      </p:to>
                                    </p:set>
                                    <p:animEffect transition="in" filter="wipe(left)">
                                      <p:cBhvr>
                                        <p:cTn id="319" dur="1000"/>
                                        <p:tgtEl>
                                          <p:spTgt spid="135"/>
                                        </p:tgtEl>
                                      </p:cBhvr>
                                    </p:animEffect>
                                  </p:childTnLst>
                                </p:cTn>
                              </p:par>
                            </p:childTnLst>
                          </p:cTn>
                        </p:par>
                      </p:childTnLst>
                    </p:cTn>
                  </p:par>
                  <p:par>
                    <p:cTn id="320" fill="hold">
                      <p:stCondLst>
                        <p:cond delay="indefinite"/>
                      </p:stCondLst>
                      <p:childTnLst>
                        <p:par>
                          <p:cTn id="321" fill="hold">
                            <p:stCondLst>
                              <p:cond delay="0"/>
                            </p:stCondLst>
                            <p:childTnLst>
                              <p:par>
                                <p:cTn id="322" presetID="32" presetClass="emph" presetSubtype="0" fill="hold" nodeType="clickEffect">
                                  <p:stCondLst>
                                    <p:cond delay="0"/>
                                  </p:stCondLst>
                                  <p:childTnLst>
                                    <p:animRot by="120000">
                                      <p:cBhvr>
                                        <p:cTn id="323" dur="100" fill="hold">
                                          <p:stCondLst>
                                            <p:cond delay="0"/>
                                          </p:stCondLst>
                                        </p:cTn>
                                        <p:tgtEl>
                                          <p:spTgt spid="135"/>
                                        </p:tgtEl>
                                        <p:attrNameLst>
                                          <p:attrName>r</p:attrName>
                                        </p:attrNameLst>
                                      </p:cBhvr>
                                    </p:animRot>
                                    <p:animRot by="-240000">
                                      <p:cBhvr>
                                        <p:cTn id="324" dur="200" fill="hold">
                                          <p:stCondLst>
                                            <p:cond delay="200"/>
                                          </p:stCondLst>
                                        </p:cTn>
                                        <p:tgtEl>
                                          <p:spTgt spid="135"/>
                                        </p:tgtEl>
                                        <p:attrNameLst>
                                          <p:attrName>r</p:attrName>
                                        </p:attrNameLst>
                                      </p:cBhvr>
                                    </p:animRot>
                                    <p:animRot by="240000">
                                      <p:cBhvr>
                                        <p:cTn id="325" dur="200" fill="hold">
                                          <p:stCondLst>
                                            <p:cond delay="400"/>
                                          </p:stCondLst>
                                        </p:cTn>
                                        <p:tgtEl>
                                          <p:spTgt spid="135"/>
                                        </p:tgtEl>
                                        <p:attrNameLst>
                                          <p:attrName>r</p:attrName>
                                        </p:attrNameLst>
                                      </p:cBhvr>
                                    </p:animRot>
                                    <p:animRot by="-240000">
                                      <p:cBhvr>
                                        <p:cTn id="326" dur="200" fill="hold">
                                          <p:stCondLst>
                                            <p:cond delay="600"/>
                                          </p:stCondLst>
                                        </p:cTn>
                                        <p:tgtEl>
                                          <p:spTgt spid="135"/>
                                        </p:tgtEl>
                                        <p:attrNameLst>
                                          <p:attrName>r</p:attrName>
                                        </p:attrNameLst>
                                      </p:cBhvr>
                                    </p:animRot>
                                    <p:animRot by="120000">
                                      <p:cBhvr>
                                        <p:cTn id="327" dur="200" fill="hold">
                                          <p:stCondLst>
                                            <p:cond delay="800"/>
                                          </p:stCondLst>
                                        </p:cTn>
                                        <p:tgtEl>
                                          <p:spTgt spid="135"/>
                                        </p:tgtEl>
                                        <p:attrNameLst>
                                          <p:attrName>r</p:attrName>
                                        </p:attrNameLst>
                                      </p:cBhvr>
                                    </p:animRot>
                                  </p:childTnLst>
                                </p:cTn>
                              </p:par>
                            </p:childTnLst>
                          </p:cTn>
                        </p:par>
                        <p:par>
                          <p:cTn id="328" fill="hold">
                            <p:stCondLst>
                              <p:cond delay="1000"/>
                            </p:stCondLst>
                            <p:childTnLst>
                              <p:par>
                                <p:cTn id="329" presetID="22" presetClass="exit" presetSubtype="1" fill="hold" nodeType="afterEffect">
                                  <p:stCondLst>
                                    <p:cond delay="0"/>
                                  </p:stCondLst>
                                  <p:childTnLst>
                                    <p:animEffect transition="out" filter="wipe(up)">
                                      <p:cBhvr>
                                        <p:cTn id="330" dur="500"/>
                                        <p:tgtEl>
                                          <p:spTgt spid="135"/>
                                        </p:tgtEl>
                                      </p:cBhvr>
                                    </p:animEffect>
                                    <p:set>
                                      <p:cBhvr>
                                        <p:cTn id="331" dur="1" fill="hold">
                                          <p:stCondLst>
                                            <p:cond delay="499"/>
                                          </p:stCondLst>
                                        </p:cTn>
                                        <p:tgtEl>
                                          <p:spTgt spid="135"/>
                                        </p:tgtEl>
                                        <p:attrNameLst>
                                          <p:attrName>style.visibility</p:attrName>
                                        </p:attrNameLst>
                                      </p:cBhvr>
                                      <p:to>
                                        <p:strVal val="hidden"/>
                                      </p:to>
                                    </p:set>
                                  </p:childTnLst>
                                </p:cTn>
                              </p:par>
                            </p:childTnLst>
                          </p:cTn>
                        </p:par>
                        <p:par>
                          <p:cTn id="332" fill="hold">
                            <p:stCondLst>
                              <p:cond delay="1500"/>
                            </p:stCondLst>
                            <p:childTnLst>
                              <p:par>
                                <p:cTn id="333" presetID="22" presetClass="entr" presetSubtype="8" fill="hold" nodeType="afterEffect">
                                  <p:stCondLst>
                                    <p:cond delay="0"/>
                                  </p:stCondLst>
                                  <p:childTnLst>
                                    <p:set>
                                      <p:cBhvr>
                                        <p:cTn id="334" dur="1" fill="hold">
                                          <p:stCondLst>
                                            <p:cond delay="0"/>
                                          </p:stCondLst>
                                        </p:cTn>
                                        <p:tgtEl>
                                          <p:spTgt spid="137"/>
                                        </p:tgtEl>
                                        <p:attrNameLst>
                                          <p:attrName>style.visibility</p:attrName>
                                        </p:attrNameLst>
                                      </p:cBhvr>
                                      <p:to>
                                        <p:strVal val="visible"/>
                                      </p:to>
                                    </p:set>
                                    <p:animEffect transition="in" filter="wipe(left)">
                                      <p:cBhvr>
                                        <p:cTn id="335" dur="1000"/>
                                        <p:tgtEl>
                                          <p:spTgt spid="137"/>
                                        </p:tgtEl>
                                      </p:cBhvr>
                                    </p:animEffect>
                                  </p:childTnLst>
                                </p:cTn>
                              </p:par>
                            </p:childTnLst>
                          </p:cTn>
                        </p:par>
                      </p:childTnLst>
                    </p:cTn>
                  </p:par>
                  <p:par>
                    <p:cTn id="336" fill="hold">
                      <p:stCondLst>
                        <p:cond delay="indefinite"/>
                      </p:stCondLst>
                      <p:childTnLst>
                        <p:par>
                          <p:cTn id="337" fill="hold">
                            <p:stCondLst>
                              <p:cond delay="0"/>
                            </p:stCondLst>
                            <p:childTnLst>
                              <p:par>
                                <p:cTn id="338" presetID="63" presetClass="path" presetSubtype="0" accel="50000" decel="50000" fill="hold" grpId="3" nodeType="clickEffect">
                                  <p:stCondLst>
                                    <p:cond delay="0"/>
                                  </p:stCondLst>
                                  <p:childTnLst>
                                    <p:animMotion origin="layout" path="M 0.05053 0.00046 L 0.0767 0.00023 " pathEditMode="relative" rAng="0" ptsTypes="AA">
                                      <p:cBhvr>
                                        <p:cTn id="339" dur="1000" fill="hold"/>
                                        <p:tgtEl>
                                          <p:spTgt spid="105"/>
                                        </p:tgtEl>
                                        <p:attrNameLst>
                                          <p:attrName>ppt_x</p:attrName>
                                          <p:attrName>ppt_y</p:attrName>
                                        </p:attrNameLst>
                                      </p:cBhvr>
                                      <p:rCtr x="1302" y="-23"/>
                                    </p:animMotion>
                                  </p:childTnLst>
                                </p:cTn>
                              </p:par>
                            </p:childTnLst>
                          </p:cTn>
                        </p:par>
                        <p:par>
                          <p:cTn id="340" fill="hold">
                            <p:stCondLst>
                              <p:cond delay="1000"/>
                            </p:stCondLst>
                            <p:childTnLst>
                              <p:par>
                                <p:cTn id="341" presetID="63" presetClass="path" presetSubtype="0" accel="50000" decel="50000" fill="hold" grpId="3" nodeType="afterEffect">
                                  <p:stCondLst>
                                    <p:cond delay="0"/>
                                  </p:stCondLst>
                                  <p:childTnLst>
                                    <p:animMotion origin="layout" path="M 0.0487 0.00162 L 0.07305 0.00069 " pathEditMode="relative" rAng="0" ptsTypes="AA">
                                      <p:cBhvr>
                                        <p:cTn id="342" dur="1000" fill="hold"/>
                                        <p:tgtEl>
                                          <p:spTgt spid="106"/>
                                        </p:tgtEl>
                                        <p:attrNameLst>
                                          <p:attrName>ppt_x</p:attrName>
                                          <p:attrName>ppt_y</p:attrName>
                                        </p:attrNameLst>
                                      </p:cBhvr>
                                      <p:rCtr x="1211" y="-46"/>
                                    </p:animMotion>
                                  </p:childTnLst>
                                </p:cTn>
                              </p:par>
                            </p:childTnLst>
                          </p:cTn>
                        </p:par>
                        <p:par>
                          <p:cTn id="343" fill="hold">
                            <p:stCondLst>
                              <p:cond delay="2000"/>
                            </p:stCondLst>
                            <p:childTnLst>
                              <p:par>
                                <p:cTn id="344" presetID="22" presetClass="exit" presetSubtype="1" fill="hold" nodeType="afterEffect">
                                  <p:stCondLst>
                                    <p:cond delay="0"/>
                                  </p:stCondLst>
                                  <p:childTnLst>
                                    <p:animEffect transition="out" filter="wipe(up)">
                                      <p:cBhvr>
                                        <p:cTn id="345" dur="500"/>
                                        <p:tgtEl>
                                          <p:spTgt spid="137"/>
                                        </p:tgtEl>
                                      </p:cBhvr>
                                    </p:animEffect>
                                    <p:set>
                                      <p:cBhvr>
                                        <p:cTn id="346" dur="1" fill="hold">
                                          <p:stCondLst>
                                            <p:cond delay="499"/>
                                          </p:stCondLst>
                                        </p:cTn>
                                        <p:tgtEl>
                                          <p:spTgt spid="137"/>
                                        </p:tgtEl>
                                        <p:attrNameLst>
                                          <p:attrName>style.visibility</p:attrName>
                                        </p:attrNameLst>
                                      </p:cBhvr>
                                      <p:to>
                                        <p:strVal val="hidden"/>
                                      </p:to>
                                    </p:set>
                                  </p:childTnLst>
                                </p:cTn>
                              </p:par>
                            </p:childTnLst>
                          </p:cTn>
                        </p:par>
                        <p:par>
                          <p:cTn id="347" fill="hold">
                            <p:stCondLst>
                              <p:cond delay="2500"/>
                            </p:stCondLst>
                            <p:childTnLst>
                              <p:par>
                                <p:cTn id="348" presetID="22" presetClass="entr" presetSubtype="8" fill="hold" nodeType="afterEffect">
                                  <p:stCondLst>
                                    <p:cond delay="0"/>
                                  </p:stCondLst>
                                  <p:childTnLst>
                                    <p:set>
                                      <p:cBhvr>
                                        <p:cTn id="349" dur="1" fill="hold">
                                          <p:stCondLst>
                                            <p:cond delay="0"/>
                                          </p:stCondLst>
                                        </p:cTn>
                                        <p:tgtEl>
                                          <p:spTgt spid="139"/>
                                        </p:tgtEl>
                                        <p:attrNameLst>
                                          <p:attrName>style.visibility</p:attrName>
                                        </p:attrNameLst>
                                      </p:cBhvr>
                                      <p:to>
                                        <p:strVal val="visible"/>
                                      </p:to>
                                    </p:set>
                                    <p:animEffect transition="in" filter="wipe(left)">
                                      <p:cBhvr>
                                        <p:cTn id="350" dur="1000"/>
                                        <p:tgtEl>
                                          <p:spTgt spid="139"/>
                                        </p:tgtEl>
                                      </p:cBhvr>
                                    </p:animEffect>
                                  </p:childTnLst>
                                </p:cTn>
                              </p:par>
                            </p:childTnLst>
                          </p:cTn>
                        </p:par>
                      </p:childTnLst>
                    </p:cTn>
                  </p:par>
                  <p:par>
                    <p:cTn id="351" fill="hold">
                      <p:stCondLst>
                        <p:cond delay="indefinite"/>
                      </p:stCondLst>
                      <p:childTnLst>
                        <p:par>
                          <p:cTn id="352" fill="hold">
                            <p:stCondLst>
                              <p:cond delay="0"/>
                            </p:stCondLst>
                            <p:childTnLst>
                              <p:par>
                                <p:cTn id="353" presetID="8" presetClass="emph" presetSubtype="0" fill="hold" nodeType="clickEffect">
                                  <p:stCondLst>
                                    <p:cond delay="0"/>
                                  </p:stCondLst>
                                  <p:childTnLst>
                                    <p:animRot by="21600000">
                                      <p:cBhvr>
                                        <p:cTn id="354" dur="1500" fill="hold"/>
                                        <p:tgtEl>
                                          <p:spTgt spid="139"/>
                                        </p:tgtEl>
                                        <p:attrNameLst>
                                          <p:attrName>r</p:attrName>
                                        </p:attrNameLst>
                                      </p:cBhvr>
                                    </p:animRot>
                                  </p:childTnLst>
                                </p:cTn>
                              </p:par>
                            </p:childTnLst>
                          </p:cTn>
                        </p:par>
                        <p:par>
                          <p:cTn id="355" fill="hold">
                            <p:stCondLst>
                              <p:cond delay="1500"/>
                            </p:stCondLst>
                            <p:childTnLst>
                              <p:par>
                                <p:cTn id="356" presetID="22" presetClass="exit" presetSubtype="1" fill="hold" nodeType="afterEffect">
                                  <p:stCondLst>
                                    <p:cond delay="0"/>
                                  </p:stCondLst>
                                  <p:childTnLst>
                                    <p:animEffect transition="out" filter="wipe(up)">
                                      <p:cBhvr>
                                        <p:cTn id="357" dur="500"/>
                                        <p:tgtEl>
                                          <p:spTgt spid="139"/>
                                        </p:tgtEl>
                                      </p:cBhvr>
                                    </p:animEffect>
                                    <p:set>
                                      <p:cBhvr>
                                        <p:cTn id="358" dur="1" fill="hold">
                                          <p:stCondLst>
                                            <p:cond delay="499"/>
                                          </p:stCondLst>
                                        </p:cTn>
                                        <p:tgtEl>
                                          <p:spTgt spid="139"/>
                                        </p:tgtEl>
                                        <p:attrNameLst>
                                          <p:attrName>style.visibility</p:attrName>
                                        </p:attrNameLst>
                                      </p:cBhvr>
                                      <p:to>
                                        <p:strVal val="hidden"/>
                                      </p:to>
                                    </p:set>
                                  </p:childTnLst>
                                </p:cTn>
                              </p:par>
                            </p:childTnLst>
                          </p:cTn>
                        </p:par>
                        <p:par>
                          <p:cTn id="359" fill="hold">
                            <p:stCondLst>
                              <p:cond delay="2000"/>
                            </p:stCondLst>
                            <p:childTnLst>
                              <p:par>
                                <p:cTn id="360" presetID="31" presetClass="exit" presetSubtype="0" fill="hold" grpId="1" nodeType="afterEffect">
                                  <p:stCondLst>
                                    <p:cond delay="0"/>
                                  </p:stCondLst>
                                  <p:childTnLst>
                                    <p:anim calcmode="lin" valueType="num">
                                      <p:cBhvr>
                                        <p:cTn id="361" dur="1000"/>
                                        <p:tgtEl>
                                          <p:spTgt spid="112"/>
                                        </p:tgtEl>
                                        <p:attrNameLst>
                                          <p:attrName>ppt_w</p:attrName>
                                        </p:attrNameLst>
                                      </p:cBhvr>
                                      <p:tavLst>
                                        <p:tav tm="0">
                                          <p:val>
                                            <p:strVal val="ppt_w"/>
                                          </p:val>
                                        </p:tav>
                                        <p:tav tm="100000">
                                          <p:val>
                                            <p:fltVal val="0"/>
                                          </p:val>
                                        </p:tav>
                                      </p:tavLst>
                                    </p:anim>
                                    <p:anim calcmode="lin" valueType="num">
                                      <p:cBhvr>
                                        <p:cTn id="362" dur="1000"/>
                                        <p:tgtEl>
                                          <p:spTgt spid="112"/>
                                        </p:tgtEl>
                                        <p:attrNameLst>
                                          <p:attrName>ppt_h</p:attrName>
                                        </p:attrNameLst>
                                      </p:cBhvr>
                                      <p:tavLst>
                                        <p:tav tm="0">
                                          <p:val>
                                            <p:strVal val="ppt_h"/>
                                          </p:val>
                                        </p:tav>
                                        <p:tav tm="100000">
                                          <p:val>
                                            <p:fltVal val="0"/>
                                          </p:val>
                                        </p:tav>
                                      </p:tavLst>
                                    </p:anim>
                                    <p:anim calcmode="lin" valueType="num">
                                      <p:cBhvr>
                                        <p:cTn id="363" dur="1000"/>
                                        <p:tgtEl>
                                          <p:spTgt spid="112"/>
                                        </p:tgtEl>
                                        <p:attrNameLst>
                                          <p:attrName>style.rotation</p:attrName>
                                        </p:attrNameLst>
                                      </p:cBhvr>
                                      <p:tavLst>
                                        <p:tav tm="0">
                                          <p:val>
                                            <p:fltVal val="0"/>
                                          </p:val>
                                        </p:tav>
                                        <p:tav tm="100000">
                                          <p:val>
                                            <p:fltVal val="90"/>
                                          </p:val>
                                        </p:tav>
                                      </p:tavLst>
                                    </p:anim>
                                    <p:animEffect transition="out" filter="fade">
                                      <p:cBhvr>
                                        <p:cTn id="364" dur="1000"/>
                                        <p:tgtEl>
                                          <p:spTgt spid="112"/>
                                        </p:tgtEl>
                                      </p:cBhvr>
                                    </p:animEffect>
                                    <p:set>
                                      <p:cBhvr>
                                        <p:cTn id="365" dur="1" fill="hold">
                                          <p:stCondLst>
                                            <p:cond delay="999"/>
                                          </p:stCondLst>
                                        </p:cTn>
                                        <p:tgtEl>
                                          <p:spTgt spid="112"/>
                                        </p:tgtEl>
                                        <p:attrNameLst>
                                          <p:attrName>style.visibility</p:attrName>
                                        </p:attrNameLst>
                                      </p:cBhvr>
                                      <p:to>
                                        <p:strVal val="hidden"/>
                                      </p:to>
                                    </p:set>
                                  </p:childTnLst>
                                </p:cTn>
                              </p:par>
                            </p:childTnLst>
                          </p:cTn>
                        </p:par>
                        <p:par>
                          <p:cTn id="366" fill="hold">
                            <p:stCondLst>
                              <p:cond delay="3000"/>
                            </p:stCondLst>
                            <p:childTnLst>
                              <p:par>
                                <p:cTn id="367" presetID="22" presetClass="entr" presetSubtype="8" fill="hold" nodeType="afterEffect">
                                  <p:stCondLst>
                                    <p:cond delay="0"/>
                                  </p:stCondLst>
                                  <p:childTnLst>
                                    <p:set>
                                      <p:cBhvr>
                                        <p:cTn id="368" dur="1" fill="hold">
                                          <p:stCondLst>
                                            <p:cond delay="0"/>
                                          </p:stCondLst>
                                        </p:cTn>
                                        <p:tgtEl>
                                          <p:spTgt spid="140"/>
                                        </p:tgtEl>
                                        <p:attrNameLst>
                                          <p:attrName>style.visibility</p:attrName>
                                        </p:attrNameLst>
                                      </p:cBhvr>
                                      <p:to>
                                        <p:strVal val="visible"/>
                                      </p:to>
                                    </p:set>
                                    <p:animEffect transition="in" filter="wipe(left)">
                                      <p:cBhvr>
                                        <p:cTn id="369" dur="1000"/>
                                        <p:tgtEl>
                                          <p:spTgt spid="140"/>
                                        </p:tgtEl>
                                      </p:cBhvr>
                                    </p:animEffect>
                                  </p:childTnLst>
                                </p:cTn>
                              </p:par>
                            </p:childTnLst>
                          </p:cTn>
                        </p:par>
                      </p:childTnLst>
                    </p:cTn>
                  </p:par>
                  <p:par>
                    <p:cTn id="370" fill="hold">
                      <p:stCondLst>
                        <p:cond delay="indefinite"/>
                      </p:stCondLst>
                      <p:childTnLst>
                        <p:par>
                          <p:cTn id="371" fill="hold">
                            <p:stCondLst>
                              <p:cond delay="0"/>
                            </p:stCondLst>
                            <p:childTnLst>
                              <p:par>
                                <p:cTn id="372" presetID="22" presetClass="exit" presetSubtype="1" fill="hold" nodeType="clickEffect">
                                  <p:stCondLst>
                                    <p:cond delay="0"/>
                                  </p:stCondLst>
                                  <p:childTnLst>
                                    <p:animEffect transition="out" filter="wipe(up)">
                                      <p:cBhvr>
                                        <p:cTn id="373" dur="500"/>
                                        <p:tgtEl>
                                          <p:spTgt spid="140"/>
                                        </p:tgtEl>
                                      </p:cBhvr>
                                    </p:animEffect>
                                    <p:set>
                                      <p:cBhvr>
                                        <p:cTn id="374" dur="1" fill="hold">
                                          <p:stCondLst>
                                            <p:cond delay="499"/>
                                          </p:stCondLst>
                                        </p:cTn>
                                        <p:tgtEl>
                                          <p:spTgt spid="140"/>
                                        </p:tgtEl>
                                        <p:attrNameLst>
                                          <p:attrName>style.visibility</p:attrName>
                                        </p:attrNameLst>
                                      </p:cBhvr>
                                      <p:to>
                                        <p:strVal val="hidden"/>
                                      </p:to>
                                    </p:set>
                                  </p:childTnLst>
                                </p:cTn>
                              </p:par>
                            </p:childTnLst>
                          </p:cTn>
                        </p:par>
                        <p:par>
                          <p:cTn id="375" fill="hold">
                            <p:stCondLst>
                              <p:cond delay="500"/>
                            </p:stCondLst>
                            <p:childTnLst>
                              <p:par>
                                <p:cTn id="376" presetID="22" presetClass="entr" presetSubtype="8" fill="hold" nodeType="afterEffect">
                                  <p:stCondLst>
                                    <p:cond delay="0"/>
                                  </p:stCondLst>
                                  <p:childTnLst>
                                    <p:set>
                                      <p:cBhvr>
                                        <p:cTn id="377" dur="1" fill="hold">
                                          <p:stCondLst>
                                            <p:cond delay="0"/>
                                          </p:stCondLst>
                                        </p:cTn>
                                        <p:tgtEl>
                                          <p:spTgt spid="142"/>
                                        </p:tgtEl>
                                        <p:attrNameLst>
                                          <p:attrName>style.visibility</p:attrName>
                                        </p:attrNameLst>
                                      </p:cBhvr>
                                      <p:to>
                                        <p:strVal val="visible"/>
                                      </p:to>
                                    </p:set>
                                    <p:animEffect transition="in" filter="wipe(left)">
                                      <p:cBhvr>
                                        <p:cTn id="378" dur="1000"/>
                                        <p:tgtEl>
                                          <p:spTgt spid="142"/>
                                        </p:tgtEl>
                                      </p:cBhvr>
                                    </p:animEffec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144"/>
                                        </p:tgtEl>
                                        <p:attrNameLst>
                                          <p:attrName>style.visibility</p:attrName>
                                        </p:attrNameLst>
                                      </p:cBhvr>
                                      <p:to>
                                        <p:strVal val="visible"/>
                                      </p:to>
                                    </p:set>
                                  </p:childTnLst>
                                </p:cTn>
                              </p:par>
                              <p:par>
                                <p:cTn id="383" presetID="42" presetClass="path" presetSubtype="0" accel="50000" decel="50000" fill="hold" nodeType="withEffect">
                                  <p:stCondLst>
                                    <p:cond delay="0"/>
                                  </p:stCondLst>
                                  <p:childTnLst>
                                    <p:animMotion origin="layout" path="M 3.75E-6 4.81481E-6 L -0.04297 0.42893 " pathEditMode="relative" rAng="0" ptsTypes="AA">
                                      <p:cBhvr>
                                        <p:cTn id="384" dur="2000" fill="hold"/>
                                        <p:tgtEl>
                                          <p:spTgt spid="144"/>
                                        </p:tgtEl>
                                        <p:attrNameLst>
                                          <p:attrName>ppt_x</p:attrName>
                                          <p:attrName>ppt_y</p:attrName>
                                        </p:attrNameLst>
                                      </p:cBhvr>
                                      <p:rCtr x="-2148" y="21435"/>
                                    </p:animMotion>
                                  </p:childTnLst>
                                </p:cTn>
                              </p:par>
                            </p:childTnLst>
                          </p:cTn>
                        </p:par>
                        <p:par>
                          <p:cTn id="385" fill="hold">
                            <p:stCondLst>
                              <p:cond delay="2000"/>
                            </p:stCondLst>
                            <p:childTnLst>
                              <p:par>
                                <p:cTn id="386" presetID="63" presetClass="path" presetSubtype="0" accel="50000" decel="50000" fill="hold" grpId="4" nodeType="afterEffect">
                                  <p:stCondLst>
                                    <p:cond delay="0"/>
                                  </p:stCondLst>
                                  <p:childTnLst>
                                    <p:animMotion origin="layout" path="M 0.07591 1.48148E-6 L 0.10169 0.00069 " pathEditMode="relative" rAng="0" ptsTypes="AA">
                                      <p:cBhvr>
                                        <p:cTn id="387" dur="1000" fill="hold"/>
                                        <p:tgtEl>
                                          <p:spTgt spid="107"/>
                                        </p:tgtEl>
                                        <p:attrNameLst>
                                          <p:attrName>ppt_x</p:attrName>
                                          <p:attrName>ppt_y</p:attrName>
                                        </p:attrNameLst>
                                      </p:cBhvr>
                                      <p:rCtr x="1289" y="23"/>
                                    </p:animMotion>
                                  </p:childTnLst>
                                </p:cTn>
                              </p:par>
                            </p:childTnLst>
                          </p:cTn>
                        </p:par>
                        <p:par>
                          <p:cTn id="388" fill="hold">
                            <p:stCondLst>
                              <p:cond delay="3000"/>
                            </p:stCondLst>
                            <p:childTnLst>
                              <p:par>
                                <p:cTn id="389" presetID="22" presetClass="exit" presetSubtype="1" fill="hold" nodeType="afterEffect">
                                  <p:stCondLst>
                                    <p:cond delay="0"/>
                                  </p:stCondLst>
                                  <p:childTnLst>
                                    <p:animEffect transition="out" filter="wipe(up)">
                                      <p:cBhvr>
                                        <p:cTn id="390" dur="500"/>
                                        <p:tgtEl>
                                          <p:spTgt spid="142"/>
                                        </p:tgtEl>
                                      </p:cBhvr>
                                    </p:animEffect>
                                    <p:set>
                                      <p:cBhvr>
                                        <p:cTn id="391" dur="1" fill="hold">
                                          <p:stCondLst>
                                            <p:cond delay="499"/>
                                          </p:stCondLst>
                                        </p:cTn>
                                        <p:tgtEl>
                                          <p:spTgt spid="142"/>
                                        </p:tgtEl>
                                        <p:attrNameLst>
                                          <p:attrName>style.visibility</p:attrName>
                                        </p:attrNameLst>
                                      </p:cBhvr>
                                      <p:to>
                                        <p:strVal val="hidden"/>
                                      </p:to>
                                    </p:set>
                                  </p:childTnLst>
                                </p:cTn>
                              </p:par>
                            </p:childTnLst>
                          </p:cTn>
                        </p:par>
                        <p:par>
                          <p:cTn id="392" fill="hold">
                            <p:stCondLst>
                              <p:cond delay="3500"/>
                            </p:stCondLst>
                            <p:childTnLst>
                              <p:par>
                                <p:cTn id="393" presetID="22" presetClass="entr" presetSubtype="8" fill="hold" nodeType="afterEffect">
                                  <p:stCondLst>
                                    <p:cond delay="0"/>
                                  </p:stCondLst>
                                  <p:childTnLst>
                                    <p:set>
                                      <p:cBhvr>
                                        <p:cTn id="394" dur="1" fill="hold">
                                          <p:stCondLst>
                                            <p:cond delay="0"/>
                                          </p:stCondLst>
                                        </p:cTn>
                                        <p:tgtEl>
                                          <p:spTgt spid="147"/>
                                        </p:tgtEl>
                                        <p:attrNameLst>
                                          <p:attrName>style.visibility</p:attrName>
                                        </p:attrNameLst>
                                      </p:cBhvr>
                                      <p:to>
                                        <p:strVal val="visible"/>
                                      </p:to>
                                    </p:set>
                                    <p:animEffect transition="in" filter="wipe(left)">
                                      <p:cBhvr>
                                        <p:cTn id="395" dur="1000"/>
                                        <p:tgtEl>
                                          <p:spTgt spid="147"/>
                                        </p:tgtEl>
                                      </p:cBhvr>
                                    </p:animEffect>
                                  </p:childTnLst>
                                </p:cTn>
                              </p:par>
                            </p:childTnLst>
                          </p:cTn>
                        </p:par>
                      </p:childTnLst>
                    </p:cTn>
                  </p:par>
                  <p:par>
                    <p:cTn id="396" fill="hold">
                      <p:stCondLst>
                        <p:cond delay="indefinite"/>
                      </p:stCondLst>
                      <p:childTnLst>
                        <p:par>
                          <p:cTn id="397" fill="hold">
                            <p:stCondLst>
                              <p:cond delay="0"/>
                            </p:stCondLst>
                            <p:childTnLst>
                              <p:par>
                                <p:cTn id="398" presetID="32" presetClass="emph" presetSubtype="0" fill="hold" nodeType="clickEffect">
                                  <p:stCondLst>
                                    <p:cond delay="0"/>
                                  </p:stCondLst>
                                  <p:childTnLst>
                                    <p:animRot by="120000">
                                      <p:cBhvr>
                                        <p:cTn id="399" dur="100" fill="hold">
                                          <p:stCondLst>
                                            <p:cond delay="0"/>
                                          </p:stCondLst>
                                        </p:cTn>
                                        <p:tgtEl>
                                          <p:spTgt spid="147"/>
                                        </p:tgtEl>
                                        <p:attrNameLst>
                                          <p:attrName>r</p:attrName>
                                        </p:attrNameLst>
                                      </p:cBhvr>
                                    </p:animRot>
                                    <p:animRot by="-240000">
                                      <p:cBhvr>
                                        <p:cTn id="400" dur="200" fill="hold">
                                          <p:stCondLst>
                                            <p:cond delay="200"/>
                                          </p:stCondLst>
                                        </p:cTn>
                                        <p:tgtEl>
                                          <p:spTgt spid="147"/>
                                        </p:tgtEl>
                                        <p:attrNameLst>
                                          <p:attrName>r</p:attrName>
                                        </p:attrNameLst>
                                      </p:cBhvr>
                                    </p:animRot>
                                    <p:animRot by="240000">
                                      <p:cBhvr>
                                        <p:cTn id="401" dur="200" fill="hold">
                                          <p:stCondLst>
                                            <p:cond delay="400"/>
                                          </p:stCondLst>
                                        </p:cTn>
                                        <p:tgtEl>
                                          <p:spTgt spid="147"/>
                                        </p:tgtEl>
                                        <p:attrNameLst>
                                          <p:attrName>r</p:attrName>
                                        </p:attrNameLst>
                                      </p:cBhvr>
                                    </p:animRot>
                                    <p:animRot by="-240000">
                                      <p:cBhvr>
                                        <p:cTn id="402" dur="200" fill="hold">
                                          <p:stCondLst>
                                            <p:cond delay="600"/>
                                          </p:stCondLst>
                                        </p:cTn>
                                        <p:tgtEl>
                                          <p:spTgt spid="147"/>
                                        </p:tgtEl>
                                        <p:attrNameLst>
                                          <p:attrName>r</p:attrName>
                                        </p:attrNameLst>
                                      </p:cBhvr>
                                    </p:animRot>
                                    <p:animRot by="120000">
                                      <p:cBhvr>
                                        <p:cTn id="403" dur="200" fill="hold">
                                          <p:stCondLst>
                                            <p:cond delay="800"/>
                                          </p:stCondLst>
                                        </p:cTn>
                                        <p:tgtEl>
                                          <p:spTgt spid="147"/>
                                        </p:tgtEl>
                                        <p:attrNameLst>
                                          <p:attrName>r</p:attrName>
                                        </p:attrNameLst>
                                      </p:cBhvr>
                                    </p:animRot>
                                  </p:childTnLst>
                                </p:cTn>
                              </p:par>
                            </p:childTnLst>
                          </p:cTn>
                        </p:par>
                        <p:par>
                          <p:cTn id="404" fill="hold">
                            <p:stCondLst>
                              <p:cond delay="1000"/>
                            </p:stCondLst>
                            <p:childTnLst>
                              <p:par>
                                <p:cTn id="405" presetID="22" presetClass="exit" presetSubtype="1" fill="hold" nodeType="afterEffect">
                                  <p:stCondLst>
                                    <p:cond delay="0"/>
                                  </p:stCondLst>
                                  <p:childTnLst>
                                    <p:animEffect transition="out" filter="wipe(up)">
                                      <p:cBhvr>
                                        <p:cTn id="406" dur="500"/>
                                        <p:tgtEl>
                                          <p:spTgt spid="147"/>
                                        </p:tgtEl>
                                      </p:cBhvr>
                                    </p:animEffect>
                                    <p:set>
                                      <p:cBhvr>
                                        <p:cTn id="407" dur="1" fill="hold">
                                          <p:stCondLst>
                                            <p:cond delay="499"/>
                                          </p:stCondLst>
                                        </p:cTn>
                                        <p:tgtEl>
                                          <p:spTgt spid="147"/>
                                        </p:tgtEl>
                                        <p:attrNameLst>
                                          <p:attrName>style.visibility</p:attrName>
                                        </p:attrNameLst>
                                      </p:cBhvr>
                                      <p:to>
                                        <p:strVal val="hidden"/>
                                      </p:to>
                                    </p:set>
                                  </p:childTnLst>
                                </p:cTn>
                              </p:par>
                            </p:childTnLst>
                          </p:cTn>
                        </p:par>
                        <p:par>
                          <p:cTn id="408" fill="hold">
                            <p:stCondLst>
                              <p:cond delay="1500"/>
                            </p:stCondLst>
                            <p:childTnLst>
                              <p:par>
                                <p:cTn id="409" presetID="22" presetClass="entr" presetSubtype="8" fill="hold" nodeType="afterEffect">
                                  <p:stCondLst>
                                    <p:cond delay="0"/>
                                  </p:stCondLst>
                                  <p:childTnLst>
                                    <p:set>
                                      <p:cBhvr>
                                        <p:cTn id="410" dur="1" fill="hold">
                                          <p:stCondLst>
                                            <p:cond delay="0"/>
                                          </p:stCondLst>
                                        </p:cTn>
                                        <p:tgtEl>
                                          <p:spTgt spid="149"/>
                                        </p:tgtEl>
                                        <p:attrNameLst>
                                          <p:attrName>style.visibility</p:attrName>
                                        </p:attrNameLst>
                                      </p:cBhvr>
                                      <p:to>
                                        <p:strVal val="visible"/>
                                      </p:to>
                                    </p:set>
                                    <p:animEffect transition="in" filter="wipe(left)">
                                      <p:cBhvr>
                                        <p:cTn id="411" dur="1000"/>
                                        <p:tgtEl>
                                          <p:spTgt spid="149"/>
                                        </p:tgtEl>
                                      </p:cBhvr>
                                    </p:animEffect>
                                  </p:childTnLst>
                                </p:cTn>
                              </p:par>
                            </p:childTnLst>
                          </p:cTn>
                        </p:par>
                      </p:childTnLst>
                    </p:cTn>
                  </p:par>
                  <p:par>
                    <p:cTn id="412" fill="hold">
                      <p:stCondLst>
                        <p:cond delay="indefinite"/>
                      </p:stCondLst>
                      <p:childTnLst>
                        <p:par>
                          <p:cTn id="413" fill="hold">
                            <p:stCondLst>
                              <p:cond delay="0"/>
                            </p:stCondLst>
                            <p:childTnLst>
                              <p:par>
                                <p:cTn id="414" presetID="22" presetClass="exit" presetSubtype="1" fill="hold" nodeType="clickEffect">
                                  <p:stCondLst>
                                    <p:cond delay="0"/>
                                  </p:stCondLst>
                                  <p:childTnLst>
                                    <p:animEffect transition="out" filter="wipe(up)">
                                      <p:cBhvr>
                                        <p:cTn id="415" dur="500"/>
                                        <p:tgtEl>
                                          <p:spTgt spid="149"/>
                                        </p:tgtEl>
                                      </p:cBhvr>
                                    </p:animEffect>
                                    <p:set>
                                      <p:cBhvr>
                                        <p:cTn id="416" dur="1" fill="hold">
                                          <p:stCondLst>
                                            <p:cond delay="499"/>
                                          </p:stCondLst>
                                        </p:cTn>
                                        <p:tgtEl>
                                          <p:spTgt spid="149"/>
                                        </p:tgtEl>
                                        <p:attrNameLst>
                                          <p:attrName>style.visibility</p:attrName>
                                        </p:attrNameLst>
                                      </p:cBhvr>
                                      <p:to>
                                        <p:strVal val="hidden"/>
                                      </p:to>
                                    </p:set>
                                  </p:childTnLst>
                                </p:cTn>
                              </p:par>
                            </p:childTnLst>
                          </p:cTn>
                        </p:par>
                        <p:par>
                          <p:cTn id="417" fill="hold">
                            <p:stCondLst>
                              <p:cond delay="500"/>
                            </p:stCondLst>
                            <p:childTnLst>
                              <p:par>
                                <p:cTn id="418" presetID="22" presetClass="entr" presetSubtype="8" fill="hold" nodeType="afterEffect">
                                  <p:stCondLst>
                                    <p:cond delay="0"/>
                                  </p:stCondLst>
                                  <p:childTnLst>
                                    <p:set>
                                      <p:cBhvr>
                                        <p:cTn id="419" dur="1" fill="hold">
                                          <p:stCondLst>
                                            <p:cond delay="0"/>
                                          </p:stCondLst>
                                        </p:cTn>
                                        <p:tgtEl>
                                          <p:spTgt spid="151"/>
                                        </p:tgtEl>
                                        <p:attrNameLst>
                                          <p:attrName>style.visibility</p:attrName>
                                        </p:attrNameLst>
                                      </p:cBhvr>
                                      <p:to>
                                        <p:strVal val="visible"/>
                                      </p:to>
                                    </p:set>
                                    <p:animEffect transition="in" filter="wipe(left)">
                                      <p:cBhvr>
                                        <p:cTn id="420" dur="1000"/>
                                        <p:tgtEl>
                                          <p:spTgt spid="151"/>
                                        </p:tgtEl>
                                      </p:cBhvr>
                                    </p:animEffect>
                                  </p:childTnLst>
                                </p:cTn>
                              </p:par>
                            </p:childTnLst>
                          </p:cTn>
                        </p:par>
                      </p:childTnLst>
                    </p:cTn>
                  </p:par>
                  <p:par>
                    <p:cTn id="421" fill="hold">
                      <p:stCondLst>
                        <p:cond delay="indefinite"/>
                      </p:stCondLst>
                      <p:childTnLst>
                        <p:par>
                          <p:cTn id="422" fill="hold">
                            <p:stCondLst>
                              <p:cond delay="0"/>
                            </p:stCondLst>
                            <p:childTnLst>
                              <p:par>
                                <p:cTn id="423" presetID="10" presetClass="exit" presetSubtype="0" fill="hold" nodeType="clickEffect">
                                  <p:stCondLst>
                                    <p:cond delay="0"/>
                                  </p:stCondLst>
                                  <p:childTnLst>
                                    <p:animEffect transition="out" filter="fade">
                                      <p:cBhvr>
                                        <p:cTn id="424" dur="500"/>
                                        <p:tgtEl>
                                          <p:spTgt spid="59"/>
                                        </p:tgtEl>
                                      </p:cBhvr>
                                    </p:animEffect>
                                    <p:set>
                                      <p:cBhvr>
                                        <p:cTn id="425" dur="1" fill="hold">
                                          <p:stCondLst>
                                            <p:cond delay="499"/>
                                          </p:stCondLst>
                                        </p:cTn>
                                        <p:tgtEl>
                                          <p:spTgt spid="59"/>
                                        </p:tgtEl>
                                        <p:attrNameLst>
                                          <p:attrName>style.visibility</p:attrName>
                                        </p:attrNameLst>
                                      </p:cBhvr>
                                      <p:to>
                                        <p:strVal val="hidden"/>
                                      </p:to>
                                    </p:set>
                                  </p:childTnLst>
                                </p:cTn>
                              </p:par>
                            </p:childTnLst>
                          </p:cTn>
                        </p:par>
                        <p:par>
                          <p:cTn id="426" fill="hold">
                            <p:stCondLst>
                              <p:cond delay="500"/>
                            </p:stCondLst>
                            <p:childTnLst>
                              <p:par>
                                <p:cTn id="427" presetID="16" presetClass="entr" presetSubtype="37" fill="hold" nodeType="afterEffect">
                                  <p:stCondLst>
                                    <p:cond delay="0"/>
                                  </p:stCondLst>
                                  <p:childTnLst>
                                    <p:set>
                                      <p:cBhvr>
                                        <p:cTn id="428" dur="1" fill="hold">
                                          <p:stCondLst>
                                            <p:cond delay="0"/>
                                          </p:stCondLst>
                                        </p:cTn>
                                        <p:tgtEl>
                                          <p:spTgt spid="153"/>
                                        </p:tgtEl>
                                        <p:attrNameLst>
                                          <p:attrName>style.visibility</p:attrName>
                                        </p:attrNameLst>
                                      </p:cBhvr>
                                      <p:to>
                                        <p:strVal val="visible"/>
                                      </p:to>
                                    </p:set>
                                    <p:animEffect transition="in" filter="barn(outVertical)">
                                      <p:cBhvr>
                                        <p:cTn id="429" dur="1000"/>
                                        <p:tgtEl>
                                          <p:spTgt spid="153"/>
                                        </p:tgtEl>
                                      </p:cBhvr>
                                    </p:animEffect>
                                  </p:childTnLst>
                                </p:cTn>
                              </p:par>
                            </p:childTnLst>
                          </p:cTn>
                        </p:par>
                        <p:par>
                          <p:cTn id="430" fill="hold">
                            <p:stCondLst>
                              <p:cond delay="1500"/>
                            </p:stCondLst>
                            <p:childTnLst>
                              <p:par>
                                <p:cTn id="431" presetID="22" presetClass="exit" presetSubtype="1" fill="hold" nodeType="afterEffect">
                                  <p:stCondLst>
                                    <p:cond delay="0"/>
                                  </p:stCondLst>
                                  <p:childTnLst>
                                    <p:animEffect transition="out" filter="wipe(up)">
                                      <p:cBhvr>
                                        <p:cTn id="432" dur="500"/>
                                        <p:tgtEl>
                                          <p:spTgt spid="151"/>
                                        </p:tgtEl>
                                      </p:cBhvr>
                                    </p:animEffect>
                                    <p:set>
                                      <p:cBhvr>
                                        <p:cTn id="433" dur="1" fill="hold">
                                          <p:stCondLst>
                                            <p:cond delay="499"/>
                                          </p:stCondLst>
                                        </p:cTn>
                                        <p:tgtEl>
                                          <p:spTgt spid="1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p:bldP spid="112" grpId="1" animBg="1"/>
      <p:bldP spid="101" grpId="0"/>
      <p:bldP spid="103" grpId="0"/>
      <p:bldP spid="105" grpId="0"/>
      <p:bldP spid="105" grpId="1"/>
      <p:bldP spid="105" grpId="2"/>
      <p:bldP spid="105" grpId="3"/>
      <p:bldP spid="106" grpId="0"/>
      <p:bldP spid="106" grpId="1"/>
      <p:bldP spid="106" grpId="2"/>
      <p:bldP spid="106" grpId="3"/>
      <p:bldP spid="107" grpId="0"/>
      <p:bldP spid="107" grpId="1"/>
      <p:bldP spid="107" grpId="2"/>
      <p:bldP spid="107" grpId="3"/>
      <p:bldP spid="107" grpId="4"/>
      <p:bldP spid="113" grpId="0" animBg="1"/>
      <p:bldP spid="113" grpId="1" animBg="1"/>
      <p:bldP spid="113" grpId="2" animBg="1"/>
      <p:bldP spid="114" grpId="0" animBg="1"/>
      <p:bldP spid="114" grpId="1" animBg="1"/>
      <p:bldP spid="114" grpId="2" animBg="1"/>
      <p:bldP spid="119" grpId="0" animBg="1"/>
      <p:bldP spid="119" grpId="1" animBg="1"/>
      <p:bldP spid="119" grpId="2" animBg="1"/>
      <p:bldP spid="120" grpId="0" animBg="1"/>
      <p:bldP spid="120" grpId="1" animBg="1"/>
      <p:bldP spid="120" grpId="2" animBg="1"/>
      <p:bldP spid="129" grpId="0" animBg="1"/>
      <p:bldP spid="129" grpId="1" animBg="1"/>
      <p:bldP spid="129" grpId="2" animBg="1"/>
      <p:bldP spid="130" grpId="0" animBg="1"/>
      <p:bldP spid="130" grpId="1" animBg="1"/>
      <p:bldP spid="130" grpId="2" animBg="1"/>
      <p:bldP spid="132" grpId="0" animBg="1"/>
      <p:bldP spid="132" grpId="1" animBg="1"/>
      <p:bldP spid="132" grpId="2" animBg="1"/>
      <p:bldP spid="133" grpId="0" animBg="1"/>
      <p:bldP spid="133" grpId="1" animBg="1"/>
      <p:bldP spid="133" grpId="2"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p:nvPr/>
        </p:nvSpPr>
        <p:spPr>
          <a:xfrm>
            <a:off x="2438400" y="76201"/>
            <a:ext cx="2235200"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0"/>
              </a:spcBef>
              <a:buClrTx/>
              <a:buNone/>
            </a:pPr>
            <a:r>
              <a:rPr lang="zh-CN" altLang="zh-CN" sz="4000" b="1" dirty="0">
                <a:solidFill>
                  <a:srgbClr val="009999"/>
                </a:solidFill>
                <a:ea typeface="隶书" panose="02010509060101010101" pitchFamily="49" charset="-122"/>
              </a:rPr>
              <a:t>本章小结</a:t>
            </a:r>
            <a:endParaRPr lang="zh-CN" altLang="zh-CN" sz="2400" dirty="0">
              <a:solidFill>
                <a:srgbClr val="00FF99"/>
              </a:solidFill>
            </a:endParaRPr>
          </a:p>
        </p:txBody>
      </p:sp>
      <p:sp>
        <p:nvSpPr>
          <p:cNvPr id="122883" name="Text Box 3"/>
          <p:cNvSpPr txBox="1"/>
          <p:nvPr/>
        </p:nvSpPr>
        <p:spPr>
          <a:xfrm>
            <a:off x="479376" y="685801"/>
            <a:ext cx="11377264" cy="2506712"/>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just" eaLnBrk="1" hangingPunct="1">
              <a:lnSpc>
                <a:spcPct val="125000"/>
              </a:lnSpc>
              <a:spcBef>
                <a:spcPct val="0"/>
              </a:spcBef>
              <a:buClrTx/>
              <a:buNone/>
            </a:pPr>
            <a:r>
              <a:rPr lang="zh-CN" altLang="zh-CN" b="1" dirty="0">
                <a:solidFill>
                  <a:srgbClr val="990000"/>
                </a:solidFill>
                <a:latin typeface="楷体_GB2312" pitchFamily="49" charset="-122"/>
                <a:ea typeface="楷体_GB2312" pitchFamily="49" charset="-122"/>
              </a:rPr>
              <a:t>1.了解线性表的逻辑结构特性是数据元素之间存在着线性关系，在计算机中表示这种关系的两类不同的存储结构是顺序存储结构和链式存储结构。用前者表示的线性表简称为顺序表，用后者表示的线性表简称为链表。</a:t>
            </a:r>
            <a:endParaRPr lang="zh-CN" altLang="zh-CN" sz="2400" dirty="0">
              <a:solidFill>
                <a:srgbClr val="990000"/>
              </a:solidFill>
            </a:endParaRPr>
          </a:p>
        </p:txBody>
      </p:sp>
      <p:sp>
        <p:nvSpPr>
          <p:cNvPr id="122884" name="Rectangle 4"/>
          <p:cNvSpPr/>
          <p:nvPr/>
        </p:nvSpPr>
        <p:spPr>
          <a:xfrm>
            <a:off x="479376" y="3389314"/>
            <a:ext cx="11712624" cy="13112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5000"/>
              </a:lnSpc>
              <a:spcBef>
                <a:spcPct val="0"/>
              </a:spcBef>
              <a:buClrTx/>
              <a:buNone/>
            </a:pPr>
            <a:r>
              <a:rPr lang="zh-CN" altLang="zh-CN" b="1" dirty="0">
                <a:solidFill>
                  <a:srgbClr val="000099"/>
                </a:solidFill>
                <a:latin typeface="楷体_GB2312" pitchFamily="49" charset="-122"/>
                <a:ea typeface="楷体_GB2312" pitchFamily="49" charset="-122"/>
              </a:rPr>
              <a:t>2.熟练掌握这两类存储结构的描述方法，以及线性表的各种基本操作的实现。</a:t>
            </a:r>
          </a:p>
        </p:txBody>
      </p:sp>
      <p:sp>
        <p:nvSpPr>
          <p:cNvPr id="122885" name="Rectangle 5"/>
          <p:cNvSpPr/>
          <p:nvPr/>
        </p:nvSpPr>
        <p:spPr>
          <a:xfrm>
            <a:off x="479376" y="5165726"/>
            <a:ext cx="11712624" cy="13112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Font typeface="Monotype Sorts" pitchFamily="2" charset="2"/>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lnSpc>
                <a:spcPct val="125000"/>
              </a:lnSpc>
              <a:spcBef>
                <a:spcPct val="0"/>
              </a:spcBef>
              <a:buClrTx/>
              <a:buNone/>
            </a:pPr>
            <a:r>
              <a:rPr lang="zh-CN" altLang="zh-CN" b="1" dirty="0">
                <a:solidFill>
                  <a:srgbClr val="660033"/>
                </a:solidFill>
                <a:latin typeface="楷体_GB2312" pitchFamily="49" charset="-122"/>
                <a:ea typeface="楷体_GB2312" pitchFamily="49" charset="-122"/>
              </a:rPr>
              <a:t>3.能够从时间复杂度的角度综合比较线性表两种存储结构的不同特点及其适用场合。</a:t>
            </a:r>
            <a:endParaRPr lang="zh-CN" altLang="zh-CN" b="1" dirty="0">
              <a:latin typeface="楷体_GB2312" pitchFamily="49" charset="-122"/>
              <a:ea typeface="楷体_GB2312" pitchFamily="49" charset="-122"/>
            </a:endParaRPr>
          </a:p>
        </p:txBody>
      </p:sp>
      <p:pic>
        <p:nvPicPr>
          <p:cNvPr id="122886" name="Picture 6" descr="doorin">
            <a:hlinkClick r:id="" action="ppaction://hlinkshowjump?jump=endshow"/>
          </p:cNvPr>
          <p:cNvPicPr>
            <a:picLocks noChangeAspect="1"/>
          </p:cNvPicPr>
          <p:nvPr/>
        </p:nvPicPr>
        <p:blipFill>
          <a:blip r:embed="rId2"/>
          <a:stretch>
            <a:fillRect/>
          </a:stretch>
        </p:blipFill>
        <p:spPr>
          <a:xfrm>
            <a:off x="10021888" y="6096000"/>
            <a:ext cx="493712" cy="60960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22883"/>
                                        </p:tgtEl>
                                        <p:attrNameLst>
                                          <p:attrName>style.visibility</p:attrName>
                                        </p:attrNameLst>
                                      </p:cBhvr>
                                      <p:to>
                                        <p:strVal val="visible"/>
                                      </p:to>
                                    </p:set>
                                    <p:animEffect transition="in" filter="strips(downRight)">
                                      <p:cBhvr>
                                        <p:cTn id="7" dur="500"/>
                                        <p:tgtEl>
                                          <p:spTgt spid="12288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22884"/>
                                        </p:tgtEl>
                                        <p:attrNameLst>
                                          <p:attrName>style.visibility</p:attrName>
                                        </p:attrNameLst>
                                      </p:cBhvr>
                                      <p:to>
                                        <p:strVal val="visible"/>
                                      </p:to>
                                    </p:set>
                                    <p:animEffect transition="in" filter="strips(downRight)">
                                      <p:cBhvr>
                                        <p:cTn id="12" dur="500"/>
                                        <p:tgtEl>
                                          <p:spTgt spid="12288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22885"/>
                                        </p:tgtEl>
                                        <p:attrNameLst>
                                          <p:attrName>style.visibility</p:attrName>
                                        </p:attrNameLst>
                                      </p:cBhvr>
                                      <p:to>
                                        <p:strVal val="visible"/>
                                      </p:to>
                                    </p:set>
                                    <p:animEffect transition="in" filter="strips(downRight)">
                                      <p:cBhvr>
                                        <p:cTn id="17" dur="500"/>
                                        <p:tgtEl>
                                          <p:spTgt spid="122885"/>
                                        </p:tgtEl>
                                      </p:cBhvr>
                                    </p:animEffect>
                                  </p:childTnLst>
                                </p:cTn>
                              </p:par>
                            </p:childTnLst>
                          </p:cTn>
                        </p:par>
                        <p:par>
                          <p:cTn id="18" fill="hold">
                            <p:stCondLst>
                              <p:cond delay="500"/>
                            </p:stCondLst>
                            <p:childTnLst>
                              <p:par>
                                <p:cTn id="19" presetID="2" presetClass="entr" presetSubtype="6" fill="hold" nodeType="afterEffect">
                                  <p:stCondLst>
                                    <p:cond delay="0"/>
                                  </p:stCondLst>
                                  <p:childTnLst>
                                    <p:set>
                                      <p:cBhvr>
                                        <p:cTn id="20" dur="1" fill="hold">
                                          <p:stCondLst>
                                            <p:cond delay="0"/>
                                          </p:stCondLst>
                                        </p:cTn>
                                        <p:tgtEl>
                                          <p:spTgt spid="122886"/>
                                        </p:tgtEl>
                                        <p:attrNameLst>
                                          <p:attrName>style.visibility</p:attrName>
                                        </p:attrNameLst>
                                      </p:cBhvr>
                                      <p:to>
                                        <p:strVal val="visible"/>
                                      </p:to>
                                    </p:set>
                                    <p:anim calcmode="lin" valueType="num">
                                      <p:cBhvr additive="base">
                                        <p:cTn id="21" dur="500" fill="hold"/>
                                        <p:tgtEl>
                                          <p:spTgt spid="122886"/>
                                        </p:tgtEl>
                                        <p:attrNameLst>
                                          <p:attrName>ppt_x</p:attrName>
                                        </p:attrNameLst>
                                      </p:cBhvr>
                                      <p:tavLst>
                                        <p:tav tm="0">
                                          <p:val>
                                            <p:strVal val="1+#ppt_w/2"/>
                                          </p:val>
                                        </p:tav>
                                        <p:tav tm="100000">
                                          <p:val>
                                            <p:strVal val="#ppt_x"/>
                                          </p:val>
                                        </p:tav>
                                      </p:tavLst>
                                    </p:anim>
                                    <p:anim calcmode="lin" valueType="num">
                                      <p:cBhvr additive="base">
                                        <p:cTn id="22" dur="500" fill="hold"/>
                                        <p:tgtEl>
                                          <p:spTgt spid="1228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p:bldP spid="122884" grpId="0"/>
      <p:bldP spid="122885"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GQ2YTkzOTI5YjAzMWRiZWMxYWNkYTQ3NWU3ZDU4NzQ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3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5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主题1">
  <a:themeElements>
    <a:clrScheme name="">
      <a:dk1>
        <a:srgbClr val="000000"/>
      </a:dk1>
      <a:lt1>
        <a:srgbClr val="FFFFFF"/>
      </a:lt1>
      <a:dk2>
        <a:srgbClr val="FF0000"/>
      </a:dk2>
      <a:lt2>
        <a:srgbClr val="808080"/>
      </a:lt2>
      <a:accent1>
        <a:srgbClr val="00CC99"/>
      </a:accent1>
      <a:accent2>
        <a:srgbClr val="FF0000"/>
      </a:accent2>
      <a:accent3>
        <a:srgbClr val="FFFFFF"/>
      </a:accent3>
      <a:accent4>
        <a:srgbClr val="000000"/>
      </a:accent4>
      <a:accent5>
        <a:srgbClr val="AAE2CA"/>
      </a:accent5>
      <a:accent6>
        <a:srgbClr val="E70000"/>
      </a:accent6>
      <a:hlink>
        <a:srgbClr val="CC0000"/>
      </a:hlink>
      <a:folHlink>
        <a:srgbClr val="00FF00"/>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4000" b="1" i="0" u="none" strike="noStrike" cap="none" normalizeH="0" baseline="0" smtClean="0">
            <a:ln>
              <a:noFill/>
            </a:ln>
            <a:solidFill>
              <a:srgbClr val="000099"/>
            </a:solidFill>
            <a:effectLst>
              <a:outerShdw blurRad="38100" dist="38100" dir="2700000" algn="tl">
                <a:srgbClr val="000000">
                  <a:alpha val="43137"/>
                </a:srgbClr>
              </a:outerShdw>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4000" b="1" i="0" u="none" strike="noStrike" cap="none" normalizeH="0" baseline="0" smtClean="0">
            <a:ln>
              <a:noFill/>
            </a:ln>
            <a:solidFill>
              <a:srgbClr val="000099"/>
            </a:solidFill>
            <a:effectLst>
              <a:outerShdw blurRad="38100" dist="38100" dir="2700000" algn="tl">
                <a:srgbClr val="000000">
                  <a:alpha val="43137"/>
                </a:srgbClr>
              </a:outerShdw>
            </a:effectLst>
            <a:latin typeface="Times New Roman" panose="02020603050405020304" pitchFamily="18"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7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8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ds</Template>
  <TotalTime>503</TotalTime>
  <Words>8456</Words>
  <Application>Microsoft Office PowerPoint</Application>
  <PresentationFormat>宽屏</PresentationFormat>
  <Paragraphs>1310</Paragraphs>
  <Slides>89</Slides>
  <Notes>26</Notes>
  <HiddenSlides>0</HiddenSlides>
  <MMClips>0</MMClips>
  <ScaleCrop>false</ScaleCrop>
  <HeadingPairs>
    <vt:vector size="8" baseType="variant">
      <vt:variant>
        <vt:lpstr>已用的字体</vt:lpstr>
      </vt:variant>
      <vt:variant>
        <vt:i4>20</vt:i4>
      </vt:variant>
      <vt:variant>
        <vt:lpstr>主题</vt:lpstr>
      </vt:variant>
      <vt:variant>
        <vt:i4>10</vt:i4>
      </vt:variant>
      <vt:variant>
        <vt:lpstr>嵌入 OLE 服务器</vt:lpstr>
      </vt:variant>
      <vt:variant>
        <vt:i4>2</vt:i4>
      </vt:variant>
      <vt:variant>
        <vt:lpstr>幻灯片标题</vt:lpstr>
      </vt:variant>
      <vt:variant>
        <vt:i4>89</vt:i4>
      </vt:variant>
    </vt:vector>
  </HeadingPairs>
  <TitlesOfParts>
    <vt:vector size="121" baseType="lpstr">
      <vt:lpstr>Arial Unicode MS</vt:lpstr>
      <vt:lpstr>Monotype Sorts</vt:lpstr>
      <vt:lpstr>等线</vt:lpstr>
      <vt:lpstr>等线 Light</vt:lpstr>
      <vt:lpstr>仿宋_GB2312</vt:lpstr>
      <vt:lpstr>黑体</vt:lpstr>
      <vt:lpstr>华文新魏</vt:lpstr>
      <vt:lpstr>楷体</vt:lpstr>
      <vt:lpstr>楷体_GB2312</vt:lpstr>
      <vt:lpstr>隶书</vt:lpstr>
      <vt:lpstr>宋体</vt:lpstr>
      <vt:lpstr>微软雅黑</vt:lpstr>
      <vt:lpstr>Arial</vt:lpstr>
      <vt:lpstr>Arial Narrow</vt:lpstr>
      <vt:lpstr>Calibri</vt:lpstr>
      <vt:lpstr>Calibri Light</vt:lpstr>
      <vt:lpstr>Courier New</vt:lpstr>
      <vt:lpstr>Symbol</vt:lpstr>
      <vt:lpstr>Times New Roman</vt:lpstr>
      <vt:lpstr>Wingdings</vt:lpstr>
      <vt:lpstr>Office 主题​​</vt:lpstr>
      <vt:lpstr>1_Office 主题​​</vt:lpstr>
      <vt:lpstr>2_Office 主题​​</vt:lpstr>
      <vt:lpstr>3_Office 主题​​</vt:lpstr>
      <vt:lpstr>4_Office 主题​​</vt:lpstr>
      <vt:lpstr>5_Office 主题​​</vt:lpstr>
      <vt:lpstr>主题1</vt:lpstr>
      <vt:lpstr>6_Office 主题​​</vt:lpstr>
      <vt:lpstr>7_Office 主题​​</vt:lpstr>
      <vt:lpstr>8_Office 主题​​</vt:lpstr>
      <vt:lpstr>Visio</vt:lpstr>
      <vt:lpstr>Equation.3</vt:lpstr>
      <vt:lpstr>PowerPoint 演示文稿</vt:lpstr>
      <vt:lpstr>outline</vt:lpstr>
      <vt:lpstr>PowerPoint 演示文稿</vt:lpstr>
      <vt:lpstr>例子</vt:lpstr>
      <vt:lpstr>PowerPoint 演示文稿</vt:lpstr>
      <vt:lpstr>PowerPoint 演示文稿</vt:lpstr>
      <vt:lpstr>线性表的逻辑结构</vt:lpstr>
      <vt:lpstr>PowerPoint 演示文稿</vt:lpstr>
      <vt:lpstr>线性表的抽象数据类型定义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顺序表的定义</vt:lpstr>
      <vt:lpstr>顺序表的特点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顺序表的插入</vt:lpstr>
      <vt:lpstr>PowerPoint 演示文稿</vt:lpstr>
      <vt:lpstr>PowerPoint 演示文稿</vt:lpstr>
      <vt:lpstr>PowerPoint 演示文稿</vt:lpstr>
      <vt:lpstr>插入操作-时间复杂度分析</vt:lpstr>
      <vt:lpstr>PowerPoint 演示文稿</vt:lpstr>
      <vt:lpstr>顺序表的删除</vt:lpstr>
      <vt:lpstr>PowerPoint 演示文稿</vt:lpstr>
      <vt:lpstr> 顺序表删除操作时间复杂度分析</vt:lpstr>
      <vt:lpstr>PowerPoint 演示文稿</vt:lpstr>
      <vt:lpstr>链式存储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循环链表的操作 </vt:lpstr>
      <vt:lpstr>循环链表的应用——求解约瑟夫问题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djzx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djzx</dc:creator>
  <cp:lastModifiedBy>Windows 用户</cp:lastModifiedBy>
  <cp:revision>262</cp:revision>
  <dcterms:created xsi:type="dcterms:W3CDTF">2000-01-30T08:24:00Z</dcterms:created>
  <dcterms:modified xsi:type="dcterms:W3CDTF">2026-09-22T00:34:45Z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E024F3541ADA4E099034C0EAA4217105_12</vt:lpwstr>
  </property>
  <property fmtid="{D5CDD505-2E9C-101B-9397-08002B2CF9AE}" pid="3" name="KSOProductBuildVer">
    <vt:lpwstr>1033-12.2.0.22549</vt:lpwstr>
  </property>
</Properties>
</file>