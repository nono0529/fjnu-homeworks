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60" r:id="rId3"/>
    <p:sldId id="407" r:id="rId4"/>
    <p:sldId id="259" r:id="rId5"/>
    <p:sldId id="408" r:id="rId6"/>
    <p:sldId id="409" r:id="rId8"/>
    <p:sldId id="266" r:id="rId9"/>
    <p:sldId id="487" r:id="rId10"/>
    <p:sldId id="410" r:id="rId11"/>
    <p:sldId id="403" r:id="rId12"/>
    <p:sldId id="488" r:id="rId13"/>
    <p:sldId id="268" r:id="rId14"/>
    <p:sldId id="397" r:id="rId15"/>
    <p:sldId id="269" r:id="rId16"/>
    <p:sldId id="270" r:id="rId17"/>
    <p:sldId id="490" r:id="rId18"/>
    <p:sldId id="412" r:id="rId19"/>
    <p:sldId id="491" r:id="rId20"/>
    <p:sldId id="492" r:id="rId21"/>
    <p:sldId id="272" r:id="rId22"/>
    <p:sldId id="476" r:id="rId23"/>
    <p:sldId id="493" r:id="rId24"/>
    <p:sldId id="494" r:id="rId25"/>
    <p:sldId id="495" r:id="rId26"/>
    <p:sldId id="411" r:id="rId27"/>
    <p:sldId id="275" r:id="rId28"/>
    <p:sldId id="499" r:id="rId29"/>
    <p:sldId id="415" r:id="rId30"/>
    <p:sldId id="413" r:id="rId31"/>
    <p:sldId id="414" r:id="rId32"/>
    <p:sldId id="280" r:id="rId33"/>
    <p:sldId id="331" r:id="rId34"/>
    <p:sldId id="332" r:id="rId35"/>
    <p:sldId id="416" r:id="rId36"/>
    <p:sldId id="417" r:id="rId37"/>
    <p:sldId id="281" r:id="rId38"/>
    <p:sldId id="282" r:id="rId39"/>
    <p:sldId id="404" r:id="rId40"/>
    <p:sldId id="303" r:id="rId41"/>
    <p:sldId id="418" r:id="rId42"/>
    <p:sldId id="419" r:id="rId43"/>
    <p:sldId id="496" r:id="rId44"/>
    <p:sldId id="497" r:id="rId45"/>
    <p:sldId id="498" r:id="rId46"/>
    <p:sldId id="307" r:id="rId47"/>
    <p:sldId id="581" r:id="rId48"/>
    <p:sldId id="582" r:id="rId49"/>
    <p:sldId id="583" r:id="rId50"/>
    <p:sldId id="311" r:id="rId51"/>
    <p:sldId id="328" r:id="rId52"/>
    <p:sldId id="584" r:id="rId53"/>
    <p:sldId id="585" r:id="rId54"/>
    <p:sldId id="586" r:id="rId55"/>
    <p:sldId id="587" r:id="rId56"/>
    <p:sldId id="588" r:id="rId57"/>
    <p:sldId id="589" r:id="rId58"/>
    <p:sldId id="590" r:id="rId59"/>
    <p:sldId id="591" r:id="rId60"/>
    <p:sldId id="592" r:id="rId61"/>
    <p:sldId id="593" r:id="rId62"/>
    <p:sldId id="594" r:id="rId63"/>
    <p:sldId id="595" r:id="rId64"/>
    <p:sldId id="596" r:id="rId65"/>
    <p:sldId id="597" r:id="rId66"/>
    <p:sldId id="598" r:id="rId67"/>
    <p:sldId id="477" r:id="rId68"/>
    <p:sldId id="478" r:id="rId69"/>
    <p:sldId id="479" r:id="rId70"/>
    <p:sldId id="480" r:id="rId71"/>
    <p:sldId id="481" r:id="rId72"/>
    <p:sldId id="357" r:id="rId73"/>
    <p:sldId id="599" r:id="rId74"/>
    <p:sldId id="626" r:id="rId75"/>
    <p:sldId id="627" r:id="rId76"/>
    <p:sldId id="601" r:id="rId77"/>
    <p:sldId id="483" r:id="rId78"/>
    <p:sldId id="482" r:id="rId79"/>
    <p:sldId id="600" r:id="rId80"/>
    <p:sldId id="602" r:id="rId81"/>
    <p:sldId id="604" r:id="rId82"/>
    <p:sldId id="603" r:id="rId83"/>
    <p:sldId id="605" r:id="rId84"/>
    <p:sldId id="606" r:id="rId85"/>
    <p:sldId id="426" r:id="rId86"/>
    <p:sldId id="427" r:id="rId87"/>
    <p:sldId id="428" r:id="rId88"/>
    <p:sldId id="430" r:id="rId89"/>
    <p:sldId id="475" r:id="rId90"/>
  </p:sldIdLst>
  <p:sldSz cx="9144000" cy="6858000" type="screen4x3"/>
  <p:notesSz cx="6858000" cy="9144000"/>
  <p:custDataLst>
    <p:tags r:id="rId95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4000" b="1" kern="1200">
        <a:solidFill>
          <a:srgbClr val="000099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4000" b="1" kern="1200">
        <a:solidFill>
          <a:srgbClr val="000099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4000" b="1" kern="1200">
        <a:solidFill>
          <a:srgbClr val="000099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4000" b="1" kern="1200">
        <a:solidFill>
          <a:srgbClr val="000099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4000" b="1" kern="1200">
        <a:solidFill>
          <a:srgbClr val="000099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4000" b="1" kern="1200">
        <a:solidFill>
          <a:srgbClr val="000099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4000" b="1" kern="1200">
        <a:solidFill>
          <a:srgbClr val="000099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4000" b="1" kern="1200">
        <a:solidFill>
          <a:srgbClr val="000099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4000" b="1" kern="1200">
        <a:solidFill>
          <a:srgbClr val="000099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" initials="l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99"/>
    <a:srgbClr val="0000FF"/>
    <a:srgbClr val="FF6600"/>
    <a:srgbClr val="008000"/>
    <a:srgbClr val="A50021"/>
    <a:srgbClr val="FF9900"/>
    <a:srgbClr val="FFFF66"/>
    <a:srgbClr val="8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74460" autoAdjust="0"/>
  </p:normalViewPr>
  <p:slideViewPr>
    <p:cSldViewPr showGuides="1">
      <p:cViewPr varScale="1">
        <p:scale>
          <a:sx n="64" d="100"/>
          <a:sy n="64" d="100"/>
        </p:scale>
        <p:origin x="2016" y="43"/>
      </p:cViewPr>
      <p:guideLst>
        <p:guide orient="horz" pos="2160"/>
        <p:guide pos="2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13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5" Type="http://schemas.openxmlformats.org/officeDocument/2006/relationships/tags" Target="tags/tag1.xml"/><Relationship Id="rId94" Type="http://schemas.openxmlformats.org/officeDocument/2006/relationships/commentAuthors" Target="commentAuthors.xml"/><Relationship Id="rId93" Type="http://schemas.openxmlformats.org/officeDocument/2006/relationships/tableStyles" Target="tableStyles.xml"/><Relationship Id="rId92" Type="http://schemas.openxmlformats.org/officeDocument/2006/relationships/viewProps" Target="viewProps.xml"/><Relationship Id="rId91" Type="http://schemas.openxmlformats.org/officeDocument/2006/relationships/presProps" Target="presProps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notesMaster" Target="notesMasters/notesMaster1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solidFill>
                  <a:schemeClr val="tx1"/>
                </a:solidFill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5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solidFill>
                  <a:schemeClr val="tx1"/>
                </a:solidFill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5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85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solidFill>
                  <a:schemeClr val="tx1"/>
                </a:solidFill>
                <a:effectLst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5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 smtClean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D136453-DB13-40BF-ABEF-CC1CF5A8822E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>
            <a:lvl1pPr eaLnBrk="0" hangingPunct="0"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spcBef>
                <a:spcPct val="20000"/>
              </a:spcBef>
              <a:defRPr/>
            </a:pPr>
            <a:fld id="{283FD7CB-4D3C-404C-BD04-5395D7CD0378}" type="slidenum">
              <a:rPr lang="en-US" altLang="zh-CN" sz="1200" smtClean="0">
                <a:effectLst>
                  <a:outerShdw blurRad="38100" dist="38100" dir="2700000" algn="tl">
                    <a:srgbClr val="C0C0C0"/>
                  </a:outerShdw>
                </a:effectLst>
              </a:rPr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000">
                <a:latin typeface="宋体" panose="02010600030101010101" pitchFamily="2" charset="-122"/>
              </a:rPr>
              <a:t>  </a:t>
            </a:r>
            <a:r>
              <a:rPr lang="zh-CN" altLang="en-US">
                <a:latin typeface="宋体" panose="02010600030101010101" pitchFamily="2" charset="-122"/>
              </a:rPr>
              <a:t>要求设计一个算法，当给定任何一个人的名字时，该算法能够打印出此人的电话号码，如果该电话簿中根本就没有这个人，则该算法也能够报告没有这个人的标志。</a:t>
            </a:r>
            <a:endParaRPr lang="zh-CN" altLang="en-US">
              <a:latin typeface="宋体" panose="02010600030101010101" pitchFamily="2" charset="-122"/>
            </a:endParaRPr>
          </a:p>
          <a:p>
            <a:pPr eaLnBrk="1" hangingPunct="1"/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>
            <a:lvl1pPr eaLnBrk="0" hangingPunct="0"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spcBef>
                <a:spcPct val="20000"/>
              </a:spcBef>
              <a:defRPr/>
            </a:pPr>
            <a:fld id="{F2E7CB8C-C062-4BC7-97ED-60D727B7034D}" type="slidenum">
              <a:rPr lang="en-US" altLang="zh-CN" sz="1200" smtClean="0">
                <a:effectLst>
                  <a:outerShdw blurRad="38100" dist="38100" dir="2700000" algn="tl">
                    <a:srgbClr val="C0C0C0"/>
                  </a:outerShdw>
                </a:effectLst>
              </a:rPr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zh-CN" altLang="en-US"/>
              <a:t>其他例子：</a:t>
            </a:r>
            <a:endParaRPr lang="zh-CN" altLang="en-US"/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/>
              <a:t>图书馆的书目检索系统自动化问题</a:t>
            </a:r>
            <a:endParaRPr lang="zh-CN" altLang="en-US"/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/>
              <a:t>教师资料档案管理系统</a:t>
            </a:r>
            <a:endParaRPr lang="zh-CN" altLang="en-US"/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/>
              <a:t>多叉路口交通灯的管理问题</a:t>
            </a:r>
            <a:endParaRPr lang="zh-CN" altLang="en-US"/>
          </a:p>
          <a:p>
            <a:pPr eaLnBrk="1" hangingPunct="1"/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008080"/>
                </a:solidFill>
                <a:ea typeface="仿宋_GB2312"/>
                <a:cs typeface="仿宋_GB2312"/>
              </a:rPr>
              <a:t>数据是信息的载体，是描述客观事物的数、字符、以及所有能输入到计算机中，被计算机程序识别和处理的符号的集合</a:t>
            </a:r>
            <a:endParaRPr lang="zh-CN" altLang="en-US" dirty="0">
              <a:solidFill>
                <a:srgbClr val="008080"/>
              </a:solidFill>
              <a:ea typeface="仿宋_GB2312"/>
              <a:cs typeface="仿宋_GB231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136453-DB13-40BF-ABEF-CC1CF5A8822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数据库  字段  </a:t>
            </a:r>
            <a:r>
              <a:rPr lang="en-US" altLang="zh-CN" dirty="0"/>
              <a:t>--</a:t>
            </a:r>
            <a:r>
              <a:rPr lang="zh-CN" altLang="en-US" dirty="0"/>
              <a:t>属性</a:t>
            </a:r>
            <a:endParaRPr lang="zh-CN" altLang="en-US" dirty="0"/>
          </a:p>
          <a:p>
            <a:r>
              <a:rPr lang="zh-CN" altLang="en-US" dirty="0"/>
              <a:t>        记录  </a:t>
            </a:r>
            <a:r>
              <a:rPr lang="en-US" altLang="zh-CN" dirty="0"/>
              <a:t>--</a:t>
            </a:r>
            <a:r>
              <a:rPr lang="zh-CN" altLang="en-US" dirty="0"/>
              <a:t>一个事物</a:t>
            </a:r>
            <a:endParaRPr lang="en-US" altLang="zh-CN" dirty="0"/>
          </a:p>
          <a:p>
            <a:r>
              <a:rPr lang="zh-CN" altLang="en-US" dirty="0"/>
              <a:t>   表    </a:t>
            </a:r>
            <a:r>
              <a:rPr lang="en-US" altLang="zh-CN" dirty="0"/>
              <a:t>--</a:t>
            </a:r>
            <a:r>
              <a:rPr lang="zh-CN" altLang="en-US" dirty="0"/>
              <a:t>事物的集合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184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90BAAE4D-82F3-48AB-9E98-988C5414BED3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数据库  字段  </a:t>
            </a:r>
            <a:r>
              <a:rPr lang="en-US" altLang="zh-CN" dirty="0"/>
              <a:t>--</a:t>
            </a:r>
            <a:r>
              <a:rPr lang="zh-CN" altLang="en-US" dirty="0"/>
              <a:t>属性</a:t>
            </a:r>
            <a:endParaRPr lang="zh-CN" altLang="en-US" dirty="0"/>
          </a:p>
          <a:p>
            <a:r>
              <a:rPr lang="zh-CN" altLang="en-US" dirty="0"/>
              <a:t>        记录  </a:t>
            </a:r>
            <a:r>
              <a:rPr lang="en-US" altLang="zh-CN" dirty="0"/>
              <a:t>--</a:t>
            </a:r>
            <a:r>
              <a:rPr lang="zh-CN" altLang="en-US" dirty="0"/>
              <a:t>一个事物</a:t>
            </a:r>
            <a:endParaRPr lang="en-US" altLang="zh-CN" dirty="0"/>
          </a:p>
          <a:p>
            <a:r>
              <a:rPr lang="zh-CN" altLang="en-US" dirty="0"/>
              <a:t>   表    </a:t>
            </a:r>
            <a:r>
              <a:rPr lang="en-US" altLang="zh-CN" dirty="0"/>
              <a:t>--</a:t>
            </a:r>
            <a:r>
              <a:rPr lang="zh-CN" altLang="en-US" dirty="0"/>
              <a:t>事物的集合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184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90BAAE4D-82F3-48AB-9E98-988C5414BED3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A1701EAE-2E0C-4D35-8A00-4685234E8A38}" type="slidenum">
              <a:rPr lang="en-US" altLang="zh-CN" sz="1200" b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b="1"/>
              <a:t>元素之间的关系在计算机中有两种不同的表示方法：顺序表示和非顺序表示。由此得出两种不同的存储结构：</a:t>
            </a:r>
            <a:r>
              <a:rPr lang="zh-CN" altLang="en-US" b="1">
                <a:solidFill>
                  <a:schemeClr val="folHlink"/>
                </a:solidFill>
              </a:rPr>
              <a:t>顺序存储结构</a:t>
            </a:r>
            <a:r>
              <a:rPr lang="zh-CN" altLang="en-US" b="1"/>
              <a:t>和</a:t>
            </a:r>
            <a:r>
              <a:rPr lang="zh-CN" altLang="en-US" b="1">
                <a:solidFill>
                  <a:schemeClr val="folHlink"/>
                </a:solidFill>
              </a:rPr>
              <a:t>链式存储结构</a:t>
            </a:r>
            <a:endParaRPr lang="zh-CN" altLang="en-US"/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5DBF7D5-F9E4-4442-ADF9-BF3AD33B7A0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b="1"/>
              <a:t>用数据元素在存储器中的相对位置来表示数据元素之间的逻辑结构</a:t>
            </a:r>
            <a:r>
              <a:rPr lang="en-US" altLang="zh-CN" b="1"/>
              <a:t>(</a:t>
            </a:r>
            <a:r>
              <a:rPr lang="zh-CN" altLang="en-US" b="1"/>
              <a:t>关系</a:t>
            </a:r>
            <a:r>
              <a:rPr lang="en-US" altLang="zh-CN" b="1"/>
              <a:t>)</a:t>
            </a:r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4782808-572E-4BEC-8388-2C4254EB7C0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b="1"/>
              <a:t>在每一个数据元素中增加一个存放另一个元素地址的指针</a:t>
            </a:r>
            <a:r>
              <a:rPr lang="en-US" altLang="zh-CN" b="1"/>
              <a:t>(pointer )</a:t>
            </a:r>
            <a:r>
              <a:rPr lang="zh-CN" altLang="en-US" b="1"/>
              <a:t>，用该指针来表示数据元素之间的逻辑结构</a:t>
            </a:r>
            <a:r>
              <a:rPr lang="en-US" altLang="zh-CN" b="1"/>
              <a:t>(</a:t>
            </a:r>
            <a:r>
              <a:rPr lang="zh-CN" altLang="en-US" b="1"/>
              <a:t>关系</a:t>
            </a:r>
            <a:r>
              <a:rPr lang="en-US" altLang="zh-CN" b="1"/>
              <a:t>)</a:t>
            </a:r>
            <a:r>
              <a:rPr lang="zh-CN" altLang="en-US" b="1"/>
              <a:t>。</a:t>
            </a:r>
            <a:endParaRPr lang="zh-CN" altLang="en-US"/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5268660-1CF1-42CE-865A-62CD99C8A75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执行次数的比较？</a:t>
            </a:r>
            <a:endParaRPr lang="en-US" altLang="zh-CN" dirty="0"/>
          </a:p>
          <a:p>
            <a:r>
              <a:rPr lang="zh-CN" altLang="en-US" dirty="0"/>
              <a:t>次数与</a:t>
            </a:r>
            <a:r>
              <a:rPr lang="en-US" altLang="zh-CN" dirty="0"/>
              <a:t>n</a:t>
            </a:r>
            <a:r>
              <a:rPr lang="zh-CN" altLang="en-US" dirty="0"/>
              <a:t>的关系？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136453-DB13-40BF-ABEF-CC1CF5A8822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strips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strips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strips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strips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strips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>
    <p:strips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trips dir="r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strips dir="r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>
    <p:strips dir="r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strips dir="r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strips dir="r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  <a:endParaRPr lang="zh-CN" altLang="en-US" noProof="0"/>
          </a:p>
        </p:txBody>
      </p:sp>
    </p:spTree>
  </p:cSld>
  <p:clrMapOvr>
    <a:masterClrMapping/>
  </p:clrMapOvr>
  <p:transition>
    <p:strips dir="r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dgm" idx="1" hasCustomPrompt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r>
              <a:rPr lang="zh-CN" altLang="en-US" noProof="0"/>
              <a:t>单击图标添加 </a:t>
            </a:r>
            <a:r>
              <a:rPr lang="en-US" altLang="zh-CN" noProof="0"/>
              <a:t>SmartArt </a:t>
            </a:r>
            <a:r>
              <a:rPr lang="zh-CN" altLang="en-US" noProof="0"/>
              <a:t>图形</a:t>
            </a:r>
            <a:endParaRPr lang="zh-CN" altLang="en-US" noProof="0"/>
          </a:p>
        </p:txBody>
      </p:sp>
    </p:spTree>
  </p:cSld>
  <p:clrMapOvr>
    <a:masterClrMapping/>
  </p:clrMapOvr>
  <p:transition>
    <p:strips dir="r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>
    <p:strips dir="r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标题，文本与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图表占位符 3"/>
          <p:cNvSpPr>
            <a:spLocks noGrp="1"/>
          </p:cNvSpPr>
          <p:nvPr>
            <p:ph type="chart" sz="half" idx="2" hasCustomPrompt="1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 noProof="0"/>
              <a:t>单击图标添加图表</a:t>
            </a:r>
            <a:endParaRPr lang="zh-CN" altLang="en-US" noProof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>
              <a:defRPr/>
            </a:pPr>
            <a:fld id="{95AFE351-A605-4E05-A68E-EFC6B67BAEC7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fld id="{9956D4B9-F76B-45B8-BA29-C40379148FA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>
    <p:strips dir="rd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1.jpe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18891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41438"/>
            <a:ext cx="7772400" cy="475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7740650" y="6416675"/>
            <a:ext cx="1368425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fld id="{64799162-1B0D-4DAF-90BB-0A93C655684A}" type="slidenum">
              <a:rPr lang="zh-CN" altLang="en-US" sz="200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fld>
            <a:r>
              <a:rPr lang="zh-CN" altLang="en-US" sz="20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lang="zh-CN" altLang="en-US" sz="200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7740650" y="6416675"/>
            <a:ext cx="1368425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fld id="{EF4F4760-66CF-403F-96C6-91AF79FABACD}" type="slidenum">
              <a:rPr lang="zh-CN" altLang="en-US" sz="200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fld>
            <a:endParaRPr lang="zh-CN" altLang="en-US" sz="200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7740650" y="6416675"/>
            <a:ext cx="1368425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fld id="{4966540B-6DBE-449F-8E74-14F38A921A8C}" type="slidenum">
              <a:rPr lang="zh-CN" altLang="en-US" sz="200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fld>
            <a:r>
              <a:rPr lang="zh-CN" altLang="en-US" sz="20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lang="zh-CN" altLang="en-US" sz="200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" name="Text Box 9"/>
          <p:cNvSpPr txBox="1">
            <a:spLocks noChangeArrowheads="1"/>
          </p:cNvSpPr>
          <p:nvPr userDrawn="1"/>
        </p:nvSpPr>
        <p:spPr bwMode="auto">
          <a:xfrm>
            <a:off x="7740650" y="6416675"/>
            <a:ext cx="1368425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>
            <a:lvl1pPr eaLnBrk="0" hangingPunct="0"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fld id="{CF0198F4-6286-460C-B33D-04F295DDE62C}" type="slidenum">
              <a:rPr lang="zh-CN" altLang="en-US" sz="200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fld>
            <a:r>
              <a:rPr lang="zh-CN" altLang="en-US" sz="20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lang="zh-CN" altLang="en-US" sz="200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>
    <p:strips dir="rd"/>
  </p:transition>
  <p:txStyles>
    <p:titleStyle>
      <a:lvl1pPr algn="ctr" rtl="0" fontAlgn="base">
        <a:spcBef>
          <a:spcPct val="0"/>
        </a:spcBef>
        <a:spcAft>
          <a:spcPct val="0"/>
        </a:spcAft>
        <a:defRPr kumimoji="1" lang="zh-CN" altLang="en-US" sz="3600" b="1" dirty="0">
          <a:solidFill>
            <a:srgbClr val="C0000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3600" b="1">
          <a:solidFill>
            <a:srgbClr val="C000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3600" b="1">
          <a:solidFill>
            <a:srgbClr val="C000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3600" b="1">
          <a:solidFill>
            <a:srgbClr val="C000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3600" b="1">
          <a:solidFill>
            <a:srgbClr val="C000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2800" b="1">
          <a:solidFill>
            <a:srgbClr val="000099"/>
          </a:solidFill>
          <a:latin typeface="+mn-lt"/>
          <a:ea typeface="楷体_GB231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400" b="1">
          <a:solidFill>
            <a:srgbClr val="000099"/>
          </a:solidFill>
          <a:latin typeface="+mn-lt"/>
          <a:ea typeface="楷体_GB231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000" b="1">
          <a:solidFill>
            <a:srgbClr val="000099"/>
          </a:solidFill>
          <a:latin typeface="+mn-lt"/>
          <a:ea typeface="楷体_GB231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b="1">
          <a:solidFill>
            <a:srgbClr val="000099"/>
          </a:solidFill>
          <a:latin typeface="+mn-lt"/>
          <a:ea typeface="楷体_GB231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b="1">
          <a:solidFill>
            <a:srgbClr val="000099"/>
          </a:solidFill>
          <a:latin typeface="+mn-lt"/>
          <a:ea typeface="楷体_GB231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3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4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slide" Target="slide47.xml"/><Relationship Id="rId2" Type="http://schemas.openxmlformats.org/officeDocument/2006/relationships/slide" Target="slide1.xml"/><Relationship Id="rId1" Type="http://schemas.openxmlformats.org/officeDocument/2006/relationships/slide" Target="slide60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5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wmf"/><Relationship Id="rId1" Type="http://schemas.openxmlformats.org/officeDocument/2006/relationships/oleObject" Target="../embeddings/oleObject4.bin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10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561975"/>
            <a:ext cx="9144000" cy="1498600"/>
          </a:xfrm>
        </p:spPr>
        <p:txBody>
          <a:bodyPr/>
          <a:lstStyle/>
          <a:p>
            <a:pPr>
              <a:defRPr/>
            </a:pPr>
            <a:endParaRPr lang="en-US" altLang="zh-CN" sz="6000" dirty="0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7507" name="Rectangle 3"/>
          <p:cNvSpPr>
            <a:spLocks noGrp="1" noChangeArrowheads="1"/>
          </p:cNvSpPr>
          <p:nvPr>
            <p:ph idx="1"/>
          </p:nvPr>
        </p:nvSpPr>
        <p:spPr>
          <a:xfrm>
            <a:off x="755650" y="2924175"/>
            <a:ext cx="7772400" cy="2735263"/>
          </a:xfrm>
        </p:spPr>
        <p:txBody>
          <a:bodyPr/>
          <a:lstStyle/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zh-CN" altLang="en-US" sz="54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第</a:t>
            </a:r>
            <a:r>
              <a:rPr lang="en-US" altLang="zh-CN" sz="54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1</a:t>
            </a:r>
            <a:r>
              <a:rPr lang="zh-CN" altLang="en-US" sz="5400" dirty="0"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章 绪论</a:t>
            </a:r>
            <a:endParaRPr lang="zh-CN" altLang="en-US" sz="5400" dirty="0"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</p:spTree>
  </p:cSld>
  <p:clrMapOvr>
    <a:masterClrMapping/>
  </p:clrMapOvr>
  <p:transition>
    <p:strips dir="r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online</a:t>
            </a:r>
            <a:endParaRPr lang="en-US" altLang="zh-CN"/>
          </a:p>
        </p:txBody>
      </p:sp>
      <p:sp>
        <p:nvSpPr>
          <p:cNvPr id="51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>
              <a:ea typeface="楷体_GB2312" pitchFamily="49" charset="-122"/>
            </a:endParaRPr>
          </a:p>
          <a:p>
            <a:r>
              <a:rPr lang="zh-CN" altLang="en-US" dirty="0">
                <a:ea typeface="楷体_GB2312" pitchFamily="49" charset="-122"/>
              </a:rPr>
              <a:t>数据结构基本概念</a:t>
            </a:r>
            <a:endParaRPr lang="en-US" altLang="zh-CN" dirty="0">
              <a:ea typeface="楷体_GB2312" pitchFamily="49" charset="-122"/>
            </a:endParaRPr>
          </a:p>
          <a:p>
            <a:r>
              <a:rPr lang="zh-CN" altLang="en-US" dirty="0">
                <a:ea typeface="楷体_GB2312" pitchFamily="49" charset="-122"/>
              </a:rPr>
              <a:t>算法及效率估量</a:t>
            </a:r>
            <a:endParaRPr lang="en-US" altLang="zh-CN" dirty="0">
              <a:ea typeface="楷体_GB2312" pitchFamily="49" charset="-122"/>
            </a:endParaRPr>
          </a:p>
          <a:p>
            <a:endParaRPr lang="zh-CN" altLang="en-US" dirty="0">
              <a:ea typeface="楷体_GB2312" pitchFamily="49" charset="-122"/>
            </a:endParaRPr>
          </a:p>
        </p:txBody>
      </p:sp>
    </p:spTree>
  </p:cSld>
  <p:clrMapOvr>
    <a:masterClrMapping/>
  </p:clrMapOvr>
  <p:transition>
    <p:strips dir="r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Text Box 2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0" y="2095500"/>
            <a:ext cx="9144000" cy="7699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44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什么是数据结构？</a:t>
            </a:r>
            <a:endParaRPr lang="zh-CN" altLang="en-US" sz="4400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sz="half" idx="4294967295"/>
          </p:nvPr>
        </p:nvSpPr>
        <p:spPr>
          <a:xfrm>
            <a:off x="0" y="1981200"/>
            <a:ext cx="3810000" cy="4114800"/>
          </a:xfrm>
        </p:spPr>
        <p:txBody>
          <a:bodyPr/>
          <a:lstStyle/>
          <a:p>
            <a:pPr lvl="4"/>
            <a:endParaRPr lang="en-US" altLang="zh-CN">
              <a:ea typeface="楷体_GB2312" pitchFamily="49" charset="-122"/>
            </a:endParaRPr>
          </a:p>
          <a:p>
            <a:pPr lvl="4"/>
            <a:endParaRPr lang="en-US" altLang="zh-CN">
              <a:ea typeface="楷体_GB2312" pitchFamily="49" charset="-122"/>
            </a:endParaRPr>
          </a:p>
        </p:txBody>
      </p:sp>
      <p:graphicFrame>
        <p:nvGraphicFramePr>
          <p:cNvPr id="15364" name="Group 4"/>
          <p:cNvGraphicFramePr>
            <a:graphicFrameLocks noGrp="1"/>
          </p:cNvGraphicFramePr>
          <p:nvPr>
            <p:ph sz="half" idx="4294967295"/>
          </p:nvPr>
        </p:nvGraphicFramePr>
        <p:xfrm>
          <a:off x="5835650" y="4508500"/>
          <a:ext cx="3308350" cy="1735139"/>
        </p:xfrm>
        <a:graphic>
          <a:graphicData uri="http://schemas.openxmlformats.org/drawingml/2006/table">
            <a:tbl>
              <a:tblPr/>
              <a:tblGrid>
                <a:gridCol w="1363662"/>
                <a:gridCol w="1944688"/>
              </a:tblGrid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 Rounded MT Bold" pitchFamily="2" charset="0"/>
                          <a:ea typeface="黑体" panose="02010609060101010101" pitchFamily="49" charset="-122"/>
                        </a:rPr>
                        <a:t>姓名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 Rounded MT Bold" pitchFamily="2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 Rounded MT Bold" pitchFamily="2" charset="0"/>
                          <a:ea typeface="黑体" panose="02010609060101010101" pitchFamily="49" charset="-122"/>
                        </a:rPr>
                        <a:t>电话号码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 Rounded MT Bold" pitchFamily="2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 Rounded MT Bold" pitchFamily="2" charset="0"/>
                          <a:ea typeface="黑体" panose="02010609060101010101" pitchFamily="49" charset="-122"/>
                        </a:rPr>
                        <a:t>陈海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 Rounded MT Bold" pitchFamily="2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 Rounded MT Bold" pitchFamily="2" charset="0"/>
                          <a:ea typeface="黑体" panose="02010609060101010101" pitchFamily="49" charset="-122"/>
                        </a:rPr>
                        <a:t>13612345588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 Rounded MT Bold" pitchFamily="2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3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 Rounded MT Bold" pitchFamily="2" charset="0"/>
                          <a:ea typeface="黑体" panose="02010609060101010101" pitchFamily="49" charset="-122"/>
                        </a:rPr>
                        <a:t>李四锋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 Rounded MT Bold" pitchFamily="2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 Rounded MT Bold" pitchFamily="2" charset="0"/>
                          <a:ea typeface="黑体" panose="02010609060101010101" pitchFamily="49" charset="-122"/>
                        </a:rPr>
                        <a:t>13056112345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 Rounded MT Bold" pitchFamily="2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0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 Rounded MT Bold" pitchFamily="2" charset="0"/>
                          <a:ea typeface="黑体" panose="02010609060101010101" pitchFamily="49" charset="-122"/>
                        </a:rPr>
                        <a:t>。。。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 Rounded MT Bold" pitchFamily="2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 Rounded MT Bold" pitchFamily="2" charset="0"/>
                          <a:ea typeface="黑体" panose="02010609060101010101" pitchFamily="49" charset="-122"/>
                        </a:rPr>
                        <a:t>。。。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 Rounded MT Bold" pitchFamily="2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381" name="Rectangle 34"/>
          <p:cNvSpPr>
            <a:spLocks noChangeArrowheads="1"/>
          </p:cNvSpPr>
          <p:nvPr/>
        </p:nvSpPr>
        <p:spPr bwMode="auto">
          <a:xfrm>
            <a:off x="279400" y="373063"/>
            <a:ext cx="8812213" cy="30241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</a:t>
            </a:r>
            <a:r>
              <a:rPr lang="en-US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：电话号码查询系统</a:t>
            </a:r>
            <a:endParaRPr lang="zh-CN" altLang="en-US" sz="3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    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设有一个电话号码薄，它记录了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个人的名字和其相应的电话号码，假定按如下形式安排：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</a:t>
            </a:r>
            <a:r>
              <a:rPr lang="en-US" sz="2800" baseline="-1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b</a:t>
            </a:r>
            <a:r>
              <a:rPr lang="en-US" sz="2800" baseline="-1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</a:t>
            </a:r>
            <a:r>
              <a:rPr lang="en-US" sz="2800" baseline="-1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b</a:t>
            </a:r>
            <a:r>
              <a:rPr lang="en-US" sz="2800" baseline="-1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…(a</a:t>
            </a:r>
            <a:r>
              <a:rPr lang="en-US" sz="2800" baseline="-1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en-US" sz="2800" baseline="-1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其中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sz="2800" baseline="-1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b</a:t>
            </a:r>
            <a:r>
              <a:rPr lang="en-US" sz="2800" baseline="-1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=1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2…n)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 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分别表示某人的名字和电话号码。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本问题是一种典型的表格问题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。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如表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1-1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，数据与数据成简单的一对一的</a:t>
            </a:r>
            <a:r>
              <a:rPr lang="zh-CN" altLang="en-US" sz="28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线性关系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。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15382" name="Rectangle 35"/>
          <p:cNvSpPr>
            <a:spLocks noChangeArrowheads="1"/>
          </p:cNvSpPr>
          <p:nvPr/>
        </p:nvSpPr>
        <p:spPr bwMode="auto">
          <a:xfrm>
            <a:off x="3505200" y="6288088"/>
            <a:ext cx="2362200" cy="38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ctr" eaLnBrk="1" hangingPunct="1">
              <a:defRPr/>
            </a:pP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</a:rPr>
              <a:t>表</a:t>
            </a:r>
            <a:r>
              <a:rPr 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1-1</a:t>
            </a: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  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</a:rPr>
              <a:t>线性表结构</a:t>
            </a:r>
            <a:endParaRPr lang="zh-CN" alt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_GB2312" pitchFamily="49" charset="-122"/>
            </a:endParaRPr>
          </a:p>
        </p:txBody>
      </p:sp>
    </p:spTree>
  </p:cSld>
  <p:clrMapOvr>
    <a:masterClrMapping/>
  </p:clrMapOvr>
  <p:transition spd="slow">
    <p:blinds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050"/>
          <p:cNvSpPr>
            <a:spLocks noGrp="1" noChangeArrowheads="1"/>
          </p:cNvSpPr>
          <p:nvPr>
            <p:ph idx="4294967295"/>
          </p:nvPr>
        </p:nvSpPr>
        <p:spPr>
          <a:xfrm>
            <a:off x="0" y="188913"/>
            <a:ext cx="5257800" cy="5040312"/>
          </a:xfrm>
        </p:spPr>
        <p:txBody>
          <a:bodyPr/>
          <a:lstStyle/>
          <a:p>
            <a:pPr marL="0" indent="0">
              <a:lnSpc>
                <a:spcPct val="110000"/>
              </a:lnSpc>
              <a:buFontTx/>
              <a:buNone/>
              <a:defRPr/>
            </a:pPr>
            <a:r>
              <a:rPr lang="zh-CN" altLang="en-US" dirty="0">
                <a:solidFill>
                  <a:srgbClr val="C00000"/>
                </a:solidFill>
              </a:rPr>
              <a:t>例</a:t>
            </a:r>
            <a:r>
              <a:rPr lang="en-US" dirty="0">
                <a:solidFill>
                  <a:srgbClr val="C00000"/>
                </a:solidFill>
              </a:rPr>
              <a:t>2</a:t>
            </a:r>
            <a:r>
              <a:rPr lang="zh-CN" altLang="en-US" dirty="0">
                <a:solidFill>
                  <a:srgbClr val="C00000"/>
                </a:solidFill>
              </a:rPr>
              <a:t>：磁盘目录文件系统</a:t>
            </a:r>
            <a:endParaRPr lang="zh-CN" altLang="en-US" dirty="0">
              <a:solidFill>
                <a:srgbClr val="C00000"/>
              </a:solidFill>
            </a:endParaRPr>
          </a:p>
          <a:p>
            <a:pPr marL="0" indent="0">
              <a:lnSpc>
                <a:spcPct val="110000"/>
              </a:lnSpc>
              <a:buFontTx/>
              <a:buNone/>
              <a:defRPr/>
            </a:pPr>
            <a:r>
              <a:rPr lang="zh-CN" altLang="en-US" sz="2400" dirty="0"/>
              <a:t>      </a:t>
            </a:r>
            <a:r>
              <a:rPr lang="zh-CN" altLang="en-US" dirty="0"/>
              <a:t>磁盘根目录下有很多子目录及文件，每个子目录里又可以包含多个子目录及文件，但每个子目录只有一个父目录，依此类推</a:t>
            </a:r>
            <a:r>
              <a:rPr lang="zh-CN" altLang="en-US" dirty="0">
                <a:latin typeface="宋体" panose="02010600030101010101" pitchFamily="2" charset="-122"/>
              </a:rPr>
              <a:t>：</a:t>
            </a:r>
            <a:endParaRPr lang="zh-CN" altLang="en-US" dirty="0">
              <a:latin typeface="宋体" panose="02010600030101010101" pitchFamily="2" charset="-122"/>
            </a:endParaRPr>
          </a:p>
          <a:p>
            <a:pPr marL="0" indent="0">
              <a:lnSpc>
                <a:spcPct val="110000"/>
              </a:lnSpc>
              <a:buFontTx/>
              <a:buNone/>
              <a:defRPr/>
            </a:pPr>
            <a:r>
              <a:rPr lang="zh-CN" altLang="en-US" dirty="0"/>
              <a:t>        本问题是一种典型的树型结构问题，如图</a:t>
            </a:r>
            <a:r>
              <a:rPr lang="en-US" dirty="0"/>
              <a:t>1-1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zh-CN" altLang="en-US" dirty="0"/>
              <a:t>，数据与数据成一对多的关系，是一种典型的非线性关系结构</a:t>
            </a:r>
            <a:r>
              <a:rPr lang="en-US" dirty="0">
                <a:latin typeface="Arial" panose="020B0604020202020204"/>
              </a:rPr>
              <a:t>—</a:t>
            </a:r>
            <a:r>
              <a:rPr lang="zh-CN" altLang="en-US" dirty="0">
                <a:solidFill>
                  <a:schemeClr val="tx2"/>
                </a:solidFill>
              </a:rPr>
              <a:t>树形结构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graphicFrame>
        <p:nvGraphicFramePr>
          <p:cNvPr id="9219" name="Object 2070"/>
          <p:cNvGraphicFramePr>
            <a:graphicFrameLocks noChangeAspect="1"/>
          </p:cNvGraphicFramePr>
          <p:nvPr/>
        </p:nvGraphicFramePr>
        <p:xfrm>
          <a:off x="5715000" y="0"/>
          <a:ext cx="3276600" cy="60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5" name="" r:id="rId1" imgW="2209800" imgH="4410075" progId="Paint.Picture">
                  <p:embed/>
                </p:oleObj>
              </mc:Choice>
              <mc:Fallback>
                <p:oleObj name="" r:id="rId1" imgW="2209800" imgH="4410075" progId="Paint.Picture">
                  <p:embed/>
                  <p:pic>
                    <p:nvPicPr>
                      <p:cNvPr id="0" name="Object 20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0"/>
                        <a:ext cx="3276600" cy="609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Rectangle 2089"/>
          <p:cNvSpPr>
            <a:spLocks noChangeArrowheads="1"/>
          </p:cNvSpPr>
          <p:nvPr/>
        </p:nvSpPr>
        <p:spPr bwMode="auto">
          <a:xfrm>
            <a:off x="6134100" y="6299200"/>
            <a:ext cx="2325688" cy="30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ctr" eaLnBrk="1" hangingPunct="1">
              <a:defRPr/>
            </a:pP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图</a:t>
            </a: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1-1</a:t>
            </a: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   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</a:rPr>
              <a:t>树形</a:t>
            </a:r>
            <a:r>
              <a:rPr lang="zh-CN" altLang="en-US" sz="20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结构</a:t>
            </a:r>
            <a:endParaRPr lang="zh-CN" altLang="en-US" sz="2000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</a:endParaRPr>
          </a:p>
        </p:txBody>
      </p:sp>
    </p:spTree>
  </p:cSld>
  <p:clrMapOvr>
    <a:masterClrMapping/>
  </p:clrMapOvr>
  <p:transition spd="slow">
    <p:blinds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Line 2"/>
          <p:cNvSpPr>
            <a:spLocks noChangeShapeType="1"/>
          </p:cNvSpPr>
          <p:nvPr/>
        </p:nvSpPr>
        <p:spPr bwMode="auto">
          <a:xfrm>
            <a:off x="5067300" y="4508500"/>
            <a:ext cx="1562100" cy="6350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51" name="Line 3"/>
          <p:cNvSpPr>
            <a:spLocks noChangeShapeType="1"/>
          </p:cNvSpPr>
          <p:nvPr/>
        </p:nvSpPr>
        <p:spPr bwMode="auto">
          <a:xfrm>
            <a:off x="4902200" y="4483100"/>
            <a:ext cx="977900" cy="850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52" name="Line 4"/>
          <p:cNvSpPr>
            <a:spLocks noChangeShapeType="1"/>
          </p:cNvSpPr>
          <p:nvPr/>
        </p:nvSpPr>
        <p:spPr bwMode="auto">
          <a:xfrm flipH="1">
            <a:off x="3835400" y="4457700"/>
            <a:ext cx="850900" cy="850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53" name="Line 5"/>
          <p:cNvSpPr>
            <a:spLocks noChangeShapeType="1"/>
          </p:cNvSpPr>
          <p:nvPr/>
        </p:nvSpPr>
        <p:spPr bwMode="auto">
          <a:xfrm>
            <a:off x="4775200" y="4470400"/>
            <a:ext cx="88900" cy="850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54" name="Line 6"/>
          <p:cNvSpPr>
            <a:spLocks noChangeShapeType="1"/>
          </p:cNvSpPr>
          <p:nvPr/>
        </p:nvSpPr>
        <p:spPr bwMode="auto">
          <a:xfrm>
            <a:off x="7937500" y="3136900"/>
            <a:ext cx="457200" cy="787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55" name="Line 7"/>
          <p:cNvSpPr>
            <a:spLocks noChangeShapeType="1"/>
          </p:cNvSpPr>
          <p:nvPr/>
        </p:nvSpPr>
        <p:spPr bwMode="auto">
          <a:xfrm>
            <a:off x="7772400" y="3149600"/>
            <a:ext cx="266700" cy="787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56" name="Line 8"/>
          <p:cNvSpPr>
            <a:spLocks noChangeShapeType="1"/>
          </p:cNvSpPr>
          <p:nvPr/>
        </p:nvSpPr>
        <p:spPr bwMode="auto">
          <a:xfrm>
            <a:off x="7594600" y="3162300"/>
            <a:ext cx="127000" cy="8001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57" name="Line 9"/>
          <p:cNvSpPr>
            <a:spLocks noChangeShapeType="1"/>
          </p:cNvSpPr>
          <p:nvPr/>
        </p:nvSpPr>
        <p:spPr bwMode="auto">
          <a:xfrm flipH="1">
            <a:off x="7112000" y="3124200"/>
            <a:ext cx="215900" cy="825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58" name="Line 10"/>
          <p:cNvSpPr>
            <a:spLocks noChangeShapeType="1"/>
          </p:cNvSpPr>
          <p:nvPr/>
        </p:nvSpPr>
        <p:spPr bwMode="auto">
          <a:xfrm flipH="1">
            <a:off x="7366000" y="3124200"/>
            <a:ext cx="114300" cy="825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59" name="Line 11"/>
          <p:cNvSpPr>
            <a:spLocks noChangeShapeType="1"/>
          </p:cNvSpPr>
          <p:nvPr/>
        </p:nvSpPr>
        <p:spPr bwMode="auto">
          <a:xfrm>
            <a:off x="6032500" y="3124200"/>
            <a:ext cx="457200" cy="901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60" name="Line 12"/>
          <p:cNvSpPr>
            <a:spLocks noChangeShapeType="1"/>
          </p:cNvSpPr>
          <p:nvPr/>
        </p:nvSpPr>
        <p:spPr bwMode="auto">
          <a:xfrm flipH="1">
            <a:off x="4991100" y="3098800"/>
            <a:ext cx="596900" cy="939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61" name="Line 13"/>
          <p:cNvSpPr>
            <a:spLocks noChangeShapeType="1"/>
          </p:cNvSpPr>
          <p:nvPr/>
        </p:nvSpPr>
        <p:spPr bwMode="auto">
          <a:xfrm flipH="1">
            <a:off x="5753100" y="3124200"/>
            <a:ext cx="25400" cy="901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62" name="Line 14"/>
          <p:cNvSpPr>
            <a:spLocks noChangeShapeType="1"/>
          </p:cNvSpPr>
          <p:nvPr/>
        </p:nvSpPr>
        <p:spPr bwMode="auto">
          <a:xfrm>
            <a:off x="3848100" y="3136900"/>
            <a:ext cx="215900" cy="825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63" name="Line 15"/>
          <p:cNvSpPr>
            <a:spLocks noChangeShapeType="1"/>
          </p:cNvSpPr>
          <p:nvPr/>
        </p:nvSpPr>
        <p:spPr bwMode="auto">
          <a:xfrm>
            <a:off x="3632200" y="3136900"/>
            <a:ext cx="101600" cy="838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64" name="Line 16"/>
          <p:cNvSpPr>
            <a:spLocks noChangeShapeType="1"/>
          </p:cNvSpPr>
          <p:nvPr/>
        </p:nvSpPr>
        <p:spPr bwMode="auto">
          <a:xfrm flipH="1">
            <a:off x="3403600" y="3111500"/>
            <a:ext cx="76200" cy="8763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65" name="Line 17"/>
          <p:cNvSpPr>
            <a:spLocks noChangeShapeType="1"/>
          </p:cNvSpPr>
          <p:nvPr/>
        </p:nvSpPr>
        <p:spPr bwMode="auto">
          <a:xfrm flipH="1">
            <a:off x="3124200" y="3124200"/>
            <a:ext cx="215900" cy="850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66" name="Line 18"/>
          <p:cNvSpPr>
            <a:spLocks noChangeShapeType="1"/>
          </p:cNvSpPr>
          <p:nvPr/>
        </p:nvSpPr>
        <p:spPr bwMode="auto">
          <a:xfrm>
            <a:off x="2082800" y="3124200"/>
            <a:ext cx="800100" cy="8001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67" name="Line 19"/>
          <p:cNvSpPr>
            <a:spLocks noChangeShapeType="1"/>
          </p:cNvSpPr>
          <p:nvPr/>
        </p:nvSpPr>
        <p:spPr bwMode="auto">
          <a:xfrm>
            <a:off x="1905000" y="3124200"/>
            <a:ext cx="571500" cy="9271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68" name="Line 20"/>
          <p:cNvSpPr>
            <a:spLocks noChangeShapeType="1"/>
          </p:cNvSpPr>
          <p:nvPr/>
        </p:nvSpPr>
        <p:spPr bwMode="auto">
          <a:xfrm>
            <a:off x="1689100" y="3124200"/>
            <a:ext cx="0" cy="9271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69" name="Line 21"/>
          <p:cNvSpPr>
            <a:spLocks noChangeShapeType="1"/>
          </p:cNvSpPr>
          <p:nvPr/>
        </p:nvSpPr>
        <p:spPr bwMode="auto">
          <a:xfrm flipH="1">
            <a:off x="952500" y="3124200"/>
            <a:ext cx="558800" cy="9271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70" name="Line 22"/>
          <p:cNvSpPr>
            <a:spLocks noChangeShapeType="1"/>
          </p:cNvSpPr>
          <p:nvPr/>
        </p:nvSpPr>
        <p:spPr bwMode="auto">
          <a:xfrm>
            <a:off x="5003800" y="1968500"/>
            <a:ext cx="2247900" cy="711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71" name="Line 23"/>
          <p:cNvSpPr>
            <a:spLocks noChangeShapeType="1"/>
          </p:cNvSpPr>
          <p:nvPr/>
        </p:nvSpPr>
        <p:spPr bwMode="auto">
          <a:xfrm>
            <a:off x="4597400" y="1968500"/>
            <a:ext cx="1092200" cy="736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72" name="Line 24"/>
          <p:cNvSpPr>
            <a:spLocks noChangeShapeType="1"/>
          </p:cNvSpPr>
          <p:nvPr/>
        </p:nvSpPr>
        <p:spPr bwMode="auto">
          <a:xfrm flipH="1">
            <a:off x="3594100" y="1955800"/>
            <a:ext cx="723900" cy="723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73" name="Line 25"/>
          <p:cNvSpPr>
            <a:spLocks noChangeShapeType="1"/>
          </p:cNvSpPr>
          <p:nvPr/>
        </p:nvSpPr>
        <p:spPr bwMode="auto">
          <a:xfrm flipH="1">
            <a:off x="2120900" y="1955800"/>
            <a:ext cx="1955800" cy="736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266" name="Rectangle 26"/>
          <p:cNvSpPr>
            <a:spLocks noGrp="1" noChangeArrowheads="1"/>
          </p:cNvSpPr>
          <p:nvPr>
            <p:ph type="title"/>
          </p:nvPr>
        </p:nvSpPr>
        <p:spPr>
          <a:xfrm>
            <a:off x="914400" y="457200"/>
            <a:ext cx="7772400" cy="1143000"/>
          </a:xfrm>
        </p:spPr>
        <p:txBody>
          <a:bodyPr/>
          <a:lstStyle/>
          <a:p>
            <a:r>
              <a:rPr lang="en-US" altLang="zh-CN" sz="4800">
                <a:solidFill>
                  <a:srgbClr val="000099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UNIX</a:t>
            </a:r>
            <a:r>
              <a:rPr sz="4800">
                <a:solidFill>
                  <a:srgbClr val="000099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文件系统的系统结构图</a:t>
            </a:r>
            <a:endParaRPr sz="4800">
              <a:solidFill>
                <a:srgbClr val="000099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83675" name="Rectangle 27"/>
          <p:cNvSpPr>
            <a:spLocks noChangeArrowheads="1"/>
          </p:cNvSpPr>
          <p:nvPr/>
        </p:nvSpPr>
        <p:spPr bwMode="auto">
          <a:xfrm>
            <a:off x="3873500" y="1524000"/>
            <a:ext cx="1282700" cy="431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268" name="Text Box 28"/>
          <p:cNvSpPr txBox="1">
            <a:spLocks noChangeArrowheads="1"/>
          </p:cNvSpPr>
          <p:nvPr/>
        </p:nvSpPr>
        <p:spPr bwMode="auto">
          <a:xfrm>
            <a:off x="4035425" y="1476375"/>
            <a:ext cx="1103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0000CC"/>
                </a:solidFill>
                <a:ea typeface="宋体" panose="02010600030101010101" pitchFamily="2" charset="-122"/>
              </a:rPr>
              <a:t>/</a:t>
            </a:r>
            <a:r>
              <a:rPr lang="en-US" altLang="zh-CN" sz="2400">
                <a:solidFill>
                  <a:schemeClr val="tx1"/>
                </a:solidFill>
                <a:ea typeface="宋体" panose="02010600030101010101" pitchFamily="2" charset="-122"/>
              </a:rPr>
              <a:t> (root)</a:t>
            </a:r>
            <a:endParaRPr lang="en-US" altLang="zh-CN" sz="3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83677" name="Rectangle 29"/>
          <p:cNvSpPr>
            <a:spLocks noChangeArrowheads="1"/>
          </p:cNvSpPr>
          <p:nvPr/>
        </p:nvSpPr>
        <p:spPr bwMode="auto">
          <a:xfrm>
            <a:off x="1333500" y="2692400"/>
            <a:ext cx="901700" cy="431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78" name="Rectangle 30"/>
          <p:cNvSpPr>
            <a:spLocks noChangeArrowheads="1"/>
          </p:cNvSpPr>
          <p:nvPr/>
        </p:nvSpPr>
        <p:spPr bwMode="auto">
          <a:xfrm>
            <a:off x="3136900" y="2692400"/>
            <a:ext cx="901700" cy="431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79" name="Rectangle 31"/>
          <p:cNvSpPr>
            <a:spLocks noChangeArrowheads="1"/>
          </p:cNvSpPr>
          <p:nvPr/>
        </p:nvSpPr>
        <p:spPr bwMode="auto">
          <a:xfrm>
            <a:off x="5295900" y="2692400"/>
            <a:ext cx="901700" cy="431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80" name="Rectangle 32"/>
          <p:cNvSpPr>
            <a:spLocks noChangeArrowheads="1"/>
          </p:cNvSpPr>
          <p:nvPr/>
        </p:nvSpPr>
        <p:spPr bwMode="auto">
          <a:xfrm>
            <a:off x="7124700" y="2692400"/>
            <a:ext cx="901700" cy="431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273" name="Text Box 33"/>
          <p:cNvSpPr txBox="1">
            <a:spLocks noChangeArrowheads="1"/>
          </p:cNvSpPr>
          <p:nvPr/>
        </p:nvSpPr>
        <p:spPr bwMode="auto">
          <a:xfrm>
            <a:off x="1444625" y="2632075"/>
            <a:ext cx="679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0000CC"/>
                </a:solidFill>
                <a:ea typeface="宋体" panose="02010600030101010101" pitchFamily="2" charset="-122"/>
              </a:rPr>
              <a:t>bin</a:t>
            </a:r>
            <a:endParaRPr lang="en-US" altLang="zh-CN" sz="3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274" name="Text Box 34"/>
          <p:cNvSpPr txBox="1">
            <a:spLocks noChangeArrowheads="1"/>
          </p:cNvSpPr>
          <p:nvPr/>
        </p:nvSpPr>
        <p:spPr bwMode="auto">
          <a:xfrm>
            <a:off x="3298825" y="2644775"/>
            <a:ext cx="5794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0000CC"/>
                </a:solidFill>
                <a:ea typeface="宋体" panose="02010600030101010101" pitchFamily="2" charset="-122"/>
              </a:rPr>
              <a:t>lib</a:t>
            </a:r>
            <a:endParaRPr lang="en-US" altLang="zh-CN" sz="3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275" name="Text Box 35"/>
          <p:cNvSpPr txBox="1">
            <a:spLocks noChangeArrowheads="1"/>
          </p:cNvSpPr>
          <p:nvPr/>
        </p:nvSpPr>
        <p:spPr bwMode="auto">
          <a:xfrm>
            <a:off x="5343525" y="2619375"/>
            <a:ext cx="835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0000CC"/>
                </a:solidFill>
                <a:ea typeface="宋体" panose="02010600030101010101" pitchFamily="2" charset="-122"/>
              </a:rPr>
              <a:t>user</a:t>
            </a:r>
            <a:endParaRPr lang="en-US" altLang="zh-CN" sz="3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276" name="Text Box 36"/>
          <p:cNvSpPr txBox="1">
            <a:spLocks noChangeArrowheads="1"/>
          </p:cNvSpPr>
          <p:nvPr/>
        </p:nvSpPr>
        <p:spPr bwMode="auto">
          <a:xfrm>
            <a:off x="7286625" y="2632075"/>
            <a:ext cx="6175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0000CC"/>
                </a:solidFill>
                <a:ea typeface="宋体" panose="02010600030101010101" pitchFamily="2" charset="-122"/>
              </a:rPr>
              <a:t>etc</a:t>
            </a:r>
            <a:endParaRPr lang="en-US" altLang="zh-CN" sz="3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83685" name="Rectangle 37"/>
          <p:cNvSpPr>
            <a:spLocks noChangeArrowheads="1"/>
          </p:cNvSpPr>
          <p:nvPr/>
        </p:nvSpPr>
        <p:spPr bwMode="auto">
          <a:xfrm>
            <a:off x="469900" y="4051300"/>
            <a:ext cx="723900" cy="431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86" name="Rectangle 38"/>
          <p:cNvSpPr>
            <a:spLocks noChangeArrowheads="1"/>
          </p:cNvSpPr>
          <p:nvPr/>
        </p:nvSpPr>
        <p:spPr bwMode="auto">
          <a:xfrm>
            <a:off x="1371600" y="4051300"/>
            <a:ext cx="723900" cy="431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87" name="Rectangle 39"/>
          <p:cNvSpPr>
            <a:spLocks noChangeArrowheads="1"/>
          </p:cNvSpPr>
          <p:nvPr/>
        </p:nvSpPr>
        <p:spPr bwMode="auto">
          <a:xfrm>
            <a:off x="2260600" y="4051300"/>
            <a:ext cx="723900" cy="431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88" name="Rectangle 40"/>
          <p:cNvSpPr>
            <a:spLocks noChangeArrowheads="1"/>
          </p:cNvSpPr>
          <p:nvPr/>
        </p:nvSpPr>
        <p:spPr bwMode="auto">
          <a:xfrm>
            <a:off x="5397500" y="4038600"/>
            <a:ext cx="723900" cy="431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89" name="Rectangle 41"/>
          <p:cNvSpPr>
            <a:spLocks noChangeArrowheads="1"/>
          </p:cNvSpPr>
          <p:nvPr/>
        </p:nvSpPr>
        <p:spPr bwMode="auto">
          <a:xfrm>
            <a:off x="4508500" y="4038600"/>
            <a:ext cx="723900" cy="431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690" name="Rectangle 42"/>
          <p:cNvSpPr>
            <a:spLocks noChangeArrowheads="1"/>
          </p:cNvSpPr>
          <p:nvPr/>
        </p:nvSpPr>
        <p:spPr bwMode="auto">
          <a:xfrm>
            <a:off x="6273800" y="4025900"/>
            <a:ext cx="723900" cy="431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283" name="Text Box 43"/>
          <p:cNvSpPr txBox="1">
            <a:spLocks noChangeArrowheads="1"/>
          </p:cNvSpPr>
          <p:nvPr/>
        </p:nvSpPr>
        <p:spPr bwMode="auto">
          <a:xfrm>
            <a:off x="403225" y="4016375"/>
            <a:ext cx="862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ea typeface="宋体" panose="02010600030101010101" pitchFamily="2" charset="-122"/>
              </a:rPr>
              <a:t>math</a:t>
            </a:r>
            <a:endParaRPr lang="en-US" altLang="zh-CN" sz="3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284" name="Text Box 44"/>
          <p:cNvSpPr txBox="1">
            <a:spLocks noChangeArrowheads="1"/>
          </p:cNvSpPr>
          <p:nvPr/>
        </p:nvSpPr>
        <p:spPr bwMode="auto">
          <a:xfrm>
            <a:off x="1495425" y="4029075"/>
            <a:ext cx="47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ea typeface="宋体" panose="02010600030101010101" pitchFamily="2" charset="-122"/>
              </a:rPr>
              <a:t>ds</a:t>
            </a:r>
            <a:endParaRPr lang="en-US" altLang="zh-CN" sz="3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285" name="Text Box 45"/>
          <p:cNvSpPr txBox="1">
            <a:spLocks noChangeArrowheads="1"/>
          </p:cNvSpPr>
          <p:nvPr/>
        </p:nvSpPr>
        <p:spPr bwMode="auto">
          <a:xfrm>
            <a:off x="2384425" y="4003675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ea typeface="宋体" panose="02010600030101010101" pitchFamily="2" charset="-122"/>
              </a:rPr>
              <a:t>sw</a:t>
            </a:r>
            <a:endParaRPr lang="en-US" altLang="zh-CN" sz="3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286" name="Text Box 46"/>
          <p:cNvSpPr txBox="1">
            <a:spLocks noChangeArrowheads="1"/>
          </p:cNvSpPr>
          <p:nvPr/>
        </p:nvSpPr>
        <p:spPr bwMode="auto">
          <a:xfrm>
            <a:off x="4594225" y="4003675"/>
            <a:ext cx="59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ea typeface="宋体" panose="02010600030101010101" pitchFamily="2" charset="-122"/>
              </a:rPr>
              <a:t>yin</a:t>
            </a:r>
            <a:endParaRPr lang="en-US" altLang="zh-CN" sz="3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287" name="Text Box 47"/>
          <p:cNvSpPr txBox="1">
            <a:spLocks noChangeArrowheads="1"/>
          </p:cNvSpPr>
          <p:nvPr/>
        </p:nvSpPr>
        <p:spPr bwMode="auto">
          <a:xfrm>
            <a:off x="5483225" y="4003675"/>
            <a:ext cx="59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ea typeface="宋体" panose="02010600030101010101" pitchFamily="2" charset="-122"/>
              </a:rPr>
              <a:t>tao</a:t>
            </a:r>
            <a:endParaRPr lang="en-US" altLang="zh-CN" sz="3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288" name="Text Box 48"/>
          <p:cNvSpPr txBox="1">
            <a:spLocks noChangeArrowheads="1"/>
          </p:cNvSpPr>
          <p:nvPr/>
        </p:nvSpPr>
        <p:spPr bwMode="auto">
          <a:xfrm>
            <a:off x="6372225" y="4003675"/>
            <a:ext cx="555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ea typeface="宋体" panose="02010600030101010101" pitchFamily="2" charset="-122"/>
              </a:rPr>
              <a:t>xie</a:t>
            </a:r>
            <a:endParaRPr lang="en-US" altLang="zh-CN" sz="3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83697" name="Rectangle 49"/>
          <p:cNvSpPr>
            <a:spLocks noChangeArrowheads="1"/>
          </p:cNvSpPr>
          <p:nvPr/>
        </p:nvSpPr>
        <p:spPr bwMode="auto">
          <a:xfrm>
            <a:off x="4152900" y="5334000"/>
            <a:ext cx="1435100" cy="431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290" name="Text Box 50"/>
          <p:cNvSpPr txBox="1">
            <a:spLocks noChangeArrowheads="1"/>
          </p:cNvSpPr>
          <p:nvPr/>
        </p:nvSpPr>
        <p:spPr bwMode="auto">
          <a:xfrm>
            <a:off x="4162425" y="5299075"/>
            <a:ext cx="1463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ea typeface="宋体" panose="02010600030101010101" pitchFamily="2" charset="-122"/>
              </a:rPr>
              <a:t>Stack.cpp</a:t>
            </a:r>
            <a:endParaRPr lang="en-US" altLang="zh-CN" sz="3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83699" name="Rectangle 51"/>
          <p:cNvSpPr>
            <a:spLocks noChangeArrowheads="1"/>
          </p:cNvSpPr>
          <p:nvPr/>
        </p:nvSpPr>
        <p:spPr bwMode="auto">
          <a:xfrm>
            <a:off x="5765800" y="5334000"/>
            <a:ext cx="1333500" cy="431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3700" name="Rectangle 52"/>
          <p:cNvSpPr>
            <a:spLocks noChangeArrowheads="1"/>
          </p:cNvSpPr>
          <p:nvPr/>
        </p:nvSpPr>
        <p:spPr bwMode="auto">
          <a:xfrm>
            <a:off x="2489200" y="5321300"/>
            <a:ext cx="1498600" cy="431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293" name="Text Box 53"/>
          <p:cNvSpPr txBox="1">
            <a:spLocks noChangeArrowheads="1"/>
          </p:cNvSpPr>
          <p:nvPr/>
        </p:nvSpPr>
        <p:spPr bwMode="auto">
          <a:xfrm>
            <a:off x="2460625" y="5299075"/>
            <a:ext cx="1581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ea typeface="宋体" panose="02010600030101010101" pitchFamily="2" charset="-122"/>
              </a:rPr>
              <a:t>Queue.cpp</a:t>
            </a:r>
            <a:endParaRPr lang="en-US" altLang="zh-CN" sz="3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294" name="Text Box 54"/>
          <p:cNvSpPr txBox="1">
            <a:spLocks noChangeArrowheads="1"/>
          </p:cNvSpPr>
          <p:nvPr/>
        </p:nvSpPr>
        <p:spPr bwMode="auto">
          <a:xfrm>
            <a:off x="5762625" y="5311775"/>
            <a:ext cx="1343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ea typeface="宋体" panose="02010600030101010101" pitchFamily="2" charset="-122"/>
              </a:rPr>
              <a:t>Tree.cpp</a:t>
            </a:r>
            <a:endParaRPr lang="en-US" altLang="zh-CN" sz="3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83703" name="Line 55"/>
          <p:cNvSpPr>
            <a:spLocks noChangeShapeType="1"/>
          </p:cNvSpPr>
          <p:nvPr/>
        </p:nvSpPr>
        <p:spPr bwMode="auto">
          <a:xfrm flipH="1">
            <a:off x="3175000" y="4470400"/>
            <a:ext cx="1358900" cy="7112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strips dir="r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772400" cy="685800"/>
          </a:xfrm>
        </p:spPr>
        <p:txBody>
          <a:bodyPr/>
          <a:lstStyle/>
          <a:p>
            <a:r>
              <a:rPr lang="zh-CN" altLang="en-US" sz="40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人机对弈</a:t>
            </a:r>
            <a:endParaRPr lang="zh-CN" altLang="en-US" sz="40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50754" name="Group 226"/>
          <p:cNvGrpSpPr/>
          <p:nvPr/>
        </p:nvGrpSpPr>
        <p:grpSpPr bwMode="auto">
          <a:xfrm>
            <a:off x="3348038" y="1268413"/>
            <a:ext cx="1676400" cy="1371600"/>
            <a:chOff x="2016" y="528"/>
            <a:chExt cx="1056" cy="864"/>
          </a:xfrm>
        </p:grpSpPr>
        <p:sp>
          <p:nvSpPr>
            <p:cNvPr id="150531" name="AutoShape 3"/>
            <p:cNvSpPr>
              <a:spLocks noChangeArrowheads="1"/>
            </p:cNvSpPr>
            <p:nvPr/>
          </p:nvSpPr>
          <p:spPr bwMode="auto">
            <a:xfrm>
              <a:off x="2112" y="1200"/>
              <a:ext cx="144" cy="125"/>
            </a:xfrm>
            <a:prstGeom prst="flowChartSummingJunction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32" name="AutoShape 4"/>
            <p:cNvSpPr>
              <a:spLocks noChangeArrowheads="1"/>
            </p:cNvSpPr>
            <p:nvPr/>
          </p:nvSpPr>
          <p:spPr bwMode="auto">
            <a:xfrm>
              <a:off x="2496" y="912"/>
              <a:ext cx="144" cy="144"/>
            </a:xfrm>
            <a:prstGeom prst="flowChartSummingJunction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50533" name="Picture 5" descr="BD14868_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4" y="528"/>
              <a:ext cx="211" cy="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50536" name="Group 8"/>
            <p:cNvGrpSpPr/>
            <p:nvPr/>
          </p:nvGrpSpPr>
          <p:grpSpPr bwMode="auto">
            <a:xfrm>
              <a:off x="2016" y="528"/>
              <a:ext cx="1056" cy="864"/>
              <a:chOff x="-3" y="-3"/>
              <a:chExt cx="1196" cy="1158"/>
            </a:xfrm>
          </p:grpSpPr>
          <p:grpSp>
            <p:nvGrpSpPr>
              <p:cNvPr id="150537" name="Group 9"/>
              <p:cNvGrpSpPr/>
              <p:nvPr/>
            </p:nvGrpSpPr>
            <p:grpSpPr bwMode="auto">
              <a:xfrm>
                <a:off x="0" y="0"/>
                <a:ext cx="1190" cy="1152"/>
                <a:chOff x="0" y="0"/>
                <a:chExt cx="1190" cy="1152"/>
              </a:xfrm>
            </p:grpSpPr>
            <p:grpSp>
              <p:nvGrpSpPr>
                <p:cNvPr id="150538" name="Group 10"/>
                <p:cNvGrpSpPr/>
                <p:nvPr/>
              </p:nvGrpSpPr>
              <p:grpSpPr bwMode="auto">
                <a:xfrm>
                  <a:off x="0" y="0"/>
                  <a:ext cx="396" cy="384"/>
                  <a:chOff x="0" y="0"/>
                  <a:chExt cx="396" cy="384"/>
                </a:xfrm>
              </p:grpSpPr>
              <p:sp>
                <p:nvSpPr>
                  <p:cNvPr id="150539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3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540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3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541" name="Group 13"/>
                <p:cNvGrpSpPr/>
                <p:nvPr/>
              </p:nvGrpSpPr>
              <p:grpSpPr bwMode="auto">
                <a:xfrm>
                  <a:off x="396" y="0"/>
                  <a:ext cx="397" cy="384"/>
                  <a:chOff x="396" y="0"/>
                  <a:chExt cx="397" cy="384"/>
                </a:xfrm>
              </p:grpSpPr>
              <p:sp>
                <p:nvSpPr>
                  <p:cNvPr id="150542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439" y="0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543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396" y="0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544" name="Group 16"/>
                <p:cNvGrpSpPr/>
                <p:nvPr/>
              </p:nvGrpSpPr>
              <p:grpSpPr bwMode="auto">
                <a:xfrm>
                  <a:off x="793" y="0"/>
                  <a:ext cx="397" cy="384"/>
                  <a:chOff x="793" y="0"/>
                  <a:chExt cx="397" cy="384"/>
                </a:xfrm>
              </p:grpSpPr>
              <p:sp>
                <p:nvSpPr>
                  <p:cNvPr id="150545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0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46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793" y="0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547" name="Group 19"/>
                <p:cNvGrpSpPr/>
                <p:nvPr/>
              </p:nvGrpSpPr>
              <p:grpSpPr bwMode="auto">
                <a:xfrm>
                  <a:off x="0" y="384"/>
                  <a:ext cx="396" cy="384"/>
                  <a:chOff x="0" y="384"/>
                  <a:chExt cx="396" cy="384"/>
                </a:xfrm>
              </p:grpSpPr>
              <p:sp>
                <p:nvSpPr>
                  <p:cNvPr id="150548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384"/>
                    <a:ext cx="3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549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0" y="384"/>
                    <a:ext cx="3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550" name="Group 22"/>
                <p:cNvGrpSpPr/>
                <p:nvPr/>
              </p:nvGrpSpPr>
              <p:grpSpPr bwMode="auto">
                <a:xfrm>
                  <a:off x="396" y="384"/>
                  <a:ext cx="397" cy="384"/>
                  <a:chOff x="396" y="384"/>
                  <a:chExt cx="397" cy="384"/>
                </a:xfrm>
              </p:grpSpPr>
              <p:sp>
                <p:nvSpPr>
                  <p:cNvPr id="150551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439" y="384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52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396" y="384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553" name="Group 25"/>
                <p:cNvGrpSpPr/>
                <p:nvPr/>
              </p:nvGrpSpPr>
              <p:grpSpPr bwMode="auto">
                <a:xfrm>
                  <a:off x="793" y="384"/>
                  <a:ext cx="397" cy="384"/>
                  <a:chOff x="793" y="384"/>
                  <a:chExt cx="397" cy="384"/>
                </a:xfrm>
              </p:grpSpPr>
              <p:sp>
                <p:nvSpPr>
                  <p:cNvPr id="150554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84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555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793" y="384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556" name="Group 28"/>
                <p:cNvGrpSpPr/>
                <p:nvPr/>
              </p:nvGrpSpPr>
              <p:grpSpPr bwMode="auto">
                <a:xfrm>
                  <a:off x="0" y="768"/>
                  <a:ext cx="396" cy="384"/>
                  <a:chOff x="0" y="768"/>
                  <a:chExt cx="396" cy="384"/>
                </a:xfrm>
              </p:grpSpPr>
              <p:sp>
                <p:nvSpPr>
                  <p:cNvPr id="150557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768"/>
                    <a:ext cx="3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58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0" y="768"/>
                    <a:ext cx="3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559" name="Group 31"/>
                <p:cNvGrpSpPr/>
                <p:nvPr/>
              </p:nvGrpSpPr>
              <p:grpSpPr bwMode="auto">
                <a:xfrm>
                  <a:off x="396" y="768"/>
                  <a:ext cx="397" cy="384"/>
                  <a:chOff x="396" y="768"/>
                  <a:chExt cx="397" cy="384"/>
                </a:xfrm>
              </p:grpSpPr>
              <p:sp>
                <p:nvSpPr>
                  <p:cNvPr id="150560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439" y="768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61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396" y="768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562" name="Group 34"/>
                <p:cNvGrpSpPr/>
                <p:nvPr/>
              </p:nvGrpSpPr>
              <p:grpSpPr bwMode="auto">
                <a:xfrm>
                  <a:off x="793" y="768"/>
                  <a:ext cx="397" cy="384"/>
                  <a:chOff x="793" y="768"/>
                  <a:chExt cx="397" cy="384"/>
                </a:xfrm>
              </p:grpSpPr>
              <p:sp>
                <p:nvSpPr>
                  <p:cNvPr id="150563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768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564" name="Rectangle 36"/>
                  <p:cNvSpPr>
                    <a:spLocks noChangeArrowheads="1"/>
                  </p:cNvSpPr>
                  <p:nvPr/>
                </p:nvSpPr>
                <p:spPr bwMode="auto">
                  <a:xfrm>
                    <a:off x="793" y="768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50565" name="Rectangle 37"/>
              <p:cNvSpPr>
                <a:spLocks noChangeArrowheads="1"/>
              </p:cNvSpPr>
              <p:nvPr/>
            </p:nvSpPr>
            <p:spPr bwMode="auto">
              <a:xfrm>
                <a:off x="-3" y="-3"/>
                <a:ext cx="1196" cy="1158"/>
              </a:xfrm>
              <a:prstGeom prst="rect">
                <a:avLst/>
              </a:prstGeom>
              <a:noFill/>
              <a:ln w="9525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pic>
          <p:nvPicPr>
            <p:cNvPr id="150566" name="Picture 38" descr="BD14868_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8" y="1152"/>
              <a:ext cx="211" cy="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0567" name="Group 39"/>
          <p:cNvGrpSpPr/>
          <p:nvPr/>
        </p:nvGrpSpPr>
        <p:grpSpPr bwMode="auto">
          <a:xfrm>
            <a:off x="5795963" y="3789363"/>
            <a:ext cx="1524000" cy="1676400"/>
            <a:chOff x="3648" y="2208"/>
            <a:chExt cx="960" cy="1056"/>
          </a:xfrm>
        </p:grpSpPr>
        <p:grpSp>
          <p:nvGrpSpPr>
            <p:cNvPr id="150568" name="Group 40"/>
            <p:cNvGrpSpPr/>
            <p:nvPr/>
          </p:nvGrpSpPr>
          <p:grpSpPr bwMode="auto">
            <a:xfrm>
              <a:off x="3648" y="2208"/>
              <a:ext cx="960" cy="1056"/>
              <a:chOff x="-3" y="-3"/>
              <a:chExt cx="1196" cy="1158"/>
            </a:xfrm>
          </p:grpSpPr>
          <p:grpSp>
            <p:nvGrpSpPr>
              <p:cNvPr id="150569" name="Group 41"/>
              <p:cNvGrpSpPr/>
              <p:nvPr/>
            </p:nvGrpSpPr>
            <p:grpSpPr bwMode="auto">
              <a:xfrm>
                <a:off x="0" y="0"/>
                <a:ext cx="1190" cy="1152"/>
                <a:chOff x="0" y="0"/>
                <a:chExt cx="1190" cy="1152"/>
              </a:xfrm>
            </p:grpSpPr>
            <p:grpSp>
              <p:nvGrpSpPr>
                <p:cNvPr id="150570" name="Group 42"/>
                <p:cNvGrpSpPr/>
                <p:nvPr/>
              </p:nvGrpSpPr>
              <p:grpSpPr bwMode="auto">
                <a:xfrm>
                  <a:off x="0" y="0"/>
                  <a:ext cx="396" cy="384"/>
                  <a:chOff x="0" y="0"/>
                  <a:chExt cx="396" cy="384"/>
                </a:xfrm>
              </p:grpSpPr>
              <p:sp>
                <p:nvSpPr>
                  <p:cNvPr id="150571" name="Rectangle 43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3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572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3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573" name="Group 45"/>
                <p:cNvGrpSpPr/>
                <p:nvPr/>
              </p:nvGrpSpPr>
              <p:grpSpPr bwMode="auto">
                <a:xfrm>
                  <a:off x="396" y="0"/>
                  <a:ext cx="397" cy="384"/>
                  <a:chOff x="396" y="0"/>
                  <a:chExt cx="397" cy="384"/>
                </a:xfrm>
              </p:grpSpPr>
              <p:sp>
                <p:nvSpPr>
                  <p:cNvPr id="150574" name="Rectangle 46"/>
                  <p:cNvSpPr>
                    <a:spLocks noChangeArrowheads="1"/>
                  </p:cNvSpPr>
                  <p:nvPr/>
                </p:nvSpPr>
                <p:spPr bwMode="auto">
                  <a:xfrm>
                    <a:off x="439" y="0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575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396" y="0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576" name="Group 48"/>
                <p:cNvGrpSpPr/>
                <p:nvPr/>
              </p:nvGrpSpPr>
              <p:grpSpPr bwMode="auto">
                <a:xfrm>
                  <a:off x="793" y="0"/>
                  <a:ext cx="397" cy="384"/>
                  <a:chOff x="793" y="0"/>
                  <a:chExt cx="397" cy="384"/>
                </a:xfrm>
              </p:grpSpPr>
              <p:sp>
                <p:nvSpPr>
                  <p:cNvPr id="150577" name="Rectangle 49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0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78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793" y="0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579" name="Group 51"/>
                <p:cNvGrpSpPr/>
                <p:nvPr/>
              </p:nvGrpSpPr>
              <p:grpSpPr bwMode="auto">
                <a:xfrm>
                  <a:off x="0" y="384"/>
                  <a:ext cx="396" cy="384"/>
                  <a:chOff x="0" y="384"/>
                  <a:chExt cx="396" cy="384"/>
                </a:xfrm>
              </p:grpSpPr>
              <p:sp>
                <p:nvSpPr>
                  <p:cNvPr id="150580" name="Rectangle 52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384"/>
                    <a:ext cx="3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581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0" y="384"/>
                    <a:ext cx="3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582" name="Group 54"/>
                <p:cNvGrpSpPr/>
                <p:nvPr/>
              </p:nvGrpSpPr>
              <p:grpSpPr bwMode="auto">
                <a:xfrm>
                  <a:off x="396" y="384"/>
                  <a:ext cx="397" cy="384"/>
                  <a:chOff x="396" y="384"/>
                  <a:chExt cx="397" cy="384"/>
                </a:xfrm>
              </p:grpSpPr>
              <p:sp>
                <p:nvSpPr>
                  <p:cNvPr id="150583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439" y="384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84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396" y="384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585" name="Group 57"/>
                <p:cNvGrpSpPr/>
                <p:nvPr/>
              </p:nvGrpSpPr>
              <p:grpSpPr bwMode="auto">
                <a:xfrm>
                  <a:off x="793" y="384"/>
                  <a:ext cx="397" cy="384"/>
                  <a:chOff x="793" y="384"/>
                  <a:chExt cx="397" cy="384"/>
                </a:xfrm>
              </p:grpSpPr>
              <p:sp>
                <p:nvSpPr>
                  <p:cNvPr id="150586" name="Rectangle 58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84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587" name="Rectangle 59"/>
                  <p:cNvSpPr>
                    <a:spLocks noChangeArrowheads="1"/>
                  </p:cNvSpPr>
                  <p:nvPr/>
                </p:nvSpPr>
                <p:spPr bwMode="auto">
                  <a:xfrm>
                    <a:off x="793" y="384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588" name="Group 60"/>
                <p:cNvGrpSpPr/>
                <p:nvPr/>
              </p:nvGrpSpPr>
              <p:grpSpPr bwMode="auto">
                <a:xfrm>
                  <a:off x="0" y="768"/>
                  <a:ext cx="396" cy="384"/>
                  <a:chOff x="0" y="768"/>
                  <a:chExt cx="396" cy="384"/>
                </a:xfrm>
              </p:grpSpPr>
              <p:sp>
                <p:nvSpPr>
                  <p:cNvPr id="150589" name="Rectangle 61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768"/>
                    <a:ext cx="3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90" name="Rectangle 62"/>
                  <p:cNvSpPr>
                    <a:spLocks noChangeArrowheads="1"/>
                  </p:cNvSpPr>
                  <p:nvPr/>
                </p:nvSpPr>
                <p:spPr bwMode="auto">
                  <a:xfrm>
                    <a:off x="0" y="768"/>
                    <a:ext cx="3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591" name="Group 63"/>
                <p:cNvGrpSpPr/>
                <p:nvPr/>
              </p:nvGrpSpPr>
              <p:grpSpPr bwMode="auto">
                <a:xfrm>
                  <a:off x="396" y="768"/>
                  <a:ext cx="397" cy="384"/>
                  <a:chOff x="396" y="768"/>
                  <a:chExt cx="397" cy="384"/>
                </a:xfrm>
              </p:grpSpPr>
              <p:sp>
                <p:nvSpPr>
                  <p:cNvPr id="150592" name="Rectangle 64"/>
                  <p:cNvSpPr>
                    <a:spLocks noChangeArrowheads="1"/>
                  </p:cNvSpPr>
                  <p:nvPr/>
                </p:nvSpPr>
                <p:spPr bwMode="auto">
                  <a:xfrm>
                    <a:off x="439" y="768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593" name="Rectangle 65"/>
                  <p:cNvSpPr>
                    <a:spLocks noChangeArrowheads="1"/>
                  </p:cNvSpPr>
                  <p:nvPr/>
                </p:nvSpPr>
                <p:spPr bwMode="auto">
                  <a:xfrm>
                    <a:off x="396" y="768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594" name="Group 66"/>
                <p:cNvGrpSpPr/>
                <p:nvPr/>
              </p:nvGrpSpPr>
              <p:grpSpPr bwMode="auto">
                <a:xfrm>
                  <a:off x="793" y="768"/>
                  <a:ext cx="397" cy="384"/>
                  <a:chOff x="793" y="768"/>
                  <a:chExt cx="397" cy="384"/>
                </a:xfrm>
              </p:grpSpPr>
              <p:sp>
                <p:nvSpPr>
                  <p:cNvPr id="150595" name="Rectangle 6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768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596" name="Rectangle 68"/>
                  <p:cNvSpPr>
                    <a:spLocks noChangeArrowheads="1"/>
                  </p:cNvSpPr>
                  <p:nvPr/>
                </p:nvSpPr>
                <p:spPr bwMode="auto">
                  <a:xfrm>
                    <a:off x="793" y="768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50597" name="Rectangle 69"/>
              <p:cNvSpPr>
                <a:spLocks noChangeArrowheads="1"/>
              </p:cNvSpPr>
              <p:nvPr/>
            </p:nvSpPr>
            <p:spPr bwMode="auto">
              <a:xfrm>
                <a:off x="-3" y="-3"/>
                <a:ext cx="1196" cy="1158"/>
              </a:xfrm>
              <a:prstGeom prst="rect">
                <a:avLst/>
              </a:prstGeom>
              <a:noFill/>
              <a:ln w="9525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50598" name="AutoShape 70"/>
            <p:cNvSpPr>
              <a:spLocks noChangeArrowheads="1"/>
            </p:cNvSpPr>
            <p:nvPr/>
          </p:nvSpPr>
          <p:spPr bwMode="auto">
            <a:xfrm>
              <a:off x="3744" y="3024"/>
              <a:ext cx="144" cy="144"/>
            </a:xfrm>
            <a:prstGeom prst="flowChartSummingJunction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99" name="AutoShape 71"/>
            <p:cNvSpPr>
              <a:spLocks noChangeArrowheads="1"/>
            </p:cNvSpPr>
            <p:nvPr/>
          </p:nvSpPr>
          <p:spPr bwMode="auto">
            <a:xfrm>
              <a:off x="4032" y="2688"/>
              <a:ext cx="144" cy="144"/>
            </a:xfrm>
            <a:prstGeom prst="flowChartSummingJunction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50600" name="Picture 72" descr="BD14868_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2" y="2928"/>
              <a:ext cx="211" cy="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0601" name="Picture 73" descr="BD14868_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0" y="2304"/>
              <a:ext cx="211" cy="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0602" name="Group 74"/>
          <p:cNvGrpSpPr/>
          <p:nvPr/>
        </p:nvGrpSpPr>
        <p:grpSpPr bwMode="auto">
          <a:xfrm>
            <a:off x="3995738" y="3789363"/>
            <a:ext cx="1600200" cy="1676400"/>
            <a:chOff x="2496" y="2208"/>
            <a:chExt cx="1008" cy="1056"/>
          </a:xfrm>
        </p:grpSpPr>
        <p:grpSp>
          <p:nvGrpSpPr>
            <p:cNvPr id="150603" name="Group 75"/>
            <p:cNvGrpSpPr/>
            <p:nvPr/>
          </p:nvGrpSpPr>
          <p:grpSpPr bwMode="auto">
            <a:xfrm>
              <a:off x="2496" y="2208"/>
              <a:ext cx="1008" cy="1056"/>
              <a:chOff x="-3" y="-3"/>
              <a:chExt cx="1196" cy="1158"/>
            </a:xfrm>
          </p:grpSpPr>
          <p:grpSp>
            <p:nvGrpSpPr>
              <p:cNvPr id="150604" name="Group 76"/>
              <p:cNvGrpSpPr/>
              <p:nvPr/>
            </p:nvGrpSpPr>
            <p:grpSpPr bwMode="auto">
              <a:xfrm>
                <a:off x="0" y="0"/>
                <a:ext cx="1190" cy="1152"/>
                <a:chOff x="0" y="0"/>
                <a:chExt cx="1190" cy="1152"/>
              </a:xfrm>
            </p:grpSpPr>
            <p:grpSp>
              <p:nvGrpSpPr>
                <p:cNvPr id="150605" name="Group 77"/>
                <p:cNvGrpSpPr/>
                <p:nvPr/>
              </p:nvGrpSpPr>
              <p:grpSpPr bwMode="auto">
                <a:xfrm>
                  <a:off x="0" y="0"/>
                  <a:ext cx="396" cy="384"/>
                  <a:chOff x="0" y="0"/>
                  <a:chExt cx="396" cy="384"/>
                </a:xfrm>
              </p:grpSpPr>
              <p:sp>
                <p:nvSpPr>
                  <p:cNvPr id="150606" name="Rectangle 78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3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607" name="Rectangle 79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3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608" name="Group 80"/>
                <p:cNvGrpSpPr/>
                <p:nvPr/>
              </p:nvGrpSpPr>
              <p:grpSpPr bwMode="auto">
                <a:xfrm>
                  <a:off x="396" y="0"/>
                  <a:ext cx="397" cy="384"/>
                  <a:chOff x="396" y="0"/>
                  <a:chExt cx="397" cy="384"/>
                </a:xfrm>
              </p:grpSpPr>
              <p:sp>
                <p:nvSpPr>
                  <p:cNvPr id="150609" name="Rectangle 81"/>
                  <p:cNvSpPr>
                    <a:spLocks noChangeArrowheads="1"/>
                  </p:cNvSpPr>
                  <p:nvPr/>
                </p:nvSpPr>
                <p:spPr bwMode="auto">
                  <a:xfrm>
                    <a:off x="439" y="0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610" name="Rectangle 82"/>
                  <p:cNvSpPr>
                    <a:spLocks noChangeArrowheads="1"/>
                  </p:cNvSpPr>
                  <p:nvPr/>
                </p:nvSpPr>
                <p:spPr bwMode="auto">
                  <a:xfrm>
                    <a:off x="396" y="0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611" name="Group 83"/>
                <p:cNvGrpSpPr/>
                <p:nvPr/>
              </p:nvGrpSpPr>
              <p:grpSpPr bwMode="auto">
                <a:xfrm>
                  <a:off x="793" y="0"/>
                  <a:ext cx="397" cy="384"/>
                  <a:chOff x="793" y="0"/>
                  <a:chExt cx="397" cy="384"/>
                </a:xfrm>
              </p:grpSpPr>
              <p:sp>
                <p:nvSpPr>
                  <p:cNvPr id="150612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0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613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793" y="0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614" name="Group 86"/>
                <p:cNvGrpSpPr/>
                <p:nvPr/>
              </p:nvGrpSpPr>
              <p:grpSpPr bwMode="auto">
                <a:xfrm>
                  <a:off x="0" y="384"/>
                  <a:ext cx="396" cy="384"/>
                  <a:chOff x="0" y="384"/>
                  <a:chExt cx="396" cy="384"/>
                </a:xfrm>
              </p:grpSpPr>
              <p:sp>
                <p:nvSpPr>
                  <p:cNvPr id="150615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384"/>
                    <a:ext cx="3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616" name="Rectangle 8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384"/>
                    <a:ext cx="3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617" name="Group 89"/>
                <p:cNvGrpSpPr/>
                <p:nvPr/>
              </p:nvGrpSpPr>
              <p:grpSpPr bwMode="auto">
                <a:xfrm>
                  <a:off x="396" y="384"/>
                  <a:ext cx="397" cy="384"/>
                  <a:chOff x="396" y="384"/>
                  <a:chExt cx="397" cy="384"/>
                </a:xfrm>
              </p:grpSpPr>
              <p:sp>
                <p:nvSpPr>
                  <p:cNvPr id="150618" name="Rectangle 90"/>
                  <p:cNvSpPr>
                    <a:spLocks noChangeArrowheads="1"/>
                  </p:cNvSpPr>
                  <p:nvPr/>
                </p:nvSpPr>
                <p:spPr bwMode="auto">
                  <a:xfrm>
                    <a:off x="439" y="384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619" name="Rectangle 91"/>
                  <p:cNvSpPr>
                    <a:spLocks noChangeArrowheads="1"/>
                  </p:cNvSpPr>
                  <p:nvPr/>
                </p:nvSpPr>
                <p:spPr bwMode="auto">
                  <a:xfrm>
                    <a:off x="396" y="384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620" name="Group 92"/>
                <p:cNvGrpSpPr/>
                <p:nvPr/>
              </p:nvGrpSpPr>
              <p:grpSpPr bwMode="auto">
                <a:xfrm>
                  <a:off x="793" y="384"/>
                  <a:ext cx="397" cy="384"/>
                  <a:chOff x="793" y="384"/>
                  <a:chExt cx="397" cy="384"/>
                </a:xfrm>
              </p:grpSpPr>
              <p:sp>
                <p:nvSpPr>
                  <p:cNvPr id="150621" name="Rectangle 93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84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622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793" y="384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623" name="Group 95"/>
                <p:cNvGrpSpPr/>
                <p:nvPr/>
              </p:nvGrpSpPr>
              <p:grpSpPr bwMode="auto">
                <a:xfrm>
                  <a:off x="0" y="768"/>
                  <a:ext cx="396" cy="384"/>
                  <a:chOff x="0" y="768"/>
                  <a:chExt cx="396" cy="384"/>
                </a:xfrm>
              </p:grpSpPr>
              <p:sp>
                <p:nvSpPr>
                  <p:cNvPr id="150624" name="Rectangle 96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768"/>
                    <a:ext cx="3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625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0" y="768"/>
                    <a:ext cx="3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626" name="Group 98"/>
                <p:cNvGrpSpPr/>
                <p:nvPr/>
              </p:nvGrpSpPr>
              <p:grpSpPr bwMode="auto">
                <a:xfrm>
                  <a:off x="396" y="768"/>
                  <a:ext cx="397" cy="384"/>
                  <a:chOff x="396" y="768"/>
                  <a:chExt cx="397" cy="384"/>
                </a:xfrm>
              </p:grpSpPr>
              <p:sp>
                <p:nvSpPr>
                  <p:cNvPr id="150627" name="Rectangle 99"/>
                  <p:cNvSpPr>
                    <a:spLocks noChangeArrowheads="1"/>
                  </p:cNvSpPr>
                  <p:nvPr/>
                </p:nvSpPr>
                <p:spPr bwMode="auto">
                  <a:xfrm>
                    <a:off x="439" y="768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628" name="Rectangle 100"/>
                  <p:cNvSpPr>
                    <a:spLocks noChangeArrowheads="1"/>
                  </p:cNvSpPr>
                  <p:nvPr/>
                </p:nvSpPr>
                <p:spPr bwMode="auto">
                  <a:xfrm>
                    <a:off x="396" y="768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629" name="Group 101"/>
                <p:cNvGrpSpPr/>
                <p:nvPr/>
              </p:nvGrpSpPr>
              <p:grpSpPr bwMode="auto">
                <a:xfrm>
                  <a:off x="793" y="768"/>
                  <a:ext cx="397" cy="384"/>
                  <a:chOff x="793" y="768"/>
                  <a:chExt cx="397" cy="384"/>
                </a:xfrm>
              </p:grpSpPr>
              <p:sp>
                <p:nvSpPr>
                  <p:cNvPr id="150630" name="Rectangle 102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768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631" name="Rectangle 103"/>
                  <p:cNvSpPr>
                    <a:spLocks noChangeArrowheads="1"/>
                  </p:cNvSpPr>
                  <p:nvPr/>
                </p:nvSpPr>
                <p:spPr bwMode="auto">
                  <a:xfrm>
                    <a:off x="793" y="768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50632" name="Rectangle 104"/>
              <p:cNvSpPr>
                <a:spLocks noChangeArrowheads="1"/>
              </p:cNvSpPr>
              <p:nvPr/>
            </p:nvSpPr>
            <p:spPr bwMode="auto">
              <a:xfrm>
                <a:off x="-3" y="-3"/>
                <a:ext cx="1196" cy="1158"/>
              </a:xfrm>
              <a:prstGeom prst="rect">
                <a:avLst/>
              </a:prstGeom>
              <a:noFill/>
              <a:ln w="9525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50633" name="AutoShape 105"/>
            <p:cNvSpPr>
              <a:spLocks noChangeArrowheads="1"/>
            </p:cNvSpPr>
            <p:nvPr/>
          </p:nvSpPr>
          <p:spPr bwMode="auto">
            <a:xfrm>
              <a:off x="2592" y="3024"/>
              <a:ext cx="144" cy="144"/>
            </a:xfrm>
            <a:prstGeom prst="flowChartSummingJunction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634" name="AutoShape 106"/>
            <p:cNvSpPr>
              <a:spLocks noChangeArrowheads="1"/>
            </p:cNvSpPr>
            <p:nvPr/>
          </p:nvSpPr>
          <p:spPr bwMode="auto">
            <a:xfrm>
              <a:off x="2928" y="2688"/>
              <a:ext cx="144" cy="144"/>
            </a:xfrm>
            <a:prstGeom prst="flowChartSummingJunction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50635" name="Picture 107" descr="BD14868_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" y="2928"/>
              <a:ext cx="211" cy="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0636" name="Picture 108" descr="BD14868_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6" y="2304"/>
              <a:ext cx="211" cy="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0637" name="Group 109"/>
          <p:cNvGrpSpPr/>
          <p:nvPr/>
        </p:nvGrpSpPr>
        <p:grpSpPr bwMode="auto">
          <a:xfrm>
            <a:off x="2124075" y="3789363"/>
            <a:ext cx="1600200" cy="1676400"/>
            <a:chOff x="1344" y="2208"/>
            <a:chExt cx="1008" cy="1056"/>
          </a:xfrm>
        </p:grpSpPr>
        <p:grpSp>
          <p:nvGrpSpPr>
            <p:cNvPr id="150638" name="Group 110"/>
            <p:cNvGrpSpPr/>
            <p:nvPr/>
          </p:nvGrpSpPr>
          <p:grpSpPr bwMode="auto">
            <a:xfrm>
              <a:off x="1344" y="2208"/>
              <a:ext cx="1008" cy="1056"/>
              <a:chOff x="-3" y="-3"/>
              <a:chExt cx="1196" cy="1158"/>
            </a:xfrm>
          </p:grpSpPr>
          <p:grpSp>
            <p:nvGrpSpPr>
              <p:cNvPr id="150639" name="Group 111"/>
              <p:cNvGrpSpPr/>
              <p:nvPr/>
            </p:nvGrpSpPr>
            <p:grpSpPr bwMode="auto">
              <a:xfrm>
                <a:off x="0" y="0"/>
                <a:ext cx="1190" cy="1152"/>
                <a:chOff x="0" y="0"/>
                <a:chExt cx="1190" cy="1152"/>
              </a:xfrm>
            </p:grpSpPr>
            <p:grpSp>
              <p:nvGrpSpPr>
                <p:cNvPr id="150640" name="Group 112"/>
                <p:cNvGrpSpPr/>
                <p:nvPr/>
              </p:nvGrpSpPr>
              <p:grpSpPr bwMode="auto">
                <a:xfrm>
                  <a:off x="0" y="0"/>
                  <a:ext cx="396" cy="384"/>
                  <a:chOff x="0" y="0"/>
                  <a:chExt cx="396" cy="384"/>
                </a:xfrm>
              </p:grpSpPr>
              <p:sp>
                <p:nvSpPr>
                  <p:cNvPr id="150641" name="Rectangle 113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3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642" name="Rectangle 114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3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643" name="Group 115"/>
                <p:cNvGrpSpPr/>
                <p:nvPr/>
              </p:nvGrpSpPr>
              <p:grpSpPr bwMode="auto">
                <a:xfrm>
                  <a:off x="396" y="0"/>
                  <a:ext cx="397" cy="384"/>
                  <a:chOff x="396" y="0"/>
                  <a:chExt cx="397" cy="384"/>
                </a:xfrm>
              </p:grpSpPr>
              <p:sp>
                <p:nvSpPr>
                  <p:cNvPr id="150644" name="Rectangle 116"/>
                  <p:cNvSpPr>
                    <a:spLocks noChangeArrowheads="1"/>
                  </p:cNvSpPr>
                  <p:nvPr/>
                </p:nvSpPr>
                <p:spPr bwMode="auto">
                  <a:xfrm>
                    <a:off x="439" y="0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645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396" y="0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646" name="Group 118"/>
                <p:cNvGrpSpPr/>
                <p:nvPr/>
              </p:nvGrpSpPr>
              <p:grpSpPr bwMode="auto">
                <a:xfrm>
                  <a:off x="793" y="0"/>
                  <a:ext cx="397" cy="384"/>
                  <a:chOff x="793" y="0"/>
                  <a:chExt cx="397" cy="384"/>
                </a:xfrm>
              </p:grpSpPr>
              <p:sp>
                <p:nvSpPr>
                  <p:cNvPr id="150647" name="Rectangle 119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0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648" name="Rectangle 120"/>
                  <p:cNvSpPr>
                    <a:spLocks noChangeArrowheads="1"/>
                  </p:cNvSpPr>
                  <p:nvPr/>
                </p:nvSpPr>
                <p:spPr bwMode="auto">
                  <a:xfrm>
                    <a:off x="793" y="0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649" name="Group 121"/>
                <p:cNvGrpSpPr/>
                <p:nvPr/>
              </p:nvGrpSpPr>
              <p:grpSpPr bwMode="auto">
                <a:xfrm>
                  <a:off x="0" y="384"/>
                  <a:ext cx="396" cy="384"/>
                  <a:chOff x="0" y="384"/>
                  <a:chExt cx="396" cy="384"/>
                </a:xfrm>
              </p:grpSpPr>
              <p:sp>
                <p:nvSpPr>
                  <p:cNvPr id="150650" name="Rectangle 122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384"/>
                    <a:ext cx="3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651" name="Rectangle 123"/>
                  <p:cNvSpPr>
                    <a:spLocks noChangeArrowheads="1"/>
                  </p:cNvSpPr>
                  <p:nvPr/>
                </p:nvSpPr>
                <p:spPr bwMode="auto">
                  <a:xfrm>
                    <a:off x="0" y="384"/>
                    <a:ext cx="3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652" name="Group 124"/>
                <p:cNvGrpSpPr/>
                <p:nvPr/>
              </p:nvGrpSpPr>
              <p:grpSpPr bwMode="auto">
                <a:xfrm>
                  <a:off x="396" y="384"/>
                  <a:ext cx="397" cy="384"/>
                  <a:chOff x="396" y="384"/>
                  <a:chExt cx="397" cy="384"/>
                </a:xfrm>
              </p:grpSpPr>
              <p:sp>
                <p:nvSpPr>
                  <p:cNvPr id="150653" name="Rectangle 125"/>
                  <p:cNvSpPr>
                    <a:spLocks noChangeArrowheads="1"/>
                  </p:cNvSpPr>
                  <p:nvPr/>
                </p:nvSpPr>
                <p:spPr bwMode="auto">
                  <a:xfrm>
                    <a:off x="439" y="384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654" name="Rectangle 126"/>
                  <p:cNvSpPr>
                    <a:spLocks noChangeArrowheads="1"/>
                  </p:cNvSpPr>
                  <p:nvPr/>
                </p:nvSpPr>
                <p:spPr bwMode="auto">
                  <a:xfrm>
                    <a:off x="396" y="384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655" name="Group 127"/>
                <p:cNvGrpSpPr/>
                <p:nvPr/>
              </p:nvGrpSpPr>
              <p:grpSpPr bwMode="auto">
                <a:xfrm>
                  <a:off x="793" y="384"/>
                  <a:ext cx="397" cy="384"/>
                  <a:chOff x="793" y="384"/>
                  <a:chExt cx="397" cy="384"/>
                </a:xfrm>
              </p:grpSpPr>
              <p:sp>
                <p:nvSpPr>
                  <p:cNvPr id="150656" name="Rectangle 128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84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657" name="Rectangle 129"/>
                  <p:cNvSpPr>
                    <a:spLocks noChangeArrowheads="1"/>
                  </p:cNvSpPr>
                  <p:nvPr/>
                </p:nvSpPr>
                <p:spPr bwMode="auto">
                  <a:xfrm>
                    <a:off x="793" y="384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658" name="Group 130"/>
                <p:cNvGrpSpPr/>
                <p:nvPr/>
              </p:nvGrpSpPr>
              <p:grpSpPr bwMode="auto">
                <a:xfrm>
                  <a:off x="0" y="768"/>
                  <a:ext cx="396" cy="384"/>
                  <a:chOff x="0" y="768"/>
                  <a:chExt cx="396" cy="384"/>
                </a:xfrm>
              </p:grpSpPr>
              <p:sp>
                <p:nvSpPr>
                  <p:cNvPr id="150659" name="Rectangle 131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768"/>
                    <a:ext cx="3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660" name="Rectangle 132"/>
                  <p:cNvSpPr>
                    <a:spLocks noChangeArrowheads="1"/>
                  </p:cNvSpPr>
                  <p:nvPr/>
                </p:nvSpPr>
                <p:spPr bwMode="auto">
                  <a:xfrm>
                    <a:off x="0" y="768"/>
                    <a:ext cx="3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661" name="Group 133"/>
                <p:cNvGrpSpPr/>
                <p:nvPr/>
              </p:nvGrpSpPr>
              <p:grpSpPr bwMode="auto">
                <a:xfrm>
                  <a:off x="396" y="768"/>
                  <a:ext cx="397" cy="384"/>
                  <a:chOff x="396" y="768"/>
                  <a:chExt cx="397" cy="384"/>
                </a:xfrm>
              </p:grpSpPr>
              <p:sp>
                <p:nvSpPr>
                  <p:cNvPr id="150662" name="Rectangle 134"/>
                  <p:cNvSpPr>
                    <a:spLocks noChangeArrowheads="1"/>
                  </p:cNvSpPr>
                  <p:nvPr/>
                </p:nvSpPr>
                <p:spPr bwMode="auto">
                  <a:xfrm>
                    <a:off x="439" y="768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663" name="Rectangle 135"/>
                  <p:cNvSpPr>
                    <a:spLocks noChangeArrowheads="1"/>
                  </p:cNvSpPr>
                  <p:nvPr/>
                </p:nvSpPr>
                <p:spPr bwMode="auto">
                  <a:xfrm>
                    <a:off x="396" y="768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664" name="Group 136"/>
                <p:cNvGrpSpPr/>
                <p:nvPr/>
              </p:nvGrpSpPr>
              <p:grpSpPr bwMode="auto">
                <a:xfrm>
                  <a:off x="793" y="768"/>
                  <a:ext cx="397" cy="384"/>
                  <a:chOff x="793" y="768"/>
                  <a:chExt cx="397" cy="384"/>
                </a:xfrm>
              </p:grpSpPr>
              <p:sp>
                <p:nvSpPr>
                  <p:cNvPr id="150665" name="Rectangle 13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768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666" name="Rectangle 138"/>
                  <p:cNvSpPr>
                    <a:spLocks noChangeArrowheads="1"/>
                  </p:cNvSpPr>
                  <p:nvPr/>
                </p:nvSpPr>
                <p:spPr bwMode="auto">
                  <a:xfrm>
                    <a:off x="793" y="768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50667" name="Rectangle 139"/>
              <p:cNvSpPr>
                <a:spLocks noChangeArrowheads="1"/>
              </p:cNvSpPr>
              <p:nvPr/>
            </p:nvSpPr>
            <p:spPr bwMode="auto">
              <a:xfrm>
                <a:off x="-3" y="-3"/>
                <a:ext cx="1196" cy="1158"/>
              </a:xfrm>
              <a:prstGeom prst="rect">
                <a:avLst/>
              </a:prstGeom>
              <a:noFill/>
              <a:ln w="9525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50668" name="AutoShape 140"/>
            <p:cNvSpPr>
              <a:spLocks noChangeArrowheads="1"/>
            </p:cNvSpPr>
            <p:nvPr/>
          </p:nvSpPr>
          <p:spPr bwMode="auto">
            <a:xfrm>
              <a:off x="1440" y="3024"/>
              <a:ext cx="144" cy="144"/>
            </a:xfrm>
            <a:prstGeom prst="flowChartSummingJunction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669" name="AutoShape 141"/>
            <p:cNvSpPr>
              <a:spLocks noChangeArrowheads="1"/>
            </p:cNvSpPr>
            <p:nvPr/>
          </p:nvSpPr>
          <p:spPr bwMode="auto">
            <a:xfrm>
              <a:off x="1776" y="2688"/>
              <a:ext cx="144" cy="144"/>
            </a:xfrm>
            <a:prstGeom prst="flowChartSummingJunction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50670" name="Picture 142" descr="BD14868_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8" y="2976"/>
              <a:ext cx="211" cy="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0671" name="Picture 143" descr="BD14868_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4" y="2304"/>
              <a:ext cx="211" cy="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0672" name="Group 144"/>
          <p:cNvGrpSpPr/>
          <p:nvPr/>
        </p:nvGrpSpPr>
        <p:grpSpPr bwMode="auto">
          <a:xfrm>
            <a:off x="250825" y="3789363"/>
            <a:ext cx="1676400" cy="1676400"/>
            <a:chOff x="144" y="2208"/>
            <a:chExt cx="1056" cy="1056"/>
          </a:xfrm>
        </p:grpSpPr>
        <p:grpSp>
          <p:nvGrpSpPr>
            <p:cNvPr id="150673" name="Group 145"/>
            <p:cNvGrpSpPr/>
            <p:nvPr/>
          </p:nvGrpSpPr>
          <p:grpSpPr bwMode="auto">
            <a:xfrm>
              <a:off x="144" y="2208"/>
              <a:ext cx="1056" cy="1056"/>
              <a:chOff x="-3" y="-3"/>
              <a:chExt cx="1196" cy="1158"/>
            </a:xfrm>
          </p:grpSpPr>
          <p:grpSp>
            <p:nvGrpSpPr>
              <p:cNvPr id="150674" name="Group 146"/>
              <p:cNvGrpSpPr/>
              <p:nvPr/>
            </p:nvGrpSpPr>
            <p:grpSpPr bwMode="auto">
              <a:xfrm>
                <a:off x="0" y="0"/>
                <a:ext cx="1190" cy="1152"/>
                <a:chOff x="0" y="0"/>
                <a:chExt cx="1190" cy="1152"/>
              </a:xfrm>
            </p:grpSpPr>
            <p:grpSp>
              <p:nvGrpSpPr>
                <p:cNvPr id="150675" name="Group 147"/>
                <p:cNvGrpSpPr/>
                <p:nvPr/>
              </p:nvGrpSpPr>
              <p:grpSpPr bwMode="auto">
                <a:xfrm>
                  <a:off x="0" y="0"/>
                  <a:ext cx="396" cy="384"/>
                  <a:chOff x="0" y="0"/>
                  <a:chExt cx="396" cy="384"/>
                </a:xfrm>
              </p:grpSpPr>
              <p:sp>
                <p:nvSpPr>
                  <p:cNvPr id="150676" name="Rectangle 148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3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677" name="Rectangle 149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3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678" name="Group 150"/>
                <p:cNvGrpSpPr/>
                <p:nvPr/>
              </p:nvGrpSpPr>
              <p:grpSpPr bwMode="auto">
                <a:xfrm>
                  <a:off x="396" y="0"/>
                  <a:ext cx="397" cy="384"/>
                  <a:chOff x="396" y="0"/>
                  <a:chExt cx="397" cy="384"/>
                </a:xfrm>
              </p:grpSpPr>
              <p:sp>
                <p:nvSpPr>
                  <p:cNvPr id="150679" name="Rectangle 151"/>
                  <p:cNvSpPr>
                    <a:spLocks noChangeArrowheads="1"/>
                  </p:cNvSpPr>
                  <p:nvPr/>
                </p:nvSpPr>
                <p:spPr bwMode="auto">
                  <a:xfrm>
                    <a:off x="439" y="0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680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396" y="0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681" name="Group 153"/>
                <p:cNvGrpSpPr/>
                <p:nvPr/>
              </p:nvGrpSpPr>
              <p:grpSpPr bwMode="auto">
                <a:xfrm>
                  <a:off x="793" y="0"/>
                  <a:ext cx="397" cy="384"/>
                  <a:chOff x="793" y="0"/>
                  <a:chExt cx="397" cy="384"/>
                </a:xfrm>
              </p:grpSpPr>
              <p:sp>
                <p:nvSpPr>
                  <p:cNvPr id="150682" name="Rectangle 154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0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683" name="Rectangle 155"/>
                  <p:cNvSpPr>
                    <a:spLocks noChangeArrowheads="1"/>
                  </p:cNvSpPr>
                  <p:nvPr/>
                </p:nvSpPr>
                <p:spPr bwMode="auto">
                  <a:xfrm>
                    <a:off x="793" y="0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684" name="Group 156"/>
                <p:cNvGrpSpPr/>
                <p:nvPr/>
              </p:nvGrpSpPr>
              <p:grpSpPr bwMode="auto">
                <a:xfrm>
                  <a:off x="0" y="384"/>
                  <a:ext cx="396" cy="384"/>
                  <a:chOff x="0" y="384"/>
                  <a:chExt cx="396" cy="384"/>
                </a:xfrm>
              </p:grpSpPr>
              <p:sp>
                <p:nvSpPr>
                  <p:cNvPr id="150685" name="Rectangle 157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384"/>
                    <a:ext cx="3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686" name="Rectangle 15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384"/>
                    <a:ext cx="3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687" name="Group 159"/>
                <p:cNvGrpSpPr/>
                <p:nvPr/>
              </p:nvGrpSpPr>
              <p:grpSpPr bwMode="auto">
                <a:xfrm>
                  <a:off x="396" y="384"/>
                  <a:ext cx="397" cy="384"/>
                  <a:chOff x="396" y="384"/>
                  <a:chExt cx="397" cy="384"/>
                </a:xfrm>
              </p:grpSpPr>
              <p:sp>
                <p:nvSpPr>
                  <p:cNvPr id="150688" name="Rectangle 160"/>
                  <p:cNvSpPr>
                    <a:spLocks noChangeArrowheads="1"/>
                  </p:cNvSpPr>
                  <p:nvPr/>
                </p:nvSpPr>
                <p:spPr bwMode="auto">
                  <a:xfrm>
                    <a:off x="439" y="384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689" name="Rectangle 161"/>
                  <p:cNvSpPr>
                    <a:spLocks noChangeArrowheads="1"/>
                  </p:cNvSpPr>
                  <p:nvPr/>
                </p:nvSpPr>
                <p:spPr bwMode="auto">
                  <a:xfrm>
                    <a:off x="396" y="384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690" name="Group 162"/>
                <p:cNvGrpSpPr/>
                <p:nvPr/>
              </p:nvGrpSpPr>
              <p:grpSpPr bwMode="auto">
                <a:xfrm>
                  <a:off x="793" y="384"/>
                  <a:ext cx="397" cy="384"/>
                  <a:chOff x="793" y="384"/>
                  <a:chExt cx="397" cy="384"/>
                </a:xfrm>
              </p:grpSpPr>
              <p:sp>
                <p:nvSpPr>
                  <p:cNvPr id="150691" name="Rectangle 163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84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692" name="Rectangle 164"/>
                  <p:cNvSpPr>
                    <a:spLocks noChangeArrowheads="1"/>
                  </p:cNvSpPr>
                  <p:nvPr/>
                </p:nvSpPr>
                <p:spPr bwMode="auto">
                  <a:xfrm>
                    <a:off x="793" y="384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693" name="Group 165"/>
                <p:cNvGrpSpPr/>
                <p:nvPr/>
              </p:nvGrpSpPr>
              <p:grpSpPr bwMode="auto">
                <a:xfrm>
                  <a:off x="0" y="768"/>
                  <a:ext cx="396" cy="384"/>
                  <a:chOff x="0" y="768"/>
                  <a:chExt cx="396" cy="384"/>
                </a:xfrm>
              </p:grpSpPr>
              <p:sp>
                <p:nvSpPr>
                  <p:cNvPr id="150694" name="Rectangle 166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768"/>
                    <a:ext cx="3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695" name="Rectangle 167"/>
                  <p:cNvSpPr>
                    <a:spLocks noChangeArrowheads="1"/>
                  </p:cNvSpPr>
                  <p:nvPr/>
                </p:nvSpPr>
                <p:spPr bwMode="auto">
                  <a:xfrm>
                    <a:off x="0" y="768"/>
                    <a:ext cx="3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696" name="Group 168"/>
                <p:cNvGrpSpPr/>
                <p:nvPr/>
              </p:nvGrpSpPr>
              <p:grpSpPr bwMode="auto">
                <a:xfrm>
                  <a:off x="396" y="768"/>
                  <a:ext cx="397" cy="384"/>
                  <a:chOff x="396" y="768"/>
                  <a:chExt cx="397" cy="384"/>
                </a:xfrm>
              </p:grpSpPr>
              <p:sp>
                <p:nvSpPr>
                  <p:cNvPr id="150697" name="Rectangle 169"/>
                  <p:cNvSpPr>
                    <a:spLocks noChangeArrowheads="1"/>
                  </p:cNvSpPr>
                  <p:nvPr/>
                </p:nvSpPr>
                <p:spPr bwMode="auto">
                  <a:xfrm>
                    <a:off x="439" y="768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698" name="Rectangle 170"/>
                  <p:cNvSpPr>
                    <a:spLocks noChangeArrowheads="1"/>
                  </p:cNvSpPr>
                  <p:nvPr/>
                </p:nvSpPr>
                <p:spPr bwMode="auto">
                  <a:xfrm>
                    <a:off x="396" y="768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699" name="Group 171"/>
                <p:cNvGrpSpPr/>
                <p:nvPr/>
              </p:nvGrpSpPr>
              <p:grpSpPr bwMode="auto">
                <a:xfrm>
                  <a:off x="793" y="768"/>
                  <a:ext cx="397" cy="384"/>
                  <a:chOff x="793" y="768"/>
                  <a:chExt cx="397" cy="384"/>
                </a:xfrm>
              </p:grpSpPr>
              <p:sp>
                <p:nvSpPr>
                  <p:cNvPr id="150700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768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701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793" y="768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50702" name="Rectangle 174"/>
              <p:cNvSpPr>
                <a:spLocks noChangeArrowheads="1"/>
              </p:cNvSpPr>
              <p:nvPr/>
            </p:nvSpPr>
            <p:spPr bwMode="auto">
              <a:xfrm>
                <a:off x="-3" y="-3"/>
                <a:ext cx="1196" cy="1158"/>
              </a:xfrm>
              <a:prstGeom prst="rect">
                <a:avLst/>
              </a:prstGeom>
              <a:noFill/>
              <a:ln w="9525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50703" name="AutoShape 175"/>
            <p:cNvSpPr>
              <a:spLocks noChangeArrowheads="1"/>
            </p:cNvSpPr>
            <p:nvPr/>
          </p:nvSpPr>
          <p:spPr bwMode="auto">
            <a:xfrm>
              <a:off x="624" y="2688"/>
              <a:ext cx="144" cy="144"/>
            </a:xfrm>
            <a:prstGeom prst="flowChartSummingJunction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704" name="AutoShape 176"/>
            <p:cNvSpPr>
              <a:spLocks noChangeArrowheads="1"/>
            </p:cNvSpPr>
            <p:nvPr/>
          </p:nvSpPr>
          <p:spPr bwMode="auto">
            <a:xfrm>
              <a:off x="240" y="3024"/>
              <a:ext cx="144" cy="144"/>
            </a:xfrm>
            <a:prstGeom prst="flowChartSummingJunction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50705" name="Picture 177" descr="BD14868_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" y="2976"/>
              <a:ext cx="211" cy="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0706" name="Picture 178" descr="BD14868_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" y="2304"/>
              <a:ext cx="211" cy="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0707" name="Group 179"/>
          <p:cNvGrpSpPr/>
          <p:nvPr/>
        </p:nvGrpSpPr>
        <p:grpSpPr bwMode="auto">
          <a:xfrm>
            <a:off x="7451725" y="3789363"/>
            <a:ext cx="1447800" cy="1676400"/>
            <a:chOff x="4704" y="2208"/>
            <a:chExt cx="912" cy="1056"/>
          </a:xfrm>
        </p:grpSpPr>
        <p:grpSp>
          <p:nvGrpSpPr>
            <p:cNvPr id="150708" name="Group 180"/>
            <p:cNvGrpSpPr/>
            <p:nvPr/>
          </p:nvGrpSpPr>
          <p:grpSpPr bwMode="auto">
            <a:xfrm>
              <a:off x="4704" y="2208"/>
              <a:ext cx="912" cy="1056"/>
              <a:chOff x="-3" y="-3"/>
              <a:chExt cx="1196" cy="1158"/>
            </a:xfrm>
          </p:grpSpPr>
          <p:grpSp>
            <p:nvGrpSpPr>
              <p:cNvPr id="150709" name="Group 181"/>
              <p:cNvGrpSpPr/>
              <p:nvPr/>
            </p:nvGrpSpPr>
            <p:grpSpPr bwMode="auto">
              <a:xfrm>
                <a:off x="0" y="0"/>
                <a:ext cx="1190" cy="1152"/>
                <a:chOff x="0" y="0"/>
                <a:chExt cx="1190" cy="1152"/>
              </a:xfrm>
            </p:grpSpPr>
            <p:grpSp>
              <p:nvGrpSpPr>
                <p:cNvPr id="150710" name="Group 182"/>
                <p:cNvGrpSpPr/>
                <p:nvPr/>
              </p:nvGrpSpPr>
              <p:grpSpPr bwMode="auto">
                <a:xfrm>
                  <a:off x="0" y="0"/>
                  <a:ext cx="396" cy="384"/>
                  <a:chOff x="0" y="0"/>
                  <a:chExt cx="396" cy="384"/>
                </a:xfrm>
              </p:grpSpPr>
              <p:sp>
                <p:nvSpPr>
                  <p:cNvPr id="150711" name="Rectangle 183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3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712" name="Rectangle 184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3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713" name="Group 185"/>
                <p:cNvGrpSpPr/>
                <p:nvPr/>
              </p:nvGrpSpPr>
              <p:grpSpPr bwMode="auto">
                <a:xfrm>
                  <a:off x="396" y="0"/>
                  <a:ext cx="397" cy="384"/>
                  <a:chOff x="396" y="0"/>
                  <a:chExt cx="397" cy="384"/>
                </a:xfrm>
              </p:grpSpPr>
              <p:sp>
                <p:nvSpPr>
                  <p:cNvPr id="150714" name="Rectangle 186"/>
                  <p:cNvSpPr>
                    <a:spLocks noChangeArrowheads="1"/>
                  </p:cNvSpPr>
                  <p:nvPr/>
                </p:nvSpPr>
                <p:spPr bwMode="auto">
                  <a:xfrm>
                    <a:off x="439" y="0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715" name="Rectangle 187"/>
                  <p:cNvSpPr>
                    <a:spLocks noChangeArrowheads="1"/>
                  </p:cNvSpPr>
                  <p:nvPr/>
                </p:nvSpPr>
                <p:spPr bwMode="auto">
                  <a:xfrm>
                    <a:off x="396" y="0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716" name="Group 188"/>
                <p:cNvGrpSpPr/>
                <p:nvPr/>
              </p:nvGrpSpPr>
              <p:grpSpPr bwMode="auto">
                <a:xfrm>
                  <a:off x="793" y="0"/>
                  <a:ext cx="397" cy="384"/>
                  <a:chOff x="793" y="0"/>
                  <a:chExt cx="397" cy="384"/>
                </a:xfrm>
              </p:grpSpPr>
              <p:sp>
                <p:nvSpPr>
                  <p:cNvPr id="150717" name="Rectangle 189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0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718" name="Rectangle 190"/>
                  <p:cNvSpPr>
                    <a:spLocks noChangeArrowheads="1"/>
                  </p:cNvSpPr>
                  <p:nvPr/>
                </p:nvSpPr>
                <p:spPr bwMode="auto">
                  <a:xfrm>
                    <a:off x="793" y="0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719" name="Group 191"/>
                <p:cNvGrpSpPr/>
                <p:nvPr/>
              </p:nvGrpSpPr>
              <p:grpSpPr bwMode="auto">
                <a:xfrm>
                  <a:off x="0" y="384"/>
                  <a:ext cx="396" cy="384"/>
                  <a:chOff x="0" y="384"/>
                  <a:chExt cx="396" cy="384"/>
                </a:xfrm>
              </p:grpSpPr>
              <p:sp>
                <p:nvSpPr>
                  <p:cNvPr id="150720" name="Rectangle 192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384"/>
                    <a:ext cx="3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721" name="Rectangle 193"/>
                  <p:cNvSpPr>
                    <a:spLocks noChangeArrowheads="1"/>
                  </p:cNvSpPr>
                  <p:nvPr/>
                </p:nvSpPr>
                <p:spPr bwMode="auto">
                  <a:xfrm>
                    <a:off x="0" y="384"/>
                    <a:ext cx="3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722" name="Group 194"/>
                <p:cNvGrpSpPr/>
                <p:nvPr/>
              </p:nvGrpSpPr>
              <p:grpSpPr bwMode="auto">
                <a:xfrm>
                  <a:off x="396" y="384"/>
                  <a:ext cx="397" cy="384"/>
                  <a:chOff x="396" y="384"/>
                  <a:chExt cx="397" cy="384"/>
                </a:xfrm>
              </p:grpSpPr>
              <p:sp>
                <p:nvSpPr>
                  <p:cNvPr id="150723" name="Rectangle 195"/>
                  <p:cNvSpPr>
                    <a:spLocks noChangeArrowheads="1"/>
                  </p:cNvSpPr>
                  <p:nvPr/>
                </p:nvSpPr>
                <p:spPr bwMode="auto">
                  <a:xfrm>
                    <a:off x="439" y="384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724" name="Rectangle 196"/>
                  <p:cNvSpPr>
                    <a:spLocks noChangeArrowheads="1"/>
                  </p:cNvSpPr>
                  <p:nvPr/>
                </p:nvSpPr>
                <p:spPr bwMode="auto">
                  <a:xfrm>
                    <a:off x="396" y="384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725" name="Group 197"/>
                <p:cNvGrpSpPr/>
                <p:nvPr/>
              </p:nvGrpSpPr>
              <p:grpSpPr bwMode="auto">
                <a:xfrm>
                  <a:off x="793" y="384"/>
                  <a:ext cx="397" cy="384"/>
                  <a:chOff x="793" y="384"/>
                  <a:chExt cx="397" cy="384"/>
                </a:xfrm>
              </p:grpSpPr>
              <p:sp>
                <p:nvSpPr>
                  <p:cNvPr id="150726" name="Rectangle 198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84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727" name="Rectangle 199"/>
                  <p:cNvSpPr>
                    <a:spLocks noChangeArrowheads="1"/>
                  </p:cNvSpPr>
                  <p:nvPr/>
                </p:nvSpPr>
                <p:spPr bwMode="auto">
                  <a:xfrm>
                    <a:off x="793" y="384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728" name="Group 200"/>
                <p:cNvGrpSpPr/>
                <p:nvPr/>
              </p:nvGrpSpPr>
              <p:grpSpPr bwMode="auto">
                <a:xfrm>
                  <a:off x="0" y="768"/>
                  <a:ext cx="396" cy="384"/>
                  <a:chOff x="0" y="768"/>
                  <a:chExt cx="396" cy="384"/>
                </a:xfrm>
              </p:grpSpPr>
              <p:sp>
                <p:nvSpPr>
                  <p:cNvPr id="150729" name="Rectangle 201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768"/>
                    <a:ext cx="310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730" name="Rectangle 202"/>
                  <p:cNvSpPr>
                    <a:spLocks noChangeArrowheads="1"/>
                  </p:cNvSpPr>
                  <p:nvPr/>
                </p:nvSpPr>
                <p:spPr bwMode="auto">
                  <a:xfrm>
                    <a:off x="0" y="768"/>
                    <a:ext cx="396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731" name="Group 203"/>
                <p:cNvGrpSpPr/>
                <p:nvPr/>
              </p:nvGrpSpPr>
              <p:grpSpPr bwMode="auto">
                <a:xfrm>
                  <a:off x="396" y="768"/>
                  <a:ext cx="397" cy="384"/>
                  <a:chOff x="396" y="768"/>
                  <a:chExt cx="397" cy="384"/>
                </a:xfrm>
              </p:grpSpPr>
              <p:sp>
                <p:nvSpPr>
                  <p:cNvPr id="150732" name="Rectangle 204"/>
                  <p:cNvSpPr>
                    <a:spLocks noChangeArrowheads="1"/>
                  </p:cNvSpPr>
                  <p:nvPr/>
                </p:nvSpPr>
                <p:spPr bwMode="auto">
                  <a:xfrm>
                    <a:off x="439" y="768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733" name="Rectangle 205"/>
                  <p:cNvSpPr>
                    <a:spLocks noChangeArrowheads="1"/>
                  </p:cNvSpPr>
                  <p:nvPr/>
                </p:nvSpPr>
                <p:spPr bwMode="auto">
                  <a:xfrm>
                    <a:off x="396" y="768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0734" name="Group 206"/>
                <p:cNvGrpSpPr/>
                <p:nvPr/>
              </p:nvGrpSpPr>
              <p:grpSpPr bwMode="auto">
                <a:xfrm>
                  <a:off x="793" y="768"/>
                  <a:ext cx="397" cy="384"/>
                  <a:chOff x="793" y="768"/>
                  <a:chExt cx="397" cy="384"/>
                </a:xfrm>
              </p:grpSpPr>
              <p:sp>
                <p:nvSpPr>
                  <p:cNvPr id="150735" name="Rectangle 20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768"/>
                    <a:ext cx="311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lang="en-US" altLang="zh-CN" sz="1000">
                        <a:effectLst/>
                      </a:rPr>
                      <a:t> </a:t>
                    </a:r>
                    <a:endParaRPr lang="en-US" altLang="zh-CN" sz="1000">
                      <a:effectLst/>
                    </a:endParaRPr>
                  </a:p>
                  <a:p>
                    <a:pPr algn="just" eaLnBrk="0" hangingPunct="0"/>
                    <a:endParaRPr lang="en-US" altLang="zh-CN">
                      <a:effectLst/>
                    </a:endParaRPr>
                  </a:p>
                </p:txBody>
              </p:sp>
              <p:sp>
                <p:nvSpPr>
                  <p:cNvPr id="150736" name="Rectangle 208"/>
                  <p:cNvSpPr>
                    <a:spLocks noChangeArrowheads="1"/>
                  </p:cNvSpPr>
                  <p:nvPr/>
                </p:nvSpPr>
                <p:spPr bwMode="auto">
                  <a:xfrm>
                    <a:off x="793" y="768"/>
                    <a:ext cx="397" cy="384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50737" name="Rectangle 209"/>
              <p:cNvSpPr>
                <a:spLocks noChangeArrowheads="1"/>
              </p:cNvSpPr>
              <p:nvPr/>
            </p:nvSpPr>
            <p:spPr bwMode="auto">
              <a:xfrm>
                <a:off x="-3" y="-3"/>
                <a:ext cx="1196" cy="1158"/>
              </a:xfrm>
              <a:prstGeom prst="rect">
                <a:avLst/>
              </a:prstGeom>
              <a:noFill/>
              <a:ln w="9525">
                <a:solidFill>
                  <a:srgbClr val="A0A0A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50738" name="AutoShape 210"/>
            <p:cNvSpPr>
              <a:spLocks noChangeArrowheads="1"/>
            </p:cNvSpPr>
            <p:nvPr/>
          </p:nvSpPr>
          <p:spPr bwMode="auto">
            <a:xfrm>
              <a:off x="5088" y="2688"/>
              <a:ext cx="144" cy="144"/>
            </a:xfrm>
            <a:prstGeom prst="flowChartSummingJunction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739" name="AutoShape 211"/>
            <p:cNvSpPr>
              <a:spLocks noChangeArrowheads="1"/>
            </p:cNvSpPr>
            <p:nvPr/>
          </p:nvSpPr>
          <p:spPr bwMode="auto">
            <a:xfrm>
              <a:off x="4800" y="3024"/>
              <a:ext cx="144" cy="144"/>
            </a:xfrm>
            <a:prstGeom prst="flowChartSummingJunction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50740" name="Picture 212" descr="BD14868_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2976"/>
              <a:ext cx="211" cy="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0741" name="Picture 213" descr="BD14868_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28" y="2304"/>
              <a:ext cx="211" cy="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50746" name="Picture 218" descr="BD14868_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888" y="1268413"/>
            <a:ext cx="334962" cy="33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0753" name="Group 225"/>
          <p:cNvGrpSpPr/>
          <p:nvPr/>
        </p:nvGrpSpPr>
        <p:grpSpPr bwMode="auto">
          <a:xfrm>
            <a:off x="1187450" y="2636838"/>
            <a:ext cx="7010400" cy="1219200"/>
            <a:chOff x="720" y="1440"/>
            <a:chExt cx="4416" cy="768"/>
          </a:xfrm>
        </p:grpSpPr>
        <p:sp>
          <p:nvSpPr>
            <p:cNvPr id="150748" name="Line 220"/>
            <p:cNvSpPr>
              <a:spLocks noChangeShapeType="1"/>
            </p:cNvSpPr>
            <p:nvPr/>
          </p:nvSpPr>
          <p:spPr bwMode="auto">
            <a:xfrm flipH="1">
              <a:off x="720" y="1440"/>
              <a:ext cx="1536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0749" name="Line 221"/>
            <p:cNvSpPr>
              <a:spLocks noChangeShapeType="1"/>
            </p:cNvSpPr>
            <p:nvPr/>
          </p:nvSpPr>
          <p:spPr bwMode="auto">
            <a:xfrm flipH="1">
              <a:off x="1920" y="1440"/>
              <a:ext cx="624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0750" name="Line 222"/>
            <p:cNvSpPr>
              <a:spLocks noChangeShapeType="1"/>
            </p:cNvSpPr>
            <p:nvPr/>
          </p:nvSpPr>
          <p:spPr bwMode="auto">
            <a:xfrm>
              <a:off x="2688" y="1440"/>
              <a:ext cx="336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0751" name="Line 223"/>
            <p:cNvSpPr>
              <a:spLocks noChangeShapeType="1"/>
            </p:cNvSpPr>
            <p:nvPr/>
          </p:nvSpPr>
          <p:spPr bwMode="auto">
            <a:xfrm>
              <a:off x="2832" y="1440"/>
              <a:ext cx="1248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0752" name="Line 224"/>
            <p:cNvSpPr>
              <a:spLocks noChangeShapeType="1"/>
            </p:cNvSpPr>
            <p:nvPr/>
          </p:nvSpPr>
          <p:spPr bwMode="auto">
            <a:xfrm>
              <a:off x="2928" y="1440"/>
              <a:ext cx="2208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pic>
        <p:nvPicPr>
          <p:cNvPr id="272384" name="Picture 0" descr="BD14868_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933825"/>
            <a:ext cx="334962" cy="33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385" name="Picture 1" descr="BD14868_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3933825"/>
            <a:ext cx="334963" cy="33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386" name="Picture 2" descr="BD14868_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4508500"/>
            <a:ext cx="334963" cy="33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387" name="Picture 3" descr="BD14868_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050" y="4508500"/>
            <a:ext cx="334963" cy="33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388" name="Picture 4" descr="BD14868_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5013325"/>
            <a:ext cx="334962" cy="33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0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0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0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0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07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07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0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50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0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0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50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72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2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2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2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72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2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2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2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0" y="188913"/>
            <a:ext cx="8763000" cy="2159000"/>
          </a:xfrm>
        </p:spPr>
        <p:txBody>
          <a:bodyPr/>
          <a:lstStyle/>
          <a:p>
            <a:pPr marL="0" indent="0">
              <a:lnSpc>
                <a:spcPct val="110000"/>
              </a:lnSpc>
              <a:buFontTx/>
              <a:buNone/>
            </a:pPr>
            <a:r>
              <a:rPr lang="zh-CN" altLang="en-US">
                <a:solidFill>
                  <a:srgbClr val="C00000"/>
                </a:solidFill>
                <a:ea typeface="楷体_GB2312" pitchFamily="49" charset="-122"/>
              </a:rPr>
              <a:t>例</a:t>
            </a:r>
            <a:r>
              <a:rPr lang="en-US" altLang="zh-CN">
                <a:solidFill>
                  <a:srgbClr val="C00000"/>
                </a:solidFill>
                <a:ea typeface="楷体_GB2312" pitchFamily="49" charset="-122"/>
              </a:rPr>
              <a:t>3</a:t>
            </a:r>
            <a:r>
              <a:rPr lang="zh-CN" altLang="en-US">
                <a:solidFill>
                  <a:srgbClr val="C00000"/>
                </a:solidFill>
                <a:ea typeface="楷体_GB2312" pitchFamily="49" charset="-122"/>
              </a:rPr>
              <a:t>：交通网络图</a:t>
            </a:r>
            <a:endParaRPr lang="zh-CN" altLang="en-US">
              <a:solidFill>
                <a:srgbClr val="C00000"/>
              </a:solidFill>
              <a:ea typeface="楷体_GB2312" pitchFamily="49" charset="-122"/>
            </a:endParaRPr>
          </a:p>
          <a:p>
            <a:pPr marL="0" indent="0">
              <a:lnSpc>
                <a:spcPct val="110000"/>
              </a:lnSpc>
              <a:buFontTx/>
              <a:buNone/>
            </a:pPr>
            <a:r>
              <a:rPr lang="zh-CN" altLang="en-US" sz="2400">
                <a:ea typeface="楷体_GB2312" pitchFamily="49" charset="-122"/>
              </a:rPr>
              <a:t>      </a:t>
            </a:r>
            <a:r>
              <a:rPr lang="zh-CN" altLang="en-US">
                <a:ea typeface="楷体_GB2312" pitchFamily="49" charset="-122"/>
              </a:rPr>
              <a:t>从一个地方到另外一个地方可以有多条路径。本问题是一种典型的</a:t>
            </a:r>
            <a:r>
              <a:rPr lang="zh-CN" altLang="en-US">
                <a:solidFill>
                  <a:schemeClr val="tx2"/>
                </a:solidFill>
                <a:ea typeface="楷体_GB2312" pitchFamily="49" charset="-122"/>
              </a:rPr>
              <a:t>网状结构</a:t>
            </a:r>
            <a:r>
              <a:rPr lang="zh-CN" altLang="en-US">
                <a:ea typeface="楷体_GB2312" pitchFamily="49" charset="-122"/>
              </a:rPr>
              <a:t>问题，数据与数据成多对多的关系，是一种非线性关系结构。</a:t>
            </a:r>
            <a:endParaRPr lang="zh-CN" altLang="en-US">
              <a:ea typeface="楷体_GB2312" pitchFamily="49" charset="-122"/>
            </a:endParaRPr>
          </a:p>
        </p:txBody>
      </p:sp>
      <p:grpSp>
        <p:nvGrpSpPr>
          <p:cNvPr id="11267" name="Group 3"/>
          <p:cNvGrpSpPr/>
          <p:nvPr/>
        </p:nvGrpSpPr>
        <p:grpSpPr bwMode="auto">
          <a:xfrm>
            <a:off x="1676400" y="2686050"/>
            <a:ext cx="6235700" cy="3479800"/>
            <a:chOff x="0" y="0"/>
            <a:chExt cx="3928" cy="2192"/>
          </a:xfrm>
        </p:grpSpPr>
        <p:grpSp>
          <p:nvGrpSpPr>
            <p:cNvPr id="11268" name="Group 4"/>
            <p:cNvGrpSpPr/>
            <p:nvPr/>
          </p:nvGrpSpPr>
          <p:grpSpPr bwMode="auto">
            <a:xfrm>
              <a:off x="0" y="0"/>
              <a:ext cx="3928" cy="1920"/>
              <a:chOff x="0" y="0"/>
              <a:chExt cx="3928" cy="1920"/>
            </a:xfrm>
          </p:grpSpPr>
          <p:sp>
            <p:nvSpPr>
              <p:cNvPr id="18437" name="Oval 48"/>
              <p:cNvSpPr>
                <a:spLocks noChangeArrowheads="1"/>
              </p:cNvSpPr>
              <p:nvPr/>
            </p:nvSpPr>
            <p:spPr bwMode="auto">
              <a:xfrm>
                <a:off x="0" y="192"/>
                <a:ext cx="648" cy="384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FF00"/>
                </a:solidFill>
                <a:round/>
              </a:ln>
            </p:spPr>
            <p:txBody>
              <a:bodyPr lIns="0" tIns="0" rIns="0" bIns="0"/>
              <a:lstStyle/>
              <a:p>
                <a:pPr algn="ctr">
                  <a:defRPr/>
                </a:pPr>
                <a:r>
                  <a:rPr lang="zh-CN" altLang="en-US" sz="20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佛山</a:t>
                </a:r>
                <a:endParaRPr lang="zh-CN" altLang="en-US" sz="2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8438" name="Oval 47"/>
              <p:cNvSpPr>
                <a:spLocks noChangeArrowheads="1"/>
              </p:cNvSpPr>
              <p:nvPr/>
            </p:nvSpPr>
            <p:spPr bwMode="auto">
              <a:xfrm>
                <a:off x="3280" y="384"/>
                <a:ext cx="648" cy="384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FF00"/>
                </a:solidFill>
                <a:round/>
              </a:ln>
            </p:spPr>
            <p:txBody>
              <a:bodyPr lIns="0" tIns="0" rIns="0" bIns="0"/>
              <a:lstStyle/>
              <a:p>
                <a:pPr algn="ctr">
                  <a:defRPr/>
                </a:pPr>
                <a:r>
                  <a:rPr lang="zh-CN" altLang="en-US" sz="20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惠州</a:t>
                </a:r>
                <a:endParaRPr lang="zh-CN" altLang="en-US" sz="2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8439" name="Oval 42"/>
              <p:cNvSpPr>
                <a:spLocks noChangeArrowheads="1"/>
              </p:cNvSpPr>
              <p:nvPr/>
            </p:nvSpPr>
            <p:spPr bwMode="auto">
              <a:xfrm>
                <a:off x="1190" y="0"/>
                <a:ext cx="648" cy="384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FF00"/>
                </a:solidFill>
                <a:round/>
              </a:ln>
            </p:spPr>
            <p:txBody>
              <a:bodyPr lIns="0" tIns="0" rIns="0" bIns="0"/>
              <a:lstStyle/>
              <a:p>
                <a:pPr algn="ctr">
                  <a:defRPr/>
                </a:pPr>
                <a:r>
                  <a:rPr lang="zh-CN" altLang="en-US" sz="20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广州</a:t>
                </a:r>
                <a:endParaRPr lang="zh-CN" altLang="en-US" sz="2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8440" name="Oval 43"/>
              <p:cNvSpPr>
                <a:spLocks noChangeArrowheads="1"/>
              </p:cNvSpPr>
              <p:nvPr/>
            </p:nvSpPr>
            <p:spPr bwMode="auto">
              <a:xfrm>
                <a:off x="648" y="864"/>
                <a:ext cx="648" cy="384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FF00"/>
                </a:solidFill>
                <a:round/>
              </a:ln>
            </p:spPr>
            <p:txBody>
              <a:bodyPr lIns="0" tIns="0" rIns="0" bIns="0"/>
              <a:lstStyle/>
              <a:p>
                <a:pPr algn="ctr">
                  <a:defRPr/>
                </a:pPr>
                <a:r>
                  <a:rPr lang="zh-CN" altLang="en-US" sz="20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中山</a:t>
                </a:r>
                <a:endParaRPr lang="zh-CN" altLang="en-US" sz="2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8441" name="Oval 44"/>
              <p:cNvSpPr>
                <a:spLocks noChangeArrowheads="1"/>
              </p:cNvSpPr>
              <p:nvPr/>
            </p:nvSpPr>
            <p:spPr bwMode="auto">
              <a:xfrm>
                <a:off x="2203" y="672"/>
                <a:ext cx="648" cy="384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FF00"/>
                </a:solidFill>
                <a:round/>
              </a:ln>
            </p:spPr>
            <p:txBody>
              <a:bodyPr lIns="0" tIns="0" rIns="0" bIns="0"/>
              <a:lstStyle/>
              <a:p>
                <a:pPr algn="ctr">
                  <a:defRPr/>
                </a:pPr>
                <a:r>
                  <a:rPr lang="zh-CN" altLang="en-US" sz="20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东莞</a:t>
                </a:r>
                <a:endParaRPr lang="zh-CN" altLang="en-US" sz="2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8442" name="Oval 45"/>
              <p:cNvSpPr>
                <a:spLocks noChangeArrowheads="1"/>
              </p:cNvSpPr>
              <p:nvPr/>
            </p:nvSpPr>
            <p:spPr bwMode="auto">
              <a:xfrm>
                <a:off x="2786" y="1336"/>
                <a:ext cx="648" cy="384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FF00"/>
                </a:solidFill>
                <a:round/>
              </a:ln>
            </p:spPr>
            <p:txBody>
              <a:bodyPr lIns="0" tIns="0" rIns="0" bIns="0"/>
              <a:lstStyle/>
              <a:p>
                <a:pPr algn="ctr">
                  <a:defRPr/>
                </a:pPr>
                <a:r>
                  <a:rPr lang="zh-CN" altLang="en-US" sz="20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深圳</a:t>
                </a:r>
                <a:endParaRPr lang="zh-CN" altLang="en-US" sz="2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8443" name="Oval 46"/>
              <p:cNvSpPr>
                <a:spLocks noChangeArrowheads="1"/>
              </p:cNvSpPr>
              <p:nvPr/>
            </p:nvSpPr>
            <p:spPr bwMode="auto">
              <a:xfrm>
                <a:off x="518" y="1536"/>
                <a:ext cx="648" cy="384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FF00"/>
                </a:solidFill>
                <a:round/>
              </a:ln>
            </p:spPr>
            <p:txBody>
              <a:bodyPr lIns="0" tIns="0" rIns="0" bIns="0"/>
              <a:lstStyle/>
              <a:p>
                <a:pPr algn="ctr">
                  <a:defRPr/>
                </a:pPr>
                <a:r>
                  <a:rPr lang="zh-CN" altLang="en-US" sz="20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珠海</a:t>
                </a:r>
                <a:endParaRPr lang="zh-CN" altLang="en-US" sz="2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8444" name="Line 49"/>
              <p:cNvSpPr>
                <a:spLocks noChangeShapeType="1"/>
              </p:cNvSpPr>
              <p:nvPr/>
            </p:nvSpPr>
            <p:spPr bwMode="auto">
              <a:xfrm flipV="1">
                <a:off x="907" y="1248"/>
                <a:ext cx="0" cy="288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8445" name="Line 50"/>
              <p:cNvSpPr>
                <a:spLocks noChangeShapeType="1"/>
              </p:cNvSpPr>
              <p:nvPr/>
            </p:nvSpPr>
            <p:spPr bwMode="auto">
              <a:xfrm flipH="1" flipV="1">
                <a:off x="558" y="528"/>
                <a:ext cx="389" cy="340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8446" name="Line 51"/>
              <p:cNvSpPr>
                <a:spLocks noChangeShapeType="1"/>
              </p:cNvSpPr>
              <p:nvPr/>
            </p:nvSpPr>
            <p:spPr bwMode="auto">
              <a:xfrm flipH="1">
                <a:off x="1296" y="864"/>
                <a:ext cx="907" cy="192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8447" name="Line 52"/>
              <p:cNvSpPr>
                <a:spLocks noChangeShapeType="1"/>
              </p:cNvSpPr>
              <p:nvPr/>
            </p:nvSpPr>
            <p:spPr bwMode="auto">
              <a:xfrm flipH="1" flipV="1">
                <a:off x="1806" y="280"/>
                <a:ext cx="519" cy="453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8448" name="Line 53"/>
              <p:cNvSpPr>
                <a:spLocks noChangeShapeType="1"/>
              </p:cNvSpPr>
              <p:nvPr/>
            </p:nvSpPr>
            <p:spPr bwMode="auto">
              <a:xfrm flipH="1" flipV="1">
                <a:off x="2592" y="1056"/>
                <a:ext cx="389" cy="288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8449" name="Line 54"/>
              <p:cNvSpPr>
                <a:spLocks noChangeShapeType="1"/>
              </p:cNvSpPr>
              <p:nvPr/>
            </p:nvSpPr>
            <p:spPr bwMode="auto">
              <a:xfrm flipV="1">
                <a:off x="3240" y="768"/>
                <a:ext cx="259" cy="576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8450" name="Line 55"/>
              <p:cNvSpPr>
                <a:spLocks noChangeShapeType="1"/>
              </p:cNvSpPr>
              <p:nvPr/>
            </p:nvSpPr>
            <p:spPr bwMode="auto">
              <a:xfrm flipH="1" flipV="1">
                <a:off x="1846" y="192"/>
                <a:ext cx="1466" cy="288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8451" name="Line 56"/>
              <p:cNvSpPr>
                <a:spLocks noChangeShapeType="1"/>
              </p:cNvSpPr>
              <p:nvPr/>
            </p:nvSpPr>
            <p:spPr bwMode="auto">
              <a:xfrm flipV="1">
                <a:off x="1170" y="376"/>
                <a:ext cx="256" cy="536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8452" name="Line 57"/>
              <p:cNvSpPr>
                <a:spLocks noChangeShapeType="1"/>
              </p:cNvSpPr>
              <p:nvPr/>
            </p:nvSpPr>
            <p:spPr bwMode="auto">
              <a:xfrm flipH="1">
                <a:off x="648" y="240"/>
                <a:ext cx="552" cy="144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8453" name="Line 58"/>
              <p:cNvSpPr>
                <a:spLocks noChangeShapeType="1"/>
              </p:cNvSpPr>
              <p:nvPr/>
            </p:nvSpPr>
            <p:spPr bwMode="auto">
              <a:xfrm flipH="1">
                <a:off x="2851" y="672"/>
                <a:ext cx="476" cy="192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8454" name="Line 59"/>
              <p:cNvSpPr>
                <a:spLocks noChangeShapeType="1"/>
              </p:cNvSpPr>
              <p:nvPr/>
            </p:nvSpPr>
            <p:spPr bwMode="auto">
              <a:xfrm flipH="1" flipV="1">
                <a:off x="288" y="576"/>
                <a:ext cx="366" cy="997"/>
              </a:xfrm>
              <a:prstGeom prst="line">
                <a:avLst/>
              </a:prstGeom>
              <a:noFill/>
              <a:ln w="25400">
                <a:solidFill>
                  <a:srgbClr val="FFFF00"/>
                </a:solidFill>
                <a:rou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18455" name="Rectangle 63"/>
            <p:cNvSpPr>
              <a:spLocks noChangeArrowheads="1"/>
            </p:cNvSpPr>
            <p:nvPr/>
          </p:nvSpPr>
          <p:spPr bwMode="auto">
            <a:xfrm>
              <a:off x="1200" y="1904"/>
              <a:ext cx="153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2075" tIns="46038" rIns="92075" bIns="46038" anchor="ctr"/>
            <a:lstStyle/>
            <a:p>
              <a:pPr algn="ctr" eaLnBrk="1" hangingPunct="1">
                <a:defRPr/>
              </a:pPr>
              <a:r>
                <a:rPr lang="zh-CN" altLang="en-U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_GB2312" pitchFamily="49" charset="-122"/>
                </a:rPr>
                <a:t>图</a:t>
              </a:r>
              <a:r>
                <a:rPr lang="en-U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1-2</a:t>
              </a:r>
              <a:r>
                <a:rPr lang="en-U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_GB2312" pitchFamily="49" charset="-122"/>
                </a:rPr>
                <a:t>   </a:t>
              </a:r>
              <a:r>
                <a:rPr lang="zh-CN" altLang="en-U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_GB2312" pitchFamily="49" charset="-122"/>
                </a:rPr>
                <a:t>网状结构</a:t>
              </a:r>
              <a:endPara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</a:endParaRPr>
            </a:p>
          </p:txBody>
        </p:sp>
      </p:grpSp>
    </p:spTree>
  </p:cSld>
  <p:clrMapOvr>
    <a:masterClrMapping/>
  </p:clrMapOvr>
  <p:transition spd="slow">
    <p:blinds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6" name="Text Box 4"/>
          <p:cNvSpPr txBox="1">
            <a:spLocks noChangeArrowheads="1"/>
          </p:cNvSpPr>
          <p:nvPr/>
        </p:nvSpPr>
        <p:spPr bwMode="auto">
          <a:xfrm>
            <a:off x="250825" y="188913"/>
            <a:ext cx="8497888" cy="1384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要在</a:t>
            </a: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zh-CN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个网站建立通信网格，要求使得网络中任一网站出现故障时，整个网络仍能正常通信，如图所示，这些网站之间形成一种图结构</a:t>
            </a:r>
            <a:endParaRPr lang="zh-CN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28038" name="Rectangle 6"/>
          <p:cNvSpPr>
            <a:spLocks noChangeArrowheads="1"/>
          </p:cNvSpPr>
          <p:nvPr/>
        </p:nvSpPr>
        <p:spPr bwMode="auto">
          <a:xfrm>
            <a:off x="0" y="2905125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3316" name="Object 5"/>
          <p:cNvGraphicFramePr>
            <a:graphicFrameLocks noChangeAspect="1"/>
          </p:cNvGraphicFramePr>
          <p:nvPr/>
        </p:nvGraphicFramePr>
        <p:xfrm>
          <a:off x="2735263" y="2349500"/>
          <a:ext cx="3529012" cy="352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1" name="Visio" r:id="rId1" imgW="1042670" imgH="1042670" progId="Visio.Drawing.6">
                  <p:embed/>
                </p:oleObj>
              </mc:Choice>
              <mc:Fallback>
                <p:oleObj name="Visio" r:id="rId1" imgW="1042670" imgH="104267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3" y="2349500"/>
                        <a:ext cx="3529012" cy="352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strips dir="r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04" name="Picture 4" descr="BD07304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2400"/>
            <a:ext cx="182880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7772400" cy="1143000"/>
          </a:xfrm>
        </p:spPr>
        <p:txBody>
          <a:bodyPr/>
          <a:lstStyle/>
          <a:p>
            <a:pPr algn="ctr"/>
            <a:r>
              <a:rPr lang="zh-CN" altLang="en-US" sz="4000" dirty="0"/>
              <a:t>多叉路口交通灯的管理问题</a:t>
            </a:r>
            <a:endParaRPr lang="zh-CN" altLang="en-US" dirty="0"/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305800" cy="2362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      </a:t>
            </a:r>
            <a:r>
              <a:rPr lang="zh-CN" altLang="en-US"/>
              <a:t>在多叉路口设计几种颜色的信号灯才能使车辆间不相撞，且达到车辆最大流。</a:t>
            </a:r>
            <a:endParaRPr lang="zh-CN" altLang="en-US"/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        设如图的五叉路口，其中，</a:t>
            </a:r>
            <a:r>
              <a:rPr lang="en-US" altLang="zh-CN"/>
              <a:t>C</a:t>
            </a:r>
            <a:r>
              <a:rPr lang="zh-CN" altLang="en-US"/>
              <a:t>和</a:t>
            </a:r>
            <a:r>
              <a:rPr lang="en-US" altLang="zh-CN"/>
              <a:t>E</a:t>
            </a:r>
            <a:r>
              <a:rPr lang="zh-CN" altLang="en-US"/>
              <a:t>为单行线，将如何设置交通灯？</a:t>
            </a:r>
            <a:endParaRPr lang="zh-CN" altLang="en-US"/>
          </a:p>
        </p:txBody>
      </p:sp>
      <p:sp>
        <p:nvSpPr>
          <p:cNvPr id="153605" name="Line 5"/>
          <p:cNvSpPr>
            <a:spLocks noChangeShapeType="1"/>
          </p:cNvSpPr>
          <p:nvPr/>
        </p:nvSpPr>
        <p:spPr bwMode="auto">
          <a:xfrm>
            <a:off x="3276600" y="38862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606" name="Line 6"/>
          <p:cNvSpPr>
            <a:spLocks noChangeShapeType="1"/>
          </p:cNvSpPr>
          <p:nvPr/>
        </p:nvSpPr>
        <p:spPr bwMode="auto">
          <a:xfrm>
            <a:off x="3810000" y="38862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607" name="Line 7"/>
          <p:cNvSpPr>
            <a:spLocks noChangeShapeType="1"/>
          </p:cNvSpPr>
          <p:nvPr/>
        </p:nvSpPr>
        <p:spPr bwMode="auto">
          <a:xfrm flipV="1">
            <a:off x="3810000" y="41148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608" name="Line 8"/>
          <p:cNvSpPr>
            <a:spLocks noChangeShapeType="1"/>
          </p:cNvSpPr>
          <p:nvPr/>
        </p:nvSpPr>
        <p:spPr bwMode="auto">
          <a:xfrm flipH="1" flipV="1">
            <a:off x="2514600" y="4191000"/>
            <a:ext cx="762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609" name="Line 9"/>
          <p:cNvSpPr>
            <a:spLocks noChangeShapeType="1"/>
          </p:cNvSpPr>
          <p:nvPr/>
        </p:nvSpPr>
        <p:spPr bwMode="auto">
          <a:xfrm flipH="1" flipV="1">
            <a:off x="2209800" y="4572000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610" name="Line 10"/>
          <p:cNvSpPr>
            <a:spLocks noChangeShapeType="1"/>
          </p:cNvSpPr>
          <p:nvPr/>
        </p:nvSpPr>
        <p:spPr bwMode="auto">
          <a:xfrm flipH="1">
            <a:off x="2286000" y="5257800"/>
            <a:ext cx="762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611" name="Line 11"/>
          <p:cNvSpPr>
            <a:spLocks noChangeShapeType="1"/>
          </p:cNvSpPr>
          <p:nvPr/>
        </p:nvSpPr>
        <p:spPr bwMode="auto">
          <a:xfrm flipH="1">
            <a:off x="2667000" y="5562600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613" name="Line 13"/>
          <p:cNvSpPr>
            <a:spLocks noChangeShapeType="1"/>
          </p:cNvSpPr>
          <p:nvPr/>
        </p:nvSpPr>
        <p:spPr bwMode="auto">
          <a:xfrm>
            <a:off x="3505200" y="5562600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615" name="Line 15"/>
          <p:cNvSpPr>
            <a:spLocks noChangeShapeType="1"/>
          </p:cNvSpPr>
          <p:nvPr/>
        </p:nvSpPr>
        <p:spPr bwMode="auto">
          <a:xfrm>
            <a:off x="4038600" y="5334000"/>
            <a:ext cx="762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616" name="Line 16"/>
          <p:cNvSpPr>
            <a:spLocks noChangeShapeType="1"/>
          </p:cNvSpPr>
          <p:nvPr/>
        </p:nvSpPr>
        <p:spPr bwMode="auto">
          <a:xfrm flipV="1">
            <a:off x="4038600" y="4572000"/>
            <a:ext cx="838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617" name="Line 17"/>
          <p:cNvSpPr>
            <a:spLocks noChangeShapeType="1"/>
          </p:cNvSpPr>
          <p:nvPr/>
        </p:nvSpPr>
        <p:spPr bwMode="auto">
          <a:xfrm flipH="1" flipV="1">
            <a:off x="3886200" y="5562600"/>
            <a:ext cx="685800" cy="5334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619" name="Line 19"/>
          <p:cNvSpPr>
            <a:spLocks noChangeShapeType="1"/>
          </p:cNvSpPr>
          <p:nvPr/>
        </p:nvSpPr>
        <p:spPr bwMode="auto">
          <a:xfrm flipV="1">
            <a:off x="3581400" y="3886200"/>
            <a:ext cx="0" cy="838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pic>
        <p:nvPicPr>
          <p:cNvPr id="153621" name="Picture 21" descr="BD07304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4797425"/>
            <a:ext cx="685800" cy="68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22" name="Text Box 22"/>
          <p:cNvSpPr txBox="1">
            <a:spLocks noChangeArrowheads="1"/>
          </p:cNvSpPr>
          <p:nvPr/>
        </p:nvSpPr>
        <p:spPr bwMode="auto">
          <a:xfrm>
            <a:off x="2133600" y="60198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effectLst/>
              </a:rPr>
              <a:t>A</a:t>
            </a:r>
            <a:endParaRPr lang="en-US" altLang="zh-CN">
              <a:effectLst/>
            </a:endParaRPr>
          </a:p>
        </p:txBody>
      </p:sp>
      <p:sp>
        <p:nvSpPr>
          <p:cNvPr id="153623" name="Text Box 23"/>
          <p:cNvSpPr txBox="1">
            <a:spLocks noChangeArrowheads="1"/>
          </p:cNvSpPr>
          <p:nvPr/>
        </p:nvSpPr>
        <p:spPr bwMode="auto">
          <a:xfrm>
            <a:off x="1905000" y="41148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effectLst/>
              </a:rPr>
              <a:t>B</a:t>
            </a:r>
            <a:endParaRPr lang="en-US" altLang="zh-CN">
              <a:effectLst/>
            </a:endParaRPr>
          </a:p>
        </p:txBody>
      </p:sp>
      <p:sp>
        <p:nvSpPr>
          <p:cNvPr id="153624" name="Text Box 24"/>
          <p:cNvSpPr txBox="1">
            <a:spLocks noChangeArrowheads="1"/>
          </p:cNvSpPr>
          <p:nvPr/>
        </p:nvSpPr>
        <p:spPr bwMode="auto">
          <a:xfrm>
            <a:off x="3352800" y="35052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effectLst/>
              </a:rPr>
              <a:t>C</a:t>
            </a:r>
            <a:endParaRPr lang="en-US" altLang="zh-CN">
              <a:effectLst/>
            </a:endParaRPr>
          </a:p>
        </p:txBody>
      </p:sp>
      <p:sp>
        <p:nvSpPr>
          <p:cNvPr id="153625" name="Text Box 25"/>
          <p:cNvSpPr txBox="1">
            <a:spLocks noChangeArrowheads="1"/>
          </p:cNvSpPr>
          <p:nvPr/>
        </p:nvSpPr>
        <p:spPr bwMode="auto">
          <a:xfrm>
            <a:off x="4724400" y="39624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effectLst/>
              </a:rPr>
              <a:t>D</a:t>
            </a:r>
            <a:endParaRPr lang="en-US" altLang="zh-CN">
              <a:effectLst/>
            </a:endParaRPr>
          </a:p>
        </p:txBody>
      </p:sp>
      <p:sp>
        <p:nvSpPr>
          <p:cNvPr id="153626" name="Text Box 26"/>
          <p:cNvSpPr txBox="1">
            <a:spLocks noChangeArrowheads="1"/>
          </p:cNvSpPr>
          <p:nvPr/>
        </p:nvSpPr>
        <p:spPr bwMode="auto">
          <a:xfrm>
            <a:off x="4648200" y="60960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effectLst/>
              </a:rPr>
              <a:t>E</a:t>
            </a:r>
            <a:endParaRPr lang="en-US" altLang="zh-CN">
              <a:effectLst/>
            </a:endParaRPr>
          </a:p>
        </p:txBody>
      </p:sp>
    </p:spTree>
  </p:cSld>
  <p:clrMapOvr>
    <a:masterClrMapping/>
  </p:clrMapOvr>
  <p:transition>
    <p:strips dir="r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Text Box 2"/>
          <p:cNvSpPr txBox="1">
            <a:spLocks noChangeArrowheads="1"/>
          </p:cNvSpPr>
          <p:nvPr/>
        </p:nvSpPr>
        <p:spPr bwMode="auto">
          <a:xfrm>
            <a:off x="180975" y="531813"/>
            <a:ext cx="9144000" cy="412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60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200" b="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lang="en-US" altLang="zh-CN" sz="3200" b="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综上可见</a:t>
            </a:r>
            <a:endParaRPr lang="en-US" altLang="zh-CN" sz="320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zh-CN" altLang="en-US" sz="320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非数值计算</a:t>
            </a:r>
            <a:endParaRPr lang="en-US" altLang="zh-CN" sz="320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zh-CN" altLang="en-US" sz="3200">
                <a:solidFill>
                  <a:srgbClr val="008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对象间关系</a:t>
            </a:r>
            <a:endParaRPr lang="en-US" altLang="zh-CN" sz="320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endParaRPr lang="en-US" altLang="zh-CN" sz="3200">
              <a:solidFill>
                <a:srgbClr val="008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200"/>
              <a:t>数据结构的研究范畴主要是非数值计算问题的操作</a:t>
            </a:r>
            <a:r>
              <a:rPr lang="zh-CN" altLang="en-US" sz="3200">
                <a:solidFill>
                  <a:srgbClr val="C00000"/>
                </a:solidFill>
              </a:rPr>
              <a:t>对象</a:t>
            </a:r>
            <a:r>
              <a:rPr lang="zh-CN" altLang="en-US" sz="3200"/>
              <a:t>及其它们之间的</a:t>
            </a:r>
            <a:r>
              <a:rPr lang="zh-CN" altLang="en-US" sz="3200">
                <a:solidFill>
                  <a:srgbClr val="C00000"/>
                </a:solidFill>
              </a:rPr>
              <a:t>关系</a:t>
            </a:r>
            <a:r>
              <a:rPr lang="zh-CN" altLang="en-US" sz="3200"/>
              <a:t>以及在计算机中的</a:t>
            </a:r>
            <a:r>
              <a:rPr lang="zh-CN" altLang="en-US" sz="3200">
                <a:solidFill>
                  <a:srgbClr val="C00000"/>
                </a:solidFill>
              </a:rPr>
              <a:t>表示和实现</a:t>
            </a:r>
            <a:endParaRPr lang="zh-CN" altLang="en-US" sz="320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87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87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87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4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Text Box 2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1116013" y="2006600"/>
            <a:ext cx="6985000" cy="8299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48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1.2 </a:t>
            </a:r>
            <a:r>
              <a:rPr lang="zh-CN" altLang="en-US" sz="48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基本概念和</a:t>
            </a:r>
            <a:r>
              <a:rPr lang="zh-CN" altLang="en-US" sz="48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术语</a:t>
            </a:r>
            <a:endParaRPr lang="zh-CN" altLang="en-US" sz="4800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1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1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0" grpId="0" bldLvl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287338"/>
            <a:ext cx="8458200" cy="838200"/>
          </a:xfrm>
        </p:spPr>
        <p:txBody>
          <a:bodyPr/>
          <a:lstStyle/>
          <a:p>
            <a:pPr>
              <a:defRPr/>
            </a:pPr>
            <a:r>
              <a:rPr sz="4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数据（</a:t>
            </a:r>
            <a:r>
              <a:rPr lang="en-US" altLang="zh-CN" sz="4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data</a:t>
            </a:r>
            <a:r>
              <a:rPr sz="4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）</a:t>
            </a:r>
            <a:endParaRPr sz="4000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880841" y="4800600"/>
            <a:ext cx="7924800" cy="4114800"/>
          </a:xfrm>
        </p:spPr>
        <p:txBody>
          <a:bodyPr/>
          <a:lstStyle/>
          <a:p>
            <a:pPr>
              <a:buClr>
                <a:schemeClr val="tx2"/>
              </a:buClr>
              <a:buSzPct val="45000"/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rgbClr val="0000CC"/>
                </a:solidFill>
                <a:ea typeface="仿宋_GB2312"/>
                <a:cs typeface="仿宋_GB2312"/>
              </a:rPr>
              <a:t>数值性数据</a:t>
            </a:r>
            <a:endParaRPr lang="en-US" altLang="zh-CN" sz="2800" dirty="0">
              <a:solidFill>
                <a:srgbClr val="0000CC"/>
              </a:solidFill>
              <a:ea typeface="仿宋_GB2312"/>
              <a:cs typeface="仿宋_GB2312"/>
            </a:endParaRPr>
          </a:p>
          <a:p>
            <a:pPr>
              <a:buClr>
                <a:schemeClr val="tx2"/>
              </a:buClr>
              <a:buSzPct val="45000"/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rgbClr val="0000CC"/>
                </a:solidFill>
                <a:ea typeface="仿宋_GB2312"/>
                <a:cs typeface="仿宋_GB2312"/>
              </a:rPr>
              <a:t>非数值性数据</a:t>
            </a:r>
            <a:endParaRPr lang="zh-CN" altLang="en-US" dirty="0">
              <a:solidFill>
                <a:srgbClr val="008080"/>
              </a:solidFill>
              <a:ea typeface="仿宋_GB2312"/>
              <a:cs typeface="仿宋_GB2312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810503" y="1484784"/>
            <a:ext cx="7391400" cy="2862322"/>
          </a:xfrm>
          <a:prstGeom prst="rect">
            <a:avLst/>
          </a:prstGeom>
          <a:solidFill>
            <a:srgbClr val="CC0099"/>
          </a:solidFill>
          <a:ln>
            <a:noFill/>
          </a:ln>
          <a:effectLst>
            <a:outerShdw dist="107763" dir="189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3600" b="1" dirty="0">
                <a:solidFill>
                  <a:schemeClr val="bg1"/>
                </a:solidFill>
                <a:effectLst/>
                <a:latin typeface="楷体_GB2312" pitchFamily="49" charset="-122"/>
                <a:ea typeface="楷体_GB2312" pitchFamily="49" charset="-122"/>
              </a:rPr>
              <a:t>----</a:t>
            </a:r>
            <a:r>
              <a:rPr lang="zh-CN" altLang="en-US" sz="3600" b="1" dirty="0">
                <a:solidFill>
                  <a:schemeClr val="bg1"/>
                </a:solidFill>
                <a:effectLst/>
                <a:latin typeface="楷体_GB2312" pitchFamily="49" charset="-122"/>
                <a:ea typeface="楷体_GB2312" pitchFamily="49" charset="-122"/>
              </a:rPr>
              <a:t>是客观事物的符号</a:t>
            </a:r>
            <a:r>
              <a:rPr lang="en-US" altLang="zh-CN" sz="3600" b="1" dirty="0">
                <a:solidFill>
                  <a:schemeClr val="bg1"/>
                </a:solidFill>
                <a:effectLst/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3600" b="1" dirty="0">
                <a:solidFill>
                  <a:schemeClr val="bg1"/>
                </a:solidFill>
                <a:effectLst/>
                <a:latin typeface="楷体_GB2312" pitchFamily="49" charset="-122"/>
                <a:ea typeface="楷体_GB2312" pitchFamily="49" charset="-122"/>
              </a:rPr>
              <a:t>数、字符、等</a:t>
            </a:r>
            <a:r>
              <a:rPr lang="en-US" altLang="zh-CN" sz="3600" b="1" dirty="0">
                <a:solidFill>
                  <a:schemeClr val="bg1"/>
                </a:solidFill>
                <a:effectLst/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3600" b="1" dirty="0">
                <a:solidFill>
                  <a:schemeClr val="bg1"/>
                </a:solidFill>
                <a:effectLst/>
                <a:latin typeface="楷体_GB2312" pitchFamily="49" charset="-122"/>
                <a:ea typeface="楷体_GB2312" pitchFamily="49" charset="-122"/>
              </a:rPr>
              <a:t>表示，是指所有能被输入到计算机中，且能被计算机处理的符号的集合。</a:t>
            </a:r>
            <a:endParaRPr lang="zh-CN" altLang="en-US" sz="3600" b="1" dirty="0">
              <a:solidFill>
                <a:schemeClr val="bg1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  <p:bldP spid="4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ChangeArrowheads="1"/>
          </p:cNvSpPr>
          <p:nvPr/>
        </p:nvSpPr>
        <p:spPr bwMode="auto">
          <a:xfrm>
            <a:off x="0" y="44450"/>
            <a:ext cx="9144000" cy="1800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数据元素</a:t>
            </a:r>
            <a:b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(data element)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323850" y="1700213"/>
            <a:ext cx="8642350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buClr>
                <a:schemeClr val="tx2"/>
              </a:buClr>
              <a:buSzPct val="45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008080"/>
                </a:solidFill>
                <a:latin typeface="仿宋_GB2312"/>
                <a:ea typeface="仿宋_GB2312"/>
                <a:cs typeface="仿宋_GB2312"/>
              </a:rPr>
              <a:t>数据的</a:t>
            </a:r>
            <a:r>
              <a:rPr lang="zh-CN" altLang="en-US" sz="3200" dirty="0">
                <a:latin typeface="仿宋_GB2312"/>
                <a:ea typeface="仿宋_GB2312"/>
                <a:cs typeface="仿宋_GB2312"/>
              </a:rPr>
              <a:t>基本单位</a:t>
            </a:r>
            <a:r>
              <a:rPr lang="zh-CN" altLang="en-US" sz="3200" dirty="0">
                <a:solidFill>
                  <a:srgbClr val="008080"/>
                </a:solidFill>
                <a:latin typeface="仿宋_GB2312"/>
                <a:ea typeface="仿宋_GB2312"/>
                <a:cs typeface="仿宋_GB2312"/>
              </a:rPr>
              <a:t>。</a:t>
            </a:r>
            <a:r>
              <a:rPr lang="zh-CN" altLang="en-US" sz="3200" dirty="0"/>
              <a:t>是某种数据结构中能独立存在的数据单位，</a:t>
            </a:r>
            <a:r>
              <a:rPr lang="zh-CN" altLang="en-US" sz="3200" dirty="0">
                <a:solidFill>
                  <a:srgbClr val="008080"/>
                </a:solidFill>
                <a:latin typeface="仿宋_GB2312"/>
                <a:ea typeface="仿宋_GB2312"/>
                <a:cs typeface="仿宋_GB2312"/>
              </a:rPr>
              <a:t>在计算机程序中常作为一个整体进行考虑和处理</a:t>
            </a:r>
            <a:endParaRPr lang="zh-CN" altLang="en-US" sz="3200" dirty="0">
              <a:solidFill>
                <a:srgbClr val="008080"/>
              </a:solidFill>
              <a:latin typeface="仿宋_GB2312"/>
              <a:ea typeface="仿宋_GB2312"/>
              <a:cs typeface="仿宋_GB2312"/>
            </a:endParaRPr>
          </a:p>
          <a:p>
            <a:pPr eaLnBrk="1" hangingPunct="1">
              <a:buClr>
                <a:schemeClr val="tx2"/>
              </a:buClr>
              <a:buSzPct val="45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008080"/>
                </a:solidFill>
                <a:latin typeface="仿宋_GB2312"/>
                <a:ea typeface="仿宋_GB2312"/>
                <a:cs typeface="仿宋_GB2312"/>
              </a:rPr>
              <a:t>数据元素又称为元素、结点、记录</a:t>
            </a:r>
            <a:endParaRPr lang="en-US" altLang="zh-CN" sz="3200" dirty="0">
              <a:solidFill>
                <a:srgbClr val="008080"/>
              </a:solidFill>
              <a:latin typeface="仿宋_GB2312"/>
              <a:ea typeface="仿宋_GB2312"/>
              <a:cs typeface="仿宋_GB2312"/>
            </a:endParaRPr>
          </a:p>
          <a:p>
            <a:pPr eaLnBrk="1" hangingPunct="1">
              <a:buClr>
                <a:schemeClr val="tx2"/>
              </a:buClr>
              <a:buSzPct val="45000"/>
              <a:buFont typeface="Wingdings" panose="05000000000000000000" pitchFamily="2" charset="2"/>
              <a:buChar char="n"/>
            </a:pPr>
            <a:endParaRPr lang="zh-CN" altLang="en-US" sz="3200" dirty="0">
              <a:solidFill>
                <a:srgbClr val="008080"/>
              </a:solidFill>
              <a:latin typeface="仿宋_GB2312"/>
              <a:ea typeface="仿宋_GB2312"/>
              <a:cs typeface="仿宋_GB2312"/>
            </a:endParaRPr>
          </a:p>
        </p:txBody>
      </p:sp>
      <p:grpSp>
        <p:nvGrpSpPr>
          <p:cNvPr id="92" name="Group 4"/>
          <p:cNvGrpSpPr/>
          <p:nvPr/>
        </p:nvGrpSpPr>
        <p:grpSpPr bwMode="auto">
          <a:xfrm>
            <a:off x="899592" y="4040188"/>
            <a:ext cx="6934200" cy="2514600"/>
            <a:chOff x="-3" y="-3"/>
            <a:chExt cx="2372" cy="2646"/>
          </a:xfrm>
        </p:grpSpPr>
        <p:grpSp>
          <p:nvGrpSpPr>
            <p:cNvPr id="93" name="Group 5"/>
            <p:cNvGrpSpPr/>
            <p:nvPr/>
          </p:nvGrpSpPr>
          <p:grpSpPr bwMode="auto">
            <a:xfrm>
              <a:off x="0" y="0"/>
              <a:ext cx="2366" cy="2640"/>
              <a:chOff x="0" y="0"/>
              <a:chExt cx="2366" cy="2640"/>
            </a:xfrm>
          </p:grpSpPr>
          <p:grpSp>
            <p:nvGrpSpPr>
              <p:cNvPr id="95" name="Group 6"/>
              <p:cNvGrpSpPr/>
              <p:nvPr/>
            </p:nvGrpSpPr>
            <p:grpSpPr bwMode="auto">
              <a:xfrm>
                <a:off x="0" y="0"/>
                <a:ext cx="398" cy="416"/>
                <a:chOff x="0" y="0"/>
                <a:chExt cx="398" cy="416"/>
              </a:xfrm>
            </p:grpSpPr>
            <p:sp>
              <p:nvSpPr>
                <p:cNvPr id="178" name="Rectangle 7"/>
                <p:cNvSpPr>
                  <a:spLocks noChangeArrowheads="1"/>
                </p:cNvSpPr>
                <p:nvPr/>
              </p:nvSpPr>
              <p:spPr bwMode="auto">
                <a:xfrm>
                  <a:off x="6" y="6"/>
                  <a:ext cx="386" cy="4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zh-CN" altLang="en-US" sz="2000">
                      <a:effectLst/>
                    </a:rPr>
                    <a:t>名次</a:t>
                  </a:r>
                  <a:endParaRPr lang="zh-CN" altLang="en-US" sz="2000">
                    <a:effectLst/>
                  </a:endParaRPr>
                </a:p>
              </p:txBody>
            </p:sp>
            <p:sp>
              <p:nvSpPr>
                <p:cNvPr id="179" name="Rectangle 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98" cy="41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6" name="Group 9"/>
              <p:cNvGrpSpPr/>
              <p:nvPr/>
            </p:nvGrpSpPr>
            <p:grpSpPr bwMode="auto">
              <a:xfrm>
                <a:off x="398" y="0"/>
                <a:ext cx="742" cy="416"/>
                <a:chOff x="398" y="0"/>
                <a:chExt cx="742" cy="416"/>
              </a:xfrm>
            </p:grpSpPr>
            <p:sp>
              <p:nvSpPr>
                <p:cNvPr id="176" name="Rectangle 10"/>
                <p:cNvSpPr>
                  <a:spLocks noChangeArrowheads="1"/>
                </p:cNvSpPr>
                <p:nvPr/>
              </p:nvSpPr>
              <p:spPr bwMode="auto">
                <a:xfrm>
                  <a:off x="404" y="6"/>
                  <a:ext cx="730" cy="4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zh-CN" altLang="en-US" sz="2000">
                      <a:effectLst/>
                    </a:rPr>
                    <a:t>学号</a:t>
                  </a:r>
                  <a:endParaRPr lang="zh-CN" altLang="en-US" sz="2000">
                    <a:effectLst/>
                  </a:endParaRPr>
                </a:p>
              </p:txBody>
            </p:sp>
            <p:sp>
              <p:nvSpPr>
                <p:cNvPr id="177" name="Rectangle 11"/>
                <p:cNvSpPr>
                  <a:spLocks noChangeArrowheads="1"/>
                </p:cNvSpPr>
                <p:nvPr/>
              </p:nvSpPr>
              <p:spPr bwMode="auto">
                <a:xfrm>
                  <a:off x="398" y="0"/>
                  <a:ext cx="742" cy="41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7" name="Group 12"/>
              <p:cNvGrpSpPr/>
              <p:nvPr/>
            </p:nvGrpSpPr>
            <p:grpSpPr bwMode="auto">
              <a:xfrm>
                <a:off x="1140" y="0"/>
                <a:ext cx="416" cy="416"/>
                <a:chOff x="1140" y="0"/>
                <a:chExt cx="416" cy="416"/>
              </a:xfrm>
            </p:grpSpPr>
            <p:sp>
              <p:nvSpPr>
                <p:cNvPr id="174" name="Rectangle 13"/>
                <p:cNvSpPr>
                  <a:spLocks noChangeArrowheads="1"/>
                </p:cNvSpPr>
                <p:nvPr/>
              </p:nvSpPr>
              <p:spPr bwMode="auto">
                <a:xfrm>
                  <a:off x="1146" y="6"/>
                  <a:ext cx="404" cy="4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zh-CN" altLang="en-US" sz="2000">
                      <a:effectLst/>
                    </a:rPr>
                    <a:t>姓名</a:t>
                  </a:r>
                  <a:endParaRPr lang="zh-CN" altLang="en-US" sz="2000">
                    <a:effectLst/>
                  </a:endParaRPr>
                </a:p>
              </p:txBody>
            </p:sp>
            <p:sp>
              <p:nvSpPr>
                <p:cNvPr id="175" name="Rectangle 14"/>
                <p:cNvSpPr>
                  <a:spLocks noChangeArrowheads="1"/>
                </p:cNvSpPr>
                <p:nvPr/>
              </p:nvSpPr>
              <p:spPr bwMode="auto">
                <a:xfrm>
                  <a:off x="1140" y="0"/>
                  <a:ext cx="416" cy="41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8" name="Group 15"/>
              <p:cNvGrpSpPr/>
              <p:nvPr/>
            </p:nvGrpSpPr>
            <p:grpSpPr bwMode="auto">
              <a:xfrm>
                <a:off x="1556" y="0"/>
                <a:ext cx="405" cy="416"/>
                <a:chOff x="1556" y="0"/>
                <a:chExt cx="405" cy="416"/>
              </a:xfrm>
            </p:grpSpPr>
            <p:sp>
              <p:nvSpPr>
                <p:cNvPr id="172" name="Rectangle 16"/>
                <p:cNvSpPr>
                  <a:spLocks noChangeArrowheads="1"/>
                </p:cNvSpPr>
                <p:nvPr/>
              </p:nvSpPr>
              <p:spPr bwMode="auto">
                <a:xfrm>
                  <a:off x="1562" y="6"/>
                  <a:ext cx="393" cy="4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zh-CN" altLang="en-US" sz="2000">
                      <a:effectLst/>
                    </a:rPr>
                    <a:t>性别</a:t>
                  </a:r>
                  <a:endParaRPr lang="zh-CN" altLang="en-US" sz="2000">
                    <a:effectLst/>
                  </a:endParaRPr>
                </a:p>
              </p:txBody>
            </p:sp>
            <p:sp>
              <p:nvSpPr>
                <p:cNvPr id="173" name="Rectangle 17"/>
                <p:cNvSpPr>
                  <a:spLocks noChangeArrowheads="1"/>
                </p:cNvSpPr>
                <p:nvPr/>
              </p:nvSpPr>
              <p:spPr bwMode="auto">
                <a:xfrm>
                  <a:off x="1556" y="0"/>
                  <a:ext cx="405" cy="41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9" name="Group 18"/>
              <p:cNvGrpSpPr/>
              <p:nvPr/>
            </p:nvGrpSpPr>
            <p:grpSpPr bwMode="auto">
              <a:xfrm>
                <a:off x="1961" y="0"/>
                <a:ext cx="405" cy="416"/>
                <a:chOff x="1961" y="0"/>
                <a:chExt cx="405" cy="416"/>
              </a:xfrm>
            </p:grpSpPr>
            <p:sp>
              <p:nvSpPr>
                <p:cNvPr id="170" name="Rectangle 19"/>
                <p:cNvSpPr>
                  <a:spLocks noChangeArrowheads="1"/>
                </p:cNvSpPr>
                <p:nvPr/>
              </p:nvSpPr>
              <p:spPr bwMode="auto">
                <a:xfrm>
                  <a:off x="1967" y="6"/>
                  <a:ext cx="393" cy="4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zh-CN" altLang="en-US" sz="2000">
                      <a:effectLst/>
                    </a:rPr>
                    <a:t>成绩</a:t>
                  </a:r>
                  <a:endParaRPr lang="zh-CN" altLang="en-US" sz="2000">
                    <a:effectLst/>
                  </a:endParaRPr>
                </a:p>
              </p:txBody>
            </p:sp>
            <p:sp>
              <p:nvSpPr>
                <p:cNvPr id="171" name="Rectangle 20"/>
                <p:cNvSpPr>
                  <a:spLocks noChangeArrowheads="1"/>
                </p:cNvSpPr>
                <p:nvPr/>
              </p:nvSpPr>
              <p:spPr bwMode="auto">
                <a:xfrm>
                  <a:off x="1961" y="0"/>
                  <a:ext cx="405" cy="41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0" name="Group 21"/>
              <p:cNvGrpSpPr/>
              <p:nvPr/>
            </p:nvGrpSpPr>
            <p:grpSpPr bwMode="auto">
              <a:xfrm>
                <a:off x="0" y="422"/>
                <a:ext cx="398" cy="562"/>
                <a:chOff x="0" y="422"/>
                <a:chExt cx="398" cy="562"/>
              </a:xfrm>
            </p:grpSpPr>
            <p:sp>
              <p:nvSpPr>
                <p:cNvPr id="166" name="Rectangle 22"/>
                <p:cNvSpPr>
                  <a:spLocks noChangeArrowheads="1"/>
                </p:cNvSpPr>
                <p:nvPr/>
              </p:nvSpPr>
              <p:spPr bwMode="auto">
                <a:xfrm>
                  <a:off x="0" y="422"/>
                  <a:ext cx="398" cy="562"/>
                </a:xfrm>
                <a:prstGeom prst="rect">
                  <a:avLst/>
                </a:prstGeom>
                <a:solidFill>
                  <a:srgbClr val="FF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pSp>
              <p:nvGrpSpPr>
                <p:cNvPr id="167" name="Group 23"/>
                <p:cNvGrpSpPr/>
                <p:nvPr/>
              </p:nvGrpSpPr>
              <p:grpSpPr bwMode="auto">
                <a:xfrm>
                  <a:off x="0" y="422"/>
                  <a:ext cx="398" cy="550"/>
                  <a:chOff x="0" y="422"/>
                  <a:chExt cx="398" cy="550"/>
                </a:xfrm>
              </p:grpSpPr>
              <p:sp>
                <p:nvSpPr>
                  <p:cNvPr id="168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6" y="428"/>
                    <a:ext cx="386" cy="544"/>
                  </a:xfrm>
                  <a:prstGeom prst="rect">
                    <a:avLst/>
                  </a:prstGeom>
                  <a:solidFill>
                    <a:srgbClr val="FFFF99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r>
                      <a:rPr lang="en-US" altLang="zh-CN" sz="2000">
                        <a:effectLst/>
                      </a:rPr>
                      <a:t>1</a:t>
                    </a:r>
                    <a:endParaRPr lang="en-US" altLang="zh-CN" sz="2000">
                      <a:effectLst/>
                    </a:endParaRPr>
                  </a:p>
                </p:txBody>
              </p:sp>
              <p:sp>
                <p:nvSpPr>
                  <p:cNvPr id="169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0" y="422"/>
                    <a:ext cx="398" cy="55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01" name="Group 26"/>
              <p:cNvGrpSpPr/>
              <p:nvPr/>
            </p:nvGrpSpPr>
            <p:grpSpPr bwMode="auto">
              <a:xfrm>
                <a:off x="398" y="422"/>
                <a:ext cx="742" cy="562"/>
                <a:chOff x="398" y="422"/>
                <a:chExt cx="742" cy="562"/>
              </a:xfrm>
            </p:grpSpPr>
            <p:sp>
              <p:nvSpPr>
                <p:cNvPr id="162" name="Rectangle 27"/>
                <p:cNvSpPr>
                  <a:spLocks noChangeArrowheads="1"/>
                </p:cNvSpPr>
                <p:nvPr/>
              </p:nvSpPr>
              <p:spPr bwMode="auto">
                <a:xfrm>
                  <a:off x="398" y="422"/>
                  <a:ext cx="742" cy="562"/>
                </a:xfrm>
                <a:prstGeom prst="rect">
                  <a:avLst/>
                </a:prstGeom>
                <a:solidFill>
                  <a:srgbClr val="FF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pSp>
              <p:nvGrpSpPr>
                <p:cNvPr id="163" name="Group 28"/>
                <p:cNvGrpSpPr/>
                <p:nvPr/>
              </p:nvGrpSpPr>
              <p:grpSpPr bwMode="auto">
                <a:xfrm>
                  <a:off x="398" y="422"/>
                  <a:ext cx="742" cy="550"/>
                  <a:chOff x="398" y="422"/>
                  <a:chExt cx="742" cy="550"/>
                </a:xfrm>
              </p:grpSpPr>
              <p:sp>
                <p:nvSpPr>
                  <p:cNvPr id="164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404" y="428"/>
                    <a:ext cx="730" cy="544"/>
                  </a:xfrm>
                  <a:prstGeom prst="rect">
                    <a:avLst/>
                  </a:prstGeom>
                  <a:solidFill>
                    <a:srgbClr val="FFFF99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r>
                      <a:rPr lang="en-US" altLang="zh-CN" sz="2000">
                        <a:effectLst/>
                      </a:rPr>
                      <a:t>200011010269</a:t>
                    </a:r>
                    <a:endParaRPr lang="en-US" altLang="zh-CN" sz="2000">
                      <a:effectLst/>
                    </a:endParaRPr>
                  </a:p>
                </p:txBody>
              </p:sp>
              <p:sp>
                <p:nvSpPr>
                  <p:cNvPr id="165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398" y="422"/>
                    <a:ext cx="742" cy="55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02" name="Group 31"/>
              <p:cNvGrpSpPr/>
              <p:nvPr/>
            </p:nvGrpSpPr>
            <p:grpSpPr bwMode="auto">
              <a:xfrm>
                <a:off x="1140" y="422"/>
                <a:ext cx="416" cy="562"/>
                <a:chOff x="1140" y="422"/>
                <a:chExt cx="416" cy="562"/>
              </a:xfrm>
            </p:grpSpPr>
            <p:sp>
              <p:nvSpPr>
                <p:cNvPr id="158" name="Rectangle 32"/>
                <p:cNvSpPr>
                  <a:spLocks noChangeArrowheads="1"/>
                </p:cNvSpPr>
                <p:nvPr/>
              </p:nvSpPr>
              <p:spPr bwMode="auto">
                <a:xfrm>
                  <a:off x="1140" y="422"/>
                  <a:ext cx="416" cy="562"/>
                </a:xfrm>
                <a:prstGeom prst="rect">
                  <a:avLst/>
                </a:prstGeom>
                <a:solidFill>
                  <a:srgbClr val="FF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pSp>
              <p:nvGrpSpPr>
                <p:cNvPr id="159" name="Group 33"/>
                <p:cNvGrpSpPr/>
                <p:nvPr/>
              </p:nvGrpSpPr>
              <p:grpSpPr bwMode="auto">
                <a:xfrm>
                  <a:off x="1140" y="422"/>
                  <a:ext cx="416" cy="550"/>
                  <a:chOff x="1140" y="422"/>
                  <a:chExt cx="416" cy="550"/>
                </a:xfrm>
              </p:grpSpPr>
              <p:sp>
                <p:nvSpPr>
                  <p:cNvPr id="160" name="Rectangle 34"/>
                  <p:cNvSpPr>
                    <a:spLocks noChangeArrowheads="1"/>
                  </p:cNvSpPr>
                  <p:nvPr/>
                </p:nvSpPr>
                <p:spPr bwMode="auto">
                  <a:xfrm>
                    <a:off x="1146" y="428"/>
                    <a:ext cx="404" cy="544"/>
                  </a:xfrm>
                  <a:prstGeom prst="rect">
                    <a:avLst/>
                  </a:prstGeom>
                  <a:solidFill>
                    <a:srgbClr val="FFFF99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r>
                      <a:rPr lang="zh-CN" altLang="en-US" sz="2000">
                        <a:effectLst/>
                      </a:rPr>
                      <a:t>柳玲</a:t>
                    </a:r>
                    <a:endParaRPr lang="zh-CN" altLang="en-US" sz="2000">
                      <a:effectLst/>
                    </a:endParaRPr>
                  </a:p>
                </p:txBody>
              </p:sp>
              <p:sp>
                <p:nvSpPr>
                  <p:cNvPr id="161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1140" y="422"/>
                    <a:ext cx="416" cy="55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03" name="Group 36"/>
              <p:cNvGrpSpPr/>
              <p:nvPr/>
            </p:nvGrpSpPr>
            <p:grpSpPr bwMode="auto">
              <a:xfrm>
                <a:off x="1556" y="422"/>
                <a:ext cx="405" cy="562"/>
                <a:chOff x="1556" y="422"/>
                <a:chExt cx="405" cy="562"/>
              </a:xfrm>
            </p:grpSpPr>
            <p:sp>
              <p:nvSpPr>
                <p:cNvPr id="154" name="Rectangle 37"/>
                <p:cNvSpPr>
                  <a:spLocks noChangeArrowheads="1"/>
                </p:cNvSpPr>
                <p:nvPr/>
              </p:nvSpPr>
              <p:spPr bwMode="auto">
                <a:xfrm>
                  <a:off x="1556" y="422"/>
                  <a:ext cx="405" cy="562"/>
                </a:xfrm>
                <a:prstGeom prst="rect">
                  <a:avLst/>
                </a:prstGeom>
                <a:solidFill>
                  <a:srgbClr val="FF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pSp>
              <p:nvGrpSpPr>
                <p:cNvPr id="155" name="Group 38"/>
                <p:cNvGrpSpPr/>
                <p:nvPr/>
              </p:nvGrpSpPr>
              <p:grpSpPr bwMode="auto">
                <a:xfrm>
                  <a:off x="1556" y="422"/>
                  <a:ext cx="405" cy="550"/>
                  <a:chOff x="1556" y="422"/>
                  <a:chExt cx="405" cy="550"/>
                </a:xfrm>
              </p:grpSpPr>
              <p:sp>
                <p:nvSpPr>
                  <p:cNvPr id="156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1562" y="428"/>
                    <a:ext cx="393" cy="544"/>
                  </a:xfrm>
                  <a:prstGeom prst="rect">
                    <a:avLst/>
                  </a:prstGeom>
                  <a:solidFill>
                    <a:srgbClr val="FFFF99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r>
                      <a:rPr lang="zh-CN" altLang="en-US" sz="2000">
                        <a:effectLst/>
                      </a:rPr>
                      <a:t>女</a:t>
                    </a:r>
                    <a:endParaRPr lang="zh-CN" altLang="en-US" sz="2000">
                      <a:effectLst/>
                    </a:endParaRPr>
                  </a:p>
                </p:txBody>
              </p:sp>
              <p:sp>
                <p:nvSpPr>
                  <p:cNvPr id="157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1556" y="422"/>
                    <a:ext cx="405" cy="55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04" name="Group 41"/>
              <p:cNvGrpSpPr/>
              <p:nvPr/>
            </p:nvGrpSpPr>
            <p:grpSpPr bwMode="auto">
              <a:xfrm>
                <a:off x="1961" y="422"/>
                <a:ext cx="405" cy="562"/>
                <a:chOff x="1961" y="422"/>
                <a:chExt cx="405" cy="562"/>
              </a:xfrm>
            </p:grpSpPr>
            <p:sp>
              <p:nvSpPr>
                <p:cNvPr id="150" name="Rectangle 42"/>
                <p:cNvSpPr>
                  <a:spLocks noChangeArrowheads="1"/>
                </p:cNvSpPr>
                <p:nvPr/>
              </p:nvSpPr>
              <p:spPr bwMode="auto">
                <a:xfrm>
                  <a:off x="1961" y="422"/>
                  <a:ext cx="405" cy="562"/>
                </a:xfrm>
                <a:prstGeom prst="rect">
                  <a:avLst/>
                </a:prstGeom>
                <a:solidFill>
                  <a:srgbClr val="FF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pSp>
              <p:nvGrpSpPr>
                <p:cNvPr id="151" name="Group 43"/>
                <p:cNvGrpSpPr/>
                <p:nvPr/>
              </p:nvGrpSpPr>
              <p:grpSpPr bwMode="auto">
                <a:xfrm>
                  <a:off x="1961" y="422"/>
                  <a:ext cx="405" cy="550"/>
                  <a:chOff x="1961" y="422"/>
                  <a:chExt cx="405" cy="550"/>
                </a:xfrm>
              </p:grpSpPr>
              <p:sp>
                <p:nvSpPr>
                  <p:cNvPr id="152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1967" y="428"/>
                    <a:ext cx="393" cy="544"/>
                  </a:xfrm>
                  <a:prstGeom prst="rect">
                    <a:avLst/>
                  </a:prstGeom>
                  <a:solidFill>
                    <a:srgbClr val="FFFF99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r>
                      <a:rPr lang="en-US" altLang="zh-CN" sz="2000">
                        <a:effectLst/>
                      </a:rPr>
                      <a:t>99</a:t>
                    </a:r>
                    <a:endParaRPr lang="en-US" altLang="zh-CN" sz="2000">
                      <a:effectLst/>
                    </a:endParaRPr>
                  </a:p>
                </p:txBody>
              </p:sp>
              <p:sp>
                <p:nvSpPr>
                  <p:cNvPr id="153" name="Rectangle 45"/>
                  <p:cNvSpPr>
                    <a:spLocks noChangeArrowheads="1"/>
                  </p:cNvSpPr>
                  <p:nvPr/>
                </p:nvSpPr>
                <p:spPr bwMode="auto">
                  <a:xfrm>
                    <a:off x="1961" y="422"/>
                    <a:ext cx="405" cy="55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05" name="Group 46"/>
              <p:cNvGrpSpPr/>
              <p:nvPr/>
            </p:nvGrpSpPr>
            <p:grpSpPr bwMode="auto">
              <a:xfrm>
                <a:off x="0" y="978"/>
                <a:ext cx="398" cy="550"/>
                <a:chOff x="0" y="978"/>
                <a:chExt cx="398" cy="550"/>
              </a:xfrm>
            </p:grpSpPr>
            <p:sp>
              <p:nvSpPr>
                <p:cNvPr id="148" name="Rectangle 47"/>
                <p:cNvSpPr>
                  <a:spLocks noChangeArrowheads="1"/>
                </p:cNvSpPr>
                <p:nvPr/>
              </p:nvSpPr>
              <p:spPr bwMode="auto">
                <a:xfrm>
                  <a:off x="6" y="984"/>
                  <a:ext cx="386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en-US" altLang="zh-CN" sz="2000">
                      <a:effectLst/>
                    </a:rPr>
                    <a:t>2</a:t>
                  </a:r>
                  <a:endParaRPr lang="en-US" altLang="zh-CN" sz="2000">
                    <a:effectLst/>
                  </a:endParaRPr>
                </a:p>
              </p:txBody>
            </p:sp>
            <p:sp>
              <p:nvSpPr>
                <p:cNvPr id="149" name="Rectangle 48"/>
                <p:cNvSpPr>
                  <a:spLocks noChangeArrowheads="1"/>
                </p:cNvSpPr>
                <p:nvPr/>
              </p:nvSpPr>
              <p:spPr bwMode="auto">
                <a:xfrm>
                  <a:off x="0" y="978"/>
                  <a:ext cx="398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6" name="Group 49"/>
              <p:cNvGrpSpPr/>
              <p:nvPr/>
            </p:nvGrpSpPr>
            <p:grpSpPr bwMode="auto">
              <a:xfrm>
                <a:off x="398" y="978"/>
                <a:ext cx="742" cy="550"/>
                <a:chOff x="398" y="978"/>
                <a:chExt cx="742" cy="550"/>
              </a:xfrm>
            </p:grpSpPr>
            <p:sp>
              <p:nvSpPr>
                <p:cNvPr id="146" name="Rectangle 50"/>
                <p:cNvSpPr>
                  <a:spLocks noChangeArrowheads="1"/>
                </p:cNvSpPr>
                <p:nvPr/>
              </p:nvSpPr>
              <p:spPr bwMode="auto">
                <a:xfrm>
                  <a:off x="404" y="984"/>
                  <a:ext cx="730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en-US" altLang="zh-CN" sz="2000">
                      <a:effectLst/>
                    </a:rPr>
                    <a:t>200011010105</a:t>
                  </a:r>
                  <a:endParaRPr lang="en-US" altLang="zh-CN" sz="2000">
                    <a:effectLst/>
                  </a:endParaRPr>
                </a:p>
              </p:txBody>
            </p:sp>
            <p:sp>
              <p:nvSpPr>
                <p:cNvPr id="147" name="Rectangle 51"/>
                <p:cNvSpPr>
                  <a:spLocks noChangeArrowheads="1"/>
                </p:cNvSpPr>
                <p:nvPr/>
              </p:nvSpPr>
              <p:spPr bwMode="auto">
                <a:xfrm>
                  <a:off x="398" y="978"/>
                  <a:ext cx="742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Group 52"/>
              <p:cNvGrpSpPr/>
              <p:nvPr/>
            </p:nvGrpSpPr>
            <p:grpSpPr bwMode="auto">
              <a:xfrm>
                <a:off x="1140" y="978"/>
                <a:ext cx="416" cy="550"/>
                <a:chOff x="1140" y="978"/>
                <a:chExt cx="416" cy="550"/>
              </a:xfrm>
            </p:grpSpPr>
            <p:sp>
              <p:nvSpPr>
                <p:cNvPr id="144" name="Rectangle 53"/>
                <p:cNvSpPr>
                  <a:spLocks noChangeArrowheads="1"/>
                </p:cNvSpPr>
                <p:nvPr/>
              </p:nvSpPr>
              <p:spPr bwMode="auto">
                <a:xfrm>
                  <a:off x="1146" y="984"/>
                  <a:ext cx="404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zh-CN" altLang="en-US" sz="2000">
                      <a:effectLst/>
                    </a:rPr>
                    <a:t>宋杰</a:t>
                  </a:r>
                  <a:endParaRPr lang="zh-CN" altLang="en-US" sz="2000">
                    <a:effectLst/>
                  </a:endParaRPr>
                </a:p>
              </p:txBody>
            </p:sp>
            <p:sp>
              <p:nvSpPr>
                <p:cNvPr id="145" name="Rectangle 54"/>
                <p:cNvSpPr>
                  <a:spLocks noChangeArrowheads="1"/>
                </p:cNvSpPr>
                <p:nvPr/>
              </p:nvSpPr>
              <p:spPr bwMode="auto">
                <a:xfrm>
                  <a:off x="1140" y="978"/>
                  <a:ext cx="416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8" name="Group 55"/>
              <p:cNvGrpSpPr/>
              <p:nvPr/>
            </p:nvGrpSpPr>
            <p:grpSpPr bwMode="auto">
              <a:xfrm>
                <a:off x="1556" y="978"/>
                <a:ext cx="405" cy="550"/>
                <a:chOff x="1556" y="978"/>
                <a:chExt cx="405" cy="550"/>
              </a:xfrm>
            </p:grpSpPr>
            <p:sp>
              <p:nvSpPr>
                <p:cNvPr id="142" name="Rectangle 56"/>
                <p:cNvSpPr>
                  <a:spLocks noChangeArrowheads="1"/>
                </p:cNvSpPr>
                <p:nvPr/>
              </p:nvSpPr>
              <p:spPr bwMode="auto">
                <a:xfrm>
                  <a:off x="1562" y="984"/>
                  <a:ext cx="393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zh-CN" altLang="en-US" sz="2000">
                      <a:effectLst/>
                    </a:rPr>
                    <a:t>男</a:t>
                  </a:r>
                  <a:endParaRPr lang="zh-CN" altLang="en-US" sz="2000">
                    <a:effectLst/>
                  </a:endParaRPr>
                </a:p>
              </p:txBody>
            </p:sp>
            <p:sp>
              <p:nvSpPr>
                <p:cNvPr id="143" name="Rectangle 57"/>
                <p:cNvSpPr>
                  <a:spLocks noChangeArrowheads="1"/>
                </p:cNvSpPr>
                <p:nvPr/>
              </p:nvSpPr>
              <p:spPr bwMode="auto">
                <a:xfrm>
                  <a:off x="1556" y="978"/>
                  <a:ext cx="405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9" name="Group 58"/>
              <p:cNvGrpSpPr/>
              <p:nvPr/>
            </p:nvGrpSpPr>
            <p:grpSpPr bwMode="auto">
              <a:xfrm>
                <a:off x="1961" y="978"/>
                <a:ext cx="405" cy="550"/>
                <a:chOff x="1961" y="978"/>
                <a:chExt cx="405" cy="550"/>
              </a:xfrm>
            </p:grpSpPr>
            <p:sp>
              <p:nvSpPr>
                <p:cNvPr id="140" name="Rectangle 59"/>
                <p:cNvSpPr>
                  <a:spLocks noChangeArrowheads="1"/>
                </p:cNvSpPr>
                <p:nvPr/>
              </p:nvSpPr>
              <p:spPr bwMode="auto">
                <a:xfrm>
                  <a:off x="1967" y="984"/>
                  <a:ext cx="393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en-US" altLang="zh-CN" sz="2000">
                      <a:solidFill>
                        <a:srgbClr val="0000FF"/>
                      </a:solidFill>
                      <a:effectLst/>
                    </a:rPr>
                    <a:t>98</a:t>
                  </a:r>
                  <a:endParaRPr lang="en-US" altLang="zh-CN" sz="2000">
                    <a:effectLst/>
                  </a:endParaRPr>
                </a:p>
              </p:txBody>
            </p:sp>
            <p:sp>
              <p:nvSpPr>
                <p:cNvPr id="141" name="Rectangle 60"/>
                <p:cNvSpPr>
                  <a:spLocks noChangeArrowheads="1"/>
                </p:cNvSpPr>
                <p:nvPr/>
              </p:nvSpPr>
              <p:spPr bwMode="auto">
                <a:xfrm>
                  <a:off x="1961" y="978"/>
                  <a:ext cx="405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0" name="Group 61"/>
              <p:cNvGrpSpPr/>
              <p:nvPr/>
            </p:nvGrpSpPr>
            <p:grpSpPr bwMode="auto">
              <a:xfrm>
                <a:off x="0" y="1534"/>
                <a:ext cx="398" cy="550"/>
                <a:chOff x="0" y="1534"/>
                <a:chExt cx="398" cy="550"/>
              </a:xfrm>
            </p:grpSpPr>
            <p:sp>
              <p:nvSpPr>
                <p:cNvPr id="138" name="Rectangle 62"/>
                <p:cNvSpPr>
                  <a:spLocks noChangeArrowheads="1"/>
                </p:cNvSpPr>
                <p:nvPr/>
              </p:nvSpPr>
              <p:spPr bwMode="auto">
                <a:xfrm>
                  <a:off x="6" y="1540"/>
                  <a:ext cx="386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en-US" altLang="zh-CN" sz="2000">
                      <a:effectLst/>
                    </a:rPr>
                    <a:t>3</a:t>
                  </a:r>
                  <a:endParaRPr lang="en-US" altLang="zh-CN" sz="2000">
                    <a:effectLst/>
                  </a:endParaRPr>
                </a:p>
              </p:txBody>
            </p:sp>
            <p:sp>
              <p:nvSpPr>
                <p:cNvPr id="139" name="Rectangle 63"/>
                <p:cNvSpPr>
                  <a:spLocks noChangeArrowheads="1"/>
                </p:cNvSpPr>
                <p:nvPr/>
              </p:nvSpPr>
              <p:spPr bwMode="auto">
                <a:xfrm>
                  <a:off x="0" y="1534"/>
                  <a:ext cx="398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1" name="Group 64"/>
              <p:cNvGrpSpPr/>
              <p:nvPr/>
            </p:nvGrpSpPr>
            <p:grpSpPr bwMode="auto">
              <a:xfrm>
                <a:off x="398" y="1534"/>
                <a:ext cx="742" cy="550"/>
                <a:chOff x="398" y="1534"/>
                <a:chExt cx="742" cy="550"/>
              </a:xfrm>
            </p:grpSpPr>
            <p:sp>
              <p:nvSpPr>
                <p:cNvPr id="136" name="Rectangle 65"/>
                <p:cNvSpPr>
                  <a:spLocks noChangeArrowheads="1"/>
                </p:cNvSpPr>
                <p:nvPr/>
              </p:nvSpPr>
              <p:spPr bwMode="auto">
                <a:xfrm>
                  <a:off x="404" y="1540"/>
                  <a:ext cx="730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en-US" altLang="zh-CN" sz="2000">
                      <a:effectLst/>
                    </a:rPr>
                    <a:t>200011010108</a:t>
                  </a:r>
                  <a:endParaRPr lang="en-US" altLang="zh-CN" sz="2000">
                    <a:effectLst/>
                  </a:endParaRPr>
                </a:p>
              </p:txBody>
            </p:sp>
            <p:sp>
              <p:nvSpPr>
                <p:cNvPr id="137" name="Rectangle 66"/>
                <p:cNvSpPr>
                  <a:spLocks noChangeArrowheads="1"/>
                </p:cNvSpPr>
                <p:nvPr/>
              </p:nvSpPr>
              <p:spPr bwMode="auto">
                <a:xfrm>
                  <a:off x="398" y="1534"/>
                  <a:ext cx="742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2" name="Group 67"/>
              <p:cNvGrpSpPr/>
              <p:nvPr/>
            </p:nvGrpSpPr>
            <p:grpSpPr bwMode="auto">
              <a:xfrm>
                <a:off x="1140" y="1534"/>
                <a:ext cx="416" cy="550"/>
                <a:chOff x="1140" y="1534"/>
                <a:chExt cx="416" cy="550"/>
              </a:xfrm>
            </p:grpSpPr>
            <p:sp>
              <p:nvSpPr>
                <p:cNvPr id="134" name="Rectangle 68"/>
                <p:cNvSpPr>
                  <a:spLocks noChangeArrowheads="1"/>
                </p:cNvSpPr>
                <p:nvPr/>
              </p:nvSpPr>
              <p:spPr bwMode="auto">
                <a:xfrm>
                  <a:off x="1146" y="1540"/>
                  <a:ext cx="404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zh-CN" altLang="en-US" sz="2000">
                      <a:effectLst/>
                    </a:rPr>
                    <a:t>李冰杰</a:t>
                  </a:r>
                  <a:endParaRPr lang="zh-CN" altLang="en-US" sz="2000">
                    <a:effectLst/>
                  </a:endParaRPr>
                </a:p>
              </p:txBody>
            </p:sp>
            <p:sp>
              <p:nvSpPr>
                <p:cNvPr id="135" name="Rectangle 69"/>
                <p:cNvSpPr>
                  <a:spLocks noChangeArrowheads="1"/>
                </p:cNvSpPr>
                <p:nvPr/>
              </p:nvSpPr>
              <p:spPr bwMode="auto">
                <a:xfrm>
                  <a:off x="1140" y="1534"/>
                  <a:ext cx="416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3" name="Group 70"/>
              <p:cNvGrpSpPr/>
              <p:nvPr/>
            </p:nvGrpSpPr>
            <p:grpSpPr bwMode="auto">
              <a:xfrm>
                <a:off x="1556" y="1534"/>
                <a:ext cx="405" cy="550"/>
                <a:chOff x="1556" y="1534"/>
                <a:chExt cx="405" cy="550"/>
              </a:xfrm>
            </p:grpSpPr>
            <p:sp>
              <p:nvSpPr>
                <p:cNvPr id="132" name="Rectangle 71"/>
                <p:cNvSpPr>
                  <a:spLocks noChangeArrowheads="1"/>
                </p:cNvSpPr>
                <p:nvPr/>
              </p:nvSpPr>
              <p:spPr bwMode="auto">
                <a:xfrm>
                  <a:off x="1562" y="1540"/>
                  <a:ext cx="393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zh-CN" altLang="en-US" sz="2000">
                      <a:effectLst/>
                    </a:rPr>
                    <a:t>女</a:t>
                  </a:r>
                  <a:endParaRPr lang="zh-CN" altLang="en-US" sz="2000">
                    <a:effectLst/>
                  </a:endParaRPr>
                </a:p>
              </p:txBody>
            </p:sp>
            <p:sp>
              <p:nvSpPr>
                <p:cNvPr id="133" name="Rectangle 72"/>
                <p:cNvSpPr>
                  <a:spLocks noChangeArrowheads="1"/>
                </p:cNvSpPr>
                <p:nvPr/>
              </p:nvSpPr>
              <p:spPr bwMode="auto">
                <a:xfrm>
                  <a:off x="1556" y="1534"/>
                  <a:ext cx="405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4" name="Group 73"/>
              <p:cNvGrpSpPr/>
              <p:nvPr/>
            </p:nvGrpSpPr>
            <p:grpSpPr bwMode="auto">
              <a:xfrm>
                <a:off x="1961" y="1534"/>
                <a:ext cx="405" cy="550"/>
                <a:chOff x="1961" y="1534"/>
                <a:chExt cx="405" cy="550"/>
              </a:xfrm>
            </p:grpSpPr>
            <p:sp>
              <p:nvSpPr>
                <p:cNvPr id="130" name="Rectangle 74"/>
                <p:cNvSpPr>
                  <a:spLocks noChangeArrowheads="1"/>
                </p:cNvSpPr>
                <p:nvPr/>
              </p:nvSpPr>
              <p:spPr bwMode="auto">
                <a:xfrm>
                  <a:off x="1967" y="1540"/>
                  <a:ext cx="393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en-US" altLang="zh-CN" sz="2000">
                      <a:solidFill>
                        <a:srgbClr val="0000FF"/>
                      </a:solidFill>
                      <a:effectLst/>
                    </a:rPr>
                    <a:t>96</a:t>
                  </a:r>
                  <a:endParaRPr lang="en-US" altLang="zh-CN" sz="2000">
                    <a:effectLst/>
                  </a:endParaRPr>
                </a:p>
              </p:txBody>
            </p:sp>
            <p:sp>
              <p:nvSpPr>
                <p:cNvPr id="131" name="Rectangle 75"/>
                <p:cNvSpPr>
                  <a:spLocks noChangeArrowheads="1"/>
                </p:cNvSpPr>
                <p:nvPr/>
              </p:nvSpPr>
              <p:spPr bwMode="auto">
                <a:xfrm>
                  <a:off x="1961" y="1534"/>
                  <a:ext cx="405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5" name="Group 76"/>
              <p:cNvGrpSpPr/>
              <p:nvPr/>
            </p:nvGrpSpPr>
            <p:grpSpPr bwMode="auto">
              <a:xfrm>
                <a:off x="0" y="2090"/>
                <a:ext cx="398" cy="550"/>
                <a:chOff x="0" y="2090"/>
                <a:chExt cx="398" cy="550"/>
              </a:xfrm>
            </p:grpSpPr>
            <p:sp>
              <p:nvSpPr>
                <p:cNvPr id="128" name="Rectangle 77"/>
                <p:cNvSpPr>
                  <a:spLocks noChangeArrowheads="1"/>
                </p:cNvSpPr>
                <p:nvPr/>
              </p:nvSpPr>
              <p:spPr bwMode="auto">
                <a:xfrm>
                  <a:off x="6" y="2096"/>
                  <a:ext cx="386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en-US" altLang="zh-CN" sz="2000">
                      <a:effectLst/>
                    </a:rPr>
                    <a:t>4</a:t>
                  </a:r>
                  <a:endParaRPr lang="en-US" altLang="zh-CN" sz="2000">
                    <a:effectLst/>
                  </a:endParaRPr>
                </a:p>
              </p:txBody>
            </p:sp>
            <p:sp>
              <p:nvSpPr>
                <p:cNvPr id="129" name="Rectangle 78"/>
                <p:cNvSpPr>
                  <a:spLocks noChangeArrowheads="1"/>
                </p:cNvSpPr>
                <p:nvPr/>
              </p:nvSpPr>
              <p:spPr bwMode="auto">
                <a:xfrm>
                  <a:off x="0" y="2090"/>
                  <a:ext cx="398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6" name="Group 79"/>
              <p:cNvGrpSpPr/>
              <p:nvPr/>
            </p:nvGrpSpPr>
            <p:grpSpPr bwMode="auto">
              <a:xfrm>
                <a:off x="398" y="2090"/>
                <a:ext cx="742" cy="550"/>
                <a:chOff x="398" y="2090"/>
                <a:chExt cx="742" cy="550"/>
              </a:xfrm>
            </p:grpSpPr>
            <p:sp>
              <p:nvSpPr>
                <p:cNvPr id="126" name="Rectangle 80"/>
                <p:cNvSpPr>
                  <a:spLocks noChangeArrowheads="1"/>
                </p:cNvSpPr>
                <p:nvPr/>
              </p:nvSpPr>
              <p:spPr bwMode="auto">
                <a:xfrm>
                  <a:off x="404" y="2096"/>
                  <a:ext cx="730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en-US" altLang="zh-CN" sz="2000">
                      <a:effectLst/>
                    </a:rPr>
                    <a:t>200011010113</a:t>
                  </a:r>
                  <a:endParaRPr lang="en-US" altLang="zh-CN" sz="2000">
                    <a:effectLst/>
                  </a:endParaRPr>
                </a:p>
              </p:txBody>
            </p:sp>
            <p:sp>
              <p:nvSpPr>
                <p:cNvPr id="127" name="Rectangle 81"/>
                <p:cNvSpPr>
                  <a:spLocks noChangeArrowheads="1"/>
                </p:cNvSpPr>
                <p:nvPr/>
              </p:nvSpPr>
              <p:spPr bwMode="auto">
                <a:xfrm>
                  <a:off x="398" y="2090"/>
                  <a:ext cx="742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7" name="Group 82"/>
              <p:cNvGrpSpPr/>
              <p:nvPr/>
            </p:nvGrpSpPr>
            <p:grpSpPr bwMode="auto">
              <a:xfrm>
                <a:off x="1140" y="2090"/>
                <a:ext cx="416" cy="550"/>
                <a:chOff x="1140" y="2090"/>
                <a:chExt cx="416" cy="550"/>
              </a:xfrm>
            </p:grpSpPr>
            <p:sp>
              <p:nvSpPr>
                <p:cNvPr id="124" name="Rectangle 83"/>
                <p:cNvSpPr>
                  <a:spLocks noChangeArrowheads="1"/>
                </p:cNvSpPr>
                <p:nvPr/>
              </p:nvSpPr>
              <p:spPr bwMode="auto">
                <a:xfrm>
                  <a:off x="1146" y="2096"/>
                  <a:ext cx="404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zh-CN" altLang="en-US" sz="2000">
                      <a:effectLst/>
                    </a:rPr>
                    <a:t>韩寒</a:t>
                  </a:r>
                  <a:endParaRPr lang="zh-CN" altLang="en-US" sz="2000">
                    <a:effectLst/>
                  </a:endParaRPr>
                </a:p>
              </p:txBody>
            </p:sp>
            <p:sp>
              <p:nvSpPr>
                <p:cNvPr id="125" name="Rectangle 84"/>
                <p:cNvSpPr>
                  <a:spLocks noChangeArrowheads="1"/>
                </p:cNvSpPr>
                <p:nvPr/>
              </p:nvSpPr>
              <p:spPr bwMode="auto">
                <a:xfrm>
                  <a:off x="1140" y="2090"/>
                  <a:ext cx="416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8" name="Group 85"/>
              <p:cNvGrpSpPr/>
              <p:nvPr/>
            </p:nvGrpSpPr>
            <p:grpSpPr bwMode="auto">
              <a:xfrm>
                <a:off x="1556" y="2090"/>
                <a:ext cx="405" cy="550"/>
                <a:chOff x="1556" y="2090"/>
                <a:chExt cx="405" cy="550"/>
              </a:xfrm>
            </p:grpSpPr>
            <p:sp>
              <p:nvSpPr>
                <p:cNvPr id="122" name="Rectangle 86"/>
                <p:cNvSpPr>
                  <a:spLocks noChangeArrowheads="1"/>
                </p:cNvSpPr>
                <p:nvPr/>
              </p:nvSpPr>
              <p:spPr bwMode="auto">
                <a:xfrm>
                  <a:off x="1562" y="2096"/>
                  <a:ext cx="393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zh-CN" altLang="en-US" sz="2000">
                      <a:effectLst/>
                    </a:rPr>
                    <a:t>男</a:t>
                  </a:r>
                  <a:endParaRPr lang="zh-CN" altLang="en-US" sz="2000">
                    <a:effectLst/>
                  </a:endParaRPr>
                </a:p>
              </p:txBody>
            </p:sp>
            <p:sp>
              <p:nvSpPr>
                <p:cNvPr id="123" name="Rectangle 87"/>
                <p:cNvSpPr>
                  <a:spLocks noChangeArrowheads="1"/>
                </p:cNvSpPr>
                <p:nvPr/>
              </p:nvSpPr>
              <p:spPr bwMode="auto">
                <a:xfrm>
                  <a:off x="1556" y="2090"/>
                  <a:ext cx="405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9" name="Group 88"/>
              <p:cNvGrpSpPr/>
              <p:nvPr/>
            </p:nvGrpSpPr>
            <p:grpSpPr bwMode="auto">
              <a:xfrm>
                <a:off x="1961" y="2090"/>
                <a:ext cx="405" cy="550"/>
                <a:chOff x="1961" y="2090"/>
                <a:chExt cx="405" cy="550"/>
              </a:xfrm>
            </p:grpSpPr>
            <p:sp>
              <p:nvSpPr>
                <p:cNvPr id="120" name="Rectangle 89"/>
                <p:cNvSpPr>
                  <a:spLocks noChangeArrowheads="1"/>
                </p:cNvSpPr>
                <p:nvPr/>
              </p:nvSpPr>
              <p:spPr bwMode="auto">
                <a:xfrm>
                  <a:off x="1967" y="2096"/>
                  <a:ext cx="393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en-US" altLang="zh-CN" sz="2000">
                      <a:solidFill>
                        <a:srgbClr val="0000FF"/>
                      </a:solidFill>
                      <a:effectLst/>
                    </a:rPr>
                    <a:t>90</a:t>
                  </a:r>
                  <a:endParaRPr lang="en-US" altLang="zh-CN" sz="2000">
                    <a:effectLst/>
                  </a:endParaRPr>
                </a:p>
              </p:txBody>
            </p:sp>
            <p:sp>
              <p:nvSpPr>
                <p:cNvPr id="121" name="Rectangle 90"/>
                <p:cNvSpPr>
                  <a:spLocks noChangeArrowheads="1"/>
                </p:cNvSpPr>
                <p:nvPr/>
              </p:nvSpPr>
              <p:spPr bwMode="auto">
                <a:xfrm>
                  <a:off x="1961" y="2090"/>
                  <a:ext cx="405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94" name="Rectangle 91"/>
            <p:cNvSpPr>
              <a:spLocks noChangeArrowheads="1"/>
            </p:cNvSpPr>
            <p:nvPr/>
          </p:nvSpPr>
          <p:spPr bwMode="auto">
            <a:xfrm>
              <a:off x="-3" y="-3"/>
              <a:ext cx="2372" cy="2646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ChangeArrowheads="1"/>
          </p:cNvSpPr>
          <p:nvPr/>
        </p:nvSpPr>
        <p:spPr bwMode="auto">
          <a:xfrm>
            <a:off x="0" y="44450"/>
            <a:ext cx="9144000" cy="1800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数据项</a:t>
            </a:r>
            <a:b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(data 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item)</a:t>
            </a:r>
            <a:endParaRPr lang="en-US" altLang="zh-CN" sz="32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323850" y="1700213"/>
            <a:ext cx="8642350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buClr>
                <a:schemeClr val="tx2"/>
              </a:buClr>
              <a:buSzPct val="45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008080"/>
                </a:solidFill>
                <a:latin typeface="仿宋_GB2312"/>
                <a:ea typeface="仿宋_GB2312"/>
                <a:cs typeface="仿宋_GB2312"/>
              </a:rPr>
              <a:t>有时一个数据元素可以由若干</a:t>
            </a:r>
            <a:r>
              <a:rPr lang="zh-CN" altLang="en-US" sz="3200" dirty="0">
                <a:latin typeface="仿宋_GB2312"/>
                <a:ea typeface="仿宋_GB2312"/>
                <a:cs typeface="仿宋_GB2312"/>
              </a:rPr>
              <a:t>数据项</a:t>
            </a:r>
            <a:r>
              <a:rPr lang="en-US" altLang="zh-CN" sz="3200" dirty="0">
                <a:solidFill>
                  <a:srgbClr val="008080"/>
                </a:solidFill>
                <a:ea typeface="仿宋_GB2312"/>
                <a:cs typeface="仿宋_GB2312"/>
              </a:rPr>
              <a:t>(Data Item)</a:t>
            </a:r>
            <a:r>
              <a:rPr lang="zh-CN" altLang="en-US" sz="3200" dirty="0">
                <a:solidFill>
                  <a:srgbClr val="008080"/>
                </a:solidFill>
                <a:latin typeface="仿宋_GB2312"/>
                <a:ea typeface="仿宋_GB2312"/>
                <a:cs typeface="仿宋_GB2312"/>
              </a:rPr>
              <a:t>组成。数据项是对客观事物某一方面特性的数据描述</a:t>
            </a:r>
            <a:endParaRPr lang="en-US" altLang="zh-CN" sz="3200" dirty="0">
              <a:solidFill>
                <a:srgbClr val="008080"/>
              </a:solidFill>
              <a:latin typeface="仿宋_GB2312"/>
              <a:ea typeface="仿宋_GB2312"/>
              <a:cs typeface="仿宋_GB2312"/>
            </a:endParaRPr>
          </a:p>
          <a:p>
            <a:pPr eaLnBrk="1" hangingPunct="1">
              <a:buClr>
                <a:schemeClr val="tx2"/>
              </a:buClr>
              <a:buSzPct val="45000"/>
              <a:buFont typeface="Wingdings" panose="05000000000000000000" pitchFamily="2" charset="2"/>
              <a:buChar char="n"/>
            </a:pPr>
            <a:endParaRPr lang="en-US" altLang="zh-CN" sz="3200" dirty="0">
              <a:solidFill>
                <a:srgbClr val="008080"/>
              </a:solidFill>
              <a:latin typeface="仿宋_GB2312"/>
              <a:ea typeface="仿宋_GB2312"/>
              <a:cs typeface="仿宋_GB2312"/>
            </a:endParaRPr>
          </a:p>
          <a:p>
            <a:pPr eaLnBrk="1" hangingPunct="1">
              <a:buClr>
                <a:schemeClr val="tx2"/>
              </a:buClr>
              <a:buSzPct val="45000"/>
              <a:buFont typeface="Wingdings" panose="05000000000000000000" pitchFamily="2" charset="2"/>
              <a:buChar char="n"/>
            </a:pPr>
            <a:endParaRPr lang="zh-CN" altLang="en-US" sz="3200" dirty="0">
              <a:solidFill>
                <a:srgbClr val="008080"/>
              </a:solidFill>
              <a:latin typeface="仿宋_GB2312"/>
              <a:ea typeface="仿宋_GB2312"/>
              <a:cs typeface="仿宋_GB2312"/>
            </a:endParaRPr>
          </a:p>
        </p:txBody>
      </p:sp>
    </p:spTree>
  </p:cSld>
  <p:clrMapOvr>
    <a:masterClrMapping/>
  </p:clrMapOvr>
  <p:transition>
    <p:strips dir="r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88913"/>
            <a:ext cx="9144000" cy="576262"/>
          </a:xfrm>
        </p:spPr>
        <p:txBody>
          <a:bodyPr/>
          <a:lstStyle/>
          <a:p>
            <a:r>
              <a:rPr lang="en-US" altLang="zh-CN" sz="4800">
                <a:solidFill>
                  <a:srgbClr val="000099"/>
                </a:solidFill>
                <a:ea typeface="隶书" panose="02010509060101010101" pitchFamily="49" charset="-122"/>
              </a:rPr>
              <a:t>“</a:t>
            </a:r>
            <a:r>
              <a:rPr sz="4800">
                <a:solidFill>
                  <a:srgbClr val="000099"/>
                </a:solidFill>
                <a:ea typeface="隶书" panose="02010509060101010101" pitchFamily="49" charset="-122"/>
              </a:rPr>
              <a:t>学生”表格</a:t>
            </a:r>
            <a:endParaRPr sz="4800">
              <a:solidFill>
                <a:srgbClr val="000099"/>
              </a:solidFill>
              <a:ea typeface="仿宋_GB2312"/>
              <a:cs typeface="仿宋_GB2312"/>
            </a:endParaRPr>
          </a:p>
        </p:txBody>
      </p:sp>
      <p:graphicFrame>
        <p:nvGraphicFramePr>
          <p:cNvPr id="19459" name="Object 2"/>
          <p:cNvGraphicFramePr>
            <a:graphicFrameLocks noGrp="1" noChangeAspect="1"/>
          </p:cNvGraphicFramePr>
          <p:nvPr>
            <p:ph type="tbl" idx="1"/>
          </p:nvPr>
        </p:nvGraphicFramePr>
        <p:xfrm>
          <a:off x="0" y="981075"/>
          <a:ext cx="8839200" cy="561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4" name="文档" r:id="rId1" imgW="8535670" imgH="5420995" progId="Word.Document.8">
                  <p:embed/>
                </p:oleObj>
              </mc:Choice>
              <mc:Fallback>
                <p:oleObj name="文档" r:id="rId1" imgW="8535670" imgH="5420995" progId="Word.Document.8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981075"/>
                        <a:ext cx="8839200" cy="561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strips dir="r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7772400" cy="1143000"/>
          </a:xfrm>
        </p:spPr>
        <p:txBody>
          <a:bodyPr/>
          <a:lstStyle/>
          <a:p>
            <a:r>
              <a:rPr lang="zh-CN" altLang="en-US" dirty="0"/>
              <a:t>数据对象</a:t>
            </a:r>
            <a:endParaRPr lang="zh-CN" altLang="en-US" dirty="0"/>
          </a:p>
        </p:txBody>
      </p:sp>
      <p:sp>
        <p:nvSpPr>
          <p:cNvPr id="293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8153400" cy="1371600"/>
          </a:xfrm>
          <a:solidFill>
            <a:srgbClr val="CC0099"/>
          </a:solidFill>
          <a:effectLst>
            <a:outerShdw dist="107763" dir="18900000" algn="ctr" rotWithShape="0">
              <a:srgbClr val="808080"/>
            </a:outerShdw>
          </a:effectLst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bg1"/>
                </a:solidFill>
              </a:rPr>
              <a:t>       </a:t>
            </a:r>
            <a:r>
              <a:rPr lang="en-US" altLang="zh-CN" sz="3600">
                <a:solidFill>
                  <a:schemeClr val="bg1"/>
                </a:solidFill>
              </a:rPr>
              <a:t>-------</a:t>
            </a:r>
            <a:r>
              <a:rPr lang="zh-CN" altLang="en-US" sz="3600">
                <a:solidFill>
                  <a:schemeClr val="bg1"/>
                </a:solidFill>
              </a:rPr>
              <a:t>是性质相同的数据元素的集合，是数据的一个子集。</a:t>
            </a:r>
            <a:endParaRPr lang="zh-CN" altLang="en-US" sz="3600">
              <a:solidFill>
                <a:schemeClr val="bg1"/>
              </a:solidFill>
            </a:endParaRPr>
          </a:p>
        </p:txBody>
      </p:sp>
      <p:sp>
        <p:nvSpPr>
          <p:cNvPr id="293892" name="Text Box 4"/>
          <p:cNvSpPr txBox="1">
            <a:spLocks noChangeArrowheads="1"/>
          </p:cNvSpPr>
          <p:nvPr/>
        </p:nvSpPr>
        <p:spPr bwMode="auto">
          <a:xfrm>
            <a:off x="990600" y="2743200"/>
            <a:ext cx="7162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>
                <a:effectLst/>
              </a:rPr>
              <a:t>例   </a:t>
            </a:r>
            <a:r>
              <a:rPr lang="zh-CN" altLang="en-US" sz="3200" b="1">
                <a:effectLst/>
                <a:latin typeface="楷体_GB2312" pitchFamily="49" charset="-122"/>
                <a:ea typeface="楷体_GB2312" pitchFamily="49" charset="-122"/>
              </a:rPr>
              <a:t>一个二维表是一个数据对象，它是 记录的集合</a:t>
            </a:r>
            <a:r>
              <a:rPr lang="zh-CN" altLang="en-US" sz="3200" b="1">
                <a:effectLst/>
              </a:rPr>
              <a:t>。</a:t>
            </a:r>
            <a:endParaRPr lang="zh-CN" altLang="en-US" sz="3200" b="1">
              <a:effectLst/>
            </a:endParaRPr>
          </a:p>
        </p:txBody>
      </p:sp>
      <p:grpSp>
        <p:nvGrpSpPr>
          <p:cNvPr id="293893" name="Group 5"/>
          <p:cNvGrpSpPr/>
          <p:nvPr/>
        </p:nvGrpSpPr>
        <p:grpSpPr bwMode="auto">
          <a:xfrm>
            <a:off x="1219200" y="4038600"/>
            <a:ext cx="6934200" cy="2514600"/>
            <a:chOff x="-3" y="-3"/>
            <a:chExt cx="2372" cy="2646"/>
          </a:xfrm>
        </p:grpSpPr>
        <p:grpSp>
          <p:nvGrpSpPr>
            <p:cNvPr id="293894" name="Group 6"/>
            <p:cNvGrpSpPr/>
            <p:nvPr/>
          </p:nvGrpSpPr>
          <p:grpSpPr bwMode="auto">
            <a:xfrm>
              <a:off x="0" y="0"/>
              <a:ext cx="2366" cy="2640"/>
              <a:chOff x="0" y="0"/>
              <a:chExt cx="2366" cy="2640"/>
            </a:xfrm>
          </p:grpSpPr>
          <p:grpSp>
            <p:nvGrpSpPr>
              <p:cNvPr id="293895" name="Group 7"/>
              <p:cNvGrpSpPr/>
              <p:nvPr/>
            </p:nvGrpSpPr>
            <p:grpSpPr bwMode="auto">
              <a:xfrm>
                <a:off x="0" y="0"/>
                <a:ext cx="398" cy="416"/>
                <a:chOff x="0" y="0"/>
                <a:chExt cx="398" cy="416"/>
              </a:xfrm>
            </p:grpSpPr>
            <p:sp>
              <p:nvSpPr>
                <p:cNvPr id="293896" name="Rectangle 8"/>
                <p:cNvSpPr>
                  <a:spLocks noChangeArrowheads="1"/>
                </p:cNvSpPr>
                <p:nvPr/>
              </p:nvSpPr>
              <p:spPr bwMode="auto">
                <a:xfrm>
                  <a:off x="6" y="6"/>
                  <a:ext cx="386" cy="4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zh-CN" altLang="en-US" sz="2000">
                      <a:effectLst/>
                    </a:rPr>
                    <a:t>名次</a:t>
                  </a:r>
                  <a:endParaRPr lang="zh-CN" altLang="en-US" sz="2000">
                    <a:effectLst/>
                  </a:endParaRPr>
                </a:p>
              </p:txBody>
            </p:sp>
            <p:sp>
              <p:nvSpPr>
                <p:cNvPr id="293897" name="Rectangle 9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98" cy="41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3898" name="Group 10"/>
              <p:cNvGrpSpPr/>
              <p:nvPr/>
            </p:nvGrpSpPr>
            <p:grpSpPr bwMode="auto">
              <a:xfrm>
                <a:off x="398" y="0"/>
                <a:ext cx="742" cy="416"/>
                <a:chOff x="398" y="0"/>
                <a:chExt cx="742" cy="416"/>
              </a:xfrm>
            </p:grpSpPr>
            <p:sp>
              <p:nvSpPr>
                <p:cNvPr id="293899" name="Rectangle 11"/>
                <p:cNvSpPr>
                  <a:spLocks noChangeArrowheads="1"/>
                </p:cNvSpPr>
                <p:nvPr/>
              </p:nvSpPr>
              <p:spPr bwMode="auto">
                <a:xfrm>
                  <a:off x="404" y="6"/>
                  <a:ext cx="730" cy="4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zh-CN" altLang="en-US" sz="2000">
                      <a:effectLst/>
                    </a:rPr>
                    <a:t>学号</a:t>
                  </a:r>
                  <a:endParaRPr lang="zh-CN" altLang="en-US" sz="2000">
                    <a:effectLst/>
                  </a:endParaRPr>
                </a:p>
              </p:txBody>
            </p:sp>
            <p:sp>
              <p:nvSpPr>
                <p:cNvPr id="293900" name="Rectangle 12"/>
                <p:cNvSpPr>
                  <a:spLocks noChangeArrowheads="1"/>
                </p:cNvSpPr>
                <p:nvPr/>
              </p:nvSpPr>
              <p:spPr bwMode="auto">
                <a:xfrm>
                  <a:off x="398" y="0"/>
                  <a:ext cx="742" cy="41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3901" name="Group 13"/>
              <p:cNvGrpSpPr/>
              <p:nvPr/>
            </p:nvGrpSpPr>
            <p:grpSpPr bwMode="auto">
              <a:xfrm>
                <a:off x="1140" y="0"/>
                <a:ext cx="416" cy="416"/>
                <a:chOff x="1140" y="0"/>
                <a:chExt cx="416" cy="416"/>
              </a:xfrm>
            </p:grpSpPr>
            <p:sp>
              <p:nvSpPr>
                <p:cNvPr id="293902" name="Rectangle 14"/>
                <p:cNvSpPr>
                  <a:spLocks noChangeArrowheads="1"/>
                </p:cNvSpPr>
                <p:nvPr/>
              </p:nvSpPr>
              <p:spPr bwMode="auto">
                <a:xfrm>
                  <a:off x="1146" y="6"/>
                  <a:ext cx="404" cy="4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zh-CN" altLang="en-US" sz="2000">
                      <a:effectLst/>
                    </a:rPr>
                    <a:t>姓名</a:t>
                  </a:r>
                  <a:endParaRPr lang="zh-CN" altLang="en-US" sz="2000">
                    <a:effectLst/>
                  </a:endParaRPr>
                </a:p>
              </p:txBody>
            </p:sp>
            <p:sp>
              <p:nvSpPr>
                <p:cNvPr id="293903" name="Rectangle 15"/>
                <p:cNvSpPr>
                  <a:spLocks noChangeArrowheads="1"/>
                </p:cNvSpPr>
                <p:nvPr/>
              </p:nvSpPr>
              <p:spPr bwMode="auto">
                <a:xfrm>
                  <a:off x="1140" y="0"/>
                  <a:ext cx="416" cy="41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3904" name="Group 16"/>
              <p:cNvGrpSpPr/>
              <p:nvPr/>
            </p:nvGrpSpPr>
            <p:grpSpPr bwMode="auto">
              <a:xfrm>
                <a:off x="1556" y="0"/>
                <a:ext cx="405" cy="416"/>
                <a:chOff x="1556" y="0"/>
                <a:chExt cx="405" cy="416"/>
              </a:xfrm>
            </p:grpSpPr>
            <p:sp>
              <p:nvSpPr>
                <p:cNvPr id="293905" name="Rectangle 17"/>
                <p:cNvSpPr>
                  <a:spLocks noChangeArrowheads="1"/>
                </p:cNvSpPr>
                <p:nvPr/>
              </p:nvSpPr>
              <p:spPr bwMode="auto">
                <a:xfrm>
                  <a:off x="1562" y="6"/>
                  <a:ext cx="393" cy="4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zh-CN" altLang="en-US" sz="2000">
                      <a:effectLst/>
                    </a:rPr>
                    <a:t>性别</a:t>
                  </a:r>
                  <a:endParaRPr lang="zh-CN" altLang="en-US" sz="2000">
                    <a:effectLst/>
                  </a:endParaRPr>
                </a:p>
              </p:txBody>
            </p:sp>
            <p:sp>
              <p:nvSpPr>
                <p:cNvPr id="293906" name="Rectangle 18"/>
                <p:cNvSpPr>
                  <a:spLocks noChangeArrowheads="1"/>
                </p:cNvSpPr>
                <p:nvPr/>
              </p:nvSpPr>
              <p:spPr bwMode="auto">
                <a:xfrm>
                  <a:off x="1556" y="0"/>
                  <a:ext cx="405" cy="41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3907" name="Group 19"/>
              <p:cNvGrpSpPr/>
              <p:nvPr/>
            </p:nvGrpSpPr>
            <p:grpSpPr bwMode="auto">
              <a:xfrm>
                <a:off x="1961" y="0"/>
                <a:ext cx="405" cy="416"/>
                <a:chOff x="1961" y="0"/>
                <a:chExt cx="405" cy="416"/>
              </a:xfrm>
            </p:grpSpPr>
            <p:sp>
              <p:nvSpPr>
                <p:cNvPr id="293908" name="Rectangle 20"/>
                <p:cNvSpPr>
                  <a:spLocks noChangeArrowheads="1"/>
                </p:cNvSpPr>
                <p:nvPr/>
              </p:nvSpPr>
              <p:spPr bwMode="auto">
                <a:xfrm>
                  <a:off x="1967" y="6"/>
                  <a:ext cx="393" cy="4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zh-CN" altLang="en-US" sz="2000">
                      <a:effectLst/>
                    </a:rPr>
                    <a:t>成绩</a:t>
                  </a:r>
                  <a:endParaRPr lang="zh-CN" altLang="en-US" sz="2000">
                    <a:effectLst/>
                  </a:endParaRPr>
                </a:p>
              </p:txBody>
            </p:sp>
            <p:sp>
              <p:nvSpPr>
                <p:cNvPr id="293909" name="Rectangle 21"/>
                <p:cNvSpPr>
                  <a:spLocks noChangeArrowheads="1"/>
                </p:cNvSpPr>
                <p:nvPr/>
              </p:nvSpPr>
              <p:spPr bwMode="auto">
                <a:xfrm>
                  <a:off x="1961" y="0"/>
                  <a:ext cx="405" cy="41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3910" name="Group 22"/>
              <p:cNvGrpSpPr/>
              <p:nvPr/>
            </p:nvGrpSpPr>
            <p:grpSpPr bwMode="auto">
              <a:xfrm>
                <a:off x="0" y="422"/>
                <a:ext cx="398" cy="562"/>
                <a:chOff x="0" y="422"/>
                <a:chExt cx="398" cy="562"/>
              </a:xfrm>
            </p:grpSpPr>
            <p:sp>
              <p:nvSpPr>
                <p:cNvPr id="293911" name="Rectangle 23"/>
                <p:cNvSpPr>
                  <a:spLocks noChangeArrowheads="1"/>
                </p:cNvSpPr>
                <p:nvPr/>
              </p:nvSpPr>
              <p:spPr bwMode="auto">
                <a:xfrm>
                  <a:off x="0" y="422"/>
                  <a:ext cx="398" cy="562"/>
                </a:xfrm>
                <a:prstGeom prst="rect">
                  <a:avLst/>
                </a:prstGeom>
                <a:solidFill>
                  <a:srgbClr val="FF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pSp>
              <p:nvGrpSpPr>
                <p:cNvPr id="293912" name="Group 24"/>
                <p:cNvGrpSpPr/>
                <p:nvPr/>
              </p:nvGrpSpPr>
              <p:grpSpPr bwMode="auto">
                <a:xfrm>
                  <a:off x="0" y="422"/>
                  <a:ext cx="398" cy="550"/>
                  <a:chOff x="0" y="422"/>
                  <a:chExt cx="398" cy="550"/>
                </a:xfrm>
              </p:grpSpPr>
              <p:sp>
                <p:nvSpPr>
                  <p:cNvPr id="293913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6" y="428"/>
                    <a:ext cx="386" cy="544"/>
                  </a:xfrm>
                  <a:prstGeom prst="rect">
                    <a:avLst/>
                  </a:prstGeom>
                  <a:solidFill>
                    <a:srgbClr val="FFFF99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r>
                      <a:rPr lang="en-US" altLang="zh-CN" sz="2000">
                        <a:effectLst/>
                      </a:rPr>
                      <a:t>1</a:t>
                    </a:r>
                    <a:endParaRPr lang="en-US" altLang="zh-CN" sz="2000">
                      <a:effectLst/>
                    </a:endParaRPr>
                  </a:p>
                </p:txBody>
              </p:sp>
              <p:sp>
                <p:nvSpPr>
                  <p:cNvPr id="293914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0" y="422"/>
                    <a:ext cx="398" cy="55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93915" name="Group 27"/>
              <p:cNvGrpSpPr/>
              <p:nvPr/>
            </p:nvGrpSpPr>
            <p:grpSpPr bwMode="auto">
              <a:xfrm>
                <a:off x="398" y="422"/>
                <a:ext cx="742" cy="562"/>
                <a:chOff x="398" y="422"/>
                <a:chExt cx="742" cy="562"/>
              </a:xfrm>
            </p:grpSpPr>
            <p:sp>
              <p:nvSpPr>
                <p:cNvPr id="293916" name="Rectangle 28"/>
                <p:cNvSpPr>
                  <a:spLocks noChangeArrowheads="1"/>
                </p:cNvSpPr>
                <p:nvPr/>
              </p:nvSpPr>
              <p:spPr bwMode="auto">
                <a:xfrm>
                  <a:off x="398" y="422"/>
                  <a:ext cx="742" cy="562"/>
                </a:xfrm>
                <a:prstGeom prst="rect">
                  <a:avLst/>
                </a:prstGeom>
                <a:solidFill>
                  <a:srgbClr val="FF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pSp>
              <p:nvGrpSpPr>
                <p:cNvPr id="293917" name="Group 29"/>
                <p:cNvGrpSpPr/>
                <p:nvPr/>
              </p:nvGrpSpPr>
              <p:grpSpPr bwMode="auto">
                <a:xfrm>
                  <a:off x="398" y="422"/>
                  <a:ext cx="742" cy="550"/>
                  <a:chOff x="398" y="422"/>
                  <a:chExt cx="742" cy="550"/>
                </a:xfrm>
              </p:grpSpPr>
              <p:sp>
                <p:nvSpPr>
                  <p:cNvPr id="293918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404" y="428"/>
                    <a:ext cx="730" cy="544"/>
                  </a:xfrm>
                  <a:prstGeom prst="rect">
                    <a:avLst/>
                  </a:prstGeom>
                  <a:solidFill>
                    <a:srgbClr val="FFFF99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r>
                      <a:rPr lang="en-US" altLang="zh-CN" sz="2000">
                        <a:effectLst/>
                      </a:rPr>
                      <a:t>200011010269</a:t>
                    </a:r>
                    <a:endParaRPr lang="en-US" altLang="zh-CN" sz="2000">
                      <a:effectLst/>
                    </a:endParaRPr>
                  </a:p>
                </p:txBody>
              </p:sp>
              <p:sp>
                <p:nvSpPr>
                  <p:cNvPr id="293919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398" y="422"/>
                    <a:ext cx="742" cy="55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93920" name="Group 32"/>
              <p:cNvGrpSpPr/>
              <p:nvPr/>
            </p:nvGrpSpPr>
            <p:grpSpPr bwMode="auto">
              <a:xfrm>
                <a:off x="1140" y="422"/>
                <a:ext cx="416" cy="562"/>
                <a:chOff x="1140" y="422"/>
                <a:chExt cx="416" cy="562"/>
              </a:xfrm>
            </p:grpSpPr>
            <p:sp>
              <p:nvSpPr>
                <p:cNvPr id="293921" name="Rectangle 33"/>
                <p:cNvSpPr>
                  <a:spLocks noChangeArrowheads="1"/>
                </p:cNvSpPr>
                <p:nvPr/>
              </p:nvSpPr>
              <p:spPr bwMode="auto">
                <a:xfrm>
                  <a:off x="1140" y="422"/>
                  <a:ext cx="416" cy="562"/>
                </a:xfrm>
                <a:prstGeom prst="rect">
                  <a:avLst/>
                </a:prstGeom>
                <a:solidFill>
                  <a:srgbClr val="FF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pSp>
              <p:nvGrpSpPr>
                <p:cNvPr id="293922" name="Group 34"/>
                <p:cNvGrpSpPr/>
                <p:nvPr/>
              </p:nvGrpSpPr>
              <p:grpSpPr bwMode="auto">
                <a:xfrm>
                  <a:off x="1140" y="422"/>
                  <a:ext cx="416" cy="550"/>
                  <a:chOff x="1140" y="422"/>
                  <a:chExt cx="416" cy="550"/>
                </a:xfrm>
              </p:grpSpPr>
              <p:sp>
                <p:nvSpPr>
                  <p:cNvPr id="293923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1146" y="428"/>
                    <a:ext cx="404" cy="544"/>
                  </a:xfrm>
                  <a:prstGeom prst="rect">
                    <a:avLst/>
                  </a:prstGeom>
                  <a:solidFill>
                    <a:srgbClr val="FFFF99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r>
                      <a:rPr lang="zh-CN" altLang="en-US" sz="2000">
                        <a:effectLst/>
                      </a:rPr>
                      <a:t>柳玲</a:t>
                    </a:r>
                    <a:endParaRPr lang="zh-CN" altLang="en-US" sz="2000">
                      <a:effectLst/>
                    </a:endParaRPr>
                  </a:p>
                </p:txBody>
              </p:sp>
              <p:sp>
                <p:nvSpPr>
                  <p:cNvPr id="293924" name="Rectangle 36"/>
                  <p:cNvSpPr>
                    <a:spLocks noChangeArrowheads="1"/>
                  </p:cNvSpPr>
                  <p:nvPr/>
                </p:nvSpPr>
                <p:spPr bwMode="auto">
                  <a:xfrm>
                    <a:off x="1140" y="422"/>
                    <a:ext cx="416" cy="55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93925" name="Group 37"/>
              <p:cNvGrpSpPr/>
              <p:nvPr/>
            </p:nvGrpSpPr>
            <p:grpSpPr bwMode="auto">
              <a:xfrm>
                <a:off x="1556" y="422"/>
                <a:ext cx="405" cy="562"/>
                <a:chOff x="1556" y="422"/>
                <a:chExt cx="405" cy="562"/>
              </a:xfrm>
            </p:grpSpPr>
            <p:sp>
              <p:nvSpPr>
                <p:cNvPr id="293926" name="Rectangle 38"/>
                <p:cNvSpPr>
                  <a:spLocks noChangeArrowheads="1"/>
                </p:cNvSpPr>
                <p:nvPr/>
              </p:nvSpPr>
              <p:spPr bwMode="auto">
                <a:xfrm>
                  <a:off x="1556" y="422"/>
                  <a:ext cx="405" cy="562"/>
                </a:xfrm>
                <a:prstGeom prst="rect">
                  <a:avLst/>
                </a:prstGeom>
                <a:solidFill>
                  <a:srgbClr val="FF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pSp>
              <p:nvGrpSpPr>
                <p:cNvPr id="293927" name="Group 39"/>
                <p:cNvGrpSpPr/>
                <p:nvPr/>
              </p:nvGrpSpPr>
              <p:grpSpPr bwMode="auto">
                <a:xfrm>
                  <a:off x="1556" y="422"/>
                  <a:ext cx="405" cy="550"/>
                  <a:chOff x="1556" y="422"/>
                  <a:chExt cx="405" cy="550"/>
                </a:xfrm>
              </p:grpSpPr>
              <p:sp>
                <p:nvSpPr>
                  <p:cNvPr id="293928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1562" y="428"/>
                    <a:ext cx="393" cy="544"/>
                  </a:xfrm>
                  <a:prstGeom prst="rect">
                    <a:avLst/>
                  </a:prstGeom>
                  <a:solidFill>
                    <a:srgbClr val="FFFF99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r>
                      <a:rPr lang="zh-CN" altLang="en-US" sz="2000">
                        <a:effectLst/>
                      </a:rPr>
                      <a:t>女</a:t>
                    </a:r>
                    <a:endParaRPr lang="zh-CN" altLang="en-US" sz="2000">
                      <a:effectLst/>
                    </a:endParaRPr>
                  </a:p>
                </p:txBody>
              </p:sp>
              <p:sp>
                <p:nvSpPr>
                  <p:cNvPr id="293929" name="Rectangle 41"/>
                  <p:cNvSpPr>
                    <a:spLocks noChangeArrowheads="1"/>
                  </p:cNvSpPr>
                  <p:nvPr/>
                </p:nvSpPr>
                <p:spPr bwMode="auto">
                  <a:xfrm>
                    <a:off x="1556" y="422"/>
                    <a:ext cx="405" cy="55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93930" name="Group 42"/>
              <p:cNvGrpSpPr/>
              <p:nvPr/>
            </p:nvGrpSpPr>
            <p:grpSpPr bwMode="auto">
              <a:xfrm>
                <a:off x="1961" y="422"/>
                <a:ext cx="405" cy="562"/>
                <a:chOff x="1961" y="422"/>
                <a:chExt cx="405" cy="562"/>
              </a:xfrm>
            </p:grpSpPr>
            <p:sp>
              <p:nvSpPr>
                <p:cNvPr id="293931" name="Rectangle 43"/>
                <p:cNvSpPr>
                  <a:spLocks noChangeArrowheads="1"/>
                </p:cNvSpPr>
                <p:nvPr/>
              </p:nvSpPr>
              <p:spPr bwMode="auto">
                <a:xfrm>
                  <a:off x="1961" y="422"/>
                  <a:ext cx="405" cy="562"/>
                </a:xfrm>
                <a:prstGeom prst="rect">
                  <a:avLst/>
                </a:prstGeom>
                <a:solidFill>
                  <a:srgbClr val="FF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grpSp>
              <p:nvGrpSpPr>
                <p:cNvPr id="293932" name="Group 44"/>
                <p:cNvGrpSpPr/>
                <p:nvPr/>
              </p:nvGrpSpPr>
              <p:grpSpPr bwMode="auto">
                <a:xfrm>
                  <a:off x="1961" y="422"/>
                  <a:ext cx="405" cy="550"/>
                  <a:chOff x="1961" y="422"/>
                  <a:chExt cx="405" cy="550"/>
                </a:xfrm>
              </p:grpSpPr>
              <p:sp>
                <p:nvSpPr>
                  <p:cNvPr id="293933" name="Rectangle 45"/>
                  <p:cNvSpPr>
                    <a:spLocks noChangeArrowheads="1"/>
                  </p:cNvSpPr>
                  <p:nvPr/>
                </p:nvSpPr>
                <p:spPr bwMode="auto">
                  <a:xfrm>
                    <a:off x="1967" y="428"/>
                    <a:ext cx="393" cy="544"/>
                  </a:xfrm>
                  <a:prstGeom prst="rect">
                    <a:avLst/>
                  </a:prstGeom>
                  <a:solidFill>
                    <a:srgbClr val="FFFF99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r>
                      <a:rPr lang="en-US" altLang="zh-CN" sz="2000">
                        <a:effectLst/>
                      </a:rPr>
                      <a:t>99</a:t>
                    </a:r>
                    <a:endParaRPr lang="en-US" altLang="zh-CN" sz="2000">
                      <a:effectLst/>
                    </a:endParaRPr>
                  </a:p>
                </p:txBody>
              </p:sp>
              <p:sp>
                <p:nvSpPr>
                  <p:cNvPr id="293934" name="Rectangle 46"/>
                  <p:cNvSpPr>
                    <a:spLocks noChangeArrowheads="1"/>
                  </p:cNvSpPr>
                  <p:nvPr/>
                </p:nvSpPr>
                <p:spPr bwMode="auto">
                  <a:xfrm>
                    <a:off x="1961" y="422"/>
                    <a:ext cx="405" cy="550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93935" name="Group 47"/>
              <p:cNvGrpSpPr/>
              <p:nvPr/>
            </p:nvGrpSpPr>
            <p:grpSpPr bwMode="auto">
              <a:xfrm>
                <a:off x="0" y="978"/>
                <a:ext cx="398" cy="550"/>
                <a:chOff x="0" y="978"/>
                <a:chExt cx="398" cy="550"/>
              </a:xfrm>
            </p:grpSpPr>
            <p:sp>
              <p:nvSpPr>
                <p:cNvPr id="293936" name="Rectangle 48"/>
                <p:cNvSpPr>
                  <a:spLocks noChangeArrowheads="1"/>
                </p:cNvSpPr>
                <p:nvPr/>
              </p:nvSpPr>
              <p:spPr bwMode="auto">
                <a:xfrm>
                  <a:off x="6" y="984"/>
                  <a:ext cx="386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en-US" altLang="zh-CN" sz="2000">
                      <a:effectLst/>
                    </a:rPr>
                    <a:t>2</a:t>
                  </a:r>
                  <a:endParaRPr lang="en-US" altLang="zh-CN" sz="2000">
                    <a:effectLst/>
                  </a:endParaRPr>
                </a:p>
              </p:txBody>
            </p:sp>
            <p:sp>
              <p:nvSpPr>
                <p:cNvPr id="293937" name="Rectangle 49"/>
                <p:cNvSpPr>
                  <a:spLocks noChangeArrowheads="1"/>
                </p:cNvSpPr>
                <p:nvPr/>
              </p:nvSpPr>
              <p:spPr bwMode="auto">
                <a:xfrm>
                  <a:off x="0" y="978"/>
                  <a:ext cx="398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3938" name="Group 50"/>
              <p:cNvGrpSpPr/>
              <p:nvPr/>
            </p:nvGrpSpPr>
            <p:grpSpPr bwMode="auto">
              <a:xfrm>
                <a:off x="398" y="978"/>
                <a:ext cx="742" cy="550"/>
                <a:chOff x="398" y="978"/>
                <a:chExt cx="742" cy="550"/>
              </a:xfrm>
            </p:grpSpPr>
            <p:sp>
              <p:nvSpPr>
                <p:cNvPr id="293939" name="Rectangle 51"/>
                <p:cNvSpPr>
                  <a:spLocks noChangeArrowheads="1"/>
                </p:cNvSpPr>
                <p:nvPr/>
              </p:nvSpPr>
              <p:spPr bwMode="auto">
                <a:xfrm>
                  <a:off x="404" y="984"/>
                  <a:ext cx="730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en-US" altLang="zh-CN" sz="2000">
                      <a:effectLst/>
                    </a:rPr>
                    <a:t>200011010105</a:t>
                  </a:r>
                  <a:endParaRPr lang="en-US" altLang="zh-CN" sz="2000">
                    <a:effectLst/>
                  </a:endParaRPr>
                </a:p>
              </p:txBody>
            </p:sp>
            <p:sp>
              <p:nvSpPr>
                <p:cNvPr id="293940" name="Rectangle 52"/>
                <p:cNvSpPr>
                  <a:spLocks noChangeArrowheads="1"/>
                </p:cNvSpPr>
                <p:nvPr/>
              </p:nvSpPr>
              <p:spPr bwMode="auto">
                <a:xfrm>
                  <a:off x="398" y="978"/>
                  <a:ext cx="742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3941" name="Group 53"/>
              <p:cNvGrpSpPr/>
              <p:nvPr/>
            </p:nvGrpSpPr>
            <p:grpSpPr bwMode="auto">
              <a:xfrm>
                <a:off x="1140" y="978"/>
                <a:ext cx="416" cy="550"/>
                <a:chOff x="1140" y="978"/>
                <a:chExt cx="416" cy="550"/>
              </a:xfrm>
            </p:grpSpPr>
            <p:sp>
              <p:nvSpPr>
                <p:cNvPr id="293942" name="Rectangle 54"/>
                <p:cNvSpPr>
                  <a:spLocks noChangeArrowheads="1"/>
                </p:cNvSpPr>
                <p:nvPr/>
              </p:nvSpPr>
              <p:spPr bwMode="auto">
                <a:xfrm>
                  <a:off x="1146" y="984"/>
                  <a:ext cx="404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zh-CN" altLang="en-US" sz="2000">
                      <a:effectLst/>
                    </a:rPr>
                    <a:t>宋杰</a:t>
                  </a:r>
                  <a:endParaRPr lang="zh-CN" altLang="en-US" sz="2000">
                    <a:effectLst/>
                  </a:endParaRPr>
                </a:p>
              </p:txBody>
            </p:sp>
            <p:sp>
              <p:nvSpPr>
                <p:cNvPr id="293943" name="Rectangle 55"/>
                <p:cNvSpPr>
                  <a:spLocks noChangeArrowheads="1"/>
                </p:cNvSpPr>
                <p:nvPr/>
              </p:nvSpPr>
              <p:spPr bwMode="auto">
                <a:xfrm>
                  <a:off x="1140" y="978"/>
                  <a:ext cx="416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3944" name="Group 56"/>
              <p:cNvGrpSpPr/>
              <p:nvPr/>
            </p:nvGrpSpPr>
            <p:grpSpPr bwMode="auto">
              <a:xfrm>
                <a:off x="1556" y="978"/>
                <a:ext cx="405" cy="550"/>
                <a:chOff x="1556" y="978"/>
                <a:chExt cx="405" cy="550"/>
              </a:xfrm>
            </p:grpSpPr>
            <p:sp>
              <p:nvSpPr>
                <p:cNvPr id="293945" name="Rectangle 57"/>
                <p:cNvSpPr>
                  <a:spLocks noChangeArrowheads="1"/>
                </p:cNvSpPr>
                <p:nvPr/>
              </p:nvSpPr>
              <p:spPr bwMode="auto">
                <a:xfrm>
                  <a:off x="1562" y="984"/>
                  <a:ext cx="393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zh-CN" altLang="en-US" sz="2000">
                      <a:effectLst/>
                    </a:rPr>
                    <a:t>男</a:t>
                  </a:r>
                  <a:endParaRPr lang="zh-CN" altLang="en-US" sz="2000">
                    <a:effectLst/>
                  </a:endParaRPr>
                </a:p>
              </p:txBody>
            </p:sp>
            <p:sp>
              <p:nvSpPr>
                <p:cNvPr id="293946" name="Rectangle 58"/>
                <p:cNvSpPr>
                  <a:spLocks noChangeArrowheads="1"/>
                </p:cNvSpPr>
                <p:nvPr/>
              </p:nvSpPr>
              <p:spPr bwMode="auto">
                <a:xfrm>
                  <a:off x="1556" y="978"/>
                  <a:ext cx="405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3947" name="Group 59"/>
              <p:cNvGrpSpPr/>
              <p:nvPr/>
            </p:nvGrpSpPr>
            <p:grpSpPr bwMode="auto">
              <a:xfrm>
                <a:off x="1961" y="978"/>
                <a:ext cx="405" cy="550"/>
                <a:chOff x="1961" y="978"/>
                <a:chExt cx="405" cy="550"/>
              </a:xfrm>
            </p:grpSpPr>
            <p:sp>
              <p:nvSpPr>
                <p:cNvPr id="293948" name="Rectangle 60"/>
                <p:cNvSpPr>
                  <a:spLocks noChangeArrowheads="1"/>
                </p:cNvSpPr>
                <p:nvPr/>
              </p:nvSpPr>
              <p:spPr bwMode="auto">
                <a:xfrm>
                  <a:off x="1967" y="984"/>
                  <a:ext cx="393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en-US" altLang="zh-CN" sz="2000">
                      <a:solidFill>
                        <a:srgbClr val="0000FF"/>
                      </a:solidFill>
                      <a:effectLst/>
                    </a:rPr>
                    <a:t>98</a:t>
                  </a:r>
                  <a:endParaRPr lang="en-US" altLang="zh-CN" sz="2000">
                    <a:effectLst/>
                  </a:endParaRPr>
                </a:p>
              </p:txBody>
            </p:sp>
            <p:sp>
              <p:nvSpPr>
                <p:cNvPr id="293949" name="Rectangle 61"/>
                <p:cNvSpPr>
                  <a:spLocks noChangeArrowheads="1"/>
                </p:cNvSpPr>
                <p:nvPr/>
              </p:nvSpPr>
              <p:spPr bwMode="auto">
                <a:xfrm>
                  <a:off x="1961" y="978"/>
                  <a:ext cx="405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3950" name="Group 62"/>
              <p:cNvGrpSpPr/>
              <p:nvPr/>
            </p:nvGrpSpPr>
            <p:grpSpPr bwMode="auto">
              <a:xfrm>
                <a:off x="0" y="1534"/>
                <a:ext cx="398" cy="550"/>
                <a:chOff x="0" y="1534"/>
                <a:chExt cx="398" cy="550"/>
              </a:xfrm>
            </p:grpSpPr>
            <p:sp>
              <p:nvSpPr>
                <p:cNvPr id="293951" name="Rectangle 63"/>
                <p:cNvSpPr>
                  <a:spLocks noChangeArrowheads="1"/>
                </p:cNvSpPr>
                <p:nvPr/>
              </p:nvSpPr>
              <p:spPr bwMode="auto">
                <a:xfrm>
                  <a:off x="6" y="1540"/>
                  <a:ext cx="386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en-US" altLang="zh-CN" sz="2000">
                      <a:effectLst/>
                    </a:rPr>
                    <a:t>3</a:t>
                  </a:r>
                  <a:endParaRPr lang="en-US" altLang="zh-CN" sz="2000">
                    <a:effectLst/>
                  </a:endParaRPr>
                </a:p>
              </p:txBody>
            </p:sp>
            <p:sp>
              <p:nvSpPr>
                <p:cNvPr id="293952" name="Rectangle 64"/>
                <p:cNvSpPr>
                  <a:spLocks noChangeArrowheads="1"/>
                </p:cNvSpPr>
                <p:nvPr/>
              </p:nvSpPr>
              <p:spPr bwMode="auto">
                <a:xfrm>
                  <a:off x="0" y="1534"/>
                  <a:ext cx="398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3953" name="Group 65"/>
              <p:cNvGrpSpPr/>
              <p:nvPr/>
            </p:nvGrpSpPr>
            <p:grpSpPr bwMode="auto">
              <a:xfrm>
                <a:off x="398" y="1534"/>
                <a:ext cx="742" cy="550"/>
                <a:chOff x="398" y="1534"/>
                <a:chExt cx="742" cy="550"/>
              </a:xfrm>
            </p:grpSpPr>
            <p:sp>
              <p:nvSpPr>
                <p:cNvPr id="293954" name="Rectangle 66"/>
                <p:cNvSpPr>
                  <a:spLocks noChangeArrowheads="1"/>
                </p:cNvSpPr>
                <p:nvPr/>
              </p:nvSpPr>
              <p:spPr bwMode="auto">
                <a:xfrm>
                  <a:off x="404" y="1540"/>
                  <a:ext cx="730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en-US" altLang="zh-CN" sz="2000">
                      <a:effectLst/>
                    </a:rPr>
                    <a:t>200011010108</a:t>
                  </a:r>
                  <a:endParaRPr lang="en-US" altLang="zh-CN" sz="2000">
                    <a:effectLst/>
                  </a:endParaRPr>
                </a:p>
              </p:txBody>
            </p:sp>
            <p:sp>
              <p:nvSpPr>
                <p:cNvPr id="293955" name="Rectangle 67"/>
                <p:cNvSpPr>
                  <a:spLocks noChangeArrowheads="1"/>
                </p:cNvSpPr>
                <p:nvPr/>
              </p:nvSpPr>
              <p:spPr bwMode="auto">
                <a:xfrm>
                  <a:off x="398" y="1534"/>
                  <a:ext cx="742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3956" name="Group 68"/>
              <p:cNvGrpSpPr/>
              <p:nvPr/>
            </p:nvGrpSpPr>
            <p:grpSpPr bwMode="auto">
              <a:xfrm>
                <a:off x="1140" y="1534"/>
                <a:ext cx="416" cy="550"/>
                <a:chOff x="1140" y="1534"/>
                <a:chExt cx="416" cy="550"/>
              </a:xfrm>
            </p:grpSpPr>
            <p:sp>
              <p:nvSpPr>
                <p:cNvPr id="293957" name="Rectangle 69"/>
                <p:cNvSpPr>
                  <a:spLocks noChangeArrowheads="1"/>
                </p:cNvSpPr>
                <p:nvPr/>
              </p:nvSpPr>
              <p:spPr bwMode="auto">
                <a:xfrm>
                  <a:off x="1146" y="1540"/>
                  <a:ext cx="404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zh-CN" altLang="en-US" sz="2000">
                      <a:effectLst/>
                    </a:rPr>
                    <a:t>李冰杰</a:t>
                  </a:r>
                  <a:endParaRPr lang="zh-CN" altLang="en-US" sz="2000">
                    <a:effectLst/>
                  </a:endParaRPr>
                </a:p>
              </p:txBody>
            </p:sp>
            <p:sp>
              <p:nvSpPr>
                <p:cNvPr id="293958" name="Rectangle 70"/>
                <p:cNvSpPr>
                  <a:spLocks noChangeArrowheads="1"/>
                </p:cNvSpPr>
                <p:nvPr/>
              </p:nvSpPr>
              <p:spPr bwMode="auto">
                <a:xfrm>
                  <a:off x="1140" y="1534"/>
                  <a:ext cx="416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3959" name="Group 71"/>
              <p:cNvGrpSpPr/>
              <p:nvPr/>
            </p:nvGrpSpPr>
            <p:grpSpPr bwMode="auto">
              <a:xfrm>
                <a:off x="1556" y="1534"/>
                <a:ext cx="405" cy="550"/>
                <a:chOff x="1556" y="1534"/>
                <a:chExt cx="405" cy="550"/>
              </a:xfrm>
            </p:grpSpPr>
            <p:sp>
              <p:nvSpPr>
                <p:cNvPr id="293960" name="Rectangle 72"/>
                <p:cNvSpPr>
                  <a:spLocks noChangeArrowheads="1"/>
                </p:cNvSpPr>
                <p:nvPr/>
              </p:nvSpPr>
              <p:spPr bwMode="auto">
                <a:xfrm>
                  <a:off x="1562" y="1540"/>
                  <a:ext cx="393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zh-CN" altLang="en-US" sz="2000">
                      <a:effectLst/>
                    </a:rPr>
                    <a:t>女</a:t>
                  </a:r>
                  <a:endParaRPr lang="zh-CN" altLang="en-US" sz="2000">
                    <a:effectLst/>
                  </a:endParaRPr>
                </a:p>
              </p:txBody>
            </p:sp>
            <p:sp>
              <p:nvSpPr>
                <p:cNvPr id="293961" name="Rectangle 73"/>
                <p:cNvSpPr>
                  <a:spLocks noChangeArrowheads="1"/>
                </p:cNvSpPr>
                <p:nvPr/>
              </p:nvSpPr>
              <p:spPr bwMode="auto">
                <a:xfrm>
                  <a:off x="1556" y="1534"/>
                  <a:ext cx="405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3962" name="Group 74"/>
              <p:cNvGrpSpPr/>
              <p:nvPr/>
            </p:nvGrpSpPr>
            <p:grpSpPr bwMode="auto">
              <a:xfrm>
                <a:off x="1961" y="1534"/>
                <a:ext cx="405" cy="550"/>
                <a:chOff x="1961" y="1534"/>
                <a:chExt cx="405" cy="550"/>
              </a:xfrm>
            </p:grpSpPr>
            <p:sp>
              <p:nvSpPr>
                <p:cNvPr id="293963" name="Rectangle 75"/>
                <p:cNvSpPr>
                  <a:spLocks noChangeArrowheads="1"/>
                </p:cNvSpPr>
                <p:nvPr/>
              </p:nvSpPr>
              <p:spPr bwMode="auto">
                <a:xfrm>
                  <a:off x="1967" y="1540"/>
                  <a:ext cx="393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en-US" altLang="zh-CN" sz="2000">
                      <a:solidFill>
                        <a:srgbClr val="0000FF"/>
                      </a:solidFill>
                      <a:effectLst/>
                    </a:rPr>
                    <a:t>96</a:t>
                  </a:r>
                  <a:endParaRPr lang="en-US" altLang="zh-CN" sz="2000">
                    <a:effectLst/>
                  </a:endParaRPr>
                </a:p>
              </p:txBody>
            </p:sp>
            <p:sp>
              <p:nvSpPr>
                <p:cNvPr id="293964" name="Rectangle 76"/>
                <p:cNvSpPr>
                  <a:spLocks noChangeArrowheads="1"/>
                </p:cNvSpPr>
                <p:nvPr/>
              </p:nvSpPr>
              <p:spPr bwMode="auto">
                <a:xfrm>
                  <a:off x="1961" y="1534"/>
                  <a:ext cx="405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3965" name="Group 77"/>
              <p:cNvGrpSpPr/>
              <p:nvPr/>
            </p:nvGrpSpPr>
            <p:grpSpPr bwMode="auto">
              <a:xfrm>
                <a:off x="0" y="2090"/>
                <a:ext cx="398" cy="550"/>
                <a:chOff x="0" y="2090"/>
                <a:chExt cx="398" cy="550"/>
              </a:xfrm>
            </p:grpSpPr>
            <p:sp>
              <p:nvSpPr>
                <p:cNvPr id="293966" name="Rectangle 78"/>
                <p:cNvSpPr>
                  <a:spLocks noChangeArrowheads="1"/>
                </p:cNvSpPr>
                <p:nvPr/>
              </p:nvSpPr>
              <p:spPr bwMode="auto">
                <a:xfrm>
                  <a:off x="6" y="2096"/>
                  <a:ext cx="386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en-US" altLang="zh-CN" sz="2000">
                      <a:effectLst/>
                    </a:rPr>
                    <a:t>4</a:t>
                  </a:r>
                  <a:endParaRPr lang="en-US" altLang="zh-CN" sz="2000">
                    <a:effectLst/>
                  </a:endParaRPr>
                </a:p>
              </p:txBody>
            </p:sp>
            <p:sp>
              <p:nvSpPr>
                <p:cNvPr id="293967" name="Rectangle 79"/>
                <p:cNvSpPr>
                  <a:spLocks noChangeArrowheads="1"/>
                </p:cNvSpPr>
                <p:nvPr/>
              </p:nvSpPr>
              <p:spPr bwMode="auto">
                <a:xfrm>
                  <a:off x="0" y="2090"/>
                  <a:ext cx="398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3968" name="Group 80"/>
              <p:cNvGrpSpPr/>
              <p:nvPr/>
            </p:nvGrpSpPr>
            <p:grpSpPr bwMode="auto">
              <a:xfrm>
                <a:off x="398" y="2090"/>
                <a:ext cx="742" cy="550"/>
                <a:chOff x="398" y="2090"/>
                <a:chExt cx="742" cy="550"/>
              </a:xfrm>
            </p:grpSpPr>
            <p:sp>
              <p:nvSpPr>
                <p:cNvPr id="293969" name="Rectangle 81"/>
                <p:cNvSpPr>
                  <a:spLocks noChangeArrowheads="1"/>
                </p:cNvSpPr>
                <p:nvPr/>
              </p:nvSpPr>
              <p:spPr bwMode="auto">
                <a:xfrm>
                  <a:off x="404" y="2096"/>
                  <a:ext cx="730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en-US" altLang="zh-CN" sz="2000">
                      <a:effectLst/>
                    </a:rPr>
                    <a:t>200011010113</a:t>
                  </a:r>
                  <a:endParaRPr lang="en-US" altLang="zh-CN" sz="2000">
                    <a:effectLst/>
                  </a:endParaRPr>
                </a:p>
              </p:txBody>
            </p:sp>
            <p:sp>
              <p:nvSpPr>
                <p:cNvPr id="293970" name="Rectangle 82"/>
                <p:cNvSpPr>
                  <a:spLocks noChangeArrowheads="1"/>
                </p:cNvSpPr>
                <p:nvPr/>
              </p:nvSpPr>
              <p:spPr bwMode="auto">
                <a:xfrm>
                  <a:off x="398" y="2090"/>
                  <a:ext cx="742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3971" name="Group 83"/>
              <p:cNvGrpSpPr/>
              <p:nvPr/>
            </p:nvGrpSpPr>
            <p:grpSpPr bwMode="auto">
              <a:xfrm>
                <a:off x="1140" y="2090"/>
                <a:ext cx="416" cy="550"/>
                <a:chOff x="1140" y="2090"/>
                <a:chExt cx="416" cy="550"/>
              </a:xfrm>
            </p:grpSpPr>
            <p:sp>
              <p:nvSpPr>
                <p:cNvPr id="293972" name="Rectangle 84"/>
                <p:cNvSpPr>
                  <a:spLocks noChangeArrowheads="1"/>
                </p:cNvSpPr>
                <p:nvPr/>
              </p:nvSpPr>
              <p:spPr bwMode="auto">
                <a:xfrm>
                  <a:off x="1146" y="2096"/>
                  <a:ext cx="404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zh-CN" altLang="en-US" sz="2000">
                      <a:effectLst/>
                    </a:rPr>
                    <a:t>韩寒</a:t>
                  </a:r>
                  <a:endParaRPr lang="zh-CN" altLang="en-US" sz="2000">
                    <a:effectLst/>
                  </a:endParaRPr>
                </a:p>
              </p:txBody>
            </p:sp>
            <p:sp>
              <p:nvSpPr>
                <p:cNvPr id="293973" name="Rectangle 85"/>
                <p:cNvSpPr>
                  <a:spLocks noChangeArrowheads="1"/>
                </p:cNvSpPr>
                <p:nvPr/>
              </p:nvSpPr>
              <p:spPr bwMode="auto">
                <a:xfrm>
                  <a:off x="1140" y="2090"/>
                  <a:ext cx="416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3974" name="Group 86"/>
              <p:cNvGrpSpPr/>
              <p:nvPr/>
            </p:nvGrpSpPr>
            <p:grpSpPr bwMode="auto">
              <a:xfrm>
                <a:off x="1556" y="2090"/>
                <a:ext cx="405" cy="550"/>
                <a:chOff x="1556" y="2090"/>
                <a:chExt cx="405" cy="550"/>
              </a:xfrm>
            </p:grpSpPr>
            <p:sp>
              <p:nvSpPr>
                <p:cNvPr id="293975" name="Rectangle 87"/>
                <p:cNvSpPr>
                  <a:spLocks noChangeArrowheads="1"/>
                </p:cNvSpPr>
                <p:nvPr/>
              </p:nvSpPr>
              <p:spPr bwMode="auto">
                <a:xfrm>
                  <a:off x="1562" y="2096"/>
                  <a:ext cx="393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zh-CN" altLang="en-US" sz="2000">
                      <a:effectLst/>
                    </a:rPr>
                    <a:t>男</a:t>
                  </a:r>
                  <a:endParaRPr lang="zh-CN" altLang="en-US" sz="2000">
                    <a:effectLst/>
                  </a:endParaRPr>
                </a:p>
              </p:txBody>
            </p:sp>
            <p:sp>
              <p:nvSpPr>
                <p:cNvPr id="293976" name="Rectangle 88"/>
                <p:cNvSpPr>
                  <a:spLocks noChangeArrowheads="1"/>
                </p:cNvSpPr>
                <p:nvPr/>
              </p:nvSpPr>
              <p:spPr bwMode="auto">
                <a:xfrm>
                  <a:off x="1556" y="2090"/>
                  <a:ext cx="405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3977" name="Group 89"/>
              <p:cNvGrpSpPr/>
              <p:nvPr/>
            </p:nvGrpSpPr>
            <p:grpSpPr bwMode="auto">
              <a:xfrm>
                <a:off x="1961" y="2090"/>
                <a:ext cx="405" cy="550"/>
                <a:chOff x="1961" y="2090"/>
                <a:chExt cx="405" cy="550"/>
              </a:xfrm>
            </p:grpSpPr>
            <p:sp>
              <p:nvSpPr>
                <p:cNvPr id="293978" name="Rectangle 90"/>
                <p:cNvSpPr>
                  <a:spLocks noChangeArrowheads="1"/>
                </p:cNvSpPr>
                <p:nvPr/>
              </p:nvSpPr>
              <p:spPr bwMode="auto">
                <a:xfrm>
                  <a:off x="1967" y="2096"/>
                  <a:ext cx="393" cy="5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r>
                    <a:rPr lang="en-US" altLang="zh-CN" sz="2000">
                      <a:solidFill>
                        <a:srgbClr val="0000FF"/>
                      </a:solidFill>
                      <a:effectLst/>
                    </a:rPr>
                    <a:t>90</a:t>
                  </a:r>
                  <a:endParaRPr lang="en-US" altLang="zh-CN" sz="2000">
                    <a:effectLst/>
                  </a:endParaRPr>
                </a:p>
              </p:txBody>
            </p:sp>
            <p:sp>
              <p:nvSpPr>
                <p:cNvPr id="293979" name="Rectangle 91"/>
                <p:cNvSpPr>
                  <a:spLocks noChangeArrowheads="1"/>
                </p:cNvSpPr>
                <p:nvPr/>
              </p:nvSpPr>
              <p:spPr bwMode="auto">
                <a:xfrm>
                  <a:off x="1961" y="2090"/>
                  <a:ext cx="405" cy="55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93980" name="Rectangle 92"/>
            <p:cNvSpPr>
              <a:spLocks noChangeArrowheads="1"/>
            </p:cNvSpPr>
            <p:nvPr/>
          </p:nvSpPr>
          <p:spPr bwMode="auto">
            <a:xfrm>
              <a:off x="-3" y="-3"/>
              <a:ext cx="2372" cy="2646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strips dir="r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294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2209800"/>
            <a:ext cx="8534400" cy="1600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zh-CN" sz="400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4000"/>
              <a:t>数据    数据对象    数据元素    数据项</a:t>
            </a:r>
            <a:endParaRPr lang="zh-CN" altLang="en-US" sz="4000"/>
          </a:p>
        </p:txBody>
      </p:sp>
      <p:sp>
        <p:nvSpPr>
          <p:cNvPr id="294916" name="AutoShape 4"/>
          <p:cNvSpPr>
            <a:spLocks noChangeArrowheads="1"/>
          </p:cNvSpPr>
          <p:nvPr/>
        </p:nvSpPr>
        <p:spPr bwMode="auto">
          <a:xfrm rot="5346995">
            <a:off x="1295400" y="2665413"/>
            <a:ext cx="381000" cy="1143000"/>
          </a:xfrm>
          <a:custGeom>
            <a:avLst/>
            <a:gdLst>
              <a:gd name="G0" fmla="+- 6156 0 0"/>
              <a:gd name="G1" fmla="+- 11625032 0 0"/>
              <a:gd name="G2" fmla="+- 0 0 11625032"/>
              <a:gd name="T0" fmla="*/ 0 256 1"/>
              <a:gd name="T1" fmla="*/ 180 256 1"/>
              <a:gd name="G3" fmla="+- 11625032 T0 T1"/>
              <a:gd name="T2" fmla="*/ 0 256 1"/>
              <a:gd name="T3" fmla="*/ 90 256 1"/>
              <a:gd name="G4" fmla="+- 11625032 T2 T3"/>
              <a:gd name="G5" fmla="*/ G4 2 1"/>
              <a:gd name="T4" fmla="*/ 90 256 1"/>
              <a:gd name="T5" fmla="*/ 0 256 1"/>
              <a:gd name="G6" fmla="+- 11625032 T4 T5"/>
              <a:gd name="G7" fmla="*/ G6 2 1"/>
              <a:gd name="G8" fmla="abs 1162503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6156"/>
              <a:gd name="G18" fmla="*/ 6156 1 2"/>
              <a:gd name="G19" fmla="+- G18 5400 0"/>
              <a:gd name="G20" fmla="cos G19 11625032"/>
              <a:gd name="G21" fmla="sin G19 11625032"/>
              <a:gd name="G22" fmla="+- G20 10800 0"/>
              <a:gd name="G23" fmla="+- G21 10800 0"/>
              <a:gd name="G24" fmla="+- 10800 0 G20"/>
              <a:gd name="G25" fmla="+- 6156 10800 0"/>
              <a:gd name="G26" fmla="?: G9 G17 G25"/>
              <a:gd name="G27" fmla="?: G9 0 21600"/>
              <a:gd name="G28" fmla="cos 10800 11625032"/>
              <a:gd name="G29" fmla="sin 10800 11625032"/>
              <a:gd name="G30" fmla="sin 6156 11625032"/>
              <a:gd name="G31" fmla="+- G28 10800 0"/>
              <a:gd name="G32" fmla="+- G29 10800 0"/>
              <a:gd name="G33" fmla="+- G30 10800 0"/>
              <a:gd name="G34" fmla="?: G4 0 G31"/>
              <a:gd name="G35" fmla="?: 11625032 G34 0"/>
              <a:gd name="G36" fmla="?: G6 G35 G31"/>
              <a:gd name="G37" fmla="+- 21600 0 G36"/>
              <a:gd name="G38" fmla="?: G4 0 G33"/>
              <a:gd name="G39" fmla="?: 1162503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2330 w 21600"/>
              <a:gd name="T15" fmla="*/ 11186 h 21600"/>
              <a:gd name="T16" fmla="*/ 10800 w 21600"/>
              <a:gd name="T17" fmla="*/ 4644 h 21600"/>
              <a:gd name="T18" fmla="*/ 19270 w 21600"/>
              <a:gd name="T19" fmla="*/ 11186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4650" y="11080"/>
                </a:moveTo>
                <a:cubicBezTo>
                  <a:pt x="4646" y="10987"/>
                  <a:pt x="4644" y="10893"/>
                  <a:pt x="4644" y="10800"/>
                </a:cubicBezTo>
                <a:cubicBezTo>
                  <a:pt x="4644" y="7400"/>
                  <a:pt x="7400" y="4644"/>
                  <a:pt x="10800" y="4644"/>
                </a:cubicBezTo>
                <a:cubicBezTo>
                  <a:pt x="14199" y="4644"/>
                  <a:pt x="16956" y="7400"/>
                  <a:pt x="16956" y="10800"/>
                </a:cubicBezTo>
                <a:cubicBezTo>
                  <a:pt x="16956" y="10893"/>
                  <a:pt x="16953" y="10987"/>
                  <a:pt x="16949" y="11080"/>
                </a:cubicBezTo>
                <a:lnTo>
                  <a:pt x="21588" y="11292"/>
                </a:lnTo>
                <a:cubicBezTo>
                  <a:pt x="21596" y="11128"/>
                  <a:pt x="21600" y="109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-1" y="10964"/>
                  <a:pt x="3" y="11128"/>
                  <a:pt x="11" y="11292"/>
                </a:cubicBezTo>
                <a:close/>
              </a:path>
            </a:pathLst>
          </a:custGeom>
          <a:solidFill>
            <a:srgbClr val="CC00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4917" name="AutoShape 5"/>
          <p:cNvSpPr>
            <a:spLocks noChangeArrowheads="1"/>
          </p:cNvSpPr>
          <p:nvPr/>
        </p:nvSpPr>
        <p:spPr bwMode="auto">
          <a:xfrm rot="5346995">
            <a:off x="3886200" y="2743200"/>
            <a:ext cx="381000" cy="1143000"/>
          </a:xfrm>
          <a:custGeom>
            <a:avLst/>
            <a:gdLst>
              <a:gd name="G0" fmla="+- 6156 0 0"/>
              <a:gd name="G1" fmla="+- 11625032 0 0"/>
              <a:gd name="G2" fmla="+- 0 0 11625032"/>
              <a:gd name="T0" fmla="*/ 0 256 1"/>
              <a:gd name="T1" fmla="*/ 180 256 1"/>
              <a:gd name="G3" fmla="+- 11625032 T0 T1"/>
              <a:gd name="T2" fmla="*/ 0 256 1"/>
              <a:gd name="T3" fmla="*/ 90 256 1"/>
              <a:gd name="G4" fmla="+- 11625032 T2 T3"/>
              <a:gd name="G5" fmla="*/ G4 2 1"/>
              <a:gd name="T4" fmla="*/ 90 256 1"/>
              <a:gd name="T5" fmla="*/ 0 256 1"/>
              <a:gd name="G6" fmla="+- 11625032 T4 T5"/>
              <a:gd name="G7" fmla="*/ G6 2 1"/>
              <a:gd name="G8" fmla="abs 1162503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6156"/>
              <a:gd name="G18" fmla="*/ 6156 1 2"/>
              <a:gd name="G19" fmla="+- G18 5400 0"/>
              <a:gd name="G20" fmla="cos G19 11625032"/>
              <a:gd name="G21" fmla="sin G19 11625032"/>
              <a:gd name="G22" fmla="+- G20 10800 0"/>
              <a:gd name="G23" fmla="+- G21 10800 0"/>
              <a:gd name="G24" fmla="+- 10800 0 G20"/>
              <a:gd name="G25" fmla="+- 6156 10800 0"/>
              <a:gd name="G26" fmla="?: G9 G17 G25"/>
              <a:gd name="G27" fmla="?: G9 0 21600"/>
              <a:gd name="G28" fmla="cos 10800 11625032"/>
              <a:gd name="G29" fmla="sin 10800 11625032"/>
              <a:gd name="G30" fmla="sin 6156 11625032"/>
              <a:gd name="G31" fmla="+- G28 10800 0"/>
              <a:gd name="G32" fmla="+- G29 10800 0"/>
              <a:gd name="G33" fmla="+- G30 10800 0"/>
              <a:gd name="G34" fmla="?: G4 0 G31"/>
              <a:gd name="G35" fmla="?: 11625032 G34 0"/>
              <a:gd name="G36" fmla="?: G6 G35 G31"/>
              <a:gd name="G37" fmla="+- 21600 0 G36"/>
              <a:gd name="G38" fmla="?: G4 0 G33"/>
              <a:gd name="G39" fmla="?: 1162503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2330 w 21600"/>
              <a:gd name="T15" fmla="*/ 11186 h 21600"/>
              <a:gd name="T16" fmla="*/ 10800 w 21600"/>
              <a:gd name="T17" fmla="*/ 4644 h 21600"/>
              <a:gd name="T18" fmla="*/ 19270 w 21600"/>
              <a:gd name="T19" fmla="*/ 11186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4650" y="11080"/>
                </a:moveTo>
                <a:cubicBezTo>
                  <a:pt x="4646" y="10987"/>
                  <a:pt x="4644" y="10893"/>
                  <a:pt x="4644" y="10800"/>
                </a:cubicBezTo>
                <a:cubicBezTo>
                  <a:pt x="4644" y="7400"/>
                  <a:pt x="7400" y="4644"/>
                  <a:pt x="10800" y="4644"/>
                </a:cubicBezTo>
                <a:cubicBezTo>
                  <a:pt x="14199" y="4644"/>
                  <a:pt x="16956" y="7400"/>
                  <a:pt x="16956" y="10800"/>
                </a:cubicBezTo>
                <a:cubicBezTo>
                  <a:pt x="16956" y="10893"/>
                  <a:pt x="16953" y="10987"/>
                  <a:pt x="16949" y="11080"/>
                </a:cubicBezTo>
                <a:lnTo>
                  <a:pt x="21588" y="11292"/>
                </a:lnTo>
                <a:cubicBezTo>
                  <a:pt x="21596" y="11128"/>
                  <a:pt x="21600" y="109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-1" y="10964"/>
                  <a:pt x="3" y="11128"/>
                  <a:pt x="11" y="11292"/>
                </a:cubicBezTo>
                <a:close/>
              </a:path>
            </a:pathLst>
          </a:custGeom>
          <a:solidFill>
            <a:srgbClr val="CC00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4918" name="AutoShape 6"/>
          <p:cNvSpPr>
            <a:spLocks noChangeArrowheads="1"/>
          </p:cNvSpPr>
          <p:nvPr/>
        </p:nvSpPr>
        <p:spPr bwMode="auto">
          <a:xfrm rot="5346995">
            <a:off x="6477000" y="2743200"/>
            <a:ext cx="381000" cy="1143000"/>
          </a:xfrm>
          <a:custGeom>
            <a:avLst/>
            <a:gdLst>
              <a:gd name="G0" fmla="+- 6156 0 0"/>
              <a:gd name="G1" fmla="+- 11625032 0 0"/>
              <a:gd name="G2" fmla="+- 0 0 11625032"/>
              <a:gd name="T0" fmla="*/ 0 256 1"/>
              <a:gd name="T1" fmla="*/ 180 256 1"/>
              <a:gd name="G3" fmla="+- 11625032 T0 T1"/>
              <a:gd name="T2" fmla="*/ 0 256 1"/>
              <a:gd name="T3" fmla="*/ 90 256 1"/>
              <a:gd name="G4" fmla="+- 11625032 T2 T3"/>
              <a:gd name="G5" fmla="*/ G4 2 1"/>
              <a:gd name="T4" fmla="*/ 90 256 1"/>
              <a:gd name="T5" fmla="*/ 0 256 1"/>
              <a:gd name="G6" fmla="+- 11625032 T4 T5"/>
              <a:gd name="G7" fmla="*/ G6 2 1"/>
              <a:gd name="G8" fmla="abs 1162503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6156"/>
              <a:gd name="G18" fmla="*/ 6156 1 2"/>
              <a:gd name="G19" fmla="+- G18 5400 0"/>
              <a:gd name="G20" fmla="cos G19 11625032"/>
              <a:gd name="G21" fmla="sin G19 11625032"/>
              <a:gd name="G22" fmla="+- G20 10800 0"/>
              <a:gd name="G23" fmla="+- G21 10800 0"/>
              <a:gd name="G24" fmla="+- 10800 0 G20"/>
              <a:gd name="G25" fmla="+- 6156 10800 0"/>
              <a:gd name="G26" fmla="?: G9 G17 G25"/>
              <a:gd name="G27" fmla="?: G9 0 21600"/>
              <a:gd name="G28" fmla="cos 10800 11625032"/>
              <a:gd name="G29" fmla="sin 10800 11625032"/>
              <a:gd name="G30" fmla="sin 6156 11625032"/>
              <a:gd name="G31" fmla="+- G28 10800 0"/>
              <a:gd name="G32" fmla="+- G29 10800 0"/>
              <a:gd name="G33" fmla="+- G30 10800 0"/>
              <a:gd name="G34" fmla="?: G4 0 G31"/>
              <a:gd name="G35" fmla="?: 11625032 G34 0"/>
              <a:gd name="G36" fmla="?: G6 G35 G31"/>
              <a:gd name="G37" fmla="+- 21600 0 G36"/>
              <a:gd name="G38" fmla="?: G4 0 G33"/>
              <a:gd name="G39" fmla="?: 1162503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2330 w 21600"/>
              <a:gd name="T15" fmla="*/ 11186 h 21600"/>
              <a:gd name="T16" fmla="*/ 10800 w 21600"/>
              <a:gd name="T17" fmla="*/ 4644 h 21600"/>
              <a:gd name="T18" fmla="*/ 19270 w 21600"/>
              <a:gd name="T19" fmla="*/ 11186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4650" y="11080"/>
                </a:moveTo>
                <a:cubicBezTo>
                  <a:pt x="4646" y="10987"/>
                  <a:pt x="4644" y="10893"/>
                  <a:pt x="4644" y="10800"/>
                </a:cubicBezTo>
                <a:cubicBezTo>
                  <a:pt x="4644" y="7400"/>
                  <a:pt x="7400" y="4644"/>
                  <a:pt x="10800" y="4644"/>
                </a:cubicBezTo>
                <a:cubicBezTo>
                  <a:pt x="14199" y="4644"/>
                  <a:pt x="16956" y="7400"/>
                  <a:pt x="16956" y="10800"/>
                </a:cubicBezTo>
                <a:cubicBezTo>
                  <a:pt x="16956" y="10893"/>
                  <a:pt x="16953" y="10987"/>
                  <a:pt x="16949" y="11080"/>
                </a:cubicBezTo>
                <a:lnTo>
                  <a:pt x="21588" y="11292"/>
                </a:lnTo>
                <a:cubicBezTo>
                  <a:pt x="21596" y="11128"/>
                  <a:pt x="21600" y="109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-1" y="10964"/>
                  <a:pt x="3" y="11128"/>
                  <a:pt x="11" y="11292"/>
                </a:cubicBezTo>
                <a:close/>
              </a:path>
            </a:pathLst>
          </a:custGeom>
          <a:solidFill>
            <a:srgbClr val="CC00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strips dir="r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34925" y="115888"/>
            <a:ext cx="9109075" cy="762000"/>
          </a:xfrm>
        </p:spPr>
        <p:txBody>
          <a:bodyPr/>
          <a:lstStyle/>
          <a:p>
            <a:pPr>
              <a:defRPr/>
            </a:pPr>
            <a:r>
              <a:rPr sz="4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数据结构</a:t>
            </a:r>
            <a:endParaRPr sz="400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36562" y="1844824"/>
            <a:ext cx="8305800" cy="2245386"/>
          </a:xfrm>
          <a:prstGeom prst="rect">
            <a:avLst/>
          </a:prstGeom>
          <a:solidFill>
            <a:srgbClr val="CC0099"/>
          </a:solidFill>
          <a:ln>
            <a:noFill/>
          </a:ln>
          <a:effectLst>
            <a:outerShdw dist="107763" dir="18900000" algn="ctr" rotWithShape="0">
              <a:srgbClr val="80808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800" b="1">
                <a:solidFill>
                  <a:srgbClr val="000099"/>
                </a:solidFill>
                <a:latin typeface="+mn-lt"/>
                <a:ea typeface="楷体_GB2312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400" b="1">
                <a:solidFill>
                  <a:srgbClr val="000099"/>
                </a:solidFill>
                <a:latin typeface="+mn-lt"/>
                <a:ea typeface="楷体_GB2312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 b="1">
                <a:solidFill>
                  <a:srgbClr val="000099"/>
                </a:solidFill>
                <a:latin typeface="+mn-lt"/>
                <a:ea typeface="楷体_GB2312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b="1">
                <a:solidFill>
                  <a:srgbClr val="000099"/>
                </a:solidFill>
                <a:latin typeface="+mn-lt"/>
                <a:ea typeface="楷体_GB2312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+mn-lt"/>
                <a:ea typeface="楷体_GB231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kern="0" dirty="0">
                <a:solidFill>
                  <a:schemeClr val="bg1"/>
                </a:solidFill>
              </a:rPr>
              <a:t>   </a:t>
            </a:r>
            <a:r>
              <a:rPr lang="en-US" altLang="zh-CN" sz="3600" kern="0" dirty="0">
                <a:solidFill>
                  <a:schemeClr val="bg1"/>
                </a:solidFill>
              </a:rPr>
              <a:t>------</a:t>
            </a:r>
            <a:r>
              <a:rPr lang="zh-CN" altLang="en-US" sz="3600" kern="0" dirty="0">
                <a:solidFill>
                  <a:schemeClr val="bg1"/>
                </a:solidFill>
              </a:rPr>
              <a:t>是相互之间存在一种或多种</a:t>
            </a:r>
            <a:r>
              <a:rPr lang="zh-CN" altLang="en-US" sz="3600" kern="0" dirty="0">
                <a:solidFill>
                  <a:srgbClr val="FFFF00"/>
                </a:solidFill>
              </a:rPr>
              <a:t>特定关系</a:t>
            </a:r>
            <a:r>
              <a:rPr lang="zh-CN" altLang="en-US" sz="3600" kern="0" dirty="0">
                <a:solidFill>
                  <a:schemeClr val="bg1"/>
                </a:solidFill>
              </a:rPr>
              <a:t>的数据元素的集合。或指同一数据元素类中各数据元素之间存在的关系</a:t>
            </a:r>
            <a:r>
              <a:rPr lang="zh-CN" altLang="en-US" sz="4000" kern="0" dirty="0">
                <a:solidFill>
                  <a:schemeClr val="bg1"/>
                </a:solidFill>
              </a:rPr>
              <a:t>。</a:t>
            </a:r>
            <a:endParaRPr lang="zh-CN" altLang="en-US" sz="4000" kern="0" dirty="0">
              <a:solidFill>
                <a:schemeClr val="bg1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4000" kern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strips dir="r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zh-CN" dirty="0"/>
              <a:t>我们如何把现实中大量而复杂的问题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以特定的数据类型（单个</a:t>
            </a:r>
            <a:r>
              <a:rPr lang="zh-CN" altLang="zh-CN" dirty="0">
                <a:solidFill>
                  <a:srgbClr val="FF0000"/>
                </a:solidFill>
              </a:rPr>
              <a:t>数据</a:t>
            </a:r>
            <a:r>
              <a:rPr lang="zh-CN" altLang="zh-CN" dirty="0"/>
              <a:t>怎样存储？）和特定的存储结构（个体的</a:t>
            </a:r>
            <a:r>
              <a:rPr lang="zh-CN" altLang="zh-CN" dirty="0">
                <a:solidFill>
                  <a:srgbClr val="FF0000"/>
                </a:solidFill>
              </a:rPr>
              <a:t>关系</a:t>
            </a:r>
            <a:r>
              <a:rPr lang="zh-CN" altLang="zh-CN" dirty="0"/>
              <a:t>）保存到主存储器（内存）中，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以及在此基础上为实现某个功能</a:t>
            </a:r>
            <a:r>
              <a:rPr lang="zh-CN" altLang="en-US" dirty="0"/>
              <a:t>（</a:t>
            </a:r>
            <a:r>
              <a:rPr lang="zh-CN" altLang="zh-CN" dirty="0"/>
              <a:t>比如查找</a:t>
            </a:r>
            <a:r>
              <a:rPr lang="zh-CN" altLang="en-US" dirty="0"/>
              <a:t>、</a:t>
            </a:r>
            <a:r>
              <a:rPr lang="zh-CN" altLang="zh-CN" dirty="0"/>
              <a:t>删除某个元素，对所有元素进行排序）而执行的相应</a:t>
            </a:r>
            <a:r>
              <a:rPr lang="zh-CN" altLang="zh-CN" dirty="0">
                <a:solidFill>
                  <a:srgbClr val="FF0000"/>
                </a:solidFill>
              </a:rPr>
              <a:t>操作</a:t>
            </a:r>
            <a:r>
              <a:rPr lang="zh-CN" altLang="zh-CN" dirty="0"/>
              <a:t>，这个相应的操作也叫算法。</a:t>
            </a:r>
            <a:endParaRPr lang="en-US" altLang="zh-CN" dirty="0"/>
          </a:p>
          <a:p>
            <a:pPr marL="0" indent="0" algn="r">
              <a:buNone/>
            </a:pPr>
            <a:r>
              <a:rPr lang="en-US" altLang="zh-CN" dirty="0"/>
              <a:t>--</a:t>
            </a:r>
            <a:r>
              <a:rPr lang="zh-CN" altLang="en-US" dirty="0"/>
              <a:t>郝斌</a:t>
            </a:r>
            <a:endParaRPr lang="zh-CN" altLang="en-US" dirty="0"/>
          </a:p>
        </p:txBody>
      </p:sp>
    </p:spTree>
  </p:cSld>
  <p:clrMapOvr>
    <a:masterClrMapping/>
  </p:clrMapOvr>
  <p:transition>
    <p:strips dir="r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Text Box 2"/>
          <p:cNvSpPr txBox="1">
            <a:spLocks noChangeArrowheads="1"/>
          </p:cNvSpPr>
          <p:nvPr/>
        </p:nvSpPr>
        <p:spPr bwMode="auto">
          <a:xfrm>
            <a:off x="609601" y="1600200"/>
            <a:ext cx="8172450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b="1" dirty="0">
                <a:effectLst/>
                <a:latin typeface="隶书" panose="02010509060101010101" pitchFamily="49" charset="-122"/>
                <a:ea typeface="隶书" panose="02010509060101010101" pitchFamily="49" charset="-122"/>
              </a:rPr>
              <a:t>数据结构</a:t>
            </a:r>
            <a:r>
              <a:rPr lang="zh-CN" altLang="en-US" sz="3600" dirty="0">
                <a:effectLst/>
                <a:latin typeface="楷体_GB2312" pitchFamily="49" charset="-122"/>
              </a:rPr>
              <a:t>是一个二元组，</a:t>
            </a:r>
            <a:r>
              <a:rPr lang="zh-CN" altLang="en-US" sz="3600" dirty="0">
                <a:ea typeface="仿宋_GB2312"/>
                <a:cs typeface="仿宋_GB2312"/>
              </a:rPr>
              <a:t>由某一数据元素的集合及该集合中所有数据元素之间的关系组成</a:t>
            </a:r>
            <a:endParaRPr lang="zh-CN" altLang="en-US" sz="3600" dirty="0">
              <a:ea typeface="仿宋_GB2312"/>
              <a:cs typeface="仿宋_GB2312"/>
            </a:endParaRPr>
          </a:p>
          <a:p>
            <a:pPr algn="l"/>
            <a:r>
              <a:rPr lang="zh-CN" altLang="en-US" sz="3600" dirty="0">
                <a:effectLst/>
                <a:latin typeface="楷体_GB2312" pitchFamily="49" charset="-122"/>
              </a:rPr>
              <a:t> </a:t>
            </a:r>
            <a:endParaRPr lang="zh-CN" altLang="en-US" sz="2800" dirty="0"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987" name="Text Box 3"/>
          <p:cNvSpPr txBox="1">
            <a:spLocks noChangeArrowheads="1"/>
          </p:cNvSpPr>
          <p:nvPr/>
        </p:nvSpPr>
        <p:spPr bwMode="auto">
          <a:xfrm>
            <a:off x="899592" y="3559696"/>
            <a:ext cx="6678560" cy="830997"/>
          </a:xfrm>
          <a:prstGeom prst="rect">
            <a:avLst/>
          </a:prstGeom>
          <a:solidFill>
            <a:srgbClr val="CC0099"/>
          </a:solidFill>
          <a:ln>
            <a:noFill/>
          </a:ln>
          <a:effectLst>
            <a:prstShdw prst="shdw13" dist="53882" dir="13500000">
              <a:schemeClr val="bg2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4800" dirty="0" err="1">
                <a:solidFill>
                  <a:schemeClr val="bg1"/>
                </a:solidFill>
                <a:effectLst/>
                <a:ea typeface="楷体_GB2312" pitchFamily="49" charset="-122"/>
              </a:rPr>
              <a:t>Data_Structures</a:t>
            </a:r>
            <a:r>
              <a:rPr lang="en-US" altLang="zh-CN" sz="4800" dirty="0">
                <a:solidFill>
                  <a:schemeClr val="bg1"/>
                </a:solidFill>
                <a:effectLst/>
                <a:ea typeface="楷体_GB2312" pitchFamily="49" charset="-122"/>
              </a:rPr>
              <a:t> = (D, S)</a:t>
            </a:r>
            <a:endParaRPr lang="en-US" altLang="zh-CN" sz="3600" dirty="0">
              <a:solidFill>
                <a:schemeClr val="bg1"/>
              </a:solidFill>
              <a:effectLst/>
              <a:ea typeface="楷体_GB2312" pitchFamily="49" charset="-122"/>
            </a:endParaRPr>
          </a:p>
        </p:txBody>
      </p:sp>
      <p:sp>
        <p:nvSpPr>
          <p:cNvPr id="297988" name="Text Box 4"/>
          <p:cNvSpPr txBox="1">
            <a:spLocks noChangeArrowheads="1"/>
          </p:cNvSpPr>
          <p:nvPr/>
        </p:nvSpPr>
        <p:spPr bwMode="auto">
          <a:xfrm>
            <a:off x="533400" y="3581400"/>
            <a:ext cx="7848600" cy="2505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40000"/>
              </a:lnSpc>
            </a:pPr>
            <a:endParaRPr lang="en-US" altLang="zh-CN" sz="3600" dirty="0">
              <a:effectLst/>
              <a:latin typeface="楷体_GB2312" pitchFamily="49" charset="-122"/>
              <a:ea typeface="楷体_GB2312" pitchFamily="49" charset="-122"/>
            </a:endParaRPr>
          </a:p>
          <a:p>
            <a:pPr algn="l">
              <a:lnSpc>
                <a:spcPct val="140000"/>
              </a:lnSpc>
            </a:pPr>
            <a:r>
              <a:rPr lang="zh-CN" altLang="en-US" sz="3200" dirty="0">
                <a:effectLst/>
                <a:latin typeface="楷体_GB2312" pitchFamily="49" charset="-122"/>
                <a:ea typeface="楷体_GB2312" pitchFamily="49" charset="-122"/>
              </a:rPr>
              <a:t>其中</a:t>
            </a:r>
            <a:r>
              <a:rPr lang="en-US" altLang="zh-CN" sz="3600" dirty="0">
                <a:effectLst/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en-US" altLang="zh-CN" sz="3200" dirty="0">
                <a:effectLst/>
                <a:ea typeface="楷体_GB2312" pitchFamily="49" charset="-122"/>
              </a:rPr>
              <a:t>D </a:t>
            </a:r>
            <a:r>
              <a:rPr lang="zh-CN" altLang="en-US" sz="3200" dirty="0">
                <a:effectLst/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zh-CN" altLang="en-US" sz="3200" b="1" dirty="0">
                <a:solidFill>
                  <a:srgbClr val="800000"/>
                </a:solidFill>
                <a:effectLst/>
                <a:latin typeface="楷体_GB2312" pitchFamily="49" charset="-122"/>
                <a:ea typeface="楷体_GB2312" pitchFamily="49" charset="-122"/>
              </a:rPr>
              <a:t>数据元素的有限集</a:t>
            </a:r>
            <a:r>
              <a:rPr lang="zh-CN" altLang="en-US" dirty="0">
                <a:effectLst/>
                <a:latin typeface="楷体_GB2312" pitchFamily="49" charset="-122"/>
                <a:ea typeface="楷体_GB2312" pitchFamily="49" charset="-122"/>
              </a:rPr>
              <a:t>，</a:t>
            </a:r>
            <a:endParaRPr lang="zh-CN" altLang="en-US" sz="3600" dirty="0">
              <a:effectLst/>
              <a:latin typeface="楷体_GB2312" pitchFamily="49" charset="-122"/>
              <a:ea typeface="楷体_GB2312" pitchFamily="49" charset="-122"/>
            </a:endParaRPr>
          </a:p>
          <a:p>
            <a:pPr algn="l">
              <a:lnSpc>
                <a:spcPct val="140000"/>
              </a:lnSpc>
            </a:pPr>
            <a:r>
              <a:rPr lang="zh-CN" altLang="en-US" sz="3600" dirty="0">
                <a:effectLst/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en-US" altLang="zh-CN" sz="3200" dirty="0">
                <a:effectLst/>
                <a:ea typeface="楷体_GB2312" pitchFamily="49" charset="-122"/>
              </a:rPr>
              <a:t>S </a:t>
            </a:r>
            <a:r>
              <a:rPr lang="zh-CN" altLang="en-US" sz="3200" dirty="0">
                <a:effectLst/>
                <a:ea typeface="楷体_GB2312" pitchFamily="49" charset="-122"/>
              </a:rPr>
              <a:t>是 </a:t>
            </a:r>
            <a:r>
              <a:rPr lang="en-US" altLang="zh-CN" sz="3200" dirty="0">
                <a:effectLst/>
                <a:ea typeface="楷体_GB2312" pitchFamily="49" charset="-122"/>
              </a:rPr>
              <a:t>D</a:t>
            </a:r>
            <a:r>
              <a:rPr lang="zh-CN" altLang="en-US" sz="3200" dirty="0">
                <a:effectLst/>
                <a:latin typeface="楷体_GB2312" pitchFamily="49" charset="-122"/>
                <a:ea typeface="楷体_GB2312" pitchFamily="49" charset="-122"/>
              </a:rPr>
              <a:t>上</a:t>
            </a:r>
            <a:r>
              <a:rPr lang="zh-CN" altLang="en-US" sz="3200" b="1" dirty="0">
                <a:solidFill>
                  <a:srgbClr val="800000"/>
                </a:solidFill>
                <a:effectLst/>
                <a:latin typeface="楷体_GB2312" pitchFamily="49" charset="-122"/>
                <a:ea typeface="楷体_GB2312" pitchFamily="49" charset="-122"/>
              </a:rPr>
              <a:t>关系的有限集</a:t>
            </a:r>
            <a:r>
              <a:rPr lang="zh-CN" altLang="en-US" sz="3600" dirty="0">
                <a:effectLst/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3200" dirty="0"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98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数据结构的形式定义</a:t>
            </a:r>
            <a:endParaRPr lang="zh-CN" altLang="en-US" b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7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7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297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6" grpId="0" autoUpdateAnimBg="0"/>
      <p:bldP spid="297987" grpId="0" animBg="1" autoUpdateAnimBg="0"/>
      <p:bldP spid="297988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0"/>
            <a:ext cx="8229600" cy="1143000"/>
          </a:xfrm>
        </p:spPr>
        <p:txBody>
          <a:bodyPr/>
          <a:lstStyle/>
          <a:p>
            <a:r>
              <a:rPr lang="zh-CN" altLang="en-US" sz="3600">
                <a:solidFill>
                  <a:srgbClr val="800000"/>
                </a:solidFill>
              </a:rPr>
              <a:t>例</a:t>
            </a:r>
            <a:r>
              <a:rPr lang="en-US" altLang="zh-CN" sz="3600">
                <a:solidFill>
                  <a:srgbClr val="800000"/>
                </a:solidFill>
              </a:rPr>
              <a:t>1</a:t>
            </a:r>
            <a:r>
              <a:rPr lang="en-US" altLang="zh-CN">
                <a:solidFill>
                  <a:srgbClr val="800000"/>
                </a:solidFill>
              </a:rPr>
              <a:t> </a:t>
            </a:r>
            <a:r>
              <a:rPr lang="zh-CN" altLang="en-US" sz="3600">
                <a:solidFill>
                  <a:srgbClr val="800000"/>
                </a:solidFill>
              </a:rPr>
              <a:t>部门的上级领导下级的数据结构</a:t>
            </a:r>
            <a:endParaRPr lang="zh-CN" altLang="en-US" sz="3600">
              <a:solidFill>
                <a:srgbClr val="800000"/>
              </a:solidFill>
            </a:endParaRPr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990600"/>
            <a:ext cx="4038600" cy="13716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/>
              <a:t>a </a:t>
            </a:r>
            <a:r>
              <a:rPr lang="zh-CN" altLang="en-US"/>
              <a:t>领导 </a:t>
            </a:r>
            <a:r>
              <a:rPr lang="en-US" altLang="zh-CN"/>
              <a:t>b ,   a </a:t>
            </a:r>
            <a:r>
              <a:rPr lang="zh-CN" altLang="en-US"/>
              <a:t>领导 </a:t>
            </a:r>
            <a:r>
              <a:rPr lang="en-US" altLang="zh-CN"/>
              <a:t>c</a:t>
            </a:r>
            <a:endParaRPr lang="en-US" altLang="zh-CN"/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b </a:t>
            </a:r>
            <a:r>
              <a:rPr lang="zh-CN" altLang="en-US"/>
              <a:t>领导 </a:t>
            </a:r>
            <a:r>
              <a:rPr lang="en-US" altLang="zh-CN"/>
              <a:t>d ,   b </a:t>
            </a:r>
            <a:r>
              <a:rPr lang="zh-CN" altLang="en-US"/>
              <a:t>领导 </a:t>
            </a:r>
            <a:r>
              <a:rPr lang="en-US" altLang="zh-CN"/>
              <a:t>e </a:t>
            </a:r>
            <a:endParaRPr lang="en-US" altLang="zh-CN"/>
          </a:p>
        </p:txBody>
      </p:sp>
      <p:grpSp>
        <p:nvGrpSpPr>
          <p:cNvPr id="299012" name="Group 4"/>
          <p:cNvGrpSpPr/>
          <p:nvPr/>
        </p:nvGrpSpPr>
        <p:grpSpPr bwMode="auto">
          <a:xfrm>
            <a:off x="5867400" y="838200"/>
            <a:ext cx="2819400" cy="2686050"/>
            <a:chOff x="3072" y="768"/>
            <a:chExt cx="1776" cy="1692"/>
          </a:xfrm>
        </p:grpSpPr>
        <p:sp>
          <p:nvSpPr>
            <p:cNvPr id="299013" name="Oval 5"/>
            <p:cNvSpPr>
              <a:spLocks noChangeArrowheads="1"/>
            </p:cNvSpPr>
            <p:nvPr/>
          </p:nvSpPr>
          <p:spPr bwMode="auto">
            <a:xfrm rot="5599556">
              <a:off x="3982" y="1055"/>
              <a:ext cx="307" cy="304"/>
            </a:xfrm>
            <a:prstGeom prst="ellipse">
              <a:avLst/>
            </a:prstGeom>
            <a:solidFill>
              <a:srgbClr val="CC0099"/>
            </a:solidFill>
            <a:ln w="285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014" name="Oval 6"/>
            <p:cNvSpPr>
              <a:spLocks noChangeArrowheads="1"/>
            </p:cNvSpPr>
            <p:nvPr/>
          </p:nvSpPr>
          <p:spPr bwMode="auto">
            <a:xfrm rot="5599556">
              <a:off x="4414" y="1583"/>
              <a:ext cx="288" cy="292"/>
            </a:xfrm>
            <a:prstGeom prst="ellipse">
              <a:avLst/>
            </a:prstGeom>
            <a:solidFill>
              <a:srgbClr val="CC0099"/>
            </a:solidFill>
            <a:ln w="285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015" name="Oval 7"/>
            <p:cNvSpPr>
              <a:spLocks noChangeArrowheads="1"/>
            </p:cNvSpPr>
            <p:nvPr/>
          </p:nvSpPr>
          <p:spPr bwMode="auto">
            <a:xfrm rot="5599556">
              <a:off x="3659" y="1554"/>
              <a:ext cx="316" cy="325"/>
            </a:xfrm>
            <a:prstGeom prst="ellipse">
              <a:avLst/>
            </a:prstGeom>
            <a:solidFill>
              <a:srgbClr val="CC0099"/>
            </a:solidFill>
            <a:ln w="285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016" name="Oval 8"/>
            <p:cNvSpPr>
              <a:spLocks noChangeArrowheads="1"/>
            </p:cNvSpPr>
            <p:nvPr/>
          </p:nvSpPr>
          <p:spPr bwMode="auto">
            <a:xfrm rot="5599556">
              <a:off x="3810" y="2124"/>
              <a:ext cx="336" cy="336"/>
            </a:xfrm>
            <a:prstGeom prst="ellipse">
              <a:avLst/>
            </a:prstGeom>
            <a:solidFill>
              <a:srgbClr val="CC0099"/>
            </a:solidFill>
            <a:ln w="285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017" name="Oval 9"/>
            <p:cNvSpPr>
              <a:spLocks noChangeArrowheads="1"/>
            </p:cNvSpPr>
            <p:nvPr/>
          </p:nvSpPr>
          <p:spPr bwMode="auto">
            <a:xfrm rot="5599556">
              <a:off x="3365" y="2068"/>
              <a:ext cx="336" cy="346"/>
            </a:xfrm>
            <a:prstGeom prst="ellipse">
              <a:avLst/>
            </a:prstGeom>
            <a:solidFill>
              <a:srgbClr val="CC0099"/>
            </a:solidFill>
            <a:ln w="285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018" name="Line 10"/>
            <p:cNvSpPr>
              <a:spLocks noChangeShapeType="1"/>
            </p:cNvSpPr>
            <p:nvPr/>
          </p:nvSpPr>
          <p:spPr bwMode="auto">
            <a:xfrm rot="5599556" flipV="1">
              <a:off x="4253" y="1315"/>
              <a:ext cx="244" cy="30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019" name="Line 11"/>
            <p:cNvSpPr>
              <a:spLocks noChangeShapeType="1"/>
            </p:cNvSpPr>
            <p:nvPr/>
          </p:nvSpPr>
          <p:spPr bwMode="auto">
            <a:xfrm rot="5599556">
              <a:off x="3834" y="1316"/>
              <a:ext cx="231" cy="28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020" name="Line 12"/>
            <p:cNvSpPr>
              <a:spLocks noChangeShapeType="1"/>
            </p:cNvSpPr>
            <p:nvPr/>
          </p:nvSpPr>
          <p:spPr bwMode="auto">
            <a:xfrm rot="5599556" flipV="1">
              <a:off x="3790" y="1943"/>
              <a:ext cx="237" cy="10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021" name="Line 13"/>
            <p:cNvSpPr>
              <a:spLocks noChangeShapeType="1"/>
            </p:cNvSpPr>
            <p:nvPr/>
          </p:nvSpPr>
          <p:spPr bwMode="auto">
            <a:xfrm flipH="1">
              <a:off x="3531" y="1845"/>
              <a:ext cx="192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9022" name="Text Box 14"/>
            <p:cNvSpPr txBox="1">
              <a:spLocks noChangeArrowheads="1"/>
            </p:cNvSpPr>
            <p:nvPr/>
          </p:nvSpPr>
          <p:spPr bwMode="auto">
            <a:xfrm>
              <a:off x="3792" y="768"/>
              <a:ext cx="24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600" b="1">
                  <a:effectLst/>
                </a:rPr>
                <a:t>a</a:t>
              </a:r>
              <a:endParaRPr lang="en-US" altLang="zh-CN" sz="3600" b="1">
                <a:effectLst/>
              </a:endParaRPr>
            </a:p>
          </p:txBody>
        </p:sp>
        <p:sp>
          <p:nvSpPr>
            <p:cNvPr id="299023" name="Text Box 15"/>
            <p:cNvSpPr txBox="1">
              <a:spLocks noChangeArrowheads="1"/>
            </p:cNvSpPr>
            <p:nvPr/>
          </p:nvSpPr>
          <p:spPr bwMode="auto">
            <a:xfrm>
              <a:off x="3408" y="1296"/>
              <a:ext cx="38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600" b="1">
                  <a:effectLst/>
                </a:rPr>
                <a:t>b</a:t>
              </a:r>
              <a:endParaRPr lang="en-US" altLang="zh-CN" sz="3600" b="1">
                <a:effectLst/>
              </a:endParaRPr>
            </a:p>
          </p:txBody>
        </p:sp>
        <p:sp>
          <p:nvSpPr>
            <p:cNvPr id="299024" name="Text Box 16"/>
            <p:cNvSpPr txBox="1">
              <a:spLocks noChangeArrowheads="1"/>
            </p:cNvSpPr>
            <p:nvPr/>
          </p:nvSpPr>
          <p:spPr bwMode="auto">
            <a:xfrm>
              <a:off x="4416" y="1248"/>
              <a:ext cx="43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600" b="1">
                  <a:effectLst/>
                </a:rPr>
                <a:t>c</a:t>
              </a:r>
              <a:endParaRPr lang="en-US" altLang="zh-CN" sz="3600" b="1">
                <a:effectLst/>
              </a:endParaRPr>
            </a:p>
          </p:txBody>
        </p:sp>
        <p:sp>
          <p:nvSpPr>
            <p:cNvPr id="299025" name="Text Box 17"/>
            <p:cNvSpPr txBox="1">
              <a:spLocks noChangeArrowheads="1"/>
            </p:cNvSpPr>
            <p:nvPr/>
          </p:nvSpPr>
          <p:spPr bwMode="auto">
            <a:xfrm>
              <a:off x="3072" y="1872"/>
              <a:ext cx="38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600" b="1">
                  <a:effectLst/>
                </a:rPr>
                <a:t>d</a:t>
              </a:r>
              <a:endParaRPr lang="en-US" altLang="zh-CN" sz="3600" b="1">
                <a:effectLst/>
              </a:endParaRPr>
            </a:p>
          </p:txBody>
        </p:sp>
        <p:sp>
          <p:nvSpPr>
            <p:cNvPr id="299026" name="Text Box 18"/>
            <p:cNvSpPr txBox="1">
              <a:spLocks noChangeArrowheads="1"/>
            </p:cNvSpPr>
            <p:nvPr/>
          </p:nvSpPr>
          <p:spPr bwMode="auto">
            <a:xfrm>
              <a:off x="4080" y="1872"/>
              <a:ext cx="33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600" b="1">
                  <a:effectLst/>
                </a:rPr>
                <a:t>e</a:t>
              </a:r>
              <a:endParaRPr lang="en-US" altLang="zh-CN" sz="3600" b="1">
                <a:effectLst/>
              </a:endParaRPr>
            </a:p>
          </p:txBody>
        </p:sp>
      </p:grpSp>
      <p:sp>
        <p:nvSpPr>
          <p:cNvPr id="299027" name="Text Box 19"/>
          <p:cNvSpPr txBox="1">
            <a:spLocks noChangeArrowheads="1"/>
          </p:cNvSpPr>
          <p:nvPr/>
        </p:nvSpPr>
        <p:spPr bwMode="auto">
          <a:xfrm>
            <a:off x="381000" y="2438400"/>
            <a:ext cx="53340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600" b="1">
                <a:solidFill>
                  <a:schemeClr val="tx2"/>
                </a:solidFill>
                <a:effectLst/>
              </a:rPr>
              <a:t>   </a:t>
            </a:r>
            <a:r>
              <a:rPr lang="zh-CN" altLang="en-US" sz="3600" b="1">
                <a:solidFill>
                  <a:schemeClr val="tx2"/>
                </a:solidFill>
                <a:effectLst/>
              </a:rPr>
              <a:t>其数据结构可描述为</a:t>
            </a:r>
            <a:br>
              <a:rPr lang="zh-CN" altLang="en-US" sz="3600" b="1">
                <a:solidFill>
                  <a:schemeClr val="tx2"/>
                </a:solidFill>
                <a:effectLst/>
              </a:rPr>
            </a:br>
            <a:r>
              <a:rPr lang="zh-CN" altLang="en-US" sz="3600" b="1">
                <a:solidFill>
                  <a:schemeClr val="tx2"/>
                </a:solidFill>
                <a:effectLst/>
              </a:rPr>
              <a:t>           </a:t>
            </a:r>
            <a:r>
              <a:rPr lang="en-US" altLang="zh-CN" sz="3600" b="1">
                <a:solidFill>
                  <a:schemeClr val="tx2"/>
                </a:solidFill>
                <a:effectLst/>
              </a:rPr>
              <a:t>T = (D, R )</a:t>
            </a:r>
            <a:endParaRPr lang="en-US" altLang="zh-CN" sz="3600" b="1">
              <a:solidFill>
                <a:schemeClr val="tx2"/>
              </a:solidFill>
              <a:effectLst/>
            </a:endParaRPr>
          </a:p>
        </p:txBody>
      </p:sp>
      <p:sp>
        <p:nvSpPr>
          <p:cNvPr id="299028" name="Rectangle 20"/>
          <p:cNvSpPr>
            <a:spLocks noChangeArrowheads="1"/>
          </p:cNvSpPr>
          <p:nvPr/>
        </p:nvSpPr>
        <p:spPr bwMode="auto">
          <a:xfrm>
            <a:off x="685800" y="3657600"/>
            <a:ext cx="7086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200" b="1">
                <a:solidFill>
                  <a:schemeClr val="tx2"/>
                </a:solidFill>
                <a:effectLst/>
              </a:rPr>
              <a:t>D</a:t>
            </a:r>
            <a:r>
              <a:rPr lang="zh-CN" altLang="en-US" sz="3200" b="1">
                <a:solidFill>
                  <a:schemeClr val="tx2"/>
                </a:solidFill>
                <a:effectLst/>
              </a:rPr>
              <a:t>是数据元素的集合</a:t>
            </a:r>
            <a:r>
              <a:rPr lang="zh-CN" altLang="en-US" sz="3600" b="1">
                <a:solidFill>
                  <a:schemeClr val="tx2"/>
                </a:solidFill>
                <a:effectLst/>
              </a:rPr>
              <a:t>    </a:t>
            </a:r>
            <a:r>
              <a:rPr lang="en-US" altLang="zh-CN" sz="3600" b="1">
                <a:solidFill>
                  <a:schemeClr val="tx2"/>
                </a:solidFill>
                <a:effectLst/>
              </a:rPr>
              <a:t>D={a,b,c,d,e}</a:t>
            </a:r>
            <a:endParaRPr lang="en-US" altLang="zh-CN" sz="3600" b="1">
              <a:solidFill>
                <a:schemeClr val="tx2"/>
              </a:solidFill>
              <a:effectLst/>
            </a:endParaRPr>
          </a:p>
        </p:txBody>
      </p:sp>
      <p:sp>
        <p:nvSpPr>
          <p:cNvPr id="299029" name="Rectangle 21"/>
          <p:cNvSpPr>
            <a:spLocks noChangeArrowheads="1"/>
          </p:cNvSpPr>
          <p:nvPr/>
        </p:nvSpPr>
        <p:spPr bwMode="auto">
          <a:xfrm>
            <a:off x="762000" y="4495800"/>
            <a:ext cx="81534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200" b="1">
                <a:solidFill>
                  <a:schemeClr val="tx2"/>
                </a:solidFill>
                <a:effectLst/>
              </a:rPr>
              <a:t>R</a:t>
            </a:r>
            <a:r>
              <a:rPr lang="zh-CN" altLang="en-US" sz="3200" b="1">
                <a:solidFill>
                  <a:schemeClr val="tx2"/>
                </a:solidFill>
                <a:effectLst/>
              </a:rPr>
              <a:t>是</a:t>
            </a:r>
            <a:r>
              <a:rPr lang="en-US" altLang="zh-CN" sz="3200" b="1">
                <a:solidFill>
                  <a:schemeClr val="tx2"/>
                </a:solidFill>
                <a:effectLst/>
              </a:rPr>
              <a:t>D</a:t>
            </a:r>
            <a:r>
              <a:rPr lang="zh-CN" altLang="en-US" sz="3200" b="1">
                <a:solidFill>
                  <a:schemeClr val="tx2"/>
                </a:solidFill>
                <a:effectLst/>
              </a:rPr>
              <a:t>上的关系的集合</a:t>
            </a:r>
            <a:r>
              <a:rPr lang="zh-CN" altLang="en-US" sz="3600" b="1">
                <a:solidFill>
                  <a:schemeClr val="tx2"/>
                </a:solidFill>
                <a:effectLst/>
              </a:rPr>
              <a:t>  </a:t>
            </a:r>
            <a:r>
              <a:rPr lang="en-US" altLang="zh-CN" sz="3600" b="1">
                <a:solidFill>
                  <a:schemeClr val="tx2"/>
                </a:solidFill>
                <a:effectLst/>
              </a:rPr>
              <a:t>R={ P }</a:t>
            </a:r>
            <a:br>
              <a:rPr lang="en-US" altLang="zh-CN" sz="3600" b="1">
                <a:solidFill>
                  <a:schemeClr val="tx2"/>
                </a:solidFill>
                <a:effectLst/>
              </a:rPr>
            </a:br>
            <a:r>
              <a:rPr lang="en-US" altLang="zh-CN" sz="3600" b="1">
                <a:solidFill>
                  <a:schemeClr val="tx2"/>
                </a:solidFill>
                <a:effectLst/>
              </a:rPr>
              <a:t>            P ={&lt;a,b&gt;,&lt;a,c&gt;,&lt;b,d&gt;,&lt;b,e&gt;}</a:t>
            </a:r>
            <a:endParaRPr lang="en-US" altLang="zh-CN" sz="3600" b="1">
              <a:solidFill>
                <a:schemeClr val="tx2"/>
              </a:solidFill>
              <a:effectLst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9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9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9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9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9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9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9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9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9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9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1" grpId="0" autoUpdateAnimBg="0" build="p"/>
      <p:bldP spid="299027" grpId="0" autoUpdateAnimBg="0"/>
      <p:bldP spid="299028" grpId="0" autoUpdateAnimBg="0"/>
      <p:bldP spid="299029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305800" cy="1524000"/>
          </a:xfrm>
        </p:spPr>
        <p:txBody>
          <a:bodyPr/>
          <a:lstStyle/>
          <a:p>
            <a:r>
              <a:rPr lang="zh-CN" altLang="en-US" sz="3600">
                <a:solidFill>
                  <a:srgbClr val="800000"/>
                </a:solidFill>
              </a:rPr>
              <a:t>例</a:t>
            </a:r>
            <a:r>
              <a:rPr lang="en-US" altLang="zh-CN" sz="3600">
                <a:solidFill>
                  <a:srgbClr val="800000"/>
                </a:solidFill>
              </a:rPr>
              <a:t>2</a:t>
            </a:r>
            <a:r>
              <a:rPr lang="en-US" altLang="zh-CN">
                <a:solidFill>
                  <a:srgbClr val="800000"/>
                </a:solidFill>
              </a:rPr>
              <a:t>  </a:t>
            </a:r>
            <a:r>
              <a:rPr lang="zh-CN" altLang="en-US" sz="3200">
                <a:solidFill>
                  <a:srgbClr val="800000"/>
                </a:solidFill>
                <a:latin typeface="楷体_GB2312" pitchFamily="49" charset="-122"/>
                <a:ea typeface="楷体_GB2312" pitchFamily="49" charset="-122"/>
              </a:rPr>
              <a:t>一小组有</a:t>
            </a:r>
            <a:r>
              <a:rPr lang="en-US" altLang="zh-CN" sz="3200">
                <a:solidFill>
                  <a:srgbClr val="800000"/>
                </a:solidFill>
                <a:latin typeface="楷体_GB2312" pitchFamily="49" charset="-122"/>
                <a:ea typeface="楷体_GB2312" pitchFamily="49" charset="-122"/>
              </a:rPr>
              <a:t>a,b,c </a:t>
            </a:r>
            <a:r>
              <a:rPr lang="zh-CN" altLang="en-US" sz="3200">
                <a:solidFill>
                  <a:srgbClr val="800000"/>
                </a:solidFill>
                <a:latin typeface="楷体_GB2312" pitchFamily="49" charset="-122"/>
                <a:ea typeface="楷体_GB2312" pitchFamily="49" charset="-122"/>
              </a:rPr>
              <a:t>三个学生，一个导师</a:t>
            </a:r>
            <a:r>
              <a:rPr lang="en-US" altLang="zh-CN" sz="3200">
                <a:solidFill>
                  <a:srgbClr val="800000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3200">
                <a:solidFill>
                  <a:srgbClr val="800000"/>
                </a:solidFill>
                <a:latin typeface="楷体_GB2312" pitchFamily="49" charset="-122"/>
                <a:ea typeface="楷体_GB2312" pitchFamily="49" charset="-122"/>
              </a:rPr>
              <a:t>和一个辅导员</a:t>
            </a:r>
            <a:r>
              <a:rPr lang="en-US" altLang="zh-CN" sz="3200">
                <a:solidFill>
                  <a:srgbClr val="800000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3200">
                <a:solidFill>
                  <a:srgbClr val="800000"/>
                </a:solidFill>
                <a:latin typeface="楷体_GB2312" pitchFamily="49" charset="-122"/>
                <a:ea typeface="楷体_GB2312" pitchFamily="49" charset="-122"/>
              </a:rPr>
              <a:t>，此小组的数据结构如图</a:t>
            </a:r>
            <a:r>
              <a:rPr lang="zh-CN" altLang="en-US" sz="3600">
                <a:solidFill>
                  <a:srgbClr val="8000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endParaRPr lang="zh-CN" altLang="en-US" sz="3600">
              <a:solidFill>
                <a:srgbClr val="8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0035" name="Text Box 3"/>
          <p:cNvSpPr txBox="1">
            <a:spLocks noChangeArrowheads="1"/>
          </p:cNvSpPr>
          <p:nvPr/>
        </p:nvSpPr>
        <p:spPr bwMode="auto">
          <a:xfrm>
            <a:off x="611188" y="1844675"/>
            <a:ext cx="2590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600" b="1">
                <a:solidFill>
                  <a:schemeClr val="tx2"/>
                </a:solidFill>
                <a:effectLst/>
              </a:rPr>
              <a:t>T = (D, R )</a:t>
            </a:r>
            <a:endParaRPr lang="en-US" altLang="zh-CN" sz="3600" b="1">
              <a:solidFill>
                <a:schemeClr val="tx2"/>
              </a:solidFill>
              <a:effectLst/>
            </a:endParaRPr>
          </a:p>
        </p:txBody>
      </p:sp>
      <p:sp>
        <p:nvSpPr>
          <p:cNvPr id="300036" name="Rectangle 4"/>
          <p:cNvSpPr>
            <a:spLocks noChangeArrowheads="1"/>
          </p:cNvSpPr>
          <p:nvPr/>
        </p:nvSpPr>
        <p:spPr bwMode="auto">
          <a:xfrm>
            <a:off x="609600" y="2514600"/>
            <a:ext cx="3657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600" b="1">
                <a:solidFill>
                  <a:schemeClr val="tx2"/>
                </a:solidFill>
                <a:effectLst/>
              </a:rPr>
              <a:t>D={A,B,a,b,c }</a:t>
            </a:r>
            <a:endParaRPr lang="en-US" altLang="zh-CN" sz="3600" b="1">
              <a:solidFill>
                <a:schemeClr val="tx2"/>
              </a:solidFill>
              <a:effectLst/>
            </a:endParaRPr>
          </a:p>
        </p:txBody>
      </p:sp>
      <p:sp>
        <p:nvSpPr>
          <p:cNvPr id="300037" name="Rectangle 5"/>
          <p:cNvSpPr>
            <a:spLocks noChangeArrowheads="1"/>
          </p:cNvSpPr>
          <p:nvPr/>
        </p:nvSpPr>
        <p:spPr bwMode="auto">
          <a:xfrm>
            <a:off x="609600" y="3200400"/>
            <a:ext cx="43434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200" b="1">
                <a:solidFill>
                  <a:schemeClr val="tx2"/>
                </a:solidFill>
                <a:effectLst/>
              </a:rPr>
              <a:t>R</a:t>
            </a:r>
            <a:r>
              <a:rPr lang="zh-CN" altLang="en-US" sz="3200" b="1">
                <a:solidFill>
                  <a:schemeClr val="tx2"/>
                </a:solidFill>
                <a:effectLst/>
              </a:rPr>
              <a:t>是</a:t>
            </a:r>
            <a:r>
              <a:rPr lang="en-US" altLang="zh-CN" sz="3200" b="1">
                <a:solidFill>
                  <a:schemeClr val="tx2"/>
                </a:solidFill>
                <a:effectLst/>
              </a:rPr>
              <a:t>D</a:t>
            </a:r>
            <a:r>
              <a:rPr lang="zh-CN" altLang="en-US" sz="3200" b="1">
                <a:solidFill>
                  <a:schemeClr val="tx2"/>
                </a:solidFill>
                <a:effectLst/>
              </a:rPr>
              <a:t>上的关系的集合</a:t>
            </a:r>
            <a:r>
              <a:rPr lang="zh-CN" altLang="en-US" sz="3600" b="1">
                <a:solidFill>
                  <a:schemeClr val="tx2"/>
                </a:solidFill>
                <a:effectLst/>
              </a:rPr>
              <a:t>  </a:t>
            </a:r>
            <a:endParaRPr lang="zh-CN" altLang="en-US" sz="3600" b="1">
              <a:solidFill>
                <a:schemeClr val="tx2"/>
              </a:solidFill>
              <a:effectLst/>
            </a:endParaRPr>
          </a:p>
          <a:p>
            <a:pPr algn="l"/>
            <a:r>
              <a:rPr lang="en-US" altLang="zh-CN" sz="3600" b="1">
                <a:solidFill>
                  <a:schemeClr val="tx2"/>
                </a:solidFill>
                <a:effectLst/>
              </a:rPr>
              <a:t>R={ P1,P2 }</a:t>
            </a:r>
            <a:endParaRPr lang="en-US" altLang="zh-CN" sz="3600" b="1">
              <a:solidFill>
                <a:schemeClr val="tx2"/>
              </a:solidFill>
              <a:effectLst/>
            </a:endParaRPr>
          </a:p>
        </p:txBody>
      </p:sp>
      <p:grpSp>
        <p:nvGrpSpPr>
          <p:cNvPr id="300038" name="Group 6"/>
          <p:cNvGrpSpPr/>
          <p:nvPr/>
        </p:nvGrpSpPr>
        <p:grpSpPr bwMode="auto">
          <a:xfrm>
            <a:off x="5795963" y="1700213"/>
            <a:ext cx="2978150" cy="2851150"/>
            <a:chOff x="3744" y="960"/>
            <a:chExt cx="1876" cy="1796"/>
          </a:xfrm>
        </p:grpSpPr>
        <p:sp>
          <p:nvSpPr>
            <p:cNvPr id="300039" name="Oval 7"/>
            <p:cNvSpPr>
              <a:spLocks noChangeArrowheads="1"/>
            </p:cNvSpPr>
            <p:nvPr/>
          </p:nvSpPr>
          <p:spPr bwMode="auto">
            <a:xfrm rot="5599556">
              <a:off x="4270" y="1250"/>
              <a:ext cx="307" cy="304"/>
            </a:xfrm>
            <a:prstGeom prst="ellipse">
              <a:avLst/>
            </a:prstGeom>
            <a:solidFill>
              <a:srgbClr val="CC0099"/>
            </a:solidFill>
            <a:ln w="285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040" name="Oval 8"/>
            <p:cNvSpPr>
              <a:spLocks noChangeArrowheads="1"/>
            </p:cNvSpPr>
            <p:nvPr/>
          </p:nvSpPr>
          <p:spPr bwMode="auto">
            <a:xfrm rot="5599556">
              <a:off x="5330" y="2110"/>
              <a:ext cx="288" cy="292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041" name="Oval 9"/>
            <p:cNvSpPr>
              <a:spLocks noChangeArrowheads="1"/>
            </p:cNvSpPr>
            <p:nvPr/>
          </p:nvSpPr>
          <p:spPr bwMode="auto">
            <a:xfrm rot="5599556">
              <a:off x="4469" y="2059"/>
              <a:ext cx="316" cy="325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042" name="Oval 10"/>
            <p:cNvSpPr>
              <a:spLocks noChangeArrowheads="1"/>
            </p:cNvSpPr>
            <p:nvPr/>
          </p:nvSpPr>
          <p:spPr bwMode="auto">
            <a:xfrm rot="5599556">
              <a:off x="5088" y="1248"/>
              <a:ext cx="336" cy="336"/>
            </a:xfrm>
            <a:prstGeom prst="ellipse">
              <a:avLst/>
            </a:prstGeom>
            <a:solidFill>
              <a:srgbClr val="99CC00"/>
            </a:solidFill>
            <a:ln w="285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043" name="Oval 11"/>
            <p:cNvSpPr>
              <a:spLocks noChangeArrowheads="1"/>
            </p:cNvSpPr>
            <p:nvPr/>
          </p:nvSpPr>
          <p:spPr bwMode="auto">
            <a:xfrm rot="5599556">
              <a:off x="3749" y="2059"/>
              <a:ext cx="336" cy="346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044" name="Text Box 12"/>
            <p:cNvSpPr txBox="1">
              <a:spLocks noChangeArrowheads="1"/>
            </p:cNvSpPr>
            <p:nvPr/>
          </p:nvSpPr>
          <p:spPr bwMode="auto">
            <a:xfrm>
              <a:off x="3744" y="2304"/>
              <a:ext cx="24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600" b="1">
                  <a:effectLst/>
                </a:rPr>
                <a:t>a</a:t>
              </a:r>
              <a:endParaRPr lang="en-US" altLang="zh-CN" sz="3600" b="1">
                <a:effectLst/>
              </a:endParaRPr>
            </a:p>
          </p:txBody>
        </p:sp>
        <p:sp>
          <p:nvSpPr>
            <p:cNvPr id="300045" name="Text Box 13"/>
            <p:cNvSpPr txBox="1">
              <a:spLocks noChangeArrowheads="1"/>
            </p:cNvSpPr>
            <p:nvPr/>
          </p:nvSpPr>
          <p:spPr bwMode="auto">
            <a:xfrm>
              <a:off x="4416" y="2352"/>
              <a:ext cx="38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600" b="1">
                  <a:effectLst/>
                </a:rPr>
                <a:t>b</a:t>
              </a:r>
              <a:endParaRPr lang="en-US" altLang="zh-CN" sz="3600" b="1">
                <a:effectLst/>
              </a:endParaRPr>
            </a:p>
          </p:txBody>
        </p:sp>
        <p:sp>
          <p:nvSpPr>
            <p:cNvPr id="300046" name="Text Box 14"/>
            <p:cNvSpPr txBox="1">
              <a:spLocks noChangeArrowheads="1"/>
            </p:cNvSpPr>
            <p:nvPr/>
          </p:nvSpPr>
          <p:spPr bwMode="auto">
            <a:xfrm>
              <a:off x="5184" y="2304"/>
              <a:ext cx="43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600" b="1">
                  <a:effectLst/>
                </a:rPr>
                <a:t>c</a:t>
              </a:r>
              <a:endParaRPr lang="en-US" altLang="zh-CN" sz="3600" b="1">
                <a:effectLst/>
              </a:endParaRPr>
            </a:p>
          </p:txBody>
        </p:sp>
        <p:sp>
          <p:nvSpPr>
            <p:cNvPr id="300047" name="Text Box 15"/>
            <p:cNvSpPr txBox="1">
              <a:spLocks noChangeArrowheads="1"/>
            </p:cNvSpPr>
            <p:nvPr/>
          </p:nvSpPr>
          <p:spPr bwMode="auto">
            <a:xfrm>
              <a:off x="4032" y="1008"/>
              <a:ext cx="38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600" b="1">
                  <a:effectLst/>
                </a:rPr>
                <a:t>A</a:t>
              </a:r>
              <a:endParaRPr lang="en-US" altLang="zh-CN" sz="3600" b="1">
                <a:effectLst/>
              </a:endParaRPr>
            </a:p>
          </p:txBody>
        </p:sp>
        <p:sp>
          <p:nvSpPr>
            <p:cNvPr id="300048" name="Text Box 16"/>
            <p:cNvSpPr txBox="1">
              <a:spLocks noChangeArrowheads="1"/>
            </p:cNvSpPr>
            <p:nvPr/>
          </p:nvSpPr>
          <p:spPr bwMode="auto">
            <a:xfrm>
              <a:off x="5040" y="960"/>
              <a:ext cx="33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600" b="1">
                  <a:effectLst/>
                </a:rPr>
                <a:t>B</a:t>
              </a:r>
              <a:endParaRPr lang="en-US" altLang="zh-CN" sz="3600" b="1">
                <a:effectLst/>
              </a:endParaRPr>
            </a:p>
          </p:txBody>
        </p:sp>
        <p:sp>
          <p:nvSpPr>
            <p:cNvPr id="300049" name="Line 17"/>
            <p:cNvSpPr>
              <a:spLocks noChangeShapeType="1"/>
            </p:cNvSpPr>
            <p:nvPr/>
          </p:nvSpPr>
          <p:spPr bwMode="auto">
            <a:xfrm flipH="1">
              <a:off x="3984" y="1536"/>
              <a:ext cx="384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0050" name="Line 18"/>
            <p:cNvSpPr>
              <a:spLocks noChangeShapeType="1"/>
            </p:cNvSpPr>
            <p:nvPr/>
          </p:nvSpPr>
          <p:spPr bwMode="auto">
            <a:xfrm>
              <a:off x="4464" y="1536"/>
              <a:ext cx="192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0051" name="Line 19"/>
            <p:cNvSpPr>
              <a:spLocks noChangeShapeType="1"/>
            </p:cNvSpPr>
            <p:nvPr/>
          </p:nvSpPr>
          <p:spPr bwMode="auto">
            <a:xfrm>
              <a:off x="4464" y="1536"/>
              <a:ext cx="1008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0052" name="Line 20"/>
            <p:cNvSpPr>
              <a:spLocks noChangeShapeType="1"/>
            </p:cNvSpPr>
            <p:nvPr/>
          </p:nvSpPr>
          <p:spPr bwMode="auto">
            <a:xfrm flipH="1">
              <a:off x="3984" y="1584"/>
              <a:ext cx="1248" cy="480"/>
            </a:xfrm>
            <a:prstGeom prst="line">
              <a:avLst/>
            </a:prstGeom>
            <a:noFill/>
            <a:ln w="28575">
              <a:solidFill>
                <a:srgbClr val="99CC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0053" name="Line 21"/>
            <p:cNvSpPr>
              <a:spLocks noChangeShapeType="1"/>
            </p:cNvSpPr>
            <p:nvPr/>
          </p:nvSpPr>
          <p:spPr bwMode="auto">
            <a:xfrm flipH="1">
              <a:off x="4704" y="1584"/>
              <a:ext cx="528" cy="480"/>
            </a:xfrm>
            <a:prstGeom prst="line">
              <a:avLst/>
            </a:prstGeom>
            <a:noFill/>
            <a:ln w="28575">
              <a:solidFill>
                <a:srgbClr val="99CC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0054" name="Line 22"/>
            <p:cNvSpPr>
              <a:spLocks noChangeShapeType="1"/>
            </p:cNvSpPr>
            <p:nvPr/>
          </p:nvSpPr>
          <p:spPr bwMode="auto">
            <a:xfrm>
              <a:off x="5232" y="1584"/>
              <a:ext cx="288" cy="528"/>
            </a:xfrm>
            <a:prstGeom prst="line">
              <a:avLst/>
            </a:prstGeom>
            <a:noFill/>
            <a:ln w="38100">
              <a:solidFill>
                <a:srgbClr val="99CC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00055" name="Rectangle 23"/>
          <p:cNvSpPr>
            <a:spLocks noChangeArrowheads="1"/>
          </p:cNvSpPr>
          <p:nvPr/>
        </p:nvSpPr>
        <p:spPr bwMode="auto">
          <a:xfrm>
            <a:off x="611188" y="4437063"/>
            <a:ext cx="54641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1">
                <a:solidFill>
                  <a:schemeClr val="tx2"/>
                </a:solidFill>
                <a:effectLst/>
              </a:rPr>
              <a:t>P1 ={&lt;A,a&gt;, &lt;A,b&gt;, &lt;A,c&gt;}</a:t>
            </a:r>
            <a:endParaRPr lang="en-US" altLang="zh-CN" sz="3600" b="1">
              <a:solidFill>
                <a:schemeClr val="tx2"/>
              </a:solidFill>
              <a:effectLst/>
            </a:endParaRPr>
          </a:p>
        </p:txBody>
      </p:sp>
      <p:sp>
        <p:nvSpPr>
          <p:cNvPr id="300056" name="Rectangle 24"/>
          <p:cNvSpPr>
            <a:spLocks noChangeArrowheads="1"/>
          </p:cNvSpPr>
          <p:nvPr/>
        </p:nvSpPr>
        <p:spPr bwMode="auto">
          <a:xfrm>
            <a:off x="611188" y="5229225"/>
            <a:ext cx="53879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1">
                <a:solidFill>
                  <a:schemeClr val="tx2"/>
                </a:solidFill>
                <a:effectLst/>
              </a:rPr>
              <a:t>P2 ={&lt;B,a&gt;, &lt;B,b&gt;, &lt;B,c&gt;}</a:t>
            </a:r>
            <a:endParaRPr lang="en-US" altLang="zh-CN" sz="3600" b="1">
              <a:solidFill>
                <a:schemeClr val="tx2"/>
              </a:solidFill>
              <a:effectLst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0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0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0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0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0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0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5" grpId="0" autoUpdateAnimBg="0"/>
      <p:bldP spid="300036" grpId="0" autoUpdateAnimBg="0"/>
      <p:bldP spid="300037" grpId="0" autoUpdateAnimBg="0"/>
      <p:bldP spid="300055" grpId="0" autoUpdateAnimBg="0"/>
      <p:bldP spid="300056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1116013" y="404813"/>
            <a:ext cx="6629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zh-CN" sz="4000" b="0">
                <a:solidFill>
                  <a:srgbClr val="C00000"/>
                </a:solidFill>
                <a:ea typeface="华文新魏" panose="02010800040101010101" pitchFamily="2" charset="-122"/>
              </a:rPr>
              <a:t>数据结构是数据的组织形式</a:t>
            </a:r>
            <a:endParaRPr lang="zh-CN" altLang="zh-CN" sz="4000" b="0">
              <a:solidFill>
                <a:srgbClr val="C00000"/>
              </a:solidFill>
              <a:ea typeface="华文新魏" panose="02010800040101010101" pitchFamily="2" charset="-122"/>
            </a:endParaRPr>
          </a:p>
        </p:txBody>
      </p:sp>
      <p:sp>
        <p:nvSpPr>
          <p:cNvPr id="14340" name="Rectangle 3"/>
          <p:cNvSpPr>
            <a:spLocks noChangeArrowheads="1"/>
          </p:cNvSpPr>
          <p:nvPr/>
        </p:nvSpPr>
        <p:spPr bwMode="auto">
          <a:xfrm>
            <a:off x="831850" y="1341438"/>
            <a:ext cx="7772400" cy="50403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285750" indent="-285750" eaLnBrk="1" hangingPunct="1">
              <a:spcBef>
                <a:spcPct val="20000"/>
              </a:spcBef>
              <a:buClr>
                <a:srgbClr val="008000"/>
              </a:buClr>
              <a:buSzPct val="45000"/>
              <a:buFont typeface="Wingdings" panose="05000000000000000000" pitchFamily="2" charset="2"/>
              <a:buChar char="u"/>
              <a:defRPr/>
            </a:pPr>
            <a:r>
              <a:rPr lang="zh-CN" altLang="zh-CN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</a:rPr>
              <a:t>数据的</a:t>
            </a:r>
            <a:r>
              <a:rPr lang="zh-CN" altLang="zh-CN" sz="30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</a:rPr>
              <a:t>逻辑结构</a:t>
            </a:r>
            <a:endParaRPr lang="en-US" altLang="zh-CN" sz="3000" dirty="0">
              <a:solidFill>
                <a:srgbClr val="CC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仿宋_GB2312" pitchFamily="49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008000"/>
              </a:buClr>
              <a:buSzPct val="45000"/>
              <a:buFont typeface="Wingdings" panose="05000000000000000000" pitchFamily="2" charset="2"/>
              <a:buChar char="u"/>
              <a:defRPr/>
            </a:pPr>
            <a:r>
              <a:rPr lang="zh-CN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</a:rPr>
              <a:t>数据元素间的逻辑关系</a:t>
            </a:r>
            <a:endParaRPr lang="en-US" altLang="zh-CN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仿宋_GB2312" pitchFamily="49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008000"/>
              </a:buClr>
              <a:buSzPct val="45000"/>
              <a:buFont typeface="Wingdings" panose="05000000000000000000" pitchFamily="2" charset="2"/>
              <a:buChar char="u"/>
              <a:defRPr/>
            </a:pPr>
            <a:endParaRPr lang="zh-CN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仿宋_GB2312" pitchFamily="49" charset="-122"/>
            </a:endParaRPr>
          </a:p>
          <a:p>
            <a:pPr marL="285750" indent="-285750" eaLnBrk="1" hangingPunct="1">
              <a:spcBef>
                <a:spcPct val="20000"/>
              </a:spcBef>
              <a:buClr>
                <a:srgbClr val="008000"/>
              </a:buClr>
              <a:buSzPct val="45000"/>
              <a:buFont typeface="Wingdings" panose="05000000000000000000" pitchFamily="2" charset="2"/>
              <a:buChar char="u"/>
              <a:defRPr/>
            </a:pPr>
            <a:r>
              <a:rPr lang="zh-CN" altLang="zh-CN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</a:rPr>
              <a:t>数据的</a:t>
            </a:r>
            <a:r>
              <a:rPr lang="zh-CN" altLang="zh-CN" sz="30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</a:rPr>
              <a:t>存储表示</a:t>
            </a:r>
            <a:endParaRPr lang="en-US" altLang="zh-CN" sz="3000" dirty="0">
              <a:solidFill>
                <a:srgbClr val="CC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仿宋_GB2312" pitchFamily="49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008000"/>
              </a:buClr>
              <a:buSzPct val="45000"/>
              <a:buFont typeface="Wingdings" panose="05000000000000000000" pitchFamily="2" charset="2"/>
              <a:buChar char="u"/>
              <a:defRPr/>
            </a:pPr>
            <a:r>
              <a:rPr lang="zh-CN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</a:rPr>
              <a:t>数据元素及其关系在计算机存储内的表示</a:t>
            </a:r>
            <a:endParaRPr lang="en-US" altLang="zh-CN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仿宋_GB2312" pitchFamily="49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008000"/>
              </a:buClr>
              <a:buSzPct val="45000"/>
              <a:buFont typeface="Wingdings" panose="05000000000000000000" pitchFamily="2" charset="2"/>
              <a:buChar char="u"/>
              <a:defRPr/>
            </a:pPr>
            <a:endParaRPr lang="zh-CN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仿宋_GB2312" pitchFamily="49" charset="-122"/>
            </a:endParaRPr>
          </a:p>
          <a:p>
            <a:pPr marL="285750" indent="-285750" eaLnBrk="1" hangingPunct="1">
              <a:spcBef>
                <a:spcPct val="20000"/>
              </a:spcBef>
              <a:buClr>
                <a:srgbClr val="008000"/>
              </a:buClr>
              <a:buSzPct val="45000"/>
              <a:buFont typeface="Wingdings" panose="05000000000000000000" pitchFamily="2" charset="2"/>
              <a:buChar char="u"/>
              <a:defRPr/>
            </a:pPr>
            <a:r>
              <a:rPr lang="zh-CN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</a:rPr>
              <a:t>数据的运算</a:t>
            </a:r>
            <a:endParaRPr lang="en-US" altLang="zh-CN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仿宋_GB2312" pitchFamily="49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008000"/>
              </a:buClr>
              <a:buSzPct val="45000"/>
              <a:buFont typeface="Wingdings" panose="05000000000000000000" pitchFamily="2" charset="2"/>
              <a:buChar char="u"/>
              <a:defRPr/>
            </a:pPr>
            <a:r>
              <a:rPr lang="zh-CN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</a:rPr>
              <a:t>对数据元素施加的</a:t>
            </a:r>
            <a:r>
              <a:rPr lang="zh-CN" sz="30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</a:rPr>
              <a:t>操作</a:t>
            </a:r>
            <a:endParaRPr lang="zh-CN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3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/>
          <p:cNvSpPr>
            <a:spLocks noChangeArrowheads="1"/>
          </p:cNvSpPr>
          <p:nvPr/>
        </p:nvSpPr>
        <p:spPr bwMode="auto">
          <a:xfrm>
            <a:off x="0" y="71438"/>
            <a:ext cx="9144000" cy="8366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数据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的逻辑结构</a:t>
            </a:r>
            <a:endParaRPr lang="zh-CN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250825" y="1196975"/>
            <a:ext cx="8351838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008080"/>
                </a:solidFill>
                <a:ea typeface="仿宋_GB2312"/>
                <a:cs typeface="仿宋_GB2312"/>
              </a:rPr>
              <a:t>数据的逻辑结构可以看作是</a:t>
            </a:r>
            <a:r>
              <a:rPr lang="zh-CN" altLang="en-US" sz="3200" dirty="0">
                <a:solidFill>
                  <a:schemeClr val="tx2"/>
                </a:solidFill>
                <a:ea typeface="仿宋_GB2312"/>
                <a:cs typeface="仿宋_GB2312"/>
              </a:rPr>
              <a:t>从具体问题抽象出来的数学模型</a:t>
            </a:r>
            <a:endParaRPr lang="en-US" altLang="zh-CN" sz="3200" dirty="0">
              <a:solidFill>
                <a:schemeClr val="tx2"/>
              </a:solidFill>
              <a:ea typeface="仿宋_GB2312"/>
              <a:cs typeface="仿宋_GB2312"/>
            </a:endParaRPr>
          </a:p>
          <a:p>
            <a:pPr eaLnBrk="1" hangingPunct="1"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008080"/>
                </a:solidFill>
                <a:ea typeface="仿宋_GB2312"/>
                <a:cs typeface="仿宋_GB2312"/>
              </a:rPr>
              <a:t>数据的逻辑结构</a:t>
            </a:r>
            <a:r>
              <a:rPr lang="zh-CN" altLang="en-US" sz="3200" dirty="0">
                <a:solidFill>
                  <a:srgbClr val="0000CC"/>
                </a:solidFill>
                <a:ea typeface="仿宋_GB2312"/>
                <a:cs typeface="仿宋_GB2312"/>
              </a:rPr>
              <a:t>从逻辑关系上描述数据</a:t>
            </a:r>
            <a:r>
              <a:rPr lang="zh-CN" altLang="en-US" sz="3200" dirty="0">
                <a:solidFill>
                  <a:srgbClr val="008080"/>
                </a:solidFill>
                <a:ea typeface="仿宋_GB2312"/>
                <a:cs typeface="仿宋_GB2312"/>
              </a:rPr>
              <a:t>，</a:t>
            </a:r>
            <a:r>
              <a:rPr lang="zh-CN" altLang="en-US" sz="3200" dirty="0">
                <a:solidFill>
                  <a:schemeClr val="tx2"/>
                </a:solidFill>
                <a:ea typeface="仿宋_GB2312"/>
                <a:cs typeface="仿宋_GB2312"/>
              </a:rPr>
              <a:t>与数据的存储无关</a:t>
            </a:r>
            <a:endParaRPr lang="zh-CN" altLang="en-US" sz="3200" dirty="0">
              <a:solidFill>
                <a:srgbClr val="008080"/>
              </a:solidFill>
              <a:ea typeface="仿宋_GB2312"/>
              <a:cs typeface="仿宋_GB2312"/>
            </a:endParaRPr>
          </a:p>
          <a:p>
            <a:pPr eaLnBrk="1" hangingPunct="1">
              <a:buClr>
                <a:srgbClr val="800080"/>
              </a:buClr>
              <a:buSzPct val="45000"/>
              <a:buFont typeface="Wingdings" panose="05000000000000000000" pitchFamily="2" charset="2"/>
              <a:buChar char="n"/>
            </a:pPr>
            <a:r>
              <a:rPr lang="zh-CN" altLang="zh-CN" sz="3200" dirty="0">
                <a:solidFill>
                  <a:srgbClr val="008080"/>
                </a:solidFill>
                <a:ea typeface="仿宋_GB2312"/>
                <a:cs typeface="仿宋_GB2312"/>
              </a:rPr>
              <a:t>数据的逻辑结构</a:t>
            </a:r>
            <a:r>
              <a:rPr lang="zh-CN" altLang="zh-CN" sz="3200" dirty="0">
                <a:ea typeface="仿宋_GB2312"/>
                <a:cs typeface="仿宋_GB2312"/>
              </a:rPr>
              <a:t>与数据元素本身的形式、内容无关；</a:t>
            </a:r>
            <a:endParaRPr lang="zh-CN" altLang="zh-CN" sz="3200" dirty="0">
              <a:ea typeface="仿宋_GB2312"/>
              <a:cs typeface="仿宋_GB2312"/>
            </a:endParaRPr>
          </a:p>
          <a:p>
            <a:pPr eaLnBrk="1" hangingPunct="1">
              <a:buClr>
                <a:srgbClr val="800080"/>
              </a:buClr>
              <a:buSzPct val="45000"/>
              <a:buFont typeface="Wingdings" panose="05000000000000000000" pitchFamily="2" charset="2"/>
              <a:buChar char="n"/>
            </a:pPr>
            <a:r>
              <a:rPr lang="zh-CN" altLang="zh-CN" sz="3200" dirty="0">
                <a:solidFill>
                  <a:srgbClr val="008080"/>
                </a:solidFill>
                <a:ea typeface="仿宋_GB2312"/>
                <a:cs typeface="仿宋_GB2312"/>
              </a:rPr>
              <a:t>数据的逻辑结构</a:t>
            </a:r>
            <a:r>
              <a:rPr lang="zh-CN" altLang="zh-CN" sz="3200" dirty="0">
                <a:ea typeface="仿宋_GB2312"/>
                <a:cs typeface="仿宋_GB2312"/>
              </a:rPr>
              <a:t>与数据元素的相对存储位置无关。</a:t>
            </a:r>
            <a:endParaRPr lang="zh-CN" altLang="zh-CN" sz="3200" dirty="0">
              <a:ea typeface="仿宋_GB2312"/>
              <a:cs typeface="仿宋_GB2312"/>
            </a:endParaRPr>
          </a:p>
          <a:p>
            <a:pPr eaLnBrk="1" hangingPunct="1"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</a:pPr>
            <a:endParaRPr lang="zh-CN" altLang="en-US" sz="4000" dirty="0">
              <a:solidFill>
                <a:srgbClr val="008080"/>
              </a:solidFill>
              <a:ea typeface="仿宋_GB2312"/>
              <a:cs typeface="仿宋_GB2312"/>
            </a:endParaRPr>
          </a:p>
          <a:p>
            <a:pPr eaLnBrk="1" hangingPunct="1"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</a:pPr>
            <a:endParaRPr lang="en-US" altLang="zh-CN" sz="4000" dirty="0">
              <a:solidFill>
                <a:srgbClr val="008080"/>
              </a:solidFill>
              <a:ea typeface="仿宋_GB2312"/>
              <a:cs typeface="仿宋_GB2312"/>
            </a:endParaRPr>
          </a:p>
        </p:txBody>
      </p:sp>
    </p:spTree>
  </p:cSld>
  <p:clrMapOvr>
    <a:masterClrMapping/>
  </p:clrMapOvr>
  <p:transition>
    <p:strips dir="r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/>
          <p:cNvSpPr>
            <a:spLocks noChangeArrowheads="1"/>
          </p:cNvSpPr>
          <p:nvPr/>
        </p:nvSpPr>
        <p:spPr bwMode="auto">
          <a:xfrm>
            <a:off x="0" y="71438"/>
            <a:ext cx="9144000" cy="8366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逻辑</a:t>
            </a:r>
            <a:r>
              <a:rPr lang="zh-CN" alt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结构图</a:t>
            </a:r>
            <a:endParaRPr lang="zh-CN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250825" y="1196975"/>
            <a:ext cx="8351838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008080"/>
                </a:solidFill>
                <a:ea typeface="仿宋_GB2312"/>
                <a:cs typeface="仿宋_GB2312"/>
              </a:rPr>
              <a:t>我们可以用示意图来表示数据结构，这种图叫做</a:t>
            </a:r>
            <a:r>
              <a:rPr lang="zh-CN" altLang="en-US" sz="3200" dirty="0">
                <a:solidFill>
                  <a:srgbClr val="FF0000"/>
                </a:solidFill>
                <a:ea typeface="仿宋_GB2312"/>
                <a:cs typeface="仿宋_GB2312"/>
              </a:rPr>
              <a:t>逻辑结构图</a:t>
            </a:r>
            <a:r>
              <a:rPr lang="zh-CN" altLang="en-US" sz="3200" dirty="0">
                <a:solidFill>
                  <a:srgbClr val="008080"/>
                </a:solidFill>
                <a:ea typeface="仿宋_GB2312"/>
                <a:cs typeface="仿宋_GB2312"/>
              </a:rPr>
              <a:t>。</a:t>
            </a:r>
            <a:endParaRPr lang="en-US" altLang="zh-CN" sz="3200" dirty="0">
              <a:solidFill>
                <a:srgbClr val="008080"/>
              </a:solidFill>
              <a:ea typeface="仿宋_GB2312"/>
              <a:cs typeface="仿宋_GB2312"/>
            </a:endParaRPr>
          </a:p>
          <a:p>
            <a:pPr eaLnBrk="1" hangingPunct="1"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008080"/>
                </a:solidFill>
                <a:ea typeface="仿宋_GB2312"/>
                <a:cs typeface="仿宋_GB2312"/>
              </a:rPr>
              <a:t>表示方法为：用</a:t>
            </a:r>
            <a:r>
              <a:rPr lang="zh-CN" altLang="en-US" sz="3200" dirty="0">
                <a:solidFill>
                  <a:srgbClr val="FF0000"/>
                </a:solidFill>
                <a:ea typeface="仿宋_GB2312"/>
                <a:cs typeface="仿宋_GB2312"/>
              </a:rPr>
              <a:t>小圆圈</a:t>
            </a:r>
            <a:r>
              <a:rPr lang="zh-CN" altLang="en-US" sz="3200" dirty="0">
                <a:solidFill>
                  <a:srgbClr val="008080"/>
                </a:solidFill>
                <a:ea typeface="仿宋_GB2312"/>
                <a:cs typeface="仿宋_GB2312"/>
              </a:rPr>
              <a:t>表示数据元素，用小圆圈之间的</a:t>
            </a:r>
            <a:r>
              <a:rPr lang="zh-CN" altLang="en-US" sz="3200" dirty="0">
                <a:solidFill>
                  <a:srgbClr val="FF0000"/>
                </a:solidFill>
                <a:ea typeface="仿宋_GB2312"/>
                <a:cs typeface="仿宋_GB2312"/>
              </a:rPr>
              <a:t>带有箭头的线段</a:t>
            </a:r>
            <a:r>
              <a:rPr lang="zh-CN" altLang="en-US" sz="3200" dirty="0">
                <a:solidFill>
                  <a:srgbClr val="008080"/>
                </a:solidFill>
                <a:ea typeface="仿宋_GB2312"/>
                <a:cs typeface="仿宋_GB2312"/>
              </a:rPr>
              <a:t>表示数据元素的有序对。</a:t>
            </a:r>
            <a:endParaRPr lang="en-US" altLang="zh-CN" sz="3200" dirty="0">
              <a:solidFill>
                <a:srgbClr val="008080"/>
              </a:solidFill>
              <a:ea typeface="仿宋_GB2312"/>
              <a:cs typeface="仿宋_GB2312"/>
            </a:endParaRPr>
          </a:p>
          <a:p>
            <a:pPr eaLnBrk="1" hangingPunct="1"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008080"/>
                </a:solidFill>
                <a:ea typeface="仿宋_GB2312"/>
                <a:cs typeface="仿宋_GB2312"/>
              </a:rPr>
              <a:t>有序对</a:t>
            </a:r>
            <a:r>
              <a:rPr lang="en-US" altLang="zh-CN" sz="3200" dirty="0">
                <a:solidFill>
                  <a:srgbClr val="008080"/>
                </a:solidFill>
                <a:ea typeface="仿宋_GB2312"/>
                <a:cs typeface="仿宋_GB2312"/>
              </a:rPr>
              <a:t>&lt;</a:t>
            </a:r>
            <a:r>
              <a:rPr lang="en-US" altLang="zh-CN" sz="3200" dirty="0" err="1">
                <a:solidFill>
                  <a:srgbClr val="008080"/>
                </a:solidFill>
                <a:ea typeface="仿宋_GB2312"/>
                <a:cs typeface="仿宋_GB2312"/>
              </a:rPr>
              <a:t>u,v</a:t>
            </a:r>
            <a:r>
              <a:rPr lang="en-US" altLang="zh-CN" sz="3200" dirty="0">
                <a:solidFill>
                  <a:srgbClr val="008080"/>
                </a:solidFill>
                <a:ea typeface="仿宋_GB2312"/>
                <a:cs typeface="仿宋_GB2312"/>
              </a:rPr>
              <a:t>&gt;</a:t>
            </a:r>
            <a:r>
              <a:rPr lang="zh-CN" altLang="en-US" sz="3200" dirty="0">
                <a:solidFill>
                  <a:srgbClr val="008080"/>
                </a:solidFill>
                <a:ea typeface="仿宋_GB2312"/>
                <a:cs typeface="仿宋_GB2312"/>
              </a:rPr>
              <a:t>中，</a:t>
            </a:r>
            <a:r>
              <a:rPr lang="en-US" altLang="zh-CN" sz="3200" dirty="0">
                <a:solidFill>
                  <a:srgbClr val="008080"/>
                </a:solidFill>
                <a:ea typeface="仿宋_GB2312"/>
                <a:cs typeface="仿宋_GB2312"/>
              </a:rPr>
              <a:t>u</a:t>
            </a:r>
            <a:r>
              <a:rPr lang="zh-CN" altLang="en-US" sz="3200" dirty="0">
                <a:solidFill>
                  <a:srgbClr val="008080"/>
                </a:solidFill>
                <a:ea typeface="仿宋_GB2312"/>
                <a:cs typeface="仿宋_GB2312"/>
              </a:rPr>
              <a:t>称为</a:t>
            </a:r>
            <a:r>
              <a:rPr lang="en-US" altLang="zh-CN" sz="3200" dirty="0">
                <a:solidFill>
                  <a:srgbClr val="008080"/>
                </a:solidFill>
                <a:ea typeface="仿宋_GB2312"/>
                <a:cs typeface="仿宋_GB2312"/>
              </a:rPr>
              <a:t>v</a:t>
            </a:r>
            <a:r>
              <a:rPr lang="zh-CN" altLang="en-US" sz="3200" dirty="0">
                <a:solidFill>
                  <a:srgbClr val="008080"/>
                </a:solidFill>
                <a:ea typeface="仿宋_GB2312"/>
                <a:cs typeface="仿宋_GB2312"/>
              </a:rPr>
              <a:t>的直接前驱，简称前驱；</a:t>
            </a:r>
            <a:r>
              <a:rPr lang="en-US" altLang="zh-CN" sz="3200" dirty="0">
                <a:solidFill>
                  <a:srgbClr val="008080"/>
                </a:solidFill>
                <a:ea typeface="仿宋_GB2312"/>
                <a:cs typeface="仿宋_GB2312"/>
              </a:rPr>
              <a:t>v</a:t>
            </a:r>
            <a:r>
              <a:rPr lang="zh-CN" altLang="en-US" sz="3200" dirty="0">
                <a:solidFill>
                  <a:srgbClr val="008080"/>
                </a:solidFill>
                <a:ea typeface="仿宋_GB2312"/>
                <a:cs typeface="仿宋_GB2312"/>
              </a:rPr>
              <a:t>称为</a:t>
            </a:r>
            <a:r>
              <a:rPr lang="en-US" altLang="zh-CN" sz="3200" dirty="0">
                <a:solidFill>
                  <a:srgbClr val="008080"/>
                </a:solidFill>
                <a:ea typeface="仿宋_GB2312"/>
                <a:cs typeface="仿宋_GB2312"/>
              </a:rPr>
              <a:t>u</a:t>
            </a:r>
            <a:r>
              <a:rPr lang="zh-CN" altLang="en-US" sz="3200" dirty="0">
                <a:solidFill>
                  <a:srgbClr val="008080"/>
                </a:solidFill>
                <a:ea typeface="仿宋_GB2312"/>
                <a:cs typeface="仿宋_GB2312"/>
              </a:rPr>
              <a:t>的直接后继，简称为后继。</a:t>
            </a:r>
            <a:endParaRPr lang="en-US" altLang="zh-CN" sz="3200" dirty="0">
              <a:solidFill>
                <a:srgbClr val="008080"/>
              </a:solidFill>
              <a:ea typeface="仿宋_GB2312"/>
              <a:cs typeface="仿宋_GB2312"/>
            </a:endParaRPr>
          </a:p>
          <a:p>
            <a:pPr eaLnBrk="1" hangingPunct="1"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008080"/>
                </a:solidFill>
                <a:ea typeface="仿宋_GB2312"/>
                <a:cs typeface="仿宋_GB2312"/>
              </a:rPr>
              <a:t>数据元素之间的</a:t>
            </a:r>
            <a:r>
              <a:rPr lang="zh-CN" altLang="en-US" sz="3200" dirty="0">
                <a:solidFill>
                  <a:srgbClr val="FF0000"/>
                </a:solidFill>
                <a:ea typeface="仿宋_GB2312"/>
                <a:cs typeface="仿宋_GB2312"/>
              </a:rPr>
              <a:t>关系</a:t>
            </a:r>
            <a:r>
              <a:rPr lang="zh-CN" altLang="en-US" sz="3200" dirty="0">
                <a:solidFill>
                  <a:srgbClr val="008080"/>
                </a:solidFill>
                <a:ea typeface="仿宋_GB2312"/>
                <a:cs typeface="仿宋_GB2312"/>
              </a:rPr>
              <a:t>定义为</a:t>
            </a:r>
            <a:r>
              <a:rPr lang="zh-CN" altLang="en-US" sz="3200" dirty="0">
                <a:solidFill>
                  <a:srgbClr val="FF0000"/>
                </a:solidFill>
                <a:ea typeface="仿宋_GB2312"/>
                <a:cs typeface="仿宋_GB2312"/>
              </a:rPr>
              <a:t>有序对的集合</a:t>
            </a:r>
            <a:r>
              <a:rPr lang="zh-CN" altLang="en-US" sz="3200" dirty="0">
                <a:solidFill>
                  <a:srgbClr val="008080"/>
                </a:solidFill>
                <a:ea typeface="仿宋_GB2312"/>
                <a:cs typeface="仿宋_GB2312"/>
              </a:rPr>
              <a:t>。</a:t>
            </a:r>
            <a:endParaRPr lang="en-US" altLang="zh-CN" sz="4000" dirty="0">
              <a:solidFill>
                <a:srgbClr val="008080"/>
              </a:solidFill>
              <a:ea typeface="仿宋_GB2312"/>
              <a:cs typeface="仿宋_GB2312"/>
            </a:endParaRPr>
          </a:p>
        </p:txBody>
      </p:sp>
    </p:spTree>
  </p:cSld>
  <p:clrMapOvr>
    <a:masterClrMapping/>
  </p:clrMapOvr>
  <p:transition>
    <p:strips dir="r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dirty="0"/>
              <a:t>种逻辑结构</a:t>
            </a:r>
            <a:endParaRPr dirty="0"/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33400" lvl="1">
              <a:lnSpc>
                <a:spcPct val="110000"/>
              </a:lnSpc>
              <a:buClr>
                <a:schemeClr val="accent2"/>
              </a:buClr>
              <a:buSzPct val="80000"/>
              <a:buFontTx/>
              <a:buNone/>
            </a:pPr>
            <a:r>
              <a:rPr lang="zh-CN" altLang="en-US" sz="2800" dirty="0">
                <a:solidFill>
                  <a:srgbClr val="0000FF"/>
                </a:solidFill>
                <a:latin typeface="宋体" panose="02010600030101010101" pitchFamily="2" charset="-122"/>
                <a:ea typeface="楷体_GB2312" pitchFamily="49" charset="-122"/>
              </a:rPr>
              <a:t>①集合结构：结构</a:t>
            </a:r>
            <a:r>
              <a:rPr lang="zh-CN" altLang="en-US" sz="2800" dirty="0">
                <a:solidFill>
                  <a:srgbClr val="0000FF"/>
                </a:solidFill>
                <a:latin typeface="宋体" panose="02010600030101010101" pitchFamily="2" charset="-122"/>
                <a:ea typeface="楷体_GB2312" pitchFamily="49" charset="-122"/>
              </a:rPr>
              <a:t>中的数据元素除了</a:t>
            </a:r>
            <a:r>
              <a:rPr lang="en-US" altLang="zh-CN" sz="2800" dirty="0">
                <a:solidFill>
                  <a:srgbClr val="0000FF"/>
                </a:solidFill>
                <a:latin typeface="宋体" panose="02010600030101010101" pitchFamily="2" charset="-122"/>
                <a:ea typeface="楷体_GB2312" pitchFamily="49" charset="-122"/>
              </a:rPr>
              <a:t>“</a:t>
            </a:r>
            <a:r>
              <a:rPr lang="zh-CN" altLang="en-US" sz="2800" dirty="0">
                <a:solidFill>
                  <a:srgbClr val="0000FF"/>
                </a:solidFill>
                <a:latin typeface="宋体" panose="02010600030101010101" pitchFamily="2" charset="-122"/>
                <a:ea typeface="楷体_GB2312" pitchFamily="49" charset="-122"/>
              </a:rPr>
              <a:t>同属于一个集合</a:t>
            </a:r>
            <a:r>
              <a:rPr lang="en-US" altLang="zh-CN" sz="2800" dirty="0">
                <a:solidFill>
                  <a:srgbClr val="0000FF"/>
                </a:solidFill>
                <a:latin typeface="宋体" panose="02010600030101010101" pitchFamily="2" charset="-122"/>
                <a:ea typeface="楷体_GB2312" pitchFamily="49" charset="-122"/>
              </a:rPr>
              <a:t>”</a:t>
            </a:r>
            <a:r>
              <a:rPr lang="zh-CN" altLang="en-US" sz="2800" dirty="0">
                <a:solidFill>
                  <a:srgbClr val="0000FF"/>
                </a:solidFill>
                <a:latin typeface="宋体" panose="02010600030101010101" pitchFamily="2" charset="-122"/>
                <a:ea typeface="楷体_GB2312" pitchFamily="49" charset="-122"/>
              </a:rPr>
              <a:t>的关系之外，没有别的</a:t>
            </a:r>
            <a:r>
              <a:rPr lang="zh-CN" altLang="en-US" sz="2800" dirty="0">
                <a:solidFill>
                  <a:srgbClr val="0000FF"/>
                </a:solidFill>
                <a:latin typeface="宋体" panose="02010600030101010101" pitchFamily="2" charset="-122"/>
                <a:ea typeface="楷体_GB2312" pitchFamily="49" charset="-122"/>
              </a:rPr>
              <a:t>关系。</a:t>
            </a:r>
            <a:endParaRPr lang="zh-CN" altLang="en-US" sz="2800" dirty="0">
              <a:solidFill>
                <a:srgbClr val="0000FF"/>
              </a:solidFill>
              <a:latin typeface="宋体" panose="02010600030101010101" pitchFamily="2" charset="-122"/>
              <a:ea typeface="楷体_GB2312" pitchFamily="49" charset="-122"/>
            </a:endParaRPr>
          </a:p>
          <a:p>
            <a:pPr marL="533400" lvl="1">
              <a:lnSpc>
                <a:spcPct val="110000"/>
              </a:lnSpc>
              <a:buClr>
                <a:schemeClr val="accent2"/>
              </a:buClr>
              <a:buSzPct val="80000"/>
              <a:buFontTx/>
              <a:buNone/>
            </a:pPr>
            <a:r>
              <a:rPr lang="zh-CN" altLang="en-US" sz="2800" dirty="0">
                <a:solidFill>
                  <a:srgbClr val="0000FF"/>
                </a:solidFill>
                <a:latin typeface="宋体" panose="02010600030101010101" pitchFamily="2" charset="-122"/>
                <a:ea typeface="楷体_GB2312" pitchFamily="49" charset="-122"/>
                <a:sym typeface="+mn-ea"/>
              </a:rPr>
              <a:t>②</a:t>
            </a:r>
            <a:r>
              <a:rPr lang="zh-CN" altLang="en-US" sz="2800" dirty="0">
                <a:solidFill>
                  <a:srgbClr val="0000FF"/>
                </a:solidFill>
                <a:ea typeface="楷体_GB2312" pitchFamily="49" charset="-122"/>
              </a:rPr>
              <a:t>线性结构：结构中的数据元素之间存在</a:t>
            </a:r>
            <a:r>
              <a:rPr lang="zh-CN" altLang="en-US" sz="2800" dirty="0">
                <a:solidFill>
                  <a:srgbClr val="C00000"/>
                </a:solidFill>
                <a:ea typeface="楷体_GB2312" pitchFamily="49" charset="-122"/>
              </a:rPr>
              <a:t>一对一</a:t>
            </a:r>
            <a:r>
              <a:rPr lang="zh-CN" altLang="en-US" sz="2800" dirty="0">
                <a:solidFill>
                  <a:srgbClr val="0000FF"/>
                </a:solidFill>
                <a:ea typeface="楷体_GB2312" pitchFamily="49" charset="-122"/>
              </a:rPr>
              <a:t>的关系。</a:t>
            </a:r>
            <a:endParaRPr lang="zh-CN" altLang="en-US" sz="2800" dirty="0">
              <a:solidFill>
                <a:srgbClr val="0000FF"/>
              </a:solidFill>
              <a:ea typeface="楷体_GB2312" pitchFamily="49" charset="-122"/>
            </a:endParaRPr>
          </a:p>
          <a:p>
            <a:pPr marL="533400" lvl="1">
              <a:lnSpc>
                <a:spcPct val="110000"/>
              </a:lnSpc>
              <a:buClr>
                <a:schemeClr val="accent2"/>
              </a:buClr>
              <a:buSzPct val="80000"/>
              <a:buFontTx/>
              <a:buNone/>
            </a:pPr>
            <a:r>
              <a:rPr lang="zh-CN" altLang="en-US" sz="2800" dirty="0">
                <a:solidFill>
                  <a:srgbClr val="0000FF"/>
                </a:solidFill>
                <a:latin typeface="宋体" panose="02010600030101010101" pitchFamily="2" charset="-122"/>
                <a:ea typeface="楷体_GB2312" pitchFamily="49" charset="-122"/>
                <a:sym typeface="+mn-ea"/>
              </a:rPr>
              <a:t>③</a:t>
            </a:r>
            <a:r>
              <a:rPr lang="zh-CN" altLang="en-US" sz="2800" dirty="0">
                <a:solidFill>
                  <a:srgbClr val="0000FF"/>
                </a:solidFill>
                <a:ea typeface="楷体_GB2312" pitchFamily="49" charset="-122"/>
              </a:rPr>
              <a:t>树型结构：结构中的数据元素之间存在</a:t>
            </a:r>
            <a:r>
              <a:rPr lang="zh-CN" altLang="en-US" sz="2800" dirty="0">
                <a:solidFill>
                  <a:srgbClr val="C00000"/>
                </a:solidFill>
                <a:ea typeface="楷体_GB2312" pitchFamily="49" charset="-122"/>
              </a:rPr>
              <a:t>一对多</a:t>
            </a:r>
            <a:r>
              <a:rPr lang="zh-CN" altLang="en-US" sz="2800" dirty="0">
                <a:solidFill>
                  <a:srgbClr val="0000FF"/>
                </a:solidFill>
                <a:ea typeface="楷体_GB2312" pitchFamily="49" charset="-122"/>
              </a:rPr>
              <a:t>的关系。</a:t>
            </a:r>
            <a:endParaRPr lang="zh-CN" altLang="en-US" sz="2800" dirty="0">
              <a:solidFill>
                <a:srgbClr val="0000FF"/>
              </a:solidFill>
              <a:ea typeface="楷体_GB2312" pitchFamily="49" charset="-122"/>
            </a:endParaRPr>
          </a:p>
          <a:p>
            <a:pPr marL="533400" lvl="1">
              <a:lnSpc>
                <a:spcPct val="110000"/>
              </a:lnSpc>
              <a:buClr>
                <a:schemeClr val="accent2"/>
              </a:buClr>
              <a:buSzPct val="80000"/>
              <a:buFontTx/>
              <a:buNone/>
            </a:pPr>
            <a:r>
              <a:rPr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④</a:t>
            </a:r>
            <a:r>
              <a:rPr lang="zh-CN" altLang="en-US" sz="2800" dirty="0">
                <a:solidFill>
                  <a:srgbClr val="0000FF"/>
                </a:solidFill>
                <a:ea typeface="楷体_GB2312" pitchFamily="49" charset="-122"/>
              </a:rPr>
              <a:t>图</a:t>
            </a:r>
            <a:r>
              <a:rPr lang="zh-CN" altLang="en-US" sz="2800">
                <a:solidFill>
                  <a:srgbClr val="0000FF"/>
                </a:solidFill>
                <a:ea typeface="楷体_GB2312" pitchFamily="49" charset="-122"/>
              </a:rPr>
              <a:t>状结构：</a:t>
            </a:r>
            <a:r>
              <a:rPr lang="zh-CN" altLang="en-US" sz="2800" dirty="0">
                <a:solidFill>
                  <a:srgbClr val="0000FF"/>
                </a:solidFill>
                <a:ea typeface="楷体_GB2312" pitchFamily="49" charset="-122"/>
              </a:rPr>
              <a:t>结构中的数据元素之间存在</a:t>
            </a:r>
            <a:r>
              <a:rPr lang="zh-CN" altLang="en-US" sz="2800" dirty="0">
                <a:solidFill>
                  <a:srgbClr val="C00000"/>
                </a:solidFill>
                <a:ea typeface="楷体_GB2312" pitchFamily="49" charset="-122"/>
              </a:rPr>
              <a:t>多对多</a:t>
            </a:r>
            <a:r>
              <a:rPr lang="zh-CN" altLang="en-US" sz="2800" dirty="0">
                <a:solidFill>
                  <a:srgbClr val="0000FF"/>
                </a:solidFill>
                <a:ea typeface="楷体_GB2312" pitchFamily="49" charset="-122"/>
              </a:rPr>
              <a:t>的关系。</a:t>
            </a:r>
            <a:endParaRPr lang="zh-CN" altLang="en-US" sz="2800" dirty="0">
              <a:solidFill>
                <a:srgbClr val="0000FF"/>
              </a:solidFill>
              <a:ea typeface="楷体_GB2312" pitchFamily="49" charset="-122"/>
            </a:endParaRPr>
          </a:p>
          <a:p>
            <a:endParaRPr lang="zh-CN" altLang="en-US" dirty="0">
              <a:solidFill>
                <a:srgbClr val="0000FF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4696143" y="1509713"/>
            <a:ext cx="7010400" cy="889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lang="zh-CN" sz="36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华文隶书" panose="02010800040101010101" pitchFamily="2" charset="-122"/>
              </a:rPr>
              <a:t>线性结构</a:t>
            </a:r>
            <a:endParaRPr lang="zh-CN" sz="33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华文隶书" panose="02010800040101010101" pitchFamily="2" charset="-122"/>
            </a:endParaRPr>
          </a:p>
        </p:txBody>
      </p:sp>
      <p:sp>
        <p:nvSpPr>
          <p:cNvPr id="17412" name="Rectangle 3"/>
          <p:cNvSpPr>
            <a:spLocks noChangeArrowheads="1"/>
          </p:cNvSpPr>
          <p:nvPr/>
        </p:nvSpPr>
        <p:spPr bwMode="auto">
          <a:xfrm>
            <a:off x="539750" y="2971483"/>
            <a:ext cx="7772400" cy="914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12947" tIns="56473" rIns="112947" bIns="56473" anchor="ctr"/>
          <a:lstStyle/>
          <a:p>
            <a:pPr defTabSz="1129030" eaLnBrk="1" hangingPunct="1">
              <a:defRPr/>
            </a:pPr>
            <a:r>
              <a:rPr lang="zh-CN" sz="36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华文隶书" panose="02010800040101010101" pitchFamily="2" charset="-122"/>
              </a:rPr>
              <a:t>树形结构</a:t>
            </a:r>
            <a:endParaRPr lang="zh-CN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华文隶书" panose="02010800040101010101" pitchFamily="2" charset="-122"/>
            </a:endParaRPr>
          </a:p>
        </p:txBody>
      </p:sp>
      <p:sp>
        <p:nvSpPr>
          <p:cNvPr id="17413" name="Text Box 4"/>
          <p:cNvSpPr txBox="1">
            <a:spLocks noChangeArrowheads="1"/>
          </p:cNvSpPr>
          <p:nvPr/>
        </p:nvSpPr>
        <p:spPr bwMode="auto">
          <a:xfrm>
            <a:off x="882015" y="3645218"/>
            <a:ext cx="7734300" cy="6016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12947" tIns="56473" rIns="112947" bIns="56473">
            <a:spAutoFit/>
          </a:bodyPr>
          <a:lstStyle/>
          <a:p>
            <a:pPr defTabSz="1129030" eaLnBrk="1" hangingPunct="1">
              <a:defRPr/>
            </a:pPr>
            <a:r>
              <a:rPr lang="zh-CN" sz="32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树                       二叉树             二叉搜索树</a:t>
            </a:r>
            <a:endParaRPr lang="zh-CN" sz="3000" dirty="0">
              <a:solidFill>
                <a:srgbClr val="CC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grpSp>
        <p:nvGrpSpPr>
          <p:cNvPr id="25605" name="Group 5"/>
          <p:cNvGrpSpPr/>
          <p:nvPr/>
        </p:nvGrpSpPr>
        <p:grpSpPr bwMode="auto">
          <a:xfrm>
            <a:off x="3302635" y="2504440"/>
            <a:ext cx="5668010" cy="594360"/>
            <a:chOff x="0" y="0"/>
            <a:chExt cx="4180" cy="378"/>
          </a:xfrm>
        </p:grpSpPr>
        <p:sp>
          <p:nvSpPr>
            <p:cNvPr id="17512" name="Oval 6"/>
            <p:cNvSpPr>
              <a:spLocks noChangeArrowheads="1"/>
            </p:cNvSpPr>
            <p:nvPr/>
          </p:nvSpPr>
          <p:spPr bwMode="auto">
            <a:xfrm>
              <a:off x="0" y="34"/>
              <a:ext cx="464" cy="344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513" name="Oval 7"/>
            <p:cNvSpPr>
              <a:spLocks noChangeArrowheads="1"/>
            </p:cNvSpPr>
            <p:nvPr/>
          </p:nvSpPr>
          <p:spPr bwMode="auto">
            <a:xfrm>
              <a:off x="912" y="26"/>
              <a:ext cx="464" cy="344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514" name="Line 8"/>
            <p:cNvSpPr>
              <a:spLocks noChangeShapeType="1"/>
            </p:cNvSpPr>
            <p:nvPr/>
          </p:nvSpPr>
          <p:spPr bwMode="auto">
            <a:xfrm>
              <a:off x="456" y="202"/>
              <a:ext cx="456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515" name="Line 9"/>
            <p:cNvSpPr>
              <a:spLocks noChangeShapeType="1"/>
            </p:cNvSpPr>
            <p:nvPr/>
          </p:nvSpPr>
          <p:spPr bwMode="auto">
            <a:xfrm>
              <a:off x="1376" y="202"/>
              <a:ext cx="456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516" name="Oval 10"/>
            <p:cNvSpPr>
              <a:spLocks noChangeArrowheads="1"/>
            </p:cNvSpPr>
            <p:nvPr/>
          </p:nvSpPr>
          <p:spPr bwMode="auto">
            <a:xfrm>
              <a:off x="1832" y="26"/>
              <a:ext cx="464" cy="344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517" name="Line 11"/>
            <p:cNvSpPr>
              <a:spLocks noChangeShapeType="1"/>
            </p:cNvSpPr>
            <p:nvPr/>
          </p:nvSpPr>
          <p:spPr bwMode="auto">
            <a:xfrm>
              <a:off x="2296" y="202"/>
              <a:ext cx="456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518" name="Oval 12"/>
            <p:cNvSpPr>
              <a:spLocks noChangeArrowheads="1"/>
            </p:cNvSpPr>
            <p:nvPr/>
          </p:nvSpPr>
          <p:spPr bwMode="auto">
            <a:xfrm>
              <a:off x="2760" y="26"/>
              <a:ext cx="464" cy="344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519" name="Line 13"/>
            <p:cNvSpPr>
              <a:spLocks noChangeShapeType="1"/>
            </p:cNvSpPr>
            <p:nvPr/>
          </p:nvSpPr>
          <p:spPr bwMode="auto">
            <a:xfrm>
              <a:off x="3224" y="194"/>
              <a:ext cx="456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520" name="Text Box 14"/>
            <p:cNvSpPr txBox="1">
              <a:spLocks noChangeArrowheads="1"/>
            </p:cNvSpPr>
            <p:nvPr/>
          </p:nvSpPr>
          <p:spPr bwMode="auto">
            <a:xfrm>
              <a:off x="14" y="28"/>
              <a:ext cx="428" cy="25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000">
                  <a:solidFill>
                    <a:srgbClr val="CC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bin</a:t>
              </a:r>
              <a:endParaRPr lang="zh-CN" altLang="zh-CN" sz="200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521" name="Text Box 15"/>
            <p:cNvSpPr txBox="1">
              <a:spLocks noChangeArrowheads="1"/>
            </p:cNvSpPr>
            <p:nvPr/>
          </p:nvSpPr>
          <p:spPr bwMode="auto">
            <a:xfrm>
              <a:off x="926" y="20"/>
              <a:ext cx="452" cy="25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000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dev</a:t>
              </a:r>
              <a:endParaRPr lang="zh-CN" altLang="zh-CN" sz="20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522" name="Text Box 16"/>
            <p:cNvSpPr txBox="1">
              <a:spLocks noChangeArrowheads="1"/>
            </p:cNvSpPr>
            <p:nvPr/>
          </p:nvSpPr>
          <p:spPr bwMode="auto">
            <a:xfrm>
              <a:off x="1878" y="12"/>
              <a:ext cx="389" cy="25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000">
                  <a:solidFill>
                    <a:srgbClr val="CC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etc</a:t>
              </a:r>
              <a:endParaRPr lang="zh-CN" altLang="zh-CN" sz="200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523" name="Text Box 17"/>
            <p:cNvSpPr txBox="1">
              <a:spLocks noChangeArrowheads="1"/>
            </p:cNvSpPr>
            <p:nvPr/>
          </p:nvSpPr>
          <p:spPr bwMode="auto">
            <a:xfrm>
              <a:off x="2806" y="28"/>
              <a:ext cx="365" cy="25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000">
                  <a:solidFill>
                    <a:srgbClr val="CC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lib</a:t>
              </a:r>
              <a:endParaRPr lang="zh-CN" altLang="zh-CN" sz="200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25715" name="Group 18"/>
            <p:cNvGrpSpPr/>
            <p:nvPr/>
          </p:nvGrpSpPr>
          <p:grpSpPr bwMode="auto">
            <a:xfrm>
              <a:off x="3654" y="0"/>
              <a:ext cx="526" cy="354"/>
              <a:chOff x="0" y="0"/>
              <a:chExt cx="526" cy="354"/>
            </a:xfrm>
          </p:grpSpPr>
          <p:sp>
            <p:nvSpPr>
              <p:cNvPr id="17525" name="Oval 19"/>
              <p:cNvSpPr>
                <a:spLocks noChangeArrowheads="1"/>
              </p:cNvSpPr>
              <p:nvPr/>
            </p:nvSpPr>
            <p:spPr bwMode="auto">
              <a:xfrm>
                <a:off x="26" y="10"/>
                <a:ext cx="464" cy="344"/>
              </a:xfrm>
              <a:prstGeom prst="ellipse">
                <a:avLst/>
              </a:prstGeom>
              <a:solidFill>
                <a:srgbClr val="66FFFF"/>
              </a:solidFill>
              <a:ln w="28575">
                <a:solidFill>
                  <a:srgbClr val="0000CC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7526" name="Text Box 20"/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526" cy="25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zh-CN" sz="2000">
                    <a:solidFill>
                      <a:srgbClr val="CC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user</a:t>
                </a:r>
                <a:endParaRPr lang="zh-CN" altLang="zh-CN" sz="2000">
                  <a:solidFill>
                    <a:srgbClr val="CC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grpSp>
        <p:nvGrpSpPr>
          <p:cNvPr id="25606" name="Group 21"/>
          <p:cNvGrpSpPr/>
          <p:nvPr/>
        </p:nvGrpSpPr>
        <p:grpSpPr bwMode="auto">
          <a:xfrm>
            <a:off x="441960" y="4364990"/>
            <a:ext cx="8216900" cy="2346347"/>
            <a:chOff x="0" y="0"/>
            <a:chExt cx="5377" cy="1712"/>
          </a:xfrm>
        </p:grpSpPr>
        <p:sp>
          <p:nvSpPr>
            <p:cNvPr id="17416" name="Line 22"/>
            <p:cNvSpPr>
              <a:spLocks noChangeShapeType="1"/>
            </p:cNvSpPr>
            <p:nvPr/>
          </p:nvSpPr>
          <p:spPr bwMode="auto">
            <a:xfrm flipH="1">
              <a:off x="720" y="228"/>
              <a:ext cx="60" cy="27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17" name="Line 23"/>
            <p:cNvSpPr>
              <a:spLocks noChangeShapeType="1"/>
            </p:cNvSpPr>
            <p:nvPr/>
          </p:nvSpPr>
          <p:spPr bwMode="auto">
            <a:xfrm>
              <a:off x="4152" y="680"/>
              <a:ext cx="240" cy="3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18" name="Line 24"/>
            <p:cNvSpPr>
              <a:spLocks noChangeShapeType="1"/>
            </p:cNvSpPr>
            <p:nvPr/>
          </p:nvSpPr>
          <p:spPr bwMode="auto">
            <a:xfrm flipH="1">
              <a:off x="4960" y="640"/>
              <a:ext cx="240" cy="3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19" name="Line 25"/>
            <p:cNvSpPr>
              <a:spLocks noChangeShapeType="1"/>
            </p:cNvSpPr>
            <p:nvPr/>
          </p:nvSpPr>
          <p:spPr bwMode="auto">
            <a:xfrm flipH="1">
              <a:off x="3824" y="656"/>
              <a:ext cx="240" cy="3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20" name="Line 26"/>
            <p:cNvSpPr>
              <a:spLocks noChangeShapeType="1"/>
            </p:cNvSpPr>
            <p:nvPr/>
          </p:nvSpPr>
          <p:spPr bwMode="auto">
            <a:xfrm>
              <a:off x="4968" y="1200"/>
              <a:ext cx="96" cy="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21" name="Line 27"/>
            <p:cNvSpPr>
              <a:spLocks noChangeShapeType="1"/>
            </p:cNvSpPr>
            <p:nvPr/>
          </p:nvSpPr>
          <p:spPr bwMode="auto">
            <a:xfrm>
              <a:off x="3856" y="1168"/>
              <a:ext cx="96" cy="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22" name="Line 28"/>
            <p:cNvSpPr>
              <a:spLocks noChangeShapeType="1"/>
            </p:cNvSpPr>
            <p:nvPr/>
          </p:nvSpPr>
          <p:spPr bwMode="auto">
            <a:xfrm flipH="1">
              <a:off x="4225" y="1128"/>
              <a:ext cx="135" cy="3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23" name="Line 29"/>
            <p:cNvSpPr>
              <a:spLocks noChangeShapeType="1"/>
            </p:cNvSpPr>
            <p:nvPr/>
          </p:nvSpPr>
          <p:spPr bwMode="auto">
            <a:xfrm flipH="1">
              <a:off x="3657" y="1144"/>
              <a:ext cx="135" cy="3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24" name="Line 30"/>
            <p:cNvSpPr>
              <a:spLocks noChangeShapeType="1"/>
            </p:cNvSpPr>
            <p:nvPr/>
          </p:nvSpPr>
          <p:spPr bwMode="auto">
            <a:xfrm>
              <a:off x="4768" y="224"/>
              <a:ext cx="432" cy="28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25" name="Line 31"/>
            <p:cNvSpPr>
              <a:spLocks noChangeShapeType="1"/>
            </p:cNvSpPr>
            <p:nvPr/>
          </p:nvSpPr>
          <p:spPr bwMode="auto">
            <a:xfrm flipH="1">
              <a:off x="4136" y="216"/>
              <a:ext cx="480" cy="3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26" name="Line 32"/>
            <p:cNvSpPr>
              <a:spLocks noChangeShapeType="1"/>
            </p:cNvSpPr>
            <p:nvPr/>
          </p:nvSpPr>
          <p:spPr bwMode="auto">
            <a:xfrm>
              <a:off x="2928" y="240"/>
              <a:ext cx="432" cy="28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27" name="Line 33"/>
            <p:cNvSpPr>
              <a:spLocks noChangeShapeType="1"/>
            </p:cNvSpPr>
            <p:nvPr/>
          </p:nvSpPr>
          <p:spPr bwMode="auto">
            <a:xfrm flipH="1">
              <a:off x="2304" y="240"/>
              <a:ext cx="480" cy="3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28" name="Line 34"/>
            <p:cNvSpPr>
              <a:spLocks noChangeShapeType="1"/>
            </p:cNvSpPr>
            <p:nvPr/>
          </p:nvSpPr>
          <p:spPr bwMode="auto">
            <a:xfrm>
              <a:off x="2304" y="624"/>
              <a:ext cx="240" cy="3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29" name="Line 35"/>
            <p:cNvSpPr>
              <a:spLocks noChangeShapeType="1"/>
            </p:cNvSpPr>
            <p:nvPr/>
          </p:nvSpPr>
          <p:spPr bwMode="auto">
            <a:xfrm flipH="1">
              <a:off x="3168" y="624"/>
              <a:ext cx="240" cy="3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30" name="Line 36"/>
            <p:cNvSpPr>
              <a:spLocks noChangeShapeType="1"/>
            </p:cNvSpPr>
            <p:nvPr/>
          </p:nvSpPr>
          <p:spPr bwMode="auto">
            <a:xfrm flipH="1">
              <a:off x="2016" y="624"/>
              <a:ext cx="240" cy="3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31" name="Line 37"/>
            <p:cNvSpPr>
              <a:spLocks noChangeShapeType="1"/>
            </p:cNvSpPr>
            <p:nvPr/>
          </p:nvSpPr>
          <p:spPr bwMode="auto">
            <a:xfrm>
              <a:off x="2592" y="1152"/>
              <a:ext cx="96" cy="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32" name="Line 38"/>
            <p:cNvSpPr>
              <a:spLocks noChangeShapeType="1"/>
            </p:cNvSpPr>
            <p:nvPr/>
          </p:nvSpPr>
          <p:spPr bwMode="auto">
            <a:xfrm>
              <a:off x="2016" y="1152"/>
              <a:ext cx="96" cy="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33" name="Line 39"/>
            <p:cNvSpPr>
              <a:spLocks noChangeShapeType="1"/>
            </p:cNvSpPr>
            <p:nvPr/>
          </p:nvSpPr>
          <p:spPr bwMode="auto">
            <a:xfrm flipH="1">
              <a:off x="1817" y="1152"/>
              <a:ext cx="135" cy="3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34" name="Line 40"/>
            <p:cNvSpPr>
              <a:spLocks noChangeShapeType="1"/>
            </p:cNvSpPr>
            <p:nvPr/>
          </p:nvSpPr>
          <p:spPr bwMode="auto">
            <a:xfrm>
              <a:off x="720" y="1104"/>
              <a:ext cx="384" cy="3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35" name="Line 41"/>
            <p:cNvSpPr>
              <a:spLocks noChangeShapeType="1"/>
            </p:cNvSpPr>
            <p:nvPr/>
          </p:nvSpPr>
          <p:spPr bwMode="auto">
            <a:xfrm flipH="1">
              <a:off x="305" y="1104"/>
              <a:ext cx="383" cy="3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36" name="Line 42"/>
            <p:cNvSpPr>
              <a:spLocks noChangeShapeType="1"/>
            </p:cNvSpPr>
            <p:nvPr/>
          </p:nvSpPr>
          <p:spPr bwMode="auto">
            <a:xfrm>
              <a:off x="1270" y="576"/>
              <a:ext cx="266" cy="3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37" name="Line 43"/>
            <p:cNvSpPr>
              <a:spLocks noChangeShapeType="1"/>
            </p:cNvSpPr>
            <p:nvPr/>
          </p:nvSpPr>
          <p:spPr bwMode="auto">
            <a:xfrm flipH="1">
              <a:off x="1008" y="576"/>
              <a:ext cx="240" cy="3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38" name="Line 44"/>
            <p:cNvSpPr>
              <a:spLocks noChangeShapeType="1"/>
            </p:cNvSpPr>
            <p:nvPr/>
          </p:nvSpPr>
          <p:spPr bwMode="auto">
            <a:xfrm>
              <a:off x="696" y="720"/>
              <a:ext cx="0" cy="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39" name="Line 45"/>
            <p:cNvSpPr>
              <a:spLocks noChangeShapeType="1"/>
            </p:cNvSpPr>
            <p:nvPr/>
          </p:nvSpPr>
          <p:spPr bwMode="auto">
            <a:xfrm>
              <a:off x="288" y="720"/>
              <a:ext cx="85" cy="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40" name="Line 46"/>
            <p:cNvSpPr>
              <a:spLocks noChangeShapeType="1"/>
            </p:cNvSpPr>
            <p:nvPr/>
          </p:nvSpPr>
          <p:spPr bwMode="auto">
            <a:xfrm flipH="1">
              <a:off x="168" y="720"/>
              <a:ext cx="71" cy="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41" name="Line 47"/>
            <p:cNvSpPr>
              <a:spLocks noChangeShapeType="1"/>
            </p:cNvSpPr>
            <p:nvPr/>
          </p:nvSpPr>
          <p:spPr bwMode="auto">
            <a:xfrm>
              <a:off x="864" y="208"/>
              <a:ext cx="384" cy="3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42" name="Line 48"/>
            <p:cNvSpPr>
              <a:spLocks noChangeShapeType="1"/>
            </p:cNvSpPr>
            <p:nvPr/>
          </p:nvSpPr>
          <p:spPr bwMode="auto">
            <a:xfrm flipH="1">
              <a:off x="305" y="208"/>
              <a:ext cx="415" cy="3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43" name="Oval 49"/>
            <p:cNvSpPr>
              <a:spLocks noChangeArrowheads="1"/>
            </p:cNvSpPr>
            <p:nvPr/>
          </p:nvSpPr>
          <p:spPr bwMode="auto">
            <a:xfrm>
              <a:off x="0" y="960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44" name="Oval 50"/>
            <p:cNvSpPr>
              <a:spLocks noChangeArrowheads="1"/>
            </p:cNvSpPr>
            <p:nvPr/>
          </p:nvSpPr>
          <p:spPr bwMode="auto">
            <a:xfrm>
              <a:off x="288" y="960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45" name="Oval 51"/>
            <p:cNvSpPr>
              <a:spLocks noChangeArrowheads="1"/>
            </p:cNvSpPr>
            <p:nvPr/>
          </p:nvSpPr>
          <p:spPr bwMode="auto">
            <a:xfrm>
              <a:off x="576" y="960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46" name="Oval 52"/>
            <p:cNvSpPr>
              <a:spLocks noChangeArrowheads="1"/>
            </p:cNvSpPr>
            <p:nvPr/>
          </p:nvSpPr>
          <p:spPr bwMode="auto">
            <a:xfrm>
              <a:off x="864" y="960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47" name="Oval 53"/>
            <p:cNvSpPr>
              <a:spLocks noChangeArrowheads="1"/>
            </p:cNvSpPr>
            <p:nvPr/>
          </p:nvSpPr>
          <p:spPr bwMode="auto">
            <a:xfrm>
              <a:off x="1152" y="960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48" name="Oval 54"/>
            <p:cNvSpPr>
              <a:spLocks noChangeArrowheads="1"/>
            </p:cNvSpPr>
            <p:nvPr/>
          </p:nvSpPr>
          <p:spPr bwMode="auto">
            <a:xfrm>
              <a:off x="1440" y="960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49" name="Oval 55"/>
            <p:cNvSpPr>
              <a:spLocks noChangeArrowheads="1"/>
            </p:cNvSpPr>
            <p:nvPr/>
          </p:nvSpPr>
          <p:spPr bwMode="auto">
            <a:xfrm>
              <a:off x="432" y="1392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50" name="Oval 56"/>
            <p:cNvSpPr>
              <a:spLocks noChangeArrowheads="1"/>
            </p:cNvSpPr>
            <p:nvPr/>
          </p:nvSpPr>
          <p:spPr bwMode="auto">
            <a:xfrm>
              <a:off x="720" y="1392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51" name="Oval 57"/>
            <p:cNvSpPr>
              <a:spLocks noChangeArrowheads="1"/>
            </p:cNvSpPr>
            <p:nvPr/>
          </p:nvSpPr>
          <p:spPr bwMode="auto">
            <a:xfrm>
              <a:off x="1008" y="1392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52" name="Oval 58"/>
            <p:cNvSpPr>
              <a:spLocks noChangeArrowheads="1"/>
            </p:cNvSpPr>
            <p:nvPr/>
          </p:nvSpPr>
          <p:spPr bwMode="auto">
            <a:xfrm>
              <a:off x="144" y="1392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53" name="Oval 59"/>
            <p:cNvSpPr>
              <a:spLocks noChangeArrowheads="1"/>
            </p:cNvSpPr>
            <p:nvPr/>
          </p:nvSpPr>
          <p:spPr bwMode="auto">
            <a:xfrm>
              <a:off x="144" y="480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54" name="Oval 60"/>
            <p:cNvSpPr>
              <a:spLocks noChangeArrowheads="1"/>
            </p:cNvSpPr>
            <p:nvPr/>
          </p:nvSpPr>
          <p:spPr bwMode="auto">
            <a:xfrm>
              <a:off x="576" y="480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55" name="Oval 61"/>
            <p:cNvSpPr>
              <a:spLocks noChangeArrowheads="1"/>
            </p:cNvSpPr>
            <p:nvPr/>
          </p:nvSpPr>
          <p:spPr bwMode="auto">
            <a:xfrm>
              <a:off x="1152" y="480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56" name="Oval 62"/>
            <p:cNvSpPr>
              <a:spLocks noChangeArrowheads="1"/>
            </p:cNvSpPr>
            <p:nvPr/>
          </p:nvSpPr>
          <p:spPr bwMode="auto">
            <a:xfrm>
              <a:off x="672" y="0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57" name="Text Box 63"/>
            <p:cNvSpPr txBox="1">
              <a:spLocks noChangeArrowheads="1"/>
            </p:cNvSpPr>
            <p:nvPr/>
          </p:nvSpPr>
          <p:spPr bwMode="auto">
            <a:xfrm>
              <a:off x="976" y="1392"/>
              <a:ext cx="294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00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14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58" name="Text Box 64"/>
            <p:cNvSpPr txBox="1">
              <a:spLocks noChangeArrowheads="1"/>
            </p:cNvSpPr>
            <p:nvPr/>
          </p:nvSpPr>
          <p:spPr bwMode="auto">
            <a:xfrm>
              <a:off x="688" y="1392"/>
              <a:ext cx="294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00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13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59" name="Text Box 65"/>
            <p:cNvSpPr txBox="1">
              <a:spLocks noChangeArrowheads="1"/>
            </p:cNvSpPr>
            <p:nvPr/>
          </p:nvSpPr>
          <p:spPr bwMode="auto">
            <a:xfrm>
              <a:off x="400" y="1392"/>
              <a:ext cx="294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00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12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60" name="Text Box 66"/>
            <p:cNvSpPr txBox="1">
              <a:spLocks noChangeArrowheads="1"/>
            </p:cNvSpPr>
            <p:nvPr/>
          </p:nvSpPr>
          <p:spPr bwMode="auto">
            <a:xfrm>
              <a:off x="120" y="1392"/>
              <a:ext cx="294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00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11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61" name="Text Box 67"/>
            <p:cNvSpPr txBox="1">
              <a:spLocks noChangeArrowheads="1"/>
            </p:cNvSpPr>
            <p:nvPr/>
          </p:nvSpPr>
          <p:spPr bwMode="auto">
            <a:xfrm>
              <a:off x="168" y="470"/>
              <a:ext cx="205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00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62" name="Text Box 68"/>
            <p:cNvSpPr txBox="1">
              <a:spLocks noChangeArrowheads="1"/>
            </p:cNvSpPr>
            <p:nvPr/>
          </p:nvSpPr>
          <p:spPr bwMode="auto">
            <a:xfrm>
              <a:off x="587" y="450"/>
              <a:ext cx="223" cy="3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zh-CN" altLang="zh-CN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63" name="Text Box 69"/>
            <p:cNvSpPr txBox="1">
              <a:spLocks noChangeArrowheads="1"/>
            </p:cNvSpPr>
            <p:nvPr/>
          </p:nvSpPr>
          <p:spPr bwMode="auto">
            <a:xfrm>
              <a:off x="1160" y="448"/>
              <a:ext cx="288" cy="3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zh-CN" altLang="zh-CN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64" name="Text Box 70"/>
            <p:cNvSpPr txBox="1">
              <a:spLocks noChangeArrowheads="1"/>
            </p:cNvSpPr>
            <p:nvPr/>
          </p:nvSpPr>
          <p:spPr bwMode="auto">
            <a:xfrm>
              <a:off x="16" y="928"/>
              <a:ext cx="223" cy="3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>
              <a:lvl1pPr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5</a:t>
              </a:r>
              <a:endParaRPr lang="zh-CN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7465" name="Text Box 71"/>
            <p:cNvSpPr txBox="1">
              <a:spLocks noChangeArrowheads="1"/>
            </p:cNvSpPr>
            <p:nvPr/>
          </p:nvSpPr>
          <p:spPr bwMode="auto">
            <a:xfrm>
              <a:off x="305" y="928"/>
              <a:ext cx="223" cy="3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6</a:t>
              </a:r>
              <a:endParaRPr lang="zh-CN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7466" name="Text Box 72"/>
            <p:cNvSpPr txBox="1">
              <a:spLocks noChangeArrowheads="1"/>
            </p:cNvSpPr>
            <p:nvPr/>
          </p:nvSpPr>
          <p:spPr bwMode="auto">
            <a:xfrm>
              <a:off x="593" y="936"/>
              <a:ext cx="223" cy="3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7</a:t>
              </a:r>
              <a:endParaRPr lang="zh-CN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7467" name="Text Box 73"/>
            <p:cNvSpPr txBox="1">
              <a:spLocks noChangeArrowheads="1"/>
            </p:cNvSpPr>
            <p:nvPr/>
          </p:nvSpPr>
          <p:spPr bwMode="auto">
            <a:xfrm>
              <a:off x="873" y="936"/>
              <a:ext cx="223" cy="3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8</a:t>
              </a:r>
              <a:endParaRPr lang="zh-CN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7468" name="Text Box 74"/>
            <p:cNvSpPr txBox="1">
              <a:spLocks noChangeArrowheads="1"/>
            </p:cNvSpPr>
            <p:nvPr/>
          </p:nvSpPr>
          <p:spPr bwMode="auto">
            <a:xfrm>
              <a:off x="1169" y="936"/>
              <a:ext cx="223" cy="3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9</a:t>
              </a:r>
              <a:endParaRPr lang="zh-CN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7469" name="Text Box 75"/>
            <p:cNvSpPr txBox="1">
              <a:spLocks noChangeArrowheads="1"/>
            </p:cNvSpPr>
            <p:nvPr/>
          </p:nvSpPr>
          <p:spPr bwMode="auto">
            <a:xfrm>
              <a:off x="1408" y="960"/>
              <a:ext cx="384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zh-CN" sz="200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10</a:t>
              </a:r>
              <a:endParaRPr lang="zh-CN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70" name="Line 76"/>
            <p:cNvSpPr>
              <a:spLocks noChangeShapeType="1"/>
            </p:cNvSpPr>
            <p:nvPr/>
          </p:nvSpPr>
          <p:spPr bwMode="auto">
            <a:xfrm>
              <a:off x="1270" y="720"/>
              <a:ext cx="0" cy="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71" name="Line 77"/>
            <p:cNvSpPr>
              <a:spLocks noChangeShapeType="1"/>
            </p:cNvSpPr>
            <p:nvPr/>
          </p:nvSpPr>
          <p:spPr bwMode="auto">
            <a:xfrm flipH="1">
              <a:off x="593" y="1200"/>
              <a:ext cx="79" cy="19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72" name="Line 78"/>
            <p:cNvSpPr>
              <a:spLocks noChangeShapeType="1"/>
            </p:cNvSpPr>
            <p:nvPr/>
          </p:nvSpPr>
          <p:spPr bwMode="auto">
            <a:xfrm>
              <a:off x="720" y="1200"/>
              <a:ext cx="90" cy="19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73" name="Oval 79"/>
            <p:cNvSpPr>
              <a:spLocks noChangeArrowheads="1"/>
            </p:cNvSpPr>
            <p:nvPr/>
          </p:nvSpPr>
          <p:spPr bwMode="auto">
            <a:xfrm>
              <a:off x="1728" y="1392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74" name="Oval 80"/>
            <p:cNvSpPr>
              <a:spLocks noChangeArrowheads="1"/>
            </p:cNvSpPr>
            <p:nvPr/>
          </p:nvSpPr>
          <p:spPr bwMode="auto">
            <a:xfrm>
              <a:off x="2016" y="1392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75" name="Oval 81"/>
            <p:cNvSpPr>
              <a:spLocks noChangeArrowheads="1"/>
            </p:cNvSpPr>
            <p:nvPr/>
          </p:nvSpPr>
          <p:spPr bwMode="auto">
            <a:xfrm>
              <a:off x="2160" y="480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76" name="Oval 82"/>
            <p:cNvSpPr>
              <a:spLocks noChangeArrowheads="1"/>
            </p:cNvSpPr>
            <p:nvPr/>
          </p:nvSpPr>
          <p:spPr bwMode="auto">
            <a:xfrm>
              <a:off x="1872" y="960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77" name="Oval 83"/>
            <p:cNvSpPr>
              <a:spLocks noChangeArrowheads="1"/>
            </p:cNvSpPr>
            <p:nvPr/>
          </p:nvSpPr>
          <p:spPr bwMode="auto">
            <a:xfrm>
              <a:off x="2592" y="1392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78" name="Oval 84"/>
            <p:cNvSpPr>
              <a:spLocks noChangeArrowheads="1"/>
            </p:cNvSpPr>
            <p:nvPr/>
          </p:nvSpPr>
          <p:spPr bwMode="auto">
            <a:xfrm>
              <a:off x="2448" y="960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79" name="Oval 85"/>
            <p:cNvSpPr>
              <a:spLocks noChangeArrowheads="1"/>
            </p:cNvSpPr>
            <p:nvPr/>
          </p:nvSpPr>
          <p:spPr bwMode="auto">
            <a:xfrm>
              <a:off x="2736" y="48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80" name="Oval 86"/>
            <p:cNvSpPr>
              <a:spLocks noChangeArrowheads="1"/>
            </p:cNvSpPr>
            <p:nvPr/>
          </p:nvSpPr>
          <p:spPr bwMode="auto">
            <a:xfrm>
              <a:off x="3552" y="1392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81" name="Oval 87"/>
            <p:cNvSpPr>
              <a:spLocks noChangeArrowheads="1"/>
            </p:cNvSpPr>
            <p:nvPr/>
          </p:nvSpPr>
          <p:spPr bwMode="auto">
            <a:xfrm>
              <a:off x="3840" y="1392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82" name="Oval 88"/>
            <p:cNvSpPr>
              <a:spLocks noChangeArrowheads="1"/>
            </p:cNvSpPr>
            <p:nvPr/>
          </p:nvSpPr>
          <p:spPr bwMode="auto">
            <a:xfrm>
              <a:off x="3312" y="480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83" name="Oval 89"/>
            <p:cNvSpPr>
              <a:spLocks noChangeArrowheads="1"/>
            </p:cNvSpPr>
            <p:nvPr/>
          </p:nvSpPr>
          <p:spPr bwMode="auto">
            <a:xfrm>
              <a:off x="4120" y="1392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84" name="Oval 90"/>
            <p:cNvSpPr>
              <a:spLocks noChangeArrowheads="1"/>
            </p:cNvSpPr>
            <p:nvPr/>
          </p:nvSpPr>
          <p:spPr bwMode="auto">
            <a:xfrm>
              <a:off x="3976" y="472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85" name="Oval 91"/>
            <p:cNvSpPr>
              <a:spLocks noChangeArrowheads="1"/>
            </p:cNvSpPr>
            <p:nvPr/>
          </p:nvSpPr>
          <p:spPr bwMode="auto">
            <a:xfrm>
              <a:off x="5120" y="464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86" name="Oval 92"/>
            <p:cNvSpPr>
              <a:spLocks noChangeArrowheads="1"/>
            </p:cNvSpPr>
            <p:nvPr/>
          </p:nvSpPr>
          <p:spPr bwMode="auto">
            <a:xfrm>
              <a:off x="4944" y="1392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87" name="Oval 93"/>
            <p:cNvSpPr>
              <a:spLocks noChangeArrowheads="1"/>
            </p:cNvSpPr>
            <p:nvPr/>
          </p:nvSpPr>
          <p:spPr bwMode="auto">
            <a:xfrm>
              <a:off x="4568" y="24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88" name="Oval 94"/>
            <p:cNvSpPr>
              <a:spLocks noChangeArrowheads="1"/>
            </p:cNvSpPr>
            <p:nvPr/>
          </p:nvSpPr>
          <p:spPr bwMode="auto">
            <a:xfrm>
              <a:off x="3024" y="960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89" name="Oval 95"/>
            <p:cNvSpPr>
              <a:spLocks noChangeArrowheads="1"/>
            </p:cNvSpPr>
            <p:nvPr/>
          </p:nvSpPr>
          <p:spPr bwMode="auto">
            <a:xfrm>
              <a:off x="3696" y="960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90" name="Oval 96"/>
            <p:cNvSpPr>
              <a:spLocks noChangeArrowheads="1"/>
            </p:cNvSpPr>
            <p:nvPr/>
          </p:nvSpPr>
          <p:spPr bwMode="auto">
            <a:xfrm>
              <a:off x="4248" y="960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91" name="Oval 97"/>
            <p:cNvSpPr>
              <a:spLocks noChangeArrowheads="1"/>
            </p:cNvSpPr>
            <p:nvPr/>
          </p:nvSpPr>
          <p:spPr bwMode="auto">
            <a:xfrm>
              <a:off x="4808" y="960"/>
              <a:ext cx="240" cy="24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FF0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92" name="Text Box 98"/>
            <p:cNvSpPr txBox="1">
              <a:spLocks noChangeArrowheads="1"/>
            </p:cNvSpPr>
            <p:nvPr/>
          </p:nvSpPr>
          <p:spPr bwMode="auto">
            <a:xfrm>
              <a:off x="3713" y="936"/>
              <a:ext cx="223" cy="3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zh-CN" altLang="zh-CN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93" name="Text Box 99"/>
            <p:cNvSpPr txBox="1">
              <a:spLocks noChangeArrowheads="1"/>
            </p:cNvSpPr>
            <p:nvPr/>
          </p:nvSpPr>
          <p:spPr bwMode="auto">
            <a:xfrm>
              <a:off x="3568" y="1384"/>
              <a:ext cx="205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00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94" name="Text Box 100"/>
            <p:cNvSpPr txBox="1">
              <a:spLocks noChangeArrowheads="1"/>
            </p:cNvSpPr>
            <p:nvPr/>
          </p:nvSpPr>
          <p:spPr bwMode="auto">
            <a:xfrm>
              <a:off x="3856" y="1368"/>
              <a:ext cx="223" cy="3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>
              <a:lvl1pPr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5</a:t>
              </a:r>
              <a:endParaRPr lang="zh-CN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7495" name="Text Box 101"/>
            <p:cNvSpPr txBox="1">
              <a:spLocks noChangeArrowheads="1"/>
            </p:cNvSpPr>
            <p:nvPr/>
          </p:nvSpPr>
          <p:spPr bwMode="auto">
            <a:xfrm>
              <a:off x="4257" y="928"/>
              <a:ext cx="223" cy="3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8</a:t>
              </a:r>
              <a:endParaRPr lang="zh-CN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7496" name="Text Box 102"/>
            <p:cNvSpPr txBox="1">
              <a:spLocks noChangeArrowheads="1"/>
            </p:cNvSpPr>
            <p:nvPr/>
          </p:nvSpPr>
          <p:spPr bwMode="auto">
            <a:xfrm>
              <a:off x="4129" y="1376"/>
              <a:ext cx="223" cy="3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7</a:t>
              </a:r>
              <a:endParaRPr lang="zh-CN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7497" name="Text Box 103"/>
            <p:cNvSpPr txBox="1">
              <a:spLocks noChangeArrowheads="1"/>
            </p:cNvSpPr>
            <p:nvPr/>
          </p:nvSpPr>
          <p:spPr bwMode="auto">
            <a:xfrm>
              <a:off x="4784" y="952"/>
              <a:ext cx="384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zh-CN" sz="200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10</a:t>
              </a:r>
              <a:endParaRPr lang="zh-CN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98" name="Text Box 104"/>
            <p:cNvSpPr txBox="1">
              <a:spLocks noChangeArrowheads="1"/>
            </p:cNvSpPr>
            <p:nvPr/>
          </p:nvSpPr>
          <p:spPr bwMode="auto">
            <a:xfrm>
              <a:off x="4920" y="1392"/>
              <a:ext cx="294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00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11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99" name="Text Box 105"/>
            <p:cNvSpPr txBox="1">
              <a:spLocks noChangeArrowheads="1"/>
            </p:cNvSpPr>
            <p:nvPr/>
          </p:nvSpPr>
          <p:spPr bwMode="auto">
            <a:xfrm>
              <a:off x="4577" y="0"/>
              <a:ext cx="223" cy="3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9</a:t>
              </a:r>
              <a:endParaRPr lang="zh-CN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7500" name="Text Box 106"/>
            <p:cNvSpPr txBox="1">
              <a:spLocks noChangeArrowheads="1"/>
            </p:cNvSpPr>
            <p:nvPr/>
          </p:nvSpPr>
          <p:spPr bwMode="auto">
            <a:xfrm>
              <a:off x="2609" y="1368"/>
              <a:ext cx="223" cy="3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9</a:t>
              </a:r>
              <a:endParaRPr lang="zh-CN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7501" name="Text Box 107"/>
            <p:cNvSpPr txBox="1">
              <a:spLocks noChangeArrowheads="1"/>
            </p:cNvSpPr>
            <p:nvPr/>
          </p:nvSpPr>
          <p:spPr bwMode="auto">
            <a:xfrm>
              <a:off x="2033" y="1360"/>
              <a:ext cx="223" cy="3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8</a:t>
              </a:r>
              <a:endParaRPr lang="zh-CN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7502" name="Text Box 108"/>
            <p:cNvSpPr txBox="1">
              <a:spLocks noChangeArrowheads="1"/>
            </p:cNvSpPr>
            <p:nvPr/>
          </p:nvSpPr>
          <p:spPr bwMode="auto">
            <a:xfrm>
              <a:off x="1745" y="1368"/>
              <a:ext cx="223" cy="3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7</a:t>
              </a:r>
              <a:endParaRPr lang="zh-CN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7503" name="Text Box 109"/>
            <p:cNvSpPr txBox="1">
              <a:spLocks noChangeArrowheads="1"/>
            </p:cNvSpPr>
            <p:nvPr/>
          </p:nvSpPr>
          <p:spPr bwMode="auto">
            <a:xfrm>
              <a:off x="1888" y="944"/>
              <a:ext cx="288" cy="3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zh-CN" altLang="zh-CN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504" name="Text Box 110"/>
            <p:cNvSpPr txBox="1">
              <a:spLocks noChangeArrowheads="1"/>
            </p:cNvSpPr>
            <p:nvPr/>
          </p:nvSpPr>
          <p:spPr bwMode="auto">
            <a:xfrm>
              <a:off x="2464" y="936"/>
              <a:ext cx="223" cy="3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>
              <a:lvl1pPr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5</a:t>
              </a:r>
              <a:endParaRPr lang="zh-CN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7505" name="Text Box 111"/>
            <p:cNvSpPr txBox="1">
              <a:spLocks noChangeArrowheads="1"/>
            </p:cNvSpPr>
            <p:nvPr/>
          </p:nvSpPr>
          <p:spPr bwMode="auto">
            <a:xfrm>
              <a:off x="3033" y="928"/>
              <a:ext cx="223" cy="3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6</a:t>
              </a:r>
              <a:endParaRPr lang="zh-CN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7506" name="Text Box 112"/>
            <p:cNvSpPr txBox="1">
              <a:spLocks noChangeArrowheads="1"/>
            </p:cNvSpPr>
            <p:nvPr/>
          </p:nvSpPr>
          <p:spPr bwMode="auto">
            <a:xfrm>
              <a:off x="3977" y="440"/>
              <a:ext cx="223" cy="3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>
              <a:lvl1pPr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000" b="1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6</a:t>
              </a:r>
              <a:endParaRPr lang="zh-CN" altLang="zh-CN" sz="24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7507" name="Text Box 113"/>
            <p:cNvSpPr txBox="1">
              <a:spLocks noChangeArrowheads="1"/>
            </p:cNvSpPr>
            <p:nvPr/>
          </p:nvSpPr>
          <p:spPr bwMode="auto">
            <a:xfrm>
              <a:off x="2184" y="470"/>
              <a:ext cx="205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00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508" name="Text Box 114"/>
            <p:cNvSpPr txBox="1">
              <a:spLocks noChangeArrowheads="1"/>
            </p:cNvSpPr>
            <p:nvPr/>
          </p:nvSpPr>
          <p:spPr bwMode="auto">
            <a:xfrm>
              <a:off x="3323" y="450"/>
              <a:ext cx="223" cy="3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zh-CN" altLang="zh-CN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509" name="Text Box 115"/>
            <p:cNvSpPr txBox="1">
              <a:spLocks noChangeArrowheads="1"/>
            </p:cNvSpPr>
            <p:nvPr/>
          </p:nvSpPr>
          <p:spPr bwMode="auto">
            <a:xfrm>
              <a:off x="5083" y="464"/>
              <a:ext cx="294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00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13</a:t>
              </a:r>
              <a:endParaRPr lang="zh-CN" altLang="zh-CN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510" name="Text Box 116"/>
            <p:cNvSpPr txBox="1">
              <a:spLocks noChangeArrowheads="1"/>
            </p:cNvSpPr>
            <p:nvPr/>
          </p:nvSpPr>
          <p:spPr bwMode="auto">
            <a:xfrm>
              <a:off x="2760" y="48"/>
              <a:ext cx="205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00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511" name="Text Box 117"/>
            <p:cNvSpPr txBox="1">
              <a:spLocks noChangeArrowheads="1"/>
            </p:cNvSpPr>
            <p:nvPr/>
          </p:nvSpPr>
          <p:spPr bwMode="auto">
            <a:xfrm>
              <a:off x="683" y="0"/>
              <a:ext cx="205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00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436880" y="116523"/>
            <a:ext cx="7772400" cy="914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12947" tIns="56473" rIns="112947" bIns="56473" anchor="ctr"/>
          <a:p>
            <a:pPr defTabSz="1129030" eaLnBrk="1" hangingPunct="1">
              <a:defRPr/>
            </a:pPr>
            <a:r>
              <a:rPr lang="zh-CN" sz="36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华文隶书" panose="02010800040101010101" pitchFamily="2" charset="-122"/>
              </a:rPr>
              <a:t>集合结构</a:t>
            </a:r>
            <a:endParaRPr lang="zh-CN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华文隶书" panose="02010800040101010101" pitchFamily="2" charset="-122"/>
            </a:endParaRPr>
          </a:p>
        </p:txBody>
      </p:sp>
      <p:grpSp>
        <p:nvGrpSpPr>
          <p:cNvPr id="3" name="Group 5"/>
          <p:cNvGrpSpPr/>
          <p:nvPr/>
        </p:nvGrpSpPr>
        <p:grpSpPr bwMode="auto">
          <a:xfrm>
            <a:off x="497205" y="920357"/>
            <a:ext cx="4371690" cy="553478"/>
            <a:chOff x="0" y="26"/>
            <a:chExt cx="3224" cy="352"/>
          </a:xfrm>
        </p:grpSpPr>
        <p:sp>
          <p:nvSpPr>
            <p:cNvPr id="4" name="Oval 6"/>
            <p:cNvSpPr>
              <a:spLocks noChangeArrowheads="1"/>
            </p:cNvSpPr>
            <p:nvPr/>
          </p:nvSpPr>
          <p:spPr bwMode="auto">
            <a:xfrm>
              <a:off x="0" y="34"/>
              <a:ext cx="464" cy="344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  <a:effectLst/>
          </p:spPr>
          <p:txBody>
            <a:bodyPr wrap="none" anchor="ctr"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" name="Oval 7"/>
            <p:cNvSpPr>
              <a:spLocks noChangeArrowheads="1"/>
            </p:cNvSpPr>
            <p:nvPr/>
          </p:nvSpPr>
          <p:spPr bwMode="auto">
            <a:xfrm>
              <a:off x="912" y="26"/>
              <a:ext cx="464" cy="344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  <a:effectLst/>
          </p:spPr>
          <p:txBody>
            <a:bodyPr wrap="none" anchor="ctr"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Oval 10"/>
            <p:cNvSpPr>
              <a:spLocks noChangeArrowheads="1"/>
            </p:cNvSpPr>
            <p:nvPr/>
          </p:nvSpPr>
          <p:spPr bwMode="auto">
            <a:xfrm>
              <a:off x="1832" y="26"/>
              <a:ext cx="464" cy="344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  <a:effectLst/>
          </p:spPr>
          <p:txBody>
            <a:bodyPr wrap="none" anchor="ctr"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Oval 12"/>
            <p:cNvSpPr>
              <a:spLocks noChangeArrowheads="1"/>
            </p:cNvSpPr>
            <p:nvPr/>
          </p:nvSpPr>
          <p:spPr bwMode="auto">
            <a:xfrm>
              <a:off x="2760" y="26"/>
              <a:ext cx="464" cy="344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  <a:effectLst/>
          </p:spPr>
          <p:txBody>
            <a:bodyPr wrap="none" anchor="ctr"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Text Box 14"/>
            <p:cNvSpPr txBox="1">
              <a:spLocks noChangeArrowheads="1"/>
            </p:cNvSpPr>
            <p:nvPr/>
          </p:nvSpPr>
          <p:spPr bwMode="auto">
            <a:xfrm>
              <a:off x="122" y="63"/>
              <a:ext cx="428" cy="25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noAutofit/>
            </a:bodyPr>
            <a:p>
              <a:pPr eaLnBrk="1" hangingPunct="1">
                <a:defRPr/>
              </a:pPr>
              <a:r>
                <a:rPr lang="en-US" altLang="zh-CN" sz="2000">
                  <a:solidFill>
                    <a:srgbClr val="CC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</a:t>
              </a:r>
              <a:endParaRPr lang="en-US" altLang="zh-CN" sz="200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Text Box 15"/>
            <p:cNvSpPr txBox="1">
              <a:spLocks noChangeArrowheads="1"/>
            </p:cNvSpPr>
            <p:nvPr/>
          </p:nvSpPr>
          <p:spPr bwMode="auto">
            <a:xfrm>
              <a:off x="987" y="65"/>
              <a:ext cx="452" cy="25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1" hangingPunct="1">
                <a:defRPr/>
              </a:pPr>
              <a:r>
                <a:rPr lang="en-US" altLang="zh-CN" sz="2000" dirty="0">
                  <a:solidFill>
                    <a:srgbClr val="CC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</a:t>
              </a:r>
              <a:endParaRPr lang="en-US" altLang="zh-CN" sz="20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 Box 16"/>
            <p:cNvSpPr txBox="1">
              <a:spLocks noChangeArrowheads="1"/>
            </p:cNvSpPr>
            <p:nvPr/>
          </p:nvSpPr>
          <p:spPr bwMode="auto">
            <a:xfrm>
              <a:off x="1926" y="65"/>
              <a:ext cx="389" cy="25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1" hangingPunct="1">
                <a:defRPr/>
              </a:pPr>
              <a:r>
                <a:rPr lang="en-US" altLang="zh-CN" sz="2000">
                  <a:solidFill>
                    <a:srgbClr val="CC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</a:t>
              </a:r>
              <a:endParaRPr lang="en-US" altLang="zh-CN" sz="200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Text Box 17"/>
            <p:cNvSpPr txBox="1">
              <a:spLocks noChangeArrowheads="1"/>
            </p:cNvSpPr>
            <p:nvPr/>
          </p:nvSpPr>
          <p:spPr bwMode="auto">
            <a:xfrm>
              <a:off x="2859" y="65"/>
              <a:ext cx="365" cy="25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p>
              <a:pPr eaLnBrk="1" hangingPunct="1">
                <a:defRPr/>
              </a:pPr>
              <a:r>
                <a:rPr lang="en-US" altLang="zh-CN" sz="2000">
                  <a:solidFill>
                    <a:srgbClr val="CC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</a:t>
              </a:r>
              <a:endParaRPr lang="en-US" altLang="zh-CN" sz="200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ransition>
    <p:strips dir="r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 Box 2"/>
          <p:cNvSpPr txBox="1">
            <a:spLocks noChangeArrowheads="1"/>
          </p:cNvSpPr>
          <p:nvPr/>
        </p:nvSpPr>
        <p:spPr bwMode="auto">
          <a:xfrm>
            <a:off x="1511300" y="1109663"/>
            <a:ext cx="5738813" cy="6635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112947" tIns="56473" rIns="112947" bIns="56473">
            <a:spAutoFit/>
          </a:bodyPr>
          <a:lstStyle/>
          <a:p>
            <a:pPr defTabSz="1129030" eaLnBrk="1" hangingPunct="1">
              <a:defRPr/>
            </a:pPr>
            <a:r>
              <a:rPr lang="zh-CN" sz="360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图结构          网络结构</a:t>
            </a:r>
            <a:endParaRPr lang="zh-CN" sz="3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26627" name="Group 3"/>
          <p:cNvGrpSpPr/>
          <p:nvPr/>
        </p:nvGrpSpPr>
        <p:grpSpPr bwMode="auto">
          <a:xfrm>
            <a:off x="4643438" y="1952625"/>
            <a:ext cx="3343275" cy="3276600"/>
            <a:chOff x="0" y="0"/>
            <a:chExt cx="2106" cy="2064"/>
          </a:xfrm>
        </p:grpSpPr>
        <p:sp>
          <p:nvSpPr>
            <p:cNvPr id="19484" name="Line 4"/>
            <p:cNvSpPr>
              <a:spLocks noChangeShapeType="1"/>
            </p:cNvSpPr>
            <p:nvPr/>
          </p:nvSpPr>
          <p:spPr bwMode="auto">
            <a:xfrm flipH="1">
              <a:off x="954" y="385"/>
              <a:ext cx="336" cy="480"/>
            </a:xfrm>
            <a:prstGeom prst="line">
              <a:avLst/>
            </a:prstGeom>
            <a:noFill/>
            <a:ln w="38100">
              <a:solidFill>
                <a:srgbClr val="00CC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85" name="Line 5"/>
            <p:cNvSpPr>
              <a:spLocks noChangeShapeType="1"/>
            </p:cNvSpPr>
            <p:nvPr/>
          </p:nvSpPr>
          <p:spPr bwMode="auto">
            <a:xfrm flipH="1">
              <a:off x="1482" y="1105"/>
              <a:ext cx="432" cy="576"/>
            </a:xfrm>
            <a:prstGeom prst="line">
              <a:avLst/>
            </a:prstGeom>
            <a:noFill/>
            <a:ln w="38100">
              <a:solidFill>
                <a:srgbClr val="00CC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86" name="Line 6"/>
            <p:cNvSpPr>
              <a:spLocks noChangeShapeType="1"/>
            </p:cNvSpPr>
            <p:nvPr/>
          </p:nvSpPr>
          <p:spPr bwMode="auto">
            <a:xfrm flipH="1">
              <a:off x="426" y="1057"/>
              <a:ext cx="384" cy="624"/>
            </a:xfrm>
            <a:prstGeom prst="line">
              <a:avLst/>
            </a:prstGeom>
            <a:noFill/>
            <a:ln w="38100">
              <a:solidFill>
                <a:srgbClr val="00CC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87" name="Line 7"/>
            <p:cNvSpPr>
              <a:spLocks noChangeShapeType="1"/>
            </p:cNvSpPr>
            <p:nvPr/>
          </p:nvSpPr>
          <p:spPr bwMode="auto">
            <a:xfrm>
              <a:off x="906" y="1057"/>
              <a:ext cx="432" cy="624"/>
            </a:xfrm>
            <a:prstGeom prst="line">
              <a:avLst/>
            </a:prstGeom>
            <a:noFill/>
            <a:ln w="38100">
              <a:solidFill>
                <a:srgbClr val="00CC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88" name="Oval 8"/>
            <p:cNvSpPr>
              <a:spLocks noChangeArrowheads="1"/>
            </p:cNvSpPr>
            <p:nvPr/>
          </p:nvSpPr>
          <p:spPr bwMode="auto">
            <a:xfrm>
              <a:off x="186" y="145"/>
              <a:ext cx="288" cy="288"/>
            </a:xfrm>
            <a:prstGeom prst="ellipse">
              <a:avLst/>
            </a:prstGeom>
            <a:solidFill>
              <a:srgbClr val="CCFF99"/>
            </a:solidFill>
            <a:ln w="28575">
              <a:solidFill>
                <a:srgbClr val="008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89" name="Text Box 9"/>
            <p:cNvSpPr txBox="1">
              <a:spLocks noChangeArrowheads="1"/>
            </p:cNvSpPr>
            <p:nvPr/>
          </p:nvSpPr>
          <p:spPr bwMode="auto">
            <a:xfrm>
              <a:off x="234" y="144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90" name="Oval 10"/>
            <p:cNvSpPr>
              <a:spLocks noChangeArrowheads="1"/>
            </p:cNvSpPr>
            <p:nvPr/>
          </p:nvSpPr>
          <p:spPr bwMode="auto">
            <a:xfrm>
              <a:off x="1242" y="145"/>
              <a:ext cx="288" cy="288"/>
            </a:xfrm>
            <a:prstGeom prst="ellipse">
              <a:avLst/>
            </a:prstGeom>
            <a:solidFill>
              <a:srgbClr val="CCFF99"/>
            </a:solidFill>
            <a:ln w="28575">
              <a:solidFill>
                <a:srgbClr val="008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91" name="Oval 11"/>
            <p:cNvSpPr>
              <a:spLocks noChangeArrowheads="1"/>
            </p:cNvSpPr>
            <p:nvPr/>
          </p:nvSpPr>
          <p:spPr bwMode="auto">
            <a:xfrm>
              <a:off x="186" y="1633"/>
              <a:ext cx="288" cy="288"/>
            </a:xfrm>
            <a:prstGeom prst="ellipse">
              <a:avLst/>
            </a:prstGeom>
            <a:solidFill>
              <a:srgbClr val="CCFF99"/>
            </a:solidFill>
            <a:ln w="28575">
              <a:solidFill>
                <a:srgbClr val="008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92" name="Oval 12"/>
            <p:cNvSpPr>
              <a:spLocks noChangeArrowheads="1"/>
            </p:cNvSpPr>
            <p:nvPr/>
          </p:nvSpPr>
          <p:spPr bwMode="auto">
            <a:xfrm>
              <a:off x="1242" y="1633"/>
              <a:ext cx="288" cy="288"/>
            </a:xfrm>
            <a:prstGeom prst="ellipse">
              <a:avLst/>
            </a:prstGeom>
            <a:solidFill>
              <a:srgbClr val="CCFF99"/>
            </a:solidFill>
            <a:ln w="28575">
              <a:solidFill>
                <a:srgbClr val="008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93" name="Line 13"/>
            <p:cNvSpPr>
              <a:spLocks noChangeShapeType="1"/>
            </p:cNvSpPr>
            <p:nvPr/>
          </p:nvSpPr>
          <p:spPr bwMode="auto">
            <a:xfrm>
              <a:off x="330" y="433"/>
              <a:ext cx="0" cy="1200"/>
            </a:xfrm>
            <a:prstGeom prst="line">
              <a:avLst/>
            </a:prstGeom>
            <a:noFill/>
            <a:ln w="28575">
              <a:solidFill>
                <a:srgbClr val="00CC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94" name="Line 14"/>
            <p:cNvSpPr>
              <a:spLocks noChangeShapeType="1"/>
            </p:cNvSpPr>
            <p:nvPr/>
          </p:nvSpPr>
          <p:spPr bwMode="auto">
            <a:xfrm>
              <a:off x="474" y="1777"/>
              <a:ext cx="768" cy="0"/>
            </a:xfrm>
            <a:prstGeom prst="line">
              <a:avLst/>
            </a:prstGeom>
            <a:noFill/>
            <a:ln w="38100">
              <a:solidFill>
                <a:srgbClr val="00CC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95" name="Line 15"/>
            <p:cNvSpPr>
              <a:spLocks noChangeShapeType="1"/>
            </p:cNvSpPr>
            <p:nvPr/>
          </p:nvSpPr>
          <p:spPr bwMode="auto">
            <a:xfrm>
              <a:off x="474" y="289"/>
              <a:ext cx="768" cy="0"/>
            </a:xfrm>
            <a:prstGeom prst="line">
              <a:avLst/>
            </a:prstGeom>
            <a:noFill/>
            <a:ln w="38100">
              <a:solidFill>
                <a:srgbClr val="00CC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96" name="Oval 16"/>
            <p:cNvSpPr>
              <a:spLocks noChangeArrowheads="1"/>
            </p:cNvSpPr>
            <p:nvPr/>
          </p:nvSpPr>
          <p:spPr bwMode="auto">
            <a:xfrm>
              <a:off x="1818" y="865"/>
              <a:ext cx="288" cy="288"/>
            </a:xfrm>
            <a:prstGeom prst="ellipse">
              <a:avLst/>
            </a:prstGeom>
            <a:solidFill>
              <a:srgbClr val="CCFF99"/>
            </a:solidFill>
            <a:ln w="28575">
              <a:solidFill>
                <a:srgbClr val="008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97" name="Line 17"/>
            <p:cNvSpPr>
              <a:spLocks noChangeShapeType="1"/>
            </p:cNvSpPr>
            <p:nvPr/>
          </p:nvSpPr>
          <p:spPr bwMode="auto">
            <a:xfrm>
              <a:off x="1482" y="385"/>
              <a:ext cx="384" cy="528"/>
            </a:xfrm>
            <a:prstGeom prst="line">
              <a:avLst/>
            </a:prstGeom>
            <a:noFill/>
            <a:ln w="38100">
              <a:solidFill>
                <a:srgbClr val="00CC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98" name="Line 18"/>
            <p:cNvSpPr>
              <a:spLocks noChangeShapeType="1"/>
            </p:cNvSpPr>
            <p:nvPr/>
          </p:nvSpPr>
          <p:spPr bwMode="auto">
            <a:xfrm>
              <a:off x="426" y="385"/>
              <a:ext cx="336" cy="480"/>
            </a:xfrm>
            <a:prstGeom prst="line">
              <a:avLst/>
            </a:prstGeom>
            <a:noFill/>
            <a:ln w="38100">
              <a:solidFill>
                <a:srgbClr val="00CC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99" name="Line 19"/>
            <p:cNvSpPr>
              <a:spLocks noChangeShapeType="1"/>
            </p:cNvSpPr>
            <p:nvPr/>
          </p:nvSpPr>
          <p:spPr bwMode="auto">
            <a:xfrm>
              <a:off x="1386" y="433"/>
              <a:ext cx="0" cy="1200"/>
            </a:xfrm>
            <a:prstGeom prst="line">
              <a:avLst/>
            </a:prstGeom>
            <a:noFill/>
            <a:ln w="28575">
              <a:solidFill>
                <a:srgbClr val="00CC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500" name="Text Box 20"/>
            <p:cNvSpPr txBox="1">
              <a:spLocks noChangeArrowheads="1"/>
            </p:cNvSpPr>
            <p:nvPr/>
          </p:nvSpPr>
          <p:spPr bwMode="auto">
            <a:xfrm>
              <a:off x="1290" y="144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501" name="Text Box 21"/>
            <p:cNvSpPr txBox="1">
              <a:spLocks noChangeArrowheads="1"/>
            </p:cNvSpPr>
            <p:nvPr/>
          </p:nvSpPr>
          <p:spPr bwMode="auto">
            <a:xfrm>
              <a:off x="234" y="1633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502" name="Text Box 22"/>
            <p:cNvSpPr txBox="1">
              <a:spLocks noChangeArrowheads="1"/>
            </p:cNvSpPr>
            <p:nvPr/>
          </p:nvSpPr>
          <p:spPr bwMode="auto">
            <a:xfrm>
              <a:off x="1290" y="1633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503" name="Text Box 23"/>
            <p:cNvSpPr txBox="1">
              <a:spLocks noChangeArrowheads="1"/>
            </p:cNvSpPr>
            <p:nvPr/>
          </p:nvSpPr>
          <p:spPr bwMode="auto">
            <a:xfrm>
              <a:off x="1866" y="865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504" name="Oval 24"/>
            <p:cNvSpPr>
              <a:spLocks noChangeArrowheads="1"/>
            </p:cNvSpPr>
            <p:nvPr/>
          </p:nvSpPr>
          <p:spPr bwMode="auto">
            <a:xfrm>
              <a:off x="714" y="816"/>
              <a:ext cx="288" cy="288"/>
            </a:xfrm>
            <a:prstGeom prst="ellipse">
              <a:avLst/>
            </a:prstGeom>
            <a:solidFill>
              <a:srgbClr val="CCFF99"/>
            </a:solidFill>
            <a:ln w="28575">
              <a:solidFill>
                <a:srgbClr val="008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505" name="Text Box 25"/>
            <p:cNvSpPr txBox="1">
              <a:spLocks noChangeArrowheads="1"/>
            </p:cNvSpPr>
            <p:nvPr/>
          </p:nvSpPr>
          <p:spPr bwMode="auto">
            <a:xfrm>
              <a:off x="762" y="817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506" name="Text Box 26"/>
            <p:cNvSpPr txBox="1">
              <a:spLocks noChangeArrowheads="1"/>
            </p:cNvSpPr>
            <p:nvPr/>
          </p:nvSpPr>
          <p:spPr bwMode="auto">
            <a:xfrm>
              <a:off x="0" y="864"/>
              <a:ext cx="33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11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507" name="Text Box 27"/>
            <p:cNvSpPr txBox="1">
              <a:spLocks noChangeArrowheads="1"/>
            </p:cNvSpPr>
            <p:nvPr/>
          </p:nvSpPr>
          <p:spPr bwMode="auto">
            <a:xfrm>
              <a:off x="384" y="1104"/>
              <a:ext cx="33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33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508" name="Text Box 28"/>
            <p:cNvSpPr txBox="1">
              <a:spLocks noChangeArrowheads="1"/>
            </p:cNvSpPr>
            <p:nvPr/>
          </p:nvSpPr>
          <p:spPr bwMode="auto">
            <a:xfrm>
              <a:off x="672" y="1776"/>
              <a:ext cx="33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18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509" name="Text Box 29"/>
            <p:cNvSpPr txBox="1">
              <a:spLocks noChangeArrowheads="1"/>
            </p:cNvSpPr>
            <p:nvPr/>
          </p:nvSpPr>
          <p:spPr bwMode="auto">
            <a:xfrm>
              <a:off x="1056" y="1104"/>
              <a:ext cx="33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14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510" name="Text Box 30"/>
            <p:cNvSpPr txBox="1">
              <a:spLocks noChangeArrowheads="1"/>
            </p:cNvSpPr>
            <p:nvPr/>
          </p:nvSpPr>
          <p:spPr bwMode="auto">
            <a:xfrm>
              <a:off x="1392" y="864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511" name="Text Box 31"/>
            <p:cNvSpPr txBox="1">
              <a:spLocks noChangeArrowheads="1"/>
            </p:cNvSpPr>
            <p:nvPr/>
          </p:nvSpPr>
          <p:spPr bwMode="auto">
            <a:xfrm>
              <a:off x="1674" y="1344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512" name="Text Box 32"/>
            <p:cNvSpPr txBox="1">
              <a:spLocks noChangeArrowheads="1"/>
            </p:cNvSpPr>
            <p:nvPr/>
          </p:nvSpPr>
          <p:spPr bwMode="auto">
            <a:xfrm>
              <a:off x="1674" y="432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513" name="Text Box 33"/>
            <p:cNvSpPr txBox="1">
              <a:spLocks noChangeArrowheads="1"/>
            </p:cNvSpPr>
            <p:nvPr/>
          </p:nvSpPr>
          <p:spPr bwMode="auto">
            <a:xfrm>
              <a:off x="672" y="0"/>
              <a:ext cx="33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16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514" name="Text Box 34"/>
            <p:cNvSpPr txBox="1">
              <a:spLocks noChangeArrowheads="1"/>
            </p:cNvSpPr>
            <p:nvPr/>
          </p:nvSpPr>
          <p:spPr bwMode="auto">
            <a:xfrm>
              <a:off x="330" y="576"/>
              <a:ext cx="33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19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515" name="Text Box 35"/>
            <p:cNvSpPr txBox="1">
              <a:spLocks noChangeArrowheads="1"/>
            </p:cNvSpPr>
            <p:nvPr/>
          </p:nvSpPr>
          <p:spPr bwMode="auto">
            <a:xfrm>
              <a:off x="864" y="384"/>
              <a:ext cx="33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21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6628" name="Group 36"/>
          <p:cNvGrpSpPr/>
          <p:nvPr/>
        </p:nvGrpSpPr>
        <p:grpSpPr bwMode="auto">
          <a:xfrm>
            <a:off x="1116013" y="2179638"/>
            <a:ext cx="3048000" cy="2833687"/>
            <a:chOff x="0" y="0"/>
            <a:chExt cx="1920" cy="1785"/>
          </a:xfrm>
        </p:grpSpPr>
        <p:sp>
          <p:nvSpPr>
            <p:cNvPr id="19462" name="Line 37"/>
            <p:cNvSpPr>
              <a:spLocks noChangeShapeType="1"/>
            </p:cNvSpPr>
            <p:nvPr/>
          </p:nvSpPr>
          <p:spPr bwMode="auto">
            <a:xfrm flipH="1">
              <a:off x="768" y="241"/>
              <a:ext cx="336" cy="480"/>
            </a:xfrm>
            <a:prstGeom prst="line">
              <a:avLst/>
            </a:prstGeom>
            <a:noFill/>
            <a:ln w="38100">
              <a:solidFill>
                <a:srgbClr val="00CC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63" name="Line 38"/>
            <p:cNvSpPr>
              <a:spLocks noChangeShapeType="1"/>
            </p:cNvSpPr>
            <p:nvPr/>
          </p:nvSpPr>
          <p:spPr bwMode="auto">
            <a:xfrm flipH="1">
              <a:off x="1296" y="961"/>
              <a:ext cx="432" cy="576"/>
            </a:xfrm>
            <a:prstGeom prst="line">
              <a:avLst/>
            </a:prstGeom>
            <a:noFill/>
            <a:ln w="38100">
              <a:solidFill>
                <a:srgbClr val="00CC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64" name="Line 39"/>
            <p:cNvSpPr>
              <a:spLocks noChangeShapeType="1"/>
            </p:cNvSpPr>
            <p:nvPr/>
          </p:nvSpPr>
          <p:spPr bwMode="auto">
            <a:xfrm flipH="1">
              <a:off x="240" y="913"/>
              <a:ext cx="384" cy="624"/>
            </a:xfrm>
            <a:prstGeom prst="line">
              <a:avLst/>
            </a:prstGeom>
            <a:noFill/>
            <a:ln w="38100">
              <a:solidFill>
                <a:srgbClr val="00CC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65" name="Line 40"/>
            <p:cNvSpPr>
              <a:spLocks noChangeShapeType="1"/>
            </p:cNvSpPr>
            <p:nvPr/>
          </p:nvSpPr>
          <p:spPr bwMode="auto">
            <a:xfrm>
              <a:off x="720" y="913"/>
              <a:ext cx="432" cy="624"/>
            </a:xfrm>
            <a:prstGeom prst="line">
              <a:avLst/>
            </a:prstGeom>
            <a:noFill/>
            <a:ln w="38100">
              <a:solidFill>
                <a:srgbClr val="00CC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66" name="Oval 41"/>
            <p:cNvSpPr>
              <a:spLocks noChangeArrowheads="1"/>
            </p:cNvSpPr>
            <p:nvPr/>
          </p:nvSpPr>
          <p:spPr bwMode="auto">
            <a:xfrm>
              <a:off x="0" y="1"/>
              <a:ext cx="288" cy="288"/>
            </a:xfrm>
            <a:prstGeom prst="ellipse">
              <a:avLst/>
            </a:prstGeom>
            <a:solidFill>
              <a:srgbClr val="CCFF99"/>
            </a:solidFill>
            <a:ln w="28575">
              <a:solidFill>
                <a:srgbClr val="008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67" name="Text Box 42"/>
            <p:cNvSpPr txBox="1">
              <a:spLocks noChangeArrowheads="1"/>
            </p:cNvSpPr>
            <p:nvPr/>
          </p:nvSpPr>
          <p:spPr bwMode="auto">
            <a:xfrm>
              <a:off x="48" y="0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68" name="Oval 43"/>
            <p:cNvSpPr>
              <a:spLocks noChangeArrowheads="1"/>
            </p:cNvSpPr>
            <p:nvPr/>
          </p:nvSpPr>
          <p:spPr bwMode="auto">
            <a:xfrm>
              <a:off x="1056" y="1"/>
              <a:ext cx="288" cy="288"/>
            </a:xfrm>
            <a:prstGeom prst="ellipse">
              <a:avLst/>
            </a:prstGeom>
            <a:solidFill>
              <a:srgbClr val="CCFF99"/>
            </a:solidFill>
            <a:ln w="28575">
              <a:solidFill>
                <a:srgbClr val="008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69" name="Oval 44"/>
            <p:cNvSpPr>
              <a:spLocks noChangeArrowheads="1"/>
            </p:cNvSpPr>
            <p:nvPr/>
          </p:nvSpPr>
          <p:spPr bwMode="auto">
            <a:xfrm>
              <a:off x="0" y="1489"/>
              <a:ext cx="288" cy="288"/>
            </a:xfrm>
            <a:prstGeom prst="ellipse">
              <a:avLst/>
            </a:prstGeom>
            <a:solidFill>
              <a:srgbClr val="CCFF99"/>
            </a:solidFill>
            <a:ln w="28575">
              <a:solidFill>
                <a:srgbClr val="008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70" name="Oval 45"/>
            <p:cNvSpPr>
              <a:spLocks noChangeArrowheads="1"/>
            </p:cNvSpPr>
            <p:nvPr/>
          </p:nvSpPr>
          <p:spPr bwMode="auto">
            <a:xfrm>
              <a:off x="1056" y="1489"/>
              <a:ext cx="288" cy="288"/>
            </a:xfrm>
            <a:prstGeom prst="ellipse">
              <a:avLst/>
            </a:prstGeom>
            <a:solidFill>
              <a:srgbClr val="CCFF99"/>
            </a:solidFill>
            <a:ln w="28575">
              <a:solidFill>
                <a:srgbClr val="008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71" name="Line 46"/>
            <p:cNvSpPr>
              <a:spLocks noChangeShapeType="1"/>
            </p:cNvSpPr>
            <p:nvPr/>
          </p:nvSpPr>
          <p:spPr bwMode="auto">
            <a:xfrm>
              <a:off x="144" y="289"/>
              <a:ext cx="0" cy="1200"/>
            </a:xfrm>
            <a:prstGeom prst="line">
              <a:avLst/>
            </a:prstGeom>
            <a:noFill/>
            <a:ln w="28575">
              <a:solidFill>
                <a:srgbClr val="00CC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72" name="Line 47"/>
            <p:cNvSpPr>
              <a:spLocks noChangeShapeType="1"/>
            </p:cNvSpPr>
            <p:nvPr/>
          </p:nvSpPr>
          <p:spPr bwMode="auto">
            <a:xfrm>
              <a:off x="288" y="1633"/>
              <a:ext cx="768" cy="0"/>
            </a:xfrm>
            <a:prstGeom prst="line">
              <a:avLst/>
            </a:prstGeom>
            <a:noFill/>
            <a:ln w="38100">
              <a:solidFill>
                <a:srgbClr val="00CC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73" name="Line 48"/>
            <p:cNvSpPr>
              <a:spLocks noChangeShapeType="1"/>
            </p:cNvSpPr>
            <p:nvPr/>
          </p:nvSpPr>
          <p:spPr bwMode="auto">
            <a:xfrm>
              <a:off x="288" y="145"/>
              <a:ext cx="768" cy="0"/>
            </a:xfrm>
            <a:prstGeom prst="line">
              <a:avLst/>
            </a:prstGeom>
            <a:noFill/>
            <a:ln w="38100">
              <a:solidFill>
                <a:srgbClr val="00CC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74" name="Oval 49"/>
            <p:cNvSpPr>
              <a:spLocks noChangeArrowheads="1"/>
            </p:cNvSpPr>
            <p:nvPr/>
          </p:nvSpPr>
          <p:spPr bwMode="auto">
            <a:xfrm>
              <a:off x="528" y="673"/>
              <a:ext cx="288" cy="288"/>
            </a:xfrm>
            <a:prstGeom prst="ellipse">
              <a:avLst/>
            </a:prstGeom>
            <a:solidFill>
              <a:srgbClr val="CCFF99"/>
            </a:solidFill>
            <a:ln w="28575">
              <a:solidFill>
                <a:srgbClr val="008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75" name="Oval 50"/>
            <p:cNvSpPr>
              <a:spLocks noChangeArrowheads="1"/>
            </p:cNvSpPr>
            <p:nvPr/>
          </p:nvSpPr>
          <p:spPr bwMode="auto">
            <a:xfrm>
              <a:off x="1632" y="721"/>
              <a:ext cx="288" cy="288"/>
            </a:xfrm>
            <a:prstGeom prst="ellipse">
              <a:avLst/>
            </a:prstGeom>
            <a:solidFill>
              <a:srgbClr val="CCFF99"/>
            </a:solidFill>
            <a:ln w="28575">
              <a:solidFill>
                <a:srgbClr val="0080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76" name="Line 51"/>
            <p:cNvSpPr>
              <a:spLocks noChangeShapeType="1"/>
            </p:cNvSpPr>
            <p:nvPr/>
          </p:nvSpPr>
          <p:spPr bwMode="auto">
            <a:xfrm>
              <a:off x="1296" y="241"/>
              <a:ext cx="384" cy="528"/>
            </a:xfrm>
            <a:prstGeom prst="line">
              <a:avLst/>
            </a:prstGeom>
            <a:noFill/>
            <a:ln w="38100">
              <a:solidFill>
                <a:srgbClr val="00CC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77" name="Line 52"/>
            <p:cNvSpPr>
              <a:spLocks noChangeShapeType="1"/>
            </p:cNvSpPr>
            <p:nvPr/>
          </p:nvSpPr>
          <p:spPr bwMode="auto">
            <a:xfrm>
              <a:off x="240" y="241"/>
              <a:ext cx="336" cy="480"/>
            </a:xfrm>
            <a:prstGeom prst="line">
              <a:avLst/>
            </a:prstGeom>
            <a:noFill/>
            <a:ln w="38100">
              <a:solidFill>
                <a:srgbClr val="00CC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78" name="Line 53"/>
            <p:cNvSpPr>
              <a:spLocks noChangeShapeType="1"/>
            </p:cNvSpPr>
            <p:nvPr/>
          </p:nvSpPr>
          <p:spPr bwMode="auto">
            <a:xfrm>
              <a:off x="1200" y="289"/>
              <a:ext cx="0" cy="1200"/>
            </a:xfrm>
            <a:prstGeom prst="line">
              <a:avLst/>
            </a:prstGeom>
            <a:noFill/>
            <a:ln w="28575">
              <a:solidFill>
                <a:srgbClr val="00CC00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79" name="Text Box 54"/>
            <p:cNvSpPr txBox="1">
              <a:spLocks noChangeArrowheads="1"/>
            </p:cNvSpPr>
            <p:nvPr/>
          </p:nvSpPr>
          <p:spPr bwMode="auto">
            <a:xfrm>
              <a:off x="1104" y="0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80" name="Text Box 55"/>
            <p:cNvSpPr txBox="1">
              <a:spLocks noChangeArrowheads="1"/>
            </p:cNvSpPr>
            <p:nvPr/>
          </p:nvSpPr>
          <p:spPr bwMode="auto">
            <a:xfrm>
              <a:off x="48" y="1489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81" name="Text Box 56"/>
            <p:cNvSpPr txBox="1">
              <a:spLocks noChangeArrowheads="1"/>
            </p:cNvSpPr>
            <p:nvPr/>
          </p:nvSpPr>
          <p:spPr bwMode="auto">
            <a:xfrm>
              <a:off x="576" y="673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82" name="Text Box 57"/>
            <p:cNvSpPr txBox="1">
              <a:spLocks noChangeArrowheads="1"/>
            </p:cNvSpPr>
            <p:nvPr/>
          </p:nvSpPr>
          <p:spPr bwMode="auto">
            <a:xfrm>
              <a:off x="1680" y="721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483" name="Text Box 58"/>
            <p:cNvSpPr txBox="1">
              <a:spLocks noChangeArrowheads="1"/>
            </p:cNvSpPr>
            <p:nvPr/>
          </p:nvSpPr>
          <p:spPr bwMode="auto">
            <a:xfrm>
              <a:off x="1079" y="1497"/>
              <a:ext cx="223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zh-CN" sz="24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zh-CN" altLang="zh-CN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ransition>
    <p:strips dir="r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115888"/>
            <a:ext cx="89646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000"/>
              <a:t>数据的存储结构</a:t>
            </a:r>
            <a:endParaRPr lang="zh-CN" altLang="en-US" sz="4000"/>
          </a:p>
        </p:txBody>
      </p:sp>
      <p:sp>
        <p:nvSpPr>
          <p:cNvPr id="300035" name="Rectangle 3"/>
          <p:cNvSpPr>
            <a:spLocks noChangeArrowheads="1"/>
          </p:cNvSpPr>
          <p:nvPr/>
        </p:nvSpPr>
        <p:spPr bwMode="auto">
          <a:xfrm>
            <a:off x="250825" y="1268413"/>
            <a:ext cx="8713788" cy="51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lang="zh-CN" altLang="en-US" sz="2800" dirty="0">
                <a:solidFill>
                  <a:srgbClr val="008080"/>
                </a:solidFill>
                <a:latin typeface="楷体_GB2312" pitchFamily="49" charset="-122"/>
              </a:rPr>
              <a:t>数据的存储结构是逻辑结构</a:t>
            </a:r>
            <a:r>
              <a:rPr lang="zh-CN" altLang="en-US" sz="2800" dirty="0">
                <a:solidFill>
                  <a:srgbClr val="C00000"/>
                </a:solidFill>
                <a:latin typeface="楷体_GB2312" pitchFamily="49" charset="-122"/>
              </a:rPr>
              <a:t>（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数据元素的存储和元素之间的关系）</a:t>
            </a:r>
            <a:r>
              <a:rPr lang="zh-CN" altLang="en-US" sz="2800" dirty="0">
                <a:solidFill>
                  <a:srgbClr val="008080"/>
                </a:solidFill>
                <a:latin typeface="楷体_GB2312" pitchFamily="49" charset="-122"/>
              </a:rPr>
              <a:t>在计算机存储中的表示</a:t>
            </a:r>
            <a:endParaRPr lang="zh-CN" altLang="en-US" sz="2800" dirty="0">
              <a:solidFill>
                <a:srgbClr val="008080"/>
              </a:solidFill>
              <a:latin typeface="楷体_GB2312" pitchFamily="49" charset="-122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lang="zh-CN" altLang="en-US" sz="2800" dirty="0">
                <a:solidFill>
                  <a:srgbClr val="008080"/>
                </a:solidFill>
                <a:latin typeface="楷体_GB2312" pitchFamily="49" charset="-122"/>
              </a:rPr>
              <a:t>数据的存储结构依赖于计算机语言</a:t>
            </a:r>
            <a:endParaRPr lang="zh-CN" altLang="en-US" sz="2800" dirty="0">
              <a:solidFill>
                <a:srgbClr val="008080"/>
              </a:solidFill>
              <a:latin typeface="楷体_GB2312" pitchFamily="49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009900"/>
              </a:buClr>
              <a:buSzPct val="50000"/>
              <a:buFont typeface="Wingdings" panose="05000000000000000000" pitchFamily="2" charset="2"/>
              <a:buChar char="u"/>
              <a:defRPr/>
            </a:pPr>
            <a:r>
              <a:rPr lang="zh-CN" altLang="en-US" sz="2800" dirty="0">
                <a:solidFill>
                  <a:srgbClr val="990099"/>
                </a:solidFill>
                <a:latin typeface="楷体_GB2312" pitchFamily="49" charset="-122"/>
              </a:rPr>
              <a:t> 顺序存储结构</a:t>
            </a:r>
            <a:endParaRPr lang="zh-CN" altLang="en-US" sz="2800" dirty="0">
              <a:solidFill>
                <a:srgbClr val="990099"/>
              </a:solidFill>
              <a:latin typeface="楷体_GB2312" pitchFamily="49" charset="-122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009900"/>
              </a:buClr>
              <a:buSzPct val="50000"/>
              <a:buFont typeface="Wingdings" panose="05000000000000000000" pitchFamily="2" charset="2"/>
              <a:buChar char="u"/>
              <a:defRPr/>
            </a:pPr>
            <a:r>
              <a:rPr lang="zh-CN" altLang="en-US" sz="2800" dirty="0">
                <a:solidFill>
                  <a:srgbClr val="990099"/>
                </a:solidFill>
                <a:latin typeface="楷体_GB2312" pitchFamily="49" charset="-122"/>
              </a:rPr>
              <a:t> 链式存储结构</a:t>
            </a:r>
            <a:endParaRPr lang="zh-CN" altLang="en-US" sz="2800" dirty="0">
              <a:solidFill>
                <a:srgbClr val="990099"/>
              </a:solidFill>
              <a:latin typeface="楷体_GB2312" pitchFamily="49" charset="-122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0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0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Text Box 1026"/>
          <p:cNvSpPr txBox="1">
            <a:spLocks noChangeArrowheads="1"/>
          </p:cNvSpPr>
          <p:nvPr/>
        </p:nvSpPr>
        <p:spPr bwMode="auto">
          <a:xfrm>
            <a:off x="608013" y="914400"/>
            <a:ext cx="7924800" cy="30781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1.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顺序存储</a:t>
            </a:r>
            <a:endParaRPr lang="zh-CN" altLang="en-US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>
                <a:ea typeface="仿宋_GB2312" pitchFamily="49" charset="-122"/>
              </a:rPr>
              <a:t> </a:t>
            </a:r>
            <a:r>
              <a:rPr lang="zh-CN" altLang="en-US" sz="2000" b="0" dirty="0">
                <a:solidFill>
                  <a:schemeClr val="tx1"/>
                </a:solidFill>
                <a:ea typeface="宋体" panose="02010600030101010101" pitchFamily="2" charset="-122"/>
              </a:rPr>
              <a:t>　  　</a:t>
            </a:r>
            <a:r>
              <a:rPr lang="zh-CN" altLang="en-US" sz="3200" dirty="0">
                <a:solidFill>
                  <a:srgbClr val="008000"/>
                </a:solidFill>
                <a:ea typeface="宋体" panose="02010600030101010101" pitchFamily="2" charset="-122"/>
              </a:rPr>
              <a:t>所有元素存放在一片连续的存储单元中，逻辑上相邻的元素存放到计算机内存仍然相邻</a:t>
            </a:r>
            <a:endParaRPr lang="zh-CN" altLang="en-US" sz="3200" dirty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algn="just" eaLnBrk="1" hangingPunct="1">
              <a:spcBef>
                <a:spcPct val="50000"/>
              </a:spcBef>
              <a:defRPr/>
            </a:pPr>
            <a:r>
              <a:rPr lang="zh-CN" altLang="en-US" sz="2000" dirty="0">
                <a:solidFill>
                  <a:schemeClr val="tx1"/>
                </a:solidFill>
                <a:ea typeface="仿宋_GB2312" pitchFamily="49" charset="-122"/>
              </a:rPr>
              <a:t>　　</a:t>
            </a:r>
            <a:endParaRPr lang="zh-CN" altLang="en-US" sz="20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914400" y="3810000"/>
            <a:ext cx="4724400" cy="2043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 dirty="0">
                <a:effectLst/>
              </a:rPr>
              <a:t>例  存储复数</a:t>
            </a:r>
            <a:r>
              <a:rPr lang="zh-CN" altLang="en-US" sz="3200" dirty="0">
                <a:effectLst/>
              </a:rPr>
              <a:t> </a:t>
            </a:r>
            <a:endParaRPr lang="zh-CN" altLang="en-US" sz="3200" dirty="0">
              <a:effectLst/>
            </a:endParaRPr>
          </a:p>
          <a:p>
            <a:pPr algn="l">
              <a:spcBef>
                <a:spcPct val="50000"/>
              </a:spcBef>
            </a:pPr>
            <a:r>
              <a:rPr lang="zh-CN" altLang="en-US" sz="3200" dirty="0">
                <a:effectLst/>
              </a:rPr>
              <a:t>  </a:t>
            </a:r>
            <a:r>
              <a:rPr lang="en-US" altLang="zh-CN" sz="3200" dirty="0">
                <a:effectLst/>
              </a:rPr>
              <a:t>c1=3.0 –2.3</a:t>
            </a:r>
            <a:r>
              <a:rPr lang="en-US" altLang="zh-CN" sz="3200" i="1" dirty="0">
                <a:effectLst/>
              </a:rPr>
              <a:t>i</a:t>
            </a:r>
            <a:r>
              <a:rPr lang="zh-CN" altLang="en-US" sz="3200" dirty="0">
                <a:effectLst/>
              </a:rPr>
              <a:t>，</a:t>
            </a:r>
            <a:endParaRPr lang="zh-CN" altLang="en-US" sz="3200" dirty="0">
              <a:effectLst/>
            </a:endParaRPr>
          </a:p>
          <a:p>
            <a:pPr algn="l">
              <a:spcBef>
                <a:spcPct val="50000"/>
              </a:spcBef>
            </a:pPr>
            <a:r>
              <a:rPr lang="zh-CN" altLang="en-US" sz="3200" dirty="0">
                <a:effectLst/>
              </a:rPr>
              <a:t>  </a:t>
            </a:r>
            <a:r>
              <a:rPr lang="en-US" altLang="zh-CN" sz="3200" dirty="0">
                <a:effectLst/>
              </a:rPr>
              <a:t>c2=-0.7+4.8</a:t>
            </a:r>
            <a:r>
              <a:rPr lang="en-US" altLang="zh-CN" sz="3200" i="1" dirty="0">
                <a:effectLst/>
              </a:rPr>
              <a:t>i</a:t>
            </a:r>
            <a:endParaRPr lang="en-US" altLang="zh-CN" sz="3200" i="1" dirty="0">
              <a:effectLst/>
            </a:endParaRPr>
          </a:p>
        </p:txBody>
      </p:sp>
      <p:graphicFrame>
        <p:nvGraphicFramePr>
          <p:cNvPr id="4" name="Group 5"/>
          <p:cNvGraphicFramePr>
            <a:graphicFrameLocks noGrp="1"/>
          </p:cNvGraphicFramePr>
          <p:nvPr/>
        </p:nvGraphicFramePr>
        <p:xfrm>
          <a:off x="4572000" y="3276600"/>
          <a:ext cx="1981200" cy="3362960"/>
        </p:xfrm>
        <a:graphic>
          <a:graphicData uri="http://schemas.openxmlformats.org/drawingml/2006/table">
            <a:tbl>
              <a:tblPr/>
              <a:tblGrid>
                <a:gridCol w="847725"/>
                <a:gridCol w="1133475"/>
              </a:tblGrid>
              <a:tr h="482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2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2001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3.0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00"/>
                    </a:solidFill>
                  </a:tcPr>
                </a:tc>
              </a:tr>
              <a:tr h="482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2002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- 2.3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82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2003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- 0.7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00"/>
                    </a:solidFill>
                  </a:tcPr>
                </a:tc>
              </a:tr>
              <a:tr h="482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2004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4.8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71475">
                <a:tc row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 vMerge="1"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Text Box 2"/>
          <p:cNvSpPr txBox="1">
            <a:spLocks noChangeArrowheads="1"/>
          </p:cNvSpPr>
          <p:nvPr/>
        </p:nvSpPr>
        <p:spPr bwMode="auto">
          <a:xfrm>
            <a:off x="460375" y="185737"/>
            <a:ext cx="8070850" cy="3662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2. </a:t>
            </a:r>
            <a:r>
              <a:rPr lang="zh-CN" altLang="en-US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链式存储</a:t>
            </a:r>
            <a:endParaRPr lang="zh-CN" altLang="en-US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just" eaLnBrk="1" hangingPunct="1">
              <a:spcBef>
                <a:spcPct val="50000"/>
              </a:spcBef>
              <a:defRPr/>
            </a:pPr>
            <a:r>
              <a:rPr lang="zh-CN" altLang="en-US" sz="2000" b="0" dirty="0">
                <a:solidFill>
                  <a:schemeClr val="tx1"/>
                </a:solidFill>
                <a:ea typeface="宋体" panose="02010600030101010101" pitchFamily="2" charset="-122"/>
              </a:rPr>
              <a:t>　　  </a:t>
            </a:r>
            <a:r>
              <a:rPr lang="zh-CN" altLang="en-US" sz="3200" dirty="0">
                <a:solidFill>
                  <a:srgbClr val="008000"/>
                </a:solidFill>
                <a:ea typeface="宋体" panose="02010600030101010101" pitchFamily="2" charset="-122"/>
              </a:rPr>
              <a:t>所有元素存放在可以不连续的存储单元中，但元素之间的关系可以通过地址确定，逻辑上相邻的元素存放到计算机内存后不一定是相邻的</a:t>
            </a:r>
            <a:endParaRPr lang="zh-CN" altLang="en-US" sz="3200" dirty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algn="just" eaLnBrk="1" hangingPunct="1">
              <a:spcBef>
                <a:spcPct val="50000"/>
              </a:spcBef>
              <a:defRPr/>
            </a:pPr>
            <a:endParaRPr lang="en-US" altLang="zh-CN" sz="3200" dirty="0">
              <a:solidFill>
                <a:srgbClr val="008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914400" y="3124200"/>
            <a:ext cx="27432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 dirty="0">
                <a:effectLst/>
              </a:rPr>
              <a:t>例  存储复数</a:t>
            </a:r>
            <a:r>
              <a:rPr lang="zh-CN" altLang="en-US" sz="3200" dirty="0">
                <a:effectLst/>
              </a:rPr>
              <a:t> </a:t>
            </a:r>
            <a:endParaRPr lang="zh-CN" altLang="en-US" sz="3200" dirty="0">
              <a:effectLst/>
            </a:endParaRPr>
          </a:p>
          <a:p>
            <a:pPr algn="l">
              <a:spcBef>
                <a:spcPct val="50000"/>
              </a:spcBef>
            </a:pPr>
            <a:r>
              <a:rPr lang="zh-CN" altLang="en-US" sz="3200" dirty="0">
                <a:effectLst/>
              </a:rPr>
              <a:t>  </a:t>
            </a:r>
            <a:r>
              <a:rPr lang="en-US" altLang="zh-CN" sz="3200" dirty="0">
                <a:effectLst/>
              </a:rPr>
              <a:t>c1=3.0 –2.3</a:t>
            </a:r>
            <a:r>
              <a:rPr lang="en-US" altLang="zh-CN" sz="3200" i="1" dirty="0">
                <a:effectLst/>
              </a:rPr>
              <a:t>i</a:t>
            </a:r>
            <a:r>
              <a:rPr lang="en-US" altLang="zh-CN" sz="3200" dirty="0">
                <a:effectLst/>
              </a:rPr>
              <a:t>  </a:t>
            </a:r>
            <a:endParaRPr lang="en-US" altLang="zh-CN" sz="3200" i="1" dirty="0">
              <a:effectLst/>
            </a:endParaRPr>
          </a:p>
        </p:txBody>
      </p:sp>
      <p:graphicFrame>
        <p:nvGraphicFramePr>
          <p:cNvPr id="5" name="Group 5"/>
          <p:cNvGraphicFramePr>
            <a:graphicFrameLocks noGrp="1"/>
          </p:cNvGraphicFramePr>
          <p:nvPr/>
        </p:nvGraphicFramePr>
        <p:xfrm>
          <a:off x="4572000" y="3124200"/>
          <a:ext cx="1981200" cy="3759200"/>
        </p:xfrm>
        <a:graphic>
          <a:graphicData uri="http://schemas.openxmlformats.org/drawingml/2006/table">
            <a:tbl>
              <a:tblPr/>
              <a:tblGrid>
                <a:gridCol w="847725"/>
                <a:gridCol w="1133475"/>
              </a:tblGrid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0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2001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- 2.3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82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2002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2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2003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2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2004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3.0 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82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2001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714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6" name="Group 43"/>
          <p:cNvGrpSpPr/>
          <p:nvPr/>
        </p:nvGrpSpPr>
        <p:grpSpPr bwMode="auto">
          <a:xfrm>
            <a:off x="6324600" y="3810000"/>
            <a:ext cx="400050" cy="1828800"/>
            <a:chOff x="4272" y="2448"/>
            <a:chExt cx="252" cy="1152"/>
          </a:xfrm>
        </p:grpSpPr>
        <p:sp>
          <p:nvSpPr>
            <p:cNvPr id="7" name="Line 44"/>
            <p:cNvSpPr>
              <a:spLocks noChangeShapeType="1"/>
            </p:cNvSpPr>
            <p:nvPr/>
          </p:nvSpPr>
          <p:spPr bwMode="auto">
            <a:xfrm>
              <a:off x="4284" y="3600"/>
              <a:ext cx="240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" name="Line 45"/>
            <p:cNvSpPr>
              <a:spLocks noChangeShapeType="1"/>
            </p:cNvSpPr>
            <p:nvPr/>
          </p:nvSpPr>
          <p:spPr bwMode="auto">
            <a:xfrm>
              <a:off x="4272" y="2448"/>
              <a:ext cx="240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" name="Line 46"/>
            <p:cNvSpPr>
              <a:spLocks noChangeShapeType="1"/>
            </p:cNvSpPr>
            <p:nvPr/>
          </p:nvSpPr>
          <p:spPr bwMode="auto">
            <a:xfrm>
              <a:off x="4512" y="2448"/>
              <a:ext cx="0" cy="115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0" name="Group 47"/>
          <p:cNvGrpSpPr/>
          <p:nvPr/>
        </p:nvGrpSpPr>
        <p:grpSpPr bwMode="auto">
          <a:xfrm>
            <a:off x="6248400" y="5029200"/>
            <a:ext cx="2057400" cy="457200"/>
            <a:chOff x="3936" y="3168"/>
            <a:chExt cx="1296" cy="288"/>
          </a:xfrm>
        </p:grpSpPr>
        <p:sp>
          <p:nvSpPr>
            <p:cNvPr id="11" name="Line 48"/>
            <p:cNvSpPr>
              <a:spLocks noChangeShapeType="1"/>
            </p:cNvSpPr>
            <p:nvPr/>
          </p:nvSpPr>
          <p:spPr bwMode="auto">
            <a:xfrm>
              <a:off x="3936" y="3312"/>
              <a:ext cx="67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" name="Text Box 49"/>
            <p:cNvSpPr txBox="1">
              <a:spLocks noChangeArrowheads="1"/>
            </p:cNvSpPr>
            <p:nvPr/>
          </p:nvSpPr>
          <p:spPr bwMode="auto">
            <a:xfrm>
              <a:off x="4560" y="3168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实部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13" name="Group 50"/>
          <p:cNvGrpSpPr/>
          <p:nvPr/>
        </p:nvGrpSpPr>
        <p:grpSpPr bwMode="auto">
          <a:xfrm>
            <a:off x="6324600" y="3505200"/>
            <a:ext cx="2057400" cy="457200"/>
            <a:chOff x="3936" y="3168"/>
            <a:chExt cx="1296" cy="288"/>
          </a:xfrm>
        </p:grpSpPr>
        <p:sp>
          <p:nvSpPr>
            <p:cNvPr id="14" name="Line 51"/>
            <p:cNvSpPr>
              <a:spLocks noChangeShapeType="1"/>
            </p:cNvSpPr>
            <p:nvPr/>
          </p:nvSpPr>
          <p:spPr bwMode="auto">
            <a:xfrm>
              <a:off x="3936" y="3312"/>
              <a:ext cx="67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" name="Text Box 52"/>
            <p:cNvSpPr txBox="1">
              <a:spLocks noChangeArrowheads="1"/>
            </p:cNvSpPr>
            <p:nvPr/>
          </p:nvSpPr>
          <p:spPr bwMode="auto">
            <a:xfrm>
              <a:off x="4560" y="3168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虚部</a:t>
              </a:r>
              <a:endParaRPr lang="zh-CN" altLang="en-US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aphicFrame>
        <p:nvGraphicFramePr>
          <p:cNvPr id="16" name="Group 53"/>
          <p:cNvGraphicFramePr>
            <a:graphicFrameLocks noGrp="1"/>
          </p:cNvGraphicFramePr>
          <p:nvPr/>
        </p:nvGraphicFramePr>
        <p:xfrm>
          <a:off x="609600" y="4724400"/>
          <a:ext cx="1219200" cy="518160"/>
        </p:xfrm>
        <a:graphic>
          <a:graphicData uri="http://schemas.openxmlformats.org/drawingml/2006/table">
            <a:tbl>
              <a:tblPr/>
              <a:tblGrid>
                <a:gridCol w="927100"/>
                <a:gridCol w="292100"/>
              </a:tblGrid>
              <a:tr h="355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实部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Group 62"/>
          <p:cNvGraphicFramePr>
            <a:graphicFrameLocks noGrp="1"/>
          </p:cNvGraphicFramePr>
          <p:nvPr/>
        </p:nvGraphicFramePr>
        <p:xfrm>
          <a:off x="2209800" y="4724400"/>
          <a:ext cx="1219200" cy="518160"/>
        </p:xfrm>
        <a:graphic>
          <a:graphicData uri="http://schemas.openxmlformats.org/drawingml/2006/table">
            <a:tbl>
              <a:tblPr/>
              <a:tblGrid>
                <a:gridCol w="927100"/>
                <a:gridCol w="292100"/>
              </a:tblGrid>
              <a:tr h="431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虚部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defRPr kumimoji="1"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" name="Line 71"/>
          <p:cNvSpPr>
            <a:spLocks noChangeShapeType="1"/>
          </p:cNvSpPr>
          <p:nvPr/>
        </p:nvSpPr>
        <p:spPr bwMode="auto">
          <a:xfrm>
            <a:off x="1676400" y="4953000"/>
            <a:ext cx="5334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" name="Line 72"/>
          <p:cNvSpPr>
            <a:spLocks noChangeShapeType="1"/>
          </p:cNvSpPr>
          <p:nvPr/>
        </p:nvSpPr>
        <p:spPr bwMode="auto">
          <a:xfrm>
            <a:off x="4495800" y="5334000"/>
            <a:ext cx="9144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18" grpId="0" animBg="1"/>
      <p:bldP spid="1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8313" y="920750"/>
            <a:ext cx="8424862" cy="1570038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数据的逻辑结构和存储结构是密不可分的两个方面，一个</a:t>
            </a:r>
            <a:r>
              <a:rPr lang="zh-CN" altLang="en-US" sz="3200" dirty="0">
                <a:solidFill>
                  <a:srgbClr val="DE580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算法的设计取决于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所选定的</a:t>
            </a:r>
            <a:r>
              <a:rPr lang="zh-CN" altLang="en-US" sz="32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逻辑结构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，而</a:t>
            </a:r>
            <a:r>
              <a:rPr lang="zh-CN" altLang="en-US" sz="3200" dirty="0">
                <a:solidFill>
                  <a:srgbClr val="DE580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算法的实现依赖于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所采用的</a:t>
            </a:r>
            <a:r>
              <a:rPr lang="zh-CN" altLang="en-US" sz="32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存储结构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  <a:endParaRPr lang="zh-CN" alt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strips dir="r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Group 2"/>
          <p:cNvGrpSpPr/>
          <p:nvPr/>
        </p:nvGrpSpPr>
        <p:grpSpPr bwMode="auto">
          <a:xfrm>
            <a:off x="179388" y="241300"/>
            <a:ext cx="8726487" cy="6354763"/>
            <a:chOff x="0" y="0"/>
            <a:chExt cx="5497" cy="4003"/>
          </a:xfrm>
        </p:grpSpPr>
        <p:grpSp>
          <p:nvGrpSpPr>
            <p:cNvPr id="34819" name="Group 3"/>
            <p:cNvGrpSpPr/>
            <p:nvPr/>
          </p:nvGrpSpPr>
          <p:grpSpPr bwMode="auto">
            <a:xfrm>
              <a:off x="0" y="2099"/>
              <a:ext cx="5497" cy="1904"/>
              <a:chOff x="0" y="0"/>
              <a:chExt cx="5497" cy="1904"/>
            </a:xfrm>
          </p:grpSpPr>
          <p:grpSp>
            <p:nvGrpSpPr>
              <p:cNvPr id="34836" name="Group 4"/>
              <p:cNvGrpSpPr/>
              <p:nvPr/>
            </p:nvGrpSpPr>
            <p:grpSpPr bwMode="auto">
              <a:xfrm>
                <a:off x="0" y="0"/>
                <a:ext cx="5497" cy="1539"/>
                <a:chOff x="0" y="0"/>
                <a:chExt cx="5497" cy="1539"/>
              </a:xfrm>
            </p:grpSpPr>
            <p:sp>
              <p:nvSpPr>
                <p:cNvPr id="34838" name="Rectangle 4"/>
                <p:cNvSpPr>
                  <a:spLocks noChangeArrowheads="1"/>
                </p:cNvSpPr>
                <p:nvPr/>
              </p:nvSpPr>
              <p:spPr bwMode="auto">
                <a:xfrm>
                  <a:off x="1705" y="0"/>
                  <a:ext cx="1020" cy="22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28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4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000"/>
                    <a:t>数据的逻辑结构</a:t>
                  </a:r>
                  <a:endParaRPr lang="zh-CN" altLang="en-US" sz="2000"/>
                </a:p>
              </p:txBody>
            </p:sp>
            <p:grpSp>
              <p:nvGrpSpPr>
                <p:cNvPr id="34839" name="Group 6"/>
                <p:cNvGrpSpPr/>
                <p:nvPr/>
              </p:nvGrpSpPr>
              <p:grpSpPr bwMode="auto">
                <a:xfrm>
                  <a:off x="2516" y="405"/>
                  <a:ext cx="2981" cy="1134"/>
                  <a:chOff x="0" y="0"/>
                  <a:chExt cx="2981" cy="1134"/>
                </a:xfrm>
              </p:grpSpPr>
              <p:sp>
                <p:nvSpPr>
                  <p:cNvPr id="34863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708" y="0"/>
                    <a:ext cx="816" cy="227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2800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400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000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zh-CN" altLang="en-US" sz="2000"/>
                      <a:t>非线性结构</a:t>
                    </a:r>
                    <a:endParaRPr lang="zh-CN" altLang="en-US" sz="2000"/>
                  </a:p>
                </p:txBody>
              </p:sp>
              <p:sp>
                <p:nvSpPr>
                  <p:cNvPr id="34864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0" y="472"/>
                    <a:ext cx="340" cy="227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2800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400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000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zh-CN" altLang="en-US" sz="2000"/>
                      <a:t>集合</a:t>
                    </a:r>
                    <a:endParaRPr lang="zh-CN" altLang="en-US" sz="2000"/>
                  </a:p>
                </p:txBody>
              </p:sp>
              <p:grpSp>
                <p:nvGrpSpPr>
                  <p:cNvPr id="34865" name="Group 9"/>
                  <p:cNvGrpSpPr/>
                  <p:nvPr/>
                </p:nvGrpSpPr>
                <p:grpSpPr bwMode="auto">
                  <a:xfrm>
                    <a:off x="1868" y="475"/>
                    <a:ext cx="1113" cy="659"/>
                    <a:chOff x="0" y="0"/>
                    <a:chExt cx="1113" cy="659"/>
                  </a:xfrm>
                </p:grpSpPr>
                <p:sp>
                  <p:nvSpPr>
                    <p:cNvPr id="34878" name="Rectangle 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4" y="0"/>
                      <a:ext cx="680" cy="227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28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kumimoji="1" sz="24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0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zh-CN" altLang="en-US" sz="2000"/>
                        <a:t>图状结构</a:t>
                      </a:r>
                      <a:endParaRPr lang="zh-CN" altLang="en-US" sz="2000"/>
                    </a:p>
                  </p:txBody>
                </p:sp>
                <p:sp>
                  <p:nvSpPr>
                    <p:cNvPr id="34879" name="Rectangle 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0" y="432"/>
                      <a:ext cx="521" cy="227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28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kumimoji="1" sz="24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0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zh-CN" altLang="en-US" sz="2000"/>
                        <a:t>有向图</a:t>
                      </a:r>
                      <a:endParaRPr lang="zh-CN" altLang="en-US" sz="2000"/>
                    </a:p>
                  </p:txBody>
                </p:sp>
                <p:sp>
                  <p:nvSpPr>
                    <p:cNvPr id="34880" name="Rectangle 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92" y="432"/>
                      <a:ext cx="521" cy="227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28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kumimoji="1" sz="24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0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zh-CN" altLang="en-US" sz="2000"/>
                        <a:t>无向图</a:t>
                      </a:r>
                      <a:endParaRPr lang="zh-CN" altLang="en-US" sz="2000"/>
                    </a:p>
                  </p:txBody>
                </p:sp>
                <p:sp>
                  <p:nvSpPr>
                    <p:cNvPr id="34881" name="Line 1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0" y="328"/>
                      <a:ext cx="576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882" name="Line 1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0" y="328"/>
                      <a:ext cx="0" cy="9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883" name="Line 2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56" y="328"/>
                      <a:ext cx="0" cy="9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884" name="Line 2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68" y="232"/>
                      <a:ext cx="0" cy="9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4866" name="Group 17"/>
                  <p:cNvGrpSpPr/>
                  <p:nvPr/>
                </p:nvGrpSpPr>
                <p:grpSpPr bwMode="auto">
                  <a:xfrm>
                    <a:off x="540" y="467"/>
                    <a:ext cx="1185" cy="659"/>
                    <a:chOff x="0" y="0"/>
                    <a:chExt cx="1185" cy="659"/>
                  </a:xfrm>
                </p:grpSpPr>
                <p:sp>
                  <p:nvSpPr>
                    <p:cNvPr id="34871" name="Rectangle 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6" y="0"/>
                      <a:ext cx="680" cy="227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28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kumimoji="1" sz="24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0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zh-CN" altLang="en-US" sz="2000"/>
                        <a:t>树形结构</a:t>
                      </a:r>
                      <a:endParaRPr lang="zh-CN" altLang="en-US" sz="2000"/>
                    </a:p>
                  </p:txBody>
                </p:sp>
                <p:sp>
                  <p:nvSpPr>
                    <p:cNvPr id="34872" name="Rectangle 1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0" y="432"/>
                      <a:ext cx="521" cy="227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28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kumimoji="1" sz="24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0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zh-CN" altLang="en-US" sz="2000"/>
                        <a:t>一般树</a:t>
                      </a:r>
                      <a:endParaRPr lang="zh-CN" altLang="en-US" sz="2000"/>
                    </a:p>
                  </p:txBody>
                </p:sp>
                <p:sp>
                  <p:nvSpPr>
                    <p:cNvPr id="34873" name="Rectangle 1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64" y="432"/>
                      <a:ext cx="521" cy="227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28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kumimoji="1" sz="24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0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zh-CN" altLang="en-US" sz="2000"/>
                        <a:t>二叉树</a:t>
                      </a:r>
                      <a:endParaRPr lang="zh-CN" altLang="en-US" sz="2000"/>
                    </a:p>
                  </p:txBody>
                </p:sp>
                <p:sp>
                  <p:nvSpPr>
                    <p:cNvPr id="34874" name="Line 2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4" y="336"/>
                      <a:ext cx="0" cy="9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875" name="Line 2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28" y="336"/>
                      <a:ext cx="0" cy="9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876" name="Line 2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00" y="232"/>
                      <a:ext cx="0" cy="9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877" name="Line 2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64" y="336"/>
                      <a:ext cx="657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4867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172" y="379"/>
                    <a:ext cx="0" cy="9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68" name="Line 30"/>
                  <p:cNvSpPr>
                    <a:spLocks noChangeShapeType="1"/>
                  </p:cNvSpPr>
                  <p:nvPr/>
                </p:nvSpPr>
                <p:spPr bwMode="auto">
                  <a:xfrm>
                    <a:off x="2428" y="379"/>
                    <a:ext cx="0" cy="9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69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172" y="371"/>
                    <a:ext cx="225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70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1140" y="227"/>
                    <a:ext cx="0" cy="2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4840" name="Group 29"/>
                <p:cNvGrpSpPr/>
                <p:nvPr/>
              </p:nvGrpSpPr>
              <p:grpSpPr bwMode="auto">
                <a:xfrm>
                  <a:off x="0" y="405"/>
                  <a:ext cx="2841" cy="1123"/>
                  <a:chOff x="0" y="0"/>
                  <a:chExt cx="2841" cy="1123"/>
                </a:xfrm>
              </p:grpSpPr>
              <p:sp>
                <p:nvSpPr>
                  <p:cNvPr id="34845" name="Rectangle 5"/>
                  <p:cNvSpPr>
                    <a:spLocks noChangeArrowheads="1"/>
                  </p:cNvSpPr>
                  <p:nvPr/>
                </p:nvSpPr>
                <p:spPr bwMode="auto">
                  <a:xfrm>
                    <a:off x="697" y="0"/>
                    <a:ext cx="680" cy="227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2800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400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000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zh-CN" altLang="en-US" sz="2000"/>
                      <a:t>线性结构</a:t>
                    </a:r>
                    <a:endParaRPr lang="zh-CN" altLang="en-US" sz="2000"/>
                  </a:p>
                </p:txBody>
              </p:sp>
              <p:sp>
                <p:nvSpPr>
                  <p:cNvPr id="34846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0" y="896"/>
                    <a:ext cx="793" cy="227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2800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400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000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fontAlgn="base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b="1">
                        <a:solidFill>
                          <a:srgbClr val="000099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zh-CN" altLang="en-US" sz="2000"/>
                      <a:t>一般线性表</a:t>
                    </a:r>
                    <a:endParaRPr lang="zh-CN" altLang="en-US" sz="2000"/>
                  </a:p>
                </p:txBody>
              </p:sp>
              <p:grpSp>
                <p:nvGrpSpPr>
                  <p:cNvPr id="34847" name="Group 32"/>
                  <p:cNvGrpSpPr/>
                  <p:nvPr/>
                </p:nvGrpSpPr>
                <p:grpSpPr bwMode="auto">
                  <a:xfrm>
                    <a:off x="1606" y="467"/>
                    <a:ext cx="1235" cy="651"/>
                    <a:chOff x="0" y="0"/>
                    <a:chExt cx="1235" cy="651"/>
                  </a:xfrm>
                </p:grpSpPr>
                <p:sp>
                  <p:nvSpPr>
                    <p:cNvPr id="34858" name="Rectangl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0" y="0"/>
                      <a:ext cx="771" cy="227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28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kumimoji="1" sz="24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0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zh-CN" altLang="en-US" sz="2000"/>
                        <a:t>线性表推广</a:t>
                      </a:r>
                      <a:endParaRPr lang="zh-CN" altLang="en-US" sz="2000"/>
                    </a:p>
                  </p:txBody>
                </p:sp>
                <p:sp>
                  <p:nvSpPr>
                    <p:cNvPr id="34859" name="Rectangle 3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6" y="424"/>
                      <a:ext cx="499" cy="227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28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kumimoji="1" sz="24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0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zh-CN" altLang="en-US" sz="2000"/>
                        <a:t>广义表</a:t>
                      </a:r>
                      <a:endParaRPr lang="zh-CN" altLang="en-US" sz="2000"/>
                    </a:p>
                  </p:txBody>
                </p:sp>
                <p:sp>
                  <p:nvSpPr>
                    <p:cNvPr id="34860" name="Rectangle 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6" y="424"/>
                      <a:ext cx="363" cy="227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28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kumimoji="1" sz="24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0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zh-CN" altLang="en-US" sz="2000"/>
                        <a:t>数组</a:t>
                      </a:r>
                      <a:endParaRPr lang="zh-CN" altLang="en-US" sz="2000"/>
                    </a:p>
                  </p:txBody>
                </p:sp>
                <p:sp>
                  <p:nvSpPr>
                    <p:cNvPr id="34861" name="Line 3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27" y="224"/>
                      <a:ext cx="0" cy="19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862" name="Line 3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19" y="224"/>
                      <a:ext cx="384" cy="19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4848" name="Group 38"/>
                  <p:cNvGrpSpPr/>
                  <p:nvPr/>
                </p:nvGrpSpPr>
                <p:grpSpPr bwMode="auto">
                  <a:xfrm>
                    <a:off x="637" y="467"/>
                    <a:ext cx="1137" cy="651"/>
                    <a:chOff x="0" y="0"/>
                    <a:chExt cx="1137" cy="651"/>
                  </a:xfrm>
                </p:grpSpPr>
                <p:sp>
                  <p:nvSpPr>
                    <p:cNvPr id="34853" name="Rectangle 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56" y="424"/>
                      <a:ext cx="181" cy="227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28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kumimoji="1" sz="24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0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zh-CN" altLang="en-US" sz="2000"/>
                        <a:t>串</a:t>
                      </a:r>
                      <a:endParaRPr lang="zh-CN" altLang="en-US" sz="2000"/>
                    </a:p>
                  </p:txBody>
                </p:sp>
                <p:sp>
                  <p:nvSpPr>
                    <p:cNvPr id="34854" name="Rectangle 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0" y="0"/>
                      <a:ext cx="793" cy="227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28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kumimoji="1" sz="24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0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zh-CN" altLang="en-US" sz="2000"/>
                        <a:t>受限线性表</a:t>
                      </a:r>
                      <a:endParaRPr lang="zh-CN" altLang="en-US" sz="2000"/>
                    </a:p>
                  </p:txBody>
                </p:sp>
                <p:sp>
                  <p:nvSpPr>
                    <p:cNvPr id="34855" name="Rectangle 3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2" y="424"/>
                      <a:ext cx="612" cy="227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28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kumimoji="1" sz="24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000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b="1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zh-CN" altLang="en-US" sz="2000"/>
                        <a:t>栈和队列</a:t>
                      </a:r>
                      <a:endParaRPr lang="zh-CN" altLang="en-US" sz="2000"/>
                    </a:p>
                  </p:txBody>
                </p:sp>
                <p:sp>
                  <p:nvSpPr>
                    <p:cNvPr id="34856" name="Line 4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52" y="232"/>
                      <a:ext cx="0" cy="19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857" name="Line 4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28" y="232"/>
                      <a:ext cx="432" cy="19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4849" name="Line 44"/>
                  <p:cNvSpPr>
                    <a:spLocks noChangeShapeType="1"/>
                  </p:cNvSpPr>
                  <p:nvPr/>
                </p:nvSpPr>
                <p:spPr bwMode="auto">
                  <a:xfrm>
                    <a:off x="401" y="371"/>
                    <a:ext cx="0" cy="52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50" name="Line 45"/>
                  <p:cNvSpPr>
                    <a:spLocks noChangeShapeType="1"/>
                  </p:cNvSpPr>
                  <p:nvPr/>
                </p:nvSpPr>
                <p:spPr bwMode="auto">
                  <a:xfrm>
                    <a:off x="1993" y="371"/>
                    <a:ext cx="0" cy="9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51" name="Line 46"/>
                  <p:cNvSpPr>
                    <a:spLocks noChangeShapeType="1"/>
                  </p:cNvSpPr>
                  <p:nvPr/>
                </p:nvSpPr>
                <p:spPr bwMode="auto">
                  <a:xfrm>
                    <a:off x="409" y="371"/>
                    <a:ext cx="158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52" name="Line 47"/>
                  <p:cNvSpPr>
                    <a:spLocks noChangeShapeType="1"/>
                  </p:cNvSpPr>
                  <p:nvPr/>
                </p:nvSpPr>
                <p:spPr bwMode="auto">
                  <a:xfrm>
                    <a:off x="1041" y="227"/>
                    <a:ext cx="0" cy="24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4841" name="Line 49"/>
                <p:cNvSpPr>
                  <a:spLocks noChangeShapeType="1"/>
                </p:cNvSpPr>
                <p:nvPr/>
              </p:nvSpPr>
              <p:spPr bwMode="auto">
                <a:xfrm>
                  <a:off x="1017" y="320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4842" name="Line 50"/>
                <p:cNvSpPr>
                  <a:spLocks noChangeShapeType="1"/>
                </p:cNvSpPr>
                <p:nvPr/>
              </p:nvSpPr>
              <p:spPr bwMode="auto">
                <a:xfrm>
                  <a:off x="3649" y="320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4843" name="Line 51"/>
                <p:cNvSpPr>
                  <a:spLocks noChangeShapeType="1"/>
                </p:cNvSpPr>
                <p:nvPr/>
              </p:nvSpPr>
              <p:spPr bwMode="auto">
                <a:xfrm>
                  <a:off x="1017" y="320"/>
                  <a:ext cx="263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4844" name="Line 52"/>
                <p:cNvSpPr>
                  <a:spLocks noChangeShapeType="1"/>
                </p:cNvSpPr>
                <p:nvPr/>
              </p:nvSpPr>
              <p:spPr bwMode="auto">
                <a:xfrm>
                  <a:off x="2217" y="232"/>
                  <a:ext cx="0" cy="9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34837" name="Rectangle 54"/>
              <p:cNvSpPr>
                <a:spLocks noChangeArrowheads="1"/>
              </p:cNvSpPr>
              <p:nvPr/>
            </p:nvSpPr>
            <p:spPr bwMode="auto">
              <a:xfrm>
                <a:off x="1209" y="1616"/>
                <a:ext cx="265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 anchor="ctr"/>
              <a:lstStyle>
                <a:lvl1pPr>
                  <a:spcBef>
                    <a:spcPct val="20000"/>
                  </a:spcBef>
                  <a:buChar char="•"/>
                  <a:defRPr kumimoji="1" sz="2800" b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 b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 b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b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b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b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b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b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b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楷体_GB2312" pitchFamily="49" charset="-122"/>
                  </a:rPr>
                  <a:t>数据逻辑结构层次关系图</a:t>
                </a:r>
                <a:endParaRPr lang="zh-CN" altLang="en-US" sz="2000">
                  <a:latin typeface="楷体_GB2312" pitchFamily="49" charset="-122"/>
                </a:endParaRPr>
              </a:p>
            </p:txBody>
          </p:sp>
        </p:grpSp>
        <p:grpSp>
          <p:nvGrpSpPr>
            <p:cNvPr id="34820" name="Group 53"/>
            <p:cNvGrpSpPr/>
            <p:nvPr/>
          </p:nvGrpSpPr>
          <p:grpSpPr bwMode="auto">
            <a:xfrm>
              <a:off x="799" y="0"/>
              <a:ext cx="3436" cy="1872"/>
              <a:chOff x="0" y="0"/>
              <a:chExt cx="3436" cy="1872"/>
            </a:xfrm>
          </p:grpSpPr>
          <p:sp>
            <p:nvSpPr>
              <p:cNvPr id="34821" name="Rectangle 58"/>
              <p:cNvSpPr>
                <a:spLocks noChangeArrowheads="1"/>
              </p:cNvSpPr>
              <p:nvPr/>
            </p:nvSpPr>
            <p:spPr bwMode="auto">
              <a:xfrm>
                <a:off x="416" y="1632"/>
                <a:ext cx="2880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 anchor="ctr"/>
              <a:lstStyle>
                <a:lvl1pPr>
                  <a:spcBef>
                    <a:spcPct val="20000"/>
                  </a:spcBef>
                  <a:buChar char="•"/>
                  <a:defRPr kumimoji="1" sz="2800" b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400" b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 b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b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b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b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b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b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b="1">
                    <a:solidFill>
                      <a:srgbClr val="000099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楷体_GB2312" pitchFamily="49" charset="-122"/>
                  </a:rPr>
                  <a:t>逻辑结构与所采用的存储结构</a:t>
                </a:r>
                <a:endParaRPr lang="zh-CN" altLang="en-US" sz="2000">
                  <a:latin typeface="楷体_GB2312" pitchFamily="49" charset="-122"/>
                </a:endParaRPr>
              </a:p>
            </p:txBody>
          </p:sp>
          <p:grpSp>
            <p:nvGrpSpPr>
              <p:cNvPr id="34822" name="Group 55"/>
              <p:cNvGrpSpPr/>
              <p:nvPr/>
            </p:nvGrpSpPr>
            <p:grpSpPr bwMode="auto">
              <a:xfrm>
                <a:off x="0" y="0"/>
                <a:ext cx="3436" cy="1509"/>
                <a:chOff x="0" y="0"/>
                <a:chExt cx="3436" cy="1509"/>
              </a:xfrm>
            </p:grpSpPr>
            <p:sp>
              <p:nvSpPr>
                <p:cNvPr id="34823" name="Rectangle 60"/>
                <p:cNvSpPr>
                  <a:spLocks noChangeArrowheads="1"/>
                </p:cNvSpPr>
                <p:nvPr/>
              </p:nvSpPr>
              <p:spPr bwMode="auto">
                <a:xfrm>
                  <a:off x="76" y="400"/>
                  <a:ext cx="768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28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4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/>
                    <a:t>线性表</a:t>
                  </a:r>
                  <a:endParaRPr lang="zh-CN" altLang="en-US" sz="2400"/>
                </a:p>
              </p:txBody>
            </p:sp>
            <p:sp>
              <p:nvSpPr>
                <p:cNvPr id="34824" name="Rectangle 61"/>
                <p:cNvSpPr>
                  <a:spLocks noChangeArrowheads="1"/>
                </p:cNvSpPr>
                <p:nvPr/>
              </p:nvSpPr>
              <p:spPr bwMode="auto">
                <a:xfrm>
                  <a:off x="172" y="861"/>
                  <a:ext cx="480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28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4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/>
                    <a:t>树</a:t>
                  </a:r>
                  <a:endParaRPr lang="zh-CN" altLang="en-US" sz="2400"/>
                </a:p>
              </p:txBody>
            </p:sp>
            <p:sp>
              <p:nvSpPr>
                <p:cNvPr id="34825" name="Rectangle 62"/>
                <p:cNvSpPr>
                  <a:spLocks noChangeArrowheads="1"/>
                </p:cNvSpPr>
                <p:nvPr/>
              </p:nvSpPr>
              <p:spPr bwMode="auto">
                <a:xfrm>
                  <a:off x="220" y="1221"/>
                  <a:ext cx="432" cy="2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28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4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/>
                    <a:t>图</a:t>
                  </a:r>
                  <a:endParaRPr lang="zh-CN" altLang="en-US" sz="2400"/>
                </a:p>
              </p:txBody>
            </p:sp>
            <p:sp>
              <p:nvSpPr>
                <p:cNvPr id="34826" name="Rectangle 63"/>
                <p:cNvSpPr>
                  <a:spLocks noChangeArrowheads="1"/>
                </p:cNvSpPr>
                <p:nvPr/>
              </p:nvSpPr>
              <p:spPr bwMode="auto">
                <a:xfrm>
                  <a:off x="2256" y="424"/>
                  <a:ext cx="115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28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4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/>
                    <a:t>顺序存储结构</a:t>
                  </a:r>
                  <a:endParaRPr lang="zh-CN" altLang="en-US" sz="2400"/>
                </a:p>
              </p:txBody>
            </p:sp>
            <p:sp>
              <p:nvSpPr>
                <p:cNvPr id="34827" name="Rectangle 64"/>
                <p:cNvSpPr>
                  <a:spLocks noChangeArrowheads="1"/>
                </p:cNvSpPr>
                <p:nvPr/>
              </p:nvSpPr>
              <p:spPr bwMode="auto">
                <a:xfrm>
                  <a:off x="2256" y="842"/>
                  <a:ext cx="115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28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4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/>
                    <a:t>链式存储结构</a:t>
                  </a:r>
                  <a:endParaRPr lang="zh-CN" altLang="en-US" sz="2400"/>
                </a:p>
              </p:txBody>
            </p:sp>
            <p:sp>
              <p:nvSpPr>
                <p:cNvPr id="34828" name="Rectangle 65"/>
                <p:cNvSpPr>
                  <a:spLocks noChangeArrowheads="1"/>
                </p:cNvSpPr>
                <p:nvPr/>
              </p:nvSpPr>
              <p:spPr bwMode="auto">
                <a:xfrm>
                  <a:off x="2284" y="1221"/>
                  <a:ext cx="115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28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4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/>
                    <a:t>复合存储结构</a:t>
                  </a:r>
                  <a:endParaRPr lang="zh-CN" altLang="en-US" sz="2400"/>
                </a:p>
              </p:txBody>
            </p:sp>
            <p:sp>
              <p:nvSpPr>
                <p:cNvPr id="34829" name="Rectangle 66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960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28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4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>
                      <a:solidFill>
                        <a:srgbClr val="C00000"/>
                      </a:solidFill>
                    </a:rPr>
                    <a:t>逻辑结构</a:t>
                  </a:r>
                  <a:endParaRPr lang="zh-CN" altLang="en-US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34830" name="Rectangle 67"/>
                <p:cNvSpPr>
                  <a:spLocks noChangeArrowheads="1"/>
                </p:cNvSpPr>
                <p:nvPr/>
              </p:nvSpPr>
              <p:spPr bwMode="auto">
                <a:xfrm>
                  <a:off x="2352" y="12"/>
                  <a:ext cx="91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28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4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000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b="1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>
                      <a:solidFill>
                        <a:srgbClr val="C00000"/>
                      </a:solidFill>
                    </a:rPr>
                    <a:t>物理结构</a:t>
                  </a:r>
                  <a:endParaRPr lang="zh-CN" altLang="en-US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34831" name="Line 68"/>
                <p:cNvSpPr>
                  <a:spLocks noChangeShapeType="1"/>
                </p:cNvSpPr>
                <p:nvPr/>
              </p:nvSpPr>
              <p:spPr bwMode="auto">
                <a:xfrm>
                  <a:off x="796" y="544"/>
                  <a:ext cx="1440" cy="0"/>
                </a:xfrm>
                <a:prstGeom prst="line">
                  <a:avLst/>
                </a:prstGeom>
                <a:noFill/>
                <a:ln w="28575">
                  <a:solidFill>
                    <a:schemeClr val="accent1"/>
                  </a:solidFill>
                  <a:rou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4832" name="Line 69"/>
                <p:cNvSpPr>
                  <a:spLocks noChangeShapeType="1"/>
                </p:cNvSpPr>
                <p:nvPr/>
              </p:nvSpPr>
              <p:spPr bwMode="auto">
                <a:xfrm>
                  <a:off x="771" y="603"/>
                  <a:ext cx="1465" cy="341"/>
                </a:xfrm>
                <a:prstGeom prst="line">
                  <a:avLst/>
                </a:prstGeom>
                <a:noFill/>
                <a:ln w="28575">
                  <a:solidFill>
                    <a:schemeClr val="accent1"/>
                  </a:solidFill>
                  <a:rou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4833" name="Line 70"/>
                <p:cNvSpPr>
                  <a:spLocks noChangeShapeType="1"/>
                </p:cNvSpPr>
                <p:nvPr/>
              </p:nvSpPr>
              <p:spPr bwMode="auto">
                <a:xfrm flipV="1">
                  <a:off x="652" y="624"/>
                  <a:ext cx="1584" cy="288"/>
                </a:xfrm>
                <a:prstGeom prst="line">
                  <a:avLst/>
                </a:prstGeom>
                <a:noFill/>
                <a:ln w="28575">
                  <a:solidFill>
                    <a:schemeClr val="folHlink"/>
                  </a:solidFill>
                  <a:rou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4834" name="Line 71"/>
                <p:cNvSpPr>
                  <a:spLocks noChangeShapeType="1"/>
                </p:cNvSpPr>
                <p:nvPr/>
              </p:nvSpPr>
              <p:spPr bwMode="auto">
                <a:xfrm>
                  <a:off x="556" y="1365"/>
                  <a:ext cx="168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4835" name="Line 72"/>
                <p:cNvSpPr>
                  <a:spLocks noChangeShapeType="1"/>
                </p:cNvSpPr>
                <p:nvPr/>
              </p:nvSpPr>
              <p:spPr bwMode="auto">
                <a:xfrm>
                  <a:off x="563" y="1013"/>
                  <a:ext cx="1680" cy="0"/>
                </a:xfrm>
                <a:prstGeom prst="line">
                  <a:avLst/>
                </a:prstGeom>
                <a:noFill/>
                <a:ln w="28575">
                  <a:solidFill>
                    <a:schemeClr val="folHlink"/>
                  </a:solidFill>
                  <a:rou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slow">
    <p:blinds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4450"/>
            <a:ext cx="8686800" cy="762000"/>
          </a:xfrm>
        </p:spPr>
        <p:txBody>
          <a:bodyPr/>
          <a:lstStyle/>
          <a:p>
            <a:pPr>
              <a:defRPr/>
            </a:pPr>
            <a:r>
              <a:rPr sz="44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数据类型</a:t>
            </a:r>
            <a:endParaRPr sz="4400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itchFamily="49" charset="-122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981075"/>
            <a:ext cx="8351838" cy="5472113"/>
          </a:xfrm>
        </p:spPr>
        <p:txBody>
          <a:bodyPr/>
          <a:lstStyle/>
          <a:p>
            <a:pPr>
              <a:buClr>
                <a:srgbClr val="00CC00"/>
              </a:buClr>
              <a:buSzPct val="45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数据类型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                                                                                                              </a:t>
            </a:r>
            <a:br>
              <a:rPr lang="zh-CN" altLang="en-US" sz="3200" dirty="0"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32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定义：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一组</a:t>
            </a:r>
            <a:r>
              <a:rPr lang="zh-CN" altLang="en-US" sz="3200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性质相同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的值的集合</a:t>
            </a:r>
            <a:r>
              <a:rPr lang="en-US" altLang="zh-CN" sz="3200" dirty="0"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以及定义于这个值集合上的一组操作的总称</a:t>
            </a:r>
            <a:endParaRPr lang="en-US" altLang="zh-CN" sz="3200" dirty="0">
              <a:latin typeface="楷体_GB2312" pitchFamily="49" charset="-122"/>
              <a:ea typeface="楷体_GB2312" pitchFamily="49" charset="-122"/>
            </a:endParaRPr>
          </a:p>
          <a:p>
            <a:pPr>
              <a:buClr>
                <a:srgbClr val="00CC00"/>
              </a:buClr>
              <a:buSzPct val="45000"/>
              <a:buFont typeface="Wingdings" panose="05000000000000000000" pitchFamily="2" charset="2"/>
              <a:buChar char="n"/>
            </a:pPr>
            <a:endParaRPr lang="zh-CN" altLang="en-US" sz="3200" dirty="0">
              <a:latin typeface="楷体_GB2312" pitchFamily="49" charset="-122"/>
              <a:ea typeface="楷体_GB2312" pitchFamily="49" charset="-122"/>
            </a:endParaRPr>
          </a:p>
          <a:p>
            <a:pPr>
              <a:buClr>
                <a:srgbClr val="00CC00"/>
              </a:buClr>
              <a:buSzPct val="45000"/>
              <a:buFont typeface="Wingdings" panose="05000000000000000000" pitchFamily="2" charset="2"/>
              <a:buChar char="n"/>
            </a:pPr>
            <a:r>
              <a:rPr lang="zh-CN" altLang="en-US" sz="32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如</a:t>
            </a:r>
            <a:r>
              <a:rPr lang="en-US" altLang="zh-CN" sz="32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zh-CN" sz="32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语言中</a:t>
            </a:r>
            <a:r>
              <a:rPr lang="zh-CN" altLang="en-US" sz="32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有如下</a:t>
            </a:r>
            <a:r>
              <a:rPr lang="zh-CN" altLang="zh-CN" sz="32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数据类型</a:t>
            </a:r>
            <a:endParaRPr lang="zh-CN" altLang="zh-CN" sz="320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buClr>
                <a:schemeClr val="tx1"/>
              </a:buClr>
              <a:buSzPct val="45000"/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en-US" altLang="zh-CN" sz="32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char   </a:t>
            </a:r>
            <a:r>
              <a:rPr lang="en-US" altLang="zh-CN" sz="3200" dirty="0" err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int</a:t>
            </a:r>
            <a:r>
              <a:rPr lang="en-US" altLang="zh-CN" sz="32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float   double </a:t>
            </a:r>
            <a:endParaRPr lang="en-US" altLang="zh-CN" sz="3200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buClr>
                <a:schemeClr val="tx1"/>
              </a:buClr>
              <a:buSzPct val="45000"/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字符型 整型  浮点型  双精度型</a:t>
            </a:r>
            <a:endParaRPr lang="zh-CN" altLang="en-US" sz="3200" dirty="0">
              <a:ea typeface="仿宋_GB2312"/>
              <a:cs typeface="仿宋_GB2312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ChangeArrowheads="1"/>
          </p:cNvSpPr>
          <p:nvPr/>
        </p:nvSpPr>
        <p:spPr bwMode="auto">
          <a:xfrm>
            <a:off x="755650" y="1368425"/>
            <a:ext cx="7704138" cy="4797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105000"/>
              </a:lnSpc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rgbClr val="008080"/>
                </a:solidFill>
                <a:ea typeface="仿宋_GB2312" pitchFamily="49" charset="-122"/>
              </a:rPr>
              <a:t>构造数据类型由</a:t>
            </a:r>
            <a:r>
              <a:rPr lang="zh-CN" altLang="en-US" sz="3200" dirty="0">
                <a:solidFill>
                  <a:schemeClr val="tx2"/>
                </a:solidFill>
                <a:ea typeface="仿宋_GB2312" pitchFamily="49" charset="-122"/>
              </a:rPr>
              <a:t>不同成员</a:t>
            </a:r>
            <a:r>
              <a:rPr lang="zh-CN" altLang="en-US" sz="3200" dirty="0">
                <a:solidFill>
                  <a:srgbClr val="008080"/>
                </a:solidFill>
                <a:ea typeface="仿宋_GB2312" pitchFamily="49" charset="-122"/>
              </a:rPr>
              <a:t>构成</a:t>
            </a:r>
            <a:endParaRPr lang="zh-CN" altLang="en-US" sz="3200" dirty="0">
              <a:solidFill>
                <a:srgbClr val="008080"/>
              </a:solidFill>
              <a:ea typeface="仿宋_GB2312" pitchFamily="49" charset="-122"/>
            </a:endParaRPr>
          </a:p>
          <a:p>
            <a:pPr marL="800100" lvl="1" indent="-342900" eaLnBrk="1" hangingPunct="1">
              <a:lnSpc>
                <a:spcPct val="105000"/>
              </a:lnSpc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</a:rPr>
              <a:t>基本数据类型：</a:t>
            </a:r>
            <a:r>
              <a:rPr lang="zh-CN" altLang="zh-CN" sz="3200" dirty="0">
                <a:solidFill>
                  <a:srgbClr val="008080"/>
                </a:solidFill>
                <a:ea typeface="仿宋_GB2312" pitchFamily="49" charset="-122"/>
              </a:rPr>
              <a:t>可以看作是计算机中已实现的数据</a:t>
            </a:r>
            <a:r>
              <a:rPr lang="zh-CN" altLang="en-US" sz="3200" dirty="0">
                <a:solidFill>
                  <a:srgbClr val="008080"/>
                </a:solidFill>
                <a:ea typeface="仿宋_GB2312" pitchFamily="49" charset="-122"/>
              </a:rPr>
              <a:t>类型</a:t>
            </a:r>
            <a:endParaRPr lang="en-US" altLang="zh-CN" sz="3200" dirty="0">
              <a:solidFill>
                <a:srgbClr val="008080"/>
              </a:solidFill>
              <a:ea typeface="仿宋_GB2312" pitchFamily="49" charset="-122"/>
            </a:endParaRPr>
          </a:p>
          <a:p>
            <a:pPr marL="800100" lvl="1" indent="-342900" eaLnBrk="1" hangingPunct="1">
              <a:lnSpc>
                <a:spcPct val="105000"/>
              </a:lnSpc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solidFill>
                  <a:srgbClr val="008080"/>
                </a:solidFill>
                <a:ea typeface="仿宋_GB2312" pitchFamily="49" charset="-122"/>
              </a:rPr>
              <a:t>或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</a:rPr>
              <a:t>构造数据类型</a:t>
            </a:r>
            <a:endParaRPr lang="en-US" altLang="zh-CN" sz="3200" dirty="0">
              <a:solidFill>
                <a:srgbClr val="008080"/>
              </a:solidFill>
              <a:ea typeface="仿宋_GB2312" pitchFamily="49" charset="-122"/>
            </a:endParaRPr>
          </a:p>
        </p:txBody>
      </p:sp>
    </p:spTree>
  </p:cSld>
  <p:clrMapOvr>
    <a:masterClrMapping/>
  </p:clrMapOvr>
  <p:transition>
    <p:strips dir="r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5" name="Text Box 3"/>
          <p:cNvSpPr txBox="1">
            <a:spLocks noChangeArrowheads="1"/>
          </p:cNvSpPr>
          <p:nvPr/>
        </p:nvSpPr>
        <p:spPr bwMode="auto">
          <a:xfrm>
            <a:off x="900113" y="2565400"/>
            <a:ext cx="7997825" cy="139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zh-CN" sz="3200">
                <a:solidFill>
                  <a:srgbClr val="30552B"/>
                </a:solidFill>
                <a:latin typeface="楷体_GB2312" pitchFamily="49" charset="-122"/>
              </a:rPr>
              <a:t>由</a:t>
            </a:r>
            <a:r>
              <a:rPr lang="zh-CN" altLang="zh-CN" sz="3200">
                <a:solidFill>
                  <a:srgbClr val="C00000"/>
                </a:solidFill>
                <a:latin typeface="楷体_GB2312" pitchFamily="49" charset="-122"/>
              </a:rPr>
              <a:t>用户定义</a:t>
            </a:r>
            <a:r>
              <a:rPr lang="zh-CN" altLang="zh-CN" sz="3200">
                <a:solidFill>
                  <a:srgbClr val="30552B"/>
                </a:solidFill>
                <a:latin typeface="楷体_GB2312" pitchFamily="49" charset="-122"/>
              </a:rPr>
              <a:t>，用以表示应用问题的数据模型</a:t>
            </a:r>
            <a:r>
              <a:rPr lang="zh-CN" altLang="en-US" sz="3200">
                <a:solidFill>
                  <a:srgbClr val="30552B"/>
                </a:solidFill>
                <a:latin typeface="楷体_GB2312" pitchFamily="49" charset="-122"/>
              </a:rPr>
              <a:t>以及定义在此数学模型上的一组操作。</a:t>
            </a:r>
            <a:endParaRPr lang="zh-CN" altLang="en-US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33156" name="Rectangle 4"/>
          <p:cNvSpPr>
            <a:spLocks noChangeArrowheads="1"/>
          </p:cNvSpPr>
          <p:nvPr/>
        </p:nvSpPr>
        <p:spPr bwMode="auto">
          <a:xfrm>
            <a:off x="0" y="404813"/>
            <a:ext cx="9144000" cy="1916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抽象数据类型 </a:t>
            </a:r>
            <a:br>
              <a:rPr lang="zh-CN" alt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zh-CN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altLang="zh-CN" sz="3600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ADT:Abstract</a:t>
            </a:r>
            <a:r>
              <a:rPr lang="en-US" altLang="zh-CN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Data Type)</a:t>
            </a:r>
            <a:endParaRPr lang="en-US" altLang="zh-CN" sz="36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33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3155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000">
                <a:solidFill>
                  <a:srgbClr val="FF0000"/>
                </a:solidFill>
              </a:rPr>
              <a:t>ADT </a:t>
            </a:r>
            <a:r>
              <a:rPr lang="zh-CN" altLang="en-US" sz="4000"/>
              <a:t>有两个重要特征</a:t>
            </a:r>
            <a:endParaRPr lang="zh-CN" altLang="en-US" sz="4000">
              <a:ea typeface="宋体" panose="02010600030101010101" pitchFamily="2" charset="-122"/>
            </a:endParaRPr>
          </a:p>
        </p:txBody>
      </p:sp>
      <p:sp>
        <p:nvSpPr>
          <p:cNvPr id="323587" name="Text Box 3"/>
          <p:cNvSpPr txBox="1">
            <a:spLocks noChangeArrowheads="1"/>
          </p:cNvSpPr>
          <p:nvPr/>
        </p:nvSpPr>
        <p:spPr bwMode="auto">
          <a:xfrm>
            <a:off x="395288" y="692150"/>
            <a:ext cx="26241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000080"/>
                </a:solidFill>
                <a:latin typeface="楷体_GB2312" pitchFamily="49" charset="-122"/>
              </a:rPr>
              <a:t>抽象性</a:t>
            </a:r>
            <a:endParaRPr lang="zh-CN" altLang="en-US" sz="1600">
              <a:solidFill>
                <a:srgbClr val="000080"/>
              </a:solidFill>
              <a:latin typeface="楷体_GB2312" pitchFamily="49" charset="-122"/>
            </a:endParaRPr>
          </a:p>
        </p:txBody>
      </p:sp>
      <p:sp>
        <p:nvSpPr>
          <p:cNvPr id="323588" name="Text Box 4"/>
          <p:cNvSpPr txBox="1">
            <a:spLocks noChangeArrowheads="1"/>
          </p:cNvSpPr>
          <p:nvPr/>
        </p:nvSpPr>
        <p:spPr bwMode="auto">
          <a:xfrm>
            <a:off x="900113" y="1341438"/>
            <a:ext cx="8016875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楷体_GB2312" pitchFamily="49" charset="-122"/>
              </a:rPr>
              <a:t>      </a:t>
            </a:r>
            <a:r>
              <a:rPr lang="zh-CN" altLang="en-US">
                <a:solidFill>
                  <a:srgbClr val="008000"/>
                </a:solidFill>
                <a:latin typeface="楷体_GB2312" pitchFamily="49" charset="-122"/>
              </a:rPr>
              <a:t>用</a:t>
            </a:r>
            <a:r>
              <a:rPr lang="en-US" altLang="zh-CN">
                <a:solidFill>
                  <a:srgbClr val="008000"/>
                </a:solidFill>
              </a:rPr>
              <a:t>ADT</a:t>
            </a:r>
            <a:r>
              <a:rPr lang="zh-CN" altLang="en-US">
                <a:solidFill>
                  <a:srgbClr val="008000"/>
                </a:solidFill>
                <a:latin typeface="楷体_GB2312" pitchFamily="49" charset="-122"/>
              </a:rPr>
              <a:t>描述程序处理的实体时，强调的是其本质的特征、其所能完成的功能以及它和外部用户的接口（即外界使用它的方法）</a:t>
            </a:r>
            <a:endParaRPr lang="zh-CN" altLang="en-US">
              <a:solidFill>
                <a:srgbClr val="008000"/>
              </a:solidFill>
              <a:latin typeface="楷体_GB2312" pitchFamily="49" charset="-122"/>
            </a:endParaRPr>
          </a:p>
        </p:txBody>
      </p:sp>
      <p:sp>
        <p:nvSpPr>
          <p:cNvPr id="323589" name="Text Box 5"/>
          <p:cNvSpPr txBox="1">
            <a:spLocks noChangeArrowheads="1"/>
          </p:cNvSpPr>
          <p:nvPr/>
        </p:nvSpPr>
        <p:spPr bwMode="auto">
          <a:xfrm>
            <a:off x="395288" y="3716338"/>
            <a:ext cx="34623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000080"/>
                </a:solidFill>
                <a:latin typeface="楷体_GB2312" pitchFamily="49" charset="-122"/>
              </a:rPr>
              <a:t>封装性</a:t>
            </a:r>
            <a:endParaRPr lang="zh-CN" altLang="en-US" sz="1600">
              <a:solidFill>
                <a:srgbClr val="000080"/>
              </a:solidFill>
              <a:latin typeface="楷体_GB2312" pitchFamily="49" charset="-122"/>
            </a:endParaRPr>
          </a:p>
        </p:txBody>
      </p:sp>
      <p:sp>
        <p:nvSpPr>
          <p:cNvPr id="323590" name="Text Box 6"/>
          <p:cNvSpPr txBox="1">
            <a:spLocks noChangeArrowheads="1"/>
          </p:cNvSpPr>
          <p:nvPr/>
        </p:nvSpPr>
        <p:spPr bwMode="auto">
          <a:xfrm>
            <a:off x="1042988" y="4437063"/>
            <a:ext cx="78486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楷体_GB2312" pitchFamily="49" charset="-122"/>
              </a:rPr>
              <a:t>      </a:t>
            </a:r>
            <a:r>
              <a:rPr lang="zh-CN" altLang="en-US">
                <a:solidFill>
                  <a:srgbClr val="008000"/>
                </a:solidFill>
                <a:latin typeface="楷体_GB2312" pitchFamily="49" charset="-122"/>
              </a:rPr>
              <a:t>将实体的外部特性和其内部实现细节分离，并且对外部用户隐藏</a:t>
            </a:r>
            <a:r>
              <a:rPr lang="zh-CN" altLang="en-US">
                <a:solidFill>
                  <a:srgbClr val="008000"/>
                </a:solidFill>
              </a:rPr>
              <a:t>其内部实现细节</a:t>
            </a:r>
            <a:endParaRPr lang="zh-CN" altLang="en-US">
              <a:solidFill>
                <a:srgbClr val="008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32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6" grpId="0" autoUpdateAnimBg="0"/>
      <p:bldP spid="323587" grpId="0" autoUpdateAnimBg="0"/>
      <p:bldP spid="323588" grpId="0" autoUpdateAnimBg="0"/>
      <p:bldP spid="323589" grpId="0" autoUpdateAnimBg="0"/>
      <p:bldP spid="323590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矩形 1"/>
          <p:cNvSpPr>
            <a:spLocks noChangeArrowheads="1"/>
          </p:cNvSpPr>
          <p:nvPr/>
        </p:nvSpPr>
        <p:spPr bwMode="auto">
          <a:xfrm>
            <a:off x="250825" y="920750"/>
            <a:ext cx="8642350" cy="259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>
                <a:ea typeface="仿宋_GB2312"/>
                <a:cs typeface="仿宋_GB2312"/>
              </a:rPr>
              <a:t>抽象数据类型可用</a:t>
            </a:r>
            <a:r>
              <a:rPr lang="zh-CN" altLang="zh-CN">
                <a:solidFill>
                  <a:schemeClr val="tx2"/>
                </a:solidFill>
                <a:ea typeface="仿宋_GB2312"/>
                <a:cs typeface="仿宋_GB2312"/>
              </a:rPr>
              <a:t>（D, S, P）</a:t>
            </a:r>
            <a:r>
              <a:rPr lang="zh-CN" altLang="zh-CN">
                <a:ea typeface="仿宋_GB2312"/>
                <a:cs typeface="仿宋_GB2312"/>
              </a:rPr>
              <a:t>三元组表示</a:t>
            </a:r>
            <a:endParaRPr lang="en-US" altLang="zh-CN">
              <a:ea typeface="仿宋_GB2312"/>
              <a:cs typeface="仿宋_GB2312"/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zh-CN" sz="2800">
                <a:solidFill>
                  <a:schemeClr val="tx2"/>
                </a:solidFill>
                <a:ea typeface="仿宋_GB2312"/>
                <a:cs typeface="仿宋_GB2312"/>
              </a:rPr>
              <a:t>D </a:t>
            </a:r>
            <a:r>
              <a:rPr lang="zh-CN" altLang="zh-CN" sz="2800">
                <a:ea typeface="仿宋_GB2312"/>
                <a:cs typeface="仿宋_GB2312"/>
              </a:rPr>
              <a:t>是数据元素的集合（简称数据对象）</a:t>
            </a:r>
            <a:endParaRPr lang="en-US" altLang="zh-CN" sz="2800">
              <a:ea typeface="仿宋_GB2312"/>
              <a:cs typeface="仿宋_GB2312"/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zh-CN" sz="2800">
                <a:solidFill>
                  <a:schemeClr val="tx2"/>
                </a:solidFill>
                <a:ea typeface="仿宋_GB2312"/>
                <a:cs typeface="仿宋_GB2312"/>
              </a:rPr>
              <a:t>S </a:t>
            </a:r>
            <a:r>
              <a:rPr lang="zh-CN" altLang="zh-CN" sz="2800">
                <a:ea typeface="仿宋_GB2312"/>
                <a:cs typeface="仿宋_GB2312"/>
              </a:rPr>
              <a:t>是 </a:t>
            </a:r>
            <a:r>
              <a:rPr lang="zh-CN" altLang="zh-CN" sz="2800">
                <a:solidFill>
                  <a:schemeClr val="tx2"/>
                </a:solidFill>
                <a:ea typeface="仿宋_GB2312"/>
                <a:cs typeface="仿宋_GB2312"/>
              </a:rPr>
              <a:t>D</a:t>
            </a:r>
            <a:r>
              <a:rPr lang="zh-CN" altLang="zh-CN" sz="2800">
                <a:ea typeface="仿宋_GB2312"/>
                <a:cs typeface="仿宋_GB2312"/>
              </a:rPr>
              <a:t>上的关系集合</a:t>
            </a:r>
            <a:endParaRPr lang="en-US" altLang="zh-CN" sz="2800">
              <a:ea typeface="仿宋_GB2312"/>
              <a:cs typeface="仿宋_GB2312"/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zh-CN" altLang="zh-CN" sz="2800">
                <a:solidFill>
                  <a:schemeClr val="tx2"/>
                </a:solidFill>
                <a:ea typeface="仿宋_GB2312"/>
                <a:cs typeface="仿宋_GB2312"/>
              </a:rPr>
              <a:t>P </a:t>
            </a:r>
            <a:r>
              <a:rPr lang="zh-CN" altLang="zh-CN" sz="2800">
                <a:ea typeface="仿宋_GB2312"/>
                <a:cs typeface="仿宋_GB2312"/>
              </a:rPr>
              <a:t>是对 </a:t>
            </a:r>
            <a:r>
              <a:rPr lang="zh-CN" altLang="zh-CN" sz="2800">
                <a:solidFill>
                  <a:schemeClr val="tx2"/>
                </a:solidFill>
                <a:ea typeface="仿宋_GB2312"/>
                <a:cs typeface="仿宋_GB2312"/>
              </a:rPr>
              <a:t>D </a:t>
            </a:r>
            <a:r>
              <a:rPr lang="zh-CN" altLang="zh-CN" sz="2800">
                <a:ea typeface="仿宋_GB2312"/>
                <a:cs typeface="仿宋_GB2312"/>
              </a:rPr>
              <a:t>的基本操作集合</a:t>
            </a:r>
            <a:endParaRPr lang="zh-CN" altLang="en-US" sz="2800"/>
          </a:p>
        </p:txBody>
      </p:sp>
    </p:spTree>
  </p:cSld>
  <p:clrMapOvr>
    <a:masterClrMapping/>
  </p:clrMapOvr>
  <p:transition>
    <p:strips dir="r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kern="1200" dirty="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数据结构的主要运算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341438"/>
            <a:ext cx="8964613" cy="4895850"/>
          </a:xfrm>
        </p:spPr>
        <p:txBody>
          <a:bodyPr/>
          <a:lstStyle/>
          <a:p>
            <a:pPr marL="533400" lvl="1" indent="0">
              <a:lnSpc>
                <a:spcPct val="110000"/>
              </a:lnSpc>
              <a:spcBef>
                <a:spcPct val="10000"/>
              </a:spcBef>
              <a:buFontTx/>
              <a:buNone/>
              <a:defRPr/>
            </a:pPr>
            <a:r>
              <a:rPr lang="zh-CN" altLang="en-US" sz="2800" kern="1200" dirty="0">
                <a:latin typeface="楷体_GB2312" pitchFamily="49" charset="-122"/>
                <a:ea typeface="楷体_GB2312" pitchFamily="49" charset="-122"/>
                <a:cs typeface="+mn-cs"/>
              </a:rPr>
              <a:t>⑴ </a:t>
            </a:r>
            <a:r>
              <a:rPr lang="zh-CN" altLang="en-US" sz="2800" kern="1200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建立</a:t>
            </a:r>
            <a:r>
              <a:rPr lang="en-US" altLang="zh-CN" sz="2800" kern="1200" dirty="0">
                <a:latin typeface="楷体_GB2312" pitchFamily="49" charset="-122"/>
                <a:ea typeface="楷体_GB2312" pitchFamily="49" charset="-122"/>
                <a:cs typeface="+mn-cs"/>
              </a:rPr>
              <a:t>(Create)</a:t>
            </a:r>
            <a:r>
              <a:rPr lang="zh-CN" altLang="en-US" sz="2800" kern="1200" dirty="0">
                <a:latin typeface="楷体_GB2312" pitchFamily="49" charset="-122"/>
                <a:ea typeface="楷体_GB2312" pitchFamily="49" charset="-122"/>
                <a:cs typeface="+mn-cs"/>
              </a:rPr>
              <a:t>一个数据结构；</a:t>
            </a:r>
            <a:endParaRPr lang="zh-CN" altLang="en-US" sz="2800" kern="1200" dirty="0"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533400" lvl="1" indent="0">
              <a:lnSpc>
                <a:spcPct val="110000"/>
              </a:lnSpc>
              <a:spcBef>
                <a:spcPct val="10000"/>
              </a:spcBef>
              <a:buFontTx/>
              <a:buNone/>
              <a:defRPr/>
            </a:pPr>
            <a:r>
              <a:rPr lang="zh-CN" altLang="en-US" sz="2800" kern="1200" dirty="0">
                <a:latin typeface="楷体_GB2312" pitchFamily="49" charset="-122"/>
                <a:ea typeface="楷体_GB2312" pitchFamily="49" charset="-122"/>
                <a:cs typeface="+mn-cs"/>
              </a:rPr>
              <a:t>⑵ </a:t>
            </a:r>
            <a:r>
              <a:rPr lang="zh-CN" altLang="en-US" sz="2800" kern="1200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消除</a:t>
            </a:r>
            <a:r>
              <a:rPr lang="en-US" altLang="zh-CN" sz="2800" kern="1200" dirty="0">
                <a:latin typeface="楷体_GB2312" pitchFamily="49" charset="-122"/>
                <a:ea typeface="楷体_GB2312" pitchFamily="49" charset="-122"/>
                <a:cs typeface="+mn-cs"/>
              </a:rPr>
              <a:t>(Destroy)</a:t>
            </a:r>
            <a:r>
              <a:rPr lang="zh-CN" altLang="en-US" sz="2800" kern="1200" dirty="0">
                <a:latin typeface="楷体_GB2312" pitchFamily="49" charset="-122"/>
                <a:ea typeface="楷体_GB2312" pitchFamily="49" charset="-122"/>
                <a:cs typeface="+mn-cs"/>
              </a:rPr>
              <a:t>一个数据结构；</a:t>
            </a:r>
            <a:endParaRPr lang="zh-CN" altLang="en-US" sz="2800" kern="1200" dirty="0"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533400" lvl="1" indent="0">
              <a:lnSpc>
                <a:spcPct val="110000"/>
              </a:lnSpc>
              <a:spcBef>
                <a:spcPct val="10000"/>
              </a:spcBef>
              <a:buFontTx/>
              <a:buNone/>
              <a:defRPr/>
            </a:pPr>
            <a:r>
              <a:rPr lang="zh-CN" altLang="en-US" sz="2800" kern="1200" dirty="0">
                <a:latin typeface="楷体_GB2312" pitchFamily="49" charset="-122"/>
                <a:ea typeface="楷体_GB2312" pitchFamily="49" charset="-122"/>
                <a:cs typeface="+mn-cs"/>
              </a:rPr>
              <a:t>⑶ 从一个数据结构中</a:t>
            </a:r>
            <a:r>
              <a:rPr lang="zh-CN" altLang="en-US" sz="2800" kern="1200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删除</a:t>
            </a:r>
            <a:r>
              <a:rPr lang="en-US" altLang="zh-CN" sz="2800" kern="1200" dirty="0">
                <a:latin typeface="楷体_GB2312" pitchFamily="49" charset="-122"/>
                <a:ea typeface="楷体_GB2312" pitchFamily="49" charset="-122"/>
                <a:cs typeface="+mn-cs"/>
              </a:rPr>
              <a:t>(Delete)</a:t>
            </a:r>
            <a:r>
              <a:rPr lang="zh-CN" altLang="en-US" sz="2800" kern="1200" dirty="0">
                <a:latin typeface="楷体_GB2312" pitchFamily="49" charset="-122"/>
                <a:ea typeface="楷体_GB2312" pitchFamily="49" charset="-122"/>
                <a:cs typeface="+mn-cs"/>
              </a:rPr>
              <a:t>一个数据元素；</a:t>
            </a:r>
            <a:endParaRPr lang="zh-CN" altLang="en-US" sz="2800" kern="1200" dirty="0"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533400" lvl="1" indent="0">
              <a:lnSpc>
                <a:spcPct val="110000"/>
              </a:lnSpc>
              <a:spcBef>
                <a:spcPct val="10000"/>
              </a:spcBef>
              <a:buFontTx/>
              <a:buNone/>
              <a:defRPr/>
            </a:pPr>
            <a:r>
              <a:rPr lang="zh-CN" altLang="en-US" sz="2800" kern="1200" dirty="0">
                <a:latin typeface="楷体_GB2312" pitchFamily="49" charset="-122"/>
                <a:ea typeface="楷体_GB2312" pitchFamily="49" charset="-122"/>
                <a:cs typeface="+mn-cs"/>
              </a:rPr>
              <a:t>⑷ 把一个数据元素</a:t>
            </a:r>
            <a:r>
              <a:rPr lang="zh-CN" altLang="en-US" sz="2800" kern="1200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插入</a:t>
            </a:r>
            <a:r>
              <a:rPr lang="en-US" altLang="zh-CN" sz="2800" kern="1200" dirty="0">
                <a:latin typeface="楷体_GB2312" pitchFamily="49" charset="-122"/>
                <a:ea typeface="楷体_GB2312" pitchFamily="49" charset="-122"/>
                <a:cs typeface="+mn-cs"/>
              </a:rPr>
              <a:t>(Insert)</a:t>
            </a:r>
            <a:r>
              <a:rPr lang="zh-CN" altLang="en-US" sz="2800" kern="1200" dirty="0">
                <a:latin typeface="楷体_GB2312" pitchFamily="49" charset="-122"/>
                <a:ea typeface="楷体_GB2312" pitchFamily="49" charset="-122"/>
                <a:cs typeface="+mn-cs"/>
              </a:rPr>
              <a:t>到一个数据结构中；</a:t>
            </a:r>
            <a:endParaRPr lang="zh-CN" altLang="en-US" sz="2800" kern="1200" dirty="0"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533400" lvl="1" indent="0">
              <a:lnSpc>
                <a:spcPct val="110000"/>
              </a:lnSpc>
              <a:spcBef>
                <a:spcPct val="10000"/>
              </a:spcBef>
              <a:buFontTx/>
              <a:buNone/>
              <a:defRPr/>
            </a:pPr>
            <a:r>
              <a:rPr lang="zh-CN" altLang="en-US" sz="2800" kern="1200" dirty="0">
                <a:latin typeface="楷体_GB2312" pitchFamily="49" charset="-122"/>
                <a:ea typeface="楷体_GB2312" pitchFamily="49" charset="-122"/>
                <a:cs typeface="+mn-cs"/>
              </a:rPr>
              <a:t>⑸ 对一个数据结构进行</a:t>
            </a:r>
            <a:r>
              <a:rPr lang="zh-CN" altLang="en-US" sz="2800" kern="1200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访问</a:t>
            </a:r>
            <a:r>
              <a:rPr lang="en-US" altLang="zh-CN" sz="2800" kern="1200" dirty="0">
                <a:latin typeface="楷体_GB2312" pitchFamily="49" charset="-122"/>
                <a:ea typeface="楷体_GB2312" pitchFamily="49" charset="-122"/>
                <a:cs typeface="+mn-cs"/>
              </a:rPr>
              <a:t>(Access)</a:t>
            </a:r>
            <a:r>
              <a:rPr lang="zh-CN" altLang="en-US" sz="2800" kern="1200" dirty="0">
                <a:latin typeface="楷体_GB2312" pitchFamily="49" charset="-122"/>
                <a:ea typeface="楷体_GB2312" pitchFamily="49" charset="-122"/>
                <a:cs typeface="+mn-cs"/>
              </a:rPr>
              <a:t>；</a:t>
            </a:r>
            <a:endParaRPr lang="zh-CN" altLang="en-US" sz="2800" kern="1200" dirty="0"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533400" lvl="1" indent="0">
              <a:lnSpc>
                <a:spcPct val="110000"/>
              </a:lnSpc>
              <a:spcBef>
                <a:spcPct val="10000"/>
              </a:spcBef>
              <a:buFontTx/>
              <a:buNone/>
              <a:defRPr/>
            </a:pPr>
            <a:r>
              <a:rPr lang="zh-CN" altLang="en-US" sz="2800" kern="1200" dirty="0">
                <a:latin typeface="楷体_GB2312" pitchFamily="49" charset="-122"/>
                <a:ea typeface="楷体_GB2312" pitchFamily="49" charset="-122"/>
                <a:cs typeface="+mn-cs"/>
              </a:rPr>
              <a:t>⑹ 对一个数据结构</a:t>
            </a:r>
            <a:r>
              <a:rPr lang="en-US" altLang="zh-CN" sz="2800" kern="1200" dirty="0">
                <a:latin typeface="楷体_GB2312" pitchFamily="49" charset="-122"/>
                <a:ea typeface="楷体_GB2312" pitchFamily="49" charset="-122"/>
                <a:cs typeface="+mn-cs"/>
              </a:rPr>
              <a:t>(</a:t>
            </a:r>
            <a:r>
              <a:rPr lang="zh-CN" altLang="en-US" sz="2800" kern="1200" dirty="0">
                <a:latin typeface="楷体_GB2312" pitchFamily="49" charset="-122"/>
                <a:ea typeface="楷体_GB2312" pitchFamily="49" charset="-122"/>
                <a:cs typeface="+mn-cs"/>
              </a:rPr>
              <a:t>中的数据元素</a:t>
            </a:r>
            <a:r>
              <a:rPr lang="en-US" altLang="zh-CN" sz="2800" kern="1200" dirty="0">
                <a:latin typeface="楷体_GB2312" pitchFamily="49" charset="-122"/>
                <a:ea typeface="楷体_GB2312" pitchFamily="49" charset="-122"/>
                <a:cs typeface="+mn-cs"/>
              </a:rPr>
              <a:t>)</a:t>
            </a:r>
            <a:r>
              <a:rPr lang="zh-CN" altLang="en-US" sz="2800" kern="1200" dirty="0">
                <a:latin typeface="楷体_GB2312" pitchFamily="49" charset="-122"/>
                <a:ea typeface="楷体_GB2312" pitchFamily="49" charset="-122"/>
                <a:cs typeface="+mn-cs"/>
              </a:rPr>
              <a:t>进行</a:t>
            </a:r>
            <a:r>
              <a:rPr lang="zh-CN" altLang="en-US" sz="2800" kern="1200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修改</a:t>
            </a:r>
            <a:r>
              <a:rPr lang="en-US" altLang="zh-CN" sz="2800" kern="1200" dirty="0">
                <a:latin typeface="楷体_GB2312" pitchFamily="49" charset="-122"/>
                <a:ea typeface="楷体_GB2312" pitchFamily="49" charset="-122"/>
                <a:cs typeface="+mn-cs"/>
              </a:rPr>
              <a:t>(Modify)</a:t>
            </a:r>
            <a:r>
              <a:rPr lang="zh-CN" altLang="en-US" sz="2800" kern="1200" dirty="0">
                <a:latin typeface="楷体_GB2312" pitchFamily="49" charset="-122"/>
                <a:ea typeface="楷体_GB2312" pitchFamily="49" charset="-122"/>
                <a:cs typeface="+mn-cs"/>
              </a:rPr>
              <a:t>；</a:t>
            </a:r>
            <a:endParaRPr lang="zh-CN" altLang="en-US" sz="2800" kern="1200" dirty="0"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533400" lvl="1" indent="0">
              <a:lnSpc>
                <a:spcPct val="110000"/>
              </a:lnSpc>
              <a:spcBef>
                <a:spcPct val="10000"/>
              </a:spcBef>
              <a:buFontTx/>
              <a:buNone/>
              <a:defRPr/>
            </a:pPr>
            <a:r>
              <a:rPr lang="zh-CN" altLang="en-US" sz="2800" kern="1200" dirty="0">
                <a:latin typeface="楷体_GB2312" pitchFamily="49" charset="-122"/>
                <a:ea typeface="楷体_GB2312" pitchFamily="49" charset="-122"/>
                <a:cs typeface="+mn-cs"/>
              </a:rPr>
              <a:t>⑺ 对一个数据结构进行</a:t>
            </a:r>
            <a:r>
              <a:rPr lang="zh-CN" altLang="en-US" sz="2800" kern="1200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排序</a:t>
            </a:r>
            <a:r>
              <a:rPr lang="en-US" altLang="zh-CN" sz="2800" kern="1200" dirty="0">
                <a:latin typeface="楷体_GB2312" pitchFamily="49" charset="-122"/>
                <a:ea typeface="楷体_GB2312" pitchFamily="49" charset="-122"/>
                <a:cs typeface="+mn-cs"/>
              </a:rPr>
              <a:t>(Sort)</a:t>
            </a:r>
            <a:r>
              <a:rPr lang="zh-CN" altLang="en-US" sz="2800" kern="1200" dirty="0">
                <a:latin typeface="楷体_GB2312" pitchFamily="49" charset="-122"/>
                <a:ea typeface="楷体_GB2312" pitchFamily="49" charset="-122"/>
                <a:cs typeface="+mn-cs"/>
              </a:rPr>
              <a:t>；</a:t>
            </a:r>
            <a:endParaRPr lang="zh-CN" altLang="en-US" sz="2800" kern="1200" dirty="0"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533400" lvl="1" indent="0">
              <a:lnSpc>
                <a:spcPct val="110000"/>
              </a:lnSpc>
              <a:spcBef>
                <a:spcPct val="10000"/>
              </a:spcBef>
              <a:buFontTx/>
              <a:buNone/>
              <a:defRPr/>
            </a:pPr>
            <a:r>
              <a:rPr lang="zh-CN" altLang="en-US" sz="2800" kern="1200" dirty="0">
                <a:latin typeface="楷体_GB2312" pitchFamily="49" charset="-122"/>
                <a:ea typeface="楷体_GB2312" pitchFamily="49" charset="-122"/>
                <a:cs typeface="+mn-cs"/>
              </a:rPr>
              <a:t>⑻ 对一个数据结构进行</a:t>
            </a:r>
            <a:r>
              <a:rPr lang="zh-CN" altLang="en-US" sz="2800" kern="1200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查找</a:t>
            </a:r>
            <a:r>
              <a:rPr lang="en-US" altLang="zh-CN" sz="2800" kern="1200" dirty="0">
                <a:latin typeface="楷体_GB2312" pitchFamily="49" charset="-122"/>
                <a:ea typeface="楷体_GB2312" pitchFamily="49" charset="-122"/>
                <a:cs typeface="+mn-cs"/>
              </a:rPr>
              <a:t>(Search)</a:t>
            </a:r>
            <a:r>
              <a:rPr lang="zh-CN" altLang="en-US" sz="2800" kern="1200" dirty="0">
                <a:latin typeface="楷体_GB2312" pitchFamily="49" charset="-122"/>
                <a:ea typeface="楷体_GB2312" pitchFamily="49" charset="-122"/>
                <a:cs typeface="+mn-cs"/>
              </a:rPr>
              <a:t>。</a:t>
            </a:r>
            <a:endParaRPr lang="zh-CN" altLang="en-US" sz="2800" kern="1200" dirty="0"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>
              <a:defRPr/>
            </a:pPr>
            <a:endParaRPr lang="zh-CN" altLang="en-US" sz="3200" dirty="0"/>
          </a:p>
        </p:txBody>
      </p:sp>
    </p:spTree>
  </p:cSld>
  <p:clrMapOvr>
    <a:masterClrMapping/>
  </p:clrMapOvr>
  <p:transition>
    <p:strips dir="r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Text Box 2"/>
          <p:cNvSpPr txBox="1">
            <a:spLocks noChangeArrowheads="1"/>
          </p:cNvSpPr>
          <p:nvPr/>
        </p:nvSpPr>
        <p:spPr bwMode="auto">
          <a:xfrm>
            <a:off x="304800" y="304800"/>
            <a:ext cx="857408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4400" b="1">
                <a:solidFill>
                  <a:schemeClr val="tx2"/>
                </a:solidFill>
                <a:effectLst/>
                <a:latin typeface="楷体_GB2312" pitchFamily="49" charset="-122"/>
                <a:ea typeface="楷体_GB2312" pitchFamily="49" charset="-122"/>
              </a:rPr>
              <a:t>例如，复数</a:t>
            </a:r>
            <a:r>
              <a:rPr lang="zh-CN" altLang="en-US" sz="4400">
                <a:solidFill>
                  <a:schemeClr val="tx2"/>
                </a:solidFill>
                <a:effectLst/>
                <a:latin typeface="楷体_GB2312" pitchFamily="49" charset="-122"/>
                <a:ea typeface="楷体_GB2312" pitchFamily="49" charset="-122"/>
              </a:rPr>
              <a:t>的抽象数据类型定义：</a:t>
            </a:r>
            <a:endParaRPr lang="zh-CN" altLang="en-US" sz="4400">
              <a:solidFill>
                <a:schemeClr val="tx2"/>
              </a:solidFill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15395" name="Text Box 3"/>
          <p:cNvSpPr txBox="1">
            <a:spLocks noChangeArrowheads="1"/>
          </p:cNvSpPr>
          <p:nvPr/>
        </p:nvSpPr>
        <p:spPr bwMode="auto">
          <a:xfrm>
            <a:off x="-441325" y="2209800"/>
            <a:ext cx="9966325" cy="393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3600" b="1">
                <a:solidFill>
                  <a:srgbClr val="800000"/>
                </a:solidFill>
                <a:effectLst/>
                <a:ea typeface="楷体_GB2312" pitchFamily="49" charset="-122"/>
              </a:rPr>
              <a:t>      </a:t>
            </a:r>
            <a:r>
              <a:rPr lang="zh-CN" altLang="en-US" sz="3600" b="1">
                <a:solidFill>
                  <a:srgbClr val="800000"/>
                </a:solidFill>
                <a:effectLst/>
                <a:latin typeface="楷体_GB2312" pitchFamily="49" charset="-122"/>
                <a:ea typeface="楷体_GB2312" pitchFamily="49" charset="-122"/>
              </a:rPr>
              <a:t>数据对象：</a:t>
            </a:r>
            <a:endParaRPr lang="zh-CN" altLang="en-US" sz="3600" b="1">
              <a:solidFill>
                <a:srgbClr val="800000"/>
              </a:solidFill>
              <a:effectLst/>
              <a:latin typeface="楷体_GB2312" pitchFamily="49" charset="-122"/>
              <a:ea typeface="楷体_GB2312" pitchFamily="49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3600" b="1">
                <a:effectLst/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en-US" altLang="zh-CN" sz="3600">
                <a:effectLst/>
                <a:ea typeface="楷体_GB2312" pitchFamily="49" charset="-122"/>
              </a:rPr>
              <a:t>D</a:t>
            </a:r>
            <a:r>
              <a:rPr lang="zh-CN" altLang="en-US" sz="3600">
                <a:effectLst/>
                <a:ea typeface="楷体_GB2312" pitchFamily="49" charset="-122"/>
              </a:rPr>
              <a:t>＝</a:t>
            </a:r>
            <a:r>
              <a:rPr lang="en-US" altLang="zh-CN" sz="3600">
                <a:effectLst/>
                <a:ea typeface="楷体_GB2312" pitchFamily="49" charset="-122"/>
              </a:rPr>
              <a:t>{e1,e2</a:t>
            </a:r>
            <a:r>
              <a:rPr lang="zh-CN" altLang="en-US" sz="3600">
                <a:effectLst/>
                <a:ea typeface="楷体_GB2312" pitchFamily="49" charset="-122"/>
              </a:rPr>
              <a:t>｜</a:t>
            </a:r>
            <a:r>
              <a:rPr lang="en-US" altLang="zh-CN" sz="3600">
                <a:effectLst/>
                <a:ea typeface="楷体_GB2312" pitchFamily="49" charset="-122"/>
              </a:rPr>
              <a:t>e1,e2∈RealSet  }</a:t>
            </a:r>
            <a:endParaRPr lang="en-US" altLang="zh-CN" sz="3600">
              <a:effectLst/>
              <a:latin typeface="楷体_GB2312" pitchFamily="49" charset="-122"/>
              <a:ea typeface="楷体_GB2312" pitchFamily="49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3600">
                <a:solidFill>
                  <a:srgbClr val="800000"/>
                </a:solidFill>
                <a:effectLst/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3600" b="1">
                <a:solidFill>
                  <a:srgbClr val="800000"/>
                </a:solidFill>
                <a:effectLst/>
                <a:latin typeface="楷体_GB2312" pitchFamily="49" charset="-122"/>
                <a:ea typeface="楷体_GB2312" pitchFamily="49" charset="-122"/>
              </a:rPr>
              <a:t>数据关系</a:t>
            </a:r>
            <a:r>
              <a:rPr lang="zh-CN" altLang="en-US" sz="3600" b="1">
                <a:solidFill>
                  <a:srgbClr val="006699"/>
                </a:solidFill>
                <a:effectLst/>
                <a:latin typeface="楷体_GB2312" pitchFamily="49" charset="-122"/>
                <a:ea typeface="楷体_GB2312" pitchFamily="49" charset="-122"/>
              </a:rPr>
              <a:t>：</a:t>
            </a:r>
            <a:endParaRPr lang="zh-CN" altLang="en-US" sz="3600" b="1">
              <a:effectLst/>
              <a:latin typeface="楷体_GB2312" pitchFamily="49" charset="-122"/>
              <a:ea typeface="楷体_GB2312" pitchFamily="49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3600" b="1">
                <a:effectLst/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en-US" altLang="zh-CN" sz="3600">
                <a:effectLst/>
                <a:ea typeface="楷体_GB2312" pitchFamily="49" charset="-122"/>
              </a:rPr>
              <a:t>R1</a:t>
            </a:r>
            <a:r>
              <a:rPr lang="zh-CN" altLang="en-US" sz="3600">
                <a:effectLst/>
                <a:ea typeface="楷体_GB2312" pitchFamily="49" charset="-122"/>
              </a:rPr>
              <a:t>＝</a:t>
            </a:r>
            <a:r>
              <a:rPr lang="en-US" altLang="zh-CN" sz="3600">
                <a:effectLst/>
                <a:ea typeface="楷体_GB2312" pitchFamily="49" charset="-122"/>
              </a:rPr>
              <a:t>{&lt;e1,e2&gt; | e1</a:t>
            </a:r>
            <a:r>
              <a:rPr lang="zh-CN" altLang="en-US" sz="3600">
                <a:effectLst/>
                <a:latin typeface="楷体_GB2312" pitchFamily="49" charset="-122"/>
                <a:ea typeface="楷体_GB2312" pitchFamily="49" charset="-122"/>
              </a:rPr>
              <a:t>是复数的实数部分</a:t>
            </a:r>
            <a:endParaRPr lang="zh-CN" altLang="en-US" sz="3600">
              <a:effectLst/>
              <a:latin typeface="楷体_GB2312" pitchFamily="49" charset="-122"/>
              <a:ea typeface="楷体_GB2312" pitchFamily="49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3600">
                <a:effectLst/>
                <a:latin typeface="楷体_GB2312" pitchFamily="49" charset="-122"/>
                <a:ea typeface="楷体_GB2312" pitchFamily="49" charset="-122"/>
              </a:rPr>
              <a:t>               </a:t>
            </a:r>
            <a:r>
              <a:rPr lang="zh-CN" altLang="en-US" sz="3600">
                <a:effectLst/>
                <a:ea typeface="楷体_GB2312" pitchFamily="49" charset="-122"/>
              </a:rPr>
              <a:t>        </a:t>
            </a:r>
            <a:r>
              <a:rPr lang="en-US" altLang="zh-CN" sz="3600">
                <a:effectLst/>
                <a:ea typeface="楷体_GB2312" pitchFamily="49" charset="-122"/>
              </a:rPr>
              <a:t>| e2</a:t>
            </a:r>
            <a:r>
              <a:rPr lang="en-US" altLang="zh-CN" sz="3600">
                <a:effectLst/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>
                <a:effectLst/>
                <a:latin typeface="楷体_GB2312" pitchFamily="49" charset="-122"/>
                <a:ea typeface="楷体_GB2312" pitchFamily="49" charset="-122"/>
              </a:rPr>
              <a:t>是复数的虚数部分 </a:t>
            </a:r>
            <a:r>
              <a:rPr lang="en-US" altLang="zh-CN" sz="3600">
                <a:effectLst/>
                <a:latin typeface="楷体_GB2312" pitchFamily="49" charset="-122"/>
                <a:ea typeface="楷体_GB2312" pitchFamily="49" charset="-122"/>
              </a:rPr>
              <a:t>}</a:t>
            </a:r>
            <a:endParaRPr lang="en-US" altLang="zh-CN">
              <a:effectLst/>
            </a:endParaRPr>
          </a:p>
        </p:txBody>
      </p:sp>
      <p:sp>
        <p:nvSpPr>
          <p:cNvPr id="315396" name="Text Box 4"/>
          <p:cNvSpPr txBox="1">
            <a:spLocks noChangeArrowheads="1"/>
          </p:cNvSpPr>
          <p:nvPr/>
        </p:nvSpPr>
        <p:spPr bwMode="auto">
          <a:xfrm>
            <a:off x="558800" y="1355725"/>
            <a:ext cx="3784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4000" b="1">
                <a:solidFill>
                  <a:srgbClr val="FF0000"/>
                </a:solidFill>
                <a:effectLst/>
                <a:ea typeface="楷体_GB2312" pitchFamily="49" charset="-122"/>
              </a:rPr>
              <a:t> ADT Complex {</a:t>
            </a:r>
            <a:endParaRPr lang="en-US" altLang="zh-CN" sz="3600" b="1">
              <a:effectLst/>
              <a:ea typeface="楷体_GB2312" pitchFamily="49" charset="-122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5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5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3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4" grpId="0" autoUpdateAnimBg="0"/>
      <p:bldP spid="315395" grpId="0" autoUpdateAnimBg="0"/>
      <p:bldP spid="315396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Text Box 2"/>
          <p:cNvSpPr txBox="1">
            <a:spLocks noChangeArrowheads="1"/>
          </p:cNvSpPr>
          <p:nvPr/>
        </p:nvSpPr>
        <p:spPr bwMode="auto">
          <a:xfrm>
            <a:off x="304800" y="179388"/>
            <a:ext cx="24780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3600" b="1">
                <a:solidFill>
                  <a:srgbClr val="800000"/>
                </a:solidFill>
                <a:effectLst/>
                <a:latin typeface="楷体_GB2312" pitchFamily="49" charset="-122"/>
                <a:ea typeface="楷体_GB2312" pitchFamily="49" charset="-122"/>
              </a:rPr>
              <a:t>基本操作：</a:t>
            </a:r>
            <a:endParaRPr lang="zh-CN" altLang="en-US">
              <a:solidFill>
                <a:srgbClr val="800000"/>
              </a:solidFill>
              <a:effectLst/>
            </a:endParaRPr>
          </a:p>
        </p:txBody>
      </p:sp>
      <p:sp>
        <p:nvSpPr>
          <p:cNvPr id="316419" name="Text Box 3"/>
          <p:cNvSpPr txBox="1">
            <a:spLocks noChangeArrowheads="1"/>
          </p:cNvSpPr>
          <p:nvPr/>
        </p:nvSpPr>
        <p:spPr bwMode="auto">
          <a:xfrm>
            <a:off x="425450" y="838200"/>
            <a:ext cx="8870950" cy="2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4000">
                <a:effectLst/>
                <a:ea typeface="楷体_GB2312" pitchFamily="49" charset="-122"/>
              </a:rPr>
              <a:t>    </a:t>
            </a:r>
            <a:r>
              <a:rPr lang="en-US" altLang="zh-CN" sz="3600" b="1">
                <a:solidFill>
                  <a:schemeClr val="tx2"/>
                </a:solidFill>
                <a:effectLst/>
                <a:ea typeface="楷体_GB2312" pitchFamily="49" charset="-122"/>
              </a:rPr>
              <a:t>AssignComplex( &amp;Z, v1, v2 )</a:t>
            </a:r>
            <a:endParaRPr lang="en-US" altLang="zh-CN" sz="3600" b="1">
              <a:effectLst/>
              <a:ea typeface="楷体_GB2312" pitchFamily="49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3600">
                <a:effectLst/>
                <a:latin typeface="楷体_GB2312" pitchFamily="49" charset="-122"/>
                <a:ea typeface="楷体_GB2312" pitchFamily="49" charset="-122"/>
              </a:rPr>
              <a:t>操作结果：构造复数 </a:t>
            </a:r>
            <a:r>
              <a:rPr lang="en-US" altLang="zh-CN" sz="3600">
                <a:effectLst/>
                <a:latin typeface="楷体_GB2312" pitchFamily="49" charset="-122"/>
                <a:ea typeface="楷体_GB2312" pitchFamily="49" charset="-122"/>
              </a:rPr>
              <a:t>Z,</a:t>
            </a:r>
            <a:r>
              <a:rPr lang="zh-CN" altLang="en-US" sz="3600">
                <a:effectLst/>
                <a:latin typeface="楷体_GB2312" pitchFamily="49" charset="-122"/>
                <a:ea typeface="楷体_GB2312" pitchFamily="49" charset="-122"/>
              </a:rPr>
              <a:t>其实部和虚部</a:t>
            </a:r>
            <a:endParaRPr lang="zh-CN" altLang="en-US" sz="3600">
              <a:effectLst/>
              <a:latin typeface="楷体_GB2312" pitchFamily="49" charset="-122"/>
              <a:ea typeface="楷体_GB2312" pitchFamily="49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3600">
                <a:effectLst/>
                <a:latin typeface="楷体_GB2312" pitchFamily="49" charset="-122"/>
                <a:ea typeface="楷体_GB2312" pitchFamily="49" charset="-122"/>
              </a:rPr>
              <a:t>        分别被赋以参数 </a:t>
            </a:r>
            <a:r>
              <a:rPr lang="en-US" altLang="zh-CN" sz="3600">
                <a:effectLst/>
                <a:latin typeface="楷体_GB2312" pitchFamily="49" charset="-122"/>
                <a:ea typeface="楷体_GB2312" pitchFamily="49" charset="-122"/>
              </a:rPr>
              <a:t>v1 </a:t>
            </a:r>
            <a:r>
              <a:rPr lang="zh-CN" altLang="en-US" sz="3600">
                <a:effectLst/>
                <a:latin typeface="楷体_GB2312" pitchFamily="49" charset="-122"/>
                <a:ea typeface="楷体_GB2312" pitchFamily="49" charset="-122"/>
              </a:rPr>
              <a:t>和 </a:t>
            </a:r>
            <a:r>
              <a:rPr lang="en-US" altLang="zh-CN" sz="3600">
                <a:effectLst/>
                <a:latin typeface="楷体_GB2312" pitchFamily="49" charset="-122"/>
                <a:ea typeface="楷体_GB2312" pitchFamily="49" charset="-122"/>
              </a:rPr>
              <a:t>v2 </a:t>
            </a:r>
            <a:r>
              <a:rPr lang="zh-CN" altLang="en-US" sz="3600">
                <a:effectLst/>
                <a:latin typeface="楷体_GB2312" pitchFamily="49" charset="-122"/>
                <a:ea typeface="楷体_GB2312" pitchFamily="49" charset="-122"/>
              </a:rPr>
              <a:t>的值。</a:t>
            </a:r>
            <a:endParaRPr lang="zh-CN" altLang="en-US">
              <a:effectLst/>
            </a:endParaRPr>
          </a:p>
        </p:txBody>
      </p:sp>
      <p:sp>
        <p:nvSpPr>
          <p:cNvPr id="316420" name="Text Box 4"/>
          <p:cNvSpPr txBox="1">
            <a:spLocks noChangeArrowheads="1"/>
          </p:cNvSpPr>
          <p:nvPr/>
        </p:nvSpPr>
        <p:spPr bwMode="auto">
          <a:xfrm>
            <a:off x="400050" y="2962275"/>
            <a:ext cx="5695950" cy="148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600">
                <a:effectLst/>
                <a:ea typeface="楷体_GB2312" pitchFamily="49" charset="-122"/>
              </a:rPr>
              <a:t>    </a:t>
            </a:r>
            <a:r>
              <a:rPr lang="en-US" altLang="zh-CN" sz="3600" b="1">
                <a:solidFill>
                  <a:schemeClr val="tx2"/>
                </a:solidFill>
                <a:effectLst/>
                <a:ea typeface="楷体_GB2312" pitchFamily="49" charset="-122"/>
              </a:rPr>
              <a:t>DestroyComplex( &amp;Z)</a:t>
            </a:r>
            <a:endParaRPr lang="en-US" altLang="zh-CN" sz="3600" b="1">
              <a:solidFill>
                <a:schemeClr val="tx2"/>
              </a:solidFill>
              <a:effectLst/>
              <a:ea typeface="楷体_GB2312" pitchFamily="49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3600">
                <a:effectLst/>
                <a:latin typeface="楷体_GB2312" pitchFamily="49" charset="-122"/>
                <a:ea typeface="楷体_GB2312" pitchFamily="49" charset="-122"/>
              </a:rPr>
              <a:t>操作结果：复数</a:t>
            </a:r>
            <a:r>
              <a:rPr lang="en-US" altLang="zh-CN" sz="3600">
                <a:effectLst/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zh-CN" altLang="en-US" sz="3600">
                <a:effectLst/>
                <a:latin typeface="楷体_GB2312" pitchFamily="49" charset="-122"/>
                <a:ea typeface="楷体_GB2312" pitchFamily="49" charset="-122"/>
              </a:rPr>
              <a:t>被销毁。</a:t>
            </a:r>
            <a:r>
              <a:rPr lang="zh-CN" altLang="en-US" sz="4000">
                <a:effectLst/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16421" name="Text Box 5"/>
          <p:cNvSpPr txBox="1">
            <a:spLocks noChangeArrowheads="1"/>
          </p:cNvSpPr>
          <p:nvPr/>
        </p:nvSpPr>
        <p:spPr bwMode="auto">
          <a:xfrm>
            <a:off x="374650" y="4560888"/>
            <a:ext cx="8693150" cy="206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600">
                <a:effectLst/>
                <a:ea typeface="楷体_GB2312" pitchFamily="49" charset="-122"/>
              </a:rPr>
              <a:t>    </a:t>
            </a:r>
            <a:r>
              <a:rPr lang="en-US" altLang="zh-CN" sz="3600" b="1">
                <a:solidFill>
                  <a:schemeClr val="tx2"/>
                </a:solidFill>
                <a:effectLst/>
                <a:ea typeface="楷体_GB2312" pitchFamily="49" charset="-122"/>
              </a:rPr>
              <a:t>GetReal( Z, &amp;realPart )</a:t>
            </a:r>
            <a:endParaRPr lang="en-US" altLang="zh-CN" sz="3600">
              <a:effectLst/>
              <a:ea typeface="楷体_GB2312" pitchFamily="49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3600">
                <a:effectLst/>
                <a:latin typeface="楷体_GB2312" pitchFamily="49" charset="-122"/>
                <a:ea typeface="楷体_GB2312" pitchFamily="49" charset="-122"/>
              </a:rPr>
              <a:t>初始条件：复数已存在。</a:t>
            </a:r>
            <a:endParaRPr lang="zh-CN" altLang="en-US" sz="3600">
              <a:effectLst/>
              <a:latin typeface="楷体_GB2312" pitchFamily="49" charset="-122"/>
              <a:ea typeface="楷体_GB2312" pitchFamily="49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3600">
                <a:effectLst/>
                <a:latin typeface="楷体_GB2312" pitchFamily="49" charset="-122"/>
                <a:ea typeface="楷体_GB2312" pitchFamily="49" charset="-122"/>
              </a:rPr>
              <a:t>操作结果：用</a:t>
            </a:r>
            <a:r>
              <a:rPr lang="en-US" altLang="zh-CN" sz="3600">
                <a:effectLst/>
                <a:ea typeface="楷体_GB2312" pitchFamily="49" charset="-122"/>
              </a:rPr>
              <a:t>realPart</a:t>
            </a:r>
            <a:r>
              <a:rPr lang="zh-CN" altLang="en-US" sz="3600">
                <a:effectLst/>
                <a:latin typeface="楷体_GB2312" pitchFamily="49" charset="-122"/>
                <a:ea typeface="楷体_GB2312" pitchFamily="49" charset="-122"/>
              </a:rPr>
              <a:t>返回复数</a:t>
            </a:r>
            <a:r>
              <a:rPr lang="en-US" altLang="zh-CN" sz="3600">
                <a:effectLst/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zh-CN" altLang="en-US" sz="3600">
                <a:effectLst/>
                <a:latin typeface="楷体_GB2312" pitchFamily="49" charset="-122"/>
                <a:ea typeface="楷体_GB2312" pitchFamily="49" charset="-122"/>
              </a:rPr>
              <a:t>的实部值。</a:t>
            </a:r>
            <a:endParaRPr lang="zh-CN" altLang="en-US">
              <a:effectLst/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1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1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1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19" grpId="0" autoUpdateAnimBg="0"/>
      <p:bldP spid="316420" grpId="0" autoUpdateAnimBg="0"/>
      <p:bldP spid="316421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Text Box 2"/>
          <p:cNvSpPr txBox="1">
            <a:spLocks noChangeArrowheads="1"/>
          </p:cNvSpPr>
          <p:nvPr/>
        </p:nvSpPr>
        <p:spPr bwMode="auto">
          <a:xfrm>
            <a:off x="425450" y="296863"/>
            <a:ext cx="8947150" cy="2141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4000">
                <a:effectLst/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3600" b="1">
                <a:solidFill>
                  <a:schemeClr val="tx2"/>
                </a:solidFill>
                <a:effectLst/>
                <a:ea typeface="楷体_GB2312" pitchFamily="49" charset="-122"/>
              </a:rPr>
              <a:t>GetImag( Z, &amp;ImagPart )</a:t>
            </a:r>
            <a:endParaRPr lang="en-US" altLang="zh-CN" sz="3600" b="1">
              <a:solidFill>
                <a:schemeClr val="tx2"/>
              </a:solidFill>
              <a:effectLst/>
              <a:ea typeface="楷体_GB2312" pitchFamily="49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3600">
                <a:effectLst/>
                <a:latin typeface="楷体_GB2312" pitchFamily="49" charset="-122"/>
                <a:ea typeface="楷体_GB2312" pitchFamily="49" charset="-122"/>
              </a:rPr>
              <a:t>初始条件：复数已存在。</a:t>
            </a:r>
            <a:endParaRPr lang="zh-CN" altLang="en-US" sz="3600">
              <a:effectLst/>
              <a:latin typeface="楷体_GB2312" pitchFamily="49" charset="-122"/>
              <a:ea typeface="楷体_GB2312" pitchFamily="49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3600">
                <a:effectLst/>
                <a:latin typeface="楷体_GB2312" pitchFamily="49" charset="-122"/>
                <a:ea typeface="楷体_GB2312" pitchFamily="49" charset="-122"/>
              </a:rPr>
              <a:t>操作结果：用</a:t>
            </a:r>
            <a:r>
              <a:rPr lang="en-US" altLang="zh-CN" sz="3600">
                <a:effectLst/>
                <a:ea typeface="楷体_GB2312" pitchFamily="49" charset="-122"/>
              </a:rPr>
              <a:t>ImagPart</a:t>
            </a:r>
            <a:r>
              <a:rPr lang="zh-CN" altLang="en-US" sz="3600">
                <a:effectLst/>
                <a:latin typeface="楷体_GB2312" pitchFamily="49" charset="-122"/>
                <a:ea typeface="楷体_GB2312" pitchFamily="49" charset="-122"/>
              </a:rPr>
              <a:t>返回复数</a:t>
            </a:r>
            <a:r>
              <a:rPr lang="en-US" altLang="zh-CN" sz="3600">
                <a:effectLst/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zh-CN" altLang="en-US" sz="3600">
                <a:effectLst/>
                <a:latin typeface="楷体_GB2312" pitchFamily="49" charset="-122"/>
                <a:ea typeface="楷体_GB2312" pitchFamily="49" charset="-122"/>
              </a:rPr>
              <a:t>的虚部值。</a:t>
            </a:r>
            <a:endParaRPr lang="zh-CN" altLang="en-US" sz="3600">
              <a:effectLst/>
            </a:endParaRPr>
          </a:p>
        </p:txBody>
      </p:sp>
      <p:sp>
        <p:nvSpPr>
          <p:cNvPr id="317443" name="Text Box 3"/>
          <p:cNvSpPr txBox="1">
            <a:spLocks noChangeArrowheads="1"/>
          </p:cNvSpPr>
          <p:nvPr/>
        </p:nvSpPr>
        <p:spPr bwMode="auto">
          <a:xfrm>
            <a:off x="381000" y="2655888"/>
            <a:ext cx="8534400" cy="272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600">
                <a:effectLst/>
                <a:ea typeface="楷体_GB2312" pitchFamily="49" charset="-122"/>
              </a:rPr>
              <a:t>   </a:t>
            </a:r>
            <a:r>
              <a:rPr lang="en-US" altLang="zh-CN" sz="3600" b="1">
                <a:solidFill>
                  <a:schemeClr val="tx2"/>
                </a:solidFill>
                <a:effectLst/>
                <a:ea typeface="楷体_GB2312" pitchFamily="49" charset="-122"/>
              </a:rPr>
              <a:t>Add( z1,z2, &amp;sum )</a:t>
            </a:r>
            <a:endParaRPr lang="en-US" altLang="zh-CN" sz="3600" b="1">
              <a:solidFill>
                <a:schemeClr val="tx2"/>
              </a:solidFill>
              <a:effectLst/>
              <a:ea typeface="楷体_GB2312" pitchFamily="49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3600">
                <a:effectLst/>
                <a:latin typeface="楷体_GB2312" pitchFamily="49" charset="-122"/>
                <a:ea typeface="楷体_GB2312" pitchFamily="49" charset="-122"/>
              </a:rPr>
              <a:t>初始条件：</a:t>
            </a:r>
            <a:r>
              <a:rPr lang="en-US" altLang="zh-CN" sz="3600">
                <a:effectLst/>
                <a:ea typeface="楷体_GB2312" pitchFamily="49" charset="-122"/>
              </a:rPr>
              <a:t>z1, z2</a:t>
            </a:r>
            <a:r>
              <a:rPr lang="zh-CN" altLang="en-US" sz="3600">
                <a:effectLst/>
                <a:latin typeface="楷体_GB2312" pitchFamily="49" charset="-122"/>
                <a:ea typeface="楷体_GB2312" pitchFamily="49" charset="-122"/>
              </a:rPr>
              <a:t>是复数。</a:t>
            </a:r>
            <a:endParaRPr lang="zh-CN" altLang="en-US" sz="3600">
              <a:effectLst/>
              <a:latin typeface="楷体_GB2312" pitchFamily="49" charset="-122"/>
              <a:ea typeface="楷体_GB2312" pitchFamily="49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3600">
                <a:effectLst/>
                <a:latin typeface="楷体_GB2312" pitchFamily="49" charset="-122"/>
                <a:ea typeface="楷体_GB2312" pitchFamily="49" charset="-122"/>
              </a:rPr>
              <a:t>操作结果：用</a:t>
            </a:r>
            <a:r>
              <a:rPr lang="en-US" altLang="zh-CN" sz="3600">
                <a:effectLst/>
                <a:ea typeface="楷体_GB2312" pitchFamily="49" charset="-122"/>
              </a:rPr>
              <a:t>sum</a:t>
            </a:r>
            <a:r>
              <a:rPr lang="zh-CN" altLang="en-US" sz="3600">
                <a:effectLst/>
                <a:latin typeface="楷体_GB2312" pitchFamily="49" charset="-122"/>
                <a:ea typeface="楷体_GB2312" pitchFamily="49" charset="-122"/>
              </a:rPr>
              <a:t>返回两个复数</a:t>
            </a:r>
            <a:r>
              <a:rPr lang="en-US" altLang="zh-CN" sz="3600">
                <a:effectLst/>
                <a:ea typeface="楷体_GB2312" pitchFamily="49" charset="-122"/>
              </a:rPr>
              <a:t>z1, z2 </a:t>
            </a:r>
            <a:r>
              <a:rPr lang="zh-CN" altLang="en-US" sz="3600">
                <a:effectLst/>
                <a:latin typeface="楷体_GB2312" pitchFamily="49" charset="-122"/>
                <a:ea typeface="楷体_GB2312" pitchFamily="49" charset="-122"/>
              </a:rPr>
              <a:t>的</a:t>
            </a:r>
            <a:endParaRPr lang="zh-CN" altLang="en-US" sz="3600">
              <a:effectLst/>
              <a:latin typeface="楷体_GB2312" pitchFamily="49" charset="-122"/>
              <a:ea typeface="楷体_GB2312" pitchFamily="49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3600">
                <a:effectLst/>
                <a:latin typeface="楷体_GB2312" pitchFamily="49" charset="-122"/>
                <a:ea typeface="楷体_GB2312" pitchFamily="49" charset="-122"/>
              </a:rPr>
              <a:t>         和值。         </a:t>
            </a:r>
            <a:endParaRPr lang="zh-CN" altLang="en-US" sz="3600">
              <a:effectLst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17444" name="Text Box 4"/>
          <p:cNvSpPr txBox="1">
            <a:spLocks noChangeArrowheads="1"/>
          </p:cNvSpPr>
          <p:nvPr/>
        </p:nvSpPr>
        <p:spPr bwMode="auto">
          <a:xfrm>
            <a:off x="228600" y="5622925"/>
            <a:ext cx="3657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4000" b="1">
                <a:solidFill>
                  <a:srgbClr val="FF0000"/>
                </a:solidFill>
                <a:effectLst/>
                <a:ea typeface="楷体_GB2312" pitchFamily="49" charset="-122"/>
              </a:rPr>
              <a:t>} ADT Complex</a:t>
            </a:r>
            <a:endParaRPr lang="en-US" altLang="zh-CN" b="1">
              <a:effectLst/>
              <a:ea typeface="楷体_GB2312" pitchFamily="49" charset="-122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17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1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1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2" grpId="0" autoUpdateAnimBg="0"/>
      <p:bldP spid="317443" grpId="0" autoUpdateAnimBg="0"/>
      <p:bldP spid="317444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Text Box 2"/>
          <p:cNvSpPr txBox="1">
            <a:spLocks noChangeArrowheads="1"/>
          </p:cNvSpPr>
          <p:nvPr/>
        </p:nvSpPr>
        <p:spPr bwMode="auto">
          <a:xfrm>
            <a:off x="215900" y="260350"/>
            <a:ext cx="8748713" cy="11988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endParaRPr lang="zh-CN" altLang="en-US" sz="36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 eaLnBrk="1" hangingPunct="1">
              <a:defRPr/>
            </a:pPr>
            <a:r>
              <a:rPr lang="en-US" altLang="zh-CN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1.3 </a:t>
            </a:r>
            <a:r>
              <a:rPr lang="zh-CN" alt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抽象数据类型的表示和实现</a:t>
            </a:r>
            <a:endParaRPr lang="zh-CN" altLang="en-US" sz="36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27683" name="Text Box 3"/>
          <p:cNvSpPr txBox="1">
            <a:spLocks noChangeArrowheads="1"/>
          </p:cNvSpPr>
          <p:nvPr/>
        </p:nvSpPr>
        <p:spPr bwMode="auto">
          <a:xfrm>
            <a:off x="684213" y="1916113"/>
            <a:ext cx="7764462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3200" b="0">
                <a:solidFill>
                  <a:srgbClr val="000080"/>
                </a:solidFill>
                <a:latin typeface="楷体_GB2312" pitchFamily="49" charset="-122"/>
              </a:rPr>
              <a:t>    </a:t>
            </a:r>
            <a:r>
              <a:rPr lang="zh-CN" altLang="en-US" sz="3200">
                <a:solidFill>
                  <a:srgbClr val="000080"/>
                </a:solidFill>
                <a:latin typeface="楷体_GB2312" pitchFamily="49" charset="-122"/>
              </a:rPr>
              <a:t>抽象数据类型需要通过固有数据类型</a:t>
            </a:r>
            <a:r>
              <a:rPr lang="en-US" altLang="zh-CN" sz="3200">
                <a:solidFill>
                  <a:srgbClr val="000080"/>
                </a:solidFill>
                <a:latin typeface="楷体_GB2312" pitchFamily="49" charset="-122"/>
              </a:rPr>
              <a:t>(</a:t>
            </a:r>
            <a:r>
              <a:rPr lang="zh-CN" altLang="en-US" sz="3200">
                <a:solidFill>
                  <a:srgbClr val="000080"/>
                </a:solidFill>
                <a:latin typeface="楷体_GB2312" pitchFamily="49" charset="-122"/>
              </a:rPr>
              <a:t>高级编程语言中已实现的数据类型</a:t>
            </a:r>
            <a:r>
              <a:rPr lang="en-US" altLang="zh-CN" sz="3200">
                <a:solidFill>
                  <a:srgbClr val="000080"/>
                </a:solidFill>
                <a:latin typeface="楷体_GB2312" pitchFamily="49" charset="-122"/>
              </a:rPr>
              <a:t>)</a:t>
            </a:r>
            <a:r>
              <a:rPr lang="zh-CN" altLang="en-US" sz="3200">
                <a:solidFill>
                  <a:srgbClr val="000080"/>
                </a:solidFill>
                <a:latin typeface="楷体_GB2312" pitchFamily="49" charset="-122"/>
              </a:rPr>
              <a:t>来实现。</a:t>
            </a:r>
            <a:endParaRPr lang="zh-CN" altLang="en-US" sz="1800">
              <a:solidFill>
                <a:srgbClr val="000080"/>
              </a:solidFill>
              <a:latin typeface="楷体_GB2312" pitchFamily="49" charset="-122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32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327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2" grpId="0" bldLvl="0" animBg="1" autoUpdateAnimBg="0"/>
      <p:bldP spid="327683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Text Box 2"/>
          <p:cNvSpPr txBox="1"/>
          <p:nvPr/>
        </p:nvSpPr>
        <p:spPr>
          <a:xfrm>
            <a:off x="762000" y="838200"/>
            <a:ext cx="3727450" cy="22891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zh-CN" altLang="zh-CN" b="1" dirty="0">
                <a:latin typeface="Times New Roman" panose="02020603050405020304" pitchFamily="18" charset="0"/>
              </a:rPr>
              <a:t>typedef  struct {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l"/>
            <a:r>
              <a:rPr lang="zh-CN" altLang="zh-CN" dirty="0">
                <a:latin typeface="Times New Roman" panose="02020603050405020304" pitchFamily="18" charset="0"/>
              </a:rPr>
              <a:t>    </a:t>
            </a:r>
            <a:r>
              <a:rPr lang="zh-CN" altLang="zh-CN" b="1" dirty="0">
                <a:latin typeface="Times New Roman" panose="02020603050405020304" pitchFamily="18" charset="0"/>
              </a:rPr>
              <a:t>float</a:t>
            </a:r>
            <a:r>
              <a:rPr lang="zh-CN" altLang="zh-CN" dirty="0">
                <a:latin typeface="Times New Roman" panose="02020603050405020304" pitchFamily="18" charset="0"/>
              </a:rPr>
              <a:t> realpart</a:t>
            </a:r>
            <a:r>
              <a:rPr lang="zh-CN" altLang="en-US" dirty="0">
                <a:latin typeface="Times New Roman" panose="02020603050405020304" pitchFamily="18" charset="0"/>
              </a:rPr>
              <a:t>；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l"/>
            <a:r>
              <a:rPr lang="zh-CN" altLang="zh-CN" dirty="0">
                <a:latin typeface="Times New Roman" panose="02020603050405020304" pitchFamily="18" charset="0"/>
              </a:rPr>
              <a:t>    </a:t>
            </a:r>
            <a:r>
              <a:rPr lang="zh-CN" altLang="zh-CN" b="1" dirty="0">
                <a:latin typeface="Times New Roman" panose="02020603050405020304" pitchFamily="18" charset="0"/>
              </a:rPr>
              <a:t>float</a:t>
            </a:r>
            <a:r>
              <a:rPr lang="zh-CN" altLang="zh-CN" dirty="0">
                <a:latin typeface="Times New Roman" panose="02020603050405020304" pitchFamily="18" charset="0"/>
              </a:rPr>
              <a:t> imagpart</a:t>
            </a:r>
            <a:r>
              <a:rPr lang="zh-CN" altLang="en-US" dirty="0">
                <a:latin typeface="Times New Roman" panose="02020603050405020304" pitchFamily="18" charset="0"/>
              </a:rPr>
              <a:t>；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l"/>
            <a:r>
              <a:rPr lang="zh-CN" altLang="zh-CN" b="1" dirty="0">
                <a:latin typeface="Times New Roman" panose="02020603050405020304" pitchFamily="18" charset="0"/>
              </a:rPr>
              <a:t>}</a:t>
            </a:r>
            <a:r>
              <a:rPr lang="zh-CN" altLang="zh-CN" dirty="0">
                <a:latin typeface="Times New Roman" panose="02020603050405020304" pitchFamily="18" charset="0"/>
              </a:rPr>
              <a:t>complex</a:t>
            </a:r>
            <a:r>
              <a:rPr lang="zh-CN" altLang="en-US" dirty="0">
                <a:latin typeface="Times New Roman" panose="02020603050405020304" pitchFamily="18" charset="0"/>
              </a:rPr>
              <a:t>；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4035" name="Text Box 3"/>
          <p:cNvSpPr txBox="1"/>
          <p:nvPr/>
        </p:nvSpPr>
        <p:spPr>
          <a:xfrm>
            <a:off x="742950" y="247650"/>
            <a:ext cx="4052888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zh-CN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// -----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存储结构的定义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6" name="Text Box 4"/>
          <p:cNvSpPr txBox="1"/>
          <p:nvPr/>
        </p:nvSpPr>
        <p:spPr>
          <a:xfrm>
            <a:off x="762000" y="3327400"/>
            <a:ext cx="568325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zh-CN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// -----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基本操作的函数原型说明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7" name="Text Box 5"/>
          <p:cNvSpPr txBox="1"/>
          <p:nvPr/>
        </p:nvSpPr>
        <p:spPr>
          <a:xfrm>
            <a:off x="669925" y="4133850"/>
            <a:ext cx="8245475" cy="228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/>
            <a:r>
              <a:rPr lang="zh-CN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void</a:t>
            </a:r>
            <a:r>
              <a:rPr lang="zh-CN" altLang="zh-CN" sz="32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Assign( complex </a:t>
            </a:r>
            <a:r>
              <a:rPr lang="zh-CN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&amp;</a:t>
            </a:r>
            <a:r>
              <a:rPr lang="zh-CN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Z, </a:t>
            </a:r>
            <a:endParaRPr lang="zh-CN" altLang="zh-CN" sz="32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l"/>
            <a:r>
              <a:rPr lang="zh-CN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         </a:t>
            </a:r>
            <a:r>
              <a:rPr lang="zh-CN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float</a:t>
            </a:r>
            <a:r>
              <a:rPr lang="zh-CN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 realval, </a:t>
            </a:r>
            <a:r>
              <a:rPr lang="zh-CN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float</a:t>
            </a:r>
            <a:r>
              <a:rPr lang="zh-CN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 imagval )</a:t>
            </a:r>
            <a:r>
              <a:rPr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zh-CN" sz="3200" dirty="0"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zh-CN" altLang="zh-CN" sz="32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构造复数 </a:t>
            </a:r>
            <a:r>
              <a:rPr lang="zh-CN" altLang="zh-CN" sz="3200" dirty="0">
                <a:latin typeface="楷体_GB2312" pitchFamily="49" charset="-122"/>
                <a:ea typeface="楷体_GB2312" pitchFamily="49" charset="-122"/>
              </a:rPr>
              <a:t>Z,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其实部和虚部分别被赋以参数 </a:t>
            </a:r>
            <a:r>
              <a:rPr lang="zh-CN" altLang="zh-CN" sz="3200" dirty="0">
                <a:latin typeface="Times New Roman" panose="02020603050405020304" pitchFamily="18" charset="0"/>
                <a:ea typeface="楷体_GB2312" pitchFamily="49" charset="-122"/>
              </a:rPr>
              <a:t>// realval</a:t>
            </a:r>
            <a:r>
              <a:rPr lang="zh-CN" altLang="zh-CN" sz="32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和 </a:t>
            </a:r>
            <a:r>
              <a:rPr lang="zh-CN" altLang="zh-CN" sz="3200" dirty="0">
                <a:latin typeface="Times New Roman" panose="02020603050405020304" pitchFamily="18" charset="0"/>
                <a:ea typeface="楷体_GB2312" pitchFamily="49" charset="-122"/>
              </a:rPr>
              <a:t>imagval</a:t>
            </a:r>
            <a:r>
              <a:rPr lang="zh-CN" altLang="zh-CN" sz="32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的值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/>
      <p:bldP spid="44035" grpId="0"/>
      <p:bldP spid="44036" grpId="0"/>
      <p:bldP spid="4403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Text Box 2"/>
          <p:cNvSpPr txBox="1"/>
          <p:nvPr/>
        </p:nvSpPr>
        <p:spPr>
          <a:xfrm>
            <a:off x="708025" y="609600"/>
            <a:ext cx="5149850" cy="13350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>
              <a:lnSpc>
                <a:spcPct val="12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楷体_GB2312" pitchFamily="49" charset="-122"/>
              </a:rPr>
              <a:t>float</a:t>
            </a:r>
            <a:r>
              <a:rPr lang="zh-CN" altLang="zh-CN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GetReal( cpmplex Z )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zh-CN" sz="3200" dirty="0">
                <a:latin typeface="Times New Roman" panose="02020603050405020304" pitchFamily="18" charset="0"/>
                <a:ea typeface="楷体_GB2312" pitchFamily="49" charset="-122"/>
              </a:rPr>
              <a:t>// 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返回复数 </a:t>
            </a:r>
            <a:r>
              <a:rPr lang="zh-CN" altLang="zh-CN" sz="3200" dirty="0">
                <a:latin typeface="楷体_GB2312" pitchFamily="49" charset="-122"/>
                <a:ea typeface="楷体_GB2312" pitchFamily="49" charset="-122"/>
              </a:rPr>
              <a:t>Z 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的实部值</a:t>
            </a: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5059" name="Text Box 3"/>
          <p:cNvSpPr txBox="1"/>
          <p:nvPr/>
        </p:nvSpPr>
        <p:spPr>
          <a:xfrm>
            <a:off x="708025" y="2093913"/>
            <a:ext cx="5116513" cy="13350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>
              <a:lnSpc>
                <a:spcPct val="120000"/>
              </a:lnSpc>
            </a:pPr>
            <a:r>
              <a:rPr lang="zh-CN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float</a:t>
            </a:r>
            <a:r>
              <a:rPr lang="zh-CN" altLang="zh-CN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Getimag( cpmplex Z )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32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zh-CN" sz="3200" dirty="0">
                <a:latin typeface="Times New Roman" panose="02020603050405020304" pitchFamily="18" charset="0"/>
                <a:ea typeface="楷体_GB2312" pitchFamily="49" charset="-122"/>
              </a:rPr>
              <a:t>// 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返回复数 </a:t>
            </a:r>
            <a:r>
              <a:rPr lang="zh-CN" altLang="zh-CN" sz="3200" dirty="0">
                <a:latin typeface="楷体_GB2312" pitchFamily="49" charset="-122"/>
                <a:ea typeface="楷体_GB2312" pitchFamily="49" charset="-122"/>
              </a:rPr>
              <a:t>Z 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的虚部值</a:t>
            </a: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5060" name="Text Box 4"/>
          <p:cNvSpPr txBox="1"/>
          <p:nvPr/>
        </p:nvSpPr>
        <p:spPr>
          <a:xfrm>
            <a:off x="685800" y="3565525"/>
            <a:ext cx="8534400" cy="18630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120000"/>
              </a:lnSpc>
            </a:pPr>
            <a:r>
              <a:rPr lang="zh-CN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void </a:t>
            </a:r>
            <a:r>
              <a:rPr lang="zh-CN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add( complex z1, complex z2, </a:t>
            </a:r>
            <a:endParaRPr lang="zh-CN" altLang="zh-CN" sz="32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                    complex  &amp;sum )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lang="zh-CN" altLang="en-US" sz="3200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zh-CN" sz="3200" dirty="0">
                <a:latin typeface="Times New Roman" panose="02020603050405020304" pitchFamily="18" charset="0"/>
                <a:ea typeface="楷体_GB2312" pitchFamily="49" charset="-122"/>
              </a:rPr>
              <a:t>// 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以 </a:t>
            </a:r>
            <a:r>
              <a:rPr lang="zh-CN" altLang="zh-CN" sz="3200" dirty="0">
                <a:latin typeface="Times New Roman" panose="02020603050405020304" pitchFamily="18" charset="0"/>
                <a:ea typeface="楷体_GB2312" pitchFamily="49" charset="-122"/>
              </a:rPr>
              <a:t>sum 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返回两个复数 </a:t>
            </a:r>
            <a:r>
              <a:rPr lang="zh-CN" altLang="zh-CN" sz="3200" dirty="0">
                <a:latin typeface="Times New Roman" panose="02020603050405020304" pitchFamily="18" charset="0"/>
                <a:ea typeface="楷体_GB2312" pitchFamily="49" charset="-122"/>
              </a:rPr>
              <a:t>z1, z2 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的和        </a:t>
            </a:r>
            <a:endParaRPr lang="zh-CN" altLang="en-US" sz="3200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/>
      <p:bldP spid="45059" grpId="0"/>
      <p:bldP spid="4506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Text Box 2"/>
          <p:cNvSpPr txBox="1"/>
          <p:nvPr/>
        </p:nvSpPr>
        <p:spPr>
          <a:xfrm>
            <a:off x="533400" y="533400"/>
            <a:ext cx="404495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zh-CN" altLang="zh-CN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// -----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基本操作的实现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3" name="Text Box 3"/>
          <p:cNvSpPr txBox="1"/>
          <p:nvPr/>
        </p:nvSpPr>
        <p:spPr>
          <a:xfrm>
            <a:off x="381000" y="1431925"/>
            <a:ext cx="8534400" cy="3749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125000"/>
              </a:lnSpc>
            </a:pPr>
            <a:r>
              <a:rPr lang="zh-CN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void </a:t>
            </a:r>
            <a:r>
              <a:rPr lang="zh-CN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add( complex z1, complex z2, </a:t>
            </a:r>
            <a:endParaRPr lang="zh-CN" altLang="zh-CN" sz="32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zh-CN" sz="32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                    complex  &amp;sum ) </a:t>
            </a:r>
            <a:r>
              <a:rPr lang="zh-CN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{</a:t>
            </a:r>
            <a:endParaRPr lang="zh-CN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zh-CN" sz="32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zh-CN" sz="3200" dirty="0">
                <a:latin typeface="Times New Roman" panose="02020603050405020304" pitchFamily="18" charset="0"/>
                <a:ea typeface="楷体_GB2312" pitchFamily="49" charset="-122"/>
              </a:rPr>
              <a:t>// 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以 </a:t>
            </a:r>
            <a:r>
              <a:rPr lang="zh-CN" altLang="zh-CN" sz="3200" dirty="0">
                <a:latin typeface="Times New Roman" panose="02020603050405020304" pitchFamily="18" charset="0"/>
                <a:ea typeface="楷体_GB2312" pitchFamily="49" charset="-122"/>
              </a:rPr>
              <a:t>sum 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返回两个复数 </a:t>
            </a:r>
            <a:r>
              <a:rPr lang="zh-CN" altLang="zh-CN" sz="3200" dirty="0">
                <a:latin typeface="Times New Roman" panose="02020603050405020304" pitchFamily="18" charset="0"/>
                <a:ea typeface="楷体_GB2312" pitchFamily="49" charset="-122"/>
              </a:rPr>
              <a:t>z1, z2 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的和</a:t>
            </a:r>
            <a:endParaRPr lang="zh-CN" altLang="en-US" sz="3200" dirty="0">
              <a:latin typeface="楷体_GB2312" pitchFamily="49" charset="-122"/>
              <a:ea typeface="楷体_GB2312" pitchFamily="49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zh-CN" sz="3200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zh-CN" sz="3200" dirty="0">
                <a:latin typeface="Times New Roman" panose="02020603050405020304" pitchFamily="18" charset="0"/>
                <a:ea typeface="楷体_GB2312" pitchFamily="49" charset="-122"/>
              </a:rPr>
              <a:t>sum.realpart = z1.realpart + z2.realpart;</a:t>
            </a:r>
            <a:endParaRPr lang="zh-CN" altLang="zh-CN" sz="32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zh-CN" sz="3200" dirty="0">
                <a:latin typeface="Times New Roman" panose="02020603050405020304" pitchFamily="18" charset="0"/>
                <a:ea typeface="楷体_GB2312" pitchFamily="49" charset="-122"/>
              </a:rPr>
              <a:t>    sum.imagpart = z1.imagpart + z2.imagpart;</a:t>
            </a:r>
            <a:endParaRPr lang="zh-CN" altLang="zh-CN" sz="32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zh-CN" sz="3200" dirty="0"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r>
              <a:rPr lang="zh-CN" altLang="zh-CN" sz="3200" dirty="0">
                <a:latin typeface="楷体_GB2312" pitchFamily="49" charset="-122"/>
                <a:ea typeface="楷体_GB2312" pitchFamily="49" charset="-122"/>
              </a:rPr>
              <a:t>         </a:t>
            </a:r>
            <a:endParaRPr lang="zh-CN" altLang="zh-CN" sz="32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6084" name="Text Box 4"/>
          <p:cNvSpPr txBox="1"/>
          <p:nvPr/>
        </p:nvSpPr>
        <p:spPr>
          <a:xfrm>
            <a:off x="368300" y="5638800"/>
            <a:ext cx="267970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zh-CN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{ 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其它省略 </a:t>
            </a:r>
            <a:r>
              <a:rPr lang="zh-CN" altLang="zh-CN" dirty="0">
                <a:solidFill>
                  <a:schemeClr val="tx2"/>
                </a:solidFill>
                <a:latin typeface="Times New Roman" panose="02020603050405020304" pitchFamily="18" charset="0"/>
              </a:rPr>
              <a:t>}</a:t>
            </a:r>
            <a:endParaRPr lang="zh-CN" altLang="zh-CN" dirty="0">
              <a:latin typeface="Times New Roman" panose="02020603050405020304" pitchFamily="18" charset="0"/>
            </a:endParaRPr>
          </a:p>
        </p:txBody>
      </p:sp>
      <p:sp>
        <p:nvSpPr>
          <p:cNvPr id="46085" name="AutoShape 5">
            <a:hlinkClick r:id="rId1" action="ppaction://hlinksldjump"/>
          </p:cNvPr>
          <p:cNvSpPr/>
          <p:nvPr/>
        </p:nvSpPr>
        <p:spPr>
          <a:xfrm>
            <a:off x="8534400" y="62484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6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6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/>
      <p:bldP spid="46083" grpId="0"/>
      <p:bldP spid="46084" grpId="0"/>
      <p:bldP spid="46085" grpId="0" bldLvl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0" name="Text Box 4"/>
          <p:cNvSpPr txBox="1">
            <a:spLocks noChangeArrowheads="1"/>
          </p:cNvSpPr>
          <p:nvPr/>
        </p:nvSpPr>
        <p:spPr bwMode="auto">
          <a:xfrm>
            <a:off x="0" y="1830388"/>
            <a:ext cx="9144000" cy="8302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48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1.4</a:t>
            </a:r>
            <a:r>
              <a:rPr lang="zh-CN" altLang="en-US" sz="48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算法和算法分析</a:t>
            </a:r>
            <a:endParaRPr lang="zh-CN" altLang="en-US" sz="4800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80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Text Box 2"/>
          <p:cNvSpPr txBox="1">
            <a:spLocks noChangeArrowheads="1"/>
          </p:cNvSpPr>
          <p:nvPr/>
        </p:nvSpPr>
        <p:spPr bwMode="auto">
          <a:xfrm>
            <a:off x="755650" y="1412875"/>
            <a:ext cx="7704138" cy="190205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40000"/>
              </a:lnSpc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是对特定问题求解方法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步骤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的一种描述，在计算中表现为指令的有限序列，其中每一条指令表示一个或多个操作</a:t>
            </a:r>
            <a:endParaRPr lang="zh-CN" altLang="en-US" sz="2800" dirty="0">
              <a:latin typeface="楷体_GB2312" pitchFamily="49" charset="-122"/>
            </a:endParaRPr>
          </a:p>
        </p:txBody>
      </p:sp>
      <p:sp>
        <p:nvSpPr>
          <p:cNvPr id="349188" name="Text Box 4"/>
          <p:cNvSpPr txBox="1">
            <a:spLocks noChangeArrowheads="1"/>
          </p:cNvSpPr>
          <p:nvPr/>
        </p:nvSpPr>
        <p:spPr bwMode="auto">
          <a:xfrm>
            <a:off x="0" y="333375"/>
            <a:ext cx="9144000" cy="7699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4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一、算法定义</a:t>
            </a:r>
            <a:endParaRPr lang="zh-CN" altLang="en-US" sz="4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349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86" grpId="0" autoUpdateAnimBg="0"/>
      <p:bldP spid="349188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3763" name="文本框 373762"/>
          <p:cNvSpPr txBox="1"/>
          <p:nvPr/>
        </p:nvSpPr>
        <p:spPr>
          <a:xfrm>
            <a:off x="395288" y="14288"/>
            <a:ext cx="8340725" cy="64249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lnSpc>
                <a:spcPct val="140000"/>
              </a:lnSpc>
            </a:pPr>
            <a:r>
              <a:rPr lang="zh-CN" altLang="en-US" sz="5400" noProof="1" dirty="0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二、算法应具有的性质</a:t>
            </a:r>
            <a:endParaRPr lang="zh-CN" altLang="en-US" sz="5400" noProof="1" dirty="0">
              <a:effectLst>
                <a:outerShdw blurRad="38100" dist="38100" dir="2700000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  <a:p>
            <a:pPr algn="l">
              <a:lnSpc>
                <a:spcPct val="140000"/>
              </a:lnSpc>
            </a:pPr>
            <a:r>
              <a:rPr lang="zh-CN" altLang="zh-CN" dirty="0">
                <a:latin typeface="楷体_GB2312" pitchFamily="49" charset="-122"/>
                <a:sym typeface="+mn-ea"/>
              </a:rPr>
              <a:t>1</a:t>
            </a:r>
            <a:r>
              <a:rPr lang="zh-CN" altLang="en-US" dirty="0">
                <a:latin typeface="楷体_GB2312" pitchFamily="49" charset="-122"/>
                <a:sym typeface="+mn-ea"/>
              </a:rPr>
              <a:t>．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sym typeface="+mn-ea"/>
              </a:rPr>
              <a:t>有穷性</a:t>
            </a:r>
            <a:r>
              <a:rPr lang="zh-CN" altLang="en-US" dirty="0">
                <a:latin typeface="楷体_GB2312" pitchFamily="49" charset="-122"/>
                <a:sym typeface="+mn-ea"/>
              </a:rPr>
              <a:t>  </a:t>
            </a:r>
            <a:endParaRPr lang="zh-CN" altLang="en-US" dirty="0">
              <a:latin typeface="楷体_GB2312" pitchFamily="49" charset="-122"/>
              <a:sym typeface="+mn-ea"/>
            </a:endParaRPr>
          </a:p>
          <a:p>
            <a:pPr algn="l">
              <a:lnSpc>
                <a:spcPct val="140000"/>
              </a:lnSpc>
            </a:pPr>
            <a:r>
              <a:rPr lang="zh-CN" altLang="zh-CN" dirty="0">
                <a:latin typeface="楷体_GB2312" pitchFamily="49" charset="-122"/>
                <a:sym typeface="+mn-ea"/>
              </a:rPr>
              <a:t>2</a:t>
            </a:r>
            <a:r>
              <a:rPr lang="zh-CN" altLang="en-US" dirty="0">
                <a:latin typeface="楷体_GB2312" pitchFamily="49" charset="-122"/>
                <a:sym typeface="+mn-ea"/>
              </a:rPr>
              <a:t>．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sym typeface="+mn-ea"/>
              </a:rPr>
              <a:t>确定性   </a:t>
            </a:r>
            <a:endParaRPr lang="zh-CN" altLang="en-US" dirty="0">
              <a:solidFill>
                <a:srgbClr val="FF0000"/>
              </a:solidFill>
              <a:latin typeface="楷体_GB2312" pitchFamily="49" charset="-122"/>
              <a:sym typeface="+mn-ea"/>
            </a:endParaRPr>
          </a:p>
          <a:p>
            <a:pPr algn="l">
              <a:lnSpc>
                <a:spcPct val="140000"/>
              </a:lnSpc>
            </a:pPr>
            <a:r>
              <a:rPr lang="zh-CN" altLang="zh-CN" dirty="0">
                <a:latin typeface="楷体_GB2312" pitchFamily="49" charset="-122"/>
                <a:sym typeface="+mn-ea"/>
              </a:rPr>
              <a:t>3</a:t>
            </a:r>
            <a:r>
              <a:rPr lang="zh-CN" altLang="en-US" dirty="0">
                <a:latin typeface="楷体_GB2312" pitchFamily="49" charset="-122"/>
                <a:sym typeface="+mn-ea"/>
              </a:rPr>
              <a:t>．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sym typeface="+mn-ea"/>
              </a:rPr>
              <a:t>可行性</a:t>
            </a:r>
            <a:endParaRPr lang="zh-CN" altLang="en-US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l">
              <a:lnSpc>
                <a:spcPct val="140000"/>
              </a:lnSpc>
            </a:pPr>
            <a:r>
              <a:rPr lang="zh-CN" altLang="zh-CN" dirty="0">
                <a:latin typeface="楷体_GB2312" pitchFamily="49" charset="-122"/>
                <a:sym typeface="+mn-ea"/>
              </a:rPr>
              <a:t>4</a:t>
            </a:r>
            <a:r>
              <a:rPr lang="zh-CN" altLang="en-US" dirty="0">
                <a:latin typeface="楷体_GB2312" pitchFamily="49" charset="-122"/>
                <a:sym typeface="+mn-ea"/>
              </a:rPr>
              <a:t>．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sym typeface="+mn-ea"/>
              </a:rPr>
              <a:t>有输入  </a:t>
            </a:r>
            <a:endParaRPr lang="zh-CN" altLang="en-US" dirty="0">
              <a:solidFill>
                <a:srgbClr val="FF0000"/>
              </a:solidFill>
              <a:latin typeface="楷体_GB2312" pitchFamily="49" charset="-122"/>
              <a:sym typeface="+mn-ea"/>
            </a:endParaRPr>
          </a:p>
          <a:p>
            <a:pPr algn="l">
              <a:lnSpc>
                <a:spcPct val="140000"/>
              </a:lnSpc>
            </a:pPr>
            <a:r>
              <a:rPr lang="zh-CN" altLang="zh-CN" dirty="0">
                <a:latin typeface="楷体_GB2312" pitchFamily="49" charset="-122"/>
                <a:sym typeface="+mn-ea"/>
              </a:rPr>
              <a:t>5</a:t>
            </a:r>
            <a:r>
              <a:rPr lang="zh-CN" altLang="en-US" dirty="0">
                <a:latin typeface="楷体_GB2312" pitchFamily="49" charset="-122"/>
                <a:sym typeface="+mn-ea"/>
              </a:rPr>
              <a:t>．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sym typeface="+mn-ea"/>
              </a:rPr>
              <a:t>有输出</a:t>
            </a:r>
            <a:endParaRPr lang="zh-CN" altLang="en-US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ctr">
              <a:lnSpc>
                <a:spcPct val="140000"/>
              </a:lnSpc>
            </a:pPr>
            <a:endParaRPr lang="zh-CN" altLang="en-US" noProof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73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76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Text Box 2"/>
          <p:cNvSpPr txBox="1"/>
          <p:nvPr/>
        </p:nvSpPr>
        <p:spPr>
          <a:xfrm>
            <a:off x="304800" y="369888"/>
            <a:ext cx="8578850" cy="28968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120000"/>
              </a:lnSpc>
            </a:pPr>
            <a:r>
              <a:rPr lang="zh-CN" altLang="zh-CN" sz="3600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．</a:t>
            </a:r>
            <a:r>
              <a:rPr lang="zh-CN" altLang="en-US" sz="36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有穷性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  对于任意一组合法输入值，在执行</a:t>
            </a:r>
            <a:r>
              <a:rPr lang="zh-CN" altLang="en-US" sz="36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有穷步骤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之后一定能结束，即：</a:t>
            </a:r>
            <a:endParaRPr lang="zh-CN" altLang="en-US" sz="3600" dirty="0">
              <a:latin typeface="楷体_GB2312" pitchFamily="49" charset="-122"/>
              <a:ea typeface="楷体_GB2312" pitchFamily="49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算法中的每个步骤都能在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有限时间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内完成。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9155" name="Text Box 3"/>
          <p:cNvSpPr txBox="1"/>
          <p:nvPr/>
        </p:nvSpPr>
        <p:spPr>
          <a:xfrm>
            <a:off x="179070" y="3068955"/>
            <a:ext cx="8763000" cy="34124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120000"/>
              </a:lnSpc>
            </a:pPr>
            <a:r>
              <a:rPr lang="zh-CN" altLang="zh-CN" sz="3600" b="1" dirty="0">
                <a:latin typeface="楷体_GB2312" pitchFamily="49" charset="-122"/>
                <a:ea typeface="楷体_GB2312" pitchFamily="49" charset="-122"/>
              </a:rPr>
              <a:t> 2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．</a:t>
            </a:r>
            <a:r>
              <a:rPr lang="zh-CN" altLang="en-US" sz="36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确定性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 对于</a:t>
            </a:r>
            <a:r>
              <a:rPr lang="zh-CN" altLang="en-US" sz="36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每种情况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下所应执行的操作，在算法中都有</a:t>
            </a:r>
            <a:r>
              <a:rPr lang="zh-CN" altLang="en-US" sz="36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确切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的规定，使算法的执行者或阅读者都能明确其含义及如何执行。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并且</a:t>
            </a:r>
            <a:r>
              <a:rPr lang="zh-CN" altLang="en-US" sz="36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在任何条件下，算法都只有一条执行路径。</a:t>
            </a:r>
            <a:endParaRPr lang="zh-CN" altLang="en-US" sz="3600" b="1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3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3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/>
      <p:bldP spid="4915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Text Box 2"/>
          <p:cNvSpPr txBox="1"/>
          <p:nvPr/>
        </p:nvSpPr>
        <p:spPr>
          <a:xfrm>
            <a:off x="323850" y="381000"/>
            <a:ext cx="8515350" cy="23069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120000"/>
              </a:lnSpc>
            </a:pPr>
            <a:r>
              <a:rPr lang="zh-CN" altLang="zh-CN" b="1" dirty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．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可行性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  算法中的所有操作都必须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足够基本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，都可以通过已经实现的基本操作运算有限次实现之。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0179" name="Text Box 3"/>
          <p:cNvSpPr txBox="1"/>
          <p:nvPr/>
        </p:nvSpPr>
        <p:spPr>
          <a:xfrm>
            <a:off x="409575" y="2914650"/>
            <a:ext cx="8582025" cy="34124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120000"/>
              </a:lnSpc>
            </a:pPr>
            <a:r>
              <a:rPr lang="zh-CN" altLang="zh-CN" sz="3600" b="1" dirty="0"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．</a:t>
            </a:r>
            <a:r>
              <a:rPr lang="zh-CN" altLang="en-US" sz="36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有输入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  作为算法加工对象的量值，通常体现为算法中的一组变量。有些输入量需要在算法执行过程中输入，而有的算法表面上可以没有输入，实际上已被嵌入算法之中。</a:t>
            </a:r>
            <a:endParaRPr lang="zh-CN" altLang="en-US" sz="3600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3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3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/>
      <p:bldP spid="5017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Text Box 2"/>
          <p:cNvSpPr txBox="1"/>
          <p:nvPr/>
        </p:nvSpPr>
        <p:spPr>
          <a:xfrm>
            <a:off x="533400" y="1203325"/>
            <a:ext cx="8229600" cy="28613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125000"/>
              </a:lnSpc>
            </a:pPr>
            <a:r>
              <a:rPr lang="zh-CN" altLang="zh-CN" sz="36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zh-CN" sz="3600" b="1" dirty="0"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．</a:t>
            </a:r>
            <a:r>
              <a:rPr lang="zh-CN" altLang="en-US" sz="36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有输出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 它是一组与</a:t>
            </a:r>
            <a:r>
              <a:rPr lang="zh-CN" altLang="en-US" sz="3600" dirty="0"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输入</a:t>
            </a:r>
            <a:r>
              <a:rPr lang="zh-CN" altLang="en-US" sz="3600" dirty="0"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有确</a:t>
            </a:r>
            <a:endParaRPr lang="zh-CN" altLang="en-US" sz="3600" dirty="0">
              <a:latin typeface="楷体_GB2312" pitchFamily="49" charset="-122"/>
              <a:ea typeface="楷体_GB2312" pitchFamily="49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定关系的量值，是算法进行信息加工后得到的结果，这种确定关系即为算法的功能。</a:t>
            </a:r>
            <a:endParaRPr lang="zh-CN" altLang="en-US" sz="36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1203" name="AutoShape 3">
            <a:hlinkClick r:id="rId1" action="ppaction://hlinksldjump"/>
          </p:cNvPr>
          <p:cNvSpPr/>
          <p:nvPr/>
        </p:nvSpPr>
        <p:spPr>
          <a:xfrm>
            <a:off x="8534400" y="62484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3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500"/>
                            </p:stCondLst>
                            <p:childTnLst>
                              <p:par>
                                <p:cTn id="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2" grpId="0"/>
      <p:bldP spid="51203" grpId="0" bldLvl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7378" name="文本框 357377"/>
          <p:cNvSpPr txBox="1"/>
          <p:nvPr/>
        </p:nvSpPr>
        <p:spPr>
          <a:xfrm>
            <a:off x="827088" y="2565400"/>
            <a:ext cx="7550150" cy="2168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5400" noProof="1" dirty="0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</a:rPr>
              <a:t>算法描述方法</a:t>
            </a:r>
            <a:endParaRPr lang="zh-CN" altLang="en-US" sz="5400" noProof="1" dirty="0">
              <a:effectLst>
                <a:outerShdw blurRad="38100" dist="38100" dir="2700000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  <a:p>
            <a:pPr algn="ctr">
              <a:spcBef>
                <a:spcPct val="50000"/>
              </a:spcBef>
            </a:pPr>
            <a:r>
              <a:rPr lang="zh-CN" altLang="en-US" sz="5400" noProof="1" dirty="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endParaRPr lang="zh-CN" altLang="en-US" sz="5400" noProof="1" dirty="0">
              <a:solidFill>
                <a:srgbClr val="008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strips dir="rd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5202" name="文本框 435201"/>
          <p:cNvSpPr txBox="1"/>
          <p:nvPr/>
        </p:nvSpPr>
        <p:spPr>
          <a:xfrm>
            <a:off x="755650" y="692150"/>
            <a:ext cx="7550150" cy="3779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noProof="1" dirty="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endParaRPr lang="en-US" altLang="zh-CN" sz="2000" noProof="1" dirty="0">
              <a:solidFill>
                <a:srgbClr val="008000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en-US" altLang="zh-CN" sz="4800" noProof="1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1. </a:t>
            </a:r>
            <a:r>
              <a:rPr lang="zh-CN" altLang="en-US" sz="4800" noProof="1" dirty="0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用自然语言描述算法</a:t>
            </a:r>
            <a:endParaRPr lang="zh-CN" altLang="en-US" sz="4800" noProof="1" dirty="0">
              <a:solidFill>
                <a:schemeClr val="tx2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/>
            <a:endParaRPr lang="zh-CN" altLang="en-US" sz="5400" noProof="1" dirty="0">
              <a:solidFill>
                <a:schemeClr val="tx2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lang="zh-CN" altLang="en-US" sz="2400" b="0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</a:t>
            </a:r>
            <a:r>
              <a:rPr lang="zh-CN" altLang="en-US" noProof="1" dirty="0">
                <a:solidFill>
                  <a:srgbClr val="FF66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用我们日常生活中的自然语言（可以是中文形式，也可以是英文形式）也可以描述算法</a:t>
            </a:r>
            <a:endParaRPr lang="zh-CN" altLang="en-US" noProof="1" dirty="0">
              <a:solidFill>
                <a:srgbClr val="FF66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strips dir="rd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6834" name="文本框 376833"/>
          <p:cNvSpPr txBox="1"/>
          <p:nvPr/>
        </p:nvSpPr>
        <p:spPr>
          <a:xfrm>
            <a:off x="679450" y="260350"/>
            <a:ext cx="7924800" cy="53959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4800" noProof="1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2. </a:t>
            </a:r>
            <a:r>
              <a:rPr lang="zh-CN" altLang="en-US" sz="4800" noProof="1" dirty="0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用流程图描述算法</a:t>
            </a:r>
            <a:endParaRPr lang="zh-CN" altLang="en-US" sz="4800" noProof="1" dirty="0">
              <a:solidFill>
                <a:schemeClr val="tx2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800" b="0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　　   </a:t>
            </a:r>
            <a:r>
              <a:rPr lang="zh-CN" altLang="en-US" noProof="1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一个算法可以用流程图的方式来描述，输入输出、判断、处理分别用不同的框图表示，用箭头表示流程的流向。这是一种描述算法的较好方法，目前在一些高级语言程序设计中仍然采用。也有其他的图形辅助工具</a:t>
            </a:r>
            <a:endParaRPr lang="zh-CN" altLang="en-US" noProof="1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strips dir="rd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02" name="文本框 358401"/>
          <p:cNvSpPr txBox="1"/>
          <p:nvPr/>
        </p:nvSpPr>
        <p:spPr>
          <a:xfrm>
            <a:off x="1042988" y="838200"/>
            <a:ext cx="7110413" cy="23479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4800" noProof="1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3. </a:t>
            </a:r>
            <a:r>
              <a:rPr lang="zh-CN" altLang="en-US" sz="4800" noProof="1" dirty="0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用其它方式描述算法</a:t>
            </a:r>
            <a:endParaRPr lang="zh-CN" altLang="en-US" sz="4800" noProof="1" dirty="0">
              <a:solidFill>
                <a:schemeClr val="tx2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800" b="0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　       </a:t>
            </a:r>
            <a:r>
              <a:rPr lang="zh-CN" altLang="en-US" noProof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我们还可以用数学语言或约定的符号语言来描述算法</a:t>
            </a:r>
            <a:endParaRPr lang="zh-CN" altLang="en-US" noProof="1">
              <a:solidFill>
                <a:srgbClr val="FF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strips dir="rd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9426" name="文本框 359425"/>
          <p:cNvSpPr txBox="1"/>
          <p:nvPr/>
        </p:nvSpPr>
        <p:spPr>
          <a:xfrm>
            <a:off x="755650" y="687388"/>
            <a:ext cx="7632700" cy="2984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4800" noProof="1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4. </a:t>
            </a:r>
            <a:r>
              <a:rPr lang="zh-CN" altLang="en-US" sz="4800" noProof="1" dirty="0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用</a:t>
            </a:r>
            <a:r>
              <a:rPr lang="zh-CN" altLang="en-US" sz="4800" noProof="1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编程语言</a:t>
            </a:r>
            <a:r>
              <a:rPr lang="zh-CN" altLang="en-US" sz="4800" noProof="1" dirty="0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描述算法</a:t>
            </a:r>
            <a:endParaRPr lang="zh-CN" altLang="en-US" sz="4800" noProof="1" dirty="0">
              <a:solidFill>
                <a:schemeClr val="tx2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spcBef>
                <a:spcPct val="50000"/>
              </a:spcBef>
            </a:pPr>
            <a:r>
              <a:rPr lang="zh-CN" altLang="en-US" sz="2800" b="0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　　  </a:t>
            </a:r>
            <a:r>
              <a:rPr lang="zh-CN" altLang="en-US" noProof="1" dirty="0">
                <a:latin typeface="楷体_GB2312" pitchFamily="49" charset="-122"/>
                <a:ea typeface="楷体_GB2312" pitchFamily="49" charset="-122"/>
                <a:cs typeface="+mn-cs"/>
              </a:rPr>
              <a:t>在本课中，我们将采用</a:t>
            </a:r>
            <a:r>
              <a:rPr lang="en-US" altLang="zh-CN" noProof="1" dirty="0">
                <a:latin typeface="楷体_GB2312" pitchFamily="49" charset="-122"/>
                <a:ea typeface="楷体_GB2312" pitchFamily="49" charset="-122"/>
                <a:cs typeface="+mn-cs"/>
              </a:rPr>
              <a:t>C(</a:t>
            </a:r>
            <a:r>
              <a:rPr lang="en-US" altLang="zh-CN" noProof="1">
                <a:latin typeface="楷体_GB2312" pitchFamily="49" charset="-122"/>
                <a:ea typeface="楷体_GB2312" pitchFamily="49" charset="-122"/>
                <a:cs typeface="+mn-cs"/>
              </a:rPr>
              <a:t>C++)</a:t>
            </a:r>
            <a:r>
              <a:rPr lang="zh-CN" altLang="en-US" noProof="1" dirty="0">
                <a:latin typeface="楷体_GB2312" pitchFamily="49" charset="-122"/>
                <a:ea typeface="楷体_GB2312" pitchFamily="49" charset="-122"/>
                <a:cs typeface="+mn-cs"/>
              </a:rPr>
              <a:t>来描述算法</a:t>
            </a:r>
            <a:r>
              <a:rPr lang="en-US" altLang="zh-CN" noProof="1">
                <a:latin typeface="楷体_GB2312" pitchFamily="49" charset="-122"/>
                <a:ea typeface="楷体_GB2312" pitchFamily="49" charset="-122"/>
                <a:cs typeface="+mn-cs"/>
              </a:rPr>
              <a:t>,</a:t>
            </a:r>
            <a:r>
              <a:rPr lang="zh-CN" altLang="en-US" noProof="1" dirty="0">
                <a:latin typeface="楷体_GB2312" pitchFamily="49" charset="-122"/>
                <a:ea typeface="楷体_GB2312" pitchFamily="49" charset="-122"/>
                <a:cs typeface="+mn-cs"/>
              </a:rPr>
              <a:t>所有算法的描述都用</a:t>
            </a:r>
            <a:r>
              <a:rPr lang="en-US" altLang="zh-CN" noProof="1" dirty="0">
                <a:latin typeface="楷体_GB2312" pitchFamily="49" charset="-122"/>
                <a:ea typeface="楷体_GB2312" pitchFamily="49" charset="-122"/>
                <a:cs typeface="+mn-cs"/>
              </a:rPr>
              <a:t>C(</a:t>
            </a:r>
            <a:r>
              <a:rPr lang="en-US" altLang="zh-CN" noProof="1">
                <a:latin typeface="楷体_GB2312" pitchFamily="49" charset="-122"/>
                <a:ea typeface="楷体_GB2312" pitchFamily="49" charset="-122"/>
                <a:cs typeface="+mn-cs"/>
              </a:rPr>
              <a:t>C++)</a:t>
            </a:r>
            <a:r>
              <a:rPr lang="zh-CN" altLang="en-US" noProof="1" dirty="0">
                <a:latin typeface="楷体_GB2312" pitchFamily="49" charset="-122"/>
                <a:ea typeface="楷体_GB2312" pitchFamily="49" charset="-122"/>
                <a:cs typeface="+mn-cs"/>
              </a:rPr>
              <a:t>函数形式来描述</a:t>
            </a:r>
            <a:endParaRPr lang="zh-CN" altLang="en-US" noProof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strips dir="rd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Text Box 2"/>
          <p:cNvSpPr txBox="1"/>
          <p:nvPr/>
        </p:nvSpPr>
        <p:spPr>
          <a:xfrm>
            <a:off x="1219200" y="306388"/>
            <a:ext cx="6665913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/>
            <a:r>
              <a:rPr lang="en-US" altLang="zh-CN" sz="4800" b="1" dirty="0">
                <a:solidFill>
                  <a:srgbClr val="660066"/>
                </a:solidFill>
                <a:latin typeface="楷体_GB2312" pitchFamily="49" charset="-122"/>
                <a:ea typeface="楷体_GB2312" pitchFamily="49" charset="-122"/>
              </a:rPr>
              <a:t>1.4.2 </a:t>
            </a:r>
            <a:r>
              <a:rPr lang="zh-CN" altLang="en-US" sz="4800" b="1" dirty="0">
                <a:solidFill>
                  <a:srgbClr val="660066"/>
                </a:solidFill>
                <a:latin typeface="楷体_GB2312" pitchFamily="49" charset="-122"/>
                <a:ea typeface="楷体_GB2312" pitchFamily="49" charset="-122"/>
              </a:rPr>
              <a:t>算法设计的</a:t>
            </a:r>
            <a:r>
              <a:rPr lang="zh-CN" altLang="en-US" sz="4800" b="1" dirty="0">
                <a:solidFill>
                  <a:srgbClr val="660066"/>
                </a:solidFill>
                <a:latin typeface="楷体_GB2312" pitchFamily="49" charset="-122"/>
                <a:ea typeface="楷体_GB2312" pitchFamily="49" charset="-122"/>
              </a:rPr>
              <a:t>要求</a:t>
            </a:r>
            <a:endParaRPr lang="zh-CN" altLang="en-US" sz="4800" b="1" dirty="0">
              <a:solidFill>
                <a:srgbClr val="66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2227" name="Text Box 3"/>
          <p:cNvSpPr txBox="1"/>
          <p:nvPr/>
        </p:nvSpPr>
        <p:spPr>
          <a:xfrm>
            <a:off x="152400" y="1295400"/>
            <a:ext cx="9328150" cy="7016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zh-CN" altLang="en-US" sz="4000" dirty="0">
                <a:latin typeface="楷体_GB2312" pitchFamily="49" charset="-122"/>
                <a:ea typeface="楷体_GB2312" pitchFamily="49" charset="-122"/>
              </a:rPr>
              <a:t>设计算法时，通常应考虑达到以下目标：</a:t>
            </a: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2228" name="Text Box 4">
            <a:hlinkClick r:id="" action="ppaction://hlinkshowjump?jump=nextslide"/>
          </p:cNvPr>
          <p:cNvSpPr txBox="1"/>
          <p:nvPr/>
        </p:nvSpPr>
        <p:spPr>
          <a:xfrm>
            <a:off x="1600200" y="2227263"/>
            <a:ext cx="3548063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/>
            <a:r>
              <a:rPr lang="zh-CN" altLang="zh-CN" sz="4000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4000" b="1" dirty="0">
                <a:latin typeface="楷体_GB2312" pitchFamily="49" charset="-122"/>
                <a:ea typeface="楷体_GB2312" pitchFamily="49" charset="-122"/>
              </a:rPr>
              <a:t>．</a:t>
            </a:r>
            <a:r>
              <a:rPr lang="zh-CN" altLang="en-US" sz="4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正确性</a:t>
            </a:r>
            <a:endParaRPr lang="zh-CN" altLang="en-US" sz="40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2229" name="Text Box 5">
            <a:hlinkClick r:id="rId1" action="ppaction://hlinksldjump"/>
          </p:cNvPr>
          <p:cNvSpPr txBox="1"/>
          <p:nvPr/>
        </p:nvSpPr>
        <p:spPr>
          <a:xfrm>
            <a:off x="1600200" y="3217863"/>
            <a:ext cx="361950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/>
            <a:r>
              <a:rPr lang="zh-CN" altLang="zh-CN" sz="4000" b="1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zh-CN" sz="4000" b="1" dirty="0"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sz="4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可读性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2230" name="Text Box 6">
            <a:hlinkClick r:id="rId2" action="ppaction://hlinksldjump"/>
          </p:cNvPr>
          <p:cNvSpPr txBox="1"/>
          <p:nvPr/>
        </p:nvSpPr>
        <p:spPr>
          <a:xfrm>
            <a:off x="1620838" y="4208463"/>
            <a:ext cx="3311525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/>
            <a:r>
              <a:rPr lang="zh-CN" altLang="zh-CN" sz="4000" b="1" dirty="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4000" b="1" dirty="0">
                <a:latin typeface="楷体_GB2312" pitchFamily="49" charset="-122"/>
                <a:ea typeface="楷体_GB2312" pitchFamily="49" charset="-122"/>
              </a:rPr>
              <a:t>．</a:t>
            </a:r>
            <a:r>
              <a:rPr lang="zh-CN" altLang="en-US" sz="4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健壮性</a:t>
            </a:r>
            <a:endParaRPr lang="zh-CN" altLang="en-US" sz="40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2231" name="Text Box 7">
            <a:hlinkClick r:id="rId2" action="ppaction://hlinksldjump"/>
          </p:cNvPr>
          <p:cNvSpPr txBox="1"/>
          <p:nvPr/>
        </p:nvSpPr>
        <p:spPr>
          <a:xfrm>
            <a:off x="1600200" y="5199063"/>
            <a:ext cx="6643688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/>
            <a:r>
              <a:rPr lang="zh-CN" altLang="zh-CN" sz="4000" b="1" dirty="0"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zh-CN" altLang="en-US" sz="4000" b="1" dirty="0">
                <a:latin typeface="楷体_GB2312" pitchFamily="49" charset="-122"/>
                <a:ea typeface="楷体_GB2312" pitchFamily="49" charset="-122"/>
              </a:rPr>
              <a:t>．</a:t>
            </a:r>
            <a:r>
              <a:rPr lang="zh-CN" altLang="en-US" sz="40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高效率与低存储量需求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2232" name="AutoShape 8">
            <a:hlinkClick r:id="rId3" action="ppaction://hlinksldjump"/>
          </p:cNvPr>
          <p:cNvSpPr/>
          <p:nvPr/>
        </p:nvSpPr>
        <p:spPr>
          <a:xfrm>
            <a:off x="8534400" y="62484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2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2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/>
      <p:bldP spid="52228" grpId="0"/>
      <p:bldP spid="52229" grpId="0"/>
      <p:bldP spid="52230" grpId="0"/>
      <p:bldP spid="52231" grpId="0"/>
      <p:bldP spid="52232" grpId="0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Text Box 2"/>
          <p:cNvSpPr txBox="1"/>
          <p:nvPr/>
        </p:nvSpPr>
        <p:spPr>
          <a:xfrm>
            <a:off x="669925" y="293688"/>
            <a:ext cx="3757613" cy="76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/>
            <a:r>
              <a:rPr lang="zh-CN" altLang="zh-CN" sz="4400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4400" b="1" dirty="0">
                <a:latin typeface="楷体_GB2312" pitchFamily="49" charset="-122"/>
                <a:ea typeface="楷体_GB2312" pitchFamily="49" charset="-122"/>
              </a:rPr>
              <a:t>．</a:t>
            </a:r>
            <a:r>
              <a:rPr lang="zh-CN" altLang="en-US" sz="4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正确性</a:t>
            </a:r>
            <a:endParaRPr lang="zh-CN" altLang="en-US" sz="24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3251" name="Text Box 3"/>
          <p:cNvSpPr txBox="1"/>
          <p:nvPr/>
        </p:nvSpPr>
        <p:spPr>
          <a:xfrm>
            <a:off x="228600" y="990600"/>
            <a:ext cx="8534400" cy="1409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120000"/>
              </a:lnSpc>
            </a:pPr>
            <a:r>
              <a:rPr lang="zh-CN" altLang="zh-CN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首先，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算法应当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满足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以特定的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规格说明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方式给出的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需求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3252" name="Text Box 4"/>
          <p:cNvSpPr txBox="1"/>
          <p:nvPr/>
        </p:nvSpPr>
        <p:spPr>
          <a:xfrm>
            <a:off x="212725" y="2362200"/>
            <a:ext cx="8550275" cy="1409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120000"/>
              </a:lnSpc>
            </a:pPr>
            <a:r>
              <a:rPr lang="zh-CN" altLang="zh-CN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其次，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对算法是否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正确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理解可以有以下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四个层次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：</a:t>
            </a: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3253" name="Text Box 5"/>
          <p:cNvSpPr txBox="1"/>
          <p:nvPr/>
        </p:nvSpPr>
        <p:spPr>
          <a:xfrm>
            <a:off x="990600" y="3854450"/>
            <a:ext cx="698182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/>
            <a:r>
              <a:rPr lang="zh-CN" altLang="zh-CN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．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程序中不含语法错误；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3254" name="Text Box 6"/>
          <p:cNvSpPr txBox="1"/>
          <p:nvPr/>
        </p:nvSpPr>
        <p:spPr>
          <a:xfrm>
            <a:off x="974725" y="4752975"/>
            <a:ext cx="7635875" cy="1409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120000"/>
              </a:lnSpc>
            </a:pPr>
            <a:r>
              <a:rPr lang="zh-CN" altLang="zh-CN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．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程序对于几组输入数据能够得出满足要求的结果；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46325" y="4640580"/>
            <a:ext cx="3048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/>
      <p:bldP spid="53252" grpId="0"/>
      <p:bldP spid="53253" grpId="0"/>
      <p:bldP spid="5325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Text Box 2"/>
          <p:cNvSpPr txBox="1"/>
          <p:nvPr/>
        </p:nvSpPr>
        <p:spPr>
          <a:xfrm>
            <a:off x="228600" y="381000"/>
            <a:ext cx="8686800" cy="20685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120000"/>
              </a:lnSpc>
            </a:pPr>
            <a:r>
              <a:rPr lang="zh-CN" altLang="zh-CN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c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．程序对于精心选择的、典型、苛刻且带有刁难性的几组输入数据能够得出满足要求的结果；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4275" name="Text Box 3"/>
          <p:cNvSpPr txBox="1"/>
          <p:nvPr/>
        </p:nvSpPr>
        <p:spPr>
          <a:xfrm>
            <a:off x="568325" y="4403725"/>
            <a:ext cx="8270875" cy="1616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125000"/>
              </a:lnSpc>
            </a:pPr>
            <a:r>
              <a:rPr lang="zh-CN" altLang="en-US" sz="4000" dirty="0">
                <a:latin typeface="楷体_GB2312" pitchFamily="49" charset="-122"/>
                <a:ea typeface="楷体_GB2312" pitchFamily="49" charset="-122"/>
              </a:rPr>
              <a:t>通常以</a:t>
            </a:r>
            <a:r>
              <a:rPr lang="zh-CN" altLang="en-US" sz="4000" dirty="0">
                <a:solidFill>
                  <a:srgbClr val="9900CC"/>
                </a:solidFill>
                <a:latin typeface="楷体_GB2312" pitchFamily="49" charset="-122"/>
                <a:ea typeface="楷体_GB2312" pitchFamily="49" charset="-122"/>
              </a:rPr>
              <a:t>第</a:t>
            </a:r>
            <a:r>
              <a:rPr lang="zh-CN" altLang="en-US" sz="4000" b="1" dirty="0">
                <a:solidFill>
                  <a:srgbClr val="9900CC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zh-CN" sz="4000" b="1" dirty="0">
                <a:solidFill>
                  <a:srgbClr val="9900CC"/>
                </a:solidFill>
                <a:latin typeface="楷体_GB2312" pitchFamily="49" charset="-122"/>
                <a:ea typeface="楷体_GB2312" pitchFamily="49" charset="-122"/>
              </a:rPr>
              <a:t>c </a:t>
            </a:r>
            <a:r>
              <a:rPr lang="zh-CN" altLang="en-US" sz="4000" dirty="0">
                <a:solidFill>
                  <a:srgbClr val="9900CC"/>
                </a:solidFill>
                <a:latin typeface="楷体_GB2312" pitchFamily="49" charset="-122"/>
                <a:ea typeface="楷体_GB2312" pitchFamily="49" charset="-122"/>
              </a:rPr>
              <a:t>层</a:t>
            </a:r>
            <a:r>
              <a:rPr lang="zh-CN" altLang="en-US" sz="4000" dirty="0">
                <a:latin typeface="楷体_GB2312" pitchFamily="49" charset="-122"/>
                <a:ea typeface="楷体_GB2312" pitchFamily="49" charset="-122"/>
              </a:rPr>
              <a:t>意义的正确性作为衡量一个算法是否合格的标准。</a:t>
            </a: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4276" name="Text Box 4"/>
          <p:cNvSpPr txBox="1"/>
          <p:nvPr/>
        </p:nvSpPr>
        <p:spPr>
          <a:xfrm>
            <a:off x="365125" y="2711450"/>
            <a:ext cx="8778875" cy="1409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120000"/>
              </a:lnSpc>
            </a:pPr>
            <a:r>
              <a:rPr lang="zh-CN" altLang="zh-CN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zh-CN" b="1" dirty="0"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．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程序对于一切合法的输入数据都能得出满足要求的结果；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4277" name="AutoShape 5">
            <a:hlinkClick r:id="rId1" action="ppaction://hlinksldjump"/>
          </p:cNvPr>
          <p:cNvSpPr/>
          <p:nvPr/>
        </p:nvSpPr>
        <p:spPr>
          <a:xfrm>
            <a:off x="8382000" y="60960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9000"/>
                            </p:stCondLst>
                            <p:childTnLst>
                              <p:par>
                                <p:cTn id="1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/>
      <p:bldP spid="54275" grpId="0"/>
      <p:bldP spid="54276" grpId="0"/>
      <p:bldP spid="54277" grpId="0" bldLvl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Text Box 2"/>
          <p:cNvSpPr txBox="1"/>
          <p:nvPr/>
        </p:nvSpPr>
        <p:spPr>
          <a:xfrm>
            <a:off x="1447800" y="654050"/>
            <a:ext cx="4132263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/>
            <a:r>
              <a:rPr lang="zh-CN" altLang="zh-CN" sz="5400" b="1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zh-CN" sz="5400" b="1" dirty="0"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sz="5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可读性</a:t>
            </a:r>
            <a:endParaRPr lang="zh-CN" altLang="en-US" sz="24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5299" name="Text Box 3"/>
          <p:cNvSpPr txBox="1"/>
          <p:nvPr/>
        </p:nvSpPr>
        <p:spPr>
          <a:xfrm>
            <a:off x="228600" y="1905000"/>
            <a:ext cx="8610600" cy="39693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150000"/>
              </a:lnSpc>
            </a:pPr>
            <a:r>
              <a:rPr lang="zh-CN" altLang="zh-CN" sz="3600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算法主要是为了人的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阅读与交流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，</a:t>
            </a:r>
            <a:endParaRPr lang="zh-CN" altLang="en-US" sz="3600" dirty="0">
              <a:latin typeface="楷体_GB2312" pitchFamily="49" charset="-122"/>
              <a:ea typeface="楷体_GB2312" pitchFamily="49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其次才是为计算机执行，因此算法应该</a:t>
            </a:r>
            <a:r>
              <a:rPr lang="zh-CN" altLang="en-US" sz="36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易于</a:t>
            </a:r>
            <a:r>
              <a:rPr lang="zh-CN" altLang="en-US" sz="36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人的</a:t>
            </a:r>
            <a:r>
              <a:rPr lang="zh-CN" altLang="en-US" sz="36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理解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；另一方面，晦涩难读的程序易于隐藏较多错误而难以调试。</a:t>
            </a:r>
            <a:endParaRPr lang="zh-CN" altLang="en-US" sz="3600" dirty="0">
              <a:latin typeface="楷体_GB2312" pitchFamily="49" charset="-122"/>
              <a:ea typeface="楷体_GB2312" pitchFamily="49" charset="-122"/>
            </a:endParaRPr>
          </a:p>
          <a:p>
            <a:pPr algn="l"/>
            <a:endParaRPr lang="zh-CN" altLang="en-US" sz="36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5300" name="AutoShape 4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305800" y="6248400"/>
            <a:ext cx="457200" cy="304800"/>
          </a:xfrm>
          <a:prstGeom prst="actionButtonReturn">
            <a:avLst/>
          </a:prstGeom>
          <a:solidFill>
            <a:schemeClr val="bg2"/>
          </a:solidFill>
          <a:ln w="9525" cmpd="sng">
            <a:solidFill>
              <a:schemeClr val="bg2"/>
            </a:solidFill>
            <a:miter lim="800000"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3600" b="0" i="0" u="none" strike="noStrike" kern="1200" cap="none" spc="0" normalizeH="0" baseline="0" noProof="0" smtClean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700"/>
                            </p:stCondLst>
                            <p:childTnLst>
                              <p:par>
                                <p:cTn id="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/>
      <p:bldP spid="55300" grpId="0" bldLvl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Text Box 2"/>
          <p:cNvSpPr txBox="1"/>
          <p:nvPr/>
        </p:nvSpPr>
        <p:spPr>
          <a:xfrm>
            <a:off x="1736725" y="273050"/>
            <a:ext cx="4203700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/>
            <a:r>
              <a:rPr lang="zh-CN" altLang="zh-CN" sz="5400" b="1" dirty="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5400" b="1" dirty="0">
                <a:latin typeface="楷体_GB2312" pitchFamily="49" charset="-122"/>
                <a:ea typeface="楷体_GB2312" pitchFamily="49" charset="-122"/>
              </a:rPr>
              <a:t>．</a:t>
            </a:r>
            <a:r>
              <a:rPr lang="zh-CN" altLang="en-US" sz="5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健壮性</a:t>
            </a:r>
            <a:endParaRPr lang="zh-CN" altLang="en-US" sz="24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6323" name="Text Box 3"/>
          <p:cNvSpPr txBox="1"/>
          <p:nvPr/>
        </p:nvSpPr>
        <p:spPr>
          <a:xfrm>
            <a:off x="457200" y="1219200"/>
            <a:ext cx="8305800" cy="47428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140000"/>
              </a:lnSpc>
            </a:pPr>
            <a:r>
              <a:rPr lang="zh-CN" altLang="zh-CN" sz="3600" dirty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当</a:t>
            </a:r>
            <a:r>
              <a:rPr lang="zh-CN" altLang="en-US" sz="3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输入的数据</a:t>
            </a:r>
            <a:r>
              <a:rPr lang="zh-CN" altLang="en-US" sz="36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非法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时，算法应当恰当地作出反映或</a:t>
            </a:r>
            <a:r>
              <a:rPr lang="zh-CN" altLang="en-US" sz="36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进行相应处理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，而不是产生莫名奇妙的输出结果。并且，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处理出错的方法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不应是中断程序的执行，而应是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返回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一个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表示错误或错误性质的值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，以便在更高的抽象层次上进行处理。</a:t>
            </a:r>
            <a:endParaRPr lang="zh-CN" altLang="en-US" sz="36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6324" name="AutoShape 4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305800" y="6248400"/>
            <a:ext cx="457200" cy="304800"/>
          </a:xfrm>
          <a:prstGeom prst="actionButtonReturn">
            <a:avLst/>
          </a:prstGeom>
          <a:solidFill>
            <a:schemeClr val="bg2"/>
          </a:solidFill>
          <a:ln w="9525" cmpd="sng">
            <a:solidFill>
              <a:schemeClr val="bg2"/>
            </a:solidFill>
            <a:miter lim="800000"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3600" b="0" i="0" u="none" strike="noStrike" kern="1200" cap="none" spc="0" normalizeH="0" baseline="0" noProof="0" smtClean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900"/>
                            </p:stCondLst>
                            <p:childTnLst>
                              <p:par>
                                <p:cTn id="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/>
      <p:bldP spid="56324" grpId="0" bldLvl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Text Box 2"/>
          <p:cNvSpPr txBox="1"/>
          <p:nvPr/>
        </p:nvSpPr>
        <p:spPr>
          <a:xfrm>
            <a:off x="533400" y="730250"/>
            <a:ext cx="8359775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/>
            <a:r>
              <a:rPr lang="zh-CN" altLang="zh-CN" sz="5400" b="1" dirty="0"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zh-CN" altLang="en-US" sz="5400" b="1" dirty="0">
                <a:latin typeface="楷体_GB2312" pitchFamily="49" charset="-122"/>
                <a:ea typeface="楷体_GB2312" pitchFamily="49" charset="-122"/>
              </a:rPr>
              <a:t>．</a:t>
            </a:r>
            <a:r>
              <a:rPr lang="zh-CN" altLang="en-US" sz="5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高效率与低存储量需求</a:t>
            </a:r>
            <a:endParaRPr lang="zh-CN" altLang="en-US" sz="24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7347" name="Text Box 3"/>
          <p:cNvSpPr txBox="1"/>
          <p:nvPr/>
        </p:nvSpPr>
        <p:spPr>
          <a:xfrm>
            <a:off x="838200" y="2060575"/>
            <a:ext cx="7983855" cy="319214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>
              <a:lnSpc>
                <a:spcPct val="140000"/>
              </a:lnSpc>
            </a:pPr>
            <a:r>
              <a:rPr lang="zh-CN" altLang="zh-CN" sz="3600" dirty="0"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通常，效率指的是</a:t>
            </a:r>
            <a:r>
              <a:rPr lang="zh-CN" altLang="en-US" sz="3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算法执行时间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；</a:t>
            </a:r>
            <a:endParaRPr lang="zh-CN" altLang="en-US" sz="3600" dirty="0">
              <a:latin typeface="楷体_GB2312" pitchFamily="49" charset="-122"/>
              <a:ea typeface="楷体_GB2312" pitchFamily="49" charset="-122"/>
            </a:endParaRPr>
          </a:p>
          <a:p>
            <a:pPr algn="l">
              <a:lnSpc>
                <a:spcPct val="140000"/>
              </a:lnSpc>
            </a:pP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存储量指的是算法执行过程中</a:t>
            </a:r>
            <a:r>
              <a:rPr lang="zh-CN" altLang="en-US" sz="3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所需的</a:t>
            </a:r>
            <a:endParaRPr lang="zh-CN" altLang="en-US" sz="360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l">
              <a:lnSpc>
                <a:spcPct val="140000"/>
              </a:lnSpc>
            </a:pPr>
            <a:r>
              <a:rPr lang="zh-CN" altLang="en-US" sz="3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最大存储空间</a:t>
            </a: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，两者都与问题的规模</a:t>
            </a:r>
            <a:endParaRPr lang="zh-CN" altLang="en-US" sz="3600" dirty="0">
              <a:latin typeface="楷体_GB2312" pitchFamily="49" charset="-122"/>
              <a:ea typeface="楷体_GB2312" pitchFamily="49" charset="-122"/>
            </a:endParaRPr>
          </a:p>
          <a:p>
            <a:pPr algn="l">
              <a:lnSpc>
                <a:spcPct val="140000"/>
              </a:lnSpc>
            </a:pPr>
            <a:r>
              <a:rPr lang="zh-CN" altLang="en-US" sz="3600" dirty="0">
                <a:latin typeface="楷体_GB2312" pitchFamily="49" charset="-122"/>
                <a:ea typeface="楷体_GB2312" pitchFamily="49" charset="-122"/>
              </a:rPr>
              <a:t>有关。</a:t>
            </a:r>
            <a:endParaRPr lang="zh-CN" altLang="en-US" sz="36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7348" name="AutoShape 4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305800" y="6248400"/>
            <a:ext cx="457200" cy="304800"/>
          </a:xfrm>
          <a:prstGeom prst="actionButtonReturn">
            <a:avLst/>
          </a:prstGeom>
          <a:solidFill>
            <a:schemeClr val="bg2"/>
          </a:solidFill>
          <a:ln w="9525" cmpd="sng">
            <a:solidFill>
              <a:schemeClr val="bg2"/>
            </a:solidFill>
            <a:miter lim="800000"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3600" b="0" i="0" u="none" strike="noStrike" kern="1200" cap="none" spc="0" normalizeH="0" baseline="0" noProof="0" smtClean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300"/>
                            </p:stCondLst>
                            <p:childTnLst>
                              <p:par>
                                <p:cTn id="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7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/>
      <p:bldP spid="57348" grpId="0" bldLvl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两种算法的比较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写一个程序计算</a:t>
            </a:r>
            <a:r>
              <a:rPr lang="en-US" altLang="zh-CN" dirty="0"/>
              <a:t>1+2+3+……+100</a:t>
            </a:r>
            <a:r>
              <a:rPr lang="zh-CN" altLang="en-US" dirty="0"/>
              <a:t>的和？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3688" y="1844824"/>
            <a:ext cx="4608131" cy="295232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10150"/>
            <a:ext cx="3762375" cy="18478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363" y="5213995"/>
            <a:ext cx="4946637" cy="144016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249556" y="4717762"/>
            <a:ext cx="22445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数学家高斯</a:t>
            </a:r>
            <a:endParaRPr lang="zh-CN" altLang="en-US" sz="3200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算法效率度量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事后统计方法</a:t>
            </a:r>
            <a:endParaRPr lang="en-US" altLang="zh-CN" dirty="0"/>
          </a:p>
          <a:p>
            <a:r>
              <a:rPr lang="zh-CN" altLang="en-US" dirty="0"/>
              <a:t>事前分析估算方法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高级语言编写的程序运行时消耗的时间取决于</a:t>
            </a:r>
            <a:endParaRPr lang="en-US" altLang="zh-CN" dirty="0"/>
          </a:p>
          <a:p>
            <a:pPr lvl="1"/>
            <a:r>
              <a:rPr lang="zh-CN" altLang="en-US" dirty="0"/>
              <a:t>编译产生的代码质量</a:t>
            </a:r>
            <a:r>
              <a:rPr lang="en-US" altLang="zh-CN" dirty="0"/>
              <a:t>—</a:t>
            </a:r>
            <a:r>
              <a:rPr lang="zh-CN" altLang="en-US" dirty="0"/>
              <a:t>软件决定</a:t>
            </a:r>
            <a:endParaRPr lang="en-US" altLang="zh-CN" dirty="0"/>
          </a:p>
          <a:p>
            <a:pPr lvl="1"/>
            <a:r>
              <a:rPr lang="zh-CN" altLang="en-US" dirty="0"/>
              <a:t>机器执行指令的速度</a:t>
            </a:r>
            <a:r>
              <a:rPr lang="en-US" altLang="zh-CN" dirty="0"/>
              <a:t>—</a:t>
            </a:r>
            <a:r>
              <a:rPr lang="zh-CN" altLang="en-US" dirty="0"/>
              <a:t>硬件决定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算法的策略与方法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问题的输入规模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404664"/>
            <a:ext cx="8419019" cy="281137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4227437"/>
            <a:ext cx="8503982" cy="1433811"/>
          </a:xfrm>
          <a:prstGeom prst="rect">
            <a:avLst/>
          </a:prstGeom>
        </p:spPr>
      </p:pic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</a:t>
            </a:r>
            <a:r>
              <a:rPr lang="en-US" altLang="zh-CN" dirty="0"/>
              <a:t>1+2+3+……+10000</a:t>
            </a:r>
            <a:r>
              <a:rPr lang="zh-CN" altLang="en-US" dirty="0"/>
              <a:t>的和？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问题输入规模</a:t>
            </a:r>
            <a:r>
              <a:rPr lang="en-US" altLang="zh-CN" dirty="0"/>
              <a:t>n=100</a:t>
            </a:r>
            <a:endParaRPr lang="zh-CN" altLang="en-US" dirty="0"/>
          </a:p>
          <a:p>
            <a:r>
              <a:rPr lang="zh-CN" altLang="en-US" dirty="0"/>
              <a:t>最内层循环体内代码要执行</a:t>
            </a:r>
            <a:r>
              <a:rPr lang="en-US" altLang="zh-CN" dirty="0"/>
              <a:t>n</a:t>
            </a:r>
            <a:r>
              <a:rPr lang="en-US" altLang="zh-CN" baseline="30000" dirty="0"/>
              <a:t>2</a:t>
            </a:r>
            <a:r>
              <a:rPr lang="en-US" altLang="zh-CN" dirty="0"/>
              <a:t>=100</a:t>
            </a:r>
            <a:r>
              <a:rPr lang="en-US" altLang="zh-CN" baseline="30000" dirty="0"/>
              <a:t>2</a:t>
            </a:r>
            <a:r>
              <a:rPr lang="zh-CN" altLang="en-US" dirty="0"/>
              <a:t>次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13" y="1317667"/>
            <a:ext cx="7772400" cy="4172552"/>
          </a:xfrm>
          <a:prstGeom prst="rect">
            <a:avLst/>
          </a:prstGeom>
        </p:spPr>
      </p:pic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1" y="260648"/>
            <a:ext cx="8095709" cy="4754562"/>
          </a:xfrm>
        </p:spPr>
        <p:txBody>
          <a:bodyPr/>
          <a:lstStyle/>
          <a:p>
            <a:r>
              <a:rPr lang="zh-CN" altLang="en-US" dirty="0"/>
              <a:t>测定运行时间最可靠的方法是计算对运行时间有消耗的</a:t>
            </a:r>
            <a:r>
              <a:rPr lang="zh-CN" altLang="en-US" dirty="0">
                <a:solidFill>
                  <a:srgbClr val="FF0000"/>
                </a:solidFill>
              </a:rPr>
              <a:t>基本操作</a:t>
            </a:r>
            <a:r>
              <a:rPr lang="zh-CN" altLang="en-US" dirty="0"/>
              <a:t>执行的次数，运行时间正比于这个次数</a:t>
            </a:r>
            <a:endParaRPr lang="en-US" altLang="zh-CN" dirty="0"/>
          </a:p>
          <a:p>
            <a:pPr lvl="1"/>
            <a:r>
              <a:rPr lang="zh-CN" altLang="en-US" dirty="0"/>
              <a:t>不计循环变量的递增、终止判定、变量声明、输入打印等操作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基本操作执行的次数</a:t>
            </a:r>
            <a:r>
              <a:rPr lang="en-US" altLang="zh-CN" dirty="0"/>
              <a:t>f(n)</a:t>
            </a:r>
            <a:r>
              <a:rPr lang="zh-CN" altLang="en-US" dirty="0"/>
              <a:t>与问题的规模</a:t>
            </a:r>
            <a:r>
              <a:rPr lang="en-US" altLang="zh-CN" dirty="0"/>
              <a:t>n</a:t>
            </a:r>
            <a:r>
              <a:rPr lang="zh-CN" altLang="en-US" dirty="0"/>
              <a:t>相关，</a:t>
            </a:r>
            <a:r>
              <a:rPr lang="zh-CN" altLang="en-US" dirty="0">
                <a:solidFill>
                  <a:schemeClr val="tx2"/>
                </a:solidFill>
                <a:ea typeface="仿宋_GB2312" pitchFamily="49" charset="-122"/>
              </a:rPr>
              <a:t>即基本操作的数量必须表示成问题规模</a:t>
            </a:r>
            <a:r>
              <a:rPr lang="en-US" altLang="zh-CN" dirty="0">
                <a:solidFill>
                  <a:schemeClr val="tx2"/>
                </a:solidFill>
                <a:ea typeface="仿宋_GB2312" pitchFamily="49" charset="-122"/>
              </a:rPr>
              <a:t>n</a:t>
            </a:r>
            <a:r>
              <a:rPr lang="zh-CN" altLang="en-US" dirty="0">
                <a:solidFill>
                  <a:schemeClr val="tx2"/>
                </a:solidFill>
                <a:ea typeface="仿宋_GB2312" pitchFamily="49" charset="-122"/>
              </a:rPr>
              <a:t>的函数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902" y="2420888"/>
            <a:ext cx="8419019" cy="2811378"/>
          </a:xfrm>
          <a:prstGeom prst="rect">
            <a:avLst/>
          </a:prstGeom>
        </p:spPr>
      </p:pic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Text Box 2"/>
          <p:cNvSpPr txBox="1">
            <a:spLocks noChangeArrowheads="1"/>
          </p:cNvSpPr>
          <p:nvPr/>
        </p:nvSpPr>
        <p:spPr bwMode="auto">
          <a:xfrm>
            <a:off x="0" y="95250"/>
            <a:ext cx="8964613" cy="62109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742950" indent="-742950" eaLnBrk="1" hangingPunct="1">
              <a:lnSpc>
                <a:spcPct val="140000"/>
              </a:lnSpc>
              <a:buAutoNum type="arabicPeriod"/>
              <a:defRPr/>
            </a:pPr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算法的时间复杂度</a:t>
            </a:r>
            <a:endParaRPr lang="en-US" altLang="zh-CN" sz="36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</a:endParaRP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solidFill>
                  <a:srgbClr val="FF6600"/>
                </a:solidFill>
              </a:rPr>
              <a:t>基本操作重复执行的次数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是问题规模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的某个函数</a:t>
            </a:r>
            <a:r>
              <a:rPr lang="en-US" altLang="zh-CN" sz="2800" dirty="0">
                <a:solidFill>
                  <a:srgbClr val="9900CC"/>
                </a:solidFill>
                <a:latin typeface="楷体_GB2312" pitchFamily="49" charset="-122"/>
              </a:rPr>
              <a:t>f(n) </a:t>
            </a:r>
            <a:endParaRPr lang="en-US" altLang="zh-CN" sz="2800" dirty="0">
              <a:solidFill>
                <a:srgbClr val="9900CC"/>
              </a:solidFill>
              <a:latin typeface="楷体_GB2312" pitchFamily="49" charset="-122"/>
            </a:endParaRPr>
          </a:p>
          <a:p>
            <a:pPr lvl="1" eaLnBrk="1" hangingPunct="1">
              <a:lnSpc>
                <a:spcPct val="14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一般地，常用</a:t>
            </a:r>
            <a:r>
              <a:rPr lang="zh-CN" altLang="en-US" sz="2400" dirty="0">
                <a:solidFill>
                  <a:srgbClr val="DE580E"/>
                </a:solidFill>
              </a:rPr>
              <a:t>最深层循环内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的语句中的原操作的</a:t>
            </a:r>
            <a:r>
              <a:rPr lang="zh-CN" altLang="en-US" sz="2400" dirty="0">
                <a:solidFill>
                  <a:srgbClr val="0000FF"/>
                </a:solidFill>
              </a:rPr>
              <a:t>执行频度</a:t>
            </a:r>
            <a:r>
              <a:rPr lang="en-US" altLang="zh-CN" sz="2400" dirty="0"/>
              <a:t>(</a:t>
            </a:r>
            <a:r>
              <a:rPr lang="zh-CN" altLang="en-US" sz="2400" dirty="0"/>
              <a:t>重复执行的次数</a:t>
            </a:r>
            <a:r>
              <a:rPr lang="en-US" altLang="zh-CN" sz="2400" dirty="0"/>
              <a:t>)</a:t>
            </a:r>
            <a:r>
              <a:rPr lang="zh-CN" altLang="en-US" sz="2400" dirty="0"/>
              <a:t>来表示。</a:t>
            </a:r>
            <a:endParaRPr lang="en-US" altLang="zh-CN" sz="2400" dirty="0"/>
          </a:p>
          <a:p>
            <a:pPr lvl="1" eaLnBrk="1" hangingPunct="1">
              <a:lnSpc>
                <a:spcPct val="140000"/>
              </a:lnSpc>
              <a:buFont typeface="Arial" panose="020B0604020202020204" pitchFamily="34" charset="0"/>
              <a:buChar char="•"/>
              <a:defRPr/>
            </a:pPr>
            <a:endParaRPr lang="en-US" altLang="zh-CN" sz="3200" dirty="0"/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算法的运行时间与运行工作量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基本操作重复执行的次数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的增长率相同</a:t>
            </a:r>
            <a:endParaRPr lang="en-US" altLang="zh-CN" sz="28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  <a:buChar char="•"/>
              <a:defRPr/>
            </a:pPr>
            <a:endParaRPr lang="en-US" altLang="zh-CN" sz="28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时间量度记作   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T(n)=O(f(n))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，称作算法的渐近时间复杂度简称</a:t>
            </a: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时间复杂度</a:t>
            </a:r>
            <a:endParaRPr lang="en-US" altLang="zh-CN" sz="28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4" name="矩形 35843"/>
          <p:cNvSpPr/>
          <p:nvPr/>
        </p:nvSpPr>
        <p:spPr>
          <a:xfrm>
            <a:off x="304800" y="1295400"/>
            <a:ext cx="8305800" cy="1676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chemeClr val="tx2"/>
                </a:solidFill>
                <a:latin typeface="Verdana" panose="020B0604030504040204" pitchFamily="34" charset="0"/>
                <a:ea typeface="HY견고딕" pitchFamily="18" charset="-127"/>
              </a:defRPr>
            </a:lvl1pPr>
          </a:lstStyle>
          <a:p>
            <a:pPr lvl="0"/>
            <a:r>
              <a:rPr lang="zh-CN" altLang="en-US" sz="2400" b="0" i="1" dirty="0">
                <a:solidFill>
                  <a:schemeClr val="tx1"/>
                </a:solidFill>
                <a:ea typeface="黑体" panose="02010609060101010101" pitchFamily="49" charset="-122"/>
              </a:rPr>
              <a:t>渐进符号</a:t>
            </a:r>
            <a:r>
              <a:rPr lang="zh-CN" altLang="en-US" sz="2400" b="0" dirty="0">
                <a:solidFill>
                  <a:schemeClr val="tx1"/>
                </a:solidFill>
                <a:ea typeface="黑体" panose="02010609060101010101" pitchFamily="49" charset="-122"/>
              </a:rPr>
              <a:t>（</a:t>
            </a:r>
            <a:r>
              <a:rPr lang="en-US" altLang="zh-CN" sz="2400" b="0">
                <a:solidFill>
                  <a:schemeClr val="tx1"/>
                </a:solidFill>
                <a:ea typeface="黑体" panose="02010609060101010101" pitchFamily="49" charset="-122"/>
              </a:rPr>
              <a:t>O</a:t>
            </a:r>
            <a:r>
              <a:rPr lang="zh-CN" altLang="en-US" sz="2400" b="0">
                <a:solidFill>
                  <a:schemeClr val="tx1"/>
                </a:solidFill>
                <a:ea typeface="黑体" panose="02010609060101010101" pitchFamily="49" charset="-122"/>
              </a:rPr>
              <a:t>）的</a:t>
            </a:r>
            <a:r>
              <a:rPr lang="zh-CN" altLang="en-US" sz="2400" b="0" dirty="0">
                <a:solidFill>
                  <a:schemeClr val="tx1"/>
                </a:solidFill>
                <a:ea typeface="黑体" panose="02010609060101010101" pitchFamily="49" charset="-122"/>
              </a:rPr>
              <a:t>定义：</a:t>
            </a:r>
            <a:r>
              <a:rPr lang="zh-CN" altLang="en-US" sz="24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当且仅当存在一个正的常数</a:t>
            </a:r>
            <a:r>
              <a:rPr lang="en-US" altLang="zh-TW" sz="2400" b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C</a:t>
            </a:r>
            <a:r>
              <a:rPr lang="zh-CN" altLang="en-US" sz="2400" b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sz="24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使得对所有的</a:t>
            </a:r>
            <a:r>
              <a:rPr lang="zh-TW" altLang="en-US" sz="2400" b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TW" sz="2400" b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n  </a:t>
            </a:r>
            <a:r>
              <a:rPr lang="en-US" altLang="zh-TW" b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n</a:t>
            </a:r>
            <a:r>
              <a:rPr lang="en-US" altLang="zh-TW" b="0" baseline="-250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0</a:t>
            </a:r>
            <a:r>
              <a:rPr lang="zh-TW" altLang="en-US" sz="2400" b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，有</a:t>
            </a:r>
            <a:r>
              <a:rPr lang="en-US" altLang="zh-TW" sz="2400" b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f(n) </a:t>
            </a:r>
            <a:r>
              <a:rPr lang="en-US" altLang="zh-TW" sz="2400" b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 Cg(n)</a:t>
            </a:r>
            <a:r>
              <a:rPr lang="zh-CN" altLang="en-US" sz="2400" b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，则</a:t>
            </a:r>
            <a:br>
              <a:rPr lang="zh-CN" altLang="en-US" sz="2400" b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</a:br>
            <a:r>
              <a:rPr lang="en-US" altLang="zh-TW" sz="2400" b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f(n) = O(g(n)) </a:t>
            </a:r>
            <a:endParaRPr lang="en-US" altLang="zh-TW" sz="2400" b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5845" name="文本占位符 35844"/>
          <p:cNvSpPr>
            <a:spLocks noGrp="1"/>
          </p:cNvSpPr>
          <p:nvPr/>
        </p:nvSpPr>
        <p:spPr>
          <a:xfrm>
            <a:off x="304800" y="3276600"/>
            <a:ext cx="8839200" cy="35020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altLang="zh-TW" sz="2400" b="0"/>
              <a:t>3n+2=O(n)               /* 3n+2</a:t>
            </a:r>
            <a:r>
              <a:rPr lang="en-US" altLang="zh-TW" sz="2400" b="0">
                <a:sym typeface="Symbol" panose="05050102010706020507" pitchFamily="18" charset="2"/>
              </a:rPr>
              <a:t>4n for n2 */</a:t>
            </a:r>
            <a:endParaRPr lang="en-US" altLang="zh-TW" sz="2400" b="0">
              <a:sym typeface="Symbol" panose="05050102010706020507" pitchFamily="18" charset="2"/>
            </a:endParaRPr>
          </a:p>
          <a:p>
            <a:pPr marL="0" indent="0"/>
            <a:r>
              <a:rPr lang="en-US" altLang="zh-TW" sz="2400" b="0">
                <a:sym typeface="Symbol" panose="05050102010706020507" pitchFamily="18" charset="2"/>
              </a:rPr>
              <a:t>3n+3=O(n)               /* 3n+34n for n3 */</a:t>
            </a:r>
            <a:endParaRPr lang="en-US" altLang="zh-TW" sz="2400" b="0">
              <a:sym typeface="Symbol" panose="05050102010706020507" pitchFamily="18" charset="2"/>
            </a:endParaRPr>
          </a:p>
          <a:p>
            <a:pPr marL="0" indent="0"/>
            <a:r>
              <a:rPr lang="en-US" altLang="zh-TW" sz="2400" b="0">
                <a:sym typeface="Symbol" panose="05050102010706020507" pitchFamily="18" charset="2"/>
              </a:rPr>
              <a:t>100n+6=O(n)	          /* 100n+6101n for n10 */</a:t>
            </a:r>
            <a:endParaRPr lang="en-US" altLang="zh-TW" sz="2400" b="0">
              <a:sym typeface="Symbol" panose="05050102010706020507" pitchFamily="18" charset="2"/>
            </a:endParaRPr>
          </a:p>
          <a:p>
            <a:pPr marL="0" indent="0"/>
            <a:r>
              <a:rPr lang="en-US" altLang="zh-TW" sz="2400" b="0">
                <a:sym typeface="Symbol" panose="05050102010706020507" pitchFamily="18" charset="2"/>
              </a:rPr>
              <a:t>10n</a:t>
            </a:r>
            <a:r>
              <a:rPr lang="en-US" altLang="zh-TW" sz="2400" b="0" baseline="30000">
                <a:sym typeface="Symbol" panose="05050102010706020507" pitchFamily="18" charset="2"/>
              </a:rPr>
              <a:t>2</a:t>
            </a:r>
            <a:r>
              <a:rPr lang="en-US" altLang="zh-TW" sz="2400" b="0">
                <a:sym typeface="Symbol" panose="05050102010706020507" pitchFamily="18" charset="2"/>
              </a:rPr>
              <a:t>+4n+2=O(n</a:t>
            </a:r>
            <a:r>
              <a:rPr lang="en-US" altLang="zh-TW" sz="2400" b="0" baseline="30000">
                <a:sym typeface="Symbol" panose="05050102010706020507" pitchFamily="18" charset="2"/>
              </a:rPr>
              <a:t>2</a:t>
            </a:r>
            <a:r>
              <a:rPr lang="en-US" altLang="zh-TW" sz="2400" b="0">
                <a:sym typeface="Symbol" panose="05050102010706020507" pitchFamily="18" charset="2"/>
              </a:rPr>
              <a:t>)   /* 10n</a:t>
            </a:r>
            <a:r>
              <a:rPr lang="en-US" altLang="zh-TW" sz="2400" b="0" baseline="30000">
                <a:sym typeface="Symbol" panose="05050102010706020507" pitchFamily="18" charset="2"/>
              </a:rPr>
              <a:t>2</a:t>
            </a:r>
            <a:r>
              <a:rPr lang="en-US" altLang="zh-TW" sz="2400" b="0">
                <a:sym typeface="Symbol" panose="05050102010706020507" pitchFamily="18" charset="2"/>
              </a:rPr>
              <a:t>+4n+211n</a:t>
            </a:r>
            <a:r>
              <a:rPr lang="en-US" altLang="zh-TW" sz="2400" b="0" baseline="30000">
                <a:sym typeface="Symbol" panose="05050102010706020507" pitchFamily="18" charset="2"/>
              </a:rPr>
              <a:t>2</a:t>
            </a:r>
            <a:r>
              <a:rPr lang="en-US" altLang="zh-TW" sz="2400" b="0">
                <a:sym typeface="Symbol" panose="05050102010706020507" pitchFamily="18" charset="2"/>
              </a:rPr>
              <a:t> for n5 */</a:t>
            </a:r>
            <a:endParaRPr lang="en-US" altLang="zh-TW" sz="2400" b="0">
              <a:sym typeface="Symbol" panose="05050102010706020507" pitchFamily="18" charset="2"/>
            </a:endParaRPr>
          </a:p>
          <a:p>
            <a:pPr marL="0" indent="0"/>
            <a:r>
              <a:rPr lang="en-US" altLang="zh-TW" sz="2400" b="0">
                <a:sym typeface="Symbol" panose="05050102010706020507" pitchFamily="18" charset="2"/>
              </a:rPr>
              <a:t>6*2</a:t>
            </a:r>
            <a:r>
              <a:rPr lang="en-US" altLang="zh-TW" sz="2400" b="0" baseline="30000">
                <a:sym typeface="Symbol" panose="05050102010706020507" pitchFamily="18" charset="2"/>
              </a:rPr>
              <a:t>n</a:t>
            </a:r>
            <a:r>
              <a:rPr lang="en-US" altLang="zh-TW" sz="2400" b="0">
                <a:sym typeface="Symbol" panose="05050102010706020507" pitchFamily="18" charset="2"/>
              </a:rPr>
              <a:t>+n2=O(2</a:t>
            </a:r>
            <a:r>
              <a:rPr lang="en-US" altLang="zh-TW" sz="2400" b="0" baseline="3000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TW" sz="2400" b="0">
                <a:sym typeface="Symbol" panose="05050102010706020507" pitchFamily="18" charset="2"/>
              </a:rPr>
              <a:t>)       /* 6*2</a:t>
            </a:r>
            <a:r>
              <a:rPr lang="en-US" altLang="zh-TW" sz="2400" b="0" baseline="30000">
                <a:sym typeface="Symbol" panose="05050102010706020507" pitchFamily="18" charset="2"/>
              </a:rPr>
              <a:t>n</a:t>
            </a:r>
            <a:r>
              <a:rPr lang="en-US" altLang="zh-TW" sz="2400" b="0">
                <a:sym typeface="Symbol" panose="05050102010706020507" pitchFamily="18" charset="2"/>
              </a:rPr>
              <a:t>+n</a:t>
            </a:r>
            <a:r>
              <a:rPr lang="en-US" altLang="zh-TW" sz="2400" b="0" baseline="30000">
                <a:sym typeface="Symbol" panose="05050102010706020507" pitchFamily="18" charset="2"/>
              </a:rPr>
              <a:t>2</a:t>
            </a:r>
            <a:r>
              <a:rPr lang="en-US" altLang="zh-TW" sz="2400" b="0">
                <a:sym typeface="Symbol" panose="05050102010706020507" pitchFamily="18" charset="2"/>
              </a:rPr>
              <a:t> 7*2</a:t>
            </a:r>
            <a:r>
              <a:rPr lang="en-US" altLang="zh-TW" sz="2400" b="0" baseline="30000">
                <a:sym typeface="Symbol" panose="05050102010706020507" pitchFamily="18" charset="2"/>
              </a:rPr>
              <a:t>n</a:t>
            </a:r>
            <a:r>
              <a:rPr lang="en-US" altLang="zh-TW" sz="2400" b="0">
                <a:sym typeface="Symbol" panose="05050102010706020507" pitchFamily="18" charset="2"/>
              </a:rPr>
              <a:t> for n4 */</a:t>
            </a:r>
            <a:endParaRPr lang="en-US" altLang="zh-CN" sz="2400" b="0">
              <a:sym typeface="Symbol" panose="05050102010706020507" pitchFamily="18" charset="2"/>
            </a:endParaRPr>
          </a:p>
        </p:txBody>
      </p:sp>
      <p:sp>
        <p:nvSpPr>
          <p:cNvPr id="35846" name="矩形 35845"/>
          <p:cNvSpPr/>
          <p:nvPr/>
        </p:nvSpPr>
        <p:spPr>
          <a:xfrm>
            <a:off x="304800" y="2727325"/>
            <a:ext cx="796925" cy="5667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just">
              <a:lnSpc>
                <a:spcPct val="130000"/>
              </a:lnSpc>
              <a:spcBef>
                <a:spcPct val="10000"/>
              </a:spcBef>
            </a:pPr>
            <a:r>
              <a:rPr lang="zh-TW" altLang="en-US" sz="24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例：</a:t>
            </a:r>
            <a:endParaRPr lang="zh-CN" altLang="en-US" sz="2400" b="1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charRg st="46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charRg st="92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charRg st="138" end="1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>
                                            <p:txEl>
                                              <p:charRg st="183" end="2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/>
      <p:bldP spid="35845" grpId="0" uiExpand="1" build="p"/>
      <p:bldP spid="3584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推导大</a:t>
            </a:r>
            <a:r>
              <a:rPr lang="en-US" altLang="zh-CN" dirty="0"/>
              <a:t>O</a:t>
            </a:r>
            <a:r>
              <a:rPr lang="zh-CN" altLang="en-US" dirty="0"/>
              <a:t>阶的方法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T(n)=O(f(n) )= O(3n</a:t>
            </a:r>
            <a:r>
              <a:rPr lang="en-US" altLang="zh-CN" baseline="30000" dirty="0"/>
              <a:t>2</a:t>
            </a:r>
            <a:r>
              <a:rPr lang="en-US" altLang="zh-CN" dirty="0"/>
              <a:t>+n+5)=O(n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用常数</a:t>
            </a:r>
            <a:r>
              <a:rPr lang="en-US" altLang="zh-CN" dirty="0"/>
              <a:t>1</a:t>
            </a:r>
            <a:r>
              <a:rPr lang="zh-CN" altLang="en-US" dirty="0"/>
              <a:t>取代</a:t>
            </a:r>
            <a:r>
              <a:rPr lang="en-US" altLang="zh-CN" dirty="0"/>
              <a:t>f(n)</a:t>
            </a:r>
            <a:r>
              <a:rPr lang="zh-CN" altLang="en-US" dirty="0"/>
              <a:t>中的所有加法常数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只保留上一步结果中的最高阶项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如果最高阶项存在且系数不为</a:t>
            </a:r>
            <a:r>
              <a:rPr lang="en-US" altLang="zh-CN" dirty="0"/>
              <a:t>1</a:t>
            </a:r>
            <a:r>
              <a:rPr lang="zh-CN" altLang="en-US" dirty="0"/>
              <a:t>，将其系数改为</a:t>
            </a:r>
            <a:r>
              <a:rPr lang="en-US" altLang="zh-CN" dirty="0"/>
              <a:t>1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55650" y="692150"/>
            <a:ext cx="8208963" cy="6321731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O(1) 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：常量时间</a:t>
            </a:r>
            <a:endParaRPr lang="en-US" altLang="zh-C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(n)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 (n</a:t>
            </a:r>
            <a:r>
              <a:rPr lang="en-US" altLang="zh-CN" sz="3200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。。。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：多项式阶时间    </a:t>
            </a:r>
            <a:endParaRPr lang="en-US" altLang="zh-C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O(㏒n)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O(</a:t>
            </a:r>
            <a:r>
              <a:rPr lang="en-US" altLang="zh-CN" sz="32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n㏒n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：对数时间</a:t>
            </a:r>
            <a:endParaRPr lang="en-US" altLang="zh-C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O(2</a:t>
            </a:r>
            <a:r>
              <a:rPr lang="en-US" altLang="zh-CN" sz="3200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O(</a:t>
            </a:r>
            <a:r>
              <a:rPr lang="en-US" altLang="zh-CN" sz="32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altLang="zh-CN" sz="3200" baseline="30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：指数时间</a:t>
            </a:r>
            <a:endParaRPr lang="en-US" altLang="zh-C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10000"/>
              </a:lnSpc>
              <a:defRPr/>
            </a:pPr>
            <a:endParaRPr lang="en-US" altLang="zh-C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 &lt; log</a:t>
            </a:r>
            <a:r>
              <a:rPr lang="zh-CN" altLang="zh-CN" sz="28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&lt; n &lt; nlog</a:t>
            </a:r>
            <a:r>
              <a:rPr lang="zh-CN" altLang="zh-CN" sz="28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&lt; n</a:t>
            </a:r>
            <a:r>
              <a:rPr lang="zh-CN" altLang="zh-CN" sz="28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&lt; n</a:t>
            </a:r>
            <a:r>
              <a:rPr lang="zh-CN" altLang="zh-CN" sz="28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&lt; 2</a:t>
            </a:r>
            <a:r>
              <a:rPr lang="zh-CN" altLang="zh-CN" sz="28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zh-CN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&lt; 3</a:t>
            </a:r>
            <a:r>
              <a:rPr lang="zh-CN" altLang="zh-CN" sz="28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zh-CN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&lt; n!</a:t>
            </a:r>
            <a:endParaRPr lang="en-US" altLang="zh-C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10000"/>
              </a:lnSpc>
              <a:defRPr/>
            </a:pPr>
            <a:endParaRPr lang="en-US" altLang="zh-C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O(1)&lt;O(㏒n)&lt;O(n)&lt;O(</a:t>
            </a:r>
            <a:r>
              <a:rPr lang="en-US" altLang="zh-CN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n㏒n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)&lt;O(n</a:t>
            </a:r>
            <a:r>
              <a:rPr lang="en-US" altLang="zh-CN" sz="2800" baseline="2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)&lt;O(n</a:t>
            </a:r>
            <a:r>
              <a:rPr lang="en-US" altLang="zh-CN" sz="2800" baseline="2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&lt;</a:t>
            </a:r>
            <a:endParaRPr lang="en-US" altLang="zh-C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O(2</a:t>
            </a:r>
            <a:r>
              <a:rPr lang="en-US" altLang="zh-CN" sz="2800" baseline="3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)&lt;O(n!)&lt;O(</a:t>
            </a:r>
            <a:r>
              <a:rPr lang="en-US" altLang="zh-CN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altLang="zh-CN" sz="2800" baseline="36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altLang="zh-C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10000"/>
              </a:lnSpc>
              <a:defRPr/>
            </a:pPr>
            <a:endParaRPr lang="en-US" altLang="zh-C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10000"/>
              </a:lnSpc>
              <a:defRPr/>
            </a:pPr>
            <a:endParaRPr lang="en-US" altLang="zh-CN" sz="32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仿宋_GB2312" pitchFamily="49" charset="-122"/>
            </a:endParaRPr>
          </a:p>
          <a:p>
            <a:pPr eaLnBrk="1" hangingPunct="1">
              <a:lnSpc>
                <a:spcPct val="110000"/>
              </a:lnSpc>
              <a:defRPr/>
            </a:pPr>
            <a:endParaRPr lang="zh-CN" alt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75945" y="1307465"/>
            <a:ext cx="82397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GB" sz="2400" dirty="0">
                <a:sym typeface="+mn-ea"/>
              </a:rPr>
              <a:t>假如解决某问题有算法</a:t>
            </a:r>
            <a:r>
              <a:rPr lang="en-US" altLang="zh-CN" sz="2400" dirty="0">
                <a:sym typeface="+mn-ea"/>
              </a:rPr>
              <a:t>A</a:t>
            </a:r>
            <a:r>
              <a:rPr lang="zh-CN" altLang="en-US" sz="2400" dirty="0">
                <a:sym typeface="+mn-ea"/>
              </a:rPr>
              <a:t>和算法</a:t>
            </a:r>
            <a:r>
              <a:rPr lang="en-US" altLang="zh-CN" sz="2400" dirty="0">
                <a:sym typeface="+mn-ea"/>
              </a:rPr>
              <a:t>B</a:t>
            </a:r>
            <a:r>
              <a:rPr lang="zh-CN" altLang="en-US" sz="2400" dirty="0">
                <a:sym typeface="+mn-ea"/>
              </a:rPr>
              <a:t>两种方法，其中算法</a:t>
            </a:r>
            <a:r>
              <a:rPr lang="en-US" altLang="zh-CN" sz="2400" dirty="0">
                <a:sym typeface="+mn-ea"/>
              </a:rPr>
              <a:t>A</a:t>
            </a:r>
            <a:r>
              <a:rPr lang="zh-CN" altLang="en-US" sz="2400" dirty="0">
                <a:sym typeface="+mn-ea"/>
              </a:rPr>
              <a:t>需要操作次数为</a:t>
            </a:r>
            <a:r>
              <a:rPr lang="pt-BR" sz="2400" dirty="0">
                <a:sym typeface="+mn-ea"/>
              </a:rPr>
              <a:t>3n</a:t>
            </a:r>
            <a:r>
              <a:rPr lang="pt-BR" sz="2400" baseline="30000" dirty="0">
                <a:sym typeface="+mn-ea"/>
              </a:rPr>
              <a:t>2</a:t>
            </a:r>
            <a:r>
              <a:rPr lang="pt-BR" sz="2400" dirty="0">
                <a:sym typeface="+mn-ea"/>
              </a:rPr>
              <a:t> + 15n + 7</a:t>
            </a:r>
            <a:r>
              <a:rPr lang="zh-CN" altLang="pt-BR" sz="2400" dirty="0">
                <a:sym typeface="+mn-ea"/>
              </a:rPr>
              <a:t>，算法</a:t>
            </a:r>
            <a:r>
              <a:rPr lang="en-US" altLang="zh-CN" sz="2400" dirty="0">
                <a:sym typeface="+mn-ea"/>
              </a:rPr>
              <a:t>B</a:t>
            </a:r>
            <a:r>
              <a:rPr lang="zh-CN" altLang="en-US" sz="2400" dirty="0">
                <a:sym typeface="+mn-ea"/>
              </a:rPr>
              <a:t>需要次数为</a:t>
            </a:r>
            <a:r>
              <a:rPr lang="pt-BR" sz="2400" dirty="0">
                <a:sym typeface="+mn-ea"/>
              </a:rPr>
              <a:t>2n</a:t>
            </a:r>
            <a:r>
              <a:rPr lang="pt-BR" sz="2400" baseline="30000" dirty="0">
                <a:sym typeface="+mn-ea"/>
              </a:rPr>
              <a:t>3</a:t>
            </a:r>
            <a:r>
              <a:rPr lang="pt-BR" sz="2400" dirty="0">
                <a:sym typeface="+mn-ea"/>
              </a:rPr>
              <a:t> + n</a:t>
            </a:r>
            <a:r>
              <a:rPr lang="pt-BR" sz="2400" baseline="30000" dirty="0">
                <a:sym typeface="+mn-ea"/>
              </a:rPr>
              <a:t>2</a:t>
            </a:r>
            <a:r>
              <a:rPr lang="pt-BR" sz="2400" dirty="0">
                <a:sym typeface="+mn-ea"/>
              </a:rPr>
              <a:t> </a:t>
            </a:r>
            <a:r>
              <a:rPr lang="en-US" altLang="pt-BR" sz="2400" dirty="0">
                <a:sym typeface="+mn-ea"/>
              </a:rPr>
              <a:t>+</a:t>
            </a:r>
            <a:r>
              <a:rPr lang="pt-BR" sz="2400" dirty="0">
                <a:sym typeface="+mn-ea"/>
              </a:rPr>
              <a:t>n </a:t>
            </a:r>
            <a:r>
              <a:rPr lang="zh-CN" altLang="en-US" sz="2400" dirty="0">
                <a:sym typeface="+mn-ea"/>
              </a:rPr>
              <a:t>请问哪种算法更</a:t>
            </a:r>
            <a:r>
              <a:rPr lang="zh-CN" altLang="en-US" sz="2400" dirty="0">
                <a:sym typeface="+mn-ea"/>
              </a:rPr>
              <a:t>优？</a:t>
            </a:r>
            <a:endParaRPr lang="pt-BR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539750" y="2565400"/>
            <a:ext cx="81381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判断解决同一问题的不同算法，可以比较它们</a:t>
            </a:r>
            <a:r>
              <a:rPr lang="zh-CN" altLang="en-US" sz="2400">
                <a:solidFill>
                  <a:schemeClr val="tx2"/>
                </a:solidFill>
              </a:rPr>
              <a:t>时间复杂度</a:t>
            </a:r>
            <a:endParaRPr lang="zh-CN" altLang="en-US" sz="2400">
              <a:solidFill>
                <a:schemeClr val="tx2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8820" y="3169285"/>
            <a:ext cx="7813675" cy="2665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GB" sz="2400" dirty="0">
                <a:sym typeface="+mn-ea"/>
              </a:rPr>
              <a:t>算法</a:t>
            </a:r>
            <a:r>
              <a:rPr lang="en-US" altLang="zh-CN" sz="2400" dirty="0">
                <a:sym typeface="+mn-ea"/>
              </a:rPr>
              <a:t>A</a:t>
            </a:r>
            <a:r>
              <a:rPr lang="zh-CN" altLang="en-US" sz="2400" dirty="0">
                <a:sym typeface="+mn-ea"/>
              </a:rPr>
              <a:t>：原操作次数</a:t>
            </a:r>
            <a:r>
              <a:rPr lang="pt-BR" sz="2400" dirty="0">
                <a:sym typeface="+mn-ea"/>
              </a:rPr>
              <a:t>3n</a:t>
            </a:r>
            <a:r>
              <a:rPr lang="pt-BR" sz="2400" baseline="30000" dirty="0">
                <a:sym typeface="+mn-ea"/>
              </a:rPr>
              <a:t>2</a:t>
            </a:r>
            <a:r>
              <a:rPr lang="pt-BR" sz="2400" dirty="0">
                <a:sym typeface="+mn-ea"/>
              </a:rPr>
              <a:t> + 15n + 7	</a:t>
            </a:r>
            <a:r>
              <a:rPr lang="zh-CN" altLang="pt-BR" sz="2400" dirty="0">
                <a:sym typeface="+mn-ea"/>
              </a:rPr>
              <a:t>时间复杂度是</a:t>
            </a:r>
            <a:r>
              <a:rPr lang="pt-BR" sz="2400" dirty="0">
                <a:sym typeface="+mn-ea"/>
              </a:rPr>
              <a:t>O(n</a:t>
            </a:r>
            <a:r>
              <a:rPr lang="pt-BR" sz="2400" baseline="30000" dirty="0">
                <a:sym typeface="+mn-ea"/>
              </a:rPr>
              <a:t>2</a:t>
            </a:r>
            <a:r>
              <a:rPr lang="pt-BR" sz="2400" dirty="0">
                <a:sym typeface="+mn-ea"/>
              </a:rPr>
              <a:t>)</a:t>
            </a:r>
            <a:endParaRPr lang="en-GB" sz="2400" b="1" dirty="0"/>
          </a:p>
          <a:p>
            <a:pPr lvl="1"/>
            <a:r>
              <a:rPr lang="zh-CN" altLang="en-GB" sz="2400" dirty="0">
                <a:sym typeface="+mn-ea"/>
              </a:rPr>
              <a:t>存在常数</a:t>
            </a:r>
            <a:r>
              <a:rPr lang="en-GB" sz="2400" dirty="0">
                <a:sym typeface="+mn-ea"/>
              </a:rPr>
              <a:t>M=4 </a:t>
            </a:r>
            <a:r>
              <a:rPr lang="zh-CN" altLang="en-GB" sz="2400" dirty="0">
                <a:sym typeface="+mn-ea"/>
              </a:rPr>
              <a:t>和最小值</a:t>
            </a:r>
            <a:r>
              <a:rPr lang="en-GB" sz="2400" dirty="0">
                <a:sym typeface="+mn-ea"/>
              </a:rPr>
              <a:t>n</a:t>
            </a:r>
            <a:r>
              <a:rPr lang="en-GB" sz="2400" baseline="-25000" dirty="0">
                <a:sym typeface="+mn-ea"/>
              </a:rPr>
              <a:t>0</a:t>
            </a:r>
            <a:r>
              <a:rPr lang="en-GB" sz="2400" dirty="0">
                <a:sym typeface="+mn-ea"/>
              </a:rPr>
              <a:t>=16</a:t>
            </a:r>
            <a:r>
              <a:rPr lang="zh-CN" altLang="en-GB" sz="2400" dirty="0">
                <a:sym typeface="+mn-ea"/>
              </a:rPr>
              <a:t>使得</a:t>
            </a:r>
            <a:r>
              <a:rPr lang="en-GB" sz="2400" dirty="0">
                <a:sym typeface="+mn-ea"/>
              </a:rPr>
              <a:t>:</a:t>
            </a:r>
            <a:r>
              <a:rPr lang="pt-BR" sz="2400" dirty="0">
                <a:sym typeface="+mn-ea"/>
              </a:rPr>
              <a:t>3n</a:t>
            </a:r>
            <a:r>
              <a:rPr lang="pt-BR" sz="2400" baseline="30000" dirty="0">
                <a:sym typeface="+mn-ea"/>
              </a:rPr>
              <a:t>2</a:t>
            </a:r>
            <a:r>
              <a:rPr lang="pt-BR" sz="2400" dirty="0">
                <a:sym typeface="+mn-ea"/>
              </a:rPr>
              <a:t> + 15n + 7</a:t>
            </a:r>
            <a:r>
              <a:rPr lang="en-GB" sz="2400" dirty="0">
                <a:sym typeface="+mn-ea"/>
              </a:rPr>
              <a:t> ≤ 4</a:t>
            </a:r>
            <a:r>
              <a:rPr lang="pt-BR" sz="2400" dirty="0">
                <a:sym typeface="+mn-ea"/>
              </a:rPr>
              <a:t>n</a:t>
            </a:r>
            <a:r>
              <a:rPr lang="pt-BR" sz="2400" baseline="30000" dirty="0">
                <a:sym typeface="+mn-ea"/>
              </a:rPr>
              <a:t>2</a:t>
            </a:r>
            <a:r>
              <a:rPr lang="pt-BR" sz="2400" dirty="0">
                <a:sym typeface="+mn-ea"/>
              </a:rPr>
              <a:t> (1015 </a:t>
            </a:r>
            <a:r>
              <a:rPr lang="en-GB" sz="2400" dirty="0">
                <a:sym typeface="+mn-ea"/>
              </a:rPr>
              <a:t>≤ </a:t>
            </a:r>
            <a:r>
              <a:rPr lang="pt-BR" sz="2400" dirty="0">
                <a:sym typeface="+mn-ea"/>
              </a:rPr>
              <a:t>1024)</a:t>
            </a:r>
            <a:endParaRPr lang="en-GB" sz="2400" dirty="0"/>
          </a:p>
          <a:p>
            <a:pPr lvl="1"/>
            <a:endParaRPr lang="en-GB" sz="2400" dirty="0"/>
          </a:p>
          <a:p>
            <a:r>
              <a:rPr lang="zh-CN" altLang="en-GB" sz="2400" dirty="0">
                <a:sym typeface="+mn-ea"/>
              </a:rPr>
              <a:t>算法</a:t>
            </a:r>
            <a:r>
              <a:rPr lang="en-GB" sz="2400" dirty="0">
                <a:sym typeface="+mn-ea"/>
              </a:rPr>
              <a:t>B: </a:t>
            </a:r>
            <a:r>
              <a:rPr lang="zh-CN" altLang="en-GB" sz="2400" dirty="0">
                <a:sym typeface="+mn-ea"/>
              </a:rPr>
              <a:t>原操作次数</a:t>
            </a:r>
            <a:r>
              <a:rPr lang="pt-BR" sz="2400" dirty="0">
                <a:sym typeface="+mn-ea"/>
              </a:rPr>
              <a:t>2n</a:t>
            </a:r>
            <a:r>
              <a:rPr lang="pt-BR" sz="2400" baseline="30000" dirty="0">
                <a:sym typeface="+mn-ea"/>
              </a:rPr>
              <a:t>3</a:t>
            </a:r>
            <a:r>
              <a:rPr lang="pt-BR" sz="2400" dirty="0">
                <a:sym typeface="+mn-ea"/>
              </a:rPr>
              <a:t> + n</a:t>
            </a:r>
            <a:r>
              <a:rPr lang="pt-BR" sz="2400" baseline="30000" dirty="0">
                <a:sym typeface="+mn-ea"/>
              </a:rPr>
              <a:t>2</a:t>
            </a:r>
            <a:r>
              <a:rPr lang="pt-BR" sz="2400" dirty="0">
                <a:sym typeface="+mn-ea"/>
              </a:rPr>
              <a:t> </a:t>
            </a:r>
            <a:r>
              <a:rPr lang="en-US" altLang="pt-BR" sz="2400" dirty="0">
                <a:sym typeface="+mn-ea"/>
              </a:rPr>
              <a:t>+</a:t>
            </a:r>
            <a:r>
              <a:rPr lang="pt-BR" sz="2400" dirty="0">
                <a:sym typeface="+mn-ea"/>
              </a:rPr>
              <a:t>n</a:t>
            </a:r>
            <a:r>
              <a:rPr lang="en-US" altLang="pt-BR" sz="2400" dirty="0">
                <a:sym typeface="+mn-ea"/>
              </a:rPr>
              <a:t>,</a:t>
            </a:r>
            <a:r>
              <a:rPr lang="zh-CN" altLang="en-US" sz="2400" dirty="0">
                <a:sym typeface="+mn-ea"/>
              </a:rPr>
              <a:t>时间复杂度是</a:t>
            </a:r>
            <a:r>
              <a:rPr lang="pt-BR" sz="2400" dirty="0">
                <a:sym typeface="+mn-ea"/>
              </a:rPr>
              <a:t>O(n</a:t>
            </a:r>
            <a:r>
              <a:rPr lang="pt-BR" sz="2400" baseline="30000" dirty="0">
                <a:sym typeface="+mn-ea"/>
              </a:rPr>
              <a:t>3</a:t>
            </a:r>
            <a:r>
              <a:rPr lang="pt-BR" sz="2400" dirty="0">
                <a:sym typeface="+mn-ea"/>
              </a:rPr>
              <a:t>)</a:t>
            </a:r>
            <a:endParaRPr lang="pt-BR" sz="2400" b="1" dirty="0"/>
          </a:p>
          <a:p>
            <a:pPr lvl="1"/>
            <a:r>
              <a:rPr lang="zh-CN" altLang="en-GB" sz="2400" dirty="0">
                <a:sym typeface="+mn-ea"/>
              </a:rPr>
              <a:t>存在常数</a:t>
            </a:r>
            <a:r>
              <a:rPr lang="en-GB" sz="2400" dirty="0">
                <a:sym typeface="+mn-ea"/>
              </a:rPr>
              <a:t> M=3 </a:t>
            </a:r>
            <a:r>
              <a:rPr lang="zh-CN" altLang="en-GB" sz="2400" dirty="0">
                <a:sym typeface="+mn-ea"/>
              </a:rPr>
              <a:t>和最小值</a:t>
            </a:r>
            <a:r>
              <a:rPr lang="en-GB" sz="2400" dirty="0">
                <a:sym typeface="+mn-ea"/>
              </a:rPr>
              <a:t> n</a:t>
            </a:r>
            <a:r>
              <a:rPr lang="en-GB" sz="2400" baseline="-25000" dirty="0">
                <a:sym typeface="+mn-ea"/>
              </a:rPr>
              <a:t>0</a:t>
            </a:r>
            <a:r>
              <a:rPr lang="en-GB" sz="2400" dirty="0">
                <a:sym typeface="+mn-ea"/>
              </a:rPr>
              <a:t>=</a:t>
            </a:r>
            <a:r>
              <a:rPr lang="en-US" altLang="en-GB" sz="2400" dirty="0">
                <a:sym typeface="+mn-ea"/>
              </a:rPr>
              <a:t>4</a:t>
            </a:r>
            <a:r>
              <a:rPr lang="en-GB" sz="2400" dirty="0">
                <a:sym typeface="+mn-ea"/>
              </a:rPr>
              <a:t> </a:t>
            </a:r>
            <a:r>
              <a:rPr lang="zh-CN" altLang="en-GB" sz="2400" dirty="0">
                <a:sym typeface="+mn-ea"/>
              </a:rPr>
              <a:t>使得</a:t>
            </a:r>
            <a:r>
              <a:rPr lang="en-GB" sz="2400" dirty="0">
                <a:sym typeface="+mn-ea"/>
              </a:rPr>
              <a:t>:</a:t>
            </a:r>
            <a:endParaRPr lang="en-GB" sz="2400" dirty="0"/>
          </a:p>
          <a:p>
            <a:pPr lvl="1"/>
            <a:r>
              <a:rPr lang="pt-BR" sz="2400" dirty="0">
                <a:sym typeface="+mn-ea"/>
              </a:rPr>
              <a:t>2n</a:t>
            </a:r>
            <a:r>
              <a:rPr lang="pt-BR" sz="2400" baseline="30000" dirty="0">
                <a:sym typeface="+mn-ea"/>
              </a:rPr>
              <a:t>3</a:t>
            </a:r>
            <a:r>
              <a:rPr lang="pt-BR" sz="2400" dirty="0">
                <a:sym typeface="+mn-ea"/>
              </a:rPr>
              <a:t> + n</a:t>
            </a:r>
            <a:r>
              <a:rPr lang="pt-BR" sz="2400" baseline="30000" dirty="0">
                <a:sym typeface="+mn-ea"/>
              </a:rPr>
              <a:t>2</a:t>
            </a:r>
            <a:r>
              <a:rPr lang="pt-BR" sz="2400" dirty="0">
                <a:sym typeface="+mn-ea"/>
              </a:rPr>
              <a:t> </a:t>
            </a:r>
            <a:r>
              <a:rPr lang="en-US" altLang="pt-BR" sz="2400" dirty="0">
                <a:sym typeface="+mn-ea"/>
              </a:rPr>
              <a:t>+</a:t>
            </a:r>
            <a:r>
              <a:rPr lang="pt-BR" sz="2400" dirty="0">
                <a:sym typeface="+mn-ea"/>
              </a:rPr>
              <a:t>n</a:t>
            </a:r>
            <a:r>
              <a:rPr lang="en-GB" sz="2400" dirty="0">
                <a:sym typeface="+mn-ea"/>
              </a:rPr>
              <a:t> ≤ 3</a:t>
            </a:r>
            <a:r>
              <a:rPr lang="pt-BR" sz="2400" dirty="0">
                <a:sym typeface="+mn-ea"/>
              </a:rPr>
              <a:t>n</a:t>
            </a:r>
            <a:r>
              <a:rPr lang="pt-BR" sz="2400" baseline="30000" dirty="0">
                <a:sym typeface="+mn-ea"/>
              </a:rPr>
              <a:t>3</a:t>
            </a:r>
            <a:r>
              <a:rPr lang="pt-BR" sz="2400" dirty="0">
                <a:sym typeface="+mn-ea"/>
              </a:rPr>
              <a:t> (</a:t>
            </a:r>
            <a:r>
              <a:rPr lang="en-US" sz="2400" dirty="0">
                <a:sym typeface="+mn-ea"/>
              </a:rPr>
              <a:t>115</a:t>
            </a:r>
            <a:r>
              <a:rPr lang="en-GB" sz="2400" dirty="0">
                <a:sym typeface="+mn-ea"/>
              </a:rPr>
              <a:t>≤ </a:t>
            </a:r>
            <a:r>
              <a:rPr lang="en-US" altLang="pt-BR" sz="2400" dirty="0">
                <a:sym typeface="+mn-ea"/>
              </a:rPr>
              <a:t>148</a:t>
            </a:r>
            <a:r>
              <a:rPr lang="pt-BR" sz="2400" dirty="0">
                <a:sym typeface="+mn-ea"/>
              </a:rPr>
              <a:t>)</a:t>
            </a:r>
            <a:endParaRPr lang="pt-BR" sz="2400" dirty="0"/>
          </a:p>
          <a:p>
            <a:endParaRPr lang="pt-BR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1411605" y="5978525"/>
            <a:ext cx="61398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O(n</a:t>
            </a:r>
            <a:r>
              <a:rPr lang="en-US" altLang="zh-CN" sz="3200" baseline="2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2</a:t>
            </a:r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)&lt;O(n</a:t>
            </a:r>
            <a:r>
              <a:rPr lang="en-US" altLang="zh-CN" sz="3200" baseline="2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3</a:t>
            </a:r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)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，故算法</a:t>
            </a:r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A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优于算法</a:t>
            </a:r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B</a:t>
            </a:r>
            <a:endParaRPr lang="en-US" altLang="zh-C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  <p:bldP spid="5" grpId="0"/>
      <p:bldP spid="5" grpId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985" y="476672"/>
            <a:ext cx="8419019" cy="281137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4227437"/>
            <a:ext cx="8503982" cy="143381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15616" y="3403800"/>
            <a:ext cx="4820550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T(n) = O(f(n)) = O(n)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115616" y="5791471"/>
            <a:ext cx="48205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T(n) = O(f(n)) = O(1)</a:t>
            </a:r>
            <a:endParaRPr lang="zh-CN" altLang="en-US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84" y="836712"/>
            <a:ext cx="7772400" cy="417255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87624" y="5517232"/>
            <a:ext cx="50770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T(n) = O(f(n)) = O(n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55650" y="692150"/>
            <a:ext cx="8208963" cy="679831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算法步骤可以分为顺序、选择和循环三种流程。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10000"/>
              </a:lnSpc>
              <a:defRPr/>
            </a:pP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在计算时间复杂度时，对于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顺序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结构，使用加法原则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Clr>
                <a:srgbClr val="800080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lang="zh-CN" altLang="zh-CN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T(</a:t>
            </a:r>
            <a:r>
              <a:rPr lang="zh-CN" altLang="zh-CN" sz="2800" i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n</a:t>
            </a:r>
            <a:r>
              <a:rPr lang="zh-CN" altLang="zh-CN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, </a:t>
            </a:r>
            <a:r>
              <a:rPr lang="zh-CN" altLang="zh-CN" sz="2800" i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m</a:t>
            </a:r>
            <a:r>
              <a:rPr lang="zh-CN" altLang="zh-CN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)  = T</a:t>
            </a:r>
            <a:r>
              <a:rPr lang="zh-CN" altLang="zh-CN" sz="2800" baseline="-250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1</a:t>
            </a:r>
            <a:r>
              <a:rPr lang="zh-CN" altLang="zh-CN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 (</a:t>
            </a:r>
            <a:r>
              <a:rPr lang="zh-CN" altLang="zh-CN" sz="2800" i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n</a:t>
            </a:r>
            <a:r>
              <a:rPr lang="zh-CN" altLang="zh-CN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) + T</a:t>
            </a:r>
            <a:r>
              <a:rPr lang="zh-CN" altLang="zh-CN" sz="2800" baseline="-250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2</a:t>
            </a:r>
            <a:r>
              <a:rPr lang="zh-CN" altLang="zh-CN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 (</a:t>
            </a:r>
            <a:r>
              <a:rPr lang="zh-CN" altLang="zh-CN" sz="2800" i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m</a:t>
            </a:r>
            <a:r>
              <a:rPr lang="zh-CN" altLang="zh-CN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)	</a:t>
            </a:r>
            <a:endParaRPr lang="zh-CN" altLang="zh-CN" sz="2800" dirty="0">
              <a:solidFill>
                <a:srgbClr val="CC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仿宋_GB2312" pitchFamily="49" charset="-122"/>
            </a:endParaRPr>
          </a:p>
          <a:p>
            <a:pPr eaLnBrk="1" hangingPunct="1">
              <a:buClr>
                <a:srgbClr val="800080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lang="zh-CN" altLang="zh-CN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    	  	    = O(max (</a:t>
            </a:r>
            <a:r>
              <a:rPr lang="zh-CN" altLang="zh-CN" sz="2800" i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f</a:t>
            </a:r>
            <a:r>
              <a:rPr lang="zh-CN" altLang="zh-CN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 (</a:t>
            </a:r>
            <a:r>
              <a:rPr lang="zh-CN" altLang="zh-CN" sz="2800" i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n</a:t>
            </a:r>
            <a:r>
              <a:rPr lang="zh-CN" altLang="zh-CN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), </a:t>
            </a:r>
            <a:r>
              <a:rPr lang="zh-CN" altLang="zh-CN" sz="2800" i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g</a:t>
            </a:r>
            <a:r>
              <a:rPr lang="zh-CN" altLang="zh-CN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 (</a:t>
            </a:r>
            <a:r>
              <a:rPr lang="zh-CN" altLang="zh-CN" sz="2800" i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m</a:t>
            </a:r>
            <a:r>
              <a:rPr lang="zh-CN" altLang="zh-CN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)))</a:t>
            </a:r>
            <a:endParaRPr lang="zh-CN" altLang="zh-CN" sz="2800" dirty="0">
              <a:solidFill>
                <a:srgbClr val="CC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仿宋_GB2312" pitchFamily="49" charset="-122"/>
              <a:sym typeface="+mn-ea"/>
            </a:endParaRPr>
          </a:p>
          <a:p>
            <a:pPr eaLnBrk="1" hangingPunct="1">
              <a:buClr>
                <a:srgbClr val="800080"/>
              </a:buClr>
              <a:buSzPct val="55000"/>
              <a:buFont typeface="Wingdings" panose="05000000000000000000" pitchFamily="2" charset="2"/>
              <a:buNone/>
              <a:defRPr/>
            </a:pPr>
            <a:endParaRPr lang="zh-CN" altLang="zh-CN" sz="2800" dirty="0">
              <a:solidFill>
                <a:srgbClr val="CC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仿宋_GB2312" pitchFamily="49" charset="-122"/>
              <a:sym typeface="+mn-ea"/>
            </a:endParaRPr>
          </a:p>
          <a:p>
            <a:pPr algn="l" eaLnBrk="1" hangingPunct="1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对于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循环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结构，使用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乘法原则</a:t>
            </a:r>
            <a:endParaRPr lang="zh-CN" alt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algn="l" eaLnBrk="1" hangingPunct="1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lang="zh-CN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         </a:t>
            </a:r>
            <a:r>
              <a:rPr lang="zh-CN" altLang="zh-CN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T (</a:t>
            </a:r>
            <a:r>
              <a:rPr lang="zh-CN" altLang="zh-CN" sz="2800" i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n</a:t>
            </a:r>
            <a:r>
              <a:rPr lang="zh-CN" altLang="zh-CN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, </a:t>
            </a:r>
            <a:r>
              <a:rPr lang="zh-CN" altLang="zh-CN" sz="2800" i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m</a:t>
            </a:r>
            <a:r>
              <a:rPr lang="zh-CN" altLang="zh-CN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) = T</a:t>
            </a:r>
            <a:r>
              <a:rPr lang="zh-CN" altLang="zh-CN" sz="2800" baseline="-250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1</a:t>
            </a:r>
            <a:r>
              <a:rPr lang="zh-CN" altLang="zh-CN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 (</a:t>
            </a:r>
            <a:r>
              <a:rPr lang="zh-CN" altLang="zh-CN" sz="2800" i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n</a:t>
            </a:r>
            <a:r>
              <a:rPr lang="zh-CN" altLang="zh-CN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) * T</a:t>
            </a:r>
            <a:r>
              <a:rPr lang="zh-CN" altLang="zh-CN" sz="2800" baseline="-250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2</a:t>
            </a:r>
            <a:r>
              <a:rPr lang="zh-CN" altLang="zh-CN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 (</a:t>
            </a:r>
            <a:r>
              <a:rPr lang="zh-CN" altLang="zh-CN" sz="2800" i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m</a:t>
            </a:r>
            <a:r>
              <a:rPr lang="zh-CN" altLang="zh-CN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)</a:t>
            </a:r>
            <a:br>
              <a:rPr lang="zh-CN" altLang="zh-CN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</a:br>
            <a:r>
              <a:rPr lang="zh-CN" altLang="zh-CN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		    = O(</a:t>
            </a:r>
            <a:r>
              <a:rPr lang="zh-CN" altLang="zh-CN" sz="2800" i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f</a:t>
            </a:r>
            <a:r>
              <a:rPr lang="zh-CN" altLang="zh-CN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 (</a:t>
            </a:r>
            <a:r>
              <a:rPr lang="zh-CN" altLang="zh-CN" sz="2800" i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n</a:t>
            </a:r>
            <a:r>
              <a:rPr lang="zh-CN" altLang="zh-CN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)*</a:t>
            </a:r>
            <a:r>
              <a:rPr lang="zh-CN" altLang="zh-CN" sz="2800" i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g</a:t>
            </a:r>
            <a:r>
              <a:rPr lang="zh-CN" altLang="zh-CN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 (</a:t>
            </a:r>
            <a:r>
              <a:rPr lang="zh-CN" altLang="zh-CN" sz="2800" i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m</a:t>
            </a:r>
            <a:r>
              <a:rPr lang="zh-CN" altLang="zh-CN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  <a:sym typeface="+mn-ea"/>
              </a:rPr>
              <a:t>))</a:t>
            </a:r>
            <a:endParaRPr lang="en-US" altLang="zh-CN" sz="2800" dirty="0">
              <a:solidFill>
                <a:srgbClr val="CC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仿宋_GB2312" pitchFamily="49" charset="-122"/>
            </a:endParaRPr>
          </a:p>
          <a:p>
            <a:pPr algn="l" eaLnBrk="1" hangingPunct="1">
              <a:lnSpc>
                <a:spcPct val="110000"/>
              </a:lnSpc>
              <a:buClrTx/>
              <a:buSzTx/>
              <a:buFontTx/>
              <a:buNone/>
              <a:defRPr/>
            </a:pP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10000"/>
              </a:lnSpc>
              <a:defRPr/>
            </a:pPr>
            <a:endParaRPr lang="en-US" altLang="zh-C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10000"/>
              </a:lnSpc>
              <a:defRPr/>
            </a:pPr>
            <a:endParaRPr lang="en-US" altLang="zh-CN" sz="32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仿宋_GB2312" pitchFamily="49" charset="-122"/>
            </a:endParaRPr>
          </a:p>
          <a:p>
            <a:pPr eaLnBrk="1" hangingPunct="1">
              <a:lnSpc>
                <a:spcPct val="110000"/>
              </a:lnSpc>
              <a:defRPr/>
            </a:pPr>
            <a:endParaRPr lang="zh-CN" alt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55650" y="692150"/>
            <a:ext cx="8208963" cy="57518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lvl="1" indent="0">
              <a:buNone/>
            </a:pPr>
            <a:r>
              <a:rPr lang="zh-CN" altLang="en-GB" sz="3200" dirty="0">
                <a:sym typeface="+mn-ea"/>
              </a:rPr>
              <a:t>例：顺序操作序列</a:t>
            </a:r>
            <a:endParaRPr lang="en-GB" sz="3200" dirty="0">
              <a:sym typeface="+mn-ea"/>
            </a:endParaRPr>
          </a:p>
          <a:p>
            <a:pPr marL="457200" lvl="1" indent="0">
              <a:buNone/>
            </a:pPr>
            <a:r>
              <a:rPr lang="en-GB" sz="3200" dirty="0">
                <a:sym typeface="+mn-ea"/>
              </a:rPr>
              <a:t>int i = 2;					// O(1)</a:t>
            </a:r>
            <a:endParaRPr lang="en-GB" sz="3200" dirty="0"/>
          </a:p>
          <a:p>
            <a:pPr marL="457200" lvl="1" indent="0">
              <a:buNone/>
            </a:pPr>
            <a:r>
              <a:rPr lang="en-GB" sz="3200" dirty="0">
                <a:sym typeface="+mn-ea"/>
              </a:rPr>
              <a:t>int j = 5; 					// O(1)</a:t>
            </a:r>
            <a:endParaRPr lang="en-GB" sz="3200" dirty="0"/>
          </a:p>
          <a:p>
            <a:pPr marL="457200" lvl="1" indent="0">
              <a:buNone/>
            </a:pPr>
            <a:r>
              <a:rPr lang="en-GB" sz="3200" dirty="0">
                <a:sym typeface="+mn-ea"/>
              </a:rPr>
              <a:t>i *= 10; 					// O(1)</a:t>
            </a:r>
            <a:endParaRPr lang="en-GB" sz="3200" dirty="0"/>
          </a:p>
          <a:p>
            <a:pPr marL="457200" lvl="1" indent="0">
              <a:buNone/>
            </a:pPr>
            <a:r>
              <a:rPr lang="en-GB" sz="3200" dirty="0">
                <a:sym typeface="+mn-ea"/>
              </a:rPr>
              <a:t>int k = i + j; 					// O(1)</a:t>
            </a:r>
            <a:endParaRPr lang="en-GB" sz="3200" dirty="0"/>
          </a:p>
          <a:p>
            <a:pPr marL="457200" lvl="1" indent="0">
              <a:buNone/>
            </a:pPr>
            <a:r>
              <a:rPr lang="en-GB" sz="3200" dirty="0">
                <a:sym typeface="+mn-ea"/>
              </a:rPr>
              <a:t>k = i * j * k; 					// O(1)</a:t>
            </a:r>
            <a:endParaRPr lang="en-GB" sz="3200" dirty="0"/>
          </a:p>
          <a:p>
            <a:pPr eaLnBrk="1" hangingPunct="1">
              <a:lnSpc>
                <a:spcPct val="110000"/>
              </a:lnSpc>
              <a:defRPr/>
            </a:pPr>
            <a:endParaRPr lang="en-US" altLang="zh-C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时间复杂度为</a:t>
            </a:r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O(max(O(1),</a:t>
            </a:r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O(1),O(1),O(1),O(1)) = O(1)</a:t>
            </a:r>
            <a:endParaRPr lang="en-US" altLang="zh-C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10000"/>
              </a:lnSpc>
              <a:defRPr/>
            </a:pPr>
            <a:endParaRPr lang="en-US" altLang="zh-CN" sz="32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仿宋_GB2312" pitchFamily="49" charset="-122"/>
            </a:endParaRPr>
          </a:p>
          <a:p>
            <a:pPr eaLnBrk="1" hangingPunct="1">
              <a:lnSpc>
                <a:spcPct val="110000"/>
              </a:lnSpc>
              <a:defRPr/>
            </a:pPr>
            <a:endParaRPr lang="zh-CN" alt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55650" y="692150"/>
            <a:ext cx="8208963" cy="64928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US" altLang="en-GB" sz="3200" dirty="0">
                <a:sym typeface="+mn-ea"/>
              </a:rPr>
              <a:t>void func(n){</a:t>
            </a:r>
            <a:endParaRPr lang="en-US" altLang="en-GB" sz="3200" dirty="0">
              <a:sym typeface="+mn-ea"/>
            </a:endParaRPr>
          </a:p>
          <a:p>
            <a:pPr marL="457200" lvl="1" indent="0">
              <a:buNone/>
            </a:pPr>
            <a:r>
              <a:rPr lang="en-GB" sz="3200" dirty="0">
                <a:sym typeface="+mn-ea"/>
              </a:rPr>
              <a:t>int sum = 0, count = 1;  </a:t>
            </a:r>
            <a:r>
              <a:rPr lang="en-US" altLang="en-GB" sz="3200" dirty="0">
                <a:sym typeface="+mn-ea"/>
              </a:rPr>
              <a:t>                    </a:t>
            </a:r>
            <a:r>
              <a:rPr lang="en-GB" sz="3200" dirty="0">
                <a:sym typeface="+mn-ea"/>
              </a:rPr>
              <a:t>// O(1)</a:t>
            </a:r>
            <a:endParaRPr lang="en-GB" sz="3200" dirty="0"/>
          </a:p>
          <a:p>
            <a:pPr marL="457200" lvl="1" indent="0">
              <a:buNone/>
            </a:pPr>
            <a:r>
              <a:rPr lang="en-GB" sz="3200" dirty="0">
                <a:sym typeface="+mn-ea"/>
              </a:rPr>
              <a:t>while (count &lt;= n) {</a:t>
            </a:r>
            <a:r>
              <a:rPr lang="en-US" altLang="en-GB" sz="3200" dirty="0">
                <a:sym typeface="+mn-ea"/>
              </a:rPr>
              <a:t>                   //O(n)          </a:t>
            </a:r>
            <a:endParaRPr lang="en-GB" sz="3200" dirty="0"/>
          </a:p>
          <a:p>
            <a:pPr marL="457200" lvl="1" indent="0">
              <a:buNone/>
            </a:pPr>
            <a:r>
              <a:rPr lang="en-GB" sz="3200" dirty="0">
                <a:sym typeface="+mn-ea"/>
              </a:rPr>
              <a:t>    sum = sum + count; </a:t>
            </a:r>
            <a:r>
              <a:rPr lang="en-US" altLang="en-GB" sz="3200" dirty="0">
                <a:sym typeface="+mn-ea"/>
              </a:rPr>
              <a:t>              </a:t>
            </a:r>
            <a:r>
              <a:rPr lang="en-GB" sz="3200" dirty="0">
                <a:sym typeface="+mn-ea"/>
              </a:rPr>
              <a:t>// O(1)</a:t>
            </a:r>
            <a:endParaRPr lang="en-GB" sz="3200" dirty="0"/>
          </a:p>
          <a:p>
            <a:pPr marL="457200" lvl="1" indent="0">
              <a:buNone/>
            </a:pPr>
            <a:r>
              <a:rPr lang="en-GB" sz="3200" dirty="0">
                <a:sym typeface="+mn-ea"/>
              </a:rPr>
              <a:t>    count++; </a:t>
            </a:r>
            <a:r>
              <a:rPr lang="en-US" altLang="en-GB" sz="3200" dirty="0">
                <a:sym typeface="+mn-ea"/>
              </a:rPr>
              <a:t>                              </a:t>
            </a:r>
            <a:r>
              <a:rPr lang="en-GB" sz="3200" dirty="0">
                <a:sym typeface="+mn-ea"/>
              </a:rPr>
              <a:t>// O(1)</a:t>
            </a:r>
            <a:endParaRPr lang="en-GB" sz="3200" dirty="0"/>
          </a:p>
          <a:p>
            <a:pPr marL="457200" lvl="1" indent="0">
              <a:buNone/>
            </a:pPr>
            <a:r>
              <a:rPr lang="en-GB" sz="3200" dirty="0">
                <a:sym typeface="+mn-ea"/>
              </a:rPr>
              <a:t>}</a:t>
            </a:r>
            <a:endParaRPr lang="en-GB" sz="3200" dirty="0">
              <a:sym typeface="+mn-ea"/>
            </a:endParaRPr>
          </a:p>
          <a:p>
            <a:pPr marL="457200" lvl="1" indent="0">
              <a:buNone/>
            </a:pPr>
            <a:r>
              <a:rPr lang="en-US" altLang="en-GB" sz="3200" dirty="0">
                <a:sym typeface="+mn-ea"/>
              </a:rPr>
              <a:t>return sum;                            </a:t>
            </a:r>
            <a:r>
              <a:rPr lang="en-GB" sz="3200" dirty="0">
                <a:sym typeface="+mn-ea"/>
              </a:rPr>
              <a:t>// O(1)</a:t>
            </a:r>
            <a:endParaRPr lang="en-GB" sz="3200" dirty="0">
              <a:sym typeface="+mn-ea"/>
            </a:endParaRPr>
          </a:p>
          <a:p>
            <a:pPr marL="0" indent="0">
              <a:buNone/>
            </a:pPr>
            <a:r>
              <a:rPr lang="en-US" altLang="en-GB" sz="3200" dirty="0">
                <a:sym typeface="+mn-ea"/>
              </a:rPr>
              <a:t>}</a:t>
            </a:r>
            <a:endParaRPr lang="en-US" altLang="en-GB" sz="3200" dirty="0">
              <a:sym typeface="+mn-ea"/>
            </a:endParaRPr>
          </a:p>
          <a:p>
            <a:pPr marL="0" indent="0">
              <a:buNone/>
            </a:pPr>
            <a:endParaRPr lang="en-GB" sz="3200" dirty="0"/>
          </a:p>
          <a:p>
            <a:pPr marL="0" indent="0">
              <a:buNone/>
            </a:pP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时间复杂度为</a:t>
            </a:r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O(max(O(1),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O(O(n)*O(1))</a:t>
            </a:r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,O(1)) = O(n)</a:t>
            </a:r>
            <a:endParaRPr lang="en-US" altLang="zh-C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zh-CN" alt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zh-C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55650" y="692150"/>
            <a:ext cx="8208963" cy="387921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计算时间复杂度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时，选择结构可以认为是顺序结构的特例</a:t>
            </a:r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altLang="zh-C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10000"/>
              </a:lnSpc>
              <a:defRPr/>
            </a:pPr>
            <a:endParaRPr lang="en-US" altLang="zh-C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在算法被实际执行前，无法实现判断选择结构的哪个分值被执行，所有需要计算所有分值的时间复杂度，取所有分值时间复杂度的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最大值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为整体时间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复杂度。</a:t>
            </a:r>
            <a:endParaRPr lang="zh-CN" alt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55650" y="692150"/>
            <a:ext cx="8208963" cy="462089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</a:t>
            </a:r>
            <a:endParaRPr lang="zh-CN" alt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GB" sz="3200" dirty="0">
                <a:sym typeface="+mn-ea"/>
              </a:rPr>
              <a:t>if (A) {	//  O(f)</a:t>
            </a:r>
            <a:endParaRPr lang="en-GB" sz="3200" dirty="0"/>
          </a:p>
          <a:p>
            <a:pPr marL="0" indent="0">
              <a:buNone/>
            </a:pPr>
            <a:r>
              <a:rPr lang="en-GB" sz="3200" dirty="0">
                <a:sym typeface="+mn-ea"/>
              </a:rPr>
              <a:t>    B;		// O(g)</a:t>
            </a:r>
            <a:endParaRPr lang="en-GB" sz="3200" dirty="0"/>
          </a:p>
          <a:p>
            <a:pPr marL="0" indent="0">
              <a:buNone/>
            </a:pPr>
            <a:r>
              <a:rPr lang="en-GB" sz="3200" dirty="0">
                <a:sym typeface="+mn-ea"/>
              </a:rPr>
              <a:t>} else {</a:t>
            </a:r>
            <a:endParaRPr lang="en-GB" sz="3200" dirty="0"/>
          </a:p>
          <a:p>
            <a:pPr marL="0" indent="0">
              <a:buNone/>
            </a:pPr>
            <a:r>
              <a:rPr lang="en-GB" sz="3200" dirty="0">
                <a:sym typeface="+mn-ea"/>
              </a:rPr>
              <a:t>    C;		//  O(h)</a:t>
            </a:r>
            <a:endParaRPr lang="en-GB" sz="3200" dirty="0"/>
          </a:p>
          <a:p>
            <a:pPr marL="0" indent="0">
              <a:buNone/>
            </a:pPr>
            <a:r>
              <a:rPr lang="en-GB" sz="3200" dirty="0">
                <a:sym typeface="+mn-ea"/>
              </a:rPr>
              <a:t>}</a:t>
            </a:r>
            <a:endParaRPr lang="en-GB" sz="3200" dirty="0">
              <a:sym typeface="+mn-ea"/>
            </a:endParaRPr>
          </a:p>
          <a:p>
            <a:pPr marL="0" indent="0">
              <a:buNone/>
            </a:pPr>
            <a:endParaRPr lang="en-GB" sz="3200" dirty="0"/>
          </a:p>
          <a:p>
            <a:pPr marL="0" indent="0">
              <a:buNone/>
            </a:pPr>
            <a:r>
              <a:rPr lang="zh-CN" altLang="en-GB" sz="3200" dirty="0">
                <a:sym typeface="+mn-ea"/>
              </a:rPr>
              <a:t>时间复杂度</a:t>
            </a:r>
            <a:r>
              <a:rPr lang="en-GB" sz="3200" dirty="0">
                <a:sym typeface="+mn-ea"/>
              </a:rPr>
              <a:t> O(max(f, g, h))</a:t>
            </a:r>
            <a:endParaRPr lang="en-GB" sz="3200" dirty="0"/>
          </a:p>
          <a:p>
            <a:pPr eaLnBrk="1" hangingPunct="1">
              <a:lnSpc>
                <a:spcPct val="110000"/>
              </a:lnSpc>
              <a:defRPr/>
            </a:pPr>
            <a:endParaRPr lang="zh-CN" alt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55650" y="692150"/>
            <a:ext cx="8208963" cy="614680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GB" sz="3200" dirty="0">
                <a:sym typeface="+mn-ea"/>
              </a:rPr>
              <a:t>The complexity of</a:t>
            </a:r>
            <a:endParaRPr lang="en-GB" sz="3200" dirty="0"/>
          </a:p>
          <a:p>
            <a:pPr marL="0" indent="0">
              <a:buNone/>
            </a:pPr>
            <a:r>
              <a:rPr lang="en-GB" sz="3200" dirty="0">
                <a:sym typeface="+mn-ea"/>
              </a:rPr>
              <a:t>if (A) {		//  O(1)</a:t>
            </a:r>
            <a:endParaRPr lang="en-GB" sz="3200" dirty="0"/>
          </a:p>
          <a:p>
            <a:pPr marL="0" indent="0">
              <a:buNone/>
            </a:pPr>
            <a:r>
              <a:rPr lang="en-GB" sz="3200" dirty="0">
                <a:sym typeface="+mn-ea"/>
              </a:rPr>
              <a:t>    B;			//  O(</a:t>
            </a:r>
            <a:r>
              <a:rPr lang="en-GB" sz="3200" dirty="0" err="1">
                <a:sym typeface="+mn-ea"/>
              </a:rPr>
              <a:t>logn</a:t>
            </a:r>
            <a:r>
              <a:rPr lang="en-GB" sz="3200" dirty="0">
                <a:sym typeface="+mn-ea"/>
              </a:rPr>
              <a:t>)</a:t>
            </a:r>
            <a:endParaRPr lang="en-GB" sz="3200" dirty="0"/>
          </a:p>
          <a:p>
            <a:pPr marL="0" indent="0">
              <a:buNone/>
            </a:pPr>
            <a:r>
              <a:rPr lang="en-GB" sz="3200" dirty="0">
                <a:sym typeface="+mn-ea"/>
              </a:rPr>
              <a:t>} else if (C) {	// O(1)</a:t>
            </a:r>
            <a:endParaRPr lang="en-GB" sz="3200" dirty="0"/>
          </a:p>
          <a:p>
            <a:pPr marL="0" indent="0">
              <a:buNone/>
            </a:pPr>
            <a:r>
              <a:rPr lang="en-GB" sz="3200" dirty="0">
                <a:sym typeface="+mn-ea"/>
              </a:rPr>
              <a:t>    D;			// O(n</a:t>
            </a:r>
            <a:r>
              <a:rPr lang="en-GB" sz="3200" baseline="30000" dirty="0">
                <a:sym typeface="+mn-ea"/>
              </a:rPr>
              <a:t>2</a:t>
            </a:r>
            <a:r>
              <a:rPr lang="en-GB" sz="3200" dirty="0">
                <a:sym typeface="+mn-ea"/>
              </a:rPr>
              <a:t>)</a:t>
            </a:r>
            <a:endParaRPr lang="en-GB" sz="3200" dirty="0"/>
          </a:p>
          <a:p>
            <a:pPr marL="0" indent="0">
              <a:buNone/>
            </a:pPr>
            <a:r>
              <a:rPr lang="en-GB" sz="3200" dirty="0">
                <a:sym typeface="+mn-ea"/>
              </a:rPr>
              <a:t>} else {</a:t>
            </a:r>
            <a:endParaRPr lang="en-GB" sz="3200" dirty="0"/>
          </a:p>
          <a:p>
            <a:pPr marL="0" indent="0">
              <a:buNone/>
            </a:pPr>
            <a:r>
              <a:rPr lang="en-GB" sz="3200" dirty="0">
                <a:sym typeface="+mn-ea"/>
              </a:rPr>
              <a:t>    E;			// O(</a:t>
            </a:r>
            <a:r>
              <a:rPr lang="en-GB" sz="3200" dirty="0" err="1">
                <a:sym typeface="+mn-ea"/>
              </a:rPr>
              <a:t>nlogn</a:t>
            </a:r>
            <a:r>
              <a:rPr lang="en-GB" sz="3200" dirty="0">
                <a:sym typeface="+mn-ea"/>
              </a:rPr>
              <a:t>)</a:t>
            </a:r>
            <a:endParaRPr lang="en-GB" sz="3200" dirty="0"/>
          </a:p>
          <a:p>
            <a:pPr marL="0" indent="0">
              <a:buNone/>
            </a:pPr>
            <a:r>
              <a:rPr lang="en-GB" sz="3200" dirty="0">
                <a:sym typeface="+mn-ea"/>
              </a:rPr>
              <a:t>}</a:t>
            </a:r>
            <a:endParaRPr lang="en-GB" sz="3200" dirty="0"/>
          </a:p>
          <a:p>
            <a:pPr marL="0" indent="0">
              <a:buNone/>
            </a:pPr>
            <a:r>
              <a:rPr lang="zh-CN" altLang="en-GB" sz="3200" dirty="0">
                <a:sym typeface="+mn-ea"/>
              </a:rPr>
              <a:t>时间复杂度是</a:t>
            </a:r>
            <a:r>
              <a:rPr lang="en-GB" sz="3200" dirty="0">
                <a:sym typeface="+mn-ea"/>
              </a:rPr>
              <a:t>O(max(1, </a:t>
            </a:r>
            <a:r>
              <a:rPr lang="en-GB" sz="3200" dirty="0" err="1">
                <a:sym typeface="+mn-ea"/>
              </a:rPr>
              <a:t>logn</a:t>
            </a:r>
            <a:r>
              <a:rPr lang="en-GB" sz="3200" dirty="0">
                <a:sym typeface="+mn-ea"/>
              </a:rPr>
              <a:t>, 1, n</a:t>
            </a:r>
            <a:r>
              <a:rPr lang="en-GB" sz="3200" baseline="30000" dirty="0">
                <a:sym typeface="+mn-ea"/>
              </a:rPr>
              <a:t>2</a:t>
            </a:r>
            <a:r>
              <a:rPr lang="en-GB" sz="3200" dirty="0">
                <a:sym typeface="+mn-ea"/>
              </a:rPr>
              <a:t>,</a:t>
            </a:r>
            <a:r>
              <a:rPr lang="en-GB" sz="3200" baseline="30000" dirty="0">
                <a:sym typeface="+mn-ea"/>
              </a:rPr>
              <a:t> </a:t>
            </a:r>
            <a:r>
              <a:rPr lang="en-GB" sz="3200" dirty="0" err="1">
                <a:sym typeface="+mn-ea"/>
              </a:rPr>
              <a:t>nlogn</a:t>
            </a:r>
            <a:r>
              <a:rPr lang="en-GB" sz="3200" dirty="0">
                <a:sym typeface="+mn-ea"/>
              </a:rPr>
              <a:t>))</a:t>
            </a:r>
            <a:r>
              <a:rPr lang="en-US" altLang="en-GB" sz="3200" dirty="0">
                <a:sym typeface="+mn-ea"/>
              </a:rPr>
              <a:t> =</a:t>
            </a:r>
            <a:r>
              <a:rPr lang="en-GB" sz="3200" dirty="0">
                <a:sym typeface="+mn-ea"/>
              </a:rPr>
              <a:t>O(n</a:t>
            </a:r>
            <a:r>
              <a:rPr lang="en-GB" sz="3200" baseline="30000" dirty="0">
                <a:sym typeface="+mn-ea"/>
              </a:rPr>
              <a:t>2</a:t>
            </a:r>
            <a:r>
              <a:rPr lang="en-GB" sz="3200" dirty="0">
                <a:sym typeface="+mn-ea"/>
              </a:rPr>
              <a:t>)</a:t>
            </a:r>
            <a:endParaRPr lang="en-GB" sz="3200" dirty="0"/>
          </a:p>
          <a:p>
            <a:pPr eaLnBrk="1" hangingPunct="1">
              <a:lnSpc>
                <a:spcPct val="110000"/>
              </a:lnSpc>
              <a:defRPr/>
            </a:pPr>
            <a:endParaRPr lang="en-US" sz="3200" dirty="0"/>
          </a:p>
          <a:p>
            <a:pPr eaLnBrk="1" hangingPunct="1">
              <a:lnSpc>
                <a:spcPct val="110000"/>
              </a:lnSpc>
              <a:defRPr/>
            </a:pPr>
            <a:endParaRPr lang="zh-CN" alt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647700" y="777875"/>
            <a:ext cx="8534400" cy="538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2947" tIns="56473" rIns="112947" bIns="56473">
            <a:spAutoFit/>
          </a:bodyPr>
          <a:lstStyle>
            <a:lvl1pPr defTabSz="1129030">
              <a:spcBef>
                <a:spcPct val="20000"/>
              </a:spcBef>
              <a:buChar char="•"/>
              <a:defRPr kumimoji="1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defTabSz="1129030">
              <a:spcBef>
                <a:spcPct val="20000"/>
              </a:spcBef>
              <a:buChar char="–"/>
              <a:defRPr kumimoji="1" sz="24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defTabSz="1129030">
              <a:spcBef>
                <a:spcPct val="20000"/>
              </a:spcBef>
              <a:buChar char="•"/>
              <a:defRPr kumimoji="1" sz="20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defTabSz="1129030">
              <a:spcBef>
                <a:spcPct val="20000"/>
              </a:spcBef>
              <a:buChar char="–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defTabSz="1129030">
              <a:spcBef>
                <a:spcPct val="20000"/>
              </a:spcBef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defTabSz="112903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defTabSz="112903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defTabSz="112903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defTabSz="1129030" fontAlgn="base">
              <a:spcBef>
                <a:spcPct val="20000"/>
              </a:spcBef>
              <a:spcAft>
                <a:spcPct val="0"/>
              </a:spcAft>
              <a:buChar char="»"/>
              <a:defRPr kumimoji="1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ea typeface="仿宋_GB2312"/>
                <a:cs typeface="仿宋_GB2312"/>
              </a:rPr>
              <a:t>起泡排序</a:t>
            </a:r>
            <a:endParaRPr lang="zh-CN" altLang="en-US" sz="3000" dirty="0"/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solidFill>
                  <a:srgbClr val="CC0000"/>
                </a:solidFill>
              </a:rPr>
              <a:t> void  bubbleSort ( int a[ ],  int n ) {</a:t>
            </a:r>
            <a:endParaRPr lang="zh-CN" altLang="en-US" sz="3000" dirty="0">
              <a:solidFill>
                <a:srgbClr val="CC0000"/>
              </a:solidFill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solidFill>
                  <a:srgbClr val="0000FF"/>
                </a:solidFill>
                <a:ea typeface="隶书" panose="02010509060101010101" pitchFamily="49" charset="-122"/>
              </a:rPr>
              <a:t> </a:t>
            </a:r>
            <a:r>
              <a:rPr lang="zh-CN" altLang="en-US" sz="3000" dirty="0">
                <a:ea typeface="隶书" panose="02010509060101010101" pitchFamily="49" charset="-122"/>
              </a:rPr>
              <a:t>//对表 a[ ] 逐趟比较, n 是表当前长度</a:t>
            </a:r>
            <a:endParaRPr lang="zh-CN" altLang="en-US" sz="3000" dirty="0"/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solidFill>
                  <a:srgbClr val="CC0000"/>
                </a:solidFill>
              </a:rPr>
              <a:t>       for (int i = 1; i &lt;= n</a:t>
            </a:r>
            <a:r>
              <a:rPr lang="zh-CN" altLang="en-US" sz="3000" dirty="0">
                <a:solidFill>
                  <a:srgbClr val="CC0000"/>
                </a:solidFill>
                <a:latin typeface="Courier New" panose="02070309020205020404" pitchFamily="49" charset="0"/>
              </a:rPr>
              <a:t>-</a:t>
            </a:r>
            <a:r>
              <a:rPr lang="zh-CN" altLang="en-US" sz="3000" dirty="0">
                <a:solidFill>
                  <a:srgbClr val="CC0000"/>
                </a:solidFill>
              </a:rPr>
              <a:t>1; i++) {     </a:t>
            </a:r>
            <a:r>
              <a:rPr lang="zh-CN" altLang="en-US" sz="3000" dirty="0"/>
              <a:t>//n</a:t>
            </a:r>
            <a:r>
              <a:rPr lang="zh-CN" altLang="en-US" sz="3000" dirty="0">
                <a:latin typeface="Courier New" panose="02070309020205020404" pitchFamily="49" charset="0"/>
              </a:rPr>
              <a:t>-</a:t>
            </a:r>
            <a:r>
              <a:rPr lang="zh-CN" altLang="en-US" sz="3000" dirty="0"/>
              <a:t>1</a:t>
            </a:r>
            <a:r>
              <a:rPr lang="zh-CN" altLang="en-US" sz="3000" dirty="0">
                <a:ea typeface="隶书" panose="02010509060101010101" pitchFamily="49" charset="-122"/>
              </a:rPr>
              <a:t>趟</a:t>
            </a:r>
            <a:r>
              <a:rPr lang="zh-CN" altLang="en-US" sz="3000" dirty="0">
                <a:solidFill>
                  <a:srgbClr val="CC0000"/>
                </a:solidFill>
              </a:rPr>
              <a:t>	</a:t>
            </a:r>
            <a:endParaRPr lang="zh-CN" altLang="en-US" sz="3000" dirty="0">
              <a:solidFill>
                <a:srgbClr val="CC0000"/>
              </a:solidFill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solidFill>
                  <a:srgbClr val="CC0000"/>
                </a:solidFill>
              </a:rPr>
              <a:t> 	for (int j = n</a:t>
            </a:r>
            <a:r>
              <a:rPr lang="zh-CN" altLang="en-US" sz="3000" dirty="0">
                <a:solidFill>
                  <a:srgbClr val="CC0000"/>
                </a:solidFill>
                <a:latin typeface="Courier New" panose="02070309020205020404" pitchFamily="49" charset="0"/>
              </a:rPr>
              <a:t>-</a:t>
            </a:r>
            <a:r>
              <a:rPr lang="zh-CN" altLang="en-US" sz="3000" dirty="0">
                <a:solidFill>
                  <a:srgbClr val="CC0000"/>
                </a:solidFill>
              </a:rPr>
              <a:t>1; j &gt;= i; j</a:t>
            </a:r>
            <a:r>
              <a:rPr lang="zh-CN" altLang="en-US" sz="3000" dirty="0">
                <a:solidFill>
                  <a:srgbClr val="CC0000"/>
                </a:solidFill>
                <a:latin typeface="Courier New" panose="02070309020205020404" pitchFamily="49" charset="0"/>
              </a:rPr>
              <a:t>--</a:t>
            </a:r>
            <a:r>
              <a:rPr lang="zh-CN" altLang="en-US" sz="3000" dirty="0">
                <a:solidFill>
                  <a:srgbClr val="CC0000"/>
                </a:solidFill>
              </a:rPr>
              <a:t>)   </a:t>
            </a:r>
            <a:r>
              <a:rPr lang="zh-CN" altLang="en-US" sz="3000" dirty="0"/>
              <a:t>//n</a:t>
            </a:r>
            <a:r>
              <a:rPr lang="zh-CN" altLang="en-US" sz="3000" dirty="0">
                <a:latin typeface="Courier New" panose="02070309020205020404" pitchFamily="49" charset="0"/>
              </a:rPr>
              <a:t>-</a:t>
            </a:r>
            <a:r>
              <a:rPr lang="zh-CN" altLang="en-US" sz="3000" dirty="0"/>
              <a:t>i</a:t>
            </a:r>
            <a:r>
              <a:rPr lang="zh-CN" altLang="en-US" sz="3000" dirty="0">
                <a:ea typeface="隶书" panose="02010509060101010101" pitchFamily="49" charset="-122"/>
              </a:rPr>
              <a:t>次比较</a:t>
            </a:r>
            <a:r>
              <a:rPr lang="zh-CN" altLang="en-US" sz="3000" dirty="0">
                <a:solidFill>
                  <a:srgbClr val="CC0000"/>
                </a:solidFill>
              </a:rPr>
              <a:t> </a:t>
            </a:r>
            <a:endParaRPr lang="zh-CN" altLang="en-US" sz="3000" dirty="0">
              <a:solidFill>
                <a:srgbClr val="CC0000"/>
              </a:solidFill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solidFill>
                  <a:srgbClr val="CC0000"/>
                </a:solidFill>
              </a:rPr>
              <a:t>                if ( a[j</a:t>
            </a:r>
            <a:r>
              <a:rPr lang="zh-CN" altLang="en-US" sz="3000" dirty="0">
                <a:solidFill>
                  <a:srgbClr val="CC0000"/>
                </a:solidFill>
                <a:latin typeface="Courier New" panose="02070309020205020404" pitchFamily="49" charset="0"/>
              </a:rPr>
              <a:t>-</a:t>
            </a:r>
            <a:r>
              <a:rPr lang="zh-CN" altLang="en-US" sz="3000" dirty="0">
                <a:solidFill>
                  <a:srgbClr val="CC0000"/>
                </a:solidFill>
              </a:rPr>
              <a:t>1] &gt; a[j] ) { </a:t>
            </a:r>
            <a:endParaRPr lang="zh-CN" altLang="en-US" sz="3000" dirty="0">
              <a:solidFill>
                <a:srgbClr val="CC0000"/>
              </a:solidFill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solidFill>
                  <a:srgbClr val="CC0000"/>
                </a:solidFill>
              </a:rPr>
              <a:t>                    int tmp = a[j</a:t>
            </a:r>
            <a:r>
              <a:rPr lang="zh-CN" altLang="en-US" sz="3000" dirty="0">
                <a:solidFill>
                  <a:srgbClr val="CC0000"/>
                </a:solidFill>
                <a:latin typeface="Courier New" panose="02070309020205020404" pitchFamily="49" charset="0"/>
              </a:rPr>
              <a:t>-</a:t>
            </a:r>
            <a:r>
              <a:rPr lang="zh-CN" altLang="en-US" sz="3000" dirty="0">
                <a:solidFill>
                  <a:srgbClr val="CC0000"/>
                </a:solidFill>
              </a:rPr>
              <a:t>1];  a[j</a:t>
            </a:r>
            <a:r>
              <a:rPr lang="zh-CN" altLang="en-US" sz="3000" dirty="0">
                <a:solidFill>
                  <a:srgbClr val="CC0000"/>
                </a:solidFill>
                <a:latin typeface="Courier New" panose="02070309020205020404" pitchFamily="49" charset="0"/>
              </a:rPr>
              <a:t>-</a:t>
            </a:r>
            <a:r>
              <a:rPr lang="zh-CN" altLang="en-US" sz="3000" dirty="0">
                <a:solidFill>
                  <a:srgbClr val="CC0000"/>
                </a:solidFill>
              </a:rPr>
              <a:t>1] = a[j];</a:t>
            </a:r>
            <a:endParaRPr lang="zh-CN" altLang="en-US" sz="3000" dirty="0">
              <a:solidFill>
                <a:srgbClr val="CC0000"/>
              </a:solidFill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solidFill>
                  <a:srgbClr val="CC0000"/>
                </a:solidFill>
              </a:rPr>
              <a:t>                    a[j] = tmp;</a:t>
            </a:r>
            <a:endParaRPr lang="zh-CN" altLang="en-US" sz="3000" dirty="0">
              <a:solidFill>
                <a:srgbClr val="CC0000"/>
              </a:solidFill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solidFill>
                  <a:srgbClr val="CC0000"/>
                </a:solidFill>
              </a:rPr>
              <a:t>                } 	</a:t>
            </a:r>
            <a:r>
              <a:rPr lang="zh-CN" altLang="en-US" sz="3000" dirty="0">
                <a:solidFill>
                  <a:srgbClr val="0000FF"/>
                </a:solidFill>
                <a:ea typeface="隶书" panose="02010509060101010101" pitchFamily="49" charset="-122"/>
              </a:rPr>
              <a:t>//一趟比较</a:t>
            </a:r>
            <a:endParaRPr lang="zh-CN" altLang="en-US" sz="3000" dirty="0">
              <a:solidFill>
                <a:srgbClr val="CC0000"/>
              </a:solidFill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solidFill>
                  <a:srgbClr val="CC0000"/>
                </a:solidFill>
              </a:rPr>
              <a:t>       }</a:t>
            </a:r>
            <a:endParaRPr lang="zh-CN" altLang="en-US" sz="3000" dirty="0">
              <a:solidFill>
                <a:srgbClr val="CC0000"/>
              </a:solidFill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zh-CN" altLang="en-US" sz="3000" dirty="0">
                <a:solidFill>
                  <a:srgbClr val="CC0000"/>
                </a:solidFill>
              </a:rPr>
              <a:t>}</a:t>
            </a:r>
            <a:r>
              <a:rPr lang="zh-CN" altLang="en-US" sz="3000" dirty="0"/>
              <a:t>					</a:t>
            </a:r>
            <a:endParaRPr lang="zh-CN" altLang="en-US" sz="3000" dirty="0"/>
          </a:p>
        </p:txBody>
      </p:sp>
    </p:spTree>
  </p:cSld>
  <p:clrMapOvr>
    <a:masterClrMapping/>
  </p:clrMapOvr>
  <p:transition>
    <p:strips dir="rd"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787400" y="715963"/>
            <a:ext cx="7924800" cy="1165225"/>
          </a:xfrm>
          <a:prstGeom prst="rect">
            <a:avLst/>
          </a:prstGeom>
          <a:noFill/>
          <a:ln>
            <a:noFill/>
          </a:ln>
          <a:effectLst/>
        </p:spPr>
        <p:txBody>
          <a:bodyPr lIns="112947" tIns="56473" rIns="112947" bIns="56473">
            <a:spAutoFit/>
          </a:bodyPr>
          <a:lstStyle>
            <a:lvl1pPr defTabSz="11290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65150" defTabSz="11290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29030" defTabSz="11290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94180" defTabSz="11290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59330" defTabSz="11290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16530" defTabSz="11290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173730" defTabSz="11290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30930" defTabSz="11290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88130" defTabSz="11290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20000"/>
              </a:spcBef>
              <a:defRPr/>
            </a:pPr>
            <a:r>
              <a:rPr lang="zh-CN" sz="300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rPr>
              <a:t>渐进时间复杂度</a:t>
            </a:r>
            <a:endParaRPr lang="zh-CN" sz="300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05000"/>
              </a:lnSpc>
              <a:spcBef>
                <a:spcPct val="20000"/>
              </a:spcBef>
              <a:defRPr/>
            </a:pPr>
            <a:r>
              <a:rPr lang="zh-CN" sz="300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         </a:t>
            </a:r>
            <a:r>
              <a:rPr lang="zh-CN" altLang="zh-CN" sz="300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O(</a:t>
            </a:r>
            <a:r>
              <a:rPr lang="zh-CN" altLang="zh-CN" sz="3000" i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lang="zh-CN" altLang="zh-CN" sz="300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zh-CN" sz="3000" i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zh-CN" sz="300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)*</a:t>
            </a:r>
            <a:r>
              <a:rPr lang="zh-CN" altLang="zh-CN" sz="3000" i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g </a:t>
            </a:r>
            <a:r>
              <a:rPr lang="zh-CN" altLang="zh-CN" sz="300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zh-CN" sz="3000" i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zh-CN" sz="300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)) =</a:t>
            </a:r>
            <a:r>
              <a:rPr lang="zh-CN" altLang="zh-CN" sz="300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O(</a:t>
            </a:r>
            <a:r>
              <a:rPr lang="zh-CN" altLang="zh-CN" sz="3000" i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n</a:t>
            </a:r>
            <a:r>
              <a:rPr lang="zh-CN" altLang="zh-CN" sz="3000" baseline="3000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zh-CN" altLang="zh-CN" sz="300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)</a:t>
            </a:r>
            <a:r>
              <a:rPr lang="zh-CN" altLang="zh-CN" sz="3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</a:t>
            </a:r>
            <a:endParaRPr lang="zh-CN" altLang="zh-CN" sz="3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graphicFrame>
        <p:nvGraphicFramePr>
          <p:cNvPr id="56323" name="Object 3"/>
          <p:cNvGraphicFramePr>
            <a:graphicFrameLocks noChangeAspect="1"/>
          </p:cNvGraphicFramePr>
          <p:nvPr/>
        </p:nvGraphicFramePr>
        <p:xfrm>
          <a:off x="1820863" y="2024063"/>
          <a:ext cx="3146425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63" name="" r:id="rId1" imgW="1321435" imgH="431800" progId="Equation.3">
                  <p:embed/>
                </p:oleObj>
              </mc:Choice>
              <mc:Fallback>
                <p:oleObj name="" r:id="rId1" imgW="1321435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0863" y="2024063"/>
                        <a:ext cx="3146425" cy="104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324" name="Group 4"/>
          <p:cNvGrpSpPr/>
          <p:nvPr/>
        </p:nvGrpSpPr>
        <p:grpSpPr bwMode="auto">
          <a:xfrm>
            <a:off x="1735138" y="3224213"/>
            <a:ext cx="6292850" cy="2328862"/>
            <a:chOff x="0" y="0"/>
            <a:chExt cx="3964" cy="1467"/>
          </a:xfrm>
        </p:grpSpPr>
        <p:sp>
          <p:nvSpPr>
            <p:cNvPr id="68614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3964" cy="146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zh-CN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8615" name="Text Box 6"/>
            <p:cNvSpPr txBox="1">
              <a:spLocks noChangeArrowheads="1"/>
            </p:cNvSpPr>
            <p:nvPr/>
          </p:nvSpPr>
          <p:spPr bwMode="auto">
            <a:xfrm>
              <a:off x="198" y="84"/>
              <a:ext cx="2138" cy="72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30000"/>
                </a:spcBef>
                <a:defRPr/>
              </a:pPr>
              <a:r>
                <a:rPr lang="zh-CN" altLang="zh-CN" sz="3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BubblrSort</a:t>
              </a:r>
              <a:endParaRPr lang="zh-CN" altLang="zh-CN" sz="3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eaLnBrk="1" hangingPunct="1">
                <a:spcBef>
                  <a:spcPct val="30000"/>
                </a:spcBef>
                <a:defRPr/>
              </a:pPr>
              <a:r>
                <a:rPr lang="zh-CN" altLang="zh-CN" sz="3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    </a:t>
              </a:r>
              <a:r>
                <a:rPr lang="zh-CN" sz="3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隶书" panose="02010509060101010101" pitchFamily="49" charset="-122"/>
                </a:rPr>
                <a:t>外层循环</a:t>
              </a:r>
              <a:r>
                <a:rPr lang="zh-CN" sz="300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</a:t>
              </a:r>
              <a:r>
                <a:rPr lang="zh-CN" altLang="zh-CN" sz="300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</a:t>
              </a:r>
              <a:r>
                <a:rPr lang="zh-CN" altLang="zh-CN" sz="300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  <a:ea typeface="仿宋_GB2312" pitchFamily="49" charset="-122"/>
                </a:rPr>
                <a:t>-</a:t>
              </a:r>
              <a:r>
                <a:rPr lang="zh-CN" altLang="zh-CN" sz="300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 </a:t>
              </a:r>
              <a:r>
                <a:rPr lang="zh-CN" sz="3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隶书" panose="02010509060101010101" pitchFamily="49" charset="-122"/>
                </a:rPr>
                <a:t>趟</a:t>
              </a:r>
              <a:endParaRPr lang="zh-CN" sz="3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隶书" panose="02010509060101010101" pitchFamily="49" charset="-122"/>
              </a:endParaRPr>
            </a:p>
          </p:txBody>
        </p:sp>
        <p:sp>
          <p:nvSpPr>
            <p:cNvPr id="68616" name="Rectangle 7"/>
            <p:cNvSpPr>
              <a:spLocks noChangeArrowheads="1"/>
            </p:cNvSpPr>
            <p:nvPr/>
          </p:nvSpPr>
          <p:spPr bwMode="auto">
            <a:xfrm>
              <a:off x="672" y="810"/>
              <a:ext cx="2880" cy="4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8617" name="Text Box 8"/>
            <p:cNvSpPr txBox="1">
              <a:spLocks noChangeArrowheads="1"/>
            </p:cNvSpPr>
            <p:nvPr/>
          </p:nvSpPr>
          <p:spPr bwMode="auto">
            <a:xfrm>
              <a:off x="716" y="828"/>
              <a:ext cx="2410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隶书" panose="02010509060101010101" pitchFamily="49" charset="-122"/>
                </a:rPr>
                <a:t>内层循环</a:t>
              </a:r>
              <a:r>
                <a:rPr lang="zh-CN" altLang="en-US" sz="320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n</a:t>
              </a:r>
              <a:r>
                <a:rPr lang="zh-CN" altLang="en-US" sz="320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-</a:t>
              </a:r>
              <a:r>
                <a:rPr lang="zh-CN" altLang="en-US" sz="320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</a:t>
              </a:r>
              <a:r>
                <a:rPr lang="zh-CN" altLang="en-US" sz="32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</a:t>
              </a:r>
              <a:r>
                <a:rPr lang="zh-CN" altLang="en-US" sz="32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隶书" panose="02010509060101010101" pitchFamily="49" charset="-122"/>
                </a:rPr>
                <a:t>次比较</a:t>
              </a:r>
              <a:endParaRPr lang="zh-CN" altLang="en-US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>
    <p:strips dir="rd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0825" y="620713"/>
            <a:ext cx="8713788" cy="6272212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有的情况下，算法中基本操作重复执行的次数还随问题的输入数据集不同而不同。</a:t>
            </a:r>
            <a:endParaRPr lang="en-US" altLang="zh-C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defRPr/>
            </a:pPr>
            <a:endParaRPr lang="en-US" altLang="zh-C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eaLnBrk="1" hangingPunct="1">
              <a:lnSpc>
                <a:spcPct val="105000"/>
              </a:lnSpc>
              <a:spcBef>
                <a:spcPct val="20000"/>
              </a:spcBef>
              <a:buClr>
                <a:srgbClr val="800080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</a:rPr>
              <a:t>在数组 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</a:rPr>
              <a:t>A[n]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</a:rPr>
              <a:t> 中查找给定值 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</a:rPr>
              <a:t>k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</a:rPr>
              <a:t> 的算法：</a:t>
            </a:r>
            <a:endParaRPr lang="zh-CN" alt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仿宋_GB2312" pitchFamily="49" charset="-122"/>
            </a:endParaRPr>
          </a:p>
          <a:p>
            <a:pPr marL="342900" indent="-342900" eaLnBrk="1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 i = n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-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1; </a:t>
            </a:r>
            <a:endParaRPr lang="zh-CN" altLang="en-US" sz="32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eaLnBrk="1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while ( i &gt;= 0 &amp;&amp; A[i] !</a:t>
            </a:r>
            <a:r>
              <a:rPr lang="zh-CN" altLang="en-US" sz="32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 ) </a:t>
            </a:r>
            <a:endParaRPr lang="zh-CN" altLang="en-US" sz="32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eaLnBrk="1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i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--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  <a:endParaRPr lang="zh-CN" altLang="en-US" sz="32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eaLnBrk="1" hangingPunct="1">
              <a:lnSpc>
                <a:spcPct val="105000"/>
              </a:lnSpc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return i;</a:t>
            </a:r>
            <a:endParaRPr lang="zh-CN" altLang="en-US" sz="32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eaLnBrk="1" hangingPunct="1">
              <a:lnSpc>
                <a:spcPct val="105000"/>
              </a:lnSpc>
              <a:spcBef>
                <a:spcPct val="20000"/>
              </a:spcBef>
              <a:buClr>
                <a:srgbClr val="800080"/>
              </a:buClr>
              <a:buSzPct val="50000"/>
              <a:buFont typeface="Wingdings" panose="05000000000000000000" pitchFamily="2" charset="2"/>
              <a:buChar char="n"/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</a:rPr>
              <a:t>算法的语句</a:t>
            </a:r>
            <a:r>
              <a:rPr lang="zh-CN" altLang="en-US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--</a:t>
            </a:r>
            <a:r>
              <a:rPr lang="zh-CN" altLang="en-US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</a:rPr>
              <a:t>的频度不仅与 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</a:rPr>
              <a:t>n</a:t>
            </a:r>
            <a:r>
              <a:rPr lang="zh-CN" altLang="en-US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</a:rPr>
              <a:t> 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</a:rPr>
              <a:t>有关，还与 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</a:rPr>
              <a:t>A[ ] 中各元素的取值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</a:rPr>
              <a:t>以及 </a:t>
            </a:r>
            <a:r>
              <a:rPr lang="zh-CN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</a:rPr>
              <a:t>k 的取值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仿宋_GB2312" pitchFamily="49" charset="-122"/>
              </a:rPr>
              <a:t>有关。</a:t>
            </a:r>
            <a:endParaRPr lang="zh-CN" altLang="en-US" sz="3200" dirty="0">
              <a:solidFill>
                <a:schemeClr val="hlin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defRPr/>
            </a:pPr>
            <a:endParaRPr lang="zh-CN" alt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6200"/>
            <a:ext cx="6477000" cy="762000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en-US"/>
              <a:t>1.3.4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 </a:t>
            </a:r>
            <a:r>
              <a:rPr>
                <a:ea typeface="楷体_GB2312" pitchFamily="49" charset="-122"/>
              </a:rPr>
              <a:t>算法的空间分析</a:t>
            </a:r>
            <a:endParaRPr>
              <a:ea typeface="楷体_GB2312" pitchFamily="49" charset="-122"/>
            </a:endParaRPr>
          </a:p>
        </p:txBody>
      </p:sp>
      <p:sp>
        <p:nvSpPr>
          <p:cNvPr id="58371" name="Rectangle 5"/>
          <p:cNvSpPr>
            <a:spLocks noGrp="1" noChangeArrowheads="1"/>
          </p:cNvSpPr>
          <p:nvPr>
            <p:ph idx="4294967295"/>
          </p:nvPr>
        </p:nvSpPr>
        <p:spPr>
          <a:xfrm>
            <a:off x="0" y="990600"/>
            <a:ext cx="8686800" cy="54864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zh-CN">
                <a:solidFill>
                  <a:schemeClr val="folHlink"/>
                </a:solidFill>
                <a:ea typeface="楷体_GB2312" pitchFamily="49" charset="-122"/>
              </a:rPr>
              <a:t>        </a:t>
            </a:r>
            <a:r>
              <a:rPr lang="zh-CN" altLang="en-US">
                <a:solidFill>
                  <a:srgbClr val="C00000"/>
                </a:solidFill>
                <a:ea typeface="楷体_GB2312" pitchFamily="49" charset="-122"/>
              </a:rPr>
              <a:t>空间复杂度</a:t>
            </a:r>
            <a:r>
              <a:rPr lang="en-US" altLang="zh-CN">
                <a:solidFill>
                  <a:srgbClr val="C00000"/>
                </a:solidFill>
                <a:ea typeface="楷体_GB2312" pitchFamily="49" charset="-122"/>
              </a:rPr>
              <a:t>(Space complexity) </a:t>
            </a:r>
            <a:r>
              <a:rPr lang="zh-CN" altLang="en-US">
                <a:ea typeface="楷体_GB2312" pitchFamily="49" charset="-122"/>
              </a:rPr>
              <a:t>：是指算法编写成程序后，在计算机中运行时所需存储空间大小的度量。记作：   </a:t>
            </a:r>
            <a:r>
              <a:rPr lang="en-US" altLang="zh-CN">
                <a:ea typeface="楷体_GB2312" pitchFamily="49" charset="-122"/>
              </a:rPr>
              <a:t>S(n)=O(f(n))            </a:t>
            </a:r>
            <a:endParaRPr lang="en-US" altLang="zh-CN">
              <a:ea typeface="楷体_GB2312" pitchFamily="49" charset="-122"/>
            </a:endParaRPr>
          </a:p>
          <a:p>
            <a:pPr marL="0" indent="0">
              <a:buFontTx/>
              <a:buNone/>
            </a:pPr>
            <a:r>
              <a:rPr lang="zh-CN" altLang="en-US">
                <a:ea typeface="楷体_GB2312" pitchFamily="49" charset="-122"/>
              </a:rPr>
              <a:t>其中： </a:t>
            </a:r>
            <a:r>
              <a:rPr lang="en-US" altLang="zh-CN">
                <a:ea typeface="楷体_GB2312" pitchFamily="49" charset="-122"/>
              </a:rPr>
              <a:t>n</a:t>
            </a:r>
            <a:r>
              <a:rPr lang="zh-CN" altLang="en-US">
                <a:ea typeface="楷体_GB2312" pitchFamily="49" charset="-122"/>
              </a:rPr>
              <a:t>为问题的规模</a:t>
            </a:r>
            <a:r>
              <a:rPr lang="en-US" altLang="zh-CN">
                <a:ea typeface="楷体_GB2312" pitchFamily="49" charset="-122"/>
              </a:rPr>
              <a:t>(</a:t>
            </a:r>
            <a:r>
              <a:rPr lang="zh-CN" altLang="en-US">
                <a:ea typeface="楷体_GB2312" pitchFamily="49" charset="-122"/>
              </a:rPr>
              <a:t>或大小</a:t>
            </a:r>
            <a:r>
              <a:rPr lang="en-US" altLang="zh-CN">
                <a:ea typeface="楷体_GB2312" pitchFamily="49" charset="-122"/>
              </a:rPr>
              <a:t>)</a:t>
            </a:r>
            <a:endParaRPr lang="en-US" altLang="zh-CN">
              <a:ea typeface="楷体_GB2312" pitchFamily="49" charset="-122"/>
            </a:endParaRPr>
          </a:p>
          <a:p>
            <a:pPr marL="0" indent="0">
              <a:buFontTx/>
              <a:buNone/>
            </a:pPr>
            <a:r>
              <a:rPr lang="zh-CN" altLang="en-US">
                <a:ea typeface="楷体_GB2312" pitchFamily="49" charset="-122"/>
              </a:rPr>
              <a:t>该存储空间一般包括三个方面：</a:t>
            </a:r>
            <a:endParaRPr lang="zh-CN" altLang="en-US">
              <a:ea typeface="楷体_GB2312" pitchFamily="49" charset="-122"/>
            </a:endParaRPr>
          </a:p>
          <a:p>
            <a:pPr marL="533400" lvl="1" indent="0"/>
            <a:r>
              <a:rPr lang="zh-CN" altLang="en-US">
                <a:ea typeface="楷体_GB2312" pitchFamily="49" charset="-122"/>
              </a:rPr>
              <a:t> 指令常数变量所占用的存储空间</a:t>
            </a:r>
            <a:r>
              <a:rPr lang="en-US" altLang="zh-CN">
                <a:ea typeface="楷体_GB2312" pitchFamily="49" charset="-122"/>
              </a:rPr>
              <a:t>;</a:t>
            </a:r>
            <a:endParaRPr lang="en-US" altLang="zh-CN">
              <a:ea typeface="楷体_GB2312" pitchFamily="49" charset="-122"/>
            </a:endParaRPr>
          </a:p>
          <a:p>
            <a:pPr marL="533400" lvl="1" indent="0"/>
            <a:r>
              <a:rPr lang="en-US" altLang="zh-CN">
                <a:ea typeface="楷体_GB2312" pitchFamily="49" charset="-122"/>
              </a:rPr>
              <a:t> </a:t>
            </a:r>
            <a:r>
              <a:rPr lang="zh-CN" altLang="en-US">
                <a:ea typeface="楷体_GB2312" pitchFamily="49" charset="-122"/>
              </a:rPr>
              <a:t>输入数据所占用的存储空间</a:t>
            </a:r>
            <a:r>
              <a:rPr lang="en-US" altLang="zh-CN">
                <a:ea typeface="楷体_GB2312" pitchFamily="49" charset="-122"/>
              </a:rPr>
              <a:t>;</a:t>
            </a:r>
            <a:endParaRPr lang="en-US" altLang="zh-CN">
              <a:ea typeface="楷体_GB2312" pitchFamily="49" charset="-122"/>
            </a:endParaRPr>
          </a:p>
          <a:p>
            <a:pPr marL="533400" lvl="1" indent="0"/>
            <a:r>
              <a:rPr lang="en-US" altLang="zh-CN">
                <a:ea typeface="楷体_GB2312" pitchFamily="49" charset="-122"/>
              </a:rPr>
              <a:t> </a:t>
            </a:r>
            <a:r>
              <a:rPr lang="zh-CN" altLang="en-US">
                <a:ea typeface="楷体_GB2312" pitchFamily="49" charset="-122"/>
              </a:rPr>
              <a:t>辅助</a:t>
            </a:r>
            <a:r>
              <a:rPr lang="en-US" altLang="zh-CN">
                <a:ea typeface="楷体_GB2312" pitchFamily="49" charset="-122"/>
              </a:rPr>
              <a:t>(</a:t>
            </a:r>
            <a:r>
              <a:rPr lang="zh-CN" altLang="en-US">
                <a:ea typeface="楷体_GB2312" pitchFamily="49" charset="-122"/>
              </a:rPr>
              <a:t>存储</a:t>
            </a:r>
            <a:r>
              <a:rPr lang="en-US" altLang="zh-CN">
                <a:ea typeface="楷体_GB2312" pitchFamily="49" charset="-122"/>
              </a:rPr>
              <a:t>)</a:t>
            </a:r>
            <a:r>
              <a:rPr lang="zh-CN" altLang="en-US">
                <a:ea typeface="楷体_GB2312" pitchFamily="49" charset="-122"/>
              </a:rPr>
              <a:t>空间。</a:t>
            </a:r>
            <a:endParaRPr lang="zh-CN" altLang="en-US">
              <a:ea typeface="楷体_GB2312" pitchFamily="49" charset="-122"/>
            </a:endParaRPr>
          </a:p>
          <a:p>
            <a:pPr marL="0" indent="0">
              <a:buFontTx/>
              <a:buNone/>
            </a:pPr>
            <a:r>
              <a:rPr lang="zh-CN" altLang="en-US">
                <a:ea typeface="楷体_GB2312" pitchFamily="49" charset="-122"/>
              </a:rPr>
              <a:t>        一般地，算法的</a:t>
            </a:r>
            <a:r>
              <a:rPr lang="zh-CN" altLang="en-US">
                <a:solidFill>
                  <a:srgbClr val="C00000"/>
                </a:solidFill>
                <a:ea typeface="楷体_GB2312" pitchFamily="49" charset="-122"/>
              </a:rPr>
              <a:t>空间复杂度</a:t>
            </a:r>
            <a:r>
              <a:rPr lang="zh-CN" altLang="en-US">
                <a:ea typeface="楷体_GB2312" pitchFamily="49" charset="-122"/>
              </a:rPr>
              <a:t>指的是辅助空间。</a:t>
            </a:r>
            <a:endParaRPr lang="zh-CN" altLang="en-US">
              <a:ea typeface="楷体_GB2312" pitchFamily="49" charset="-122"/>
            </a:endParaRPr>
          </a:p>
          <a:p>
            <a:pPr marL="533400" lvl="1" indent="0"/>
            <a:r>
              <a:rPr lang="zh-CN" altLang="en-US">
                <a:ea typeface="楷体_GB2312" pitchFamily="49" charset="-122"/>
              </a:rPr>
              <a:t>  一维数组</a:t>
            </a:r>
            <a:r>
              <a:rPr lang="en-US" altLang="zh-CN">
                <a:ea typeface="楷体_GB2312" pitchFamily="49" charset="-122"/>
              </a:rPr>
              <a:t>a[n]</a:t>
            </a:r>
            <a:r>
              <a:rPr lang="zh-CN" altLang="en-US">
                <a:ea typeface="楷体_GB2312" pitchFamily="49" charset="-122"/>
              </a:rPr>
              <a:t>： 空间复杂度  </a:t>
            </a:r>
            <a:r>
              <a:rPr lang="en-US" altLang="zh-CN">
                <a:ea typeface="楷体_GB2312" pitchFamily="49" charset="-122"/>
              </a:rPr>
              <a:t>O(n)</a:t>
            </a:r>
            <a:endParaRPr lang="en-US" altLang="zh-CN">
              <a:ea typeface="楷体_GB2312" pitchFamily="49" charset="-122"/>
            </a:endParaRPr>
          </a:p>
          <a:p>
            <a:pPr marL="533400" lvl="1" indent="0"/>
            <a:r>
              <a:rPr lang="en-US" altLang="zh-CN">
                <a:ea typeface="楷体_GB2312" pitchFamily="49" charset="-122"/>
              </a:rPr>
              <a:t>  </a:t>
            </a:r>
            <a:r>
              <a:rPr lang="zh-CN" altLang="en-US">
                <a:ea typeface="楷体_GB2312" pitchFamily="49" charset="-122"/>
              </a:rPr>
              <a:t>二维数组</a:t>
            </a:r>
            <a:r>
              <a:rPr lang="en-US" altLang="zh-CN">
                <a:ea typeface="楷体_GB2312" pitchFamily="49" charset="-122"/>
              </a:rPr>
              <a:t>a[n][m]</a:t>
            </a:r>
            <a:r>
              <a:rPr lang="zh-CN" altLang="en-US">
                <a:ea typeface="楷体_GB2312" pitchFamily="49" charset="-122"/>
              </a:rPr>
              <a:t>： 空间复杂度  </a:t>
            </a:r>
            <a:r>
              <a:rPr lang="en-US" altLang="zh-CN">
                <a:ea typeface="楷体_GB2312" pitchFamily="49" charset="-122"/>
              </a:rPr>
              <a:t>O(n*m)</a:t>
            </a:r>
            <a:endParaRPr lang="en-US" altLang="zh-CN"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blinds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Summarize</a:t>
            </a:r>
            <a:endParaRPr lang="en-US" altLang="zh-CN"/>
          </a:p>
        </p:txBody>
      </p:sp>
      <p:sp>
        <p:nvSpPr>
          <p:cNvPr id="97283" name="内容占位符 2"/>
          <p:cNvSpPr>
            <a:spLocks noGrp="1"/>
          </p:cNvSpPr>
          <p:nvPr>
            <p:ph idx="1"/>
          </p:nvPr>
        </p:nvSpPr>
        <p:spPr>
          <a:xfrm>
            <a:off x="685800" y="1341438"/>
            <a:ext cx="7772400" cy="5111750"/>
          </a:xfrm>
        </p:spPr>
        <p:txBody>
          <a:bodyPr/>
          <a:lstStyle/>
          <a:p>
            <a:r>
              <a:rPr lang="zh-CN" altLang="en-US" dirty="0">
                <a:ea typeface="楷体_GB2312" pitchFamily="49" charset="-122"/>
              </a:rPr>
              <a:t>数据结构基本概念</a:t>
            </a:r>
            <a:r>
              <a:rPr lang="en-US" altLang="zh-CN" dirty="0">
                <a:ea typeface="楷体_GB2312" pitchFamily="49" charset="-122"/>
              </a:rPr>
              <a:t>—</a:t>
            </a:r>
            <a:r>
              <a:rPr lang="zh-CN" altLang="en-US" dirty="0">
                <a:ea typeface="楷体_GB2312" pitchFamily="49" charset="-122"/>
              </a:rPr>
              <a:t>理解</a:t>
            </a:r>
            <a:endParaRPr lang="en-US" altLang="zh-CN" dirty="0">
              <a:ea typeface="楷体_GB2312" pitchFamily="49" charset="-122"/>
            </a:endParaRPr>
          </a:p>
          <a:p>
            <a:r>
              <a:rPr lang="zh-CN" altLang="en-US" dirty="0">
                <a:ea typeface="楷体_GB2312" pitchFamily="49" charset="-122"/>
              </a:rPr>
              <a:t>算法时间复杂度</a:t>
            </a:r>
            <a:r>
              <a:rPr lang="en-US" altLang="zh-CN" dirty="0">
                <a:ea typeface="楷体_GB2312" pitchFamily="49" charset="-122"/>
              </a:rPr>
              <a:t>—</a:t>
            </a:r>
            <a:r>
              <a:rPr lang="zh-CN" altLang="en-US" dirty="0">
                <a:ea typeface="楷体_GB2312" pitchFamily="49" charset="-122"/>
              </a:rPr>
              <a:t>掌握</a:t>
            </a:r>
            <a:endParaRPr lang="en-US" altLang="zh-CN" dirty="0">
              <a:ea typeface="楷体_GB2312" pitchFamily="49" charset="-122"/>
            </a:endParaRPr>
          </a:p>
          <a:p>
            <a:endParaRPr lang="zh-CN" altLang="en-US" dirty="0">
              <a:ea typeface="楷体_GB2312" pitchFamily="49" charset="-122"/>
            </a:endParaRPr>
          </a:p>
        </p:txBody>
      </p:sp>
    </p:spTree>
  </p:cSld>
  <p:clrMapOvr>
    <a:masterClrMapping/>
  </p:clrMapOvr>
  <p:transition>
    <p:strips dir="rd"/>
  </p:transition>
</p:sld>
</file>

<file path=ppt/tags/tag1.xml><?xml version="1.0" encoding="utf-8"?>
<p:tagLst xmlns:p="http://schemas.openxmlformats.org/presentationml/2006/main">
  <p:tag name="commondata" val="eyJoZGlkIjoiMGQ2YTkzOTI5YjAzMWRiZWMxYWNkYTQ3NWU3ZDU4NzQifQ=="/>
</p:tagLst>
</file>

<file path=ppt/theme/theme1.xml><?xml version="1.0" encoding="utf-8"?>
<a:theme xmlns:a="http://schemas.openxmlformats.org/drawingml/2006/main" name="主题1">
  <a:themeElements>
    <a:clrScheme name="">
      <a:dk1>
        <a:srgbClr val="000000"/>
      </a:dk1>
      <a:lt1>
        <a:srgbClr val="FFFFFF"/>
      </a:lt1>
      <a:dk2>
        <a:srgbClr val="FF0000"/>
      </a:dk2>
      <a:lt2>
        <a:srgbClr val="808080"/>
      </a:lt2>
      <a:accent1>
        <a:srgbClr val="00CC99"/>
      </a:accent1>
      <a:accent2>
        <a:srgbClr val="FF0000"/>
      </a:accent2>
      <a:accent3>
        <a:srgbClr val="FFFFFF"/>
      </a:accent3>
      <a:accent4>
        <a:srgbClr val="000000"/>
      </a:accent4>
      <a:accent5>
        <a:srgbClr val="AAE2CA"/>
      </a:accent5>
      <a:accent6>
        <a:srgbClr val="E70000"/>
      </a:accent6>
      <a:hlink>
        <a:srgbClr val="CC0000"/>
      </a:hlink>
      <a:folHlink>
        <a:srgbClr val="00FF00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4000" b="1" i="0" u="none" strike="noStrike" cap="none" normalizeH="0" baseline="0" smtClean="0">
            <a:ln>
              <a:noFill/>
            </a:ln>
            <a:solidFill>
              <a:srgbClr val="000099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4000" b="1" i="0" u="none" strike="noStrike" cap="none" normalizeH="0" baseline="0" smtClean="0">
            <a:ln>
              <a:noFill/>
            </a:ln>
            <a:solidFill>
              <a:srgbClr val="000099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ds</Template>
  <TotalTime>0</TotalTime>
  <Words>9414</Words>
  <Application>WPS Presentation</Application>
  <PresentationFormat>全屏显示(4:3)</PresentationFormat>
  <Paragraphs>1118</Paragraphs>
  <Slides>87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87</vt:i4>
      </vt:variant>
    </vt:vector>
  </HeadingPairs>
  <TitlesOfParts>
    <vt:vector size="115" baseType="lpstr">
      <vt:lpstr>Arial</vt:lpstr>
      <vt:lpstr>宋体</vt:lpstr>
      <vt:lpstr>Wingdings</vt:lpstr>
      <vt:lpstr>Times New Roman</vt:lpstr>
      <vt:lpstr>楷体_GB2312</vt:lpstr>
      <vt:lpstr>新宋体</vt:lpstr>
      <vt:lpstr>楷体_GB2312</vt:lpstr>
      <vt:lpstr>Arial Rounded MT Bold</vt:lpstr>
      <vt:lpstr>黑体</vt:lpstr>
      <vt:lpstr>Arial</vt:lpstr>
      <vt:lpstr>隶书</vt:lpstr>
      <vt:lpstr>微软雅黑</vt:lpstr>
      <vt:lpstr>Arial Unicode MS</vt:lpstr>
      <vt:lpstr>仿宋_GB2312</vt:lpstr>
      <vt:lpstr>仿宋</vt:lpstr>
      <vt:lpstr>华文新魏</vt:lpstr>
      <vt:lpstr>仿宋_GB2312</vt:lpstr>
      <vt:lpstr>华文隶书</vt:lpstr>
      <vt:lpstr>Verdana</vt:lpstr>
      <vt:lpstr>HY견고딕</vt:lpstr>
      <vt:lpstr>Malgun Gothic</vt:lpstr>
      <vt:lpstr>Symbol</vt:lpstr>
      <vt:lpstr>Courier New</vt:lpstr>
      <vt:lpstr>主题1</vt:lpstr>
      <vt:lpstr>Paint.Picture</vt:lpstr>
      <vt:lpstr>Visio.Drawing.6</vt:lpstr>
      <vt:lpstr>Word.Document.8</vt:lpstr>
      <vt:lpstr>Equation.3</vt:lpstr>
      <vt:lpstr>PowerPoint 演示文稿</vt:lpstr>
      <vt:lpstr>online</vt:lpstr>
      <vt:lpstr>PowerPoint 演示文稿</vt:lpstr>
      <vt:lpstr>PowerPoint 演示文稿</vt:lpstr>
      <vt:lpstr>PowerPoint 演示文稿</vt:lpstr>
      <vt:lpstr>UNIX文件系统的系统结构图</vt:lpstr>
      <vt:lpstr>人机对弈</vt:lpstr>
      <vt:lpstr>PowerPoint 演示文稿</vt:lpstr>
      <vt:lpstr>PowerPoint 演示文稿</vt:lpstr>
      <vt:lpstr>多叉路口交通灯的管理问题</vt:lpstr>
      <vt:lpstr>PowerPoint 演示文稿</vt:lpstr>
      <vt:lpstr>PowerPoint 演示文稿</vt:lpstr>
      <vt:lpstr>数据（data）</vt:lpstr>
      <vt:lpstr>PowerPoint 演示文稿</vt:lpstr>
      <vt:lpstr>PowerPoint 演示文稿</vt:lpstr>
      <vt:lpstr>“学生”表格</vt:lpstr>
      <vt:lpstr>数据对象</vt:lpstr>
      <vt:lpstr>PowerPoint 演示文稿</vt:lpstr>
      <vt:lpstr>数据结构</vt:lpstr>
      <vt:lpstr>PowerPoint 演示文稿</vt:lpstr>
      <vt:lpstr>数据结构的形式定义</vt:lpstr>
      <vt:lpstr>例1 部门的上级领导下级的数据结构</vt:lpstr>
      <vt:lpstr>例2  一小组有a,b,c 三个学生，一个导师A和一个辅导员B，此小组的数据结构如图：</vt:lpstr>
      <vt:lpstr>PowerPoint 演示文稿</vt:lpstr>
      <vt:lpstr>PowerPoint 演示文稿</vt:lpstr>
      <vt:lpstr>PowerPoint 演示文稿</vt:lpstr>
      <vt:lpstr>4种逻辑结构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数据类型</vt:lpstr>
      <vt:lpstr>PowerPoint 演示文稿</vt:lpstr>
      <vt:lpstr>PowerPoint 演示文稿</vt:lpstr>
      <vt:lpstr>PowerPoint 演示文稿</vt:lpstr>
      <vt:lpstr>PowerPoint 演示文稿</vt:lpstr>
      <vt:lpstr>数据结构的主要运算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两种算法的比较</vt:lpstr>
      <vt:lpstr>算法效率度量</vt:lpstr>
      <vt:lpstr>PowerPoint 演示文稿</vt:lpstr>
      <vt:lpstr>计算1+2+3+……+10000的和？</vt:lpstr>
      <vt:lpstr>PowerPoint 演示文稿</vt:lpstr>
      <vt:lpstr>PowerPoint 演示文稿</vt:lpstr>
      <vt:lpstr>PowerPoint 演示文稿</vt:lpstr>
      <vt:lpstr>推导大O阶的方法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1.3.4  算法的空间分析</vt:lpstr>
      <vt:lpstr>Summarize</vt:lpstr>
    </vt:vector>
  </TitlesOfParts>
  <Company>djzx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djzx</dc:creator>
  <cp:lastModifiedBy>XXXY006</cp:lastModifiedBy>
  <cp:revision>279</cp:revision>
  <dcterms:created xsi:type="dcterms:W3CDTF">2000-01-30T08:24:00Z</dcterms:created>
  <dcterms:modified xsi:type="dcterms:W3CDTF">2025-09-01T01:46:18Z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0CF88386966C44609AB16B2A74F3EA18_13</vt:lpwstr>
  </property>
  <property fmtid="{D5CDD505-2E9C-101B-9397-08002B2CF9AE}" pid="3" name="KSOProductBuildVer">
    <vt:lpwstr>1033-12.2.0.21931</vt:lpwstr>
  </property>
</Properties>
</file>