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72"/>
  </p:notesMasterIdLst>
  <p:sldIdLst>
    <p:sldId id="379" r:id="rId3"/>
    <p:sldId id="294" r:id="rId4"/>
    <p:sldId id="559" r:id="rId5"/>
    <p:sldId id="564" r:id="rId6"/>
    <p:sldId id="560" r:id="rId7"/>
    <p:sldId id="561" r:id="rId8"/>
    <p:sldId id="565" r:id="rId9"/>
    <p:sldId id="566" r:id="rId10"/>
    <p:sldId id="567" r:id="rId11"/>
    <p:sldId id="568" r:id="rId12"/>
    <p:sldId id="571" r:id="rId13"/>
    <p:sldId id="569" r:id="rId14"/>
    <p:sldId id="570" r:id="rId15"/>
    <p:sldId id="573" r:id="rId16"/>
    <p:sldId id="575" r:id="rId17"/>
    <p:sldId id="572" r:id="rId18"/>
    <p:sldId id="580" r:id="rId19"/>
    <p:sldId id="579" r:id="rId20"/>
    <p:sldId id="574" r:id="rId21"/>
    <p:sldId id="576" r:id="rId22"/>
    <p:sldId id="577" r:id="rId23"/>
    <p:sldId id="585" r:id="rId24"/>
    <p:sldId id="581" r:id="rId25"/>
    <p:sldId id="583" r:id="rId26"/>
    <p:sldId id="582" r:id="rId27"/>
    <p:sldId id="584" r:id="rId28"/>
    <p:sldId id="586" r:id="rId29"/>
    <p:sldId id="587" r:id="rId30"/>
    <p:sldId id="588" r:id="rId31"/>
    <p:sldId id="589" r:id="rId32"/>
    <p:sldId id="590" r:id="rId33"/>
    <p:sldId id="591" r:id="rId34"/>
    <p:sldId id="592" r:id="rId35"/>
    <p:sldId id="594" r:id="rId36"/>
    <p:sldId id="593" r:id="rId37"/>
    <p:sldId id="595" r:id="rId38"/>
    <p:sldId id="596" r:id="rId39"/>
    <p:sldId id="597" r:id="rId40"/>
    <p:sldId id="295" r:id="rId41"/>
    <p:sldId id="598" r:id="rId42"/>
    <p:sldId id="472" r:id="rId43"/>
    <p:sldId id="599" r:id="rId44"/>
    <p:sldId id="467" r:id="rId45"/>
    <p:sldId id="468" r:id="rId46"/>
    <p:sldId id="465" r:id="rId47"/>
    <p:sldId id="602" r:id="rId48"/>
    <p:sldId id="603" r:id="rId49"/>
    <p:sldId id="604" r:id="rId50"/>
    <p:sldId id="600" r:id="rId51"/>
    <p:sldId id="466" r:id="rId52"/>
    <p:sldId id="601" r:id="rId53"/>
    <p:sldId id="606" r:id="rId54"/>
    <p:sldId id="605" r:id="rId55"/>
    <p:sldId id="470" r:id="rId56"/>
    <p:sldId id="471" r:id="rId57"/>
    <p:sldId id="607" r:id="rId58"/>
    <p:sldId id="608" r:id="rId59"/>
    <p:sldId id="609" r:id="rId60"/>
    <p:sldId id="610" r:id="rId61"/>
    <p:sldId id="611" r:id="rId62"/>
    <p:sldId id="616" r:id="rId63"/>
    <p:sldId id="617" r:id="rId64"/>
    <p:sldId id="624" r:id="rId65"/>
    <p:sldId id="626" r:id="rId66"/>
    <p:sldId id="625" r:id="rId67"/>
    <p:sldId id="627" r:id="rId68"/>
    <p:sldId id="452" r:id="rId69"/>
    <p:sldId id="453" r:id="rId70"/>
    <p:sldId id="551" r:id="rId7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843C0C"/>
    <a:srgbClr val="BEBEF4"/>
    <a:srgbClr val="DBDBF9"/>
    <a:srgbClr val="C29E86"/>
    <a:srgbClr val="CDCDF7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429" autoAdjust="0"/>
    <p:restoredTop sz="65235" autoAdjust="0"/>
  </p:normalViewPr>
  <p:slideViewPr>
    <p:cSldViewPr snapToGrid="0">
      <p:cViewPr varScale="1">
        <p:scale>
          <a:sx n="50" d="100"/>
          <a:sy n="50" d="100"/>
        </p:scale>
        <p:origin x="1363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2980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viewProps" Target="view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tableStyles" Target="tableStyles.xml"/><Relationship Id="rId7" Type="http://schemas.openxmlformats.org/officeDocument/2006/relationships/slide" Target="slides/slide5.xml"/><Relationship Id="rId71" Type="http://schemas.openxmlformats.org/officeDocument/2006/relationships/slide" Target="slides/slide6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C5B4B0-65D4-4E33-8144-61AC5D25D1E9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DD49BE-BF5F-4C11-9ED4-DFF65B4717A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1565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5%BE%AE%E5%88%86%E6%96%B9%E7%A8%8B/4763?fromModule=lemma_inlink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baike.baidu.com/item/%E7%94%B5%E5%8A%A8%E6%9C%BA/63197?fromModule=lemma_inlink" TargetMode="External"/><Relationship Id="rId5" Type="http://schemas.openxmlformats.org/officeDocument/2006/relationships/hyperlink" Target="https://baike.baidu.com/item/%E5%8D%B0%E5%88%B7%E6%9C%BA/0?fromModule=lemma_inlink" TargetMode="External"/><Relationship Id="rId4" Type="http://schemas.openxmlformats.org/officeDocument/2006/relationships/hyperlink" Target="https://baike.baidu.com/item/%E5%8F%B0%E7%90%83%E6%A1%8C/6669292?fromModule=lemma_inlink" TargetMode="Externa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3156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贡献：明白意义和价值</a:t>
            </a:r>
            <a:endParaRPr lang="en-US" altLang="zh-CN" dirty="0"/>
          </a:p>
          <a:p>
            <a:r>
              <a:rPr lang="zh-CN" altLang="en-US" dirty="0"/>
              <a:t>原理：了解图灵机的组成和运行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3025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4800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arial" panose="020B0604020202020204" pitchFamily="34" charset="0"/>
              </a:rPr>
              <a:t>德国在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arial" panose="020B0604020202020204" pitchFamily="34" charset="0"/>
              </a:rPr>
              <a:t>1926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arial" panose="020B0604020202020204" pitchFamily="34" charset="0"/>
              </a:rPr>
              <a:t>年，海军配备恩尼格玛机，并逐步扩展到陆军和空军。</a:t>
            </a:r>
            <a:endParaRPr lang="en-US" altLang="zh-CN" b="0" i="0" dirty="0">
              <a:solidFill>
                <a:srgbClr val="05073B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arial" panose="020B0604020202020204" pitchFamily="34" charset="0"/>
              </a:rPr>
              <a:t>在二战初期，恩尼格玛机为德国提供了几乎无法破译的通讯保障，使得德国在情报战中占据绝对优势。</a:t>
            </a:r>
            <a:endParaRPr lang="en-US" altLang="zh-CN" b="0" i="0" dirty="0">
              <a:solidFill>
                <a:srgbClr val="05073B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arial" panose="020B0604020202020204" pitchFamily="34" charset="0"/>
              </a:rPr>
              <a:t>德国军方依赖恩尼格玛机加密战略和战术信息，使得盟军在战争初期难以获取德军的真实意图。</a:t>
            </a:r>
            <a:endParaRPr lang="en-US" altLang="zh-CN" b="0" i="0" dirty="0">
              <a:solidFill>
                <a:srgbClr val="05073B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dirty="0"/>
              <a:t>1915</a:t>
            </a:r>
            <a:r>
              <a:rPr lang="zh-CN" altLang="en-US" dirty="0"/>
              <a:t>年广义相对论，</a:t>
            </a:r>
            <a:r>
              <a:rPr lang="en-US" altLang="zh-CN" dirty="0"/>
              <a:t>1927</a:t>
            </a:r>
            <a:r>
              <a:rPr lang="zh-CN" altLang="en-US" dirty="0"/>
              <a:t>年（</a:t>
            </a:r>
            <a:r>
              <a:rPr lang="en-US" altLang="zh-CN" dirty="0"/>
              <a:t>15</a:t>
            </a:r>
            <a:r>
              <a:rPr lang="zh-CN" altLang="en-US" dirty="0"/>
              <a:t>岁）相对论，</a:t>
            </a:r>
            <a:r>
              <a:rPr lang="en-US" altLang="zh-CN" dirty="0"/>
              <a:t>19</a:t>
            </a:r>
            <a:r>
              <a:rPr lang="zh-CN" altLang="en-US" dirty="0"/>
              <a:t>岁剑桥大学国王学院，</a:t>
            </a:r>
            <a:r>
              <a:rPr lang="en-US" altLang="zh-CN" dirty="0"/>
              <a:t>1939</a:t>
            </a:r>
            <a:r>
              <a:rPr lang="zh-CN" altLang="en-US" dirty="0"/>
              <a:t>年（</a:t>
            </a:r>
            <a:r>
              <a:rPr lang="en-US" altLang="zh-CN" dirty="0"/>
              <a:t>27</a:t>
            </a:r>
            <a:r>
              <a:rPr lang="zh-CN" altLang="en-US" dirty="0"/>
              <a:t>岁）军情六处参与破译</a:t>
            </a:r>
            <a:r>
              <a:rPr lang="en-US" altLang="zh-CN" dirty="0"/>
              <a:t>bombe</a:t>
            </a:r>
            <a:r>
              <a:rPr lang="zh-CN" altLang="en-US" dirty="0"/>
              <a:t>，</a:t>
            </a:r>
            <a:r>
              <a:rPr lang="en-US" altLang="zh-CN" dirty="0"/>
              <a:t>1941-1942</a:t>
            </a:r>
            <a:r>
              <a:rPr lang="zh-CN" altLang="en-US" dirty="0"/>
              <a:t>反法西斯同盟，</a:t>
            </a:r>
            <a:r>
              <a:rPr lang="en-US" altLang="zh-CN" dirty="0"/>
              <a:t>1945</a:t>
            </a:r>
            <a:r>
              <a:rPr lang="zh-CN" altLang="en-US" dirty="0"/>
              <a:t>年雅尔塔会议</a:t>
            </a:r>
            <a:endParaRPr lang="en-US" altLang="zh-CN" dirty="0"/>
          </a:p>
          <a:p>
            <a:r>
              <a:rPr lang="en-US" altLang="zh-CN" dirty="0"/>
              <a:t>1945</a:t>
            </a:r>
            <a:r>
              <a:rPr lang="zh-CN" altLang="en-US" dirty="0"/>
              <a:t>回到实验室，作出计算机编程可与人类智能竞争，</a:t>
            </a:r>
            <a:r>
              <a:rPr lang="en-US" altLang="zh-CN" dirty="0"/>
              <a:t>1950</a:t>
            </a:r>
            <a:r>
              <a:rPr lang="zh-CN" altLang="en-US" dirty="0"/>
              <a:t>图灵测试，同年表了名为</a:t>
            </a:r>
            <a:r>
              <a:rPr lang="en-US" altLang="zh-CN" dirty="0"/>
              <a:t>《</a:t>
            </a:r>
            <a:r>
              <a:rPr lang="zh-CN" altLang="en-US" dirty="0"/>
              <a:t>计算机器与智能</a:t>
            </a:r>
            <a:r>
              <a:rPr lang="en-US" altLang="zh-CN" dirty="0"/>
              <a:t>》</a:t>
            </a:r>
            <a:r>
              <a:rPr lang="zh-CN" altLang="en-US" dirty="0"/>
              <a:t>的论文，论文的第一句话是：“我建议大家考虑一个问题：机器能思考吗？”</a:t>
            </a:r>
            <a:r>
              <a:rPr lang="en-US" altLang="zh-CN" dirty="0"/>
              <a:t>1952</a:t>
            </a:r>
            <a:r>
              <a:rPr lang="zh-CN" altLang="en-US" dirty="0"/>
              <a:t>年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阿诺德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•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莫里（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Arnold Murray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）</a:t>
            </a:r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1954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氰化物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1943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年 香农贝尔实验室（信息，测度，计算，文化）</a:t>
            </a:r>
            <a:endParaRPr lang="en-US" altLang="zh-CN" b="0" i="0" dirty="0">
              <a:solidFill>
                <a:srgbClr val="333333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zh-CN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2013 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伊丽莎白二世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3758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计算机极限计算能力就是通用图灵机的计算能力，可计算问题转化成图灵机这个简单模型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08481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709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https://aturingmachine.com/ </a:t>
            </a:r>
            <a:r>
              <a:rPr lang="zh-CN" altLang="en-US" dirty="0"/>
              <a:t>图灵机机器的演示和解释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51219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https://www.bilibili.com/video/BV13v4y1w7yM?spm_id_from=333.788.videopod.sections&amp;vd_source=48a627daf50216cd5222df41f1909e87</a:t>
            </a:r>
          </a:p>
          <a:p>
            <a:r>
              <a:rPr lang="zh-CN" altLang="en-US" dirty="0"/>
              <a:t>图灵机运行示例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11378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0413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1942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月，奥本海默被任命为“曼哈顿计划”首席科学家。美国政府斥资</a:t>
            </a:r>
            <a:r>
              <a:rPr lang="en-US" altLang="zh-CN" dirty="0"/>
              <a:t>20</a:t>
            </a:r>
            <a:r>
              <a:rPr lang="zh-CN" altLang="en-US" dirty="0"/>
              <a:t>亿美元，在新墨西哥州沙漠建立洛斯阿拉莫斯国家实验室</a:t>
            </a:r>
            <a:endParaRPr lang="en-US" altLang="zh-CN" dirty="0"/>
          </a:p>
          <a:p>
            <a:r>
              <a:rPr lang="en-US" altLang="zh-CN" dirty="0"/>
              <a:t>1945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月，美国接连向日本广岛、长崎投下原子弹</a:t>
            </a:r>
            <a:endParaRPr lang="en-US" altLang="zh-CN" dirty="0"/>
          </a:p>
          <a:p>
            <a:r>
              <a:rPr lang="en-US" altLang="zh-CN" dirty="0"/>
              <a:t>1949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29</a:t>
            </a:r>
            <a:r>
              <a:rPr lang="zh-CN" altLang="en-US" dirty="0"/>
              <a:t>日，苏联居然也成功研制出原子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5652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1942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月，奥本海默被任命为“曼哈顿计划”首席科学家。美国政府斥资</a:t>
            </a:r>
            <a:r>
              <a:rPr lang="en-US" altLang="zh-CN" dirty="0"/>
              <a:t>20</a:t>
            </a:r>
            <a:r>
              <a:rPr lang="zh-CN" altLang="en-US" dirty="0"/>
              <a:t>亿美元，在新墨西哥州沙漠建立洛斯阿拉莫斯国家实验室</a:t>
            </a:r>
            <a:endParaRPr lang="en-US" altLang="zh-CN" dirty="0"/>
          </a:p>
          <a:p>
            <a:r>
              <a:rPr lang="en-US" altLang="zh-CN" dirty="0"/>
              <a:t>1945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月，美国接连向日本广岛、长崎投下原子弹</a:t>
            </a:r>
            <a:endParaRPr lang="en-US" altLang="zh-CN" dirty="0"/>
          </a:p>
          <a:p>
            <a:r>
              <a:rPr lang="en-US" altLang="zh-CN" dirty="0"/>
              <a:t>1949</a:t>
            </a:r>
            <a:r>
              <a:rPr lang="zh-CN" altLang="en-US" dirty="0"/>
              <a:t>年</a:t>
            </a:r>
            <a:r>
              <a:rPr lang="en-US" altLang="zh-CN" dirty="0"/>
              <a:t>8</a:t>
            </a:r>
            <a:r>
              <a:rPr lang="zh-CN" altLang="en-US" dirty="0"/>
              <a:t>月</a:t>
            </a:r>
            <a:r>
              <a:rPr lang="en-US" altLang="zh-CN" dirty="0"/>
              <a:t>29</a:t>
            </a:r>
            <a:r>
              <a:rPr lang="zh-CN" altLang="en-US" dirty="0"/>
              <a:t>日，苏联居然也成功研制出原子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DD49BE-BF5F-4C11-9ED4-DFF65B4717A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96270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91011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94817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3949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普林斯顿结构</a:t>
            </a:r>
            <a:endParaRPr lang="en-US" altLang="zh-CN" dirty="0"/>
          </a:p>
          <a:p>
            <a:r>
              <a:rPr lang="zh-CN" altLang="en-US" dirty="0"/>
              <a:t>图灵机</a:t>
            </a:r>
            <a:endParaRPr lang="en-US" altLang="zh-CN" dirty="0"/>
          </a:p>
          <a:p>
            <a:r>
              <a:rPr lang="en-US" altLang="zh-CN" dirty="0"/>
              <a:t>1.</a:t>
            </a:r>
            <a:r>
              <a:rPr lang="zh-CN" altLang="en-US" dirty="0"/>
              <a:t>解决了无限纸带</a:t>
            </a:r>
            <a:r>
              <a:rPr lang="en-US" altLang="zh-CN" dirty="0"/>
              <a:t>—</a:t>
            </a:r>
            <a:r>
              <a:rPr lang="zh-CN" altLang="en-US" dirty="0"/>
              <a:t>用存储器图灵机的存储结构只有一条无限长的纸带，数据和指令都存储在这条纸带上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解决了程序控制自动运行，无需手动调整硬件电路</a:t>
            </a:r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图灵机的操作主要是通过读写头对纸带数据读取和修改，并通过一系列状态转移规则来实现计算过程。而冯诺依曼机的操作方式则是基于指令集架构，通过运算器执行指令中算术和逻辑运算来实现计算。</a:t>
            </a:r>
            <a:endParaRPr lang="en-US" altLang="zh-CN" dirty="0"/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冯诺依曼机具有更强的可编程性，用户编写程序将自己 需求转化为一系列指令，并通过存储器和运算器执行指令完成计算过程。而图灵机虽然也具有可编程性，但更多的是作为一种理论计算模型来研究计算的本质和极限。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03425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哈佛架构）。哈弗结构是一种将程序指令存储和数据存储分开的存储器结构，即程序存储器和数据存储器是两个独立的存储器，每个存储器独立编址、独立访问。这种结构有利于处理大批量的数据，并支持并行读取，因此具有较高的数据吞吐率。哈弗结构通常用于嵌入式系统处理器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DSP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等领域。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哈佛结构虽然解决了资源冲突的问题，但是失去了灵活性，我们没有办法根据实际的应用去动态分配内存了。</a:t>
            </a:r>
          </a:p>
          <a:p>
            <a:pPr algn="l"/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现代了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CPU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虽然没有在内存层面进行对应的拆分，却在 </a:t>
            </a:r>
            <a:r>
              <a:rPr lang="en-US" altLang="zh-CN" b="0" i="0" dirty="0">
                <a:solidFill>
                  <a:srgbClr val="4D4D4D"/>
                </a:solidFill>
                <a:effectLst/>
                <a:latin typeface="-apple-system"/>
              </a:rPr>
              <a:t>CPU </a:t>
            </a:r>
            <a:r>
              <a:rPr lang="zh-CN" altLang="en-US" b="0" i="0" dirty="0">
                <a:solidFill>
                  <a:srgbClr val="4D4D4D"/>
                </a:solidFill>
                <a:effectLst/>
                <a:latin typeface="-apple-system"/>
              </a:rPr>
              <a:t>内部的高速缓存部分进行了区分，把高速缓存分成了指令缓存和数据缓存。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331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5386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各类信息，如文字图片都可编码成二进制数据，输入到存储器，然后送到运算器，运算完毕，再送到存储器，最后输出，整个过程控制器控制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9214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3537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巨型计算机天河二号（国防可达）每秒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33.86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千万亿次运算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27877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0515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43717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从计算机的理论模型图灵机和系统构架冯</a:t>
            </a:r>
            <a:r>
              <a:rPr lang="en-US" altLang="zh-CN" dirty="0"/>
              <a:t>•</a:t>
            </a:r>
            <a:r>
              <a:rPr lang="zh-CN" altLang="en-US" dirty="0"/>
              <a:t>诺依曼机的起点出发审视计算机的能力，计算机所做的一切（死机、故障不算）实际上都是按照人的指令来进行的。</a:t>
            </a:r>
          </a:p>
          <a:p>
            <a:r>
              <a:rPr lang="zh-CN" altLang="en-US" dirty="0"/>
              <a:t>计算机只不过是一个符号处理的机器，即使有时似乎感觉到了计算机似乎有什么“智能”的话，那也是人放进去的</a:t>
            </a:r>
            <a:endParaRPr lang="en-US" altLang="zh-CN" dirty="0"/>
          </a:p>
          <a:p>
            <a:r>
              <a:rPr lang="zh-CN" altLang="en-US" b="1" i="0" dirty="0">
                <a:solidFill>
                  <a:srgbClr val="05073B"/>
                </a:solidFill>
                <a:effectLst/>
                <a:latin typeface="-apple-system"/>
              </a:rPr>
              <a:t>真正的情感理解与表达，创造性思维和艺术创新，伦理道德判断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，</a:t>
            </a:r>
            <a:r>
              <a:rPr lang="zh-CN" altLang="en-US" b="1" i="0" dirty="0">
                <a:solidFill>
                  <a:srgbClr val="05073B"/>
                </a:solidFill>
                <a:effectLst/>
                <a:latin typeface="-apple-system"/>
              </a:rPr>
              <a:t>直觉和第六感，复杂的情感交流，自我意识和主观体验，真正的共情能力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3189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Helvetica Neue"/>
              </a:rPr>
              <a:t>保尔</a:t>
            </a:r>
            <a:r>
              <a:rPr lang="en-US" altLang="zh-CN" b="0" i="0" dirty="0">
                <a:solidFill>
                  <a:srgbClr val="000000"/>
                </a:solidFill>
                <a:effectLst/>
                <a:latin typeface="Helvetica Neue"/>
              </a:rPr>
              <a:t>•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Helvetica Neue"/>
              </a:rPr>
              <a:t>柯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096261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计算机发展经历漫长时期，人类最早结绳，石块，贝壳或划痕记数，</a:t>
            </a:r>
            <a:endParaRPr lang="en-US" altLang="zh-CN" dirty="0"/>
          </a:p>
          <a:p>
            <a:r>
              <a:rPr lang="zh-CN" altLang="en-US" dirty="0"/>
              <a:t>手工中国周朝和古埃及的十进制，早在春秋战国时期的九九乘法表，以及算盘，</a:t>
            </a:r>
            <a:r>
              <a:rPr lang="en-US" altLang="zh-CN" dirty="0"/>
              <a:t>1642</a:t>
            </a:r>
            <a:r>
              <a:rPr lang="zh-CN" altLang="en-US" dirty="0"/>
              <a:t>法国数学家帕斯卡发明加法机，实现机器计算自动化开始，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641129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计算机发展经历漫长时期，人类最早结绳（新石器时代），石块，贝壳或划痕记数，</a:t>
            </a:r>
            <a:endParaRPr lang="en-US" altLang="zh-CN" dirty="0"/>
          </a:p>
          <a:p>
            <a:r>
              <a:rPr lang="zh-CN" altLang="en-US" dirty="0"/>
              <a:t>手工中国周朝和古埃及的十进制，早在春秋战国时期的九九乘法表，以及算盘，</a:t>
            </a:r>
            <a:endParaRPr lang="en-US" altLang="zh-CN" dirty="0"/>
          </a:p>
          <a:p>
            <a:r>
              <a:rPr lang="en-US" altLang="zh-CN" dirty="0"/>
              <a:t>1642</a:t>
            </a:r>
            <a:r>
              <a:rPr lang="zh-CN" altLang="en-US" dirty="0"/>
              <a:t>法国数学家帕斯卡发明加法机，实现机器计算自动化开始，</a:t>
            </a:r>
            <a:endParaRPr lang="en-US" altLang="zh-CN" dirty="0"/>
          </a:p>
          <a:p>
            <a:r>
              <a:rPr lang="en-US" altLang="zh-CN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1833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年巴贝奇开始了分析机（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Analytical Engine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）的设计，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伦敦科学博物馆照着巴贝奇的图纸，打造了一台完整的差分机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号，这台巨大的手摇智能机械计算机，长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3.35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米，高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2.13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米，有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4000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多个零件，重</a:t>
            </a:r>
            <a:r>
              <a:rPr lang="en-US" altLang="zh-CN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2.5</a:t>
            </a:r>
            <a:r>
              <a:rPr lang="zh-CN" altLang="en-US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吨。</a:t>
            </a:r>
            <a:endParaRPr lang="en-US" altLang="zh-CN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r>
              <a:rPr lang="zh-CN" altLang="en-US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并于</a:t>
            </a:r>
            <a:r>
              <a:rPr lang="en-US" altLang="zh-CN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1834</a:t>
            </a:r>
            <a:r>
              <a:rPr lang="zh-CN" altLang="en-US" b="0" i="0" dirty="0">
                <a:solidFill>
                  <a:srgbClr val="2C3E50"/>
                </a:solidFill>
                <a:effectLst/>
                <a:latin typeface="Arial" panose="020B0604020202020204" pitchFamily="34" charset="0"/>
              </a:rPr>
              <a:t>年接替了差分机的项目机械通用计算机。利用手转手柄，拨动杠杆，手摇计算器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4008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微分分析器算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3"/>
              </a:rPr>
              <a:t>微分方程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的专用计算装置它没有键盘，占地约几十平方米，看起来有点像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4"/>
              </a:rPr>
              <a:t>台球桌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，又有点像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5"/>
              </a:rPr>
              <a:t>印刷机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。分析仪有几百根平行的钢轴，安放在一个桌子一样的金属柜架上，一个个</a:t>
            </a:r>
            <a:r>
              <a:rPr lang="zh-CN" altLang="en-US" b="0" i="0" u="none" strike="noStrike" dirty="0">
                <a:solidFill>
                  <a:srgbClr val="136EC2"/>
                </a:solidFill>
                <a:effectLst/>
                <a:latin typeface="Helvetica Neue"/>
                <a:hlinkClick r:id="rId6"/>
              </a:rPr>
              <a:t>电动机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通过齿轮使这些轴转动，通过轴的转动来进行数的模拟运算。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2665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94044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最前沿技术首先用于军事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4332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66673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性能和当前计算机差很多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754839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21034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主存储器用半导体存储器，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首个指令集可兼容计算机</a:t>
            </a:r>
            <a:endParaRPr lang="en-US" altLang="zh-CN" dirty="0"/>
          </a:p>
          <a:p>
            <a:r>
              <a:rPr lang="en-US" altLang="zh-CN" dirty="0"/>
              <a:t>1965</a:t>
            </a:r>
            <a:r>
              <a:rPr lang="zh-CN" altLang="en-US" dirty="0"/>
              <a:t>年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英特尔公司联合创始人兼名誉董事长</a:t>
            </a:r>
            <a:r>
              <a:rPr lang="zh-CN" altLang="en-US" dirty="0"/>
              <a:t>戈登摩尔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提出的一个观察性规律</a:t>
            </a:r>
            <a:r>
              <a:rPr lang="zh-CN" altLang="en-US" dirty="0"/>
              <a:t>：集成电路上可容纳的晶体管数目，每隔</a:t>
            </a:r>
            <a:r>
              <a:rPr lang="en-US" altLang="zh-CN" dirty="0"/>
              <a:t>18</a:t>
            </a:r>
            <a:r>
              <a:rPr lang="zh-CN" altLang="en-US" dirty="0"/>
              <a:t>个月会增加</a:t>
            </a:r>
            <a:r>
              <a:rPr lang="en-US" altLang="zh-CN" dirty="0"/>
              <a:t>1</a:t>
            </a:r>
            <a:r>
              <a:rPr lang="zh-CN" altLang="en-US" dirty="0"/>
              <a:t>倍，性能也会提升</a:t>
            </a:r>
            <a:r>
              <a:rPr lang="en-US" altLang="zh-CN" dirty="0"/>
              <a:t>1</a:t>
            </a:r>
            <a:r>
              <a:rPr lang="zh-CN" altLang="en-US" dirty="0"/>
              <a:t>倍，即摩尔定律（性能提升，成本降低）</a:t>
            </a:r>
            <a:endParaRPr lang="en-US" altLang="zh-CN" dirty="0"/>
          </a:p>
          <a:p>
            <a:r>
              <a:rPr lang="zh-CN" altLang="en-US" dirty="0"/>
              <a:t>软件，批处理，分时，实施操作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以前计算机每台都有自己定义的指令集，每发展一台新计算机就必须重新撰写程序，因为向上兼容的技术，</a:t>
            </a:r>
            <a:r>
              <a:rPr lang="en-US" altLang="zh-CN" dirty="0"/>
              <a:t>System/360</a:t>
            </a:r>
            <a:r>
              <a:rPr lang="zh-CN" altLang="en-US" dirty="0"/>
              <a:t>系列可随需求增加而逐步扩充，并可依耗电量、运算速率、内存需求搭配硬件组合，成为第一部具有硬件扩充弹性化的特点的大型主机。许多</a:t>
            </a:r>
            <a:r>
              <a:rPr lang="en-US" altLang="zh-CN" dirty="0"/>
              <a:t>System/360</a:t>
            </a:r>
            <a:r>
              <a:rPr lang="zh-CN" altLang="en-US" dirty="0"/>
              <a:t>的核心技术奠定了当今数据库技术、个人计算机风潮、因特网的发展、在线购物和</a:t>
            </a:r>
            <a:r>
              <a:rPr lang="en-US" altLang="zh-CN" dirty="0"/>
              <a:t>e-business</a:t>
            </a:r>
            <a:r>
              <a:rPr lang="zh-CN" altLang="en-US" dirty="0"/>
              <a:t>的基础；</a:t>
            </a:r>
            <a:r>
              <a:rPr lang="en-US" altLang="zh-CN" dirty="0"/>
              <a:t>IBM</a:t>
            </a:r>
            <a:r>
              <a:rPr lang="zh-CN" altLang="en-US" dirty="0"/>
              <a:t>旗下的服务器许多技术也来自于大型主机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49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4787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计算机发展经历漫长时期，人类最早结绳，或划痕记数，中国周朝和古埃及的十进制，早在春秋战国时期的九九乘法表，以及算盘，</a:t>
            </a:r>
            <a:r>
              <a:rPr lang="en-US" altLang="zh-CN" dirty="0"/>
              <a:t>1642</a:t>
            </a:r>
            <a:r>
              <a:rPr lang="zh-CN" altLang="en-US" dirty="0"/>
              <a:t>法国数学家帕斯卡发明加法机，实现机器计算自动化开始，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744488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4</a:t>
            </a:r>
            <a:r>
              <a:rPr lang="zh-CN" altLang="en-US" dirty="0"/>
              <a:t>代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ILLIAC-IV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是一台阵列机，采用了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64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个处理单元（</a:t>
            </a:r>
            <a:r>
              <a:rPr lang="en-US" altLang="zh-CN" b="0" i="0" dirty="0">
                <a:solidFill>
                  <a:srgbClr val="05073B"/>
                </a:solidFill>
                <a:effectLst/>
                <a:latin typeface="-apple-system"/>
              </a:rPr>
              <a:t>PE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）在统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21658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36441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200" dirty="0">
                <a:latin typeface="Times New Roman" pitchFamily="18" charset="0"/>
              </a:rPr>
              <a:t>1975</a:t>
            </a:r>
            <a:r>
              <a:rPr lang="zh-CN" altLang="en-US" sz="1200" dirty="0">
                <a:latin typeface="Times New Roman" pitchFamily="18" charset="0"/>
              </a:rPr>
              <a:t>年</a:t>
            </a:r>
            <a:r>
              <a:rPr lang="en-US" altLang="zh-CN" sz="1200" dirty="0">
                <a:latin typeface="Times New Roman" pitchFamily="18" charset="0"/>
              </a:rPr>
              <a:t>7</a:t>
            </a:r>
            <a:r>
              <a:rPr lang="zh-CN" altLang="en-US" sz="1200" dirty="0">
                <a:latin typeface="Times New Roman" pitchFamily="18" charset="0"/>
              </a:rPr>
              <a:t>月，比尔</a:t>
            </a:r>
            <a:r>
              <a:rPr lang="en-US" altLang="zh-CN" sz="1200" dirty="0">
                <a:latin typeface="Times New Roman" pitchFamily="18" charset="0"/>
              </a:rPr>
              <a:t>·</a:t>
            </a:r>
            <a:r>
              <a:rPr lang="zh-CN" altLang="en-US" sz="1200" dirty="0">
                <a:latin typeface="Times New Roman" pitchFamily="18" charset="0"/>
              </a:rPr>
              <a:t>盖茨（</a:t>
            </a:r>
            <a:r>
              <a:rPr lang="en-US" altLang="zh-CN" sz="1200" dirty="0" err="1">
                <a:latin typeface="Times New Roman" pitchFamily="18" charset="0"/>
              </a:rPr>
              <a:t>B·Gates</a:t>
            </a:r>
            <a:r>
              <a:rPr lang="zh-CN" altLang="en-US" sz="1200" dirty="0">
                <a:latin typeface="Times New Roman" pitchFamily="18" charset="0"/>
              </a:rPr>
              <a:t>）在成功为牛郎星配上了</a:t>
            </a:r>
            <a:r>
              <a:rPr lang="en-US" altLang="zh-CN" sz="1200" dirty="0">
                <a:latin typeface="Times New Roman" pitchFamily="18" charset="0"/>
              </a:rPr>
              <a:t>BASIC</a:t>
            </a:r>
            <a:r>
              <a:rPr lang="zh-CN" altLang="en-US" sz="1200" dirty="0">
                <a:latin typeface="Times New Roman" pitchFamily="18" charset="0"/>
              </a:rPr>
              <a:t>语言之后，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76794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334952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179502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那计算机和计算又有什么关系？计算是抽象概念，如何实现运行，需要计算机实体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394968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计算的方法结合计算实现的平台实现现实世界中的行为的科学，举例</a:t>
            </a:r>
            <a:r>
              <a:rPr lang="en-US" altLang="zh-CN" dirty="0"/>
              <a:t>1</a:t>
            </a:r>
            <a:r>
              <a:rPr lang="zh-CN" altLang="en-US" dirty="0"/>
              <a:t>）现实问题用什么模型描述，如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2X+1=5  2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）该模型是否有解，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）如何解，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）如何将步骤变成计算机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0,1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执行 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1,2,3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是计算问题，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为计算机问题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147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计算的方法结合计算实现的平台实现现实世界中的行为的科学，举例</a:t>
            </a:r>
            <a:r>
              <a:rPr lang="en-US" altLang="zh-CN" dirty="0"/>
              <a:t>1</a:t>
            </a:r>
            <a:r>
              <a:rPr lang="zh-CN" altLang="en-US" dirty="0"/>
              <a:t>）现实问题用什么模型描述，如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2X+1=5  2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）该模型是否有解，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）如何解，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）如何将步骤变成计算机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0,1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执行 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1,2,3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是计算问题，</a:t>
            </a:r>
            <a:r>
              <a:rPr lang="en-US" altLang="zh-CN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4</a:t>
            </a:r>
            <a:r>
              <a:rPr lang="zh-CN" altLang="en-US" sz="1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为计算机问题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67213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919543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9102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化繁为简：</a:t>
            </a:r>
            <a:r>
              <a:rPr lang="en-US" altLang="zh-CN" dirty="0"/>
              <a:t>2</a:t>
            </a:r>
            <a:r>
              <a:rPr lang="zh-CN" altLang="en-US" dirty="0"/>
              <a:t>个分类和</a:t>
            </a:r>
            <a:r>
              <a:rPr lang="en-US" altLang="zh-CN" dirty="0"/>
              <a:t>3</a:t>
            </a:r>
            <a:r>
              <a:rPr lang="zh-CN" altLang="en-US" dirty="0"/>
              <a:t>分类</a:t>
            </a:r>
            <a:endParaRPr lang="en-US" altLang="zh-CN" dirty="0"/>
          </a:p>
          <a:p>
            <a:r>
              <a:rPr lang="zh-CN" altLang="en-US" dirty="0"/>
              <a:t>抽象与分解：非线性问题</a:t>
            </a:r>
            <a:r>
              <a:rPr lang="en-US" altLang="zh-CN" dirty="0"/>
              <a:t>---</a:t>
            </a:r>
            <a:r>
              <a:rPr lang="zh-CN" altLang="en-US" dirty="0"/>
              <a:t>线性问题 </a:t>
            </a:r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非线性函数的定义域分割成多个区间，并在每个区间内用一条直线逼近原函数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如何效率高出门，预置和缓存。学习效率，空间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，时间有序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启发式：基于经验、直观或类比来解决问题的方法，逐步逼近，它能够在有限的时间和资源下找到一个相对较好的解，而不一定是最优解</a:t>
            </a:r>
            <a:endParaRPr lang="en-US" altLang="zh-CN" b="0" i="0" dirty="0">
              <a:solidFill>
                <a:srgbClr val="05073B"/>
              </a:solidFill>
              <a:effectLst/>
              <a:latin typeface="-apple-system"/>
            </a:endParaRPr>
          </a:p>
          <a:p>
            <a:r>
              <a:rPr lang="zh-CN" altLang="en-US" b="0" i="0" dirty="0">
                <a:solidFill>
                  <a:srgbClr val="05073B"/>
                </a:solidFill>
                <a:effectLst/>
                <a:latin typeface="-apple-system"/>
              </a:rPr>
              <a:t>递归：大变小，逐个解决再合并，或并行解决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78002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467835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0DD49BE-BF5F-4C11-9ED4-DFF65B4717AF}" type="slidenum">
              <a:rPr lang="zh-CN" altLang="en-US" smtClean="0"/>
              <a:pPr/>
              <a:t>68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56381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8910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448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4820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660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1206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0883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3545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06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6005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3850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29812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742950" indent="-285750"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4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  <a:endParaRPr lang="en-US" altLang="zh-CN"/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7"/>
          <p:cNvSpPr txBox="1">
            <a:spLocks noChangeArrowheads="1"/>
          </p:cNvSpPr>
          <p:nvPr userDrawn="1"/>
        </p:nvSpPr>
        <p:spPr bwMode="auto">
          <a:xfrm>
            <a:off x="9898916" y="130167"/>
            <a:ext cx="2064527" cy="4120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>
            <a:defPPr>
              <a:defRPr lang="zh-CN"/>
            </a:defPPr>
            <a:lvl1pPr marL="0" algn="r" defTabSz="914400" rtl="0" eaLnBrk="1" latinLnBrk="0" hangingPunct="1"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fld id="{C5E79471-F8A8-4285-BECE-D9E30C77A9C8}" type="slidenum">
              <a:rPr lang="zh-CN" altLang="en-US" sz="1600" b="0" smtClean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pPr/>
              <a:t>‹#›</a:t>
            </a:fld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 共</a:t>
            </a:r>
            <a:r>
              <a:rPr lang="en-US" altLang="zh-CN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152</a:t>
            </a:r>
            <a:r>
              <a:rPr lang="zh-CN" altLang="en-US" sz="1600" b="0" dirty="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页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1687" y="73046"/>
            <a:ext cx="4401894" cy="4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079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01734" y="21266"/>
            <a:ext cx="10111563" cy="512177"/>
          </a:xfrm>
          <a:prstGeom prst="rect">
            <a:avLst/>
          </a:prstGeom>
        </p:spPr>
        <p:txBody>
          <a:bodyPr/>
          <a:lstStyle>
            <a:lvl1pPr algn="l">
              <a:defRPr sz="240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2771" y="627322"/>
            <a:ext cx="11557591" cy="5996762"/>
          </a:xfrm>
        </p:spPr>
        <p:txBody>
          <a:bodyPr/>
          <a:lstStyle>
            <a:lvl1pPr marL="360000" indent="-360000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sz="24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indent="-360000">
              <a:lnSpc>
                <a:spcPct val="100000"/>
              </a:lnSpc>
              <a:spcBef>
                <a:spcPts val="50"/>
              </a:spcBef>
              <a:defRPr sz="2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3pPr>
            <a:lvl4pPr marL="1080000" indent="-360000">
              <a:spcBef>
                <a:spcPts val="50"/>
              </a:spcBef>
              <a:buFont typeface="Arial" panose="020B0604020202020204" pitchFamily="34" charset="0"/>
              <a:buChar char="•"/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6pPr marL="720000" indent="-360000">
              <a:spcBef>
                <a:spcPts val="50"/>
              </a:spcBef>
              <a:defRPr sz="18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6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</a:t>
            </a:r>
            <a:r>
              <a:rPr lang="en-US" altLang="zh-CN"/>
              <a:t>4</a:t>
            </a:r>
            <a:r>
              <a:rPr lang="zh-CN" altLang="en-US"/>
              <a:t>级</a:t>
            </a:r>
            <a:endParaRPr lang="en-US" altLang="zh-CN"/>
          </a:p>
          <a:p>
            <a:pPr lvl="5"/>
            <a:r>
              <a:rPr lang="zh-CN" altLang="en-US"/>
              <a:t>第</a:t>
            </a:r>
            <a:r>
              <a:rPr lang="en-US" altLang="zh-CN"/>
              <a:t>5</a:t>
            </a:r>
            <a:r>
              <a:rPr lang="zh-CN" altLang="en-US"/>
              <a:t>级</a:t>
            </a: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414670" y="552890"/>
            <a:ext cx="11536325" cy="0"/>
          </a:xfrm>
          <a:prstGeom prst="line">
            <a:avLst/>
          </a:prstGeom>
          <a:ln cmpd="thickThin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966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08332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 userDrawn="1"/>
        </p:nvSpPr>
        <p:spPr bwMode="gray">
          <a:xfrm>
            <a:off x="0" y="0"/>
            <a:ext cx="12192000" cy="1828800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 sz="2800">
              <a:solidFill>
                <a:srgbClr val="080808"/>
              </a:solidFill>
            </a:endParaRPr>
          </a:p>
        </p:txBody>
      </p:sp>
      <p:grpSp>
        <p:nvGrpSpPr>
          <p:cNvPr id="5" name="Group 3"/>
          <p:cNvGrpSpPr>
            <a:grpSpLocks/>
          </p:cNvGrpSpPr>
          <p:nvPr userDrawn="1"/>
        </p:nvGrpSpPr>
        <p:grpSpPr bwMode="auto">
          <a:xfrm>
            <a:off x="203200" y="381000"/>
            <a:ext cx="9118600" cy="3365500"/>
            <a:chOff x="664" y="1951"/>
            <a:chExt cx="4308" cy="2120"/>
          </a:xfrm>
        </p:grpSpPr>
        <p:sp>
          <p:nvSpPr>
            <p:cNvPr id="6" name="Freeform 4"/>
            <p:cNvSpPr>
              <a:spLocks/>
            </p:cNvSpPr>
            <p:nvPr/>
          </p:nvSpPr>
          <p:spPr bwMode="invGray">
            <a:xfrm>
              <a:off x="743" y="2045"/>
              <a:ext cx="1267" cy="1938"/>
            </a:xfrm>
            <a:custGeom>
              <a:avLst/>
              <a:gdLst>
                <a:gd name="T0" fmla="*/ 16 w 1692"/>
                <a:gd name="T1" fmla="*/ 34 h 2586"/>
                <a:gd name="T2" fmla="*/ 43 w 1692"/>
                <a:gd name="T3" fmla="*/ 28 h 2586"/>
                <a:gd name="T4" fmla="*/ 57 w 1692"/>
                <a:gd name="T5" fmla="*/ 32 h 2586"/>
                <a:gd name="T6" fmla="*/ 55 w 1692"/>
                <a:gd name="T7" fmla="*/ 59 h 2586"/>
                <a:gd name="T8" fmla="*/ 36 w 1692"/>
                <a:gd name="T9" fmla="*/ 77 h 2586"/>
                <a:gd name="T10" fmla="*/ 28 w 1692"/>
                <a:gd name="T11" fmla="*/ 95 h 2586"/>
                <a:gd name="T12" fmla="*/ 37 w 1692"/>
                <a:gd name="T13" fmla="*/ 128 h 2586"/>
                <a:gd name="T14" fmla="*/ 42 w 1692"/>
                <a:gd name="T15" fmla="*/ 127 h 2586"/>
                <a:gd name="T16" fmla="*/ 43 w 1692"/>
                <a:gd name="T17" fmla="*/ 120 h 2586"/>
                <a:gd name="T18" fmla="*/ 64 w 1692"/>
                <a:gd name="T19" fmla="*/ 154 h 2586"/>
                <a:gd name="T20" fmla="*/ 86 w 1692"/>
                <a:gd name="T21" fmla="*/ 159 h 2586"/>
                <a:gd name="T22" fmla="*/ 105 w 1692"/>
                <a:gd name="T23" fmla="*/ 179 h 2586"/>
                <a:gd name="T24" fmla="*/ 113 w 1692"/>
                <a:gd name="T25" fmla="*/ 189 h 2586"/>
                <a:gd name="T26" fmla="*/ 102 w 1692"/>
                <a:gd name="T27" fmla="*/ 214 h 2586"/>
                <a:gd name="T28" fmla="*/ 121 w 1692"/>
                <a:gd name="T29" fmla="*/ 236 h 2586"/>
                <a:gd name="T30" fmla="*/ 136 w 1692"/>
                <a:gd name="T31" fmla="*/ 268 h 2586"/>
                <a:gd name="T32" fmla="*/ 145 w 1692"/>
                <a:gd name="T33" fmla="*/ 307 h 2586"/>
                <a:gd name="T34" fmla="*/ 157 w 1692"/>
                <a:gd name="T35" fmla="*/ 337 h 2586"/>
                <a:gd name="T36" fmla="*/ 168 w 1692"/>
                <a:gd name="T37" fmla="*/ 335 h 2586"/>
                <a:gd name="T38" fmla="*/ 165 w 1692"/>
                <a:gd name="T39" fmla="*/ 318 h 2586"/>
                <a:gd name="T40" fmla="*/ 170 w 1692"/>
                <a:gd name="T41" fmla="*/ 306 h 2586"/>
                <a:gd name="T42" fmla="*/ 180 w 1692"/>
                <a:gd name="T43" fmla="*/ 296 h 2586"/>
                <a:gd name="T44" fmla="*/ 191 w 1692"/>
                <a:gd name="T45" fmla="*/ 276 h 2586"/>
                <a:gd name="T46" fmla="*/ 207 w 1692"/>
                <a:gd name="T47" fmla="*/ 259 h 2586"/>
                <a:gd name="T48" fmla="*/ 214 w 1692"/>
                <a:gd name="T49" fmla="*/ 232 h 2586"/>
                <a:gd name="T50" fmla="*/ 204 w 1692"/>
                <a:gd name="T51" fmla="*/ 204 h 2586"/>
                <a:gd name="T52" fmla="*/ 181 w 1692"/>
                <a:gd name="T53" fmla="*/ 187 h 2586"/>
                <a:gd name="T54" fmla="*/ 146 w 1692"/>
                <a:gd name="T55" fmla="*/ 170 h 2586"/>
                <a:gd name="T56" fmla="*/ 128 w 1692"/>
                <a:gd name="T57" fmla="*/ 167 h 2586"/>
                <a:gd name="T58" fmla="*/ 119 w 1692"/>
                <a:gd name="T59" fmla="*/ 169 h 2586"/>
                <a:gd name="T60" fmla="*/ 105 w 1692"/>
                <a:gd name="T61" fmla="*/ 174 h 2586"/>
                <a:gd name="T62" fmla="*/ 100 w 1692"/>
                <a:gd name="T63" fmla="*/ 156 h 2586"/>
                <a:gd name="T64" fmla="*/ 97 w 1692"/>
                <a:gd name="T65" fmla="*/ 141 h 2586"/>
                <a:gd name="T66" fmla="*/ 83 w 1692"/>
                <a:gd name="T67" fmla="*/ 147 h 2586"/>
                <a:gd name="T68" fmla="*/ 75 w 1692"/>
                <a:gd name="T69" fmla="*/ 127 h 2586"/>
                <a:gd name="T70" fmla="*/ 97 w 1692"/>
                <a:gd name="T71" fmla="*/ 121 h 2586"/>
                <a:gd name="T72" fmla="*/ 111 w 1692"/>
                <a:gd name="T73" fmla="*/ 120 h 2586"/>
                <a:gd name="T74" fmla="*/ 118 w 1692"/>
                <a:gd name="T75" fmla="*/ 119 h 2586"/>
                <a:gd name="T76" fmla="*/ 139 w 1692"/>
                <a:gd name="T77" fmla="*/ 100 h 2586"/>
                <a:gd name="T78" fmla="*/ 157 w 1692"/>
                <a:gd name="T79" fmla="*/ 90 h 2586"/>
                <a:gd name="T80" fmla="*/ 168 w 1692"/>
                <a:gd name="T81" fmla="*/ 85 h 2586"/>
                <a:gd name="T82" fmla="*/ 177 w 1692"/>
                <a:gd name="T83" fmla="*/ 71 h 2586"/>
                <a:gd name="T84" fmla="*/ 170 w 1692"/>
                <a:gd name="T85" fmla="*/ 68 h 2586"/>
                <a:gd name="T86" fmla="*/ 201 w 1692"/>
                <a:gd name="T87" fmla="*/ 61 h 2586"/>
                <a:gd name="T88" fmla="*/ 186 w 1692"/>
                <a:gd name="T89" fmla="*/ 46 h 2586"/>
                <a:gd name="T90" fmla="*/ 175 w 1692"/>
                <a:gd name="T91" fmla="*/ 34 h 2586"/>
                <a:gd name="T92" fmla="*/ 162 w 1692"/>
                <a:gd name="T93" fmla="*/ 48 h 2586"/>
                <a:gd name="T94" fmla="*/ 146 w 1692"/>
                <a:gd name="T95" fmla="*/ 59 h 2586"/>
                <a:gd name="T96" fmla="*/ 135 w 1692"/>
                <a:gd name="T97" fmla="*/ 40 h 2586"/>
                <a:gd name="T98" fmla="*/ 159 w 1692"/>
                <a:gd name="T99" fmla="*/ 32 h 2586"/>
                <a:gd name="T100" fmla="*/ 167 w 1692"/>
                <a:gd name="T101" fmla="*/ 25 h 2586"/>
                <a:gd name="T102" fmla="*/ 175 w 1692"/>
                <a:gd name="T103" fmla="*/ 23 h 2586"/>
                <a:gd name="T104" fmla="*/ 170 w 1692"/>
                <a:gd name="T105" fmla="*/ 19 h 2586"/>
                <a:gd name="T106" fmla="*/ 166 w 1692"/>
                <a:gd name="T107" fmla="*/ 16 h 2586"/>
                <a:gd name="T108" fmla="*/ 159 w 1692"/>
                <a:gd name="T109" fmla="*/ 13 h 2586"/>
                <a:gd name="T110" fmla="*/ 146 w 1692"/>
                <a:gd name="T111" fmla="*/ 18 h 2586"/>
                <a:gd name="T112" fmla="*/ 125 w 1692"/>
                <a:gd name="T113" fmla="*/ 16 h 2586"/>
                <a:gd name="T114" fmla="*/ 73 w 1692"/>
                <a:gd name="T115" fmla="*/ 0 h 2586"/>
                <a:gd name="T116" fmla="*/ 46 w 1692"/>
                <a:gd name="T117" fmla="*/ 4 h 2586"/>
                <a:gd name="T118" fmla="*/ 38 w 1692"/>
                <a:gd name="T119" fmla="*/ 13 h 2586"/>
                <a:gd name="T120" fmla="*/ 16 w 1692"/>
                <a:gd name="T121" fmla="*/ 23 h 2586"/>
                <a:gd name="T122" fmla="*/ 16 w 1692"/>
                <a:gd name="T123" fmla="*/ 28 h 2586"/>
                <a:gd name="T124" fmla="*/ 1 w 1692"/>
                <a:gd name="T125" fmla="*/ 33 h 258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1692" h="2586">
                  <a:moveTo>
                    <a:pt x="2" y="252"/>
                  </a:moveTo>
                  <a:lnTo>
                    <a:pt x="68" y="264"/>
                  </a:lnTo>
                  <a:lnTo>
                    <a:pt x="116" y="258"/>
                  </a:lnTo>
                  <a:lnTo>
                    <a:pt x="188" y="216"/>
                  </a:lnTo>
                  <a:lnTo>
                    <a:pt x="236" y="210"/>
                  </a:lnTo>
                  <a:lnTo>
                    <a:pt x="320" y="210"/>
                  </a:lnTo>
                  <a:lnTo>
                    <a:pt x="368" y="216"/>
                  </a:lnTo>
                  <a:lnTo>
                    <a:pt x="398" y="246"/>
                  </a:lnTo>
                  <a:lnTo>
                    <a:pt x="434" y="240"/>
                  </a:lnTo>
                  <a:lnTo>
                    <a:pt x="422" y="294"/>
                  </a:lnTo>
                  <a:lnTo>
                    <a:pt x="404" y="354"/>
                  </a:lnTo>
                  <a:lnTo>
                    <a:pt x="416" y="444"/>
                  </a:lnTo>
                  <a:lnTo>
                    <a:pt x="408" y="480"/>
                  </a:lnTo>
                  <a:lnTo>
                    <a:pt x="380" y="474"/>
                  </a:lnTo>
                  <a:lnTo>
                    <a:pt x="272" y="582"/>
                  </a:lnTo>
                  <a:lnTo>
                    <a:pt x="236" y="628"/>
                  </a:lnTo>
                  <a:lnTo>
                    <a:pt x="242" y="672"/>
                  </a:lnTo>
                  <a:lnTo>
                    <a:pt x="218" y="714"/>
                  </a:lnTo>
                  <a:lnTo>
                    <a:pt x="268" y="774"/>
                  </a:lnTo>
                  <a:lnTo>
                    <a:pt x="262" y="844"/>
                  </a:lnTo>
                  <a:lnTo>
                    <a:pt x="284" y="964"/>
                  </a:lnTo>
                  <a:lnTo>
                    <a:pt x="320" y="1010"/>
                  </a:lnTo>
                  <a:lnTo>
                    <a:pt x="324" y="970"/>
                  </a:lnTo>
                  <a:lnTo>
                    <a:pt x="316" y="960"/>
                  </a:lnTo>
                  <a:lnTo>
                    <a:pt x="302" y="834"/>
                  </a:lnTo>
                  <a:lnTo>
                    <a:pt x="326" y="830"/>
                  </a:lnTo>
                  <a:lnTo>
                    <a:pt x="328" y="906"/>
                  </a:lnTo>
                  <a:lnTo>
                    <a:pt x="380" y="996"/>
                  </a:lnTo>
                  <a:lnTo>
                    <a:pt x="368" y="1074"/>
                  </a:lnTo>
                  <a:lnTo>
                    <a:pt x="478" y="1154"/>
                  </a:lnTo>
                  <a:lnTo>
                    <a:pt x="564" y="1164"/>
                  </a:lnTo>
                  <a:lnTo>
                    <a:pt x="612" y="1208"/>
                  </a:lnTo>
                  <a:lnTo>
                    <a:pt x="650" y="1200"/>
                  </a:lnTo>
                  <a:lnTo>
                    <a:pt x="680" y="1224"/>
                  </a:lnTo>
                  <a:lnTo>
                    <a:pt x="698" y="1272"/>
                  </a:lnTo>
                  <a:lnTo>
                    <a:pt x="794" y="1350"/>
                  </a:lnTo>
                  <a:lnTo>
                    <a:pt x="842" y="1308"/>
                  </a:lnTo>
                  <a:lnTo>
                    <a:pt x="848" y="1350"/>
                  </a:lnTo>
                  <a:lnTo>
                    <a:pt x="854" y="1422"/>
                  </a:lnTo>
                  <a:lnTo>
                    <a:pt x="786" y="1490"/>
                  </a:lnTo>
                  <a:lnTo>
                    <a:pt x="788" y="1542"/>
                  </a:lnTo>
                  <a:lnTo>
                    <a:pt x="770" y="1608"/>
                  </a:lnTo>
                  <a:lnTo>
                    <a:pt x="802" y="1634"/>
                  </a:lnTo>
                  <a:lnTo>
                    <a:pt x="848" y="1668"/>
                  </a:lnTo>
                  <a:lnTo>
                    <a:pt x="916" y="1782"/>
                  </a:lnTo>
                  <a:lnTo>
                    <a:pt x="956" y="1800"/>
                  </a:lnTo>
                  <a:lnTo>
                    <a:pt x="1010" y="1848"/>
                  </a:lnTo>
                  <a:lnTo>
                    <a:pt x="1034" y="2022"/>
                  </a:lnTo>
                  <a:lnTo>
                    <a:pt x="1058" y="2178"/>
                  </a:lnTo>
                  <a:lnTo>
                    <a:pt x="1046" y="2244"/>
                  </a:lnTo>
                  <a:lnTo>
                    <a:pt x="1094" y="2310"/>
                  </a:lnTo>
                  <a:lnTo>
                    <a:pt x="1118" y="2364"/>
                  </a:lnTo>
                  <a:lnTo>
                    <a:pt x="1138" y="2458"/>
                  </a:lnTo>
                  <a:lnTo>
                    <a:pt x="1194" y="2540"/>
                  </a:lnTo>
                  <a:lnTo>
                    <a:pt x="1286" y="2586"/>
                  </a:lnTo>
                  <a:lnTo>
                    <a:pt x="1382" y="2574"/>
                  </a:lnTo>
                  <a:lnTo>
                    <a:pt x="1280" y="2520"/>
                  </a:lnTo>
                  <a:lnTo>
                    <a:pt x="1266" y="2472"/>
                  </a:lnTo>
                  <a:lnTo>
                    <a:pt x="1288" y="2428"/>
                  </a:lnTo>
                  <a:lnTo>
                    <a:pt x="1244" y="2394"/>
                  </a:lnTo>
                  <a:lnTo>
                    <a:pt x="1284" y="2334"/>
                  </a:lnTo>
                  <a:lnTo>
                    <a:pt x="1244" y="2300"/>
                  </a:lnTo>
                  <a:lnTo>
                    <a:pt x="1288" y="2306"/>
                  </a:lnTo>
                  <a:lnTo>
                    <a:pt x="1286" y="2244"/>
                  </a:lnTo>
                  <a:lnTo>
                    <a:pt x="1330" y="2268"/>
                  </a:lnTo>
                  <a:lnTo>
                    <a:pt x="1368" y="2228"/>
                  </a:lnTo>
                  <a:lnTo>
                    <a:pt x="1334" y="2160"/>
                  </a:lnTo>
                  <a:lnTo>
                    <a:pt x="1382" y="2184"/>
                  </a:lnTo>
                  <a:lnTo>
                    <a:pt x="1448" y="2076"/>
                  </a:lnTo>
                  <a:lnTo>
                    <a:pt x="1468" y="2052"/>
                  </a:lnTo>
                  <a:lnTo>
                    <a:pt x="1476" y="1982"/>
                  </a:lnTo>
                  <a:lnTo>
                    <a:pt x="1568" y="1950"/>
                  </a:lnTo>
                  <a:lnTo>
                    <a:pt x="1612" y="1880"/>
                  </a:lnTo>
                  <a:lnTo>
                    <a:pt x="1628" y="1830"/>
                  </a:lnTo>
                  <a:lnTo>
                    <a:pt x="1622" y="1746"/>
                  </a:lnTo>
                  <a:lnTo>
                    <a:pt x="1692" y="1644"/>
                  </a:lnTo>
                  <a:lnTo>
                    <a:pt x="1652" y="1578"/>
                  </a:lnTo>
                  <a:lnTo>
                    <a:pt x="1552" y="1538"/>
                  </a:lnTo>
                  <a:lnTo>
                    <a:pt x="1448" y="1500"/>
                  </a:lnTo>
                  <a:lnTo>
                    <a:pt x="1376" y="1494"/>
                  </a:lnTo>
                  <a:lnTo>
                    <a:pt x="1376" y="1410"/>
                  </a:lnTo>
                  <a:lnTo>
                    <a:pt x="1262" y="1356"/>
                  </a:lnTo>
                  <a:lnTo>
                    <a:pt x="1166" y="1272"/>
                  </a:lnTo>
                  <a:lnTo>
                    <a:pt x="1104" y="1280"/>
                  </a:lnTo>
                  <a:lnTo>
                    <a:pt x="1048" y="1276"/>
                  </a:lnTo>
                  <a:lnTo>
                    <a:pt x="1020" y="1244"/>
                  </a:lnTo>
                  <a:lnTo>
                    <a:pt x="974" y="1260"/>
                  </a:lnTo>
                  <a:lnTo>
                    <a:pt x="984" y="1238"/>
                  </a:lnTo>
                  <a:lnTo>
                    <a:pt x="934" y="1268"/>
                  </a:lnTo>
                  <a:lnTo>
                    <a:pt x="904" y="1268"/>
                  </a:lnTo>
                  <a:lnTo>
                    <a:pt x="872" y="1314"/>
                  </a:lnTo>
                  <a:lnTo>
                    <a:pt x="836" y="1272"/>
                  </a:lnTo>
                  <a:lnTo>
                    <a:pt x="794" y="1308"/>
                  </a:lnTo>
                  <a:lnTo>
                    <a:pt x="748" y="1278"/>
                  </a:lnTo>
                  <a:lnTo>
                    <a:pt x="758" y="1242"/>
                  </a:lnTo>
                  <a:lnTo>
                    <a:pt x="758" y="1174"/>
                  </a:lnTo>
                  <a:lnTo>
                    <a:pt x="698" y="1176"/>
                  </a:lnTo>
                  <a:lnTo>
                    <a:pt x="668" y="1140"/>
                  </a:lnTo>
                  <a:lnTo>
                    <a:pt x="736" y="1062"/>
                  </a:lnTo>
                  <a:lnTo>
                    <a:pt x="712" y="1050"/>
                  </a:lnTo>
                  <a:lnTo>
                    <a:pt x="658" y="1062"/>
                  </a:lnTo>
                  <a:lnTo>
                    <a:pt x="632" y="1104"/>
                  </a:lnTo>
                  <a:lnTo>
                    <a:pt x="596" y="1110"/>
                  </a:lnTo>
                  <a:lnTo>
                    <a:pt x="538" y="1066"/>
                  </a:lnTo>
                  <a:lnTo>
                    <a:pt x="568" y="950"/>
                  </a:lnTo>
                  <a:lnTo>
                    <a:pt x="632" y="894"/>
                  </a:lnTo>
                  <a:lnTo>
                    <a:pt x="686" y="894"/>
                  </a:lnTo>
                  <a:lnTo>
                    <a:pt x="740" y="912"/>
                  </a:lnTo>
                  <a:lnTo>
                    <a:pt x="736" y="900"/>
                  </a:lnTo>
                  <a:lnTo>
                    <a:pt x="766" y="868"/>
                  </a:lnTo>
                  <a:lnTo>
                    <a:pt x="842" y="906"/>
                  </a:lnTo>
                  <a:lnTo>
                    <a:pt x="848" y="966"/>
                  </a:lnTo>
                  <a:lnTo>
                    <a:pt x="884" y="984"/>
                  </a:lnTo>
                  <a:lnTo>
                    <a:pt x="896" y="900"/>
                  </a:lnTo>
                  <a:lnTo>
                    <a:pt x="878" y="858"/>
                  </a:lnTo>
                  <a:lnTo>
                    <a:pt x="998" y="806"/>
                  </a:lnTo>
                  <a:lnTo>
                    <a:pt x="1058" y="750"/>
                  </a:lnTo>
                  <a:lnTo>
                    <a:pt x="1100" y="696"/>
                  </a:lnTo>
                  <a:lnTo>
                    <a:pt x="1130" y="672"/>
                  </a:lnTo>
                  <a:lnTo>
                    <a:pt x="1184" y="678"/>
                  </a:lnTo>
                  <a:lnTo>
                    <a:pt x="1190" y="636"/>
                  </a:lnTo>
                  <a:lnTo>
                    <a:pt x="1280" y="588"/>
                  </a:lnTo>
                  <a:lnTo>
                    <a:pt x="1278" y="636"/>
                  </a:lnTo>
                  <a:lnTo>
                    <a:pt x="1360" y="602"/>
                  </a:lnTo>
                  <a:lnTo>
                    <a:pt x="1322" y="570"/>
                  </a:lnTo>
                  <a:lnTo>
                    <a:pt x="1340" y="538"/>
                  </a:lnTo>
                  <a:lnTo>
                    <a:pt x="1320" y="522"/>
                  </a:lnTo>
                  <a:lnTo>
                    <a:pt x="1286" y="546"/>
                  </a:lnTo>
                  <a:lnTo>
                    <a:pt x="1288" y="512"/>
                  </a:lnTo>
                  <a:lnTo>
                    <a:pt x="1400" y="504"/>
                  </a:lnTo>
                  <a:lnTo>
                    <a:pt x="1490" y="480"/>
                  </a:lnTo>
                  <a:lnTo>
                    <a:pt x="1526" y="456"/>
                  </a:lnTo>
                  <a:lnTo>
                    <a:pt x="1484" y="394"/>
                  </a:lnTo>
                  <a:cubicBezTo>
                    <a:pt x="1474" y="370"/>
                    <a:pt x="1479" y="319"/>
                    <a:pt x="1466" y="310"/>
                  </a:cubicBezTo>
                  <a:cubicBezTo>
                    <a:pt x="1456" y="300"/>
                    <a:pt x="1423" y="343"/>
                    <a:pt x="1406" y="342"/>
                  </a:cubicBezTo>
                  <a:lnTo>
                    <a:pt x="1376" y="312"/>
                  </a:lnTo>
                  <a:lnTo>
                    <a:pt x="1376" y="270"/>
                  </a:lnTo>
                  <a:lnTo>
                    <a:pt x="1328" y="264"/>
                  </a:lnTo>
                  <a:lnTo>
                    <a:pt x="1312" y="252"/>
                  </a:lnTo>
                  <a:lnTo>
                    <a:pt x="1256" y="314"/>
                  </a:lnTo>
                  <a:lnTo>
                    <a:pt x="1222" y="364"/>
                  </a:lnTo>
                  <a:lnTo>
                    <a:pt x="1172" y="402"/>
                  </a:lnTo>
                  <a:lnTo>
                    <a:pt x="1136" y="474"/>
                  </a:lnTo>
                  <a:lnTo>
                    <a:pt x="1110" y="444"/>
                  </a:lnTo>
                  <a:lnTo>
                    <a:pt x="1128" y="394"/>
                  </a:lnTo>
                  <a:lnTo>
                    <a:pt x="1038" y="334"/>
                  </a:lnTo>
                  <a:lnTo>
                    <a:pt x="1022" y="304"/>
                  </a:lnTo>
                  <a:lnTo>
                    <a:pt x="1122" y="226"/>
                  </a:lnTo>
                  <a:lnTo>
                    <a:pt x="1184" y="222"/>
                  </a:lnTo>
                  <a:lnTo>
                    <a:pt x="1212" y="240"/>
                  </a:lnTo>
                  <a:lnTo>
                    <a:pt x="1248" y="220"/>
                  </a:lnTo>
                  <a:lnTo>
                    <a:pt x="1300" y="220"/>
                  </a:lnTo>
                  <a:lnTo>
                    <a:pt x="1266" y="198"/>
                  </a:lnTo>
                  <a:lnTo>
                    <a:pt x="1208" y="196"/>
                  </a:lnTo>
                  <a:lnTo>
                    <a:pt x="1250" y="174"/>
                  </a:lnTo>
                  <a:lnTo>
                    <a:pt x="1328" y="172"/>
                  </a:lnTo>
                  <a:lnTo>
                    <a:pt x="1364" y="132"/>
                  </a:lnTo>
                  <a:cubicBezTo>
                    <a:pt x="1346" y="124"/>
                    <a:pt x="1343" y="119"/>
                    <a:pt x="1324" y="122"/>
                  </a:cubicBezTo>
                  <a:cubicBezTo>
                    <a:pt x="1310" y="124"/>
                    <a:pt x="1294" y="132"/>
                    <a:pt x="1286" y="144"/>
                  </a:cubicBezTo>
                  <a:cubicBezTo>
                    <a:pt x="1282" y="149"/>
                    <a:pt x="1274" y="148"/>
                    <a:pt x="1268" y="150"/>
                  </a:cubicBezTo>
                  <a:cubicBezTo>
                    <a:pt x="1266" y="144"/>
                    <a:pt x="1259" y="138"/>
                    <a:pt x="1262" y="132"/>
                  </a:cubicBezTo>
                  <a:cubicBezTo>
                    <a:pt x="1269" y="118"/>
                    <a:pt x="1303" y="134"/>
                    <a:pt x="1262" y="120"/>
                  </a:cubicBezTo>
                  <a:cubicBezTo>
                    <a:pt x="1221" y="134"/>
                    <a:pt x="1252" y="105"/>
                    <a:pt x="1262" y="90"/>
                  </a:cubicBezTo>
                  <a:cubicBezTo>
                    <a:pt x="1260" y="84"/>
                    <a:pt x="1262" y="75"/>
                    <a:pt x="1256" y="72"/>
                  </a:cubicBezTo>
                  <a:cubicBezTo>
                    <a:pt x="1238" y="63"/>
                    <a:pt x="1202" y="102"/>
                    <a:pt x="1202" y="102"/>
                  </a:cubicBezTo>
                  <a:cubicBezTo>
                    <a:pt x="1198" y="108"/>
                    <a:pt x="1186" y="140"/>
                    <a:pt x="1180" y="144"/>
                  </a:cubicBezTo>
                  <a:cubicBezTo>
                    <a:pt x="1169" y="151"/>
                    <a:pt x="1148" y="122"/>
                    <a:pt x="1148" y="122"/>
                  </a:cubicBezTo>
                  <a:cubicBezTo>
                    <a:pt x="1138" y="123"/>
                    <a:pt x="1121" y="137"/>
                    <a:pt x="1106" y="136"/>
                  </a:cubicBezTo>
                  <a:cubicBezTo>
                    <a:pt x="1091" y="135"/>
                    <a:pt x="1074" y="117"/>
                    <a:pt x="1056" y="116"/>
                  </a:cubicBezTo>
                  <a:cubicBezTo>
                    <a:pt x="1038" y="115"/>
                    <a:pt x="1016" y="131"/>
                    <a:pt x="998" y="132"/>
                  </a:cubicBezTo>
                  <a:cubicBezTo>
                    <a:pt x="997" y="132"/>
                    <a:pt x="956" y="125"/>
                    <a:pt x="950" y="120"/>
                  </a:cubicBezTo>
                  <a:cubicBezTo>
                    <a:pt x="918" y="94"/>
                    <a:pt x="960" y="108"/>
                    <a:pt x="920" y="90"/>
                  </a:cubicBezTo>
                  <a:cubicBezTo>
                    <a:pt x="852" y="60"/>
                    <a:pt x="806" y="58"/>
                    <a:pt x="730" y="54"/>
                  </a:cubicBezTo>
                  <a:cubicBezTo>
                    <a:pt x="656" y="39"/>
                    <a:pt x="625" y="15"/>
                    <a:pt x="550" y="0"/>
                  </a:cubicBezTo>
                  <a:cubicBezTo>
                    <a:pt x="510" y="2"/>
                    <a:pt x="486" y="5"/>
                    <a:pt x="446" y="8"/>
                  </a:cubicBezTo>
                  <a:cubicBezTo>
                    <a:pt x="424" y="9"/>
                    <a:pt x="423" y="14"/>
                    <a:pt x="406" y="18"/>
                  </a:cubicBezTo>
                  <a:cubicBezTo>
                    <a:pt x="389" y="22"/>
                    <a:pt x="353" y="24"/>
                    <a:pt x="344" y="32"/>
                  </a:cubicBezTo>
                  <a:cubicBezTo>
                    <a:pt x="346" y="38"/>
                    <a:pt x="354" y="60"/>
                    <a:pt x="350" y="64"/>
                  </a:cubicBezTo>
                  <a:cubicBezTo>
                    <a:pt x="274" y="50"/>
                    <a:pt x="250" y="81"/>
                    <a:pt x="236" y="82"/>
                  </a:cubicBezTo>
                  <a:cubicBezTo>
                    <a:pt x="278" y="110"/>
                    <a:pt x="270" y="72"/>
                    <a:pt x="290" y="102"/>
                  </a:cubicBezTo>
                  <a:cubicBezTo>
                    <a:pt x="234" y="121"/>
                    <a:pt x="178" y="104"/>
                    <a:pt x="128" y="138"/>
                  </a:cubicBezTo>
                  <a:cubicBezTo>
                    <a:pt x="126" y="144"/>
                    <a:pt x="122" y="150"/>
                    <a:pt x="122" y="156"/>
                  </a:cubicBezTo>
                  <a:cubicBezTo>
                    <a:pt x="122" y="162"/>
                    <a:pt x="132" y="170"/>
                    <a:pt x="128" y="174"/>
                  </a:cubicBezTo>
                  <a:cubicBezTo>
                    <a:pt x="126" y="182"/>
                    <a:pt x="109" y="197"/>
                    <a:pt x="112" y="202"/>
                  </a:cubicBezTo>
                  <a:cubicBezTo>
                    <a:pt x="124" y="206"/>
                    <a:pt x="137" y="195"/>
                    <a:pt x="146" y="204"/>
                  </a:cubicBezTo>
                  <a:cubicBezTo>
                    <a:pt x="151" y="209"/>
                    <a:pt x="135" y="213"/>
                    <a:pt x="128" y="216"/>
                  </a:cubicBezTo>
                  <a:cubicBezTo>
                    <a:pt x="116" y="221"/>
                    <a:pt x="104" y="226"/>
                    <a:pt x="92" y="228"/>
                  </a:cubicBezTo>
                  <a:cubicBezTo>
                    <a:pt x="48" y="237"/>
                    <a:pt x="72" y="233"/>
                    <a:pt x="20" y="240"/>
                  </a:cubicBezTo>
                  <a:cubicBezTo>
                    <a:pt x="0" y="247"/>
                    <a:pt x="2" y="240"/>
                    <a:pt x="2" y="25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" name="Freeform 5"/>
            <p:cNvSpPr>
              <a:spLocks/>
            </p:cNvSpPr>
            <p:nvPr/>
          </p:nvSpPr>
          <p:spPr bwMode="invGray">
            <a:xfrm>
              <a:off x="703" y="2230"/>
              <a:ext cx="34" cy="28"/>
            </a:xfrm>
            <a:custGeom>
              <a:avLst/>
              <a:gdLst>
                <a:gd name="T0" fmla="*/ 2 w 46"/>
                <a:gd name="T1" fmla="*/ 1 h 38"/>
                <a:gd name="T2" fmla="*/ 0 w 46"/>
                <a:gd name="T3" fmla="*/ 3 h 38"/>
                <a:gd name="T4" fmla="*/ 3 w 46"/>
                <a:gd name="T5" fmla="*/ 4 h 38"/>
                <a:gd name="T6" fmla="*/ 5 w 46"/>
                <a:gd name="T7" fmla="*/ 3 h 38"/>
                <a:gd name="T8" fmla="*/ 4 w 46"/>
                <a:gd name="T9" fmla="*/ 0 h 38"/>
                <a:gd name="T10" fmla="*/ 2 w 46"/>
                <a:gd name="T11" fmla="*/ 1 h 3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38">
                  <a:moveTo>
                    <a:pt x="16" y="4"/>
                  </a:moveTo>
                  <a:lnTo>
                    <a:pt x="0" y="22"/>
                  </a:lnTo>
                  <a:lnTo>
                    <a:pt x="22" y="38"/>
                  </a:lnTo>
                  <a:lnTo>
                    <a:pt x="46" y="26"/>
                  </a:lnTo>
                  <a:lnTo>
                    <a:pt x="30" y="0"/>
                  </a:lnTo>
                  <a:lnTo>
                    <a:pt x="16" y="4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Freeform 6"/>
            <p:cNvSpPr>
              <a:spLocks/>
            </p:cNvSpPr>
            <p:nvPr/>
          </p:nvSpPr>
          <p:spPr bwMode="invGray">
            <a:xfrm>
              <a:off x="1010" y="2353"/>
              <a:ext cx="39" cy="32"/>
            </a:xfrm>
            <a:custGeom>
              <a:avLst/>
              <a:gdLst>
                <a:gd name="T0" fmla="*/ 2 w 52"/>
                <a:gd name="T1" fmla="*/ 0 h 44"/>
                <a:gd name="T2" fmla="*/ 4 w 52"/>
                <a:gd name="T3" fmla="*/ 5 h 44"/>
                <a:gd name="T4" fmla="*/ 6 w 52"/>
                <a:gd name="T5" fmla="*/ 5 h 44"/>
                <a:gd name="T6" fmla="*/ 6 w 52"/>
                <a:gd name="T7" fmla="*/ 2 h 44"/>
                <a:gd name="T8" fmla="*/ 4 w 52"/>
                <a:gd name="T9" fmla="*/ 1 h 44"/>
                <a:gd name="T10" fmla="*/ 2 w 52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44">
                  <a:moveTo>
                    <a:pt x="12" y="0"/>
                  </a:moveTo>
                  <a:cubicBezTo>
                    <a:pt x="16" y="14"/>
                    <a:pt x="18" y="32"/>
                    <a:pt x="26" y="44"/>
                  </a:cubicBezTo>
                  <a:cubicBezTo>
                    <a:pt x="31" y="43"/>
                    <a:pt x="37" y="44"/>
                    <a:pt x="42" y="42"/>
                  </a:cubicBezTo>
                  <a:cubicBezTo>
                    <a:pt x="52" y="38"/>
                    <a:pt x="48" y="19"/>
                    <a:pt x="38" y="16"/>
                  </a:cubicBezTo>
                  <a:cubicBezTo>
                    <a:pt x="33" y="9"/>
                    <a:pt x="34" y="5"/>
                    <a:pt x="26" y="2"/>
                  </a:cubicBezTo>
                  <a:cubicBezTo>
                    <a:pt x="4" y="4"/>
                    <a:pt x="0" y="8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Freeform 7"/>
            <p:cNvSpPr>
              <a:spLocks/>
            </p:cNvSpPr>
            <p:nvPr/>
          </p:nvSpPr>
          <p:spPr bwMode="invGray">
            <a:xfrm>
              <a:off x="1792" y="2409"/>
              <a:ext cx="98" cy="74"/>
            </a:xfrm>
            <a:custGeom>
              <a:avLst/>
              <a:gdLst>
                <a:gd name="T0" fmla="*/ 13 w 131"/>
                <a:gd name="T1" fmla="*/ 0 h 98"/>
                <a:gd name="T2" fmla="*/ 10 w 131"/>
                <a:gd name="T3" fmla="*/ 2 h 98"/>
                <a:gd name="T4" fmla="*/ 7 w 131"/>
                <a:gd name="T5" fmla="*/ 4 h 98"/>
                <a:gd name="T6" fmla="*/ 5 w 131"/>
                <a:gd name="T7" fmla="*/ 6 h 98"/>
                <a:gd name="T8" fmla="*/ 3 w 131"/>
                <a:gd name="T9" fmla="*/ 8 h 98"/>
                <a:gd name="T10" fmla="*/ 7 w 131"/>
                <a:gd name="T11" fmla="*/ 11 h 98"/>
                <a:gd name="T12" fmla="*/ 10 w 131"/>
                <a:gd name="T13" fmla="*/ 13 h 98"/>
                <a:gd name="T14" fmla="*/ 11 w 131"/>
                <a:gd name="T15" fmla="*/ 13 h 98"/>
                <a:gd name="T16" fmla="*/ 12 w 131"/>
                <a:gd name="T17" fmla="*/ 12 h 98"/>
                <a:gd name="T18" fmla="*/ 13 w 131"/>
                <a:gd name="T19" fmla="*/ 14 h 98"/>
                <a:gd name="T20" fmla="*/ 16 w 131"/>
                <a:gd name="T21" fmla="*/ 12 h 98"/>
                <a:gd name="T22" fmla="*/ 17 w 131"/>
                <a:gd name="T23" fmla="*/ 11 h 98"/>
                <a:gd name="T24" fmla="*/ 13 w 131"/>
                <a:gd name="T25" fmla="*/ 6 h 98"/>
                <a:gd name="T26" fmla="*/ 15 w 131"/>
                <a:gd name="T27" fmla="*/ 4 h 98"/>
                <a:gd name="T28" fmla="*/ 14 w 131"/>
                <a:gd name="T29" fmla="*/ 2 h 98"/>
                <a:gd name="T30" fmla="*/ 13 w 131"/>
                <a:gd name="T31" fmla="*/ 0 h 9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31" h="98">
                  <a:moveTo>
                    <a:pt x="97" y="0"/>
                  </a:moveTo>
                  <a:cubicBezTo>
                    <a:pt x="83" y="5"/>
                    <a:pt x="89" y="2"/>
                    <a:pt x="79" y="8"/>
                  </a:cubicBezTo>
                  <a:cubicBezTo>
                    <a:pt x="76" y="18"/>
                    <a:pt x="62" y="18"/>
                    <a:pt x="53" y="24"/>
                  </a:cubicBezTo>
                  <a:cubicBezTo>
                    <a:pt x="49" y="29"/>
                    <a:pt x="44" y="36"/>
                    <a:pt x="39" y="40"/>
                  </a:cubicBezTo>
                  <a:cubicBezTo>
                    <a:pt x="34" y="45"/>
                    <a:pt x="21" y="52"/>
                    <a:pt x="21" y="52"/>
                  </a:cubicBezTo>
                  <a:cubicBezTo>
                    <a:pt x="0" y="84"/>
                    <a:pt x="41" y="75"/>
                    <a:pt x="63" y="82"/>
                  </a:cubicBezTo>
                  <a:cubicBezTo>
                    <a:pt x="68" y="89"/>
                    <a:pt x="71" y="91"/>
                    <a:pt x="79" y="94"/>
                  </a:cubicBezTo>
                  <a:cubicBezTo>
                    <a:pt x="81" y="93"/>
                    <a:pt x="83" y="93"/>
                    <a:pt x="85" y="92"/>
                  </a:cubicBezTo>
                  <a:cubicBezTo>
                    <a:pt x="87" y="90"/>
                    <a:pt x="87" y="85"/>
                    <a:pt x="89" y="86"/>
                  </a:cubicBezTo>
                  <a:cubicBezTo>
                    <a:pt x="93" y="88"/>
                    <a:pt x="97" y="98"/>
                    <a:pt x="97" y="98"/>
                  </a:cubicBezTo>
                  <a:cubicBezTo>
                    <a:pt x="112" y="95"/>
                    <a:pt x="111" y="90"/>
                    <a:pt x="123" y="86"/>
                  </a:cubicBezTo>
                  <a:cubicBezTo>
                    <a:pt x="124" y="82"/>
                    <a:pt x="128" y="78"/>
                    <a:pt x="129" y="74"/>
                  </a:cubicBezTo>
                  <a:cubicBezTo>
                    <a:pt x="131" y="61"/>
                    <a:pt x="108" y="47"/>
                    <a:pt x="101" y="40"/>
                  </a:cubicBezTo>
                  <a:cubicBezTo>
                    <a:pt x="103" y="33"/>
                    <a:pt x="115" y="24"/>
                    <a:pt x="115" y="24"/>
                  </a:cubicBezTo>
                  <a:cubicBezTo>
                    <a:pt x="121" y="15"/>
                    <a:pt x="124" y="8"/>
                    <a:pt x="111" y="4"/>
                  </a:cubicBezTo>
                  <a:cubicBezTo>
                    <a:pt x="101" y="7"/>
                    <a:pt x="97" y="13"/>
                    <a:pt x="9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Freeform 8"/>
            <p:cNvSpPr>
              <a:spLocks/>
            </p:cNvSpPr>
            <p:nvPr/>
          </p:nvSpPr>
          <p:spPr bwMode="invGray">
            <a:xfrm>
              <a:off x="1318" y="2793"/>
              <a:ext cx="158" cy="84"/>
            </a:xfrm>
            <a:custGeom>
              <a:avLst/>
              <a:gdLst>
                <a:gd name="T0" fmla="*/ 5 w 212"/>
                <a:gd name="T1" fmla="*/ 2 h 112"/>
                <a:gd name="T2" fmla="*/ 2 w 212"/>
                <a:gd name="T3" fmla="*/ 2 h 112"/>
                <a:gd name="T4" fmla="*/ 1 w 212"/>
                <a:gd name="T5" fmla="*/ 2 h 112"/>
                <a:gd name="T6" fmla="*/ 3 w 212"/>
                <a:gd name="T7" fmla="*/ 8 h 112"/>
                <a:gd name="T8" fmla="*/ 7 w 212"/>
                <a:gd name="T9" fmla="*/ 6 h 112"/>
                <a:gd name="T10" fmla="*/ 12 w 212"/>
                <a:gd name="T11" fmla="*/ 8 h 112"/>
                <a:gd name="T12" fmla="*/ 14 w 212"/>
                <a:gd name="T13" fmla="*/ 8 h 112"/>
                <a:gd name="T14" fmla="*/ 17 w 212"/>
                <a:gd name="T15" fmla="*/ 13 h 112"/>
                <a:gd name="T16" fmla="*/ 18 w 212"/>
                <a:gd name="T17" fmla="*/ 15 h 112"/>
                <a:gd name="T18" fmla="*/ 20 w 212"/>
                <a:gd name="T19" fmla="*/ 14 h 112"/>
                <a:gd name="T20" fmla="*/ 22 w 212"/>
                <a:gd name="T21" fmla="*/ 13 h 112"/>
                <a:gd name="T22" fmla="*/ 24 w 212"/>
                <a:gd name="T23" fmla="*/ 14 h 112"/>
                <a:gd name="T24" fmla="*/ 25 w 212"/>
                <a:gd name="T25" fmla="*/ 11 h 112"/>
                <a:gd name="T26" fmla="*/ 19 w 212"/>
                <a:gd name="T27" fmla="*/ 8 h 112"/>
                <a:gd name="T28" fmla="*/ 13 w 212"/>
                <a:gd name="T29" fmla="*/ 3 h 112"/>
                <a:gd name="T30" fmla="*/ 7 w 212"/>
                <a:gd name="T31" fmla="*/ 4 h 112"/>
                <a:gd name="T32" fmla="*/ 5 w 212"/>
                <a:gd name="T33" fmla="*/ 2 h 112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212" h="112">
                  <a:moveTo>
                    <a:pt x="47" y="12"/>
                  </a:moveTo>
                  <a:cubicBezTo>
                    <a:pt x="39" y="0"/>
                    <a:pt x="28" y="7"/>
                    <a:pt x="17" y="12"/>
                  </a:cubicBezTo>
                  <a:cubicBezTo>
                    <a:pt x="13" y="14"/>
                    <a:pt x="5" y="16"/>
                    <a:pt x="5" y="16"/>
                  </a:cubicBezTo>
                  <a:cubicBezTo>
                    <a:pt x="0" y="31"/>
                    <a:pt x="10" y="48"/>
                    <a:pt x="25" y="52"/>
                  </a:cubicBezTo>
                  <a:cubicBezTo>
                    <a:pt x="37" y="50"/>
                    <a:pt x="41" y="47"/>
                    <a:pt x="51" y="44"/>
                  </a:cubicBezTo>
                  <a:cubicBezTo>
                    <a:pt x="65" y="53"/>
                    <a:pt x="76" y="53"/>
                    <a:pt x="93" y="54"/>
                  </a:cubicBezTo>
                  <a:cubicBezTo>
                    <a:pt x="99" y="56"/>
                    <a:pt x="111" y="60"/>
                    <a:pt x="111" y="60"/>
                  </a:cubicBezTo>
                  <a:cubicBezTo>
                    <a:pt x="120" y="69"/>
                    <a:pt x="129" y="75"/>
                    <a:pt x="133" y="88"/>
                  </a:cubicBezTo>
                  <a:cubicBezTo>
                    <a:pt x="125" y="100"/>
                    <a:pt x="126" y="107"/>
                    <a:pt x="141" y="112"/>
                  </a:cubicBezTo>
                  <a:cubicBezTo>
                    <a:pt x="145" y="106"/>
                    <a:pt x="150" y="103"/>
                    <a:pt x="157" y="100"/>
                  </a:cubicBezTo>
                  <a:cubicBezTo>
                    <a:pt x="161" y="98"/>
                    <a:pt x="169" y="96"/>
                    <a:pt x="169" y="96"/>
                  </a:cubicBezTo>
                  <a:cubicBezTo>
                    <a:pt x="175" y="98"/>
                    <a:pt x="187" y="102"/>
                    <a:pt x="187" y="102"/>
                  </a:cubicBezTo>
                  <a:cubicBezTo>
                    <a:pt x="203" y="100"/>
                    <a:pt x="212" y="94"/>
                    <a:pt x="195" y="80"/>
                  </a:cubicBezTo>
                  <a:cubicBezTo>
                    <a:pt x="183" y="70"/>
                    <a:pt x="165" y="66"/>
                    <a:pt x="153" y="54"/>
                  </a:cubicBezTo>
                  <a:cubicBezTo>
                    <a:pt x="141" y="42"/>
                    <a:pt x="122" y="26"/>
                    <a:pt x="105" y="20"/>
                  </a:cubicBezTo>
                  <a:cubicBezTo>
                    <a:pt x="85" y="21"/>
                    <a:pt x="71" y="20"/>
                    <a:pt x="53" y="26"/>
                  </a:cubicBezTo>
                  <a:cubicBezTo>
                    <a:pt x="47" y="24"/>
                    <a:pt x="33" y="12"/>
                    <a:pt x="47" y="1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Freeform 9"/>
            <p:cNvSpPr>
              <a:spLocks/>
            </p:cNvSpPr>
            <p:nvPr/>
          </p:nvSpPr>
          <p:spPr bwMode="invGray">
            <a:xfrm>
              <a:off x="1448" y="2857"/>
              <a:ext cx="99" cy="41"/>
            </a:xfrm>
            <a:custGeom>
              <a:avLst/>
              <a:gdLst>
                <a:gd name="T0" fmla="*/ 7 w 133"/>
                <a:gd name="T1" fmla="*/ 0 h 54"/>
                <a:gd name="T2" fmla="*/ 5 w 133"/>
                <a:gd name="T3" fmla="*/ 2 h 54"/>
                <a:gd name="T4" fmla="*/ 4 w 133"/>
                <a:gd name="T5" fmla="*/ 5 h 54"/>
                <a:gd name="T6" fmla="*/ 1 w 133"/>
                <a:gd name="T7" fmla="*/ 5 h 54"/>
                <a:gd name="T8" fmla="*/ 1 w 133"/>
                <a:gd name="T9" fmla="*/ 6 h 54"/>
                <a:gd name="T10" fmla="*/ 1 w 133"/>
                <a:gd name="T11" fmla="*/ 8 h 54"/>
                <a:gd name="T12" fmla="*/ 17 w 133"/>
                <a:gd name="T13" fmla="*/ 5 h 54"/>
                <a:gd name="T14" fmla="*/ 16 w 133"/>
                <a:gd name="T15" fmla="*/ 2 h 54"/>
                <a:gd name="T16" fmla="*/ 13 w 133"/>
                <a:gd name="T17" fmla="*/ 2 h 54"/>
                <a:gd name="T18" fmla="*/ 13 w 133"/>
                <a:gd name="T19" fmla="*/ 4 h 54"/>
                <a:gd name="T20" fmla="*/ 11 w 133"/>
                <a:gd name="T21" fmla="*/ 3 h 54"/>
                <a:gd name="T22" fmla="*/ 9 w 133"/>
                <a:gd name="T23" fmla="*/ 2 h 54"/>
                <a:gd name="T24" fmla="*/ 7 w 133"/>
                <a:gd name="T25" fmla="*/ 0 h 5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3" h="54">
                  <a:moveTo>
                    <a:pt x="57" y="0"/>
                  </a:moveTo>
                  <a:cubicBezTo>
                    <a:pt x="53" y="3"/>
                    <a:pt x="46" y="2"/>
                    <a:pt x="43" y="6"/>
                  </a:cubicBezTo>
                  <a:cubicBezTo>
                    <a:pt x="36" y="14"/>
                    <a:pt x="43" y="26"/>
                    <a:pt x="31" y="30"/>
                  </a:cubicBezTo>
                  <a:cubicBezTo>
                    <a:pt x="26" y="32"/>
                    <a:pt x="20" y="31"/>
                    <a:pt x="15" y="34"/>
                  </a:cubicBezTo>
                  <a:cubicBezTo>
                    <a:pt x="11" y="36"/>
                    <a:pt x="3" y="42"/>
                    <a:pt x="3" y="42"/>
                  </a:cubicBezTo>
                  <a:cubicBezTo>
                    <a:pt x="0" y="51"/>
                    <a:pt x="5" y="51"/>
                    <a:pt x="13" y="54"/>
                  </a:cubicBezTo>
                  <a:cubicBezTo>
                    <a:pt x="51" y="51"/>
                    <a:pt x="97" y="46"/>
                    <a:pt x="133" y="34"/>
                  </a:cubicBezTo>
                  <a:cubicBezTo>
                    <a:pt x="129" y="28"/>
                    <a:pt x="128" y="21"/>
                    <a:pt x="123" y="16"/>
                  </a:cubicBezTo>
                  <a:cubicBezTo>
                    <a:pt x="118" y="11"/>
                    <a:pt x="105" y="8"/>
                    <a:pt x="105" y="8"/>
                  </a:cubicBezTo>
                  <a:cubicBezTo>
                    <a:pt x="84" y="13"/>
                    <a:pt x="106" y="19"/>
                    <a:pt x="101" y="24"/>
                  </a:cubicBezTo>
                  <a:cubicBezTo>
                    <a:pt x="99" y="26"/>
                    <a:pt x="89" y="18"/>
                    <a:pt x="89" y="18"/>
                  </a:cubicBezTo>
                  <a:cubicBezTo>
                    <a:pt x="83" y="15"/>
                    <a:pt x="73" y="15"/>
                    <a:pt x="67" y="14"/>
                  </a:cubicBezTo>
                  <a:cubicBezTo>
                    <a:pt x="58" y="8"/>
                    <a:pt x="62" y="12"/>
                    <a:pt x="5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Freeform 10"/>
            <p:cNvSpPr>
              <a:spLocks/>
            </p:cNvSpPr>
            <p:nvPr/>
          </p:nvSpPr>
          <p:spPr bwMode="invGray">
            <a:xfrm>
              <a:off x="1553" y="288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Freeform 11"/>
            <p:cNvSpPr>
              <a:spLocks/>
            </p:cNvSpPr>
            <p:nvPr/>
          </p:nvSpPr>
          <p:spPr bwMode="invGray">
            <a:xfrm>
              <a:off x="1609" y="2886"/>
              <a:ext cx="12" cy="25"/>
            </a:xfrm>
            <a:custGeom>
              <a:avLst/>
              <a:gdLst>
                <a:gd name="T0" fmla="*/ 2 w 16"/>
                <a:gd name="T1" fmla="*/ 0 h 34"/>
                <a:gd name="T2" fmla="*/ 0 w 16"/>
                <a:gd name="T3" fmla="*/ 1 h 34"/>
                <a:gd name="T4" fmla="*/ 2 w 16"/>
                <a:gd name="T5" fmla="*/ 4 h 34"/>
                <a:gd name="T6" fmla="*/ 2 w 16"/>
                <a:gd name="T7" fmla="*/ 2 h 34"/>
                <a:gd name="T8" fmla="*/ 2 w 16"/>
                <a:gd name="T9" fmla="*/ 1 h 34"/>
                <a:gd name="T10" fmla="*/ 2 w 16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" h="34">
                  <a:moveTo>
                    <a:pt x="14" y="0"/>
                  </a:moveTo>
                  <a:cubicBezTo>
                    <a:pt x="5" y="3"/>
                    <a:pt x="2" y="4"/>
                    <a:pt x="0" y="14"/>
                  </a:cubicBezTo>
                  <a:cubicBezTo>
                    <a:pt x="3" y="26"/>
                    <a:pt x="4" y="30"/>
                    <a:pt x="16" y="34"/>
                  </a:cubicBezTo>
                  <a:cubicBezTo>
                    <a:pt x="15" y="29"/>
                    <a:pt x="11" y="23"/>
                    <a:pt x="12" y="18"/>
                  </a:cubicBezTo>
                  <a:cubicBezTo>
                    <a:pt x="12" y="14"/>
                    <a:pt x="16" y="6"/>
                    <a:pt x="16" y="6"/>
                  </a:cubicBezTo>
                  <a:cubicBezTo>
                    <a:pt x="9" y="1"/>
                    <a:pt x="8" y="3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Freeform 12"/>
            <p:cNvSpPr>
              <a:spLocks/>
            </p:cNvSpPr>
            <p:nvPr/>
          </p:nvSpPr>
          <p:spPr bwMode="invGray">
            <a:xfrm>
              <a:off x="1426" y="2040"/>
              <a:ext cx="180" cy="88"/>
            </a:xfrm>
            <a:custGeom>
              <a:avLst/>
              <a:gdLst>
                <a:gd name="T0" fmla="*/ 8 w 240"/>
                <a:gd name="T1" fmla="*/ 1 h 117"/>
                <a:gd name="T2" fmla="*/ 4 w 240"/>
                <a:gd name="T3" fmla="*/ 5 h 117"/>
                <a:gd name="T4" fmla="*/ 2 w 240"/>
                <a:gd name="T5" fmla="*/ 5 h 117"/>
                <a:gd name="T6" fmla="*/ 0 w 240"/>
                <a:gd name="T7" fmla="*/ 6 h 117"/>
                <a:gd name="T8" fmla="*/ 4 w 240"/>
                <a:gd name="T9" fmla="*/ 8 h 117"/>
                <a:gd name="T10" fmla="*/ 6 w 240"/>
                <a:gd name="T11" fmla="*/ 8 h 117"/>
                <a:gd name="T12" fmla="*/ 10 w 240"/>
                <a:gd name="T13" fmla="*/ 6 h 117"/>
                <a:gd name="T14" fmla="*/ 11 w 240"/>
                <a:gd name="T15" fmla="*/ 6 h 117"/>
                <a:gd name="T16" fmla="*/ 11 w 240"/>
                <a:gd name="T17" fmla="*/ 8 h 117"/>
                <a:gd name="T18" fmla="*/ 8 w 240"/>
                <a:gd name="T19" fmla="*/ 8 h 117"/>
                <a:gd name="T20" fmla="*/ 10 w 240"/>
                <a:gd name="T21" fmla="*/ 10 h 117"/>
                <a:gd name="T22" fmla="*/ 6 w 240"/>
                <a:gd name="T23" fmla="*/ 12 h 117"/>
                <a:gd name="T24" fmla="*/ 10 w 240"/>
                <a:gd name="T25" fmla="*/ 15 h 117"/>
                <a:gd name="T26" fmla="*/ 11 w 240"/>
                <a:gd name="T27" fmla="*/ 15 h 117"/>
                <a:gd name="T28" fmla="*/ 17 w 240"/>
                <a:gd name="T29" fmla="*/ 14 h 117"/>
                <a:gd name="T30" fmla="*/ 20 w 240"/>
                <a:gd name="T31" fmla="*/ 14 h 117"/>
                <a:gd name="T32" fmla="*/ 23 w 240"/>
                <a:gd name="T33" fmla="*/ 17 h 117"/>
                <a:gd name="T34" fmla="*/ 28 w 240"/>
                <a:gd name="T35" fmla="*/ 15 h 117"/>
                <a:gd name="T36" fmla="*/ 30 w 240"/>
                <a:gd name="T37" fmla="*/ 14 h 117"/>
                <a:gd name="T38" fmla="*/ 30 w 240"/>
                <a:gd name="T39" fmla="*/ 11 h 117"/>
                <a:gd name="T40" fmla="*/ 32 w 240"/>
                <a:gd name="T41" fmla="*/ 10 h 117"/>
                <a:gd name="T42" fmla="*/ 32 w 240"/>
                <a:gd name="T43" fmla="*/ 6 h 117"/>
                <a:gd name="T44" fmla="*/ 29 w 240"/>
                <a:gd name="T45" fmla="*/ 8 h 117"/>
                <a:gd name="T46" fmla="*/ 27 w 240"/>
                <a:gd name="T47" fmla="*/ 6 h 117"/>
                <a:gd name="T48" fmla="*/ 23 w 240"/>
                <a:gd name="T49" fmla="*/ 6 h 117"/>
                <a:gd name="T50" fmla="*/ 18 w 240"/>
                <a:gd name="T51" fmla="*/ 2 h 117"/>
                <a:gd name="T52" fmla="*/ 13 w 240"/>
                <a:gd name="T53" fmla="*/ 2 h 117"/>
                <a:gd name="T54" fmla="*/ 11 w 240"/>
                <a:gd name="T55" fmla="*/ 1 h 117"/>
                <a:gd name="T56" fmla="*/ 8 w 240"/>
                <a:gd name="T57" fmla="*/ 1 h 117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40" h="117">
                  <a:moveTo>
                    <a:pt x="64" y="1"/>
                  </a:moveTo>
                  <a:cubicBezTo>
                    <a:pt x="57" y="21"/>
                    <a:pt x="44" y="24"/>
                    <a:pt x="24" y="31"/>
                  </a:cubicBezTo>
                  <a:cubicBezTo>
                    <a:pt x="18" y="33"/>
                    <a:pt x="12" y="35"/>
                    <a:pt x="6" y="37"/>
                  </a:cubicBezTo>
                  <a:cubicBezTo>
                    <a:pt x="4" y="38"/>
                    <a:pt x="0" y="39"/>
                    <a:pt x="0" y="39"/>
                  </a:cubicBezTo>
                  <a:cubicBezTo>
                    <a:pt x="3" y="55"/>
                    <a:pt x="12" y="54"/>
                    <a:pt x="26" y="59"/>
                  </a:cubicBezTo>
                  <a:cubicBezTo>
                    <a:pt x="30" y="60"/>
                    <a:pt x="38" y="63"/>
                    <a:pt x="38" y="63"/>
                  </a:cubicBezTo>
                  <a:cubicBezTo>
                    <a:pt x="50" y="59"/>
                    <a:pt x="57" y="54"/>
                    <a:pt x="68" y="47"/>
                  </a:cubicBezTo>
                  <a:cubicBezTo>
                    <a:pt x="72" y="45"/>
                    <a:pt x="80" y="43"/>
                    <a:pt x="80" y="43"/>
                  </a:cubicBezTo>
                  <a:cubicBezTo>
                    <a:pt x="82" y="46"/>
                    <a:pt x="88" y="51"/>
                    <a:pt x="82" y="55"/>
                  </a:cubicBezTo>
                  <a:cubicBezTo>
                    <a:pt x="77" y="59"/>
                    <a:pt x="64" y="61"/>
                    <a:pt x="64" y="61"/>
                  </a:cubicBezTo>
                  <a:cubicBezTo>
                    <a:pt x="58" y="70"/>
                    <a:pt x="63" y="70"/>
                    <a:pt x="72" y="73"/>
                  </a:cubicBezTo>
                  <a:cubicBezTo>
                    <a:pt x="77" y="88"/>
                    <a:pt x="50" y="86"/>
                    <a:pt x="40" y="87"/>
                  </a:cubicBezTo>
                  <a:cubicBezTo>
                    <a:pt x="47" y="94"/>
                    <a:pt x="60" y="106"/>
                    <a:pt x="70" y="109"/>
                  </a:cubicBezTo>
                  <a:cubicBezTo>
                    <a:pt x="74" y="110"/>
                    <a:pt x="82" y="113"/>
                    <a:pt x="82" y="113"/>
                  </a:cubicBezTo>
                  <a:cubicBezTo>
                    <a:pt x="99" y="111"/>
                    <a:pt x="104" y="108"/>
                    <a:pt x="118" y="103"/>
                  </a:cubicBezTo>
                  <a:cubicBezTo>
                    <a:pt x="129" y="104"/>
                    <a:pt x="140" y="103"/>
                    <a:pt x="150" y="105"/>
                  </a:cubicBezTo>
                  <a:cubicBezTo>
                    <a:pt x="157" y="107"/>
                    <a:pt x="168" y="117"/>
                    <a:pt x="168" y="117"/>
                  </a:cubicBezTo>
                  <a:cubicBezTo>
                    <a:pt x="193" y="115"/>
                    <a:pt x="188" y="116"/>
                    <a:pt x="204" y="109"/>
                  </a:cubicBezTo>
                  <a:cubicBezTo>
                    <a:pt x="210" y="106"/>
                    <a:pt x="224" y="103"/>
                    <a:pt x="224" y="103"/>
                  </a:cubicBezTo>
                  <a:cubicBezTo>
                    <a:pt x="223" y="98"/>
                    <a:pt x="217" y="82"/>
                    <a:pt x="222" y="77"/>
                  </a:cubicBezTo>
                  <a:cubicBezTo>
                    <a:pt x="225" y="73"/>
                    <a:pt x="234" y="69"/>
                    <a:pt x="234" y="69"/>
                  </a:cubicBezTo>
                  <a:cubicBezTo>
                    <a:pt x="237" y="59"/>
                    <a:pt x="240" y="59"/>
                    <a:pt x="238" y="47"/>
                  </a:cubicBezTo>
                  <a:cubicBezTo>
                    <a:pt x="228" y="49"/>
                    <a:pt x="219" y="51"/>
                    <a:pt x="210" y="57"/>
                  </a:cubicBezTo>
                  <a:cubicBezTo>
                    <a:pt x="201" y="71"/>
                    <a:pt x="201" y="50"/>
                    <a:pt x="200" y="43"/>
                  </a:cubicBezTo>
                  <a:cubicBezTo>
                    <a:pt x="189" y="45"/>
                    <a:pt x="182" y="48"/>
                    <a:pt x="172" y="45"/>
                  </a:cubicBezTo>
                  <a:cubicBezTo>
                    <a:pt x="161" y="34"/>
                    <a:pt x="148" y="14"/>
                    <a:pt x="134" y="9"/>
                  </a:cubicBezTo>
                  <a:cubicBezTo>
                    <a:pt x="119" y="11"/>
                    <a:pt x="108" y="13"/>
                    <a:pt x="94" y="11"/>
                  </a:cubicBezTo>
                  <a:cubicBezTo>
                    <a:pt x="92" y="9"/>
                    <a:pt x="85" y="2"/>
                    <a:pt x="82" y="1"/>
                  </a:cubicBezTo>
                  <a:cubicBezTo>
                    <a:pt x="74" y="0"/>
                    <a:pt x="72" y="9"/>
                    <a:pt x="64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Freeform 13"/>
            <p:cNvSpPr>
              <a:spLocks/>
            </p:cNvSpPr>
            <p:nvPr/>
          </p:nvSpPr>
          <p:spPr bwMode="invGray">
            <a:xfrm>
              <a:off x="1506" y="1999"/>
              <a:ext cx="146" cy="60"/>
            </a:xfrm>
            <a:custGeom>
              <a:avLst/>
              <a:gdLst>
                <a:gd name="T0" fmla="*/ 13 w 194"/>
                <a:gd name="T1" fmla="*/ 2 h 80"/>
                <a:gd name="T2" fmla="*/ 2 w 194"/>
                <a:gd name="T3" fmla="*/ 4 h 80"/>
                <a:gd name="T4" fmla="*/ 2 w 194"/>
                <a:gd name="T5" fmla="*/ 5 h 80"/>
                <a:gd name="T6" fmla="*/ 8 w 194"/>
                <a:gd name="T7" fmla="*/ 8 h 80"/>
                <a:gd name="T8" fmla="*/ 19 w 194"/>
                <a:gd name="T9" fmla="*/ 11 h 80"/>
                <a:gd name="T10" fmla="*/ 24 w 194"/>
                <a:gd name="T11" fmla="*/ 10 h 80"/>
                <a:gd name="T12" fmla="*/ 26 w 194"/>
                <a:gd name="T13" fmla="*/ 8 h 80"/>
                <a:gd name="T14" fmla="*/ 24 w 194"/>
                <a:gd name="T15" fmla="*/ 6 h 80"/>
                <a:gd name="T16" fmla="*/ 23 w 194"/>
                <a:gd name="T17" fmla="*/ 5 h 80"/>
                <a:gd name="T18" fmla="*/ 17 w 194"/>
                <a:gd name="T19" fmla="*/ 4 h 80"/>
                <a:gd name="T20" fmla="*/ 13 w 194"/>
                <a:gd name="T21" fmla="*/ 2 h 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94" h="80">
                  <a:moveTo>
                    <a:pt x="97" y="10"/>
                  </a:moveTo>
                  <a:cubicBezTo>
                    <a:pt x="70" y="19"/>
                    <a:pt x="42" y="22"/>
                    <a:pt x="13" y="24"/>
                  </a:cubicBezTo>
                  <a:cubicBezTo>
                    <a:pt x="9" y="25"/>
                    <a:pt x="0" y="26"/>
                    <a:pt x="9" y="34"/>
                  </a:cubicBezTo>
                  <a:cubicBezTo>
                    <a:pt x="21" y="44"/>
                    <a:pt x="43" y="43"/>
                    <a:pt x="57" y="52"/>
                  </a:cubicBezTo>
                  <a:cubicBezTo>
                    <a:pt x="75" y="80"/>
                    <a:pt x="104" y="73"/>
                    <a:pt x="135" y="74"/>
                  </a:cubicBezTo>
                  <a:cubicBezTo>
                    <a:pt x="153" y="73"/>
                    <a:pt x="159" y="73"/>
                    <a:pt x="175" y="68"/>
                  </a:cubicBezTo>
                  <a:cubicBezTo>
                    <a:pt x="179" y="67"/>
                    <a:pt x="187" y="64"/>
                    <a:pt x="187" y="64"/>
                  </a:cubicBezTo>
                  <a:cubicBezTo>
                    <a:pt x="194" y="53"/>
                    <a:pt x="184" y="49"/>
                    <a:pt x="175" y="44"/>
                  </a:cubicBezTo>
                  <a:cubicBezTo>
                    <a:pt x="171" y="42"/>
                    <a:pt x="163" y="36"/>
                    <a:pt x="163" y="36"/>
                  </a:cubicBezTo>
                  <a:cubicBezTo>
                    <a:pt x="140" y="41"/>
                    <a:pt x="147" y="38"/>
                    <a:pt x="129" y="26"/>
                  </a:cubicBezTo>
                  <a:cubicBezTo>
                    <a:pt x="123" y="17"/>
                    <a:pt x="107" y="0"/>
                    <a:pt x="97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invGray">
            <a:xfrm>
              <a:off x="1711" y="2069"/>
              <a:ext cx="233" cy="190"/>
            </a:xfrm>
            <a:custGeom>
              <a:avLst/>
              <a:gdLst>
                <a:gd name="T0" fmla="*/ 10 w 310"/>
                <a:gd name="T1" fmla="*/ 1 h 254"/>
                <a:gd name="T2" fmla="*/ 8 w 310"/>
                <a:gd name="T3" fmla="*/ 3 h 254"/>
                <a:gd name="T4" fmla="*/ 3 w 310"/>
                <a:gd name="T5" fmla="*/ 5 h 254"/>
                <a:gd name="T6" fmla="*/ 8 w 310"/>
                <a:gd name="T7" fmla="*/ 10 h 254"/>
                <a:gd name="T8" fmla="*/ 11 w 310"/>
                <a:gd name="T9" fmla="*/ 11 h 254"/>
                <a:gd name="T10" fmla="*/ 14 w 310"/>
                <a:gd name="T11" fmla="*/ 13 h 254"/>
                <a:gd name="T12" fmla="*/ 17 w 310"/>
                <a:gd name="T13" fmla="*/ 11 h 254"/>
                <a:gd name="T14" fmla="*/ 20 w 310"/>
                <a:gd name="T15" fmla="*/ 13 h 254"/>
                <a:gd name="T16" fmla="*/ 20 w 310"/>
                <a:gd name="T17" fmla="*/ 16 h 254"/>
                <a:gd name="T18" fmla="*/ 16 w 310"/>
                <a:gd name="T19" fmla="*/ 20 h 254"/>
                <a:gd name="T20" fmla="*/ 13 w 310"/>
                <a:gd name="T21" fmla="*/ 22 h 254"/>
                <a:gd name="T22" fmla="*/ 10 w 310"/>
                <a:gd name="T23" fmla="*/ 22 h 254"/>
                <a:gd name="T24" fmla="*/ 8 w 310"/>
                <a:gd name="T25" fmla="*/ 22 h 254"/>
                <a:gd name="T26" fmla="*/ 6 w 310"/>
                <a:gd name="T27" fmla="*/ 25 h 254"/>
                <a:gd name="T28" fmla="*/ 6 w 310"/>
                <a:gd name="T29" fmla="*/ 25 h 254"/>
                <a:gd name="T30" fmla="*/ 10 w 310"/>
                <a:gd name="T31" fmla="*/ 27 h 254"/>
                <a:gd name="T32" fmla="*/ 13 w 310"/>
                <a:gd name="T33" fmla="*/ 27 h 254"/>
                <a:gd name="T34" fmla="*/ 16 w 310"/>
                <a:gd name="T35" fmla="*/ 30 h 254"/>
                <a:gd name="T36" fmla="*/ 17 w 310"/>
                <a:gd name="T37" fmla="*/ 31 h 254"/>
                <a:gd name="T38" fmla="*/ 19 w 310"/>
                <a:gd name="T39" fmla="*/ 31 h 254"/>
                <a:gd name="T40" fmla="*/ 22 w 310"/>
                <a:gd name="T41" fmla="*/ 33 h 254"/>
                <a:gd name="T42" fmla="*/ 25 w 310"/>
                <a:gd name="T43" fmla="*/ 31 h 254"/>
                <a:gd name="T44" fmla="*/ 28 w 310"/>
                <a:gd name="T45" fmla="*/ 31 h 254"/>
                <a:gd name="T46" fmla="*/ 31 w 310"/>
                <a:gd name="T47" fmla="*/ 28 h 254"/>
                <a:gd name="T48" fmla="*/ 30 w 310"/>
                <a:gd name="T49" fmla="*/ 24 h 254"/>
                <a:gd name="T50" fmla="*/ 29 w 310"/>
                <a:gd name="T51" fmla="*/ 22 h 254"/>
                <a:gd name="T52" fmla="*/ 32 w 310"/>
                <a:gd name="T53" fmla="*/ 22 h 254"/>
                <a:gd name="T54" fmla="*/ 33 w 310"/>
                <a:gd name="T55" fmla="*/ 24 h 254"/>
                <a:gd name="T56" fmla="*/ 33 w 310"/>
                <a:gd name="T57" fmla="*/ 25 h 254"/>
                <a:gd name="T58" fmla="*/ 35 w 310"/>
                <a:gd name="T59" fmla="*/ 25 h 254"/>
                <a:gd name="T60" fmla="*/ 41 w 310"/>
                <a:gd name="T61" fmla="*/ 22 h 254"/>
                <a:gd name="T62" fmla="*/ 40 w 310"/>
                <a:gd name="T63" fmla="*/ 19 h 254"/>
                <a:gd name="T64" fmla="*/ 35 w 310"/>
                <a:gd name="T65" fmla="*/ 16 h 254"/>
                <a:gd name="T66" fmla="*/ 36 w 310"/>
                <a:gd name="T67" fmla="*/ 14 h 254"/>
                <a:gd name="T68" fmla="*/ 38 w 310"/>
                <a:gd name="T69" fmla="*/ 13 h 254"/>
                <a:gd name="T70" fmla="*/ 34 w 310"/>
                <a:gd name="T71" fmla="*/ 7 h 254"/>
                <a:gd name="T72" fmla="*/ 32 w 310"/>
                <a:gd name="T73" fmla="*/ 7 h 254"/>
                <a:gd name="T74" fmla="*/ 30 w 310"/>
                <a:gd name="T75" fmla="*/ 7 h 254"/>
                <a:gd name="T76" fmla="*/ 27 w 310"/>
                <a:gd name="T77" fmla="*/ 4 h 254"/>
                <a:gd name="T78" fmla="*/ 22 w 310"/>
                <a:gd name="T79" fmla="*/ 5 h 254"/>
                <a:gd name="T80" fmla="*/ 23 w 310"/>
                <a:gd name="T81" fmla="*/ 3 h 254"/>
                <a:gd name="T82" fmla="*/ 19 w 310"/>
                <a:gd name="T83" fmla="*/ 2 h 254"/>
                <a:gd name="T84" fmla="*/ 17 w 310"/>
                <a:gd name="T85" fmla="*/ 2 h 254"/>
                <a:gd name="T86" fmla="*/ 10 w 310"/>
                <a:gd name="T87" fmla="*/ 1 h 25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0" t="0" r="r" b="b"/>
              <a:pathLst>
                <a:path w="310" h="254">
                  <a:moveTo>
                    <a:pt x="67" y="9"/>
                  </a:moveTo>
                  <a:cubicBezTo>
                    <a:pt x="63" y="15"/>
                    <a:pt x="51" y="23"/>
                    <a:pt x="51" y="23"/>
                  </a:cubicBezTo>
                  <a:cubicBezTo>
                    <a:pt x="43" y="34"/>
                    <a:pt x="33" y="35"/>
                    <a:pt x="21" y="39"/>
                  </a:cubicBezTo>
                  <a:cubicBezTo>
                    <a:pt x="0" y="71"/>
                    <a:pt x="30" y="74"/>
                    <a:pt x="53" y="77"/>
                  </a:cubicBezTo>
                  <a:cubicBezTo>
                    <a:pt x="61" y="89"/>
                    <a:pt x="63" y="87"/>
                    <a:pt x="79" y="85"/>
                  </a:cubicBezTo>
                  <a:cubicBezTo>
                    <a:pt x="88" y="88"/>
                    <a:pt x="93" y="96"/>
                    <a:pt x="103" y="99"/>
                  </a:cubicBezTo>
                  <a:cubicBezTo>
                    <a:pt x="117" y="96"/>
                    <a:pt x="116" y="89"/>
                    <a:pt x="127" y="85"/>
                  </a:cubicBezTo>
                  <a:cubicBezTo>
                    <a:pt x="134" y="90"/>
                    <a:pt x="138" y="94"/>
                    <a:pt x="143" y="101"/>
                  </a:cubicBezTo>
                  <a:cubicBezTo>
                    <a:pt x="140" y="116"/>
                    <a:pt x="134" y="117"/>
                    <a:pt x="149" y="127"/>
                  </a:cubicBezTo>
                  <a:cubicBezTo>
                    <a:pt x="161" y="144"/>
                    <a:pt x="126" y="147"/>
                    <a:pt x="115" y="151"/>
                  </a:cubicBezTo>
                  <a:cubicBezTo>
                    <a:pt x="109" y="160"/>
                    <a:pt x="100" y="169"/>
                    <a:pt x="89" y="173"/>
                  </a:cubicBezTo>
                  <a:cubicBezTo>
                    <a:pt x="81" y="172"/>
                    <a:pt x="76" y="171"/>
                    <a:pt x="69" y="169"/>
                  </a:cubicBezTo>
                  <a:cubicBezTo>
                    <a:pt x="65" y="168"/>
                    <a:pt x="57" y="165"/>
                    <a:pt x="57" y="165"/>
                  </a:cubicBezTo>
                  <a:cubicBezTo>
                    <a:pt x="46" y="169"/>
                    <a:pt x="46" y="177"/>
                    <a:pt x="43" y="187"/>
                  </a:cubicBezTo>
                  <a:cubicBezTo>
                    <a:pt x="42" y="191"/>
                    <a:pt x="39" y="199"/>
                    <a:pt x="39" y="199"/>
                  </a:cubicBezTo>
                  <a:cubicBezTo>
                    <a:pt x="50" y="203"/>
                    <a:pt x="61" y="204"/>
                    <a:pt x="73" y="205"/>
                  </a:cubicBezTo>
                  <a:cubicBezTo>
                    <a:pt x="82" y="203"/>
                    <a:pt x="86" y="201"/>
                    <a:pt x="95" y="203"/>
                  </a:cubicBezTo>
                  <a:cubicBezTo>
                    <a:pt x="107" y="211"/>
                    <a:pt x="111" y="218"/>
                    <a:pt x="115" y="231"/>
                  </a:cubicBezTo>
                  <a:cubicBezTo>
                    <a:pt x="116" y="235"/>
                    <a:pt x="123" y="234"/>
                    <a:pt x="127" y="235"/>
                  </a:cubicBezTo>
                  <a:cubicBezTo>
                    <a:pt x="131" y="236"/>
                    <a:pt x="139" y="239"/>
                    <a:pt x="139" y="239"/>
                  </a:cubicBezTo>
                  <a:cubicBezTo>
                    <a:pt x="144" y="246"/>
                    <a:pt x="147" y="248"/>
                    <a:pt x="155" y="251"/>
                  </a:cubicBezTo>
                  <a:cubicBezTo>
                    <a:pt x="169" y="250"/>
                    <a:pt x="187" y="254"/>
                    <a:pt x="181" y="237"/>
                  </a:cubicBezTo>
                  <a:cubicBezTo>
                    <a:pt x="184" y="220"/>
                    <a:pt x="192" y="228"/>
                    <a:pt x="203" y="235"/>
                  </a:cubicBezTo>
                  <a:cubicBezTo>
                    <a:pt x="224" y="233"/>
                    <a:pt x="224" y="232"/>
                    <a:pt x="229" y="213"/>
                  </a:cubicBezTo>
                  <a:cubicBezTo>
                    <a:pt x="229" y="211"/>
                    <a:pt x="229" y="192"/>
                    <a:pt x="225" y="185"/>
                  </a:cubicBezTo>
                  <a:cubicBezTo>
                    <a:pt x="223" y="181"/>
                    <a:pt x="217" y="173"/>
                    <a:pt x="217" y="173"/>
                  </a:cubicBezTo>
                  <a:cubicBezTo>
                    <a:pt x="220" y="163"/>
                    <a:pt x="224" y="165"/>
                    <a:pt x="233" y="167"/>
                  </a:cubicBezTo>
                  <a:cubicBezTo>
                    <a:pt x="240" y="172"/>
                    <a:pt x="242" y="175"/>
                    <a:pt x="245" y="183"/>
                  </a:cubicBezTo>
                  <a:cubicBezTo>
                    <a:pt x="246" y="188"/>
                    <a:pt x="244" y="193"/>
                    <a:pt x="247" y="197"/>
                  </a:cubicBezTo>
                  <a:cubicBezTo>
                    <a:pt x="250" y="201"/>
                    <a:pt x="256" y="194"/>
                    <a:pt x="261" y="193"/>
                  </a:cubicBezTo>
                  <a:cubicBezTo>
                    <a:pt x="276" y="188"/>
                    <a:pt x="290" y="178"/>
                    <a:pt x="303" y="169"/>
                  </a:cubicBezTo>
                  <a:cubicBezTo>
                    <a:pt x="310" y="158"/>
                    <a:pt x="302" y="153"/>
                    <a:pt x="293" y="147"/>
                  </a:cubicBezTo>
                  <a:cubicBezTo>
                    <a:pt x="281" y="129"/>
                    <a:pt x="283" y="126"/>
                    <a:pt x="259" y="123"/>
                  </a:cubicBezTo>
                  <a:cubicBezTo>
                    <a:pt x="256" y="115"/>
                    <a:pt x="257" y="111"/>
                    <a:pt x="265" y="107"/>
                  </a:cubicBezTo>
                  <a:cubicBezTo>
                    <a:pt x="269" y="105"/>
                    <a:pt x="277" y="103"/>
                    <a:pt x="277" y="103"/>
                  </a:cubicBezTo>
                  <a:cubicBezTo>
                    <a:pt x="287" y="88"/>
                    <a:pt x="269" y="66"/>
                    <a:pt x="253" y="63"/>
                  </a:cubicBezTo>
                  <a:cubicBezTo>
                    <a:pt x="239" y="60"/>
                    <a:pt x="244" y="62"/>
                    <a:pt x="233" y="59"/>
                  </a:cubicBezTo>
                  <a:cubicBezTo>
                    <a:pt x="229" y="58"/>
                    <a:pt x="221" y="55"/>
                    <a:pt x="221" y="55"/>
                  </a:cubicBezTo>
                  <a:cubicBezTo>
                    <a:pt x="200" y="60"/>
                    <a:pt x="217" y="38"/>
                    <a:pt x="201" y="33"/>
                  </a:cubicBezTo>
                  <a:cubicBezTo>
                    <a:pt x="185" y="35"/>
                    <a:pt x="169" y="36"/>
                    <a:pt x="155" y="45"/>
                  </a:cubicBezTo>
                  <a:cubicBezTo>
                    <a:pt x="145" y="30"/>
                    <a:pt x="152" y="30"/>
                    <a:pt x="167" y="25"/>
                  </a:cubicBezTo>
                  <a:cubicBezTo>
                    <a:pt x="163" y="10"/>
                    <a:pt x="155" y="15"/>
                    <a:pt x="139" y="17"/>
                  </a:cubicBezTo>
                  <a:cubicBezTo>
                    <a:pt x="131" y="20"/>
                    <a:pt x="127" y="22"/>
                    <a:pt x="119" y="19"/>
                  </a:cubicBezTo>
                  <a:cubicBezTo>
                    <a:pt x="106" y="0"/>
                    <a:pt x="74" y="29"/>
                    <a:pt x="67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Freeform 15"/>
            <p:cNvSpPr>
              <a:spLocks/>
            </p:cNvSpPr>
            <p:nvPr/>
          </p:nvSpPr>
          <p:spPr bwMode="invGray">
            <a:xfrm>
              <a:off x="1709" y="1987"/>
              <a:ext cx="44" cy="37"/>
            </a:xfrm>
            <a:custGeom>
              <a:avLst/>
              <a:gdLst>
                <a:gd name="T0" fmla="*/ 3 w 59"/>
                <a:gd name="T1" fmla="*/ 0 h 50"/>
                <a:gd name="T2" fmla="*/ 0 w 59"/>
                <a:gd name="T3" fmla="*/ 1 h 50"/>
                <a:gd name="T4" fmla="*/ 4 w 59"/>
                <a:gd name="T5" fmla="*/ 5 h 50"/>
                <a:gd name="T6" fmla="*/ 6 w 59"/>
                <a:gd name="T7" fmla="*/ 6 h 50"/>
                <a:gd name="T8" fmla="*/ 7 w 59"/>
                <a:gd name="T9" fmla="*/ 4 h 50"/>
                <a:gd name="T10" fmla="*/ 5 w 59"/>
                <a:gd name="T11" fmla="*/ 1 h 50"/>
                <a:gd name="T12" fmla="*/ 3 w 59"/>
                <a:gd name="T13" fmla="*/ 0 h 5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9" h="50">
                  <a:moveTo>
                    <a:pt x="26" y="0"/>
                  </a:moveTo>
                  <a:cubicBezTo>
                    <a:pt x="13" y="2"/>
                    <a:pt x="7" y="0"/>
                    <a:pt x="0" y="10"/>
                  </a:cubicBezTo>
                  <a:cubicBezTo>
                    <a:pt x="4" y="22"/>
                    <a:pt x="18" y="36"/>
                    <a:pt x="30" y="40"/>
                  </a:cubicBezTo>
                  <a:cubicBezTo>
                    <a:pt x="37" y="42"/>
                    <a:pt x="48" y="50"/>
                    <a:pt x="48" y="50"/>
                  </a:cubicBezTo>
                  <a:cubicBezTo>
                    <a:pt x="57" y="44"/>
                    <a:pt x="55" y="37"/>
                    <a:pt x="58" y="28"/>
                  </a:cubicBezTo>
                  <a:cubicBezTo>
                    <a:pt x="55" y="11"/>
                    <a:pt x="59" y="18"/>
                    <a:pt x="44" y="8"/>
                  </a:cubicBezTo>
                  <a:cubicBezTo>
                    <a:pt x="42" y="6"/>
                    <a:pt x="26" y="5"/>
                    <a:pt x="2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Freeform 16"/>
            <p:cNvSpPr>
              <a:spLocks/>
            </p:cNvSpPr>
            <p:nvPr/>
          </p:nvSpPr>
          <p:spPr bwMode="invGray">
            <a:xfrm>
              <a:off x="1625" y="2057"/>
              <a:ext cx="65" cy="42"/>
            </a:xfrm>
            <a:custGeom>
              <a:avLst/>
              <a:gdLst>
                <a:gd name="T0" fmla="*/ 6 w 86"/>
                <a:gd name="T1" fmla="*/ 1 h 57"/>
                <a:gd name="T2" fmla="*/ 4 w 86"/>
                <a:gd name="T3" fmla="*/ 3 h 57"/>
                <a:gd name="T4" fmla="*/ 2 w 86"/>
                <a:gd name="T5" fmla="*/ 3 h 57"/>
                <a:gd name="T6" fmla="*/ 2 w 86"/>
                <a:gd name="T7" fmla="*/ 7 h 57"/>
                <a:gd name="T8" fmla="*/ 11 w 86"/>
                <a:gd name="T9" fmla="*/ 4 h 57"/>
                <a:gd name="T10" fmla="*/ 12 w 86"/>
                <a:gd name="T11" fmla="*/ 2 h 57"/>
                <a:gd name="T12" fmla="*/ 8 w 86"/>
                <a:gd name="T13" fmla="*/ 1 h 57"/>
                <a:gd name="T14" fmla="*/ 6 w 86"/>
                <a:gd name="T15" fmla="*/ 1 h 5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6" h="57">
                  <a:moveTo>
                    <a:pt x="44" y="7"/>
                  </a:moveTo>
                  <a:cubicBezTo>
                    <a:pt x="39" y="14"/>
                    <a:pt x="31" y="20"/>
                    <a:pt x="24" y="25"/>
                  </a:cubicBezTo>
                  <a:cubicBezTo>
                    <a:pt x="16" y="19"/>
                    <a:pt x="12" y="22"/>
                    <a:pt x="4" y="27"/>
                  </a:cubicBezTo>
                  <a:cubicBezTo>
                    <a:pt x="0" y="38"/>
                    <a:pt x="4" y="53"/>
                    <a:pt x="16" y="57"/>
                  </a:cubicBezTo>
                  <a:cubicBezTo>
                    <a:pt x="33" y="51"/>
                    <a:pt x="60" y="45"/>
                    <a:pt x="74" y="35"/>
                  </a:cubicBezTo>
                  <a:cubicBezTo>
                    <a:pt x="78" y="29"/>
                    <a:pt x="86" y="17"/>
                    <a:pt x="86" y="17"/>
                  </a:cubicBezTo>
                  <a:cubicBezTo>
                    <a:pt x="80" y="0"/>
                    <a:pt x="74" y="5"/>
                    <a:pt x="56" y="7"/>
                  </a:cubicBezTo>
                  <a:cubicBezTo>
                    <a:pt x="43" y="11"/>
                    <a:pt x="44" y="15"/>
                    <a:pt x="44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invGray">
            <a:xfrm>
              <a:off x="1693" y="2065"/>
              <a:ext cx="54" cy="25"/>
            </a:xfrm>
            <a:custGeom>
              <a:avLst/>
              <a:gdLst>
                <a:gd name="T0" fmla="*/ 5 w 73"/>
                <a:gd name="T1" fmla="*/ 0 h 34"/>
                <a:gd name="T2" fmla="*/ 1 w 73"/>
                <a:gd name="T3" fmla="*/ 2 h 34"/>
                <a:gd name="T4" fmla="*/ 3 w 73"/>
                <a:gd name="T5" fmla="*/ 4 h 34"/>
                <a:gd name="T6" fmla="*/ 7 w 73"/>
                <a:gd name="T7" fmla="*/ 3 h 34"/>
                <a:gd name="T8" fmla="*/ 7 w 73"/>
                <a:gd name="T9" fmla="*/ 2 h 34"/>
                <a:gd name="T10" fmla="*/ 5 w 73"/>
                <a:gd name="T11" fmla="*/ 0 h 3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3" h="34">
                  <a:moveTo>
                    <a:pt x="40" y="0"/>
                  </a:moveTo>
                  <a:cubicBezTo>
                    <a:pt x="30" y="6"/>
                    <a:pt x="20" y="10"/>
                    <a:pt x="10" y="16"/>
                  </a:cubicBezTo>
                  <a:cubicBezTo>
                    <a:pt x="0" y="31"/>
                    <a:pt x="13" y="30"/>
                    <a:pt x="24" y="34"/>
                  </a:cubicBezTo>
                  <a:cubicBezTo>
                    <a:pt x="44" y="31"/>
                    <a:pt x="35" y="34"/>
                    <a:pt x="52" y="28"/>
                  </a:cubicBezTo>
                  <a:cubicBezTo>
                    <a:pt x="57" y="26"/>
                    <a:pt x="64" y="20"/>
                    <a:pt x="64" y="20"/>
                  </a:cubicBezTo>
                  <a:cubicBezTo>
                    <a:pt x="73" y="7"/>
                    <a:pt x="48" y="8"/>
                    <a:pt x="4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invGray">
            <a:xfrm>
              <a:off x="1664" y="2029"/>
              <a:ext cx="64" cy="34"/>
            </a:xfrm>
            <a:custGeom>
              <a:avLst/>
              <a:gdLst>
                <a:gd name="T0" fmla="*/ 8 w 85"/>
                <a:gd name="T1" fmla="*/ 2 h 45"/>
                <a:gd name="T2" fmla="*/ 4 w 85"/>
                <a:gd name="T3" fmla="*/ 2 h 45"/>
                <a:gd name="T4" fmla="*/ 0 w 85"/>
                <a:gd name="T5" fmla="*/ 3 h 45"/>
                <a:gd name="T6" fmla="*/ 6 w 85"/>
                <a:gd name="T7" fmla="*/ 5 h 45"/>
                <a:gd name="T8" fmla="*/ 8 w 85"/>
                <a:gd name="T9" fmla="*/ 6 h 45"/>
                <a:gd name="T10" fmla="*/ 11 w 85"/>
                <a:gd name="T11" fmla="*/ 3 h 45"/>
                <a:gd name="T12" fmla="*/ 11 w 85"/>
                <a:gd name="T13" fmla="*/ 2 h 45"/>
                <a:gd name="T14" fmla="*/ 8 w 85"/>
                <a:gd name="T15" fmla="*/ 0 h 45"/>
                <a:gd name="T16" fmla="*/ 8 w 85"/>
                <a:gd name="T17" fmla="*/ 2 h 4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5" h="45">
                  <a:moveTo>
                    <a:pt x="58" y="10"/>
                  </a:moveTo>
                  <a:cubicBezTo>
                    <a:pt x="39" y="16"/>
                    <a:pt x="45" y="10"/>
                    <a:pt x="28" y="4"/>
                  </a:cubicBezTo>
                  <a:cubicBezTo>
                    <a:pt x="7" y="6"/>
                    <a:pt x="5" y="2"/>
                    <a:pt x="0" y="18"/>
                  </a:cubicBezTo>
                  <a:cubicBezTo>
                    <a:pt x="5" y="34"/>
                    <a:pt x="26" y="31"/>
                    <a:pt x="40" y="32"/>
                  </a:cubicBezTo>
                  <a:cubicBezTo>
                    <a:pt x="50" y="42"/>
                    <a:pt x="49" y="45"/>
                    <a:pt x="64" y="40"/>
                  </a:cubicBezTo>
                  <a:cubicBezTo>
                    <a:pt x="69" y="32"/>
                    <a:pt x="77" y="25"/>
                    <a:pt x="84" y="18"/>
                  </a:cubicBezTo>
                  <a:cubicBezTo>
                    <a:pt x="83" y="14"/>
                    <a:pt x="85" y="9"/>
                    <a:pt x="82" y="6"/>
                  </a:cubicBezTo>
                  <a:cubicBezTo>
                    <a:pt x="78" y="1"/>
                    <a:pt x="64" y="0"/>
                    <a:pt x="64" y="0"/>
                  </a:cubicBezTo>
                  <a:cubicBezTo>
                    <a:pt x="56" y="3"/>
                    <a:pt x="47" y="21"/>
                    <a:pt x="58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invGray">
            <a:xfrm>
              <a:off x="1637" y="1997"/>
              <a:ext cx="44" cy="24"/>
            </a:xfrm>
            <a:custGeom>
              <a:avLst/>
              <a:gdLst>
                <a:gd name="T0" fmla="*/ 2 w 58"/>
                <a:gd name="T1" fmla="*/ 2 h 31"/>
                <a:gd name="T2" fmla="*/ 0 w 58"/>
                <a:gd name="T3" fmla="*/ 3 h 31"/>
                <a:gd name="T4" fmla="*/ 3 w 58"/>
                <a:gd name="T5" fmla="*/ 5 h 31"/>
                <a:gd name="T6" fmla="*/ 4 w 58"/>
                <a:gd name="T7" fmla="*/ 3 h 31"/>
                <a:gd name="T8" fmla="*/ 8 w 58"/>
                <a:gd name="T9" fmla="*/ 2 h 31"/>
                <a:gd name="T10" fmla="*/ 6 w 58"/>
                <a:gd name="T11" fmla="*/ 0 h 31"/>
                <a:gd name="T12" fmla="*/ 2 w 58"/>
                <a:gd name="T13" fmla="*/ 2 h 3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31">
                  <a:moveTo>
                    <a:pt x="16" y="4"/>
                  </a:moveTo>
                  <a:cubicBezTo>
                    <a:pt x="2" y="13"/>
                    <a:pt x="7" y="8"/>
                    <a:pt x="0" y="18"/>
                  </a:cubicBezTo>
                  <a:cubicBezTo>
                    <a:pt x="5" y="26"/>
                    <a:pt x="11" y="25"/>
                    <a:pt x="20" y="28"/>
                  </a:cubicBezTo>
                  <a:cubicBezTo>
                    <a:pt x="36" y="23"/>
                    <a:pt x="17" y="31"/>
                    <a:pt x="28" y="20"/>
                  </a:cubicBezTo>
                  <a:cubicBezTo>
                    <a:pt x="33" y="15"/>
                    <a:pt x="46" y="13"/>
                    <a:pt x="52" y="12"/>
                  </a:cubicBezTo>
                  <a:cubicBezTo>
                    <a:pt x="58" y="3"/>
                    <a:pt x="53" y="3"/>
                    <a:pt x="44" y="0"/>
                  </a:cubicBezTo>
                  <a:cubicBezTo>
                    <a:pt x="38" y="1"/>
                    <a:pt x="20" y="8"/>
                    <a:pt x="16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invGray">
            <a:xfrm>
              <a:off x="1751" y="2000"/>
              <a:ext cx="114" cy="77"/>
            </a:xfrm>
            <a:custGeom>
              <a:avLst/>
              <a:gdLst>
                <a:gd name="T0" fmla="*/ 6 w 152"/>
                <a:gd name="T1" fmla="*/ 0 h 102"/>
                <a:gd name="T2" fmla="*/ 2 w 152"/>
                <a:gd name="T3" fmla="*/ 2 h 102"/>
                <a:gd name="T4" fmla="*/ 2 w 152"/>
                <a:gd name="T5" fmla="*/ 6 h 102"/>
                <a:gd name="T6" fmla="*/ 2 w 152"/>
                <a:gd name="T7" fmla="*/ 8 h 102"/>
                <a:gd name="T8" fmla="*/ 0 w 152"/>
                <a:gd name="T9" fmla="*/ 10 h 102"/>
                <a:gd name="T10" fmla="*/ 8 w 152"/>
                <a:gd name="T11" fmla="*/ 12 h 102"/>
                <a:gd name="T12" fmla="*/ 11 w 152"/>
                <a:gd name="T13" fmla="*/ 13 h 102"/>
                <a:gd name="T14" fmla="*/ 21 w 152"/>
                <a:gd name="T15" fmla="*/ 12 h 102"/>
                <a:gd name="T16" fmla="*/ 11 w 152"/>
                <a:gd name="T17" fmla="*/ 10 h 102"/>
                <a:gd name="T18" fmla="*/ 8 w 152"/>
                <a:gd name="T19" fmla="*/ 8 h 102"/>
                <a:gd name="T20" fmla="*/ 6 w 152"/>
                <a:gd name="T21" fmla="*/ 8 h 102"/>
                <a:gd name="T22" fmla="*/ 8 w 152"/>
                <a:gd name="T23" fmla="*/ 5 h 102"/>
                <a:gd name="T24" fmla="*/ 6 w 152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2" h="102">
                  <a:moveTo>
                    <a:pt x="38" y="0"/>
                  </a:moveTo>
                  <a:cubicBezTo>
                    <a:pt x="22" y="5"/>
                    <a:pt x="30" y="3"/>
                    <a:pt x="14" y="6"/>
                  </a:cubicBezTo>
                  <a:cubicBezTo>
                    <a:pt x="18" y="22"/>
                    <a:pt x="22" y="32"/>
                    <a:pt x="4" y="38"/>
                  </a:cubicBezTo>
                  <a:cubicBezTo>
                    <a:pt x="1" y="47"/>
                    <a:pt x="7" y="49"/>
                    <a:pt x="12" y="56"/>
                  </a:cubicBezTo>
                  <a:cubicBezTo>
                    <a:pt x="10" y="65"/>
                    <a:pt x="9" y="69"/>
                    <a:pt x="0" y="72"/>
                  </a:cubicBezTo>
                  <a:cubicBezTo>
                    <a:pt x="5" y="88"/>
                    <a:pt x="45" y="85"/>
                    <a:pt x="56" y="86"/>
                  </a:cubicBezTo>
                  <a:cubicBezTo>
                    <a:pt x="72" y="97"/>
                    <a:pt x="63" y="95"/>
                    <a:pt x="82" y="92"/>
                  </a:cubicBezTo>
                  <a:cubicBezTo>
                    <a:pt x="86" y="92"/>
                    <a:pt x="147" y="102"/>
                    <a:pt x="152" y="86"/>
                  </a:cubicBezTo>
                  <a:cubicBezTo>
                    <a:pt x="123" y="66"/>
                    <a:pt x="128" y="72"/>
                    <a:pt x="76" y="70"/>
                  </a:cubicBezTo>
                  <a:cubicBezTo>
                    <a:pt x="62" y="56"/>
                    <a:pt x="81" y="73"/>
                    <a:pt x="54" y="62"/>
                  </a:cubicBezTo>
                  <a:cubicBezTo>
                    <a:pt x="50" y="60"/>
                    <a:pt x="48" y="55"/>
                    <a:pt x="44" y="52"/>
                  </a:cubicBezTo>
                  <a:cubicBezTo>
                    <a:pt x="41" y="43"/>
                    <a:pt x="42" y="39"/>
                    <a:pt x="50" y="34"/>
                  </a:cubicBezTo>
                  <a:cubicBezTo>
                    <a:pt x="52" y="27"/>
                    <a:pt x="42" y="9"/>
                    <a:pt x="3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invGray">
            <a:xfrm>
              <a:off x="664" y="2245"/>
              <a:ext cx="25" cy="15"/>
            </a:xfrm>
            <a:custGeom>
              <a:avLst/>
              <a:gdLst>
                <a:gd name="T0" fmla="*/ 4 w 34"/>
                <a:gd name="T1" fmla="*/ 0 h 20"/>
                <a:gd name="T2" fmla="*/ 3 w 34"/>
                <a:gd name="T3" fmla="*/ 3 h 20"/>
                <a:gd name="T4" fmla="*/ 1 w 34"/>
                <a:gd name="T5" fmla="*/ 3 h 20"/>
                <a:gd name="T6" fmla="*/ 1 w 34"/>
                <a:gd name="T7" fmla="*/ 2 h 20"/>
                <a:gd name="T8" fmla="*/ 4 w 34"/>
                <a:gd name="T9" fmla="*/ 0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2" y="10"/>
                    <a:pt x="34" y="17"/>
                    <a:pt x="24" y="20"/>
                  </a:cubicBezTo>
                  <a:cubicBezTo>
                    <a:pt x="17" y="19"/>
                    <a:pt x="10" y="20"/>
                    <a:pt x="4" y="18"/>
                  </a:cubicBezTo>
                  <a:cubicBezTo>
                    <a:pt x="0" y="17"/>
                    <a:pt x="2" y="7"/>
                    <a:pt x="4" y="6"/>
                  </a:cubicBezTo>
                  <a:cubicBezTo>
                    <a:pt x="12" y="0"/>
                    <a:pt x="24" y="0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Freeform 22"/>
            <p:cNvSpPr>
              <a:spLocks/>
            </p:cNvSpPr>
            <p:nvPr/>
          </p:nvSpPr>
          <p:spPr bwMode="invGray">
            <a:xfrm>
              <a:off x="1421" y="2756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invGray">
            <a:xfrm>
              <a:off x="1424" y="2781"/>
              <a:ext cx="16" cy="12"/>
            </a:xfrm>
            <a:custGeom>
              <a:avLst/>
              <a:gdLst>
                <a:gd name="T0" fmla="*/ 2 w 21"/>
                <a:gd name="T1" fmla="*/ 0 h 16"/>
                <a:gd name="T2" fmla="*/ 2 w 21"/>
                <a:gd name="T3" fmla="*/ 2 h 16"/>
                <a:gd name="T4" fmla="*/ 2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invGray">
            <a:xfrm>
              <a:off x="1628" y="2913"/>
              <a:ext cx="15" cy="12"/>
            </a:xfrm>
            <a:custGeom>
              <a:avLst/>
              <a:gdLst>
                <a:gd name="T0" fmla="*/ 1 w 21"/>
                <a:gd name="T1" fmla="*/ 0 h 16"/>
                <a:gd name="T2" fmla="*/ 1 w 21"/>
                <a:gd name="T3" fmla="*/ 2 h 16"/>
                <a:gd name="T4" fmla="*/ 1 w 21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6">
                  <a:moveTo>
                    <a:pt x="3" y="0"/>
                  </a:moveTo>
                  <a:cubicBezTo>
                    <a:pt x="0" y="9"/>
                    <a:pt x="6" y="11"/>
                    <a:pt x="13" y="16"/>
                  </a:cubicBezTo>
                  <a:cubicBezTo>
                    <a:pt x="21" y="4"/>
                    <a:pt x="16" y="2"/>
                    <a:pt x="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invGray">
            <a:xfrm>
              <a:off x="1752" y="2429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invGray">
            <a:xfrm>
              <a:off x="1652" y="2224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invGray">
            <a:xfrm>
              <a:off x="1717" y="2045"/>
              <a:ext cx="39" cy="18"/>
            </a:xfrm>
            <a:custGeom>
              <a:avLst/>
              <a:gdLst>
                <a:gd name="T0" fmla="*/ 2 w 51"/>
                <a:gd name="T1" fmla="*/ 0 h 24"/>
                <a:gd name="T2" fmla="*/ 2 w 51"/>
                <a:gd name="T3" fmla="*/ 3 h 24"/>
                <a:gd name="T4" fmla="*/ 4 w 51"/>
                <a:gd name="T5" fmla="*/ 4 h 24"/>
                <a:gd name="T6" fmla="*/ 5 w 51"/>
                <a:gd name="T7" fmla="*/ 2 h 24"/>
                <a:gd name="T8" fmla="*/ 2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Freeform 28"/>
            <p:cNvSpPr>
              <a:spLocks/>
            </p:cNvSpPr>
            <p:nvPr/>
          </p:nvSpPr>
          <p:spPr bwMode="invGray">
            <a:xfrm>
              <a:off x="1780" y="2153"/>
              <a:ext cx="38" cy="18"/>
            </a:xfrm>
            <a:custGeom>
              <a:avLst/>
              <a:gdLst>
                <a:gd name="T0" fmla="*/ 1 w 51"/>
                <a:gd name="T1" fmla="*/ 0 h 24"/>
                <a:gd name="T2" fmla="*/ 1 w 51"/>
                <a:gd name="T3" fmla="*/ 3 h 24"/>
                <a:gd name="T4" fmla="*/ 3 w 51"/>
                <a:gd name="T5" fmla="*/ 4 h 24"/>
                <a:gd name="T6" fmla="*/ 4 w 51"/>
                <a:gd name="T7" fmla="*/ 2 h 24"/>
                <a:gd name="T8" fmla="*/ 1 w 51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1" h="24">
                  <a:moveTo>
                    <a:pt x="13" y="0"/>
                  </a:moveTo>
                  <a:cubicBezTo>
                    <a:pt x="12" y="2"/>
                    <a:pt x="0" y="12"/>
                    <a:pt x="7" y="18"/>
                  </a:cubicBezTo>
                  <a:cubicBezTo>
                    <a:pt x="12" y="22"/>
                    <a:pt x="27" y="24"/>
                    <a:pt x="27" y="24"/>
                  </a:cubicBezTo>
                  <a:cubicBezTo>
                    <a:pt x="44" y="22"/>
                    <a:pt x="51" y="16"/>
                    <a:pt x="33" y="4"/>
                  </a:cubicBezTo>
                  <a:cubicBezTo>
                    <a:pt x="29" y="1"/>
                    <a:pt x="14" y="0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invGray">
            <a:xfrm>
              <a:off x="1796" y="1951"/>
              <a:ext cx="696" cy="346"/>
            </a:xfrm>
            <a:custGeom>
              <a:avLst/>
              <a:gdLst>
                <a:gd name="T0" fmla="*/ 4 w 929"/>
                <a:gd name="T1" fmla="*/ 7 h 462"/>
                <a:gd name="T2" fmla="*/ 1 w 929"/>
                <a:gd name="T3" fmla="*/ 12 h 462"/>
                <a:gd name="T4" fmla="*/ 4 w 929"/>
                <a:gd name="T5" fmla="*/ 13 h 462"/>
                <a:gd name="T6" fmla="*/ 2 w 929"/>
                <a:gd name="T7" fmla="*/ 16 h 462"/>
                <a:gd name="T8" fmla="*/ 13 w 929"/>
                <a:gd name="T9" fmla="*/ 18 h 462"/>
                <a:gd name="T10" fmla="*/ 19 w 929"/>
                <a:gd name="T11" fmla="*/ 17 h 462"/>
                <a:gd name="T12" fmla="*/ 33 w 929"/>
                <a:gd name="T13" fmla="*/ 10 h 462"/>
                <a:gd name="T14" fmla="*/ 40 w 929"/>
                <a:gd name="T15" fmla="*/ 9 h 462"/>
                <a:gd name="T16" fmla="*/ 43 w 929"/>
                <a:gd name="T17" fmla="*/ 10 h 462"/>
                <a:gd name="T18" fmla="*/ 36 w 929"/>
                <a:gd name="T19" fmla="*/ 12 h 462"/>
                <a:gd name="T20" fmla="*/ 32 w 929"/>
                <a:gd name="T21" fmla="*/ 14 h 462"/>
                <a:gd name="T22" fmla="*/ 33 w 929"/>
                <a:gd name="T23" fmla="*/ 16 h 462"/>
                <a:gd name="T24" fmla="*/ 34 w 929"/>
                <a:gd name="T25" fmla="*/ 21 h 462"/>
                <a:gd name="T26" fmla="*/ 46 w 929"/>
                <a:gd name="T27" fmla="*/ 25 h 462"/>
                <a:gd name="T28" fmla="*/ 44 w 929"/>
                <a:gd name="T29" fmla="*/ 28 h 462"/>
                <a:gd name="T30" fmla="*/ 49 w 929"/>
                <a:gd name="T31" fmla="*/ 32 h 462"/>
                <a:gd name="T32" fmla="*/ 46 w 929"/>
                <a:gd name="T33" fmla="*/ 35 h 462"/>
                <a:gd name="T34" fmla="*/ 43 w 929"/>
                <a:gd name="T35" fmla="*/ 39 h 462"/>
                <a:gd name="T36" fmla="*/ 39 w 929"/>
                <a:gd name="T37" fmla="*/ 43 h 462"/>
                <a:gd name="T38" fmla="*/ 39 w 929"/>
                <a:gd name="T39" fmla="*/ 56 h 462"/>
                <a:gd name="T40" fmla="*/ 44 w 929"/>
                <a:gd name="T41" fmla="*/ 59 h 462"/>
                <a:gd name="T42" fmla="*/ 51 w 929"/>
                <a:gd name="T43" fmla="*/ 59 h 462"/>
                <a:gd name="T44" fmla="*/ 55 w 929"/>
                <a:gd name="T45" fmla="*/ 56 h 462"/>
                <a:gd name="T46" fmla="*/ 67 w 929"/>
                <a:gd name="T47" fmla="*/ 47 h 462"/>
                <a:gd name="T48" fmla="*/ 76 w 929"/>
                <a:gd name="T49" fmla="*/ 44 h 462"/>
                <a:gd name="T50" fmla="*/ 86 w 929"/>
                <a:gd name="T51" fmla="*/ 41 h 462"/>
                <a:gd name="T52" fmla="*/ 95 w 929"/>
                <a:gd name="T53" fmla="*/ 38 h 462"/>
                <a:gd name="T54" fmla="*/ 101 w 929"/>
                <a:gd name="T55" fmla="*/ 34 h 462"/>
                <a:gd name="T56" fmla="*/ 106 w 929"/>
                <a:gd name="T57" fmla="*/ 26 h 462"/>
                <a:gd name="T58" fmla="*/ 106 w 929"/>
                <a:gd name="T59" fmla="*/ 20 h 462"/>
                <a:gd name="T60" fmla="*/ 106 w 929"/>
                <a:gd name="T61" fmla="*/ 16 h 462"/>
                <a:gd name="T62" fmla="*/ 110 w 929"/>
                <a:gd name="T63" fmla="*/ 12 h 462"/>
                <a:gd name="T64" fmla="*/ 116 w 929"/>
                <a:gd name="T65" fmla="*/ 12 h 462"/>
                <a:gd name="T66" fmla="*/ 122 w 929"/>
                <a:gd name="T67" fmla="*/ 7 h 462"/>
                <a:gd name="T68" fmla="*/ 118 w 929"/>
                <a:gd name="T69" fmla="*/ 7 h 462"/>
                <a:gd name="T70" fmla="*/ 112 w 929"/>
                <a:gd name="T71" fmla="*/ 5 h 462"/>
                <a:gd name="T72" fmla="*/ 105 w 929"/>
                <a:gd name="T73" fmla="*/ 3 h 462"/>
                <a:gd name="T74" fmla="*/ 85 w 929"/>
                <a:gd name="T75" fmla="*/ 3 h 462"/>
                <a:gd name="T76" fmla="*/ 77 w 929"/>
                <a:gd name="T77" fmla="*/ 5 h 462"/>
                <a:gd name="T78" fmla="*/ 73 w 929"/>
                <a:gd name="T79" fmla="*/ 5 h 462"/>
                <a:gd name="T80" fmla="*/ 68 w 929"/>
                <a:gd name="T81" fmla="*/ 7 h 462"/>
                <a:gd name="T82" fmla="*/ 64 w 929"/>
                <a:gd name="T83" fmla="*/ 4 h 462"/>
                <a:gd name="T84" fmla="*/ 57 w 929"/>
                <a:gd name="T85" fmla="*/ 5 h 462"/>
                <a:gd name="T86" fmla="*/ 48 w 929"/>
                <a:gd name="T87" fmla="*/ 7 h 462"/>
                <a:gd name="T88" fmla="*/ 55 w 929"/>
                <a:gd name="T89" fmla="*/ 5 h 462"/>
                <a:gd name="T90" fmla="*/ 46 w 929"/>
                <a:gd name="T91" fmla="*/ 1 h 462"/>
                <a:gd name="T92" fmla="*/ 44 w 929"/>
                <a:gd name="T93" fmla="*/ 1 h 462"/>
                <a:gd name="T94" fmla="*/ 41 w 929"/>
                <a:gd name="T95" fmla="*/ 1 h 462"/>
                <a:gd name="T96" fmla="*/ 32 w 929"/>
                <a:gd name="T97" fmla="*/ 2 h 462"/>
                <a:gd name="T98" fmla="*/ 21 w 929"/>
                <a:gd name="T99" fmla="*/ 4 h 462"/>
                <a:gd name="T100" fmla="*/ 14 w 929"/>
                <a:gd name="T101" fmla="*/ 3 h 462"/>
                <a:gd name="T102" fmla="*/ 15 w 929"/>
                <a:gd name="T103" fmla="*/ 9 h 462"/>
                <a:gd name="T104" fmla="*/ 13 w 929"/>
                <a:gd name="T105" fmla="*/ 7 h 462"/>
                <a:gd name="T106" fmla="*/ 7 w 929"/>
                <a:gd name="T107" fmla="*/ 5 h 462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29" h="462">
                  <a:moveTo>
                    <a:pt x="60" y="42"/>
                  </a:moveTo>
                  <a:cubicBezTo>
                    <a:pt x="40" y="45"/>
                    <a:pt x="42" y="46"/>
                    <a:pt x="28" y="56"/>
                  </a:cubicBezTo>
                  <a:cubicBezTo>
                    <a:pt x="26" y="74"/>
                    <a:pt x="27" y="75"/>
                    <a:pt x="10" y="78"/>
                  </a:cubicBezTo>
                  <a:cubicBezTo>
                    <a:pt x="4" y="82"/>
                    <a:pt x="0" y="82"/>
                    <a:pt x="6" y="92"/>
                  </a:cubicBezTo>
                  <a:cubicBezTo>
                    <a:pt x="10" y="98"/>
                    <a:pt x="21" y="96"/>
                    <a:pt x="28" y="98"/>
                  </a:cubicBezTo>
                  <a:cubicBezTo>
                    <a:pt x="31" y="99"/>
                    <a:pt x="36" y="100"/>
                    <a:pt x="36" y="100"/>
                  </a:cubicBezTo>
                  <a:cubicBezTo>
                    <a:pt x="47" y="99"/>
                    <a:pt x="69" y="97"/>
                    <a:pt x="50" y="110"/>
                  </a:cubicBezTo>
                  <a:cubicBezTo>
                    <a:pt x="37" y="108"/>
                    <a:pt x="24" y="104"/>
                    <a:pt x="16" y="116"/>
                  </a:cubicBezTo>
                  <a:cubicBezTo>
                    <a:pt x="24" y="141"/>
                    <a:pt x="68" y="125"/>
                    <a:pt x="94" y="126"/>
                  </a:cubicBezTo>
                  <a:cubicBezTo>
                    <a:pt x="98" y="129"/>
                    <a:pt x="100" y="134"/>
                    <a:pt x="104" y="136"/>
                  </a:cubicBezTo>
                  <a:cubicBezTo>
                    <a:pt x="108" y="138"/>
                    <a:pt x="116" y="140"/>
                    <a:pt x="116" y="140"/>
                  </a:cubicBezTo>
                  <a:cubicBezTo>
                    <a:pt x="129" y="138"/>
                    <a:pt x="133" y="139"/>
                    <a:pt x="142" y="130"/>
                  </a:cubicBezTo>
                  <a:cubicBezTo>
                    <a:pt x="151" y="104"/>
                    <a:pt x="179" y="110"/>
                    <a:pt x="202" y="102"/>
                  </a:cubicBezTo>
                  <a:cubicBezTo>
                    <a:pt x="219" y="96"/>
                    <a:pt x="233" y="84"/>
                    <a:pt x="250" y="78"/>
                  </a:cubicBezTo>
                  <a:cubicBezTo>
                    <a:pt x="260" y="75"/>
                    <a:pt x="269" y="74"/>
                    <a:pt x="280" y="72"/>
                  </a:cubicBezTo>
                  <a:cubicBezTo>
                    <a:pt x="287" y="71"/>
                    <a:pt x="300" y="66"/>
                    <a:pt x="300" y="66"/>
                  </a:cubicBezTo>
                  <a:cubicBezTo>
                    <a:pt x="311" y="49"/>
                    <a:pt x="336" y="54"/>
                    <a:pt x="354" y="60"/>
                  </a:cubicBezTo>
                  <a:cubicBezTo>
                    <a:pt x="367" y="79"/>
                    <a:pt x="335" y="79"/>
                    <a:pt x="324" y="80"/>
                  </a:cubicBezTo>
                  <a:cubicBezTo>
                    <a:pt x="312" y="83"/>
                    <a:pt x="306" y="93"/>
                    <a:pt x="292" y="96"/>
                  </a:cubicBezTo>
                  <a:cubicBezTo>
                    <a:pt x="284" y="94"/>
                    <a:pt x="279" y="90"/>
                    <a:pt x="272" y="88"/>
                  </a:cubicBezTo>
                  <a:cubicBezTo>
                    <a:pt x="253" y="91"/>
                    <a:pt x="232" y="96"/>
                    <a:pt x="214" y="102"/>
                  </a:cubicBezTo>
                  <a:cubicBezTo>
                    <a:pt x="223" y="108"/>
                    <a:pt x="231" y="109"/>
                    <a:pt x="242" y="112"/>
                  </a:cubicBezTo>
                  <a:cubicBezTo>
                    <a:pt x="245" y="113"/>
                    <a:pt x="250" y="114"/>
                    <a:pt x="250" y="114"/>
                  </a:cubicBezTo>
                  <a:cubicBezTo>
                    <a:pt x="251" y="116"/>
                    <a:pt x="255" y="118"/>
                    <a:pt x="254" y="120"/>
                  </a:cubicBezTo>
                  <a:cubicBezTo>
                    <a:pt x="252" y="124"/>
                    <a:pt x="242" y="128"/>
                    <a:pt x="242" y="128"/>
                  </a:cubicBezTo>
                  <a:cubicBezTo>
                    <a:pt x="233" y="141"/>
                    <a:pt x="247" y="154"/>
                    <a:pt x="260" y="158"/>
                  </a:cubicBezTo>
                  <a:cubicBezTo>
                    <a:pt x="282" y="155"/>
                    <a:pt x="295" y="151"/>
                    <a:pt x="318" y="150"/>
                  </a:cubicBezTo>
                  <a:cubicBezTo>
                    <a:pt x="334" y="155"/>
                    <a:pt x="345" y="176"/>
                    <a:pt x="350" y="192"/>
                  </a:cubicBezTo>
                  <a:cubicBezTo>
                    <a:pt x="349" y="195"/>
                    <a:pt x="350" y="199"/>
                    <a:pt x="348" y="202"/>
                  </a:cubicBezTo>
                  <a:cubicBezTo>
                    <a:pt x="345" y="206"/>
                    <a:pt x="336" y="210"/>
                    <a:pt x="336" y="210"/>
                  </a:cubicBezTo>
                  <a:cubicBezTo>
                    <a:pt x="327" y="224"/>
                    <a:pt x="332" y="235"/>
                    <a:pt x="348" y="240"/>
                  </a:cubicBezTo>
                  <a:cubicBezTo>
                    <a:pt x="358" y="237"/>
                    <a:pt x="362" y="237"/>
                    <a:pt x="368" y="246"/>
                  </a:cubicBezTo>
                  <a:cubicBezTo>
                    <a:pt x="360" y="252"/>
                    <a:pt x="346" y="246"/>
                    <a:pt x="338" y="252"/>
                  </a:cubicBezTo>
                  <a:cubicBezTo>
                    <a:pt x="326" y="260"/>
                    <a:pt x="346" y="265"/>
                    <a:pt x="348" y="266"/>
                  </a:cubicBezTo>
                  <a:cubicBezTo>
                    <a:pt x="352" y="278"/>
                    <a:pt x="347" y="279"/>
                    <a:pt x="336" y="286"/>
                  </a:cubicBezTo>
                  <a:cubicBezTo>
                    <a:pt x="332" y="289"/>
                    <a:pt x="324" y="294"/>
                    <a:pt x="324" y="294"/>
                  </a:cubicBezTo>
                  <a:cubicBezTo>
                    <a:pt x="315" y="308"/>
                    <a:pt x="320" y="303"/>
                    <a:pt x="310" y="310"/>
                  </a:cubicBezTo>
                  <a:cubicBezTo>
                    <a:pt x="306" y="316"/>
                    <a:pt x="294" y="324"/>
                    <a:pt x="294" y="324"/>
                  </a:cubicBezTo>
                  <a:cubicBezTo>
                    <a:pt x="285" y="338"/>
                    <a:pt x="288" y="331"/>
                    <a:pt x="284" y="342"/>
                  </a:cubicBezTo>
                  <a:cubicBezTo>
                    <a:pt x="285" y="374"/>
                    <a:pt x="283" y="393"/>
                    <a:pt x="292" y="420"/>
                  </a:cubicBezTo>
                  <a:cubicBezTo>
                    <a:pt x="295" y="429"/>
                    <a:pt x="307" y="435"/>
                    <a:pt x="314" y="440"/>
                  </a:cubicBezTo>
                  <a:cubicBezTo>
                    <a:pt x="319" y="444"/>
                    <a:pt x="332" y="446"/>
                    <a:pt x="332" y="446"/>
                  </a:cubicBezTo>
                  <a:cubicBezTo>
                    <a:pt x="340" y="457"/>
                    <a:pt x="345" y="459"/>
                    <a:pt x="358" y="462"/>
                  </a:cubicBezTo>
                  <a:cubicBezTo>
                    <a:pt x="376" y="459"/>
                    <a:pt x="375" y="457"/>
                    <a:pt x="388" y="448"/>
                  </a:cubicBezTo>
                  <a:cubicBezTo>
                    <a:pt x="390" y="441"/>
                    <a:pt x="394" y="435"/>
                    <a:pt x="400" y="430"/>
                  </a:cubicBezTo>
                  <a:cubicBezTo>
                    <a:pt x="404" y="427"/>
                    <a:pt x="412" y="422"/>
                    <a:pt x="412" y="422"/>
                  </a:cubicBezTo>
                  <a:cubicBezTo>
                    <a:pt x="417" y="415"/>
                    <a:pt x="451" y="367"/>
                    <a:pt x="458" y="364"/>
                  </a:cubicBezTo>
                  <a:cubicBezTo>
                    <a:pt x="475" y="356"/>
                    <a:pt x="486" y="357"/>
                    <a:pt x="506" y="356"/>
                  </a:cubicBezTo>
                  <a:cubicBezTo>
                    <a:pt x="525" y="350"/>
                    <a:pt x="533" y="342"/>
                    <a:pt x="554" y="340"/>
                  </a:cubicBezTo>
                  <a:cubicBezTo>
                    <a:pt x="560" y="338"/>
                    <a:pt x="566" y="336"/>
                    <a:pt x="572" y="334"/>
                  </a:cubicBezTo>
                  <a:cubicBezTo>
                    <a:pt x="576" y="333"/>
                    <a:pt x="584" y="330"/>
                    <a:pt x="584" y="330"/>
                  </a:cubicBezTo>
                  <a:cubicBezTo>
                    <a:pt x="603" y="311"/>
                    <a:pt x="618" y="310"/>
                    <a:pt x="646" y="308"/>
                  </a:cubicBezTo>
                  <a:cubicBezTo>
                    <a:pt x="665" y="304"/>
                    <a:pt x="684" y="303"/>
                    <a:pt x="704" y="302"/>
                  </a:cubicBezTo>
                  <a:cubicBezTo>
                    <a:pt x="712" y="299"/>
                    <a:pt x="712" y="293"/>
                    <a:pt x="720" y="290"/>
                  </a:cubicBezTo>
                  <a:cubicBezTo>
                    <a:pt x="732" y="285"/>
                    <a:pt x="743" y="285"/>
                    <a:pt x="754" y="278"/>
                  </a:cubicBezTo>
                  <a:cubicBezTo>
                    <a:pt x="756" y="271"/>
                    <a:pt x="760" y="267"/>
                    <a:pt x="762" y="260"/>
                  </a:cubicBezTo>
                  <a:cubicBezTo>
                    <a:pt x="763" y="247"/>
                    <a:pt x="762" y="233"/>
                    <a:pt x="764" y="220"/>
                  </a:cubicBezTo>
                  <a:cubicBezTo>
                    <a:pt x="764" y="219"/>
                    <a:pt x="794" y="204"/>
                    <a:pt x="800" y="200"/>
                  </a:cubicBezTo>
                  <a:cubicBezTo>
                    <a:pt x="807" y="189"/>
                    <a:pt x="808" y="186"/>
                    <a:pt x="820" y="182"/>
                  </a:cubicBezTo>
                  <a:cubicBezTo>
                    <a:pt x="825" y="166"/>
                    <a:pt x="814" y="162"/>
                    <a:pt x="802" y="154"/>
                  </a:cubicBezTo>
                  <a:cubicBezTo>
                    <a:pt x="797" y="151"/>
                    <a:pt x="790" y="142"/>
                    <a:pt x="790" y="142"/>
                  </a:cubicBezTo>
                  <a:cubicBezTo>
                    <a:pt x="786" y="131"/>
                    <a:pt x="792" y="127"/>
                    <a:pt x="802" y="124"/>
                  </a:cubicBezTo>
                  <a:cubicBezTo>
                    <a:pt x="810" y="116"/>
                    <a:pt x="813" y="98"/>
                    <a:pt x="820" y="94"/>
                  </a:cubicBezTo>
                  <a:cubicBezTo>
                    <a:pt x="824" y="92"/>
                    <a:pt x="832" y="90"/>
                    <a:pt x="832" y="90"/>
                  </a:cubicBezTo>
                  <a:cubicBezTo>
                    <a:pt x="844" y="92"/>
                    <a:pt x="848" y="92"/>
                    <a:pt x="856" y="100"/>
                  </a:cubicBezTo>
                  <a:cubicBezTo>
                    <a:pt x="863" y="98"/>
                    <a:pt x="876" y="94"/>
                    <a:pt x="876" y="94"/>
                  </a:cubicBezTo>
                  <a:cubicBezTo>
                    <a:pt x="889" y="81"/>
                    <a:pt x="906" y="77"/>
                    <a:pt x="924" y="74"/>
                  </a:cubicBezTo>
                  <a:cubicBezTo>
                    <a:pt x="929" y="67"/>
                    <a:pt x="929" y="58"/>
                    <a:pt x="922" y="52"/>
                  </a:cubicBezTo>
                  <a:cubicBezTo>
                    <a:pt x="918" y="49"/>
                    <a:pt x="910" y="44"/>
                    <a:pt x="910" y="44"/>
                  </a:cubicBezTo>
                  <a:cubicBezTo>
                    <a:pt x="894" y="47"/>
                    <a:pt x="899" y="49"/>
                    <a:pt x="888" y="56"/>
                  </a:cubicBezTo>
                  <a:cubicBezTo>
                    <a:pt x="884" y="58"/>
                    <a:pt x="876" y="60"/>
                    <a:pt x="876" y="60"/>
                  </a:cubicBezTo>
                  <a:cubicBezTo>
                    <a:pt x="853" y="59"/>
                    <a:pt x="810" y="59"/>
                    <a:pt x="848" y="46"/>
                  </a:cubicBezTo>
                  <a:cubicBezTo>
                    <a:pt x="844" y="33"/>
                    <a:pt x="831" y="37"/>
                    <a:pt x="818" y="36"/>
                  </a:cubicBezTo>
                  <a:cubicBezTo>
                    <a:pt x="809" y="33"/>
                    <a:pt x="802" y="27"/>
                    <a:pt x="794" y="22"/>
                  </a:cubicBezTo>
                  <a:cubicBezTo>
                    <a:pt x="790" y="20"/>
                    <a:pt x="782" y="18"/>
                    <a:pt x="782" y="18"/>
                  </a:cubicBezTo>
                  <a:cubicBezTo>
                    <a:pt x="727" y="19"/>
                    <a:pt x="688" y="11"/>
                    <a:pt x="642" y="26"/>
                  </a:cubicBezTo>
                  <a:cubicBezTo>
                    <a:pt x="635" y="16"/>
                    <a:pt x="632" y="18"/>
                    <a:pt x="620" y="20"/>
                  </a:cubicBezTo>
                  <a:cubicBezTo>
                    <a:pt x="611" y="34"/>
                    <a:pt x="600" y="36"/>
                    <a:pt x="584" y="38"/>
                  </a:cubicBezTo>
                  <a:cubicBezTo>
                    <a:pt x="575" y="44"/>
                    <a:pt x="581" y="46"/>
                    <a:pt x="578" y="56"/>
                  </a:cubicBezTo>
                  <a:cubicBezTo>
                    <a:pt x="572" y="47"/>
                    <a:pt x="566" y="41"/>
                    <a:pt x="556" y="38"/>
                  </a:cubicBezTo>
                  <a:cubicBezTo>
                    <a:pt x="553" y="38"/>
                    <a:pt x="539" y="39"/>
                    <a:pt x="534" y="42"/>
                  </a:cubicBezTo>
                  <a:cubicBezTo>
                    <a:pt x="528" y="46"/>
                    <a:pt x="516" y="54"/>
                    <a:pt x="516" y="54"/>
                  </a:cubicBezTo>
                  <a:cubicBezTo>
                    <a:pt x="507" y="52"/>
                    <a:pt x="503" y="51"/>
                    <a:pt x="500" y="42"/>
                  </a:cubicBezTo>
                  <a:cubicBezTo>
                    <a:pt x="505" y="28"/>
                    <a:pt x="488" y="31"/>
                    <a:pt x="478" y="30"/>
                  </a:cubicBezTo>
                  <a:cubicBezTo>
                    <a:pt x="469" y="33"/>
                    <a:pt x="473" y="37"/>
                    <a:pt x="464" y="40"/>
                  </a:cubicBezTo>
                  <a:cubicBezTo>
                    <a:pt x="447" y="34"/>
                    <a:pt x="451" y="27"/>
                    <a:pt x="432" y="40"/>
                  </a:cubicBezTo>
                  <a:cubicBezTo>
                    <a:pt x="427" y="54"/>
                    <a:pt x="427" y="52"/>
                    <a:pt x="410" y="50"/>
                  </a:cubicBezTo>
                  <a:cubicBezTo>
                    <a:pt x="391" y="52"/>
                    <a:pt x="385" y="54"/>
                    <a:pt x="366" y="52"/>
                  </a:cubicBezTo>
                  <a:cubicBezTo>
                    <a:pt x="357" y="49"/>
                    <a:pt x="356" y="46"/>
                    <a:pt x="364" y="40"/>
                  </a:cubicBezTo>
                  <a:cubicBezTo>
                    <a:pt x="380" y="42"/>
                    <a:pt x="395" y="43"/>
                    <a:pt x="410" y="38"/>
                  </a:cubicBezTo>
                  <a:cubicBezTo>
                    <a:pt x="426" y="15"/>
                    <a:pt x="386" y="21"/>
                    <a:pt x="370" y="20"/>
                  </a:cubicBezTo>
                  <a:cubicBezTo>
                    <a:pt x="364" y="16"/>
                    <a:pt x="358" y="12"/>
                    <a:pt x="352" y="8"/>
                  </a:cubicBezTo>
                  <a:cubicBezTo>
                    <a:pt x="348" y="5"/>
                    <a:pt x="340" y="0"/>
                    <a:pt x="340" y="0"/>
                  </a:cubicBezTo>
                  <a:cubicBezTo>
                    <a:pt x="338" y="1"/>
                    <a:pt x="336" y="1"/>
                    <a:pt x="334" y="2"/>
                  </a:cubicBezTo>
                  <a:cubicBezTo>
                    <a:pt x="331" y="3"/>
                    <a:pt x="329" y="3"/>
                    <a:pt x="326" y="4"/>
                  </a:cubicBezTo>
                  <a:cubicBezTo>
                    <a:pt x="322" y="5"/>
                    <a:pt x="314" y="8"/>
                    <a:pt x="314" y="8"/>
                  </a:cubicBezTo>
                  <a:cubicBezTo>
                    <a:pt x="305" y="22"/>
                    <a:pt x="288" y="6"/>
                    <a:pt x="276" y="2"/>
                  </a:cubicBezTo>
                  <a:cubicBezTo>
                    <a:pt x="270" y="3"/>
                    <a:pt x="241" y="16"/>
                    <a:pt x="240" y="16"/>
                  </a:cubicBezTo>
                  <a:cubicBezTo>
                    <a:pt x="226" y="17"/>
                    <a:pt x="212" y="17"/>
                    <a:pt x="198" y="18"/>
                  </a:cubicBezTo>
                  <a:cubicBezTo>
                    <a:pt x="183" y="19"/>
                    <a:pt x="172" y="20"/>
                    <a:pt x="160" y="28"/>
                  </a:cubicBezTo>
                  <a:cubicBezTo>
                    <a:pt x="146" y="26"/>
                    <a:pt x="141" y="27"/>
                    <a:pt x="130" y="20"/>
                  </a:cubicBezTo>
                  <a:cubicBezTo>
                    <a:pt x="123" y="22"/>
                    <a:pt x="115" y="24"/>
                    <a:pt x="108" y="26"/>
                  </a:cubicBezTo>
                  <a:cubicBezTo>
                    <a:pt x="102" y="35"/>
                    <a:pt x="113" y="41"/>
                    <a:pt x="122" y="44"/>
                  </a:cubicBezTo>
                  <a:cubicBezTo>
                    <a:pt x="125" y="52"/>
                    <a:pt x="114" y="68"/>
                    <a:pt x="114" y="68"/>
                  </a:cubicBezTo>
                  <a:cubicBezTo>
                    <a:pt x="112" y="79"/>
                    <a:pt x="111" y="82"/>
                    <a:pt x="100" y="78"/>
                  </a:cubicBezTo>
                  <a:cubicBezTo>
                    <a:pt x="93" y="67"/>
                    <a:pt x="100" y="63"/>
                    <a:pt x="104" y="52"/>
                  </a:cubicBezTo>
                  <a:cubicBezTo>
                    <a:pt x="96" y="44"/>
                    <a:pt x="91" y="36"/>
                    <a:pt x="80" y="32"/>
                  </a:cubicBezTo>
                  <a:cubicBezTo>
                    <a:pt x="73" y="34"/>
                    <a:pt x="67" y="39"/>
                    <a:pt x="60" y="4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Freeform 30"/>
            <p:cNvSpPr>
              <a:spLocks/>
            </p:cNvSpPr>
            <p:nvPr/>
          </p:nvSpPr>
          <p:spPr bwMode="invGray">
            <a:xfrm>
              <a:off x="2009" y="2135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invGray">
            <a:xfrm>
              <a:off x="2292" y="2201"/>
              <a:ext cx="128" cy="54"/>
            </a:xfrm>
            <a:custGeom>
              <a:avLst/>
              <a:gdLst>
                <a:gd name="T0" fmla="*/ 13 w 172"/>
                <a:gd name="T1" fmla="*/ 2 h 72"/>
                <a:gd name="T2" fmla="*/ 8 w 172"/>
                <a:gd name="T3" fmla="*/ 2 h 72"/>
                <a:gd name="T4" fmla="*/ 7 w 172"/>
                <a:gd name="T5" fmla="*/ 0 h 72"/>
                <a:gd name="T6" fmla="*/ 0 w 172"/>
                <a:gd name="T7" fmla="*/ 4 h 72"/>
                <a:gd name="T8" fmla="*/ 4 w 172"/>
                <a:gd name="T9" fmla="*/ 6 h 72"/>
                <a:gd name="T10" fmla="*/ 5 w 172"/>
                <a:gd name="T11" fmla="*/ 8 h 72"/>
                <a:gd name="T12" fmla="*/ 8 w 172"/>
                <a:gd name="T13" fmla="*/ 10 h 72"/>
                <a:gd name="T14" fmla="*/ 10 w 172"/>
                <a:gd name="T15" fmla="*/ 10 h 72"/>
                <a:gd name="T16" fmla="*/ 16 w 172"/>
                <a:gd name="T17" fmla="*/ 8 h 72"/>
                <a:gd name="T18" fmla="*/ 22 w 172"/>
                <a:gd name="T19" fmla="*/ 6 h 72"/>
                <a:gd name="T20" fmla="*/ 19 w 172"/>
                <a:gd name="T21" fmla="*/ 3 h 72"/>
                <a:gd name="T22" fmla="*/ 17 w 172"/>
                <a:gd name="T23" fmla="*/ 2 h 72"/>
                <a:gd name="T24" fmla="*/ 13 w 172"/>
                <a:gd name="T25" fmla="*/ 2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72" h="72">
                  <a:moveTo>
                    <a:pt x="102" y="8"/>
                  </a:moveTo>
                  <a:cubicBezTo>
                    <a:pt x="89" y="12"/>
                    <a:pt x="78" y="8"/>
                    <a:pt x="66" y="4"/>
                  </a:cubicBezTo>
                  <a:cubicBezTo>
                    <a:pt x="62" y="3"/>
                    <a:pt x="54" y="0"/>
                    <a:pt x="54" y="0"/>
                  </a:cubicBezTo>
                  <a:cubicBezTo>
                    <a:pt x="38" y="5"/>
                    <a:pt x="12" y="16"/>
                    <a:pt x="0" y="28"/>
                  </a:cubicBezTo>
                  <a:cubicBezTo>
                    <a:pt x="4" y="39"/>
                    <a:pt x="18" y="39"/>
                    <a:pt x="28" y="40"/>
                  </a:cubicBezTo>
                  <a:cubicBezTo>
                    <a:pt x="39" y="44"/>
                    <a:pt x="41" y="60"/>
                    <a:pt x="42" y="60"/>
                  </a:cubicBezTo>
                  <a:cubicBezTo>
                    <a:pt x="50" y="63"/>
                    <a:pt x="58" y="65"/>
                    <a:pt x="66" y="68"/>
                  </a:cubicBezTo>
                  <a:cubicBezTo>
                    <a:pt x="70" y="69"/>
                    <a:pt x="78" y="72"/>
                    <a:pt x="78" y="72"/>
                  </a:cubicBezTo>
                  <a:cubicBezTo>
                    <a:pt x="92" y="71"/>
                    <a:pt x="117" y="69"/>
                    <a:pt x="130" y="60"/>
                  </a:cubicBezTo>
                  <a:cubicBezTo>
                    <a:pt x="148" y="48"/>
                    <a:pt x="150" y="46"/>
                    <a:pt x="172" y="44"/>
                  </a:cubicBezTo>
                  <a:cubicBezTo>
                    <a:pt x="169" y="29"/>
                    <a:pt x="162" y="23"/>
                    <a:pt x="148" y="18"/>
                  </a:cubicBezTo>
                  <a:cubicBezTo>
                    <a:pt x="145" y="10"/>
                    <a:pt x="144" y="7"/>
                    <a:pt x="136" y="4"/>
                  </a:cubicBezTo>
                  <a:cubicBezTo>
                    <a:pt x="134" y="4"/>
                    <a:pt x="105" y="11"/>
                    <a:pt x="102" y="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invGray">
            <a:xfrm>
              <a:off x="2393" y="2038"/>
              <a:ext cx="39" cy="24"/>
            </a:xfrm>
            <a:custGeom>
              <a:avLst/>
              <a:gdLst>
                <a:gd name="T0" fmla="*/ 5 w 52"/>
                <a:gd name="T1" fmla="*/ 0 h 32"/>
                <a:gd name="T2" fmla="*/ 2 w 52"/>
                <a:gd name="T3" fmla="*/ 3 h 32"/>
                <a:gd name="T4" fmla="*/ 4 w 52"/>
                <a:gd name="T5" fmla="*/ 5 h 32"/>
                <a:gd name="T6" fmla="*/ 6 w 52"/>
                <a:gd name="T7" fmla="*/ 5 h 32"/>
                <a:gd name="T8" fmla="*/ 5 w 52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2" h="32">
                  <a:moveTo>
                    <a:pt x="34" y="0"/>
                  </a:moveTo>
                  <a:cubicBezTo>
                    <a:pt x="30" y="12"/>
                    <a:pt x="19" y="16"/>
                    <a:pt x="8" y="20"/>
                  </a:cubicBezTo>
                  <a:cubicBezTo>
                    <a:pt x="0" y="32"/>
                    <a:pt x="14" y="31"/>
                    <a:pt x="24" y="32"/>
                  </a:cubicBezTo>
                  <a:cubicBezTo>
                    <a:pt x="30" y="31"/>
                    <a:pt x="36" y="32"/>
                    <a:pt x="42" y="30"/>
                  </a:cubicBezTo>
                  <a:cubicBezTo>
                    <a:pt x="52" y="26"/>
                    <a:pt x="34" y="3"/>
                    <a:pt x="3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Freeform 33"/>
            <p:cNvSpPr>
              <a:spLocks/>
            </p:cNvSpPr>
            <p:nvPr/>
          </p:nvSpPr>
          <p:spPr bwMode="invGray">
            <a:xfrm>
              <a:off x="2662" y="2006"/>
              <a:ext cx="155" cy="63"/>
            </a:xfrm>
            <a:custGeom>
              <a:avLst/>
              <a:gdLst>
                <a:gd name="T0" fmla="*/ 26 w 206"/>
                <a:gd name="T1" fmla="*/ 1 h 85"/>
                <a:gd name="T2" fmla="*/ 14 w 206"/>
                <a:gd name="T3" fmla="*/ 1 h 85"/>
                <a:gd name="T4" fmla="*/ 15 w 206"/>
                <a:gd name="T5" fmla="*/ 3 h 85"/>
                <a:gd name="T6" fmla="*/ 15 w 206"/>
                <a:gd name="T7" fmla="*/ 4 h 85"/>
                <a:gd name="T8" fmla="*/ 13 w 206"/>
                <a:gd name="T9" fmla="*/ 3 h 85"/>
                <a:gd name="T10" fmla="*/ 11 w 206"/>
                <a:gd name="T11" fmla="*/ 2 h 85"/>
                <a:gd name="T12" fmla="*/ 4 w 206"/>
                <a:gd name="T13" fmla="*/ 3 h 85"/>
                <a:gd name="T14" fmla="*/ 5 w 206"/>
                <a:gd name="T15" fmla="*/ 6 h 85"/>
                <a:gd name="T16" fmla="*/ 8 w 206"/>
                <a:gd name="T17" fmla="*/ 7 h 85"/>
                <a:gd name="T18" fmla="*/ 11 w 206"/>
                <a:gd name="T19" fmla="*/ 9 h 85"/>
                <a:gd name="T20" fmla="*/ 13 w 206"/>
                <a:gd name="T21" fmla="*/ 10 h 85"/>
                <a:gd name="T22" fmla="*/ 15 w 206"/>
                <a:gd name="T23" fmla="*/ 8 h 85"/>
                <a:gd name="T24" fmla="*/ 17 w 206"/>
                <a:gd name="T25" fmla="*/ 7 h 85"/>
                <a:gd name="T26" fmla="*/ 17 w 206"/>
                <a:gd name="T27" fmla="*/ 5 h 85"/>
                <a:gd name="T28" fmla="*/ 23 w 206"/>
                <a:gd name="T29" fmla="*/ 4 h 85"/>
                <a:gd name="T30" fmla="*/ 26 w 206"/>
                <a:gd name="T31" fmla="*/ 4 h 85"/>
                <a:gd name="T32" fmla="*/ 27 w 206"/>
                <a:gd name="T33" fmla="*/ 3 h 85"/>
                <a:gd name="T34" fmla="*/ 26 w 206"/>
                <a:gd name="T35" fmla="*/ 1 h 8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06" h="85">
                  <a:moveTo>
                    <a:pt x="191" y="7"/>
                  </a:moveTo>
                  <a:cubicBezTo>
                    <a:pt x="165" y="6"/>
                    <a:pt x="130" y="0"/>
                    <a:pt x="103" y="9"/>
                  </a:cubicBezTo>
                  <a:cubicBezTo>
                    <a:pt x="100" y="18"/>
                    <a:pt x="101" y="20"/>
                    <a:pt x="109" y="25"/>
                  </a:cubicBezTo>
                  <a:cubicBezTo>
                    <a:pt x="111" y="28"/>
                    <a:pt x="118" y="34"/>
                    <a:pt x="107" y="33"/>
                  </a:cubicBezTo>
                  <a:cubicBezTo>
                    <a:pt x="101" y="32"/>
                    <a:pt x="89" y="27"/>
                    <a:pt x="89" y="27"/>
                  </a:cubicBezTo>
                  <a:cubicBezTo>
                    <a:pt x="86" y="24"/>
                    <a:pt x="82" y="18"/>
                    <a:pt x="77" y="19"/>
                  </a:cubicBezTo>
                  <a:cubicBezTo>
                    <a:pt x="52" y="22"/>
                    <a:pt x="57" y="25"/>
                    <a:pt x="23" y="27"/>
                  </a:cubicBezTo>
                  <a:cubicBezTo>
                    <a:pt x="0" y="31"/>
                    <a:pt x="18" y="45"/>
                    <a:pt x="31" y="49"/>
                  </a:cubicBezTo>
                  <a:cubicBezTo>
                    <a:pt x="43" y="53"/>
                    <a:pt x="35" y="51"/>
                    <a:pt x="55" y="53"/>
                  </a:cubicBezTo>
                  <a:cubicBezTo>
                    <a:pt x="63" y="59"/>
                    <a:pt x="66" y="67"/>
                    <a:pt x="75" y="73"/>
                  </a:cubicBezTo>
                  <a:cubicBezTo>
                    <a:pt x="78" y="81"/>
                    <a:pt x="81" y="82"/>
                    <a:pt x="89" y="85"/>
                  </a:cubicBezTo>
                  <a:cubicBezTo>
                    <a:pt x="104" y="81"/>
                    <a:pt x="99" y="75"/>
                    <a:pt x="109" y="67"/>
                  </a:cubicBezTo>
                  <a:cubicBezTo>
                    <a:pt x="113" y="64"/>
                    <a:pt x="121" y="59"/>
                    <a:pt x="121" y="59"/>
                  </a:cubicBezTo>
                  <a:cubicBezTo>
                    <a:pt x="123" y="55"/>
                    <a:pt x="124" y="50"/>
                    <a:pt x="127" y="47"/>
                  </a:cubicBezTo>
                  <a:cubicBezTo>
                    <a:pt x="132" y="41"/>
                    <a:pt x="158" y="37"/>
                    <a:pt x="167" y="35"/>
                  </a:cubicBezTo>
                  <a:cubicBezTo>
                    <a:pt x="174" y="34"/>
                    <a:pt x="181" y="33"/>
                    <a:pt x="187" y="31"/>
                  </a:cubicBezTo>
                  <a:cubicBezTo>
                    <a:pt x="191" y="30"/>
                    <a:pt x="199" y="27"/>
                    <a:pt x="199" y="27"/>
                  </a:cubicBezTo>
                  <a:cubicBezTo>
                    <a:pt x="206" y="16"/>
                    <a:pt x="199" y="15"/>
                    <a:pt x="191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Freeform 34"/>
            <p:cNvSpPr>
              <a:spLocks/>
            </p:cNvSpPr>
            <p:nvPr/>
          </p:nvSpPr>
          <p:spPr bwMode="invGray">
            <a:xfrm>
              <a:off x="2759" y="2039"/>
              <a:ext cx="48" cy="21"/>
            </a:xfrm>
            <a:custGeom>
              <a:avLst/>
              <a:gdLst>
                <a:gd name="T0" fmla="*/ 5 w 64"/>
                <a:gd name="T1" fmla="*/ 2 h 28"/>
                <a:gd name="T2" fmla="*/ 2 w 64"/>
                <a:gd name="T3" fmla="*/ 2 h 28"/>
                <a:gd name="T4" fmla="*/ 4 w 64"/>
                <a:gd name="T5" fmla="*/ 4 h 28"/>
                <a:gd name="T6" fmla="*/ 8 w 64"/>
                <a:gd name="T7" fmla="*/ 2 h 28"/>
                <a:gd name="T8" fmla="*/ 5 w 64"/>
                <a:gd name="T9" fmla="*/ 2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4" h="28">
                  <a:moveTo>
                    <a:pt x="36" y="6"/>
                  </a:moveTo>
                  <a:cubicBezTo>
                    <a:pt x="32" y="18"/>
                    <a:pt x="19" y="0"/>
                    <a:pt x="8" y="4"/>
                  </a:cubicBezTo>
                  <a:cubicBezTo>
                    <a:pt x="0" y="16"/>
                    <a:pt x="14" y="27"/>
                    <a:pt x="24" y="28"/>
                  </a:cubicBezTo>
                  <a:cubicBezTo>
                    <a:pt x="30" y="27"/>
                    <a:pt x="48" y="16"/>
                    <a:pt x="54" y="14"/>
                  </a:cubicBezTo>
                  <a:cubicBezTo>
                    <a:pt x="64" y="10"/>
                    <a:pt x="36" y="9"/>
                    <a:pt x="36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invGray">
            <a:xfrm>
              <a:off x="2467" y="2311"/>
              <a:ext cx="109" cy="132"/>
            </a:xfrm>
            <a:custGeom>
              <a:avLst/>
              <a:gdLst>
                <a:gd name="T0" fmla="*/ 3 w 146"/>
                <a:gd name="T1" fmla="*/ 3 h 176"/>
                <a:gd name="T2" fmla="*/ 0 w 146"/>
                <a:gd name="T3" fmla="*/ 4 h 176"/>
                <a:gd name="T4" fmla="*/ 1 w 146"/>
                <a:gd name="T5" fmla="*/ 6 h 176"/>
                <a:gd name="T6" fmla="*/ 4 w 146"/>
                <a:gd name="T7" fmla="*/ 12 h 176"/>
                <a:gd name="T8" fmla="*/ 7 w 146"/>
                <a:gd name="T9" fmla="*/ 13 h 176"/>
                <a:gd name="T10" fmla="*/ 7 w 146"/>
                <a:gd name="T11" fmla="*/ 15 h 176"/>
                <a:gd name="T12" fmla="*/ 4 w 146"/>
                <a:gd name="T13" fmla="*/ 15 h 176"/>
                <a:gd name="T14" fmla="*/ 2 w 146"/>
                <a:gd name="T15" fmla="*/ 18 h 176"/>
                <a:gd name="T16" fmla="*/ 2 w 146"/>
                <a:gd name="T17" fmla="*/ 19 h 176"/>
                <a:gd name="T18" fmla="*/ 4 w 146"/>
                <a:gd name="T19" fmla="*/ 20 h 176"/>
                <a:gd name="T20" fmla="*/ 2 w 146"/>
                <a:gd name="T21" fmla="*/ 23 h 176"/>
                <a:gd name="T22" fmla="*/ 2 w 146"/>
                <a:gd name="T23" fmla="*/ 24 h 176"/>
                <a:gd name="T24" fmla="*/ 4 w 146"/>
                <a:gd name="T25" fmla="*/ 23 h 176"/>
                <a:gd name="T26" fmla="*/ 7 w 146"/>
                <a:gd name="T27" fmla="*/ 23 h 176"/>
                <a:gd name="T28" fmla="*/ 12 w 146"/>
                <a:gd name="T29" fmla="*/ 23 h 176"/>
                <a:gd name="T30" fmla="*/ 14 w 146"/>
                <a:gd name="T31" fmla="*/ 23 h 176"/>
                <a:gd name="T32" fmla="*/ 16 w 146"/>
                <a:gd name="T33" fmla="*/ 23 h 176"/>
                <a:gd name="T34" fmla="*/ 16 w 146"/>
                <a:gd name="T35" fmla="*/ 20 h 176"/>
                <a:gd name="T36" fmla="*/ 19 w 146"/>
                <a:gd name="T37" fmla="*/ 18 h 176"/>
                <a:gd name="T38" fmla="*/ 14 w 146"/>
                <a:gd name="T39" fmla="*/ 15 h 176"/>
                <a:gd name="T40" fmla="*/ 12 w 146"/>
                <a:gd name="T41" fmla="*/ 11 h 176"/>
                <a:gd name="T42" fmla="*/ 10 w 146"/>
                <a:gd name="T43" fmla="*/ 10 h 176"/>
                <a:gd name="T44" fmla="*/ 8 w 146"/>
                <a:gd name="T45" fmla="*/ 8 h 176"/>
                <a:gd name="T46" fmla="*/ 11 w 146"/>
                <a:gd name="T47" fmla="*/ 6 h 176"/>
                <a:gd name="T48" fmla="*/ 8 w 146"/>
                <a:gd name="T49" fmla="*/ 5 h 176"/>
                <a:gd name="T50" fmla="*/ 9 w 146"/>
                <a:gd name="T51" fmla="*/ 2 h 176"/>
                <a:gd name="T52" fmla="*/ 5 w 146"/>
                <a:gd name="T53" fmla="*/ 1 h 176"/>
                <a:gd name="T54" fmla="*/ 4 w 146"/>
                <a:gd name="T55" fmla="*/ 2 h 176"/>
                <a:gd name="T56" fmla="*/ 3 w 146"/>
                <a:gd name="T57" fmla="*/ 3 h 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176">
                  <a:moveTo>
                    <a:pt x="24" y="19"/>
                  </a:moveTo>
                  <a:cubicBezTo>
                    <a:pt x="13" y="23"/>
                    <a:pt x="7" y="15"/>
                    <a:pt x="0" y="25"/>
                  </a:cubicBezTo>
                  <a:cubicBezTo>
                    <a:pt x="2" y="32"/>
                    <a:pt x="14" y="43"/>
                    <a:pt x="14" y="43"/>
                  </a:cubicBezTo>
                  <a:cubicBezTo>
                    <a:pt x="19" y="58"/>
                    <a:pt x="20" y="78"/>
                    <a:pt x="34" y="87"/>
                  </a:cubicBezTo>
                  <a:cubicBezTo>
                    <a:pt x="42" y="84"/>
                    <a:pt x="45" y="86"/>
                    <a:pt x="52" y="91"/>
                  </a:cubicBezTo>
                  <a:cubicBezTo>
                    <a:pt x="57" y="105"/>
                    <a:pt x="60" y="101"/>
                    <a:pt x="50" y="107"/>
                  </a:cubicBezTo>
                  <a:cubicBezTo>
                    <a:pt x="38" y="105"/>
                    <a:pt x="32" y="101"/>
                    <a:pt x="28" y="113"/>
                  </a:cubicBezTo>
                  <a:cubicBezTo>
                    <a:pt x="32" y="129"/>
                    <a:pt x="33" y="128"/>
                    <a:pt x="16" y="131"/>
                  </a:cubicBezTo>
                  <a:cubicBezTo>
                    <a:pt x="17" y="133"/>
                    <a:pt x="16" y="136"/>
                    <a:pt x="18" y="137"/>
                  </a:cubicBezTo>
                  <a:cubicBezTo>
                    <a:pt x="21" y="139"/>
                    <a:pt x="30" y="141"/>
                    <a:pt x="30" y="141"/>
                  </a:cubicBezTo>
                  <a:cubicBezTo>
                    <a:pt x="28" y="152"/>
                    <a:pt x="21" y="159"/>
                    <a:pt x="18" y="169"/>
                  </a:cubicBezTo>
                  <a:cubicBezTo>
                    <a:pt x="19" y="171"/>
                    <a:pt x="18" y="174"/>
                    <a:pt x="20" y="175"/>
                  </a:cubicBezTo>
                  <a:cubicBezTo>
                    <a:pt x="22" y="176"/>
                    <a:pt x="32" y="171"/>
                    <a:pt x="34" y="171"/>
                  </a:cubicBezTo>
                  <a:cubicBezTo>
                    <a:pt x="42" y="170"/>
                    <a:pt x="50" y="170"/>
                    <a:pt x="58" y="169"/>
                  </a:cubicBezTo>
                  <a:cubicBezTo>
                    <a:pt x="70" y="167"/>
                    <a:pt x="80" y="167"/>
                    <a:pt x="92" y="171"/>
                  </a:cubicBezTo>
                  <a:cubicBezTo>
                    <a:pt x="98" y="170"/>
                    <a:pt x="104" y="170"/>
                    <a:pt x="110" y="169"/>
                  </a:cubicBezTo>
                  <a:cubicBezTo>
                    <a:pt x="114" y="168"/>
                    <a:pt x="122" y="165"/>
                    <a:pt x="122" y="165"/>
                  </a:cubicBezTo>
                  <a:cubicBezTo>
                    <a:pt x="124" y="158"/>
                    <a:pt x="123" y="147"/>
                    <a:pt x="128" y="141"/>
                  </a:cubicBezTo>
                  <a:cubicBezTo>
                    <a:pt x="132" y="136"/>
                    <a:pt x="146" y="133"/>
                    <a:pt x="146" y="133"/>
                  </a:cubicBezTo>
                  <a:cubicBezTo>
                    <a:pt x="142" y="105"/>
                    <a:pt x="143" y="111"/>
                    <a:pt x="110" y="109"/>
                  </a:cubicBezTo>
                  <a:cubicBezTo>
                    <a:pt x="102" y="97"/>
                    <a:pt x="103" y="88"/>
                    <a:pt x="88" y="83"/>
                  </a:cubicBezTo>
                  <a:cubicBezTo>
                    <a:pt x="85" y="79"/>
                    <a:pt x="86" y="72"/>
                    <a:pt x="82" y="69"/>
                  </a:cubicBezTo>
                  <a:cubicBezTo>
                    <a:pt x="77" y="65"/>
                    <a:pt x="69" y="65"/>
                    <a:pt x="64" y="61"/>
                  </a:cubicBezTo>
                  <a:cubicBezTo>
                    <a:pt x="52" y="43"/>
                    <a:pt x="67" y="47"/>
                    <a:pt x="86" y="45"/>
                  </a:cubicBezTo>
                  <a:cubicBezTo>
                    <a:pt x="93" y="25"/>
                    <a:pt x="83" y="29"/>
                    <a:pt x="64" y="31"/>
                  </a:cubicBezTo>
                  <a:cubicBezTo>
                    <a:pt x="62" y="25"/>
                    <a:pt x="70" y="13"/>
                    <a:pt x="70" y="13"/>
                  </a:cubicBezTo>
                  <a:cubicBezTo>
                    <a:pt x="64" y="4"/>
                    <a:pt x="56" y="3"/>
                    <a:pt x="46" y="1"/>
                  </a:cubicBezTo>
                  <a:cubicBezTo>
                    <a:pt x="35" y="3"/>
                    <a:pt x="34" y="0"/>
                    <a:pt x="30" y="9"/>
                  </a:cubicBezTo>
                  <a:cubicBezTo>
                    <a:pt x="25" y="21"/>
                    <a:pt x="29" y="24"/>
                    <a:pt x="24" y="1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Freeform 36"/>
            <p:cNvSpPr>
              <a:spLocks/>
            </p:cNvSpPr>
            <p:nvPr/>
          </p:nvSpPr>
          <p:spPr bwMode="invGray">
            <a:xfrm>
              <a:off x="2413" y="2359"/>
              <a:ext cx="69" cy="68"/>
            </a:xfrm>
            <a:custGeom>
              <a:avLst/>
              <a:gdLst>
                <a:gd name="T0" fmla="*/ 8 w 92"/>
                <a:gd name="T1" fmla="*/ 1 h 92"/>
                <a:gd name="T2" fmla="*/ 11 w 92"/>
                <a:gd name="T3" fmla="*/ 1 h 92"/>
                <a:gd name="T4" fmla="*/ 13 w 92"/>
                <a:gd name="T5" fmla="*/ 3 h 92"/>
                <a:gd name="T6" fmla="*/ 11 w 92"/>
                <a:gd name="T7" fmla="*/ 5 h 92"/>
                <a:gd name="T8" fmla="*/ 6 w 92"/>
                <a:gd name="T9" fmla="*/ 9 h 92"/>
                <a:gd name="T10" fmla="*/ 3 w 92"/>
                <a:gd name="T11" fmla="*/ 11 h 92"/>
                <a:gd name="T12" fmla="*/ 2 w 92"/>
                <a:gd name="T13" fmla="*/ 9 h 92"/>
                <a:gd name="T14" fmla="*/ 3 w 92"/>
                <a:gd name="T15" fmla="*/ 7 h 92"/>
                <a:gd name="T16" fmla="*/ 2 w 92"/>
                <a:gd name="T17" fmla="*/ 5 h 92"/>
                <a:gd name="T18" fmla="*/ 6 w 92"/>
                <a:gd name="T19" fmla="*/ 4 h 92"/>
                <a:gd name="T20" fmla="*/ 8 w 92"/>
                <a:gd name="T21" fmla="*/ 1 h 9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2" h="92">
                  <a:moveTo>
                    <a:pt x="58" y="6"/>
                  </a:moveTo>
                  <a:cubicBezTo>
                    <a:pt x="67" y="0"/>
                    <a:pt x="73" y="2"/>
                    <a:pt x="82" y="8"/>
                  </a:cubicBezTo>
                  <a:cubicBezTo>
                    <a:pt x="91" y="22"/>
                    <a:pt x="88" y="15"/>
                    <a:pt x="92" y="26"/>
                  </a:cubicBezTo>
                  <a:cubicBezTo>
                    <a:pt x="89" y="36"/>
                    <a:pt x="82" y="37"/>
                    <a:pt x="78" y="48"/>
                  </a:cubicBezTo>
                  <a:cubicBezTo>
                    <a:pt x="85" y="69"/>
                    <a:pt x="60" y="71"/>
                    <a:pt x="46" y="76"/>
                  </a:cubicBezTo>
                  <a:cubicBezTo>
                    <a:pt x="40" y="86"/>
                    <a:pt x="28" y="86"/>
                    <a:pt x="18" y="92"/>
                  </a:cubicBezTo>
                  <a:cubicBezTo>
                    <a:pt x="9" y="90"/>
                    <a:pt x="0" y="84"/>
                    <a:pt x="8" y="72"/>
                  </a:cubicBezTo>
                  <a:cubicBezTo>
                    <a:pt x="11" y="68"/>
                    <a:pt x="20" y="64"/>
                    <a:pt x="20" y="64"/>
                  </a:cubicBezTo>
                  <a:cubicBezTo>
                    <a:pt x="23" y="55"/>
                    <a:pt x="21" y="53"/>
                    <a:pt x="14" y="46"/>
                  </a:cubicBezTo>
                  <a:cubicBezTo>
                    <a:pt x="18" y="30"/>
                    <a:pt x="28" y="36"/>
                    <a:pt x="40" y="28"/>
                  </a:cubicBezTo>
                  <a:cubicBezTo>
                    <a:pt x="56" y="17"/>
                    <a:pt x="50" y="24"/>
                    <a:pt x="58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Freeform 37"/>
            <p:cNvSpPr>
              <a:spLocks/>
            </p:cNvSpPr>
            <p:nvPr/>
          </p:nvSpPr>
          <p:spPr bwMode="invGray">
            <a:xfrm>
              <a:off x="4099" y="3502"/>
              <a:ext cx="474" cy="495"/>
            </a:xfrm>
            <a:custGeom>
              <a:avLst/>
              <a:gdLst>
                <a:gd name="T0" fmla="*/ 28 w 633"/>
                <a:gd name="T1" fmla="*/ 2 h 660"/>
                <a:gd name="T2" fmla="*/ 23 w 633"/>
                <a:gd name="T3" fmla="*/ 3 h 660"/>
                <a:gd name="T4" fmla="*/ 19 w 633"/>
                <a:gd name="T5" fmla="*/ 8 h 660"/>
                <a:gd name="T6" fmla="*/ 13 w 633"/>
                <a:gd name="T7" fmla="*/ 8 h 660"/>
                <a:gd name="T8" fmla="*/ 10 w 633"/>
                <a:gd name="T9" fmla="*/ 11 h 660"/>
                <a:gd name="T10" fmla="*/ 9 w 633"/>
                <a:gd name="T11" fmla="*/ 16 h 660"/>
                <a:gd name="T12" fmla="*/ 4 w 633"/>
                <a:gd name="T13" fmla="*/ 23 h 660"/>
                <a:gd name="T14" fmla="*/ 0 w 633"/>
                <a:gd name="T15" fmla="*/ 24 h 660"/>
                <a:gd name="T16" fmla="*/ 9 w 633"/>
                <a:gd name="T17" fmla="*/ 44 h 660"/>
                <a:gd name="T18" fmla="*/ 16 w 633"/>
                <a:gd name="T19" fmla="*/ 57 h 660"/>
                <a:gd name="T20" fmla="*/ 19 w 633"/>
                <a:gd name="T21" fmla="*/ 59 h 660"/>
                <a:gd name="T22" fmla="*/ 22 w 633"/>
                <a:gd name="T23" fmla="*/ 60 h 660"/>
                <a:gd name="T24" fmla="*/ 30 w 633"/>
                <a:gd name="T25" fmla="*/ 58 h 660"/>
                <a:gd name="T26" fmla="*/ 33 w 633"/>
                <a:gd name="T27" fmla="*/ 57 h 660"/>
                <a:gd name="T28" fmla="*/ 39 w 633"/>
                <a:gd name="T29" fmla="*/ 60 h 660"/>
                <a:gd name="T30" fmla="*/ 43 w 633"/>
                <a:gd name="T31" fmla="*/ 71 h 660"/>
                <a:gd name="T32" fmla="*/ 44 w 633"/>
                <a:gd name="T33" fmla="*/ 71 h 660"/>
                <a:gd name="T34" fmla="*/ 46 w 633"/>
                <a:gd name="T35" fmla="*/ 68 h 660"/>
                <a:gd name="T36" fmla="*/ 49 w 633"/>
                <a:gd name="T37" fmla="*/ 74 h 660"/>
                <a:gd name="T38" fmla="*/ 53 w 633"/>
                <a:gd name="T39" fmla="*/ 77 h 660"/>
                <a:gd name="T40" fmla="*/ 58 w 633"/>
                <a:gd name="T41" fmla="*/ 80 h 660"/>
                <a:gd name="T42" fmla="*/ 58 w 633"/>
                <a:gd name="T43" fmla="*/ 83 h 660"/>
                <a:gd name="T44" fmla="*/ 60 w 633"/>
                <a:gd name="T45" fmla="*/ 83 h 660"/>
                <a:gd name="T46" fmla="*/ 64 w 633"/>
                <a:gd name="T47" fmla="*/ 87 h 660"/>
                <a:gd name="T48" fmla="*/ 65 w 633"/>
                <a:gd name="T49" fmla="*/ 85 h 660"/>
                <a:gd name="T50" fmla="*/ 71 w 633"/>
                <a:gd name="T51" fmla="*/ 89 h 660"/>
                <a:gd name="T52" fmla="*/ 77 w 633"/>
                <a:gd name="T53" fmla="*/ 87 h 660"/>
                <a:gd name="T54" fmla="*/ 82 w 633"/>
                <a:gd name="T55" fmla="*/ 71 h 660"/>
                <a:gd name="T56" fmla="*/ 83 w 633"/>
                <a:gd name="T57" fmla="*/ 62 h 660"/>
                <a:gd name="T58" fmla="*/ 82 w 633"/>
                <a:gd name="T59" fmla="*/ 49 h 660"/>
                <a:gd name="T60" fmla="*/ 70 w 633"/>
                <a:gd name="T61" fmla="*/ 37 h 660"/>
                <a:gd name="T62" fmla="*/ 70 w 633"/>
                <a:gd name="T63" fmla="*/ 32 h 660"/>
                <a:gd name="T64" fmla="*/ 61 w 633"/>
                <a:gd name="T65" fmla="*/ 24 h 660"/>
                <a:gd name="T66" fmla="*/ 62 w 633"/>
                <a:gd name="T67" fmla="*/ 21 h 660"/>
                <a:gd name="T68" fmla="*/ 60 w 633"/>
                <a:gd name="T69" fmla="*/ 18 h 660"/>
                <a:gd name="T70" fmla="*/ 55 w 633"/>
                <a:gd name="T71" fmla="*/ 11 h 660"/>
                <a:gd name="T72" fmla="*/ 52 w 633"/>
                <a:gd name="T73" fmla="*/ 5 h 660"/>
                <a:gd name="T74" fmla="*/ 51 w 633"/>
                <a:gd name="T75" fmla="*/ 3 h 660"/>
                <a:gd name="T76" fmla="*/ 48 w 633"/>
                <a:gd name="T77" fmla="*/ 20 h 660"/>
                <a:gd name="T78" fmla="*/ 43 w 633"/>
                <a:gd name="T79" fmla="*/ 16 h 660"/>
                <a:gd name="T80" fmla="*/ 39 w 633"/>
                <a:gd name="T81" fmla="*/ 15 h 660"/>
                <a:gd name="T82" fmla="*/ 36 w 633"/>
                <a:gd name="T83" fmla="*/ 12 h 660"/>
                <a:gd name="T84" fmla="*/ 34 w 633"/>
                <a:gd name="T85" fmla="*/ 8 h 660"/>
                <a:gd name="T86" fmla="*/ 37 w 633"/>
                <a:gd name="T87" fmla="*/ 8 h 660"/>
                <a:gd name="T88" fmla="*/ 32 w 633"/>
                <a:gd name="T89" fmla="*/ 3 h 660"/>
                <a:gd name="T90" fmla="*/ 28 w 633"/>
                <a:gd name="T91" fmla="*/ 2 h 660"/>
                <a:gd name="T92" fmla="*/ 27 w 633"/>
                <a:gd name="T93" fmla="*/ 2 h 660"/>
                <a:gd name="T94" fmla="*/ 28 w 633"/>
                <a:gd name="T95" fmla="*/ 2 h 660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0" t="0" r="r" b="b"/>
              <a:pathLst>
                <a:path w="633" h="660">
                  <a:moveTo>
                    <a:pt x="212" y="11"/>
                  </a:moveTo>
                  <a:cubicBezTo>
                    <a:pt x="195" y="0"/>
                    <a:pt x="187" y="2"/>
                    <a:pt x="176" y="19"/>
                  </a:cubicBezTo>
                  <a:cubicBezTo>
                    <a:pt x="171" y="61"/>
                    <a:pt x="181" y="88"/>
                    <a:pt x="144" y="51"/>
                  </a:cubicBezTo>
                  <a:cubicBezTo>
                    <a:pt x="131" y="53"/>
                    <a:pt x="115" y="51"/>
                    <a:pt x="104" y="59"/>
                  </a:cubicBezTo>
                  <a:cubicBezTo>
                    <a:pt x="78" y="80"/>
                    <a:pt x="114" y="65"/>
                    <a:pt x="84" y="75"/>
                  </a:cubicBezTo>
                  <a:cubicBezTo>
                    <a:pt x="78" y="94"/>
                    <a:pt x="92" y="107"/>
                    <a:pt x="68" y="115"/>
                  </a:cubicBezTo>
                  <a:cubicBezTo>
                    <a:pt x="55" y="135"/>
                    <a:pt x="59" y="159"/>
                    <a:pt x="36" y="167"/>
                  </a:cubicBezTo>
                  <a:cubicBezTo>
                    <a:pt x="16" y="163"/>
                    <a:pt x="7" y="158"/>
                    <a:pt x="0" y="179"/>
                  </a:cubicBezTo>
                  <a:cubicBezTo>
                    <a:pt x="9" y="232"/>
                    <a:pt x="43" y="279"/>
                    <a:pt x="72" y="323"/>
                  </a:cubicBezTo>
                  <a:cubicBezTo>
                    <a:pt x="82" y="371"/>
                    <a:pt x="85" y="392"/>
                    <a:pt x="120" y="427"/>
                  </a:cubicBezTo>
                  <a:cubicBezTo>
                    <a:pt x="127" y="434"/>
                    <a:pt x="136" y="438"/>
                    <a:pt x="144" y="443"/>
                  </a:cubicBezTo>
                  <a:cubicBezTo>
                    <a:pt x="151" y="448"/>
                    <a:pt x="168" y="451"/>
                    <a:pt x="168" y="451"/>
                  </a:cubicBezTo>
                  <a:cubicBezTo>
                    <a:pt x="188" y="444"/>
                    <a:pt x="208" y="438"/>
                    <a:pt x="228" y="431"/>
                  </a:cubicBezTo>
                  <a:cubicBezTo>
                    <a:pt x="236" y="428"/>
                    <a:pt x="252" y="423"/>
                    <a:pt x="252" y="423"/>
                  </a:cubicBezTo>
                  <a:cubicBezTo>
                    <a:pt x="271" y="429"/>
                    <a:pt x="281" y="445"/>
                    <a:pt x="300" y="451"/>
                  </a:cubicBezTo>
                  <a:cubicBezTo>
                    <a:pt x="320" y="471"/>
                    <a:pt x="315" y="500"/>
                    <a:pt x="324" y="527"/>
                  </a:cubicBezTo>
                  <a:cubicBezTo>
                    <a:pt x="328" y="526"/>
                    <a:pt x="333" y="526"/>
                    <a:pt x="336" y="523"/>
                  </a:cubicBezTo>
                  <a:cubicBezTo>
                    <a:pt x="340" y="520"/>
                    <a:pt x="339" y="511"/>
                    <a:pt x="344" y="511"/>
                  </a:cubicBezTo>
                  <a:cubicBezTo>
                    <a:pt x="358" y="511"/>
                    <a:pt x="362" y="541"/>
                    <a:pt x="368" y="547"/>
                  </a:cubicBezTo>
                  <a:cubicBezTo>
                    <a:pt x="378" y="557"/>
                    <a:pt x="392" y="563"/>
                    <a:pt x="404" y="571"/>
                  </a:cubicBezTo>
                  <a:cubicBezTo>
                    <a:pt x="418" y="580"/>
                    <a:pt x="422" y="594"/>
                    <a:pt x="436" y="603"/>
                  </a:cubicBezTo>
                  <a:cubicBezTo>
                    <a:pt x="439" y="607"/>
                    <a:pt x="441" y="612"/>
                    <a:pt x="444" y="615"/>
                  </a:cubicBezTo>
                  <a:cubicBezTo>
                    <a:pt x="447" y="618"/>
                    <a:pt x="453" y="619"/>
                    <a:pt x="456" y="623"/>
                  </a:cubicBezTo>
                  <a:cubicBezTo>
                    <a:pt x="489" y="660"/>
                    <a:pt x="457" y="637"/>
                    <a:pt x="484" y="655"/>
                  </a:cubicBezTo>
                  <a:cubicBezTo>
                    <a:pt x="487" y="647"/>
                    <a:pt x="485" y="626"/>
                    <a:pt x="492" y="631"/>
                  </a:cubicBezTo>
                  <a:cubicBezTo>
                    <a:pt x="509" y="642"/>
                    <a:pt x="522" y="653"/>
                    <a:pt x="540" y="659"/>
                  </a:cubicBezTo>
                  <a:cubicBezTo>
                    <a:pt x="557" y="642"/>
                    <a:pt x="567" y="648"/>
                    <a:pt x="588" y="655"/>
                  </a:cubicBezTo>
                  <a:cubicBezTo>
                    <a:pt x="611" y="621"/>
                    <a:pt x="573" y="560"/>
                    <a:pt x="616" y="531"/>
                  </a:cubicBezTo>
                  <a:cubicBezTo>
                    <a:pt x="632" y="507"/>
                    <a:pt x="629" y="496"/>
                    <a:pt x="632" y="463"/>
                  </a:cubicBezTo>
                  <a:cubicBezTo>
                    <a:pt x="630" y="440"/>
                    <a:pt x="633" y="390"/>
                    <a:pt x="620" y="367"/>
                  </a:cubicBezTo>
                  <a:cubicBezTo>
                    <a:pt x="600" y="332"/>
                    <a:pt x="565" y="300"/>
                    <a:pt x="536" y="271"/>
                  </a:cubicBezTo>
                  <a:cubicBezTo>
                    <a:pt x="532" y="259"/>
                    <a:pt x="532" y="247"/>
                    <a:pt x="528" y="235"/>
                  </a:cubicBezTo>
                  <a:cubicBezTo>
                    <a:pt x="525" y="225"/>
                    <a:pt x="474" y="188"/>
                    <a:pt x="460" y="179"/>
                  </a:cubicBezTo>
                  <a:cubicBezTo>
                    <a:pt x="463" y="171"/>
                    <a:pt x="471" y="164"/>
                    <a:pt x="472" y="155"/>
                  </a:cubicBezTo>
                  <a:cubicBezTo>
                    <a:pt x="474" y="144"/>
                    <a:pt x="461" y="137"/>
                    <a:pt x="456" y="131"/>
                  </a:cubicBezTo>
                  <a:cubicBezTo>
                    <a:pt x="435" y="106"/>
                    <a:pt x="451" y="88"/>
                    <a:pt x="416" y="79"/>
                  </a:cubicBezTo>
                  <a:cubicBezTo>
                    <a:pt x="395" y="48"/>
                    <a:pt x="403" y="64"/>
                    <a:pt x="392" y="31"/>
                  </a:cubicBezTo>
                  <a:cubicBezTo>
                    <a:pt x="391" y="27"/>
                    <a:pt x="388" y="19"/>
                    <a:pt x="388" y="19"/>
                  </a:cubicBezTo>
                  <a:cubicBezTo>
                    <a:pt x="362" y="58"/>
                    <a:pt x="379" y="107"/>
                    <a:pt x="364" y="151"/>
                  </a:cubicBezTo>
                  <a:cubicBezTo>
                    <a:pt x="344" y="144"/>
                    <a:pt x="344" y="120"/>
                    <a:pt x="324" y="115"/>
                  </a:cubicBezTo>
                  <a:cubicBezTo>
                    <a:pt x="314" y="112"/>
                    <a:pt x="303" y="112"/>
                    <a:pt x="292" y="111"/>
                  </a:cubicBezTo>
                  <a:cubicBezTo>
                    <a:pt x="284" y="103"/>
                    <a:pt x="276" y="97"/>
                    <a:pt x="272" y="87"/>
                  </a:cubicBezTo>
                  <a:cubicBezTo>
                    <a:pt x="269" y="79"/>
                    <a:pt x="264" y="63"/>
                    <a:pt x="264" y="63"/>
                  </a:cubicBezTo>
                  <a:cubicBezTo>
                    <a:pt x="268" y="60"/>
                    <a:pt x="273" y="58"/>
                    <a:pt x="276" y="55"/>
                  </a:cubicBezTo>
                  <a:cubicBezTo>
                    <a:pt x="300" y="31"/>
                    <a:pt x="256" y="24"/>
                    <a:pt x="240" y="19"/>
                  </a:cubicBezTo>
                  <a:cubicBezTo>
                    <a:pt x="232" y="16"/>
                    <a:pt x="224" y="14"/>
                    <a:pt x="216" y="11"/>
                  </a:cubicBezTo>
                  <a:cubicBezTo>
                    <a:pt x="212" y="10"/>
                    <a:pt x="200" y="5"/>
                    <a:pt x="204" y="7"/>
                  </a:cubicBezTo>
                  <a:cubicBezTo>
                    <a:pt x="207" y="8"/>
                    <a:pt x="209" y="10"/>
                    <a:pt x="212" y="1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" name="Freeform 38"/>
            <p:cNvSpPr>
              <a:spLocks/>
            </p:cNvSpPr>
            <p:nvPr/>
          </p:nvSpPr>
          <p:spPr bwMode="invGray">
            <a:xfrm>
              <a:off x="4246" y="3241"/>
              <a:ext cx="319" cy="210"/>
            </a:xfrm>
            <a:custGeom>
              <a:avLst/>
              <a:gdLst>
                <a:gd name="T0" fmla="*/ 10 w 426"/>
                <a:gd name="T1" fmla="*/ 8 h 280"/>
                <a:gd name="T2" fmla="*/ 9 w 426"/>
                <a:gd name="T3" fmla="*/ 5 h 280"/>
                <a:gd name="T4" fmla="*/ 8 w 426"/>
                <a:gd name="T5" fmla="*/ 2 h 280"/>
                <a:gd name="T6" fmla="*/ 7 w 426"/>
                <a:gd name="T7" fmla="*/ 2 h 280"/>
                <a:gd name="T8" fmla="*/ 2 w 426"/>
                <a:gd name="T9" fmla="*/ 2 h 280"/>
                <a:gd name="T10" fmla="*/ 5 w 426"/>
                <a:gd name="T11" fmla="*/ 6 h 280"/>
                <a:gd name="T12" fmla="*/ 6 w 426"/>
                <a:gd name="T13" fmla="*/ 8 h 280"/>
                <a:gd name="T14" fmla="*/ 3 w 426"/>
                <a:gd name="T15" fmla="*/ 10 h 280"/>
                <a:gd name="T16" fmla="*/ 12 w 426"/>
                <a:gd name="T17" fmla="*/ 13 h 280"/>
                <a:gd name="T18" fmla="*/ 16 w 426"/>
                <a:gd name="T19" fmla="*/ 15 h 280"/>
                <a:gd name="T20" fmla="*/ 16 w 426"/>
                <a:gd name="T21" fmla="*/ 17 h 280"/>
                <a:gd name="T22" fmla="*/ 19 w 426"/>
                <a:gd name="T23" fmla="*/ 18 h 280"/>
                <a:gd name="T24" fmla="*/ 19 w 426"/>
                <a:gd name="T25" fmla="*/ 22 h 280"/>
                <a:gd name="T26" fmla="*/ 17 w 426"/>
                <a:gd name="T27" fmla="*/ 26 h 280"/>
                <a:gd name="T28" fmla="*/ 24 w 426"/>
                <a:gd name="T29" fmla="*/ 26 h 280"/>
                <a:gd name="T30" fmla="*/ 25 w 426"/>
                <a:gd name="T31" fmla="*/ 29 h 280"/>
                <a:gd name="T32" fmla="*/ 28 w 426"/>
                <a:gd name="T33" fmla="*/ 30 h 280"/>
                <a:gd name="T34" fmla="*/ 30 w 426"/>
                <a:gd name="T35" fmla="*/ 31 h 280"/>
                <a:gd name="T36" fmla="*/ 33 w 426"/>
                <a:gd name="T37" fmla="*/ 30 h 280"/>
                <a:gd name="T38" fmla="*/ 37 w 426"/>
                <a:gd name="T39" fmla="*/ 26 h 280"/>
                <a:gd name="T40" fmla="*/ 44 w 426"/>
                <a:gd name="T41" fmla="*/ 34 h 280"/>
                <a:gd name="T42" fmla="*/ 48 w 426"/>
                <a:gd name="T43" fmla="*/ 38 h 280"/>
                <a:gd name="T44" fmla="*/ 48 w 426"/>
                <a:gd name="T45" fmla="*/ 30 h 280"/>
                <a:gd name="T46" fmla="*/ 44 w 426"/>
                <a:gd name="T47" fmla="*/ 27 h 280"/>
                <a:gd name="T48" fmla="*/ 49 w 426"/>
                <a:gd name="T49" fmla="*/ 23 h 280"/>
                <a:gd name="T50" fmla="*/ 54 w 426"/>
                <a:gd name="T51" fmla="*/ 22 h 280"/>
                <a:gd name="T52" fmla="*/ 56 w 426"/>
                <a:gd name="T53" fmla="*/ 21 h 280"/>
                <a:gd name="T54" fmla="*/ 56 w 426"/>
                <a:gd name="T55" fmla="*/ 19 h 280"/>
                <a:gd name="T56" fmla="*/ 47 w 426"/>
                <a:gd name="T57" fmla="*/ 20 h 280"/>
                <a:gd name="T58" fmla="*/ 40 w 426"/>
                <a:gd name="T59" fmla="*/ 19 h 280"/>
                <a:gd name="T60" fmla="*/ 39 w 426"/>
                <a:gd name="T61" fmla="*/ 17 h 280"/>
                <a:gd name="T62" fmla="*/ 39 w 426"/>
                <a:gd name="T63" fmla="*/ 16 h 280"/>
                <a:gd name="T64" fmla="*/ 29 w 426"/>
                <a:gd name="T65" fmla="*/ 11 h 280"/>
                <a:gd name="T66" fmla="*/ 21 w 426"/>
                <a:gd name="T67" fmla="*/ 8 h 280"/>
                <a:gd name="T68" fmla="*/ 18 w 426"/>
                <a:gd name="T69" fmla="*/ 8 h 280"/>
                <a:gd name="T70" fmla="*/ 10 w 426"/>
                <a:gd name="T71" fmla="*/ 8 h 280"/>
                <a:gd name="T72" fmla="*/ 9 w 426"/>
                <a:gd name="T73" fmla="*/ 5 h 280"/>
                <a:gd name="T74" fmla="*/ 9 w 426"/>
                <a:gd name="T75" fmla="*/ 0 h 28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426" h="280">
                  <a:moveTo>
                    <a:pt x="84" y="60"/>
                  </a:moveTo>
                  <a:cubicBezTo>
                    <a:pt x="79" y="52"/>
                    <a:pt x="70" y="45"/>
                    <a:pt x="68" y="36"/>
                  </a:cubicBezTo>
                  <a:cubicBezTo>
                    <a:pt x="67" y="29"/>
                    <a:pt x="68" y="22"/>
                    <a:pt x="64" y="16"/>
                  </a:cubicBezTo>
                  <a:cubicBezTo>
                    <a:pt x="62" y="12"/>
                    <a:pt x="56" y="13"/>
                    <a:pt x="52" y="12"/>
                  </a:cubicBezTo>
                  <a:cubicBezTo>
                    <a:pt x="40" y="13"/>
                    <a:pt x="27" y="11"/>
                    <a:pt x="16" y="16"/>
                  </a:cubicBezTo>
                  <a:cubicBezTo>
                    <a:pt x="0" y="24"/>
                    <a:pt x="43" y="40"/>
                    <a:pt x="44" y="40"/>
                  </a:cubicBezTo>
                  <a:cubicBezTo>
                    <a:pt x="45" y="44"/>
                    <a:pt x="50" y="49"/>
                    <a:pt x="48" y="52"/>
                  </a:cubicBezTo>
                  <a:cubicBezTo>
                    <a:pt x="42" y="60"/>
                    <a:pt x="24" y="68"/>
                    <a:pt x="24" y="68"/>
                  </a:cubicBezTo>
                  <a:cubicBezTo>
                    <a:pt x="38" y="88"/>
                    <a:pt x="65" y="89"/>
                    <a:pt x="88" y="92"/>
                  </a:cubicBezTo>
                  <a:cubicBezTo>
                    <a:pt x="101" y="96"/>
                    <a:pt x="124" y="112"/>
                    <a:pt x="124" y="112"/>
                  </a:cubicBezTo>
                  <a:cubicBezTo>
                    <a:pt x="125" y="116"/>
                    <a:pt x="125" y="121"/>
                    <a:pt x="128" y="124"/>
                  </a:cubicBezTo>
                  <a:cubicBezTo>
                    <a:pt x="131" y="128"/>
                    <a:pt x="137" y="128"/>
                    <a:pt x="140" y="132"/>
                  </a:cubicBezTo>
                  <a:cubicBezTo>
                    <a:pt x="144" y="139"/>
                    <a:pt x="148" y="156"/>
                    <a:pt x="148" y="156"/>
                  </a:cubicBezTo>
                  <a:cubicBezTo>
                    <a:pt x="144" y="171"/>
                    <a:pt x="137" y="181"/>
                    <a:pt x="132" y="196"/>
                  </a:cubicBezTo>
                  <a:cubicBezTo>
                    <a:pt x="151" y="209"/>
                    <a:pt x="167" y="207"/>
                    <a:pt x="180" y="188"/>
                  </a:cubicBezTo>
                  <a:cubicBezTo>
                    <a:pt x="182" y="196"/>
                    <a:pt x="184" y="211"/>
                    <a:pt x="192" y="216"/>
                  </a:cubicBezTo>
                  <a:cubicBezTo>
                    <a:pt x="199" y="220"/>
                    <a:pt x="208" y="221"/>
                    <a:pt x="216" y="224"/>
                  </a:cubicBezTo>
                  <a:cubicBezTo>
                    <a:pt x="220" y="225"/>
                    <a:pt x="228" y="228"/>
                    <a:pt x="228" y="228"/>
                  </a:cubicBezTo>
                  <a:cubicBezTo>
                    <a:pt x="236" y="227"/>
                    <a:pt x="245" y="228"/>
                    <a:pt x="252" y="224"/>
                  </a:cubicBezTo>
                  <a:cubicBezTo>
                    <a:pt x="269" y="216"/>
                    <a:pt x="252" y="204"/>
                    <a:pt x="276" y="196"/>
                  </a:cubicBezTo>
                  <a:cubicBezTo>
                    <a:pt x="296" y="209"/>
                    <a:pt x="322" y="231"/>
                    <a:pt x="336" y="252"/>
                  </a:cubicBezTo>
                  <a:cubicBezTo>
                    <a:pt x="354" y="280"/>
                    <a:pt x="343" y="273"/>
                    <a:pt x="364" y="280"/>
                  </a:cubicBezTo>
                  <a:cubicBezTo>
                    <a:pt x="376" y="262"/>
                    <a:pt x="375" y="241"/>
                    <a:pt x="360" y="224"/>
                  </a:cubicBezTo>
                  <a:cubicBezTo>
                    <a:pt x="352" y="216"/>
                    <a:pt x="336" y="200"/>
                    <a:pt x="336" y="200"/>
                  </a:cubicBezTo>
                  <a:cubicBezTo>
                    <a:pt x="323" y="162"/>
                    <a:pt x="322" y="174"/>
                    <a:pt x="372" y="168"/>
                  </a:cubicBezTo>
                  <a:cubicBezTo>
                    <a:pt x="384" y="164"/>
                    <a:pt x="396" y="160"/>
                    <a:pt x="408" y="156"/>
                  </a:cubicBezTo>
                  <a:cubicBezTo>
                    <a:pt x="412" y="155"/>
                    <a:pt x="420" y="152"/>
                    <a:pt x="420" y="152"/>
                  </a:cubicBezTo>
                  <a:cubicBezTo>
                    <a:pt x="421" y="148"/>
                    <a:pt x="426" y="144"/>
                    <a:pt x="424" y="140"/>
                  </a:cubicBezTo>
                  <a:cubicBezTo>
                    <a:pt x="420" y="131"/>
                    <a:pt x="365" y="146"/>
                    <a:pt x="356" y="148"/>
                  </a:cubicBezTo>
                  <a:cubicBezTo>
                    <a:pt x="339" y="146"/>
                    <a:pt x="316" y="152"/>
                    <a:pt x="304" y="140"/>
                  </a:cubicBezTo>
                  <a:cubicBezTo>
                    <a:pt x="301" y="137"/>
                    <a:pt x="302" y="132"/>
                    <a:pt x="300" y="128"/>
                  </a:cubicBezTo>
                  <a:cubicBezTo>
                    <a:pt x="298" y="124"/>
                    <a:pt x="296" y="119"/>
                    <a:pt x="292" y="116"/>
                  </a:cubicBezTo>
                  <a:cubicBezTo>
                    <a:pt x="272" y="98"/>
                    <a:pt x="244" y="91"/>
                    <a:pt x="220" y="80"/>
                  </a:cubicBezTo>
                  <a:cubicBezTo>
                    <a:pt x="201" y="72"/>
                    <a:pt x="180" y="67"/>
                    <a:pt x="160" y="60"/>
                  </a:cubicBezTo>
                  <a:cubicBezTo>
                    <a:pt x="152" y="57"/>
                    <a:pt x="136" y="52"/>
                    <a:pt x="136" y="52"/>
                  </a:cubicBezTo>
                  <a:cubicBezTo>
                    <a:pt x="113" y="55"/>
                    <a:pt x="98" y="64"/>
                    <a:pt x="80" y="52"/>
                  </a:cubicBezTo>
                  <a:cubicBezTo>
                    <a:pt x="70" y="38"/>
                    <a:pt x="74" y="44"/>
                    <a:pt x="68" y="32"/>
                  </a:cubicBezTo>
                  <a:lnTo>
                    <a:pt x="68" y="0"/>
                  </a:lnTo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algn="ctr" rotWithShape="0">
                      <a:srgbClr val="989898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Freeform 39"/>
            <p:cNvSpPr>
              <a:spLocks/>
            </p:cNvSpPr>
            <p:nvPr/>
          </p:nvSpPr>
          <p:spPr bwMode="invGray">
            <a:xfrm>
              <a:off x="4255" y="3243"/>
              <a:ext cx="311" cy="211"/>
            </a:xfrm>
            <a:custGeom>
              <a:avLst/>
              <a:gdLst>
                <a:gd name="T0" fmla="*/ 0 w 416"/>
                <a:gd name="T1" fmla="*/ 1 h 282"/>
                <a:gd name="T2" fmla="*/ 2 w 416"/>
                <a:gd name="T3" fmla="*/ 5 h 282"/>
                <a:gd name="T4" fmla="*/ 4 w 416"/>
                <a:gd name="T5" fmla="*/ 7 h 282"/>
                <a:gd name="T6" fmla="*/ 10 w 416"/>
                <a:gd name="T7" fmla="*/ 12 h 282"/>
                <a:gd name="T8" fmla="*/ 16 w 416"/>
                <a:gd name="T9" fmla="*/ 15 h 282"/>
                <a:gd name="T10" fmla="*/ 17 w 416"/>
                <a:gd name="T11" fmla="*/ 16 h 282"/>
                <a:gd name="T12" fmla="*/ 18 w 416"/>
                <a:gd name="T13" fmla="*/ 22 h 282"/>
                <a:gd name="T14" fmla="*/ 16 w 416"/>
                <a:gd name="T15" fmla="*/ 26 h 282"/>
                <a:gd name="T16" fmla="*/ 18 w 416"/>
                <a:gd name="T17" fmla="*/ 25 h 282"/>
                <a:gd name="T18" fmla="*/ 19 w 416"/>
                <a:gd name="T19" fmla="*/ 25 h 282"/>
                <a:gd name="T20" fmla="*/ 21 w 416"/>
                <a:gd name="T21" fmla="*/ 26 h 282"/>
                <a:gd name="T22" fmla="*/ 24 w 416"/>
                <a:gd name="T23" fmla="*/ 28 h 282"/>
                <a:gd name="T24" fmla="*/ 28 w 416"/>
                <a:gd name="T25" fmla="*/ 31 h 282"/>
                <a:gd name="T26" fmla="*/ 31 w 416"/>
                <a:gd name="T27" fmla="*/ 29 h 282"/>
                <a:gd name="T28" fmla="*/ 32 w 416"/>
                <a:gd name="T29" fmla="*/ 25 h 282"/>
                <a:gd name="T30" fmla="*/ 35 w 416"/>
                <a:gd name="T31" fmla="*/ 26 h 282"/>
                <a:gd name="T32" fmla="*/ 38 w 416"/>
                <a:gd name="T33" fmla="*/ 28 h 282"/>
                <a:gd name="T34" fmla="*/ 44 w 416"/>
                <a:gd name="T35" fmla="*/ 37 h 282"/>
                <a:gd name="T36" fmla="*/ 46 w 416"/>
                <a:gd name="T37" fmla="*/ 37 h 282"/>
                <a:gd name="T38" fmla="*/ 46 w 416"/>
                <a:gd name="T39" fmla="*/ 33 h 282"/>
                <a:gd name="T40" fmla="*/ 41 w 416"/>
                <a:gd name="T41" fmla="*/ 25 h 282"/>
                <a:gd name="T42" fmla="*/ 47 w 416"/>
                <a:gd name="T43" fmla="*/ 23 h 282"/>
                <a:gd name="T44" fmla="*/ 53 w 416"/>
                <a:gd name="T45" fmla="*/ 19 h 282"/>
                <a:gd name="T46" fmla="*/ 54 w 416"/>
                <a:gd name="T47" fmla="*/ 16 h 282"/>
                <a:gd name="T48" fmla="*/ 48 w 416"/>
                <a:gd name="T49" fmla="*/ 18 h 282"/>
                <a:gd name="T50" fmla="*/ 40 w 416"/>
                <a:gd name="T51" fmla="*/ 18 h 282"/>
                <a:gd name="T52" fmla="*/ 34 w 416"/>
                <a:gd name="T53" fmla="*/ 13 h 282"/>
                <a:gd name="T54" fmla="*/ 24 w 416"/>
                <a:gd name="T55" fmla="*/ 7 h 282"/>
                <a:gd name="T56" fmla="*/ 17 w 416"/>
                <a:gd name="T57" fmla="*/ 4 h 282"/>
                <a:gd name="T58" fmla="*/ 12 w 416"/>
                <a:gd name="T59" fmla="*/ 5 h 282"/>
                <a:gd name="T60" fmla="*/ 10 w 416"/>
                <a:gd name="T61" fmla="*/ 7 h 282"/>
                <a:gd name="T62" fmla="*/ 7 w 416"/>
                <a:gd name="T63" fmla="*/ 2 h 282"/>
                <a:gd name="T64" fmla="*/ 0 w 416"/>
                <a:gd name="T65" fmla="*/ 1 h 282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416" h="282">
                  <a:moveTo>
                    <a:pt x="0" y="1"/>
                  </a:moveTo>
                  <a:cubicBezTo>
                    <a:pt x="7" y="22"/>
                    <a:pt x="2" y="9"/>
                    <a:pt x="20" y="37"/>
                  </a:cubicBezTo>
                  <a:cubicBezTo>
                    <a:pt x="23" y="41"/>
                    <a:pt x="28" y="49"/>
                    <a:pt x="28" y="49"/>
                  </a:cubicBezTo>
                  <a:cubicBezTo>
                    <a:pt x="5" y="84"/>
                    <a:pt x="65" y="78"/>
                    <a:pt x="84" y="89"/>
                  </a:cubicBezTo>
                  <a:cubicBezTo>
                    <a:pt x="97" y="96"/>
                    <a:pt x="108" y="105"/>
                    <a:pt x="120" y="113"/>
                  </a:cubicBezTo>
                  <a:cubicBezTo>
                    <a:pt x="124" y="116"/>
                    <a:pt x="132" y="121"/>
                    <a:pt x="132" y="121"/>
                  </a:cubicBezTo>
                  <a:cubicBezTo>
                    <a:pt x="138" y="138"/>
                    <a:pt x="132" y="151"/>
                    <a:pt x="136" y="169"/>
                  </a:cubicBezTo>
                  <a:cubicBezTo>
                    <a:pt x="107" y="188"/>
                    <a:pt x="110" y="176"/>
                    <a:pt x="116" y="201"/>
                  </a:cubicBezTo>
                  <a:cubicBezTo>
                    <a:pt x="123" y="200"/>
                    <a:pt x="130" y="199"/>
                    <a:pt x="136" y="197"/>
                  </a:cubicBezTo>
                  <a:cubicBezTo>
                    <a:pt x="141" y="195"/>
                    <a:pt x="143" y="188"/>
                    <a:pt x="148" y="189"/>
                  </a:cubicBezTo>
                  <a:cubicBezTo>
                    <a:pt x="154" y="190"/>
                    <a:pt x="156" y="198"/>
                    <a:pt x="160" y="201"/>
                  </a:cubicBezTo>
                  <a:cubicBezTo>
                    <a:pt x="168" y="207"/>
                    <a:pt x="176" y="212"/>
                    <a:pt x="184" y="217"/>
                  </a:cubicBezTo>
                  <a:cubicBezTo>
                    <a:pt x="192" y="222"/>
                    <a:pt x="208" y="233"/>
                    <a:pt x="208" y="233"/>
                  </a:cubicBezTo>
                  <a:cubicBezTo>
                    <a:pt x="216" y="231"/>
                    <a:pt x="234" y="230"/>
                    <a:pt x="240" y="221"/>
                  </a:cubicBezTo>
                  <a:cubicBezTo>
                    <a:pt x="244" y="214"/>
                    <a:pt x="248" y="197"/>
                    <a:pt x="248" y="197"/>
                  </a:cubicBezTo>
                  <a:cubicBezTo>
                    <a:pt x="255" y="198"/>
                    <a:pt x="261" y="199"/>
                    <a:pt x="268" y="201"/>
                  </a:cubicBezTo>
                  <a:cubicBezTo>
                    <a:pt x="276" y="203"/>
                    <a:pt x="292" y="209"/>
                    <a:pt x="292" y="209"/>
                  </a:cubicBezTo>
                  <a:cubicBezTo>
                    <a:pt x="298" y="242"/>
                    <a:pt x="306" y="270"/>
                    <a:pt x="340" y="281"/>
                  </a:cubicBezTo>
                  <a:cubicBezTo>
                    <a:pt x="345" y="280"/>
                    <a:pt x="354" y="282"/>
                    <a:pt x="356" y="277"/>
                  </a:cubicBezTo>
                  <a:cubicBezTo>
                    <a:pt x="359" y="270"/>
                    <a:pt x="355" y="260"/>
                    <a:pt x="352" y="253"/>
                  </a:cubicBezTo>
                  <a:cubicBezTo>
                    <a:pt x="346" y="238"/>
                    <a:pt x="329" y="206"/>
                    <a:pt x="316" y="197"/>
                  </a:cubicBezTo>
                  <a:cubicBezTo>
                    <a:pt x="307" y="170"/>
                    <a:pt x="339" y="175"/>
                    <a:pt x="360" y="173"/>
                  </a:cubicBezTo>
                  <a:cubicBezTo>
                    <a:pt x="383" y="165"/>
                    <a:pt x="391" y="162"/>
                    <a:pt x="408" y="145"/>
                  </a:cubicBezTo>
                  <a:cubicBezTo>
                    <a:pt x="412" y="140"/>
                    <a:pt x="416" y="121"/>
                    <a:pt x="409" y="120"/>
                  </a:cubicBezTo>
                  <a:cubicBezTo>
                    <a:pt x="402" y="119"/>
                    <a:pt x="384" y="135"/>
                    <a:pt x="367" y="138"/>
                  </a:cubicBezTo>
                  <a:cubicBezTo>
                    <a:pt x="350" y="141"/>
                    <a:pt x="325" y="144"/>
                    <a:pt x="308" y="137"/>
                  </a:cubicBezTo>
                  <a:cubicBezTo>
                    <a:pt x="286" y="130"/>
                    <a:pt x="284" y="111"/>
                    <a:pt x="264" y="97"/>
                  </a:cubicBezTo>
                  <a:cubicBezTo>
                    <a:pt x="238" y="80"/>
                    <a:pt x="203" y="76"/>
                    <a:pt x="180" y="61"/>
                  </a:cubicBezTo>
                  <a:cubicBezTo>
                    <a:pt x="163" y="50"/>
                    <a:pt x="150" y="39"/>
                    <a:pt x="132" y="33"/>
                  </a:cubicBezTo>
                  <a:cubicBezTo>
                    <a:pt x="119" y="35"/>
                    <a:pt x="102" y="31"/>
                    <a:pt x="92" y="41"/>
                  </a:cubicBezTo>
                  <a:cubicBezTo>
                    <a:pt x="71" y="62"/>
                    <a:pt x="108" y="46"/>
                    <a:pt x="76" y="57"/>
                  </a:cubicBezTo>
                  <a:cubicBezTo>
                    <a:pt x="52" y="49"/>
                    <a:pt x="67" y="38"/>
                    <a:pt x="56" y="17"/>
                  </a:cubicBezTo>
                  <a:cubicBezTo>
                    <a:pt x="48" y="0"/>
                    <a:pt x="16" y="1"/>
                    <a:pt x="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2" name="Freeform 40"/>
            <p:cNvSpPr>
              <a:spLocks/>
            </p:cNvSpPr>
            <p:nvPr/>
          </p:nvSpPr>
          <p:spPr bwMode="invGray">
            <a:xfrm>
              <a:off x="4485" y="4013"/>
              <a:ext cx="45" cy="58"/>
            </a:xfrm>
            <a:custGeom>
              <a:avLst/>
              <a:gdLst>
                <a:gd name="T0" fmla="*/ 5 w 60"/>
                <a:gd name="T1" fmla="*/ 2 h 78"/>
                <a:gd name="T2" fmla="*/ 0 w 60"/>
                <a:gd name="T3" fmla="*/ 2 h 78"/>
                <a:gd name="T4" fmla="*/ 3 w 60"/>
                <a:gd name="T5" fmla="*/ 5 h 78"/>
                <a:gd name="T6" fmla="*/ 4 w 60"/>
                <a:gd name="T7" fmla="*/ 8 h 78"/>
                <a:gd name="T8" fmla="*/ 5 w 60"/>
                <a:gd name="T9" fmla="*/ 10 h 78"/>
                <a:gd name="T10" fmla="*/ 8 w 60"/>
                <a:gd name="T11" fmla="*/ 7 h 78"/>
                <a:gd name="T12" fmla="*/ 5 w 60"/>
                <a:gd name="T13" fmla="*/ 2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0" h="78">
                  <a:moveTo>
                    <a:pt x="32" y="18"/>
                  </a:moveTo>
                  <a:cubicBezTo>
                    <a:pt x="16" y="7"/>
                    <a:pt x="12" y="0"/>
                    <a:pt x="0" y="18"/>
                  </a:cubicBezTo>
                  <a:cubicBezTo>
                    <a:pt x="6" y="27"/>
                    <a:pt x="15" y="33"/>
                    <a:pt x="20" y="42"/>
                  </a:cubicBezTo>
                  <a:cubicBezTo>
                    <a:pt x="24" y="49"/>
                    <a:pt x="25" y="58"/>
                    <a:pt x="28" y="66"/>
                  </a:cubicBezTo>
                  <a:cubicBezTo>
                    <a:pt x="29" y="70"/>
                    <a:pt x="32" y="78"/>
                    <a:pt x="32" y="78"/>
                  </a:cubicBezTo>
                  <a:cubicBezTo>
                    <a:pt x="52" y="73"/>
                    <a:pt x="54" y="69"/>
                    <a:pt x="60" y="50"/>
                  </a:cubicBezTo>
                  <a:cubicBezTo>
                    <a:pt x="54" y="32"/>
                    <a:pt x="50" y="27"/>
                    <a:pt x="32" y="18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41"/>
            <p:cNvSpPr>
              <a:spLocks/>
            </p:cNvSpPr>
            <p:nvPr/>
          </p:nvSpPr>
          <p:spPr bwMode="invGray">
            <a:xfrm>
              <a:off x="4621" y="3923"/>
              <a:ext cx="164" cy="85"/>
            </a:xfrm>
            <a:custGeom>
              <a:avLst/>
              <a:gdLst>
                <a:gd name="T0" fmla="*/ 5 w 219"/>
                <a:gd name="T1" fmla="*/ 10 h 113"/>
                <a:gd name="T2" fmla="*/ 5 w 219"/>
                <a:gd name="T3" fmla="*/ 8 h 113"/>
                <a:gd name="T4" fmla="*/ 1 w 219"/>
                <a:gd name="T5" fmla="*/ 10 h 113"/>
                <a:gd name="T6" fmla="*/ 5 w 219"/>
                <a:gd name="T7" fmla="*/ 15 h 113"/>
                <a:gd name="T8" fmla="*/ 16 w 219"/>
                <a:gd name="T9" fmla="*/ 13 h 113"/>
                <a:gd name="T10" fmla="*/ 19 w 219"/>
                <a:gd name="T11" fmla="*/ 10 h 113"/>
                <a:gd name="T12" fmla="*/ 22 w 219"/>
                <a:gd name="T13" fmla="*/ 9 h 113"/>
                <a:gd name="T14" fmla="*/ 29 w 219"/>
                <a:gd name="T15" fmla="*/ 3 h 113"/>
                <a:gd name="T16" fmla="*/ 28 w 219"/>
                <a:gd name="T17" fmla="*/ 0 h 113"/>
                <a:gd name="T18" fmla="*/ 23 w 219"/>
                <a:gd name="T19" fmla="*/ 3 h 113"/>
                <a:gd name="T20" fmla="*/ 14 w 219"/>
                <a:gd name="T21" fmla="*/ 6 h 113"/>
                <a:gd name="T22" fmla="*/ 10 w 219"/>
                <a:gd name="T23" fmla="*/ 6 h 113"/>
                <a:gd name="T24" fmla="*/ 7 w 219"/>
                <a:gd name="T25" fmla="*/ 8 h 113"/>
                <a:gd name="T26" fmla="*/ 5 w 219"/>
                <a:gd name="T27" fmla="*/ 10 h 11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19" h="113">
                  <a:moveTo>
                    <a:pt x="47" y="73"/>
                  </a:moveTo>
                  <a:cubicBezTo>
                    <a:pt x="44" y="69"/>
                    <a:pt x="44" y="62"/>
                    <a:pt x="39" y="61"/>
                  </a:cubicBezTo>
                  <a:cubicBezTo>
                    <a:pt x="31" y="60"/>
                    <a:pt x="15" y="69"/>
                    <a:pt x="15" y="69"/>
                  </a:cubicBezTo>
                  <a:cubicBezTo>
                    <a:pt x="0" y="91"/>
                    <a:pt x="20" y="101"/>
                    <a:pt x="39" y="113"/>
                  </a:cubicBezTo>
                  <a:cubicBezTo>
                    <a:pt x="67" y="107"/>
                    <a:pt x="96" y="98"/>
                    <a:pt x="123" y="89"/>
                  </a:cubicBezTo>
                  <a:cubicBezTo>
                    <a:pt x="132" y="86"/>
                    <a:pt x="139" y="78"/>
                    <a:pt x="147" y="73"/>
                  </a:cubicBezTo>
                  <a:cubicBezTo>
                    <a:pt x="154" y="68"/>
                    <a:pt x="171" y="65"/>
                    <a:pt x="171" y="65"/>
                  </a:cubicBezTo>
                  <a:cubicBezTo>
                    <a:pt x="186" y="50"/>
                    <a:pt x="207" y="36"/>
                    <a:pt x="219" y="19"/>
                  </a:cubicBezTo>
                  <a:cubicBezTo>
                    <a:pt x="215" y="16"/>
                    <a:pt x="215" y="0"/>
                    <a:pt x="210" y="0"/>
                  </a:cubicBezTo>
                  <a:cubicBezTo>
                    <a:pt x="205" y="0"/>
                    <a:pt x="183" y="15"/>
                    <a:pt x="179" y="17"/>
                  </a:cubicBezTo>
                  <a:cubicBezTo>
                    <a:pt x="159" y="26"/>
                    <a:pt x="129" y="37"/>
                    <a:pt x="107" y="41"/>
                  </a:cubicBezTo>
                  <a:cubicBezTo>
                    <a:pt x="99" y="42"/>
                    <a:pt x="91" y="43"/>
                    <a:pt x="83" y="45"/>
                  </a:cubicBezTo>
                  <a:cubicBezTo>
                    <a:pt x="75" y="47"/>
                    <a:pt x="59" y="53"/>
                    <a:pt x="59" y="53"/>
                  </a:cubicBezTo>
                  <a:cubicBezTo>
                    <a:pt x="49" y="67"/>
                    <a:pt x="53" y="61"/>
                    <a:pt x="47" y="7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42"/>
            <p:cNvSpPr>
              <a:spLocks/>
            </p:cNvSpPr>
            <p:nvPr/>
          </p:nvSpPr>
          <p:spPr bwMode="invGray">
            <a:xfrm>
              <a:off x="4791" y="3873"/>
              <a:ext cx="104" cy="92"/>
            </a:xfrm>
            <a:custGeom>
              <a:avLst/>
              <a:gdLst>
                <a:gd name="T0" fmla="*/ 1 w 139"/>
                <a:gd name="T1" fmla="*/ 8 h 122"/>
                <a:gd name="T2" fmla="*/ 1 w 139"/>
                <a:gd name="T3" fmla="*/ 11 h 122"/>
                <a:gd name="T4" fmla="*/ 0 w 139"/>
                <a:gd name="T5" fmla="*/ 15 h 122"/>
                <a:gd name="T6" fmla="*/ 4 w 139"/>
                <a:gd name="T7" fmla="*/ 17 h 122"/>
                <a:gd name="T8" fmla="*/ 7 w 139"/>
                <a:gd name="T9" fmla="*/ 13 h 122"/>
                <a:gd name="T10" fmla="*/ 16 w 139"/>
                <a:gd name="T11" fmla="*/ 10 h 122"/>
                <a:gd name="T12" fmla="*/ 18 w 139"/>
                <a:gd name="T13" fmla="*/ 6 h 122"/>
                <a:gd name="T14" fmla="*/ 14 w 139"/>
                <a:gd name="T15" fmla="*/ 4 h 122"/>
                <a:gd name="T16" fmla="*/ 13 w 139"/>
                <a:gd name="T17" fmla="*/ 3 h 122"/>
                <a:gd name="T18" fmla="*/ 8 w 139"/>
                <a:gd name="T19" fmla="*/ 2 h 122"/>
                <a:gd name="T20" fmla="*/ 7 w 139"/>
                <a:gd name="T21" fmla="*/ 5 h 122"/>
                <a:gd name="T22" fmla="*/ 1 w 139"/>
                <a:gd name="T23" fmla="*/ 8 h 12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22">
                  <a:moveTo>
                    <a:pt x="12" y="60"/>
                  </a:moveTo>
                  <a:cubicBezTo>
                    <a:pt x="11" y="68"/>
                    <a:pt x="10" y="76"/>
                    <a:pt x="8" y="84"/>
                  </a:cubicBezTo>
                  <a:cubicBezTo>
                    <a:pt x="6" y="92"/>
                    <a:pt x="0" y="108"/>
                    <a:pt x="0" y="108"/>
                  </a:cubicBezTo>
                  <a:cubicBezTo>
                    <a:pt x="14" y="118"/>
                    <a:pt x="19" y="122"/>
                    <a:pt x="36" y="116"/>
                  </a:cubicBezTo>
                  <a:cubicBezTo>
                    <a:pt x="46" y="86"/>
                    <a:pt x="31" y="122"/>
                    <a:pt x="52" y="96"/>
                  </a:cubicBezTo>
                  <a:cubicBezTo>
                    <a:pt x="83" y="57"/>
                    <a:pt x="30" y="74"/>
                    <a:pt x="124" y="68"/>
                  </a:cubicBezTo>
                  <a:cubicBezTo>
                    <a:pt x="125" y="67"/>
                    <a:pt x="139" y="48"/>
                    <a:pt x="136" y="44"/>
                  </a:cubicBezTo>
                  <a:cubicBezTo>
                    <a:pt x="130" y="36"/>
                    <a:pt x="120" y="33"/>
                    <a:pt x="112" y="28"/>
                  </a:cubicBezTo>
                  <a:cubicBezTo>
                    <a:pt x="108" y="25"/>
                    <a:pt x="100" y="20"/>
                    <a:pt x="100" y="20"/>
                  </a:cubicBezTo>
                  <a:cubicBezTo>
                    <a:pt x="89" y="4"/>
                    <a:pt x="92" y="0"/>
                    <a:pt x="64" y="12"/>
                  </a:cubicBezTo>
                  <a:cubicBezTo>
                    <a:pt x="57" y="15"/>
                    <a:pt x="55" y="30"/>
                    <a:pt x="52" y="36"/>
                  </a:cubicBezTo>
                  <a:cubicBezTo>
                    <a:pt x="46" y="49"/>
                    <a:pt x="26" y="60"/>
                    <a:pt x="12" y="6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43"/>
            <p:cNvSpPr>
              <a:spLocks/>
            </p:cNvSpPr>
            <p:nvPr/>
          </p:nvSpPr>
          <p:spPr bwMode="invGray">
            <a:xfrm>
              <a:off x="4846" y="3832"/>
              <a:ext cx="37" cy="26"/>
            </a:xfrm>
            <a:custGeom>
              <a:avLst/>
              <a:gdLst>
                <a:gd name="T0" fmla="*/ 5 w 49"/>
                <a:gd name="T1" fmla="*/ 0 h 35"/>
                <a:gd name="T2" fmla="*/ 2 w 49"/>
                <a:gd name="T3" fmla="*/ 1 h 35"/>
                <a:gd name="T4" fmla="*/ 4 w 49"/>
                <a:gd name="T5" fmla="*/ 4 h 35"/>
                <a:gd name="T6" fmla="*/ 6 w 49"/>
                <a:gd name="T7" fmla="*/ 3 h 35"/>
                <a:gd name="T8" fmla="*/ 5 w 49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5">
                  <a:moveTo>
                    <a:pt x="29" y="0"/>
                  </a:moveTo>
                  <a:cubicBezTo>
                    <a:pt x="25" y="12"/>
                    <a:pt x="19" y="7"/>
                    <a:pt x="8" y="11"/>
                  </a:cubicBezTo>
                  <a:cubicBezTo>
                    <a:pt x="0" y="23"/>
                    <a:pt x="14" y="34"/>
                    <a:pt x="24" y="35"/>
                  </a:cubicBezTo>
                  <a:cubicBezTo>
                    <a:pt x="30" y="34"/>
                    <a:pt x="33" y="28"/>
                    <a:pt x="39" y="26"/>
                  </a:cubicBezTo>
                  <a:cubicBezTo>
                    <a:pt x="49" y="22"/>
                    <a:pt x="29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44"/>
            <p:cNvSpPr>
              <a:spLocks/>
            </p:cNvSpPr>
            <p:nvPr/>
          </p:nvSpPr>
          <p:spPr bwMode="invGray">
            <a:xfrm>
              <a:off x="3123" y="3346"/>
              <a:ext cx="123" cy="201"/>
            </a:xfrm>
            <a:custGeom>
              <a:avLst/>
              <a:gdLst>
                <a:gd name="T0" fmla="*/ 17 w 164"/>
                <a:gd name="T1" fmla="*/ 0 h 268"/>
                <a:gd name="T2" fmla="*/ 14 w 164"/>
                <a:gd name="T3" fmla="*/ 4 h 268"/>
                <a:gd name="T4" fmla="*/ 13 w 164"/>
                <a:gd name="T5" fmla="*/ 8 h 268"/>
                <a:gd name="T6" fmla="*/ 5 w 164"/>
                <a:gd name="T7" fmla="*/ 11 h 268"/>
                <a:gd name="T8" fmla="*/ 4 w 164"/>
                <a:gd name="T9" fmla="*/ 13 h 268"/>
                <a:gd name="T10" fmla="*/ 2 w 164"/>
                <a:gd name="T11" fmla="*/ 14 h 268"/>
                <a:gd name="T12" fmla="*/ 3 w 164"/>
                <a:gd name="T13" fmla="*/ 18 h 268"/>
                <a:gd name="T14" fmla="*/ 4 w 164"/>
                <a:gd name="T15" fmla="*/ 22 h 268"/>
                <a:gd name="T16" fmla="*/ 0 w 164"/>
                <a:gd name="T17" fmla="*/ 27 h 268"/>
                <a:gd name="T18" fmla="*/ 4 w 164"/>
                <a:gd name="T19" fmla="*/ 35 h 268"/>
                <a:gd name="T20" fmla="*/ 8 w 164"/>
                <a:gd name="T21" fmla="*/ 36 h 268"/>
                <a:gd name="T22" fmla="*/ 13 w 164"/>
                <a:gd name="T23" fmla="*/ 29 h 268"/>
                <a:gd name="T24" fmla="*/ 14 w 164"/>
                <a:gd name="T25" fmla="*/ 26 h 268"/>
                <a:gd name="T26" fmla="*/ 17 w 164"/>
                <a:gd name="T27" fmla="*/ 16 h 268"/>
                <a:gd name="T28" fmla="*/ 19 w 164"/>
                <a:gd name="T29" fmla="*/ 11 h 268"/>
                <a:gd name="T30" fmla="*/ 22 w 164"/>
                <a:gd name="T31" fmla="*/ 10 h 268"/>
                <a:gd name="T32" fmla="*/ 17 w 164"/>
                <a:gd name="T33" fmla="*/ 0 h 26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64" h="268">
                  <a:moveTo>
                    <a:pt x="128" y="0"/>
                  </a:moveTo>
                  <a:cubicBezTo>
                    <a:pt x="123" y="16"/>
                    <a:pt x="120" y="23"/>
                    <a:pt x="104" y="28"/>
                  </a:cubicBezTo>
                  <a:cubicBezTo>
                    <a:pt x="102" y="35"/>
                    <a:pt x="97" y="57"/>
                    <a:pt x="88" y="64"/>
                  </a:cubicBezTo>
                  <a:cubicBezTo>
                    <a:pt x="75" y="75"/>
                    <a:pt x="51" y="74"/>
                    <a:pt x="36" y="84"/>
                  </a:cubicBezTo>
                  <a:cubicBezTo>
                    <a:pt x="33" y="88"/>
                    <a:pt x="32" y="93"/>
                    <a:pt x="28" y="96"/>
                  </a:cubicBezTo>
                  <a:cubicBezTo>
                    <a:pt x="25" y="99"/>
                    <a:pt x="17" y="96"/>
                    <a:pt x="16" y="100"/>
                  </a:cubicBezTo>
                  <a:cubicBezTo>
                    <a:pt x="14" y="110"/>
                    <a:pt x="18" y="121"/>
                    <a:pt x="20" y="132"/>
                  </a:cubicBezTo>
                  <a:cubicBezTo>
                    <a:pt x="22" y="140"/>
                    <a:pt x="28" y="156"/>
                    <a:pt x="28" y="156"/>
                  </a:cubicBezTo>
                  <a:cubicBezTo>
                    <a:pt x="13" y="166"/>
                    <a:pt x="6" y="183"/>
                    <a:pt x="0" y="200"/>
                  </a:cubicBezTo>
                  <a:cubicBezTo>
                    <a:pt x="3" y="210"/>
                    <a:pt x="19" y="254"/>
                    <a:pt x="28" y="260"/>
                  </a:cubicBezTo>
                  <a:cubicBezTo>
                    <a:pt x="35" y="264"/>
                    <a:pt x="52" y="268"/>
                    <a:pt x="52" y="268"/>
                  </a:cubicBezTo>
                  <a:cubicBezTo>
                    <a:pt x="85" y="261"/>
                    <a:pt x="79" y="244"/>
                    <a:pt x="88" y="216"/>
                  </a:cubicBezTo>
                  <a:cubicBezTo>
                    <a:pt x="91" y="207"/>
                    <a:pt x="99" y="200"/>
                    <a:pt x="104" y="192"/>
                  </a:cubicBezTo>
                  <a:cubicBezTo>
                    <a:pt x="116" y="174"/>
                    <a:pt x="121" y="136"/>
                    <a:pt x="128" y="116"/>
                  </a:cubicBezTo>
                  <a:cubicBezTo>
                    <a:pt x="131" y="108"/>
                    <a:pt x="134" y="79"/>
                    <a:pt x="140" y="76"/>
                  </a:cubicBezTo>
                  <a:cubicBezTo>
                    <a:pt x="147" y="72"/>
                    <a:pt x="156" y="73"/>
                    <a:pt x="164" y="72"/>
                  </a:cubicBezTo>
                  <a:cubicBezTo>
                    <a:pt x="158" y="19"/>
                    <a:pt x="161" y="33"/>
                    <a:pt x="1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45"/>
            <p:cNvSpPr>
              <a:spLocks/>
            </p:cNvSpPr>
            <p:nvPr/>
          </p:nvSpPr>
          <p:spPr bwMode="invGray">
            <a:xfrm>
              <a:off x="3655" y="3034"/>
              <a:ext cx="49" cy="61"/>
            </a:xfrm>
            <a:custGeom>
              <a:avLst/>
              <a:gdLst>
                <a:gd name="T0" fmla="*/ 4 w 66"/>
                <a:gd name="T1" fmla="*/ 0 h 81"/>
                <a:gd name="T2" fmla="*/ 3 w 66"/>
                <a:gd name="T3" fmla="*/ 8 h 81"/>
                <a:gd name="T4" fmla="*/ 4 w 66"/>
                <a:gd name="T5" fmla="*/ 11 h 81"/>
                <a:gd name="T6" fmla="*/ 5 w 66"/>
                <a:gd name="T7" fmla="*/ 11 h 81"/>
                <a:gd name="T8" fmla="*/ 7 w 66"/>
                <a:gd name="T9" fmla="*/ 11 h 81"/>
                <a:gd name="T10" fmla="*/ 4 w 66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6" h="81">
                  <a:moveTo>
                    <a:pt x="29" y="0"/>
                  </a:moveTo>
                  <a:cubicBezTo>
                    <a:pt x="0" y="10"/>
                    <a:pt x="20" y="38"/>
                    <a:pt x="25" y="60"/>
                  </a:cubicBezTo>
                  <a:cubicBezTo>
                    <a:pt x="26" y="65"/>
                    <a:pt x="26" y="72"/>
                    <a:pt x="29" y="76"/>
                  </a:cubicBezTo>
                  <a:cubicBezTo>
                    <a:pt x="32" y="79"/>
                    <a:pt x="37" y="79"/>
                    <a:pt x="41" y="80"/>
                  </a:cubicBezTo>
                  <a:cubicBezTo>
                    <a:pt x="46" y="79"/>
                    <a:pt x="55" y="81"/>
                    <a:pt x="57" y="76"/>
                  </a:cubicBezTo>
                  <a:cubicBezTo>
                    <a:pt x="66" y="53"/>
                    <a:pt x="45" y="16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46"/>
            <p:cNvSpPr>
              <a:spLocks/>
            </p:cNvSpPr>
            <p:nvPr/>
          </p:nvSpPr>
          <p:spPr bwMode="invGray">
            <a:xfrm>
              <a:off x="3988" y="3100"/>
              <a:ext cx="111" cy="183"/>
            </a:xfrm>
            <a:custGeom>
              <a:avLst/>
              <a:gdLst>
                <a:gd name="T0" fmla="*/ 13 w 148"/>
                <a:gd name="T1" fmla="*/ 0 h 244"/>
                <a:gd name="T2" fmla="*/ 8 w 148"/>
                <a:gd name="T3" fmla="*/ 11 h 244"/>
                <a:gd name="T4" fmla="*/ 5 w 148"/>
                <a:gd name="T5" fmla="*/ 13 h 244"/>
                <a:gd name="T6" fmla="*/ 2 w 148"/>
                <a:gd name="T7" fmla="*/ 15 h 244"/>
                <a:gd name="T8" fmla="*/ 6 w 148"/>
                <a:gd name="T9" fmla="*/ 26 h 244"/>
                <a:gd name="T10" fmla="*/ 8 w 148"/>
                <a:gd name="T11" fmla="*/ 30 h 244"/>
                <a:gd name="T12" fmla="*/ 8 w 148"/>
                <a:gd name="T13" fmla="*/ 32 h 244"/>
                <a:gd name="T14" fmla="*/ 11 w 148"/>
                <a:gd name="T15" fmla="*/ 33 h 244"/>
                <a:gd name="T16" fmla="*/ 13 w 148"/>
                <a:gd name="T17" fmla="*/ 26 h 244"/>
                <a:gd name="T18" fmla="*/ 17 w 148"/>
                <a:gd name="T19" fmla="*/ 23 h 244"/>
                <a:gd name="T20" fmla="*/ 15 w 148"/>
                <a:gd name="T21" fmla="*/ 10 h 244"/>
                <a:gd name="T22" fmla="*/ 19 w 148"/>
                <a:gd name="T23" fmla="*/ 6 h 244"/>
                <a:gd name="T24" fmla="*/ 15 w 148"/>
                <a:gd name="T25" fmla="*/ 3 h 244"/>
                <a:gd name="T26" fmla="*/ 13 w 148"/>
                <a:gd name="T27" fmla="*/ 0 h 24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8" h="244">
                  <a:moveTo>
                    <a:pt x="96" y="0"/>
                  </a:moveTo>
                  <a:cubicBezTo>
                    <a:pt x="86" y="29"/>
                    <a:pt x="70" y="55"/>
                    <a:pt x="60" y="84"/>
                  </a:cubicBezTo>
                  <a:cubicBezTo>
                    <a:pt x="57" y="92"/>
                    <a:pt x="43" y="87"/>
                    <a:pt x="36" y="92"/>
                  </a:cubicBezTo>
                  <a:cubicBezTo>
                    <a:pt x="28" y="97"/>
                    <a:pt x="12" y="108"/>
                    <a:pt x="12" y="108"/>
                  </a:cubicBezTo>
                  <a:cubicBezTo>
                    <a:pt x="0" y="144"/>
                    <a:pt x="30" y="158"/>
                    <a:pt x="40" y="188"/>
                  </a:cubicBezTo>
                  <a:cubicBezTo>
                    <a:pt x="44" y="200"/>
                    <a:pt x="45" y="213"/>
                    <a:pt x="52" y="224"/>
                  </a:cubicBezTo>
                  <a:cubicBezTo>
                    <a:pt x="55" y="228"/>
                    <a:pt x="56" y="233"/>
                    <a:pt x="60" y="236"/>
                  </a:cubicBezTo>
                  <a:cubicBezTo>
                    <a:pt x="67" y="240"/>
                    <a:pt x="84" y="244"/>
                    <a:pt x="84" y="244"/>
                  </a:cubicBezTo>
                  <a:cubicBezTo>
                    <a:pt x="111" y="235"/>
                    <a:pt x="103" y="218"/>
                    <a:pt x="96" y="196"/>
                  </a:cubicBezTo>
                  <a:cubicBezTo>
                    <a:pt x="100" y="183"/>
                    <a:pt x="124" y="168"/>
                    <a:pt x="124" y="168"/>
                  </a:cubicBezTo>
                  <a:cubicBezTo>
                    <a:pt x="148" y="132"/>
                    <a:pt x="123" y="101"/>
                    <a:pt x="112" y="68"/>
                  </a:cubicBezTo>
                  <a:cubicBezTo>
                    <a:pt x="140" y="59"/>
                    <a:pt x="133" y="68"/>
                    <a:pt x="140" y="48"/>
                  </a:cubicBezTo>
                  <a:cubicBezTo>
                    <a:pt x="136" y="35"/>
                    <a:pt x="112" y="20"/>
                    <a:pt x="112" y="20"/>
                  </a:cubicBezTo>
                  <a:cubicBezTo>
                    <a:pt x="102" y="5"/>
                    <a:pt x="107" y="11"/>
                    <a:pt x="9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47"/>
            <p:cNvSpPr>
              <a:spLocks/>
            </p:cNvSpPr>
            <p:nvPr/>
          </p:nvSpPr>
          <p:spPr bwMode="invGray">
            <a:xfrm>
              <a:off x="3894" y="3043"/>
              <a:ext cx="72" cy="137"/>
            </a:xfrm>
            <a:custGeom>
              <a:avLst/>
              <a:gdLst>
                <a:gd name="T0" fmla="*/ 6 w 96"/>
                <a:gd name="T1" fmla="*/ 1 h 183"/>
                <a:gd name="T2" fmla="*/ 8 w 96"/>
                <a:gd name="T3" fmla="*/ 4 h 183"/>
                <a:gd name="T4" fmla="*/ 8 w 96"/>
                <a:gd name="T5" fmla="*/ 7 h 183"/>
                <a:gd name="T6" fmla="*/ 8 w 96"/>
                <a:gd name="T7" fmla="*/ 12 h 183"/>
                <a:gd name="T8" fmla="*/ 10 w 96"/>
                <a:gd name="T9" fmla="*/ 14 h 183"/>
                <a:gd name="T10" fmla="*/ 10 w 96"/>
                <a:gd name="T11" fmla="*/ 16 h 183"/>
                <a:gd name="T12" fmla="*/ 8 w 96"/>
                <a:gd name="T13" fmla="*/ 12 h 183"/>
                <a:gd name="T14" fmla="*/ 5 w 96"/>
                <a:gd name="T15" fmla="*/ 10 h 183"/>
                <a:gd name="T16" fmla="*/ 2 w 96"/>
                <a:gd name="T17" fmla="*/ 10 h 183"/>
                <a:gd name="T18" fmla="*/ 2 w 96"/>
                <a:gd name="T19" fmla="*/ 13 h 183"/>
                <a:gd name="T20" fmla="*/ 6 w 96"/>
                <a:gd name="T21" fmla="*/ 15 h 183"/>
                <a:gd name="T22" fmla="*/ 8 w 96"/>
                <a:gd name="T23" fmla="*/ 18 h 183"/>
                <a:gd name="T24" fmla="*/ 10 w 96"/>
                <a:gd name="T25" fmla="*/ 18 h 183"/>
                <a:gd name="T26" fmla="*/ 11 w 96"/>
                <a:gd name="T27" fmla="*/ 19 h 183"/>
                <a:gd name="T28" fmla="*/ 13 w 96"/>
                <a:gd name="T29" fmla="*/ 23 h 183"/>
                <a:gd name="T30" fmla="*/ 11 w 96"/>
                <a:gd name="T31" fmla="*/ 16 h 183"/>
                <a:gd name="T32" fmla="*/ 11 w 96"/>
                <a:gd name="T33" fmla="*/ 12 h 183"/>
                <a:gd name="T34" fmla="*/ 10 w 96"/>
                <a:gd name="T35" fmla="*/ 7 h 183"/>
                <a:gd name="T36" fmla="*/ 8 w 96"/>
                <a:gd name="T37" fmla="*/ 5 h 183"/>
                <a:gd name="T38" fmla="*/ 8 w 96"/>
                <a:gd name="T39" fmla="*/ 2 h 183"/>
                <a:gd name="T40" fmla="*/ 6 w 96"/>
                <a:gd name="T41" fmla="*/ 1 h 18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96" h="183">
                  <a:moveTo>
                    <a:pt x="48" y="2"/>
                  </a:moveTo>
                  <a:cubicBezTo>
                    <a:pt x="47" y="4"/>
                    <a:pt x="49" y="25"/>
                    <a:pt x="51" y="35"/>
                  </a:cubicBezTo>
                  <a:cubicBezTo>
                    <a:pt x="53" y="45"/>
                    <a:pt x="58" y="53"/>
                    <a:pt x="60" y="62"/>
                  </a:cubicBezTo>
                  <a:cubicBezTo>
                    <a:pt x="62" y="71"/>
                    <a:pt x="61" y="85"/>
                    <a:pt x="62" y="92"/>
                  </a:cubicBezTo>
                  <a:cubicBezTo>
                    <a:pt x="63" y="99"/>
                    <a:pt x="67" y="99"/>
                    <a:pt x="68" y="105"/>
                  </a:cubicBezTo>
                  <a:cubicBezTo>
                    <a:pt x="69" y="111"/>
                    <a:pt x="73" y="128"/>
                    <a:pt x="71" y="126"/>
                  </a:cubicBezTo>
                  <a:cubicBezTo>
                    <a:pt x="69" y="124"/>
                    <a:pt x="63" y="101"/>
                    <a:pt x="57" y="93"/>
                  </a:cubicBezTo>
                  <a:cubicBezTo>
                    <a:pt x="51" y="85"/>
                    <a:pt x="44" y="80"/>
                    <a:pt x="35" y="78"/>
                  </a:cubicBezTo>
                  <a:cubicBezTo>
                    <a:pt x="26" y="76"/>
                    <a:pt x="10" y="79"/>
                    <a:pt x="5" y="83"/>
                  </a:cubicBezTo>
                  <a:cubicBezTo>
                    <a:pt x="0" y="87"/>
                    <a:pt x="2" y="97"/>
                    <a:pt x="8" y="102"/>
                  </a:cubicBezTo>
                  <a:cubicBezTo>
                    <a:pt x="14" y="107"/>
                    <a:pt x="33" y="109"/>
                    <a:pt x="41" y="114"/>
                  </a:cubicBezTo>
                  <a:cubicBezTo>
                    <a:pt x="49" y="119"/>
                    <a:pt x="52" y="132"/>
                    <a:pt x="57" y="135"/>
                  </a:cubicBezTo>
                  <a:cubicBezTo>
                    <a:pt x="62" y="138"/>
                    <a:pt x="68" y="133"/>
                    <a:pt x="71" y="135"/>
                  </a:cubicBezTo>
                  <a:cubicBezTo>
                    <a:pt x="74" y="137"/>
                    <a:pt x="74" y="143"/>
                    <a:pt x="78" y="150"/>
                  </a:cubicBezTo>
                  <a:cubicBezTo>
                    <a:pt x="82" y="157"/>
                    <a:pt x="96" y="183"/>
                    <a:pt x="96" y="179"/>
                  </a:cubicBezTo>
                  <a:cubicBezTo>
                    <a:pt x="96" y="175"/>
                    <a:pt x="84" y="140"/>
                    <a:pt x="81" y="126"/>
                  </a:cubicBezTo>
                  <a:cubicBezTo>
                    <a:pt x="78" y="112"/>
                    <a:pt x="82" y="104"/>
                    <a:pt x="80" y="93"/>
                  </a:cubicBezTo>
                  <a:cubicBezTo>
                    <a:pt x="78" y="82"/>
                    <a:pt x="74" y="72"/>
                    <a:pt x="71" y="63"/>
                  </a:cubicBezTo>
                  <a:cubicBezTo>
                    <a:pt x="68" y="54"/>
                    <a:pt x="65" y="48"/>
                    <a:pt x="63" y="41"/>
                  </a:cubicBezTo>
                  <a:cubicBezTo>
                    <a:pt x="61" y="34"/>
                    <a:pt x="59" y="26"/>
                    <a:pt x="57" y="20"/>
                  </a:cubicBezTo>
                  <a:cubicBezTo>
                    <a:pt x="55" y="14"/>
                    <a:pt x="49" y="0"/>
                    <a:pt x="48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48"/>
            <p:cNvSpPr>
              <a:spLocks/>
            </p:cNvSpPr>
            <p:nvPr/>
          </p:nvSpPr>
          <p:spPr bwMode="invGray">
            <a:xfrm>
              <a:off x="3943" y="3153"/>
              <a:ext cx="40" cy="131"/>
            </a:xfrm>
            <a:custGeom>
              <a:avLst/>
              <a:gdLst>
                <a:gd name="T0" fmla="*/ 1 w 54"/>
                <a:gd name="T1" fmla="*/ 0 h 175"/>
                <a:gd name="T2" fmla="*/ 0 w 54"/>
                <a:gd name="T3" fmla="*/ 3 h 175"/>
                <a:gd name="T4" fmla="*/ 1 w 54"/>
                <a:gd name="T5" fmla="*/ 7 h 175"/>
                <a:gd name="T6" fmla="*/ 2 w 54"/>
                <a:gd name="T7" fmla="*/ 12 h 175"/>
                <a:gd name="T8" fmla="*/ 4 w 54"/>
                <a:gd name="T9" fmla="*/ 17 h 175"/>
                <a:gd name="T10" fmla="*/ 7 w 54"/>
                <a:gd name="T11" fmla="*/ 23 h 175"/>
                <a:gd name="T12" fmla="*/ 5 w 54"/>
                <a:gd name="T13" fmla="*/ 15 h 175"/>
                <a:gd name="T14" fmla="*/ 4 w 54"/>
                <a:gd name="T15" fmla="*/ 12 h 175"/>
                <a:gd name="T16" fmla="*/ 4 w 54"/>
                <a:gd name="T17" fmla="*/ 7 h 175"/>
                <a:gd name="T18" fmla="*/ 3 w 54"/>
                <a:gd name="T19" fmla="*/ 5 h 175"/>
                <a:gd name="T20" fmla="*/ 2 w 54"/>
                <a:gd name="T21" fmla="*/ 5 h 175"/>
                <a:gd name="T22" fmla="*/ 1 w 54"/>
                <a:gd name="T23" fmla="*/ 0 h 17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4" h="175">
                  <a:moveTo>
                    <a:pt x="6" y="0"/>
                  </a:moveTo>
                  <a:lnTo>
                    <a:pt x="0" y="25"/>
                  </a:lnTo>
                  <a:cubicBezTo>
                    <a:pt x="3" y="48"/>
                    <a:pt x="3" y="40"/>
                    <a:pt x="9" y="54"/>
                  </a:cubicBezTo>
                  <a:cubicBezTo>
                    <a:pt x="10" y="66"/>
                    <a:pt x="12" y="83"/>
                    <a:pt x="18" y="94"/>
                  </a:cubicBezTo>
                  <a:cubicBezTo>
                    <a:pt x="21" y="109"/>
                    <a:pt x="25" y="117"/>
                    <a:pt x="34" y="129"/>
                  </a:cubicBezTo>
                  <a:cubicBezTo>
                    <a:pt x="35" y="143"/>
                    <a:pt x="35" y="171"/>
                    <a:pt x="54" y="175"/>
                  </a:cubicBezTo>
                  <a:cubicBezTo>
                    <a:pt x="52" y="133"/>
                    <a:pt x="53" y="141"/>
                    <a:pt x="40" y="115"/>
                  </a:cubicBezTo>
                  <a:cubicBezTo>
                    <a:pt x="39" y="108"/>
                    <a:pt x="37" y="100"/>
                    <a:pt x="34" y="93"/>
                  </a:cubicBezTo>
                  <a:cubicBezTo>
                    <a:pt x="33" y="82"/>
                    <a:pt x="30" y="72"/>
                    <a:pt x="28" y="61"/>
                  </a:cubicBezTo>
                  <a:cubicBezTo>
                    <a:pt x="28" y="58"/>
                    <a:pt x="28" y="50"/>
                    <a:pt x="25" y="46"/>
                  </a:cubicBezTo>
                  <a:cubicBezTo>
                    <a:pt x="22" y="43"/>
                    <a:pt x="16" y="37"/>
                    <a:pt x="16" y="37"/>
                  </a:cubicBezTo>
                  <a:cubicBezTo>
                    <a:pt x="14" y="25"/>
                    <a:pt x="13" y="9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49"/>
            <p:cNvSpPr>
              <a:spLocks/>
            </p:cNvSpPr>
            <p:nvPr/>
          </p:nvSpPr>
          <p:spPr bwMode="invGray">
            <a:xfrm>
              <a:off x="3988" y="3290"/>
              <a:ext cx="65" cy="54"/>
            </a:xfrm>
            <a:custGeom>
              <a:avLst/>
              <a:gdLst>
                <a:gd name="T0" fmla="*/ 2 w 86"/>
                <a:gd name="T1" fmla="*/ 0 h 73"/>
                <a:gd name="T2" fmla="*/ 2 w 86"/>
                <a:gd name="T3" fmla="*/ 4 h 73"/>
                <a:gd name="T4" fmla="*/ 4 w 86"/>
                <a:gd name="T5" fmla="*/ 5 h 73"/>
                <a:gd name="T6" fmla="*/ 6 w 86"/>
                <a:gd name="T7" fmla="*/ 6 h 73"/>
                <a:gd name="T8" fmla="*/ 8 w 86"/>
                <a:gd name="T9" fmla="*/ 7 h 73"/>
                <a:gd name="T10" fmla="*/ 11 w 86"/>
                <a:gd name="T11" fmla="*/ 8 h 73"/>
                <a:gd name="T12" fmla="*/ 12 w 86"/>
                <a:gd name="T13" fmla="*/ 9 h 73"/>
                <a:gd name="T14" fmla="*/ 10 w 86"/>
                <a:gd name="T15" fmla="*/ 5 h 73"/>
                <a:gd name="T16" fmla="*/ 8 w 86"/>
                <a:gd name="T17" fmla="*/ 3 h 73"/>
                <a:gd name="T18" fmla="*/ 5 w 86"/>
                <a:gd name="T19" fmla="*/ 3 h 73"/>
                <a:gd name="T20" fmla="*/ 4 w 86"/>
                <a:gd name="T21" fmla="*/ 2 h 73"/>
                <a:gd name="T22" fmla="*/ 2 w 86"/>
                <a:gd name="T23" fmla="*/ 0 h 73"/>
                <a:gd name="T24" fmla="*/ 2 w 86"/>
                <a:gd name="T25" fmla="*/ 0 h 7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6" h="73">
                  <a:moveTo>
                    <a:pt x="2" y="0"/>
                  </a:moveTo>
                  <a:cubicBezTo>
                    <a:pt x="3" y="17"/>
                    <a:pt x="0" y="23"/>
                    <a:pt x="8" y="34"/>
                  </a:cubicBezTo>
                  <a:cubicBezTo>
                    <a:pt x="10" y="43"/>
                    <a:pt x="14" y="42"/>
                    <a:pt x="23" y="43"/>
                  </a:cubicBezTo>
                  <a:cubicBezTo>
                    <a:pt x="30" y="47"/>
                    <a:pt x="40" y="48"/>
                    <a:pt x="48" y="49"/>
                  </a:cubicBezTo>
                  <a:cubicBezTo>
                    <a:pt x="53" y="51"/>
                    <a:pt x="57" y="54"/>
                    <a:pt x="62" y="57"/>
                  </a:cubicBezTo>
                  <a:cubicBezTo>
                    <a:pt x="66" y="62"/>
                    <a:pt x="68" y="64"/>
                    <a:pt x="74" y="66"/>
                  </a:cubicBezTo>
                  <a:cubicBezTo>
                    <a:pt x="78" y="72"/>
                    <a:pt x="79" y="73"/>
                    <a:pt x="86" y="69"/>
                  </a:cubicBezTo>
                  <a:cubicBezTo>
                    <a:pt x="83" y="53"/>
                    <a:pt x="80" y="52"/>
                    <a:pt x="72" y="39"/>
                  </a:cubicBezTo>
                  <a:cubicBezTo>
                    <a:pt x="68" y="34"/>
                    <a:pt x="63" y="22"/>
                    <a:pt x="63" y="22"/>
                  </a:cubicBezTo>
                  <a:cubicBezTo>
                    <a:pt x="52" y="26"/>
                    <a:pt x="48" y="26"/>
                    <a:pt x="36" y="24"/>
                  </a:cubicBezTo>
                  <a:cubicBezTo>
                    <a:pt x="24" y="15"/>
                    <a:pt x="43" y="29"/>
                    <a:pt x="24" y="19"/>
                  </a:cubicBezTo>
                  <a:cubicBezTo>
                    <a:pt x="15" y="15"/>
                    <a:pt x="16" y="2"/>
                    <a:pt x="6" y="0"/>
                  </a:cubicBezTo>
                  <a:cubicBezTo>
                    <a:pt x="1" y="4"/>
                    <a:pt x="2" y="5"/>
                    <a:pt x="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50"/>
            <p:cNvSpPr>
              <a:spLocks/>
            </p:cNvSpPr>
            <p:nvPr/>
          </p:nvSpPr>
          <p:spPr bwMode="invGray">
            <a:xfrm>
              <a:off x="4092" y="3195"/>
              <a:ext cx="83" cy="117"/>
            </a:xfrm>
            <a:custGeom>
              <a:avLst/>
              <a:gdLst>
                <a:gd name="T0" fmla="*/ 13 w 111"/>
                <a:gd name="T1" fmla="*/ 0 h 156"/>
                <a:gd name="T2" fmla="*/ 10 w 111"/>
                <a:gd name="T3" fmla="*/ 2 h 156"/>
                <a:gd name="T4" fmla="*/ 3 w 111"/>
                <a:gd name="T5" fmla="*/ 2 h 156"/>
                <a:gd name="T6" fmla="*/ 1 w 111"/>
                <a:gd name="T7" fmla="*/ 5 h 156"/>
                <a:gd name="T8" fmla="*/ 1 w 111"/>
                <a:gd name="T9" fmla="*/ 8 h 156"/>
                <a:gd name="T10" fmla="*/ 1 w 111"/>
                <a:gd name="T11" fmla="*/ 11 h 156"/>
                <a:gd name="T12" fmla="*/ 1 w 111"/>
                <a:gd name="T13" fmla="*/ 13 h 156"/>
                <a:gd name="T14" fmla="*/ 1 w 111"/>
                <a:gd name="T15" fmla="*/ 15 h 156"/>
                <a:gd name="T16" fmla="*/ 3 w 111"/>
                <a:gd name="T17" fmla="*/ 17 h 156"/>
                <a:gd name="T18" fmla="*/ 1 w 111"/>
                <a:gd name="T19" fmla="*/ 20 h 156"/>
                <a:gd name="T20" fmla="*/ 3 w 111"/>
                <a:gd name="T21" fmla="*/ 22 h 156"/>
                <a:gd name="T22" fmla="*/ 5 w 111"/>
                <a:gd name="T23" fmla="*/ 20 h 156"/>
                <a:gd name="T24" fmla="*/ 7 w 111"/>
                <a:gd name="T25" fmla="*/ 13 h 156"/>
                <a:gd name="T26" fmla="*/ 7 w 111"/>
                <a:gd name="T27" fmla="*/ 17 h 156"/>
                <a:gd name="T28" fmla="*/ 9 w 111"/>
                <a:gd name="T29" fmla="*/ 20 h 156"/>
                <a:gd name="T30" fmla="*/ 7 w 111"/>
                <a:gd name="T31" fmla="*/ 15 h 156"/>
                <a:gd name="T32" fmla="*/ 9 w 111"/>
                <a:gd name="T33" fmla="*/ 10 h 156"/>
                <a:gd name="T34" fmla="*/ 9 w 111"/>
                <a:gd name="T35" fmla="*/ 8 h 156"/>
                <a:gd name="T36" fmla="*/ 7 w 111"/>
                <a:gd name="T37" fmla="*/ 8 h 156"/>
                <a:gd name="T38" fmla="*/ 4 w 111"/>
                <a:gd name="T39" fmla="*/ 8 h 156"/>
                <a:gd name="T40" fmla="*/ 5 w 111"/>
                <a:gd name="T41" fmla="*/ 5 h 156"/>
                <a:gd name="T42" fmla="*/ 7 w 111"/>
                <a:gd name="T43" fmla="*/ 5 h 156"/>
                <a:gd name="T44" fmla="*/ 10 w 111"/>
                <a:gd name="T45" fmla="*/ 6 h 156"/>
                <a:gd name="T46" fmla="*/ 13 w 111"/>
                <a:gd name="T47" fmla="*/ 5 h 156"/>
                <a:gd name="T48" fmla="*/ 14 w 111"/>
                <a:gd name="T49" fmla="*/ 2 h 156"/>
                <a:gd name="T50" fmla="*/ 13 w 111"/>
                <a:gd name="T51" fmla="*/ 0 h 15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111" h="156">
                  <a:moveTo>
                    <a:pt x="98" y="0"/>
                  </a:moveTo>
                  <a:cubicBezTo>
                    <a:pt x="75" y="2"/>
                    <a:pt x="87" y="8"/>
                    <a:pt x="75" y="10"/>
                  </a:cubicBezTo>
                  <a:cubicBezTo>
                    <a:pt x="72" y="10"/>
                    <a:pt x="25" y="3"/>
                    <a:pt x="23" y="15"/>
                  </a:cubicBezTo>
                  <a:cubicBezTo>
                    <a:pt x="25" y="26"/>
                    <a:pt x="23" y="27"/>
                    <a:pt x="14" y="33"/>
                  </a:cubicBezTo>
                  <a:cubicBezTo>
                    <a:pt x="15" y="43"/>
                    <a:pt x="20" y="54"/>
                    <a:pt x="11" y="61"/>
                  </a:cubicBezTo>
                  <a:cubicBezTo>
                    <a:pt x="8" y="68"/>
                    <a:pt x="10" y="69"/>
                    <a:pt x="14" y="75"/>
                  </a:cubicBezTo>
                  <a:cubicBezTo>
                    <a:pt x="16" y="84"/>
                    <a:pt x="12" y="86"/>
                    <a:pt x="3" y="88"/>
                  </a:cubicBezTo>
                  <a:cubicBezTo>
                    <a:pt x="1" y="99"/>
                    <a:pt x="0" y="106"/>
                    <a:pt x="14" y="109"/>
                  </a:cubicBezTo>
                  <a:cubicBezTo>
                    <a:pt x="21" y="112"/>
                    <a:pt x="20" y="118"/>
                    <a:pt x="23" y="124"/>
                  </a:cubicBezTo>
                  <a:cubicBezTo>
                    <a:pt x="25" y="133"/>
                    <a:pt x="23" y="139"/>
                    <a:pt x="15" y="144"/>
                  </a:cubicBezTo>
                  <a:cubicBezTo>
                    <a:pt x="17" y="150"/>
                    <a:pt x="18" y="153"/>
                    <a:pt x="24" y="156"/>
                  </a:cubicBezTo>
                  <a:cubicBezTo>
                    <a:pt x="31" y="154"/>
                    <a:pt x="36" y="148"/>
                    <a:pt x="42" y="144"/>
                  </a:cubicBezTo>
                  <a:cubicBezTo>
                    <a:pt x="41" y="128"/>
                    <a:pt x="33" y="103"/>
                    <a:pt x="50" y="93"/>
                  </a:cubicBezTo>
                  <a:cubicBezTo>
                    <a:pt x="52" y="105"/>
                    <a:pt x="46" y="116"/>
                    <a:pt x="56" y="126"/>
                  </a:cubicBezTo>
                  <a:cubicBezTo>
                    <a:pt x="57" y="134"/>
                    <a:pt x="58" y="141"/>
                    <a:pt x="65" y="145"/>
                  </a:cubicBezTo>
                  <a:cubicBezTo>
                    <a:pt x="70" y="134"/>
                    <a:pt x="64" y="123"/>
                    <a:pt x="62" y="112"/>
                  </a:cubicBezTo>
                  <a:cubicBezTo>
                    <a:pt x="65" y="97"/>
                    <a:pt x="55" y="81"/>
                    <a:pt x="72" y="73"/>
                  </a:cubicBezTo>
                  <a:cubicBezTo>
                    <a:pt x="79" y="64"/>
                    <a:pt x="75" y="59"/>
                    <a:pt x="69" y="51"/>
                  </a:cubicBezTo>
                  <a:cubicBezTo>
                    <a:pt x="61" y="52"/>
                    <a:pt x="61" y="56"/>
                    <a:pt x="54" y="60"/>
                  </a:cubicBezTo>
                  <a:cubicBezTo>
                    <a:pt x="37" y="57"/>
                    <a:pt x="43" y="60"/>
                    <a:pt x="35" y="54"/>
                  </a:cubicBezTo>
                  <a:cubicBezTo>
                    <a:pt x="31" y="45"/>
                    <a:pt x="28" y="39"/>
                    <a:pt x="41" y="36"/>
                  </a:cubicBezTo>
                  <a:cubicBezTo>
                    <a:pt x="49" y="32"/>
                    <a:pt x="53" y="33"/>
                    <a:pt x="62" y="34"/>
                  </a:cubicBezTo>
                  <a:cubicBezTo>
                    <a:pt x="67" y="36"/>
                    <a:pt x="73" y="36"/>
                    <a:pt x="78" y="39"/>
                  </a:cubicBezTo>
                  <a:cubicBezTo>
                    <a:pt x="85" y="36"/>
                    <a:pt x="90" y="31"/>
                    <a:pt x="98" y="30"/>
                  </a:cubicBezTo>
                  <a:cubicBezTo>
                    <a:pt x="104" y="26"/>
                    <a:pt x="107" y="19"/>
                    <a:pt x="111" y="13"/>
                  </a:cubicBezTo>
                  <a:cubicBezTo>
                    <a:pt x="107" y="8"/>
                    <a:pt x="102" y="4"/>
                    <a:pt x="9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51"/>
            <p:cNvSpPr>
              <a:spLocks/>
            </p:cNvSpPr>
            <p:nvPr/>
          </p:nvSpPr>
          <p:spPr bwMode="invGray">
            <a:xfrm>
              <a:off x="4064" y="2777"/>
              <a:ext cx="22" cy="71"/>
            </a:xfrm>
            <a:custGeom>
              <a:avLst/>
              <a:gdLst>
                <a:gd name="T0" fmla="*/ 1 w 30"/>
                <a:gd name="T1" fmla="*/ 0 h 94"/>
                <a:gd name="T2" fmla="*/ 0 w 30"/>
                <a:gd name="T3" fmla="*/ 2 h 94"/>
                <a:gd name="T4" fmla="*/ 1 w 30"/>
                <a:gd name="T5" fmla="*/ 5 h 94"/>
                <a:gd name="T6" fmla="*/ 1 w 30"/>
                <a:gd name="T7" fmla="*/ 8 h 94"/>
                <a:gd name="T8" fmla="*/ 2 w 30"/>
                <a:gd name="T9" fmla="*/ 13 h 94"/>
                <a:gd name="T10" fmla="*/ 4 w 30"/>
                <a:gd name="T11" fmla="*/ 11 h 94"/>
                <a:gd name="T12" fmla="*/ 3 w 30"/>
                <a:gd name="T13" fmla="*/ 8 h 94"/>
                <a:gd name="T14" fmla="*/ 1 w 30"/>
                <a:gd name="T15" fmla="*/ 0 h 9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94">
                  <a:moveTo>
                    <a:pt x="12" y="0"/>
                  </a:moveTo>
                  <a:cubicBezTo>
                    <a:pt x="9" y="6"/>
                    <a:pt x="4" y="11"/>
                    <a:pt x="0" y="16"/>
                  </a:cubicBezTo>
                  <a:cubicBezTo>
                    <a:pt x="1" y="23"/>
                    <a:pt x="3" y="30"/>
                    <a:pt x="6" y="37"/>
                  </a:cubicBezTo>
                  <a:cubicBezTo>
                    <a:pt x="3" y="45"/>
                    <a:pt x="4" y="53"/>
                    <a:pt x="1" y="61"/>
                  </a:cubicBezTo>
                  <a:cubicBezTo>
                    <a:pt x="3" y="81"/>
                    <a:pt x="2" y="83"/>
                    <a:pt x="16" y="94"/>
                  </a:cubicBezTo>
                  <a:cubicBezTo>
                    <a:pt x="24" y="92"/>
                    <a:pt x="27" y="90"/>
                    <a:pt x="30" y="82"/>
                  </a:cubicBezTo>
                  <a:cubicBezTo>
                    <a:pt x="28" y="73"/>
                    <a:pt x="26" y="69"/>
                    <a:pt x="22" y="61"/>
                  </a:cubicBezTo>
                  <a:cubicBezTo>
                    <a:pt x="19" y="40"/>
                    <a:pt x="18" y="20"/>
                    <a:pt x="1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52"/>
            <p:cNvSpPr>
              <a:spLocks/>
            </p:cNvSpPr>
            <p:nvPr/>
          </p:nvSpPr>
          <p:spPr bwMode="invGray">
            <a:xfrm>
              <a:off x="4078" y="2896"/>
              <a:ext cx="61" cy="118"/>
            </a:xfrm>
            <a:custGeom>
              <a:avLst/>
              <a:gdLst>
                <a:gd name="T0" fmla="*/ 2 w 81"/>
                <a:gd name="T1" fmla="*/ 1 h 158"/>
                <a:gd name="T2" fmla="*/ 0 w 81"/>
                <a:gd name="T3" fmla="*/ 2 h 158"/>
                <a:gd name="T4" fmla="*/ 2 w 81"/>
                <a:gd name="T5" fmla="*/ 7 h 158"/>
                <a:gd name="T6" fmla="*/ 2 w 81"/>
                <a:gd name="T7" fmla="*/ 14 h 158"/>
                <a:gd name="T8" fmla="*/ 3 w 81"/>
                <a:gd name="T9" fmla="*/ 13 h 158"/>
                <a:gd name="T10" fmla="*/ 3 w 81"/>
                <a:gd name="T11" fmla="*/ 15 h 158"/>
                <a:gd name="T12" fmla="*/ 5 w 81"/>
                <a:gd name="T13" fmla="*/ 16 h 158"/>
                <a:gd name="T14" fmla="*/ 6 w 81"/>
                <a:gd name="T15" fmla="*/ 18 h 158"/>
                <a:gd name="T16" fmla="*/ 6 w 81"/>
                <a:gd name="T17" fmla="*/ 16 h 158"/>
                <a:gd name="T18" fmla="*/ 9 w 81"/>
                <a:gd name="T19" fmla="*/ 17 h 158"/>
                <a:gd name="T20" fmla="*/ 8 w 81"/>
                <a:gd name="T21" fmla="*/ 14 h 158"/>
                <a:gd name="T22" fmla="*/ 6 w 81"/>
                <a:gd name="T23" fmla="*/ 13 h 158"/>
                <a:gd name="T24" fmla="*/ 6 w 81"/>
                <a:gd name="T25" fmla="*/ 12 h 158"/>
                <a:gd name="T26" fmla="*/ 5 w 81"/>
                <a:gd name="T27" fmla="*/ 10 h 158"/>
                <a:gd name="T28" fmla="*/ 6 w 81"/>
                <a:gd name="T29" fmla="*/ 7 h 158"/>
                <a:gd name="T30" fmla="*/ 5 w 81"/>
                <a:gd name="T31" fmla="*/ 4 h 158"/>
                <a:gd name="T32" fmla="*/ 6 w 81"/>
                <a:gd name="T33" fmla="*/ 2 h 158"/>
                <a:gd name="T34" fmla="*/ 5 w 81"/>
                <a:gd name="T35" fmla="*/ 1 h 158"/>
                <a:gd name="T36" fmla="*/ 3 w 81"/>
                <a:gd name="T37" fmla="*/ 1 h 158"/>
                <a:gd name="T38" fmla="*/ 2 w 81"/>
                <a:gd name="T39" fmla="*/ 1 h 158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81" h="158">
                  <a:moveTo>
                    <a:pt x="12" y="2"/>
                  </a:moveTo>
                  <a:cubicBezTo>
                    <a:pt x="8" y="8"/>
                    <a:pt x="3" y="13"/>
                    <a:pt x="0" y="20"/>
                  </a:cubicBezTo>
                  <a:cubicBezTo>
                    <a:pt x="5" y="31"/>
                    <a:pt x="6" y="35"/>
                    <a:pt x="8" y="49"/>
                  </a:cubicBezTo>
                  <a:cubicBezTo>
                    <a:pt x="7" y="69"/>
                    <a:pt x="4" y="87"/>
                    <a:pt x="6" y="107"/>
                  </a:cubicBezTo>
                  <a:cubicBezTo>
                    <a:pt x="8" y="106"/>
                    <a:pt x="14" y="101"/>
                    <a:pt x="17" y="103"/>
                  </a:cubicBezTo>
                  <a:cubicBezTo>
                    <a:pt x="20" y="105"/>
                    <a:pt x="17" y="112"/>
                    <a:pt x="20" y="115"/>
                  </a:cubicBezTo>
                  <a:cubicBezTo>
                    <a:pt x="22" y="118"/>
                    <a:pt x="29" y="122"/>
                    <a:pt x="29" y="122"/>
                  </a:cubicBezTo>
                  <a:cubicBezTo>
                    <a:pt x="29" y="133"/>
                    <a:pt x="27" y="158"/>
                    <a:pt x="38" y="140"/>
                  </a:cubicBezTo>
                  <a:cubicBezTo>
                    <a:pt x="39" y="133"/>
                    <a:pt x="41" y="131"/>
                    <a:pt x="48" y="128"/>
                  </a:cubicBezTo>
                  <a:cubicBezTo>
                    <a:pt x="55" y="130"/>
                    <a:pt x="59" y="133"/>
                    <a:pt x="65" y="134"/>
                  </a:cubicBezTo>
                  <a:cubicBezTo>
                    <a:pt x="81" y="131"/>
                    <a:pt x="76" y="112"/>
                    <a:pt x="63" y="109"/>
                  </a:cubicBezTo>
                  <a:cubicBezTo>
                    <a:pt x="58" y="107"/>
                    <a:pt x="53" y="106"/>
                    <a:pt x="48" y="104"/>
                  </a:cubicBezTo>
                  <a:cubicBezTo>
                    <a:pt x="45" y="100"/>
                    <a:pt x="42" y="95"/>
                    <a:pt x="39" y="91"/>
                  </a:cubicBezTo>
                  <a:cubicBezTo>
                    <a:pt x="38" y="85"/>
                    <a:pt x="36" y="79"/>
                    <a:pt x="33" y="73"/>
                  </a:cubicBezTo>
                  <a:cubicBezTo>
                    <a:pt x="31" y="64"/>
                    <a:pt x="33" y="58"/>
                    <a:pt x="41" y="53"/>
                  </a:cubicBezTo>
                  <a:cubicBezTo>
                    <a:pt x="48" y="44"/>
                    <a:pt x="47" y="38"/>
                    <a:pt x="35" y="35"/>
                  </a:cubicBezTo>
                  <a:cubicBezTo>
                    <a:pt x="36" y="28"/>
                    <a:pt x="39" y="26"/>
                    <a:pt x="42" y="20"/>
                  </a:cubicBezTo>
                  <a:cubicBezTo>
                    <a:pt x="41" y="13"/>
                    <a:pt x="35" y="8"/>
                    <a:pt x="29" y="4"/>
                  </a:cubicBezTo>
                  <a:cubicBezTo>
                    <a:pt x="25" y="9"/>
                    <a:pt x="23" y="13"/>
                    <a:pt x="18" y="7"/>
                  </a:cubicBezTo>
                  <a:cubicBezTo>
                    <a:pt x="17" y="0"/>
                    <a:pt x="19" y="2"/>
                    <a:pt x="12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53"/>
            <p:cNvSpPr>
              <a:spLocks/>
            </p:cNvSpPr>
            <p:nvPr/>
          </p:nvSpPr>
          <p:spPr bwMode="invGray">
            <a:xfrm>
              <a:off x="4121" y="3052"/>
              <a:ext cx="64" cy="79"/>
            </a:xfrm>
            <a:custGeom>
              <a:avLst/>
              <a:gdLst>
                <a:gd name="T0" fmla="*/ 8 w 85"/>
                <a:gd name="T1" fmla="*/ 0 h 105"/>
                <a:gd name="T2" fmla="*/ 6 w 85"/>
                <a:gd name="T3" fmla="*/ 3 h 105"/>
                <a:gd name="T4" fmla="*/ 5 w 85"/>
                <a:gd name="T5" fmla="*/ 5 h 105"/>
                <a:gd name="T6" fmla="*/ 2 w 85"/>
                <a:gd name="T7" fmla="*/ 5 h 105"/>
                <a:gd name="T8" fmla="*/ 2 w 85"/>
                <a:gd name="T9" fmla="*/ 6 h 105"/>
                <a:gd name="T10" fmla="*/ 2 w 85"/>
                <a:gd name="T11" fmla="*/ 11 h 105"/>
                <a:gd name="T12" fmla="*/ 2 w 85"/>
                <a:gd name="T13" fmla="*/ 10 h 105"/>
                <a:gd name="T14" fmla="*/ 4 w 85"/>
                <a:gd name="T15" fmla="*/ 8 h 105"/>
                <a:gd name="T16" fmla="*/ 5 w 85"/>
                <a:gd name="T17" fmla="*/ 10 h 105"/>
                <a:gd name="T18" fmla="*/ 8 w 85"/>
                <a:gd name="T19" fmla="*/ 14 h 105"/>
                <a:gd name="T20" fmla="*/ 10 w 85"/>
                <a:gd name="T21" fmla="*/ 10 h 105"/>
                <a:gd name="T22" fmla="*/ 11 w 85"/>
                <a:gd name="T23" fmla="*/ 10 h 105"/>
                <a:gd name="T24" fmla="*/ 11 w 85"/>
                <a:gd name="T25" fmla="*/ 6 h 105"/>
                <a:gd name="T26" fmla="*/ 8 w 85"/>
                <a:gd name="T27" fmla="*/ 0 h 105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85" h="105">
                  <a:moveTo>
                    <a:pt x="52" y="0"/>
                  </a:moveTo>
                  <a:cubicBezTo>
                    <a:pt x="50" y="6"/>
                    <a:pt x="47" y="12"/>
                    <a:pt x="44" y="18"/>
                  </a:cubicBezTo>
                  <a:cubicBezTo>
                    <a:pt x="43" y="28"/>
                    <a:pt x="42" y="28"/>
                    <a:pt x="32" y="30"/>
                  </a:cubicBezTo>
                  <a:cubicBezTo>
                    <a:pt x="27" y="33"/>
                    <a:pt x="21" y="33"/>
                    <a:pt x="16" y="35"/>
                  </a:cubicBezTo>
                  <a:cubicBezTo>
                    <a:pt x="13" y="39"/>
                    <a:pt x="11" y="44"/>
                    <a:pt x="8" y="48"/>
                  </a:cubicBezTo>
                  <a:cubicBezTo>
                    <a:pt x="4" y="66"/>
                    <a:pt x="0" y="42"/>
                    <a:pt x="4" y="74"/>
                  </a:cubicBezTo>
                  <a:cubicBezTo>
                    <a:pt x="7" y="73"/>
                    <a:pt x="10" y="73"/>
                    <a:pt x="13" y="71"/>
                  </a:cubicBezTo>
                  <a:cubicBezTo>
                    <a:pt x="19" y="67"/>
                    <a:pt x="17" y="64"/>
                    <a:pt x="25" y="62"/>
                  </a:cubicBezTo>
                  <a:cubicBezTo>
                    <a:pt x="32" y="59"/>
                    <a:pt x="31" y="64"/>
                    <a:pt x="34" y="69"/>
                  </a:cubicBezTo>
                  <a:cubicBezTo>
                    <a:pt x="37" y="82"/>
                    <a:pt x="44" y="96"/>
                    <a:pt x="58" y="99"/>
                  </a:cubicBezTo>
                  <a:cubicBezTo>
                    <a:pt x="70" y="105"/>
                    <a:pt x="60" y="78"/>
                    <a:pt x="71" y="72"/>
                  </a:cubicBezTo>
                  <a:cubicBezTo>
                    <a:pt x="78" y="74"/>
                    <a:pt x="80" y="74"/>
                    <a:pt x="85" y="68"/>
                  </a:cubicBezTo>
                  <a:cubicBezTo>
                    <a:pt x="82" y="56"/>
                    <a:pt x="80" y="49"/>
                    <a:pt x="74" y="39"/>
                  </a:cubicBezTo>
                  <a:cubicBezTo>
                    <a:pt x="73" y="6"/>
                    <a:pt x="80" y="6"/>
                    <a:pt x="52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Freeform 54"/>
            <p:cNvSpPr>
              <a:spLocks/>
            </p:cNvSpPr>
            <p:nvPr/>
          </p:nvSpPr>
          <p:spPr bwMode="invGray">
            <a:xfrm>
              <a:off x="4197" y="3193"/>
              <a:ext cx="29" cy="49"/>
            </a:xfrm>
            <a:custGeom>
              <a:avLst/>
              <a:gdLst>
                <a:gd name="T0" fmla="*/ 2 w 38"/>
                <a:gd name="T1" fmla="*/ 3 h 66"/>
                <a:gd name="T2" fmla="*/ 4 w 38"/>
                <a:gd name="T3" fmla="*/ 8 h 66"/>
                <a:gd name="T4" fmla="*/ 5 w 38"/>
                <a:gd name="T5" fmla="*/ 7 h 66"/>
                <a:gd name="T6" fmla="*/ 6 w 38"/>
                <a:gd name="T7" fmla="*/ 5 h 66"/>
                <a:gd name="T8" fmla="*/ 5 w 38"/>
                <a:gd name="T9" fmla="*/ 3 h 66"/>
                <a:gd name="T10" fmla="*/ 3 w 38"/>
                <a:gd name="T11" fmla="*/ 1 h 66"/>
                <a:gd name="T12" fmla="*/ 2 w 38"/>
                <a:gd name="T13" fmla="*/ 1 h 66"/>
                <a:gd name="T14" fmla="*/ 2 w 38"/>
                <a:gd name="T15" fmla="*/ 1 h 66"/>
                <a:gd name="T16" fmla="*/ 2 w 38"/>
                <a:gd name="T17" fmla="*/ 3 h 6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8" h="66">
                  <a:moveTo>
                    <a:pt x="6" y="27"/>
                  </a:moveTo>
                  <a:cubicBezTo>
                    <a:pt x="8" y="52"/>
                    <a:pt x="5" y="58"/>
                    <a:pt x="26" y="66"/>
                  </a:cubicBezTo>
                  <a:cubicBezTo>
                    <a:pt x="36" y="63"/>
                    <a:pt x="33" y="61"/>
                    <a:pt x="30" y="52"/>
                  </a:cubicBezTo>
                  <a:cubicBezTo>
                    <a:pt x="28" y="41"/>
                    <a:pt x="34" y="49"/>
                    <a:pt x="38" y="40"/>
                  </a:cubicBezTo>
                  <a:cubicBezTo>
                    <a:pt x="34" y="35"/>
                    <a:pt x="33" y="30"/>
                    <a:pt x="30" y="25"/>
                  </a:cubicBezTo>
                  <a:cubicBezTo>
                    <a:pt x="29" y="14"/>
                    <a:pt x="30" y="0"/>
                    <a:pt x="20" y="13"/>
                  </a:cubicBezTo>
                  <a:cubicBezTo>
                    <a:pt x="14" y="9"/>
                    <a:pt x="12" y="8"/>
                    <a:pt x="11" y="1"/>
                  </a:cubicBezTo>
                  <a:cubicBezTo>
                    <a:pt x="5" y="4"/>
                    <a:pt x="3" y="5"/>
                    <a:pt x="2" y="12"/>
                  </a:cubicBezTo>
                  <a:cubicBezTo>
                    <a:pt x="3" y="25"/>
                    <a:pt x="0" y="21"/>
                    <a:pt x="6" y="2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Freeform 55"/>
            <p:cNvSpPr>
              <a:spLocks/>
            </p:cNvSpPr>
            <p:nvPr/>
          </p:nvSpPr>
          <p:spPr bwMode="invGray">
            <a:xfrm>
              <a:off x="4181" y="3275"/>
              <a:ext cx="18" cy="17"/>
            </a:xfrm>
            <a:custGeom>
              <a:avLst/>
              <a:gdLst>
                <a:gd name="T0" fmla="*/ 0 w 24"/>
                <a:gd name="T1" fmla="*/ 0 h 23"/>
                <a:gd name="T2" fmla="*/ 2 w 24"/>
                <a:gd name="T3" fmla="*/ 3 h 23"/>
                <a:gd name="T4" fmla="*/ 4 w 24"/>
                <a:gd name="T5" fmla="*/ 1 h 23"/>
                <a:gd name="T6" fmla="*/ 0 w 2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23">
                  <a:moveTo>
                    <a:pt x="0" y="0"/>
                  </a:moveTo>
                  <a:cubicBezTo>
                    <a:pt x="1" y="8"/>
                    <a:pt x="3" y="16"/>
                    <a:pt x="6" y="23"/>
                  </a:cubicBezTo>
                  <a:cubicBezTo>
                    <a:pt x="19" y="20"/>
                    <a:pt x="19" y="22"/>
                    <a:pt x="24" y="11"/>
                  </a:cubicBezTo>
                  <a:cubicBezTo>
                    <a:pt x="20" y="0"/>
                    <a:pt x="4" y="8"/>
                    <a:pt x="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Freeform 56"/>
            <p:cNvSpPr>
              <a:spLocks/>
            </p:cNvSpPr>
            <p:nvPr/>
          </p:nvSpPr>
          <p:spPr bwMode="invGray">
            <a:xfrm>
              <a:off x="4208" y="3265"/>
              <a:ext cx="45" cy="37"/>
            </a:xfrm>
            <a:custGeom>
              <a:avLst/>
              <a:gdLst>
                <a:gd name="T0" fmla="*/ 2 w 60"/>
                <a:gd name="T1" fmla="*/ 0 h 49"/>
                <a:gd name="T2" fmla="*/ 0 w 60"/>
                <a:gd name="T3" fmla="*/ 3 h 49"/>
                <a:gd name="T4" fmla="*/ 4 w 60"/>
                <a:gd name="T5" fmla="*/ 5 h 49"/>
                <a:gd name="T6" fmla="*/ 6 w 60"/>
                <a:gd name="T7" fmla="*/ 6 h 49"/>
                <a:gd name="T8" fmla="*/ 8 w 60"/>
                <a:gd name="T9" fmla="*/ 6 h 49"/>
                <a:gd name="T10" fmla="*/ 7 w 60"/>
                <a:gd name="T11" fmla="*/ 4 h 49"/>
                <a:gd name="T12" fmla="*/ 4 w 60"/>
                <a:gd name="T13" fmla="*/ 2 h 49"/>
                <a:gd name="T14" fmla="*/ 3 w 60"/>
                <a:gd name="T15" fmla="*/ 2 h 49"/>
                <a:gd name="T16" fmla="*/ 2 w 60"/>
                <a:gd name="T17" fmla="*/ 0 h 4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9">
                  <a:moveTo>
                    <a:pt x="9" y="0"/>
                  </a:moveTo>
                  <a:cubicBezTo>
                    <a:pt x="8" y="7"/>
                    <a:pt x="0" y="18"/>
                    <a:pt x="0" y="18"/>
                  </a:cubicBezTo>
                  <a:cubicBezTo>
                    <a:pt x="2" y="36"/>
                    <a:pt x="9" y="31"/>
                    <a:pt x="28" y="33"/>
                  </a:cubicBezTo>
                  <a:cubicBezTo>
                    <a:pt x="33" y="40"/>
                    <a:pt x="33" y="44"/>
                    <a:pt x="42" y="46"/>
                  </a:cubicBezTo>
                  <a:cubicBezTo>
                    <a:pt x="49" y="49"/>
                    <a:pt x="56" y="49"/>
                    <a:pt x="60" y="42"/>
                  </a:cubicBezTo>
                  <a:cubicBezTo>
                    <a:pt x="58" y="32"/>
                    <a:pt x="59" y="26"/>
                    <a:pt x="49" y="24"/>
                  </a:cubicBezTo>
                  <a:cubicBezTo>
                    <a:pt x="47" y="12"/>
                    <a:pt x="41" y="5"/>
                    <a:pt x="28" y="3"/>
                  </a:cubicBezTo>
                  <a:cubicBezTo>
                    <a:pt x="23" y="10"/>
                    <a:pt x="30" y="23"/>
                    <a:pt x="19" y="16"/>
                  </a:cubicBezTo>
                  <a:cubicBezTo>
                    <a:pt x="17" y="6"/>
                    <a:pt x="20" y="0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Freeform 57"/>
            <p:cNvSpPr>
              <a:spLocks/>
            </p:cNvSpPr>
            <p:nvPr/>
          </p:nvSpPr>
          <p:spPr bwMode="invGray">
            <a:xfrm>
              <a:off x="4277" y="3335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Freeform 58"/>
            <p:cNvSpPr>
              <a:spLocks/>
            </p:cNvSpPr>
            <p:nvPr/>
          </p:nvSpPr>
          <p:spPr bwMode="invGray">
            <a:xfrm>
              <a:off x="4544" y="3293"/>
              <a:ext cx="46" cy="47"/>
            </a:xfrm>
            <a:custGeom>
              <a:avLst/>
              <a:gdLst>
                <a:gd name="T0" fmla="*/ 2 w 61"/>
                <a:gd name="T1" fmla="*/ 0 h 63"/>
                <a:gd name="T2" fmla="*/ 0 w 61"/>
                <a:gd name="T3" fmla="*/ 1 h 63"/>
                <a:gd name="T4" fmla="*/ 4 w 61"/>
                <a:gd name="T5" fmla="*/ 4 h 63"/>
                <a:gd name="T6" fmla="*/ 5 w 61"/>
                <a:gd name="T7" fmla="*/ 7 h 63"/>
                <a:gd name="T8" fmla="*/ 6 w 61"/>
                <a:gd name="T9" fmla="*/ 7 h 63"/>
                <a:gd name="T10" fmla="*/ 8 w 61"/>
                <a:gd name="T11" fmla="*/ 7 h 63"/>
                <a:gd name="T12" fmla="*/ 5 w 61"/>
                <a:gd name="T13" fmla="*/ 2 h 63"/>
                <a:gd name="T14" fmla="*/ 2 w 61"/>
                <a:gd name="T15" fmla="*/ 0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1" h="63">
                  <a:moveTo>
                    <a:pt x="7" y="0"/>
                  </a:moveTo>
                  <a:cubicBezTo>
                    <a:pt x="6" y="6"/>
                    <a:pt x="3" y="9"/>
                    <a:pt x="0" y="14"/>
                  </a:cubicBezTo>
                  <a:cubicBezTo>
                    <a:pt x="7" y="23"/>
                    <a:pt x="13" y="31"/>
                    <a:pt x="24" y="35"/>
                  </a:cubicBezTo>
                  <a:cubicBezTo>
                    <a:pt x="27" y="42"/>
                    <a:pt x="31" y="48"/>
                    <a:pt x="36" y="54"/>
                  </a:cubicBezTo>
                  <a:cubicBezTo>
                    <a:pt x="37" y="61"/>
                    <a:pt x="40" y="59"/>
                    <a:pt x="46" y="63"/>
                  </a:cubicBezTo>
                  <a:cubicBezTo>
                    <a:pt x="54" y="62"/>
                    <a:pt x="56" y="62"/>
                    <a:pt x="61" y="56"/>
                  </a:cubicBezTo>
                  <a:cubicBezTo>
                    <a:pt x="59" y="46"/>
                    <a:pt x="42" y="23"/>
                    <a:pt x="33" y="17"/>
                  </a:cubicBezTo>
                  <a:cubicBezTo>
                    <a:pt x="23" y="10"/>
                    <a:pt x="14" y="9"/>
                    <a:pt x="7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Freeform 59"/>
            <p:cNvSpPr>
              <a:spLocks/>
            </p:cNvSpPr>
            <p:nvPr/>
          </p:nvSpPr>
          <p:spPr bwMode="invGray">
            <a:xfrm>
              <a:off x="4147" y="3352"/>
              <a:ext cx="46" cy="50"/>
            </a:xfrm>
            <a:custGeom>
              <a:avLst/>
              <a:gdLst>
                <a:gd name="T0" fmla="*/ 4 w 61"/>
                <a:gd name="T1" fmla="*/ 1 h 67"/>
                <a:gd name="T2" fmla="*/ 5 w 61"/>
                <a:gd name="T3" fmla="*/ 4 h 67"/>
                <a:gd name="T4" fmla="*/ 2 w 61"/>
                <a:gd name="T5" fmla="*/ 5 h 67"/>
                <a:gd name="T6" fmla="*/ 4 w 61"/>
                <a:gd name="T7" fmla="*/ 9 h 67"/>
                <a:gd name="T8" fmla="*/ 6 w 61"/>
                <a:gd name="T9" fmla="*/ 7 h 67"/>
                <a:gd name="T10" fmla="*/ 8 w 61"/>
                <a:gd name="T11" fmla="*/ 5 h 67"/>
                <a:gd name="T12" fmla="*/ 8 w 61"/>
                <a:gd name="T13" fmla="*/ 4 h 67"/>
                <a:gd name="T14" fmla="*/ 8 w 61"/>
                <a:gd name="T15" fmla="*/ 1 h 67"/>
                <a:gd name="T16" fmla="*/ 8 w 61"/>
                <a:gd name="T17" fmla="*/ 1 h 67"/>
                <a:gd name="T18" fmla="*/ 6 w 61"/>
                <a:gd name="T19" fmla="*/ 1 h 67"/>
                <a:gd name="T20" fmla="*/ 8 w 61"/>
                <a:gd name="T21" fmla="*/ 1 h 67"/>
                <a:gd name="T22" fmla="*/ 7 w 61"/>
                <a:gd name="T23" fmla="*/ 2 h 67"/>
                <a:gd name="T24" fmla="*/ 6 w 61"/>
                <a:gd name="T25" fmla="*/ 3 h 67"/>
                <a:gd name="T26" fmla="*/ 4 w 61"/>
                <a:gd name="T27" fmla="*/ 1 h 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61" h="67">
                  <a:moveTo>
                    <a:pt x="28" y="7"/>
                  </a:moveTo>
                  <a:cubicBezTo>
                    <a:pt x="17" y="15"/>
                    <a:pt x="24" y="25"/>
                    <a:pt x="30" y="34"/>
                  </a:cubicBezTo>
                  <a:cubicBezTo>
                    <a:pt x="27" y="44"/>
                    <a:pt x="26" y="44"/>
                    <a:pt x="16" y="43"/>
                  </a:cubicBezTo>
                  <a:cubicBezTo>
                    <a:pt x="0" y="46"/>
                    <a:pt x="13" y="63"/>
                    <a:pt x="22" y="67"/>
                  </a:cubicBezTo>
                  <a:cubicBezTo>
                    <a:pt x="31" y="65"/>
                    <a:pt x="39" y="60"/>
                    <a:pt x="48" y="58"/>
                  </a:cubicBezTo>
                  <a:cubicBezTo>
                    <a:pt x="51" y="52"/>
                    <a:pt x="54" y="50"/>
                    <a:pt x="60" y="47"/>
                  </a:cubicBezTo>
                  <a:cubicBezTo>
                    <a:pt x="61" y="40"/>
                    <a:pt x="51" y="28"/>
                    <a:pt x="51" y="28"/>
                  </a:cubicBezTo>
                  <a:cubicBezTo>
                    <a:pt x="52" y="22"/>
                    <a:pt x="55" y="19"/>
                    <a:pt x="57" y="14"/>
                  </a:cubicBezTo>
                  <a:cubicBezTo>
                    <a:pt x="56" y="10"/>
                    <a:pt x="58" y="5"/>
                    <a:pt x="55" y="2"/>
                  </a:cubicBezTo>
                  <a:cubicBezTo>
                    <a:pt x="53" y="0"/>
                    <a:pt x="48" y="2"/>
                    <a:pt x="46" y="4"/>
                  </a:cubicBezTo>
                  <a:cubicBezTo>
                    <a:pt x="45" y="5"/>
                    <a:pt x="49" y="5"/>
                    <a:pt x="51" y="5"/>
                  </a:cubicBezTo>
                  <a:cubicBezTo>
                    <a:pt x="57" y="10"/>
                    <a:pt x="52" y="9"/>
                    <a:pt x="49" y="16"/>
                  </a:cubicBezTo>
                  <a:cubicBezTo>
                    <a:pt x="58" y="23"/>
                    <a:pt x="50" y="22"/>
                    <a:pt x="43" y="23"/>
                  </a:cubicBezTo>
                  <a:cubicBezTo>
                    <a:pt x="34" y="22"/>
                    <a:pt x="31" y="16"/>
                    <a:pt x="28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Freeform 60"/>
            <p:cNvSpPr>
              <a:spLocks/>
            </p:cNvSpPr>
            <p:nvPr/>
          </p:nvSpPr>
          <p:spPr bwMode="invGray">
            <a:xfrm>
              <a:off x="4098" y="3371"/>
              <a:ext cx="32" cy="27"/>
            </a:xfrm>
            <a:custGeom>
              <a:avLst/>
              <a:gdLst>
                <a:gd name="T0" fmla="*/ 3 w 43"/>
                <a:gd name="T1" fmla="*/ 2 h 36"/>
                <a:gd name="T2" fmla="*/ 1 w 43"/>
                <a:gd name="T3" fmla="*/ 2 h 36"/>
                <a:gd name="T4" fmla="*/ 4 w 43"/>
                <a:gd name="T5" fmla="*/ 5 h 36"/>
                <a:gd name="T6" fmla="*/ 5 w 43"/>
                <a:gd name="T7" fmla="*/ 5 h 36"/>
                <a:gd name="T8" fmla="*/ 3 w 43"/>
                <a:gd name="T9" fmla="*/ 2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6">
                  <a:moveTo>
                    <a:pt x="21" y="3"/>
                  </a:moveTo>
                  <a:cubicBezTo>
                    <a:pt x="14" y="0"/>
                    <a:pt x="12" y="2"/>
                    <a:pt x="6" y="6"/>
                  </a:cubicBezTo>
                  <a:cubicBezTo>
                    <a:pt x="0" y="17"/>
                    <a:pt x="23" y="32"/>
                    <a:pt x="33" y="36"/>
                  </a:cubicBezTo>
                  <a:cubicBezTo>
                    <a:pt x="36" y="35"/>
                    <a:pt x="42" y="34"/>
                    <a:pt x="42" y="30"/>
                  </a:cubicBezTo>
                  <a:cubicBezTo>
                    <a:pt x="43" y="24"/>
                    <a:pt x="27" y="3"/>
                    <a:pt x="21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Freeform 61"/>
            <p:cNvSpPr>
              <a:spLocks/>
            </p:cNvSpPr>
            <p:nvPr/>
          </p:nvSpPr>
          <p:spPr bwMode="invGray">
            <a:xfrm>
              <a:off x="4077" y="3342"/>
              <a:ext cx="24" cy="31"/>
            </a:xfrm>
            <a:custGeom>
              <a:avLst/>
              <a:gdLst>
                <a:gd name="T0" fmla="*/ 3 w 32"/>
                <a:gd name="T1" fmla="*/ 0 h 41"/>
                <a:gd name="T2" fmla="*/ 0 w 32"/>
                <a:gd name="T3" fmla="*/ 4 h 41"/>
                <a:gd name="T4" fmla="*/ 2 w 32"/>
                <a:gd name="T5" fmla="*/ 4 h 41"/>
                <a:gd name="T6" fmla="*/ 3 w 32"/>
                <a:gd name="T7" fmla="*/ 5 h 41"/>
                <a:gd name="T8" fmla="*/ 2 w 32"/>
                <a:gd name="T9" fmla="*/ 5 h 41"/>
                <a:gd name="T10" fmla="*/ 5 w 32"/>
                <a:gd name="T11" fmla="*/ 3 h 41"/>
                <a:gd name="T12" fmla="*/ 4 w 32"/>
                <a:gd name="T13" fmla="*/ 2 h 41"/>
                <a:gd name="T14" fmla="*/ 3 w 32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41">
                  <a:moveTo>
                    <a:pt x="21" y="0"/>
                  </a:moveTo>
                  <a:cubicBezTo>
                    <a:pt x="15" y="10"/>
                    <a:pt x="6" y="16"/>
                    <a:pt x="0" y="26"/>
                  </a:cubicBezTo>
                  <a:cubicBezTo>
                    <a:pt x="7" y="27"/>
                    <a:pt x="10" y="27"/>
                    <a:pt x="16" y="24"/>
                  </a:cubicBezTo>
                  <a:cubicBezTo>
                    <a:pt x="17" y="26"/>
                    <a:pt x="19" y="27"/>
                    <a:pt x="19" y="29"/>
                  </a:cubicBezTo>
                  <a:cubicBezTo>
                    <a:pt x="19" y="31"/>
                    <a:pt x="15" y="33"/>
                    <a:pt x="16" y="35"/>
                  </a:cubicBezTo>
                  <a:cubicBezTo>
                    <a:pt x="19" y="41"/>
                    <a:pt x="29" y="23"/>
                    <a:pt x="30" y="21"/>
                  </a:cubicBezTo>
                  <a:cubicBezTo>
                    <a:pt x="32" y="9"/>
                    <a:pt x="26" y="19"/>
                    <a:pt x="24" y="9"/>
                  </a:cubicBezTo>
                  <a:cubicBezTo>
                    <a:pt x="25" y="1"/>
                    <a:pt x="27" y="4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Freeform 62"/>
            <p:cNvSpPr>
              <a:spLocks/>
            </p:cNvSpPr>
            <p:nvPr/>
          </p:nvSpPr>
          <p:spPr bwMode="invGray">
            <a:xfrm>
              <a:off x="4111" y="3353"/>
              <a:ext cx="34" cy="24"/>
            </a:xfrm>
            <a:custGeom>
              <a:avLst/>
              <a:gdLst>
                <a:gd name="T0" fmla="*/ 3 w 45"/>
                <a:gd name="T1" fmla="*/ 0 h 32"/>
                <a:gd name="T2" fmla="*/ 0 w 45"/>
                <a:gd name="T3" fmla="*/ 2 h 32"/>
                <a:gd name="T4" fmla="*/ 4 w 45"/>
                <a:gd name="T5" fmla="*/ 5 h 32"/>
                <a:gd name="T6" fmla="*/ 6 w 45"/>
                <a:gd name="T7" fmla="*/ 4 h 32"/>
                <a:gd name="T8" fmla="*/ 4 w 45"/>
                <a:gd name="T9" fmla="*/ 2 h 32"/>
                <a:gd name="T10" fmla="*/ 3 w 4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32">
                  <a:moveTo>
                    <a:pt x="21" y="0"/>
                  </a:moveTo>
                  <a:cubicBezTo>
                    <a:pt x="10" y="1"/>
                    <a:pt x="8" y="1"/>
                    <a:pt x="0" y="7"/>
                  </a:cubicBezTo>
                  <a:cubicBezTo>
                    <a:pt x="3" y="20"/>
                    <a:pt x="15" y="29"/>
                    <a:pt x="27" y="31"/>
                  </a:cubicBezTo>
                  <a:cubicBezTo>
                    <a:pt x="36" y="30"/>
                    <a:pt x="41" y="32"/>
                    <a:pt x="45" y="24"/>
                  </a:cubicBezTo>
                  <a:cubicBezTo>
                    <a:pt x="32" y="16"/>
                    <a:pt x="30" y="23"/>
                    <a:pt x="22" y="10"/>
                  </a:cubicBezTo>
                  <a:cubicBezTo>
                    <a:pt x="21" y="2"/>
                    <a:pt x="21" y="5"/>
                    <a:pt x="2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5" name="Freeform 63"/>
            <p:cNvSpPr>
              <a:spLocks/>
            </p:cNvSpPr>
            <p:nvPr/>
          </p:nvSpPr>
          <p:spPr bwMode="invGray">
            <a:xfrm>
              <a:off x="4062" y="3021"/>
              <a:ext cx="27" cy="55"/>
            </a:xfrm>
            <a:custGeom>
              <a:avLst/>
              <a:gdLst>
                <a:gd name="T0" fmla="*/ 5 w 35"/>
                <a:gd name="T1" fmla="*/ 0 h 74"/>
                <a:gd name="T2" fmla="*/ 3 w 35"/>
                <a:gd name="T3" fmla="*/ 1 h 74"/>
                <a:gd name="T4" fmla="*/ 2 w 35"/>
                <a:gd name="T5" fmla="*/ 4 h 74"/>
                <a:gd name="T6" fmla="*/ 0 w 35"/>
                <a:gd name="T7" fmla="*/ 7 h 74"/>
                <a:gd name="T8" fmla="*/ 2 w 35"/>
                <a:gd name="T9" fmla="*/ 9 h 74"/>
                <a:gd name="T10" fmla="*/ 3 w 35"/>
                <a:gd name="T11" fmla="*/ 7 h 74"/>
                <a:gd name="T12" fmla="*/ 5 w 35"/>
                <a:gd name="T13" fmla="*/ 4 h 74"/>
                <a:gd name="T14" fmla="*/ 5 w 35"/>
                <a:gd name="T15" fmla="*/ 0 h 7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74">
                  <a:moveTo>
                    <a:pt x="30" y="0"/>
                  </a:moveTo>
                  <a:cubicBezTo>
                    <a:pt x="33" y="8"/>
                    <a:pt x="29" y="14"/>
                    <a:pt x="21" y="15"/>
                  </a:cubicBezTo>
                  <a:cubicBezTo>
                    <a:pt x="19" y="27"/>
                    <a:pt x="24" y="33"/>
                    <a:pt x="9" y="36"/>
                  </a:cubicBezTo>
                  <a:cubicBezTo>
                    <a:pt x="13" y="50"/>
                    <a:pt x="12" y="52"/>
                    <a:pt x="0" y="59"/>
                  </a:cubicBezTo>
                  <a:cubicBezTo>
                    <a:pt x="3" y="64"/>
                    <a:pt x="5" y="69"/>
                    <a:pt x="8" y="74"/>
                  </a:cubicBezTo>
                  <a:cubicBezTo>
                    <a:pt x="15" y="71"/>
                    <a:pt x="16" y="65"/>
                    <a:pt x="20" y="59"/>
                  </a:cubicBezTo>
                  <a:cubicBezTo>
                    <a:pt x="22" y="47"/>
                    <a:pt x="28" y="41"/>
                    <a:pt x="35" y="32"/>
                  </a:cubicBezTo>
                  <a:cubicBezTo>
                    <a:pt x="34" y="26"/>
                    <a:pt x="30" y="8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6" name="Freeform 64"/>
            <p:cNvSpPr>
              <a:spLocks/>
            </p:cNvSpPr>
            <p:nvPr/>
          </p:nvSpPr>
          <p:spPr bwMode="invGray">
            <a:xfrm>
              <a:off x="4113" y="3012"/>
              <a:ext cx="19" cy="55"/>
            </a:xfrm>
            <a:custGeom>
              <a:avLst/>
              <a:gdLst>
                <a:gd name="T0" fmla="*/ 2 w 25"/>
                <a:gd name="T1" fmla="*/ 2 h 73"/>
                <a:gd name="T2" fmla="*/ 2 w 25"/>
                <a:gd name="T3" fmla="*/ 2 h 73"/>
                <a:gd name="T4" fmla="*/ 0 w 25"/>
                <a:gd name="T5" fmla="*/ 4 h 73"/>
                <a:gd name="T6" fmla="*/ 2 w 25"/>
                <a:gd name="T7" fmla="*/ 6 h 73"/>
                <a:gd name="T8" fmla="*/ 4 w 25"/>
                <a:gd name="T9" fmla="*/ 8 h 73"/>
                <a:gd name="T10" fmla="*/ 2 w 25"/>
                <a:gd name="T11" fmla="*/ 3 h 73"/>
                <a:gd name="T12" fmla="*/ 2 w 25"/>
                <a:gd name="T13" fmla="*/ 2 h 7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73">
                  <a:moveTo>
                    <a:pt x="13" y="7"/>
                  </a:moveTo>
                  <a:cubicBezTo>
                    <a:pt x="9" y="0"/>
                    <a:pt x="7" y="2"/>
                    <a:pt x="4" y="8"/>
                  </a:cubicBezTo>
                  <a:cubicBezTo>
                    <a:pt x="3" y="13"/>
                    <a:pt x="1" y="17"/>
                    <a:pt x="0" y="22"/>
                  </a:cubicBezTo>
                  <a:cubicBezTo>
                    <a:pt x="1" y="35"/>
                    <a:pt x="6" y="33"/>
                    <a:pt x="15" y="41"/>
                  </a:cubicBezTo>
                  <a:cubicBezTo>
                    <a:pt x="16" y="52"/>
                    <a:pt x="15" y="73"/>
                    <a:pt x="25" y="56"/>
                  </a:cubicBezTo>
                  <a:cubicBezTo>
                    <a:pt x="24" y="33"/>
                    <a:pt x="23" y="36"/>
                    <a:pt x="16" y="20"/>
                  </a:cubicBezTo>
                  <a:cubicBezTo>
                    <a:pt x="15" y="11"/>
                    <a:pt x="16" y="15"/>
                    <a:pt x="13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7" name="Freeform 65"/>
            <p:cNvSpPr>
              <a:spLocks/>
            </p:cNvSpPr>
            <p:nvPr/>
          </p:nvSpPr>
          <p:spPr bwMode="invGray">
            <a:xfrm>
              <a:off x="4135" y="2995"/>
              <a:ext cx="10" cy="25"/>
            </a:xfrm>
            <a:custGeom>
              <a:avLst/>
              <a:gdLst>
                <a:gd name="T0" fmla="*/ 1 w 14"/>
                <a:gd name="T1" fmla="*/ 0 h 33"/>
                <a:gd name="T2" fmla="*/ 1 w 14"/>
                <a:gd name="T3" fmla="*/ 2 h 33"/>
                <a:gd name="T4" fmla="*/ 1 w 14"/>
                <a:gd name="T5" fmla="*/ 4 h 33"/>
                <a:gd name="T6" fmla="*/ 1 w 14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33">
                  <a:moveTo>
                    <a:pt x="11" y="0"/>
                  </a:moveTo>
                  <a:cubicBezTo>
                    <a:pt x="7" y="3"/>
                    <a:pt x="5" y="7"/>
                    <a:pt x="1" y="10"/>
                  </a:cubicBezTo>
                  <a:cubicBezTo>
                    <a:pt x="2" y="18"/>
                    <a:pt x="0" y="33"/>
                    <a:pt x="11" y="25"/>
                  </a:cubicBezTo>
                  <a:cubicBezTo>
                    <a:pt x="14" y="15"/>
                    <a:pt x="5" y="4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8" name="Freeform 66"/>
            <p:cNvSpPr>
              <a:spLocks/>
            </p:cNvSpPr>
            <p:nvPr/>
          </p:nvSpPr>
          <p:spPr bwMode="invGray">
            <a:xfrm>
              <a:off x="4145" y="3007"/>
              <a:ext cx="21" cy="48"/>
            </a:xfrm>
            <a:custGeom>
              <a:avLst/>
              <a:gdLst>
                <a:gd name="T0" fmla="*/ 2 w 28"/>
                <a:gd name="T1" fmla="*/ 0 h 64"/>
                <a:gd name="T2" fmla="*/ 2 w 28"/>
                <a:gd name="T3" fmla="*/ 2 h 64"/>
                <a:gd name="T4" fmla="*/ 3 w 28"/>
                <a:gd name="T5" fmla="*/ 3 h 64"/>
                <a:gd name="T6" fmla="*/ 2 w 28"/>
                <a:gd name="T7" fmla="*/ 6 h 64"/>
                <a:gd name="T8" fmla="*/ 0 w 28"/>
                <a:gd name="T9" fmla="*/ 8 h 64"/>
                <a:gd name="T10" fmla="*/ 2 w 28"/>
                <a:gd name="T11" fmla="*/ 8 h 64"/>
                <a:gd name="T12" fmla="*/ 4 w 28"/>
                <a:gd name="T13" fmla="*/ 4 h 64"/>
                <a:gd name="T14" fmla="*/ 2 w 28"/>
                <a:gd name="T15" fmla="*/ 0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64">
                  <a:moveTo>
                    <a:pt x="5" y="0"/>
                  </a:moveTo>
                  <a:cubicBezTo>
                    <a:pt x="6" y="5"/>
                    <a:pt x="7" y="10"/>
                    <a:pt x="11" y="14"/>
                  </a:cubicBezTo>
                  <a:cubicBezTo>
                    <a:pt x="14" y="17"/>
                    <a:pt x="20" y="21"/>
                    <a:pt x="20" y="21"/>
                  </a:cubicBezTo>
                  <a:cubicBezTo>
                    <a:pt x="9" y="27"/>
                    <a:pt x="0" y="23"/>
                    <a:pt x="8" y="39"/>
                  </a:cubicBezTo>
                  <a:cubicBezTo>
                    <a:pt x="6" y="47"/>
                    <a:pt x="4" y="50"/>
                    <a:pt x="0" y="56"/>
                  </a:cubicBezTo>
                  <a:cubicBezTo>
                    <a:pt x="4" y="62"/>
                    <a:pt x="7" y="64"/>
                    <a:pt x="11" y="57"/>
                  </a:cubicBezTo>
                  <a:cubicBezTo>
                    <a:pt x="13" y="43"/>
                    <a:pt x="10" y="29"/>
                    <a:pt x="26" y="26"/>
                  </a:cubicBezTo>
                  <a:cubicBezTo>
                    <a:pt x="28" y="15"/>
                    <a:pt x="14" y="4"/>
                    <a:pt x="5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9" name="Freeform 67"/>
            <p:cNvSpPr>
              <a:spLocks/>
            </p:cNvSpPr>
            <p:nvPr/>
          </p:nvSpPr>
          <p:spPr bwMode="invGray">
            <a:xfrm>
              <a:off x="3876" y="3076"/>
              <a:ext cx="12" cy="27"/>
            </a:xfrm>
            <a:custGeom>
              <a:avLst/>
              <a:gdLst>
                <a:gd name="T0" fmla="*/ 2 w 16"/>
                <a:gd name="T1" fmla="*/ 2 h 36"/>
                <a:gd name="T2" fmla="*/ 0 w 16"/>
                <a:gd name="T3" fmla="*/ 2 h 36"/>
                <a:gd name="T4" fmla="*/ 2 w 16"/>
                <a:gd name="T5" fmla="*/ 4 h 36"/>
                <a:gd name="T6" fmla="*/ 2 w 16"/>
                <a:gd name="T7" fmla="*/ 2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14" y="3"/>
                  </a:moveTo>
                  <a:cubicBezTo>
                    <a:pt x="7" y="0"/>
                    <a:pt x="4" y="1"/>
                    <a:pt x="0" y="7"/>
                  </a:cubicBezTo>
                  <a:cubicBezTo>
                    <a:pt x="3" y="14"/>
                    <a:pt x="2" y="17"/>
                    <a:pt x="8" y="22"/>
                  </a:cubicBezTo>
                  <a:cubicBezTo>
                    <a:pt x="16" y="36"/>
                    <a:pt x="11" y="7"/>
                    <a:pt x="14" y="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0" name="Freeform 68"/>
            <p:cNvSpPr>
              <a:spLocks/>
            </p:cNvSpPr>
            <p:nvPr/>
          </p:nvSpPr>
          <p:spPr bwMode="invGray">
            <a:xfrm>
              <a:off x="3866" y="305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1" name="Freeform 69"/>
            <p:cNvSpPr>
              <a:spLocks/>
            </p:cNvSpPr>
            <p:nvPr/>
          </p:nvSpPr>
          <p:spPr bwMode="invGray">
            <a:xfrm>
              <a:off x="3862" y="3035"/>
              <a:ext cx="12" cy="14"/>
            </a:xfrm>
            <a:custGeom>
              <a:avLst/>
              <a:gdLst>
                <a:gd name="T0" fmla="*/ 2 w 16"/>
                <a:gd name="T1" fmla="*/ 1 h 19"/>
                <a:gd name="T2" fmla="*/ 0 w 16"/>
                <a:gd name="T3" fmla="*/ 1 h 19"/>
                <a:gd name="T4" fmla="*/ 2 w 16"/>
                <a:gd name="T5" fmla="*/ 2 h 19"/>
                <a:gd name="T6" fmla="*/ 2 w 16"/>
                <a:gd name="T7" fmla="*/ 1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9">
                  <a:moveTo>
                    <a:pt x="10" y="5"/>
                  </a:moveTo>
                  <a:cubicBezTo>
                    <a:pt x="4" y="0"/>
                    <a:pt x="1" y="3"/>
                    <a:pt x="0" y="10"/>
                  </a:cubicBezTo>
                  <a:cubicBezTo>
                    <a:pt x="4" y="15"/>
                    <a:pt x="7" y="16"/>
                    <a:pt x="12" y="19"/>
                  </a:cubicBezTo>
                  <a:cubicBezTo>
                    <a:pt x="16" y="12"/>
                    <a:pt x="14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" name="Freeform 70"/>
            <p:cNvSpPr>
              <a:spLocks/>
            </p:cNvSpPr>
            <p:nvPr/>
          </p:nvSpPr>
          <p:spPr bwMode="invGray">
            <a:xfrm>
              <a:off x="3850" y="2995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" name="Freeform 71"/>
            <p:cNvSpPr>
              <a:spLocks/>
            </p:cNvSpPr>
            <p:nvPr/>
          </p:nvSpPr>
          <p:spPr bwMode="invGray">
            <a:xfrm>
              <a:off x="3852" y="3020"/>
              <a:ext cx="16" cy="13"/>
            </a:xfrm>
            <a:custGeom>
              <a:avLst/>
              <a:gdLst>
                <a:gd name="T0" fmla="*/ 1 w 22"/>
                <a:gd name="T1" fmla="*/ 0 h 18"/>
                <a:gd name="T2" fmla="*/ 2 w 22"/>
                <a:gd name="T3" fmla="*/ 2 h 18"/>
                <a:gd name="T4" fmla="*/ 1 w 22"/>
                <a:gd name="T5" fmla="*/ 1 h 18"/>
                <a:gd name="T6" fmla="*/ 1 w 22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8">
                  <a:moveTo>
                    <a:pt x="13" y="0"/>
                  </a:moveTo>
                  <a:cubicBezTo>
                    <a:pt x="0" y="8"/>
                    <a:pt x="9" y="12"/>
                    <a:pt x="19" y="18"/>
                  </a:cubicBezTo>
                  <a:cubicBezTo>
                    <a:pt x="20" y="11"/>
                    <a:pt x="22" y="8"/>
                    <a:pt x="14" y="6"/>
                  </a:cubicBezTo>
                  <a:cubicBezTo>
                    <a:pt x="9" y="3"/>
                    <a:pt x="9" y="5"/>
                    <a:pt x="13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4" name="Freeform 72"/>
            <p:cNvSpPr>
              <a:spLocks/>
            </p:cNvSpPr>
            <p:nvPr/>
          </p:nvSpPr>
          <p:spPr bwMode="invGray">
            <a:xfrm>
              <a:off x="4688" y="3643"/>
              <a:ext cx="45" cy="60"/>
            </a:xfrm>
            <a:custGeom>
              <a:avLst/>
              <a:gdLst>
                <a:gd name="T0" fmla="*/ 2 w 60"/>
                <a:gd name="T1" fmla="*/ 1 h 81"/>
                <a:gd name="T2" fmla="*/ 2 w 60"/>
                <a:gd name="T3" fmla="*/ 2 h 81"/>
                <a:gd name="T4" fmla="*/ 2 w 60"/>
                <a:gd name="T5" fmla="*/ 5 h 81"/>
                <a:gd name="T6" fmla="*/ 4 w 60"/>
                <a:gd name="T7" fmla="*/ 7 h 81"/>
                <a:gd name="T8" fmla="*/ 6 w 60"/>
                <a:gd name="T9" fmla="*/ 7 h 81"/>
                <a:gd name="T10" fmla="*/ 8 w 60"/>
                <a:gd name="T11" fmla="*/ 10 h 81"/>
                <a:gd name="T12" fmla="*/ 8 w 60"/>
                <a:gd name="T13" fmla="*/ 7 h 81"/>
                <a:gd name="T14" fmla="*/ 6 w 60"/>
                <a:gd name="T15" fmla="*/ 4 h 81"/>
                <a:gd name="T16" fmla="*/ 4 w 60"/>
                <a:gd name="T17" fmla="*/ 2 h 81"/>
                <a:gd name="T18" fmla="*/ 2 w 60"/>
                <a:gd name="T19" fmla="*/ 1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81">
                  <a:moveTo>
                    <a:pt x="10" y="7"/>
                  </a:moveTo>
                  <a:cubicBezTo>
                    <a:pt x="0" y="0"/>
                    <a:pt x="0" y="9"/>
                    <a:pt x="3" y="18"/>
                  </a:cubicBezTo>
                  <a:cubicBezTo>
                    <a:pt x="5" y="25"/>
                    <a:pt x="12" y="32"/>
                    <a:pt x="15" y="39"/>
                  </a:cubicBezTo>
                  <a:cubicBezTo>
                    <a:pt x="16" y="51"/>
                    <a:pt x="17" y="51"/>
                    <a:pt x="27" y="54"/>
                  </a:cubicBezTo>
                  <a:cubicBezTo>
                    <a:pt x="31" y="57"/>
                    <a:pt x="36" y="60"/>
                    <a:pt x="40" y="63"/>
                  </a:cubicBezTo>
                  <a:cubicBezTo>
                    <a:pt x="43" y="70"/>
                    <a:pt x="45" y="77"/>
                    <a:pt x="51" y="81"/>
                  </a:cubicBezTo>
                  <a:cubicBezTo>
                    <a:pt x="60" y="75"/>
                    <a:pt x="56" y="66"/>
                    <a:pt x="52" y="57"/>
                  </a:cubicBezTo>
                  <a:cubicBezTo>
                    <a:pt x="51" y="49"/>
                    <a:pt x="50" y="41"/>
                    <a:pt x="43" y="37"/>
                  </a:cubicBezTo>
                  <a:cubicBezTo>
                    <a:pt x="37" y="30"/>
                    <a:pt x="33" y="23"/>
                    <a:pt x="25" y="18"/>
                  </a:cubicBezTo>
                  <a:cubicBezTo>
                    <a:pt x="20" y="12"/>
                    <a:pt x="17" y="9"/>
                    <a:pt x="10" y="7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5" name="Freeform 73"/>
            <p:cNvSpPr>
              <a:spLocks/>
            </p:cNvSpPr>
            <p:nvPr/>
          </p:nvSpPr>
          <p:spPr bwMode="invGray">
            <a:xfrm>
              <a:off x="4919" y="3594"/>
              <a:ext cx="53" cy="46"/>
            </a:xfrm>
            <a:custGeom>
              <a:avLst/>
              <a:gdLst>
                <a:gd name="T0" fmla="*/ 4 w 71"/>
                <a:gd name="T1" fmla="*/ 4 h 61"/>
                <a:gd name="T2" fmla="*/ 1 w 71"/>
                <a:gd name="T3" fmla="*/ 5 h 61"/>
                <a:gd name="T4" fmla="*/ 1 w 71"/>
                <a:gd name="T5" fmla="*/ 6 h 61"/>
                <a:gd name="T6" fmla="*/ 1 w 71"/>
                <a:gd name="T7" fmla="*/ 8 h 61"/>
                <a:gd name="T8" fmla="*/ 4 w 71"/>
                <a:gd name="T9" fmla="*/ 6 h 61"/>
                <a:gd name="T10" fmla="*/ 5 w 71"/>
                <a:gd name="T11" fmla="*/ 4 h 61"/>
                <a:gd name="T12" fmla="*/ 7 w 71"/>
                <a:gd name="T13" fmla="*/ 0 h 61"/>
                <a:gd name="T14" fmla="*/ 9 w 71"/>
                <a:gd name="T15" fmla="*/ 2 h 61"/>
                <a:gd name="T16" fmla="*/ 4 w 71"/>
                <a:gd name="T17" fmla="*/ 4 h 61"/>
                <a:gd name="T18" fmla="*/ 4 w 71"/>
                <a:gd name="T19" fmla="*/ 4 h 6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1" h="61">
                  <a:moveTo>
                    <a:pt x="28" y="23"/>
                  </a:moveTo>
                  <a:cubicBezTo>
                    <a:pt x="25" y="33"/>
                    <a:pt x="25" y="33"/>
                    <a:pt x="13" y="32"/>
                  </a:cubicBezTo>
                  <a:cubicBezTo>
                    <a:pt x="2" y="33"/>
                    <a:pt x="3" y="34"/>
                    <a:pt x="1" y="44"/>
                  </a:cubicBezTo>
                  <a:cubicBezTo>
                    <a:pt x="2" y="60"/>
                    <a:pt x="0" y="61"/>
                    <a:pt x="13" y="59"/>
                  </a:cubicBezTo>
                  <a:cubicBezTo>
                    <a:pt x="19" y="54"/>
                    <a:pt x="21" y="48"/>
                    <a:pt x="28" y="44"/>
                  </a:cubicBezTo>
                  <a:cubicBezTo>
                    <a:pt x="30" y="33"/>
                    <a:pt x="28" y="25"/>
                    <a:pt x="40" y="23"/>
                  </a:cubicBezTo>
                  <a:cubicBezTo>
                    <a:pt x="42" y="12"/>
                    <a:pt x="44" y="4"/>
                    <a:pt x="55" y="0"/>
                  </a:cubicBezTo>
                  <a:cubicBezTo>
                    <a:pt x="65" y="2"/>
                    <a:pt x="69" y="1"/>
                    <a:pt x="71" y="11"/>
                  </a:cubicBezTo>
                  <a:cubicBezTo>
                    <a:pt x="63" y="22"/>
                    <a:pt x="48" y="21"/>
                    <a:pt x="35" y="23"/>
                  </a:cubicBezTo>
                  <a:cubicBezTo>
                    <a:pt x="30" y="27"/>
                    <a:pt x="32" y="27"/>
                    <a:pt x="28" y="23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6" name="Freeform 74"/>
            <p:cNvSpPr>
              <a:spLocks/>
            </p:cNvSpPr>
            <p:nvPr/>
          </p:nvSpPr>
          <p:spPr bwMode="invGray">
            <a:xfrm>
              <a:off x="4759" y="3569"/>
              <a:ext cx="17" cy="23"/>
            </a:xfrm>
            <a:custGeom>
              <a:avLst/>
              <a:gdLst>
                <a:gd name="T0" fmla="*/ 1 w 23"/>
                <a:gd name="T1" fmla="*/ 0 h 30"/>
                <a:gd name="T2" fmla="*/ 0 w 23"/>
                <a:gd name="T3" fmla="*/ 2 h 30"/>
                <a:gd name="T4" fmla="*/ 1 w 23"/>
                <a:gd name="T5" fmla="*/ 5 h 30"/>
                <a:gd name="T6" fmla="*/ 1 w 23"/>
                <a:gd name="T7" fmla="*/ 0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0">
                  <a:moveTo>
                    <a:pt x="9" y="0"/>
                  </a:moveTo>
                  <a:cubicBezTo>
                    <a:pt x="8" y="7"/>
                    <a:pt x="3" y="8"/>
                    <a:pt x="0" y="14"/>
                  </a:cubicBezTo>
                  <a:cubicBezTo>
                    <a:pt x="3" y="21"/>
                    <a:pt x="8" y="24"/>
                    <a:pt x="12" y="30"/>
                  </a:cubicBezTo>
                  <a:cubicBezTo>
                    <a:pt x="23" y="15"/>
                    <a:pt x="4" y="9"/>
                    <a:pt x="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7" name="Freeform 75"/>
            <p:cNvSpPr>
              <a:spLocks/>
            </p:cNvSpPr>
            <p:nvPr/>
          </p:nvSpPr>
          <p:spPr bwMode="invGray">
            <a:xfrm>
              <a:off x="4751" y="3547"/>
              <a:ext cx="20" cy="17"/>
            </a:xfrm>
            <a:custGeom>
              <a:avLst/>
              <a:gdLst>
                <a:gd name="T0" fmla="*/ 3 w 26"/>
                <a:gd name="T1" fmla="*/ 0 h 23"/>
                <a:gd name="T2" fmla="*/ 0 w 26"/>
                <a:gd name="T3" fmla="*/ 1 h 23"/>
                <a:gd name="T4" fmla="*/ 3 w 26"/>
                <a:gd name="T5" fmla="*/ 2 h 23"/>
                <a:gd name="T6" fmla="*/ 3 w 26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3">
                  <a:moveTo>
                    <a:pt x="19" y="0"/>
                  </a:moveTo>
                  <a:cubicBezTo>
                    <a:pt x="17" y="12"/>
                    <a:pt x="10" y="11"/>
                    <a:pt x="0" y="14"/>
                  </a:cubicBezTo>
                  <a:cubicBezTo>
                    <a:pt x="5" y="23"/>
                    <a:pt x="11" y="22"/>
                    <a:pt x="21" y="20"/>
                  </a:cubicBezTo>
                  <a:cubicBezTo>
                    <a:pt x="26" y="12"/>
                    <a:pt x="23" y="7"/>
                    <a:pt x="1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8" name="Freeform 76"/>
            <p:cNvSpPr>
              <a:spLocks/>
            </p:cNvSpPr>
            <p:nvPr/>
          </p:nvSpPr>
          <p:spPr bwMode="invGray">
            <a:xfrm>
              <a:off x="4598" y="3353"/>
              <a:ext cx="24" cy="33"/>
            </a:xfrm>
            <a:custGeom>
              <a:avLst/>
              <a:gdLst>
                <a:gd name="T0" fmla="*/ 4 w 32"/>
                <a:gd name="T1" fmla="*/ 0 h 44"/>
                <a:gd name="T2" fmla="*/ 2 w 32"/>
                <a:gd name="T3" fmla="*/ 2 h 44"/>
                <a:gd name="T4" fmla="*/ 2 w 32"/>
                <a:gd name="T5" fmla="*/ 5 h 44"/>
                <a:gd name="T6" fmla="*/ 4 w 32"/>
                <a:gd name="T7" fmla="*/ 5 h 44"/>
                <a:gd name="T8" fmla="*/ 4 w 32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44">
                  <a:moveTo>
                    <a:pt x="28" y="0"/>
                  </a:moveTo>
                  <a:cubicBezTo>
                    <a:pt x="32" y="10"/>
                    <a:pt x="18" y="9"/>
                    <a:pt x="10" y="11"/>
                  </a:cubicBezTo>
                  <a:cubicBezTo>
                    <a:pt x="0" y="18"/>
                    <a:pt x="7" y="24"/>
                    <a:pt x="12" y="32"/>
                  </a:cubicBezTo>
                  <a:cubicBezTo>
                    <a:pt x="14" y="44"/>
                    <a:pt x="15" y="41"/>
                    <a:pt x="24" y="36"/>
                  </a:cubicBezTo>
                  <a:cubicBezTo>
                    <a:pt x="32" y="25"/>
                    <a:pt x="29" y="14"/>
                    <a:pt x="2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9" name="Freeform 77"/>
            <p:cNvSpPr>
              <a:spLocks/>
            </p:cNvSpPr>
            <p:nvPr/>
          </p:nvSpPr>
          <p:spPr bwMode="invGray">
            <a:xfrm>
              <a:off x="4632" y="3396"/>
              <a:ext cx="26" cy="33"/>
            </a:xfrm>
            <a:custGeom>
              <a:avLst/>
              <a:gdLst>
                <a:gd name="T0" fmla="*/ 5 w 34"/>
                <a:gd name="T1" fmla="*/ 0 h 44"/>
                <a:gd name="T2" fmla="*/ 2 w 34"/>
                <a:gd name="T3" fmla="*/ 2 h 44"/>
                <a:gd name="T4" fmla="*/ 2 w 34"/>
                <a:gd name="T5" fmla="*/ 5 h 44"/>
                <a:gd name="T6" fmla="*/ 4 w 34"/>
                <a:gd name="T7" fmla="*/ 5 h 44"/>
                <a:gd name="T8" fmla="*/ 5 w 3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44">
                  <a:moveTo>
                    <a:pt x="30" y="0"/>
                  </a:moveTo>
                  <a:cubicBezTo>
                    <a:pt x="34" y="10"/>
                    <a:pt x="18" y="7"/>
                    <a:pt x="10" y="9"/>
                  </a:cubicBezTo>
                  <a:cubicBezTo>
                    <a:pt x="0" y="16"/>
                    <a:pt x="9" y="24"/>
                    <a:pt x="14" y="32"/>
                  </a:cubicBezTo>
                  <a:cubicBezTo>
                    <a:pt x="16" y="44"/>
                    <a:pt x="17" y="41"/>
                    <a:pt x="26" y="36"/>
                  </a:cubicBezTo>
                  <a:cubicBezTo>
                    <a:pt x="34" y="25"/>
                    <a:pt x="31" y="14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0" name="Freeform 78"/>
            <p:cNvSpPr>
              <a:spLocks/>
            </p:cNvSpPr>
            <p:nvPr/>
          </p:nvSpPr>
          <p:spPr bwMode="invGray">
            <a:xfrm>
              <a:off x="4659" y="3459"/>
              <a:ext cx="28" cy="28"/>
            </a:xfrm>
            <a:custGeom>
              <a:avLst/>
              <a:gdLst>
                <a:gd name="T0" fmla="*/ 4 w 38"/>
                <a:gd name="T1" fmla="*/ 2 h 37"/>
                <a:gd name="T2" fmla="*/ 1 w 38"/>
                <a:gd name="T3" fmla="*/ 2 h 37"/>
                <a:gd name="T4" fmla="*/ 1 w 38"/>
                <a:gd name="T5" fmla="*/ 4 h 37"/>
                <a:gd name="T6" fmla="*/ 3 w 38"/>
                <a:gd name="T7" fmla="*/ 5 h 37"/>
                <a:gd name="T8" fmla="*/ 4 w 38"/>
                <a:gd name="T9" fmla="*/ 2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7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9" y="17"/>
                    <a:pt x="14" y="25"/>
                  </a:cubicBezTo>
                  <a:cubicBezTo>
                    <a:pt x="16" y="37"/>
                    <a:pt x="17" y="34"/>
                    <a:pt x="26" y="29"/>
                  </a:cubicBezTo>
                  <a:cubicBezTo>
                    <a:pt x="34" y="18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" name="Freeform 79"/>
            <p:cNvSpPr>
              <a:spLocks/>
            </p:cNvSpPr>
            <p:nvPr/>
          </p:nvSpPr>
          <p:spPr bwMode="invGray">
            <a:xfrm>
              <a:off x="4693" y="3449"/>
              <a:ext cx="28" cy="26"/>
            </a:xfrm>
            <a:custGeom>
              <a:avLst/>
              <a:gdLst>
                <a:gd name="T0" fmla="*/ 4 w 38"/>
                <a:gd name="T1" fmla="*/ 2 h 34"/>
                <a:gd name="T2" fmla="*/ 1 w 38"/>
                <a:gd name="T3" fmla="*/ 2 h 34"/>
                <a:gd name="T4" fmla="*/ 2 w 38"/>
                <a:gd name="T5" fmla="*/ 4 h 34"/>
                <a:gd name="T6" fmla="*/ 3 w 38"/>
                <a:gd name="T7" fmla="*/ 4 h 34"/>
                <a:gd name="T8" fmla="*/ 4 w 38"/>
                <a:gd name="T9" fmla="*/ 2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34">
                  <a:moveTo>
                    <a:pt x="34" y="2"/>
                  </a:moveTo>
                  <a:cubicBezTo>
                    <a:pt x="38" y="12"/>
                    <a:pt x="18" y="0"/>
                    <a:pt x="10" y="2"/>
                  </a:cubicBezTo>
                  <a:cubicBezTo>
                    <a:pt x="0" y="9"/>
                    <a:pt x="11" y="14"/>
                    <a:pt x="16" y="22"/>
                  </a:cubicBezTo>
                  <a:cubicBezTo>
                    <a:pt x="18" y="34"/>
                    <a:pt x="18" y="27"/>
                    <a:pt x="27" y="22"/>
                  </a:cubicBezTo>
                  <a:cubicBezTo>
                    <a:pt x="35" y="11"/>
                    <a:pt x="35" y="16"/>
                    <a:pt x="34" y="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" name="Freeform 80"/>
            <p:cNvSpPr>
              <a:spLocks/>
            </p:cNvSpPr>
            <p:nvPr/>
          </p:nvSpPr>
          <p:spPr bwMode="invGray">
            <a:xfrm>
              <a:off x="4683" y="3413"/>
              <a:ext cx="26" cy="20"/>
            </a:xfrm>
            <a:custGeom>
              <a:avLst/>
              <a:gdLst>
                <a:gd name="T0" fmla="*/ 4 w 35"/>
                <a:gd name="T1" fmla="*/ 1 h 27"/>
                <a:gd name="T2" fmla="*/ 1 w 35"/>
                <a:gd name="T3" fmla="*/ 1 h 27"/>
                <a:gd name="T4" fmla="*/ 1 w 35"/>
                <a:gd name="T5" fmla="*/ 1 h 27"/>
                <a:gd name="T6" fmla="*/ 3 w 35"/>
                <a:gd name="T7" fmla="*/ 2 h 27"/>
                <a:gd name="T8" fmla="*/ 4 w 3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7">
                  <a:moveTo>
                    <a:pt x="31" y="1"/>
                  </a:moveTo>
                  <a:cubicBezTo>
                    <a:pt x="35" y="11"/>
                    <a:pt x="18" y="0"/>
                    <a:pt x="10" y="2"/>
                  </a:cubicBezTo>
                  <a:cubicBezTo>
                    <a:pt x="0" y="9"/>
                    <a:pt x="8" y="7"/>
                    <a:pt x="13" y="15"/>
                  </a:cubicBezTo>
                  <a:cubicBezTo>
                    <a:pt x="15" y="27"/>
                    <a:pt x="16" y="24"/>
                    <a:pt x="25" y="19"/>
                  </a:cubicBezTo>
                  <a:cubicBezTo>
                    <a:pt x="33" y="8"/>
                    <a:pt x="32" y="15"/>
                    <a:pt x="31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" name="Freeform 81"/>
            <p:cNvSpPr>
              <a:spLocks/>
            </p:cNvSpPr>
            <p:nvPr/>
          </p:nvSpPr>
          <p:spPr bwMode="invGray">
            <a:xfrm>
              <a:off x="4657" y="3388"/>
              <a:ext cx="26" cy="35"/>
            </a:xfrm>
            <a:custGeom>
              <a:avLst/>
              <a:gdLst>
                <a:gd name="T0" fmla="*/ 4 w 35"/>
                <a:gd name="T1" fmla="*/ 2 h 47"/>
                <a:gd name="T2" fmla="*/ 2 w 35"/>
                <a:gd name="T3" fmla="*/ 1 h 47"/>
                <a:gd name="T4" fmla="*/ 1 w 35"/>
                <a:gd name="T5" fmla="*/ 3 h 47"/>
                <a:gd name="T6" fmla="*/ 2 w 35"/>
                <a:gd name="T7" fmla="*/ 4 h 47"/>
                <a:gd name="T8" fmla="*/ 3 w 35"/>
                <a:gd name="T9" fmla="*/ 4 h 47"/>
                <a:gd name="T10" fmla="*/ 4 w 35"/>
                <a:gd name="T11" fmla="*/ 2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47">
                  <a:moveTo>
                    <a:pt x="28" y="16"/>
                  </a:moveTo>
                  <a:cubicBezTo>
                    <a:pt x="27" y="13"/>
                    <a:pt x="22" y="0"/>
                    <a:pt x="19" y="2"/>
                  </a:cubicBezTo>
                  <a:cubicBezTo>
                    <a:pt x="16" y="4"/>
                    <a:pt x="10" y="20"/>
                    <a:pt x="10" y="25"/>
                  </a:cubicBezTo>
                  <a:cubicBezTo>
                    <a:pt x="0" y="32"/>
                    <a:pt x="14" y="27"/>
                    <a:pt x="19" y="35"/>
                  </a:cubicBezTo>
                  <a:cubicBezTo>
                    <a:pt x="21" y="47"/>
                    <a:pt x="18" y="34"/>
                    <a:pt x="27" y="29"/>
                  </a:cubicBezTo>
                  <a:cubicBezTo>
                    <a:pt x="35" y="18"/>
                    <a:pt x="29" y="30"/>
                    <a:pt x="28" y="1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Freeform 82"/>
            <p:cNvSpPr>
              <a:spLocks/>
            </p:cNvSpPr>
            <p:nvPr/>
          </p:nvSpPr>
          <p:spPr bwMode="invGray">
            <a:xfrm>
              <a:off x="4625" y="3372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Freeform 83"/>
            <p:cNvSpPr>
              <a:spLocks/>
            </p:cNvSpPr>
            <p:nvPr/>
          </p:nvSpPr>
          <p:spPr bwMode="invGray">
            <a:xfrm>
              <a:off x="4665" y="3425"/>
              <a:ext cx="24" cy="26"/>
            </a:xfrm>
            <a:custGeom>
              <a:avLst/>
              <a:gdLst>
                <a:gd name="T0" fmla="*/ 4 w 32"/>
                <a:gd name="T1" fmla="*/ 1 h 35"/>
                <a:gd name="T2" fmla="*/ 2 w 32"/>
                <a:gd name="T3" fmla="*/ 1 h 35"/>
                <a:gd name="T4" fmla="*/ 2 w 32"/>
                <a:gd name="T5" fmla="*/ 3 h 35"/>
                <a:gd name="T6" fmla="*/ 4 w 32"/>
                <a:gd name="T7" fmla="*/ 3 h 35"/>
                <a:gd name="T8" fmla="*/ 4 w 32"/>
                <a:gd name="T9" fmla="*/ 1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35">
                  <a:moveTo>
                    <a:pt x="22" y="10"/>
                  </a:moveTo>
                  <a:cubicBezTo>
                    <a:pt x="26" y="20"/>
                    <a:pt x="18" y="0"/>
                    <a:pt x="10" y="2"/>
                  </a:cubicBezTo>
                  <a:cubicBezTo>
                    <a:pt x="0" y="9"/>
                    <a:pt x="7" y="15"/>
                    <a:pt x="12" y="23"/>
                  </a:cubicBezTo>
                  <a:cubicBezTo>
                    <a:pt x="14" y="35"/>
                    <a:pt x="15" y="32"/>
                    <a:pt x="24" y="27"/>
                  </a:cubicBezTo>
                  <a:cubicBezTo>
                    <a:pt x="32" y="16"/>
                    <a:pt x="23" y="24"/>
                    <a:pt x="22" y="1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Freeform 84"/>
            <p:cNvSpPr>
              <a:spLocks/>
            </p:cNvSpPr>
            <p:nvPr/>
          </p:nvSpPr>
          <p:spPr bwMode="invGray">
            <a:xfrm>
              <a:off x="3055" y="2051"/>
              <a:ext cx="141" cy="108"/>
            </a:xfrm>
            <a:custGeom>
              <a:avLst/>
              <a:gdLst>
                <a:gd name="T0" fmla="*/ 22 w 189"/>
                <a:gd name="T1" fmla="*/ 2 h 144"/>
                <a:gd name="T2" fmla="*/ 24 w 189"/>
                <a:gd name="T3" fmla="*/ 2 h 144"/>
                <a:gd name="T4" fmla="*/ 24 w 189"/>
                <a:gd name="T5" fmla="*/ 2 h 144"/>
                <a:gd name="T6" fmla="*/ 24 w 189"/>
                <a:gd name="T7" fmla="*/ 4 h 144"/>
                <a:gd name="T8" fmla="*/ 16 w 189"/>
                <a:gd name="T9" fmla="*/ 6 h 144"/>
                <a:gd name="T10" fmla="*/ 14 w 189"/>
                <a:gd name="T11" fmla="*/ 8 h 144"/>
                <a:gd name="T12" fmla="*/ 12 w 189"/>
                <a:gd name="T13" fmla="*/ 8 h 144"/>
                <a:gd name="T14" fmla="*/ 9 w 189"/>
                <a:gd name="T15" fmla="*/ 11 h 144"/>
                <a:gd name="T16" fmla="*/ 10 w 189"/>
                <a:gd name="T17" fmla="*/ 13 h 144"/>
                <a:gd name="T18" fmla="*/ 10 w 189"/>
                <a:gd name="T19" fmla="*/ 16 h 144"/>
                <a:gd name="T20" fmla="*/ 14 w 189"/>
                <a:gd name="T21" fmla="*/ 17 h 144"/>
                <a:gd name="T22" fmla="*/ 12 w 189"/>
                <a:gd name="T23" fmla="*/ 19 h 144"/>
                <a:gd name="T24" fmla="*/ 10 w 189"/>
                <a:gd name="T25" fmla="*/ 18 h 144"/>
                <a:gd name="T26" fmla="*/ 9 w 189"/>
                <a:gd name="T27" fmla="*/ 18 h 144"/>
                <a:gd name="T28" fmla="*/ 3 w 189"/>
                <a:gd name="T29" fmla="*/ 17 h 144"/>
                <a:gd name="T30" fmla="*/ 2 w 189"/>
                <a:gd name="T31" fmla="*/ 15 h 144"/>
                <a:gd name="T32" fmla="*/ 5 w 189"/>
                <a:gd name="T33" fmla="*/ 13 h 144"/>
                <a:gd name="T34" fmla="*/ 7 w 189"/>
                <a:gd name="T35" fmla="*/ 11 h 144"/>
                <a:gd name="T36" fmla="*/ 5 w 189"/>
                <a:gd name="T37" fmla="*/ 8 h 144"/>
                <a:gd name="T38" fmla="*/ 9 w 189"/>
                <a:gd name="T39" fmla="*/ 6 h 144"/>
                <a:gd name="T40" fmla="*/ 12 w 189"/>
                <a:gd name="T41" fmla="*/ 5 h 144"/>
                <a:gd name="T42" fmla="*/ 14 w 189"/>
                <a:gd name="T43" fmla="*/ 4 h 144"/>
                <a:gd name="T44" fmla="*/ 22 w 189"/>
                <a:gd name="T45" fmla="*/ 2 h 14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89" h="144">
                  <a:moveTo>
                    <a:pt x="171" y="4"/>
                  </a:moveTo>
                  <a:cubicBezTo>
                    <a:pt x="174" y="3"/>
                    <a:pt x="182" y="0"/>
                    <a:pt x="185" y="4"/>
                  </a:cubicBezTo>
                  <a:cubicBezTo>
                    <a:pt x="187" y="7"/>
                    <a:pt x="189" y="16"/>
                    <a:pt x="189" y="16"/>
                  </a:cubicBezTo>
                  <a:cubicBezTo>
                    <a:pt x="188" y="19"/>
                    <a:pt x="189" y="22"/>
                    <a:pt x="187" y="24"/>
                  </a:cubicBezTo>
                  <a:cubicBezTo>
                    <a:pt x="175" y="34"/>
                    <a:pt x="146" y="34"/>
                    <a:pt x="131" y="44"/>
                  </a:cubicBezTo>
                  <a:cubicBezTo>
                    <a:pt x="125" y="53"/>
                    <a:pt x="120" y="54"/>
                    <a:pt x="109" y="58"/>
                  </a:cubicBezTo>
                  <a:cubicBezTo>
                    <a:pt x="105" y="59"/>
                    <a:pt x="97" y="62"/>
                    <a:pt x="97" y="62"/>
                  </a:cubicBezTo>
                  <a:cubicBezTo>
                    <a:pt x="88" y="76"/>
                    <a:pt x="83" y="74"/>
                    <a:pt x="71" y="82"/>
                  </a:cubicBezTo>
                  <a:cubicBezTo>
                    <a:pt x="66" y="98"/>
                    <a:pt x="70" y="78"/>
                    <a:pt x="75" y="92"/>
                  </a:cubicBezTo>
                  <a:cubicBezTo>
                    <a:pt x="81" y="108"/>
                    <a:pt x="71" y="108"/>
                    <a:pt x="83" y="116"/>
                  </a:cubicBezTo>
                  <a:cubicBezTo>
                    <a:pt x="90" y="121"/>
                    <a:pt x="107" y="126"/>
                    <a:pt x="107" y="126"/>
                  </a:cubicBezTo>
                  <a:cubicBezTo>
                    <a:pt x="105" y="139"/>
                    <a:pt x="106" y="144"/>
                    <a:pt x="93" y="140"/>
                  </a:cubicBezTo>
                  <a:cubicBezTo>
                    <a:pt x="91" y="137"/>
                    <a:pt x="87" y="130"/>
                    <a:pt x="83" y="130"/>
                  </a:cubicBezTo>
                  <a:cubicBezTo>
                    <a:pt x="79" y="130"/>
                    <a:pt x="71" y="134"/>
                    <a:pt x="71" y="134"/>
                  </a:cubicBezTo>
                  <a:cubicBezTo>
                    <a:pt x="52" y="129"/>
                    <a:pt x="42" y="124"/>
                    <a:pt x="21" y="122"/>
                  </a:cubicBezTo>
                  <a:cubicBezTo>
                    <a:pt x="14" y="115"/>
                    <a:pt x="0" y="102"/>
                    <a:pt x="19" y="106"/>
                  </a:cubicBezTo>
                  <a:cubicBezTo>
                    <a:pt x="29" y="91"/>
                    <a:pt x="26" y="93"/>
                    <a:pt x="47" y="90"/>
                  </a:cubicBezTo>
                  <a:cubicBezTo>
                    <a:pt x="55" y="84"/>
                    <a:pt x="54" y="88"/>
                    <a:pt x="51" y="76"/>
                  </a:cubicBezTo>
                  <a:cubicBezTo>
                    <a:pt x="50" y="72"/>
                    <a:pt x="47" y="64"/>
                    <a:pt x="47" y="64"/>
                  </a:cubicBezTo>
                  <a:cubicBezTo>
                    <a:pt x="50" y="41"/>
                    <a:pt x="50" y="43"/>
                    <a:pt x="73" y="46"/>
                  </a:cubicBezTo>
                  <a:cubicBezTo>
                    <a:pt x="82" y="45"/>
                    <a:pt x="97" y="36"/>
                    <a:pt x="97" y="36"/>
                  </a:cubicBezTo>
                  <a:cubicBezTo>
                    <a:pt x="102" y="29"/>
                    <a:pt x="105" y="27"/>
                    <a:pt x="113" y="24"/>
                  </a:cubicBezTo>
                  <a:cubicBezTo>
                    <a:pt x="134" y="27"/>
                    <a:pt x="161" y="25"/>
                    <a:pt x="171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Freeform 85"/>
            <p:cNvSpPr>
              <a:spLocks/>
            </p:cNvSpPr>
            <p:nvPr/>
          </p:nvSpPr>
          <p:spPr bwMode="invGray">
            <a:xfrm>
              <a:off x="3139" y="2155"/>
              <a:ext cx="40" cy="12"/>
            </a:xfrm>
            <a:custGeom>
              <a:avLst/>
              <a:gdLst>
                <a:gd name="T0" fmla="*/ 4 w 53"/>
                <a:gd name="T1" fmla="*/ 0 h 17"/>
                <a:gd name="T2" fmla="*/ 2 w 53"/>
                <a:gd name="T3" fmla="*/ 1 h 17"/>
                <a:gd name="T4" fmla="*/ 5 w 53"/>
                <a:gd name="T5" fmla="*/ 1 h 17"/>
                <a:gd name="T6" fmla="*/ 6 w 53"/>
                <a:gd name="T7" fmla="*/ 1 h 17"/>
                <a:gd name="T8" fmla="*/ 4 w 53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17">
                  <a:moveTo>
                    <a:pt x="24" y="0"/>
                  </a:moveTo>
                  <a:cubicBezTo>
                    <a:pt x="20" y="1"/>
                    <a:pt x="16" y="0"/>
                    <a:pt x="12" y="2"/>
                  </a:cubicBezTo>
                  <a:cubicBezTo>
                    <a:pt x="0" y="9"/>
                    <a:pt x="30" y="15"/>
                    <a:pt x="32" y="16"/>
                  </a:cubicBezTo>
                  <a:cubicBezTo>
                    <a:pt x="36" y="15"/>
                    <a:pt x="41" y="17"/>
                    <a:pt x="44" y="14"/>
                  </a:cubicBezTo>
                  <a:cubicBezTo>
                    <a:pt x="53" y="3"/>
                    <a:pt x="30" y="0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Freeform 86"/>
            <p:cNvSpPr>
              <a:spLocks/>
            </p:cNvSpPr>
            <p:nvPr/>
          </p:nvSpPr>
          <p:spPr bwMode="invGray">
            <a:xfrm>
              <a:off x="3344" y="1999"/>
              <a:ext cx="42" cy="28"/>
            </a:xfrm>
            <a:custGeom>
              <a:avLst/>
              <a:gdLst>
                <a:gd name="T0" fmla="*/ 7 w 57"/>
                <a:gd name="T1" fmla="*/ 2 h 37"/>
                <a:gd name="T2" fmla="*/ 3 w 57"/>
                <a:gd name="T3" fmla="*/ 4 h 37"/>
                <a:gd name="T4" fmla="*/ 1 w 57"/>
                <a:gd name="T5" fmla="*/ 5 h 37"/>
                <a:gd name="T6" fmla="*/ 1 w 57"/>
                <a:gd name="T7" fmla="*/ 2 h 37"/>
                <a:gd name="T8" fmla="*/ 2 w 57"/>
                <a:gd name="T9" fmla="*/ 0 h 37"/>
                <a:gd name="T10" fmla="*/ 7 w 57"/>
                <a:gd name="T11" fmla="*/ 2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7" h="37">
                  <a:moveTo>
                    <a:pt x="57" y="4"/>
                  </a:moveTo>
                  <a:cubicBezTo>
                    <a:pt x="53" y="16"/>
                    <a:pt x="35" y="17"/>
                    <a:pt x="25" y="24"/>
                  </a:cubicBezTo>
                  <a:cubicBezTo>
                    <a:pt x="22" y="34"/>
                    <a:pt x="22" y="37"/>
                    <a:pt x="11" y="34"/>
                  </a:cubicBezTo>
                  <a:cubicBezTo>
                    <a:pt x="6" y="27"/>
                    <a:pt x="0" y="10"/>
                    <a:pt x="9" y="4"/>
                  </a:cubicBezTo>
                  <a:cubicBezTo>
                    <a:pt x="12" y="2"/>
                    <a:pt x="21" y="0"/>
                    <a:pt x="21" y="0"/>
                  </a:cubicBezTo>
                  <a:cubicBezTo>
                    <a:pt x="33" y="2"/>
                    <a:pt x="45" y="4"/>
                    <a:pt x="57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Freeform 87"/>
            <p:cNvSpPr>
              <a:spLocks/>
            </p:cNvSpPr>
            <p:nvPr/>
          </p:nvSpPr>
          <p:spPr bwMode="invGray">
            <a:xfrm>
              <a:off x="3374" y="2012"/>
              <a:ext cx="50" cy="20"/>
            </a:xfrm>
            <a:custGeom>
              <a:avLst/>
              <a:gdLst>
                <a:gd name="T0" fmla="*/ 3 w 68"/>
                <a:gd name="T1" fmla="*/ 0 h 26"/>
                <a:gd name="T2" fmla="*/ 1 w 68"/>
                <a:gd name="T3" fmla="*/ 2 h 26"/>
                <a:gd name="T4" fmla="*/ 7 w 68"/>
                <a:gd name="T5" fmla="*/ 4 h 26"/>
                <a:gd name="T6" fmla="*/ 7 w 68"/>
                <a:gd name="T7" fmla="*/ 4 h 26"/>
                <a:gd name="T8" fmla="*/ 3 w 68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8" h="26">
                  <a:moveTo>
                    <a:pt x="29" y="0"/>
                  </a:moveTo>
                  <a:cubicBezTo>
                    <a:pt x="23" y="2"/>
                    <a:pt x="11" y="6"/>
                    <a:pt x="11" y="6"/>
                  </a:cubicBezTo>
                  <a:cubicBezTo>
                    <a:pt x="0" y="23"/>
                    <a:pt x="47" y="24"/>
                    <a:pt x="57" y="26"/>
                  </a:cubicBezTo>
                  <a:cubicBezTo>
                    <a:pt x="59" y="25"/>
                    <a:pt x="62" y="26"/>
                    <a:pt x="63" y="24"/>
                  </a:cubicBezTo>
                  <a:cubicBezTo>
                    <a:pt x="68" y="3"/>
                    <a:pt x="42" y="3"/>
                    <a:pt x="2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0" name="Freeform 88"/>
            <p:cNvSpPr>
              <a:spLocks/>
            </p:cNvSpPr>
            <p:nvPr/>
          </p:nvSpPr>
          <p:spPr bwMode="invGray">
            <a:xfrm>
              <a:off x="3428" y="2015"/>
              <a:ext cx="50" cy="32"/>
            </a:xfrm>
            <a:custGeom>
              <a:avLst/>
              <a:gdLst>
                <a:gd name="T0" fmla="*/ 8 w 66"/>
                <a:gd name="T1" fmla="*/ 1 h 43"/>
                <a:gd name="T2" fmla="*/ 4 w 66"/>
                <a:gd name="T3" fmla="*/ 1 h 43"/>
                <a:gd name="T4" fmla="*/ 2 w 66"/>
                <a:gd name="T5" fmla="*/ 1 h 43"/>
                <a:gd name="T6" fmla="*/ 2 w 66"/>
                <a:gd name="T7" fmla="*/ 4 h 43"/>
                <a:gd name="T8" fmla="*/ 5 w 66"/>
                <a:gd name="T9" fmla="*/ 5 h 43"/>
                <a:gd name="T10" fmla="*/ 8 w 66"/>
                <a:gd name="T11" fmla="*/ 3 h 43"/>
                <a:gd name="T12" fmla="*/ 8 w 66"/>
                <a:gd name="T13" fmla="*/ 1 h 4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6" h="43">
                  <a:moveTo>
                    <a:pt x="50" y="9"/>
                  </a:moveTo>
                  <a:cubicBezTo>
                    <a:pt x="40" y="16"/>
                    <a:pt x="36" y="16"/>
                    <a:pt x="26" y="9"/>
                  </a:cubicBezTo>
                  <a:cubicBezTo>
                    <a:pt x="20" y="0"/>
                    <a:pt x="18" y="4"/>
                    <a:pt x="10" y="9"/>
                  </a:cubicBezTo>
                  <a:cubicBezTo>
                    <a:pt x="4" y="17"/>
                    <a:pt x="0" y="21"/>
                    <a:pt x="8" y="35"/>
                  </a:cubicBezTo>
                  <a:cubicBezTo>
                    <a:pt x="12" y="42"/>
                    <a:pt x="32" y="43"/>
                    <a:pt x="32" y="43"/>
                  </a:cubicBezTo>
                  <a:cubicBezTo>
                    <a:pt x="41" y="40"/>
                    <a:pt x="54" y="33"/>
                    <a:pt x="62" y="27"/>
                  </a:cubicBezTo>
                  <a:cubicBezTo>
                    <a:pt x="66" y="15"/>
                    <a:pt x="61" y="15"/>
                    <a:pt x="50" y="9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1" name="Freeform 89"/>
            <p:cNvSpPr>
              <a:spLocks/>
            </p:cNvSpPr>
            <p:nvPr/>
          </p:nvSpPr>
          <p:spPr bwMode="invGray">
            <a:xfrm>
              <a:off x="3777" y="2042"/>
              <a:ext cx="88" cy="31"/>
            </a:xfrm>
            <a:custGeom>
              <a:avLst/>
              <a:gdLst>
                <a:gd name="T0" fmla="*/ 2 w 117"/>
                <a:gd name="T1" fmla="*/ 0 h 41"/>
                <a:gd name="T2" fmla="*/ 2 w 117"/>
                <a:gd name="T3" fmla="*/ 2 h 41"/>
                <a:gd name="T4" fmla="*/ 8 w 117"/>
                <a:gd name="T5" fmla="*/ 5 h 41"/>
                <a:gd name="T6" fmla="*/ 11 w 117"/>
                <a:gd name="T7" fmla="*/ 5 h 41"/>
                <a:gd name="T8" fmla="*/ 15 w 117"/>
                <a:gd name="T9" fmla="*/ 4 h 41"/>
                <a:gd name="T10" fmla="*/ 11 w 117"/>
                <a:gd name="T11" fmla="*/ 2 h 41"/>
                <a:gd name="T12" fmla="*/ 2 w 117"/>
                <a:gd name="T13" fmla="*/ 0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7" h="41">
                  <a:moveTo>
                    <a:pt x="14" y="0"/>
                  </a:moveTo>
                  <a:cubicBezTo>
                    <a:pt x="8" y="4"/>
                    <a:pt x="0" y="9"/>
                    <a:pt x="8" y="16"/>
                  </a:cubicBezTo>
                  <a:cubicBezTo>
                    <a:pt x="21" y="27"/>
                    <a:pt x="34" y="28"/>
                    <a:pt x="50" y="30"/>
                  </a:cubicBezTo>
                  <a:cubicBezTo>
                    <a:pt x="66" y="41"/>
                    <a:pt x="57" y="39"/>
                    <a:pt x="76" y="36"/>
                  </a:cubicBezTo>
                  <a:cubicBezTo>
                    <a:pt x="88" y="32"/>
                    <a:pt x="101" y="29"/>
                    <a:pt x="112" y="22"/>
                  </a:cubicBezTo>
                  <a:cubicBezTo>
                    <a:pt x="117" y="6"/>
                    <a:pt x="87" y="5"/>
                    <a:pt x="78" y="4"/>
                  </a:cubicBezTo>
                  <a:cubicBezTo>
                    <a:pt x="17" y="6"/>
                    <a:pt x="34" y="20"/>
                    <a:pt x="1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" name="Freeform 90"/>
            <p:cNvSpPr>
              <a:spLocks/>
            </p:cNvSpPr>
            <p:nvPr/>
          </p:nvSpPr>
          <p:spPr bwMode="invGray">
            <a:xfrm>
              <a:off x="3867" y="2041"/>
              <a:ext cx="46" cy="24"/>
            </a:xfrm>
            <a:custGeom>
              <a:avLst/>
              <a:gdLst>
                <a:gd name="T0" fmla="*/ 4 w 62"/>
                <a:gd name="T1" fmla="*/ 2 h 32"/>
                <a:gd name="T2" fmla="*/ 7 w 62"/>
                <a:gd name="T3" fmla="*/ 2 h 32"/>
                <a:gd name="T4" fmla="*/ 4 w 62"/>
                <a:gd name="T5" fmla="*/ 5 h 32"/>
                <a:gd name="T6" fmla="*/ 1 w 62"/>
                <a:gd name="T7" fmla="*/ 4 h 32"/>
                <a:gd name="T8" fmla="*/ 4 w 62"/>
                <a:gd name="T9" fmla="*/ 2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32">
                  <a:moveTo>
                    <a:pt x="32" y="4"/>
                  </a:moveTo>
                  <a:cubicBezTo>
                    <a:pt x="44" y="0"/>
                    <a:pt x="53" y="1"/>
                    <a:pt x="62" y="10"/>
                  </a:cubicBezTo>
                  <a:cubicBezTo>
                    <a:pt x="59" y="23"/>
                    <a:pt x="42" y="28"/>
                    <a:pt x="30" y="32"/>
                  </a:cubicBezTo>
                  <a:cubicBezTo>
                    <a:pt x="15" y="22"/>
                    <a:pt x="23" y="25"/>
                    <a:pt x="6" y="22"/>
                  </a:cubicBezTo>
                  <a:cubicBezTo>
                    <a:pt x="0" y="4"/>
                    <a:pt x="14" y="8"/>
                    <a:pt x="32" y="4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91"/>
            <p:cNvSpPr>
              <a:spLocks/>
            </p:cNvSpPr>
            <p:nvPr/>
          </p:nvSpPr>
          <p:spPr bwMode="invGray">
            <a:xfrm>
              <a:off x="3846" y="2070"/>
              <a:ext cx="37" cy="17"/>
            </a:xfrm>
            <a:custGeom>
              <a:avLst/>
              <a:gdLst>
                <a:gd name="T0" fmla="*/ 3 w 49"/>
                <a:gd name="T1" fmla="*/ 1 h 23"/>
                <a:gd name="T2" fmla="*/ 2 w 49"/>
                <a:gd name="T3" fmla="*/ 1 h 23"/>
                <a:gd name="T4" fmla="*/ 6 w 49"/>
                <a:gd name="T5" fmla="*/ 3 h 23"/>
                <a:gd name="T6" fmla="*/ 3 w 49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3">
                  <a:moveTo>
                    <a:pt x="20" y="1"/>
                  </a:moveTo>
                  <a:cubicBezTo>
                    <a:pt x="15" y="2"/>
                    <a:pt x="8" y="0"/>
                    <a:pt x="6" y="5"/>
                  </a:cubicBezTo>
                  <a:cubicBezTo>
                    <a:pt x="0" y="19"/>
                    <a:pt x="32" y="21"/>
                    <a:pt x="38" y="23"/>
                  </a:cubicBezTo>
                  <a:cubicBezTo>
                    <a:pt x="49" y="6"/>
                    <a:pt x="35" y="3"/>
                    <a:pt x="20" y="1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92"/>
            <p:cNvSpPr>
              <a:spLocks/>
            </p:cNvSpPr>
            <p:nvPr/>
          </p:nvSpPr>
          <p:spPr bwMode="invGray">
            <a:xfrm>
              <a:off x="4098" y="2294"/>
              <a:ext cx="76" cy="114"/>
            </a:xfrm>
            <a:custGeom>
              <a:avLst/>
              <a:gdLst>
                <a:gd name="T0" fmla="*/ 1 w 102"/>
                <a:gd name="T1" fmla="*/ 0 h 152"/>
                <a:gd name="T2" fmla="*/ 0 w 102"/>
                <a:gd name="T3" fmla="*/ 3 h 152"/>
                <a:gd name="T4" fmla="*/ 1 w 102"/>
                <a:gd name="T5" fmla="*/ 6 h 152"/>
                <a:gd name="T6" fmla="*/ 4 w 102"/>
                <a:gd name="T7" fmla="*/ 10 h 152"/>
                <a:gd name="T8" fmla="*/ 4 w 102"/>
                <a:gd name="T9" fmla="*/ 14 h 152"/>
                <a:gd name="T10" fmla="*/ 10 w 102"/>
                <a:gd name="T11" fmla="*/ 21 h 152"/>
                <a:gd name="T12" fmla="*/ 11 w 102"/>
                <a:gd name="T13" fmla="*/ 17 h 152"/>
                <a:gd name="T14" fmla="*/ 10 w 102"/>
                <a:gd name="T15" fmla="*/ 14 h 152"/>
                <a:gd name="T16" fmla="*/ 7 w 102"/>
                <a:gd name="T17" fmla="*/ 13 h 152"/>
                <a:gd name="T18" fmla="*/ 7 w 102"/>
                <a:gd name="T19" fmla="*/ 11 h 152"/>
                <a:gd name="T20" fmla="*/ 5 w 102"/>
                <a:gd name="T21" fmla="*/ 6 h 152"/>
                <a:gd name="T22" fmla="*/ 1 w 102"/>
                <a:gd name="T23" fmla="*/ 2 h 152"/>
                <a:gd name="T24" fmla="*/ 1 w 102"/>
                <a:gd name="T25" fmla="*/ 0 h 1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2" h="152">
                  <a:moveTo>
                    <a:pt x="6" y="0"/>
                  </a:moveTo>
                  <a:cubicBezTo>
                    <a:pt x="4" y="6"/>
                    <a:pt x="0" y="18"/>
                    <a:pt x="0" y="18"/>
                  </a:cubicBezTo>
                  <a:cubicBezTo>
                    <a:pt x="3" y="26"/>
                    <a:pt x="9" y="35"/>
                    <a:pt x="14" y="42"/>
                  </a:cubicBezTo>
                  <a:cubicBezTo>
                    <a:pt x="17" y="58"/>
                    <a:pt x="16" y="69"/>
                    <a:pt x="32" y="72"/>
                  </a:cubicBezTo>
                  <a:cubicBezTo>
                    <a:pt x="44" y="80"/>
                    <a:pt x="40" y="91"/>
                    <a:pt x="36" y="104"/>
                  </a:cubicBezTo>
                  <a:cubicBezTo>
                    <a:pt x="57" y="118"/>
                    <a:pt x="60" y="139"/>
                    <a:pt x="80" y="152"/>
                  </a:cubicBezTo>
                  <a:cubicBezTo>
                    <a:pt x="95" y="148"/>
                    <a:pt x="102" y="135"/>
                    <a:pt x="86" y="124"/>
                  </a:cubicBezTo>
                  <a:cubicBezTo>
                    <a:pt x="72" y="129"/>
                    <a:pt x="78" y="110"/>
                    <a:pt x="74" y="102"/>
                  </a:cubicBezTo>
                  <a:cubicBezTo>
                    <a:pt x="72" y="98"/>
                    <a:pt x="65" y="94"/>
                    <a:pt x="62" y="92"/>
                  </a:cubicBezTo>
                  <a:cubicBezTo>
                    <a:pt x="59" y="82"/>
                    <a:pt x="65" y="65"/>
                    <a:pt x="52" y="74"/>
                  </a:cubicBezTo>
                  <a:cubicBezTo>
                    <a:pt x="46" y="65"/>
                    <a:pt x="47" y="54"/>
                    <a:pt x="42" y="44"/>
                  </a:cubicBezTo>
                  <a:cubicBezTo>
                    <a:pt x="36" y="32"/>
                    <a:pt x="16" y="18"/>
                    <a:pt x="4" y="12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93"/>
            <p:cNvSpPr>
              <a:spLocks/>
            </p:cNvSpPr>
            <p:nvPr/>
          </p:nvSpPr>
          <p:spPr bwMode="invGray">
            <a:xfrm>
              <a:off x="4159" y="2412"/>
              <a:ext cx="55" cy="78"/>
            </a:xfrm>
            <a:custGeom>
              <a:avLst/>
              <a:gdLst>
                <a:gd name="T0" fmla="*/ 8 w 74"/>
                <a:gd name="T1" fmla="*/ 4 h 103"/>
                <a:gd name="T2" fmla="*/ 9 w 74"/>
                <a:gd name="T3" fmla="*/ 6 h 103"/>
                <a:gd name="T4" fmla="*/ 4 w 74"/>
                <a:gd name="T5" fmla="*/ 11 h 103"/>
                <a:gd name="T6" fmla="*/ 4 w 74"/>
                <a:gd name="T7" fmla="*/ 14 h 103"/>
                <a:gd name="T8" fmla="*/ 2 w 74"/>
                <a:gd name="T9" fmla="*/ 13 h 103"/>
                <a:gd name="T10" fmla="*/ 1 w 74"/>
                <a:gd name="T11" fmla="*/ 11 h 103"/>
                <a:gd name="T12" fmla="*/ 0 w 74"/>
                <a:gd name="T13" fmla="*/ 11 h 103"/>
                <a:gd name="T14" fmla="*/ 1 w 74"/>
                <a:gd name="T15" fmla="*/ 8 h 103"/>
                <a:gd name="T16" fmla="*/ 1 w 74"/>
                <a:gd name="T17" fmla="*/ 8 h 103"/>
                <a:gd name="T18" fmla="*/ 1 w 74"/>
                <a:gd name="T19" fmla="*/ 4 h 103"/>
                <a:gd name="T20" fmla="*/ 1 w 74"/>
                <a:gd name="T21" fmla="*/ 2 h 103"/>
                <a:gd name="T22" fmla="*/ 3 w 74"/>
                <a:gd name="T23" fmla="*/ 4 h 103"/>
                <a:gd name="T24" fmla="*/ 4 w 74"/>
                <a:gd name="T25" fmla="*/ 5 h 103"/>
                <a:gd name="T26" fmla="*/ 8 w 74"/>
                <a:gd name="T27" fmla="*/ 4 h 103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74" h="103">
                  <a:moveTo>
                    <a:pt x="64" y="22"/>
                  </a:moveTo>
                  <a:cubicBezTo>
                    <a:pt x="73" y="36"/>
                    <a:pt x="70" y="29"/>
                    <a:pt x="74" y="40"/>
                  </a:cubicBezTo>
                  <a:cubicBezTo>
                    <a:pt x="70" y="77"/>
                    <a:pt x="68" y="81"/>
                    <a:pt x="30" y="84"/>
                  </a:cubicBezTo>
                  <a:cubicBezTo>
                    <a:pt x="33" y="88"/>
                    <a:pt x="39" y="95"/>
                    <a:pt x="32" y="100"/>
                  </a:cubicBezTo>
                  <a:cubicBezTo>
                    <a:pt x="28" y="103"/>
                    <a:pt x="24" y="95"/>
                    <a:pt x="20" y="94"/>
                  </a:cubicBezTo>
                  <a:cubicBezTo>
                    <a:pt x="17" y="84"/>
                    <a:pt x="20" y="89"/>
                    <a:pt x="6" y="84"/>
                  </a:cubicBezTo>
                  <a:cubicBezTo>
                    <a:pt x="4" y="83"/>
                    <a:pt x="0" y="82"/>
                    <a:pt x="0" y="82"/>
                  </a:cubicBezTo>
                  <a:cubicBezTo>
                    <a:pt x="3" y="73"/>
                    <a:pt x="7" y="67"/>
                    <a:pt x="10" y="58"/>
                  </a:cubicBezTo>
                  <a:cubicBezTo>
                    <a:pt x="11" y="56"/>
                    <a:pt x="12" y="52"/>
                    <a:pt x="12" y="52"/>
                  </a:cubicBezTo>
                  <a:cubicBezTo>
                    <a:pt x="10" y="42"/>
                    <a:pt x="8" y="33"/>
                    <a:pt x="2" y="24"/>
                  </a:cubicBezTo>
                  <a:cubicBezTo>
                    <a:pt x="3" y="21"/>
                    <a:pt x="2" y="17"/>
                    <a:pt x="4" y="14"/>
                  </a:cubicBezTo>
                  <a:cubicBezTo>
                    <a:pt x="11" y="0"/>
                    <a:pt x="18" y="19"/>
                    <a:pt x="26" y="22"/>
                  </a:cubicBezTo>
                  <a:cubicBezTo>
                    <a:pt x="31" y="36"/>
                    <a:pt x="26" y="33"/>
                    <a:pt x="36" y="36"/>
                  </a:cubicBezTo>
                  <a:cubicBezTo>
                    <a:pt x="45" y="30"/>
                    <a:pt x="55" y="28"/>
                    <a:pt x="64" y="22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94"/>
            <p:cNvSpPr>
              <a:spLocks/>
            </p:cNvSpPr>
            <p:nvPr/>
          </p:nvSpPr>
          <p:spPr bwMode="invGray">
            <a:xfrm>
              <a:off x="4123" y="2492"/>
              <a:ext cx="109" cy="189"/>
            </a:xfrm>
            <a:custGeom>
              <a:avLst/>
              <a:gdLst>
                <a:gd name="T0" fmla="*/ 10 w 146"/>
                <a:gd name="T1" fmla="*/ 14 h 252"/>
                <a:gd name="T2" fmla="*/ 9 w 146"/>
                <a:gd name="T3" fmla="*/ 15 h 252"/>
                <a:gd name="T4" fmla="*/ 8 w 146"/>
                <a:gd name="T5" fmla="*/ 18 h 252"/>
                <a:gd name="T6" fmla="*/ 3 w 146"/>
                <a:gd name="T7" fmla="*/ 20 h 252"/>
                <a:gd name="T8" fmla="*/ 1 w 146"/>
                <a:gd name="T9" fmla="*/ 23 h 252"/>
                <a:gd name="T10" fmla="*/ 2 w 146"/>
                <a:gd name="T11" fmla="*/ 25 h 252"/>
                <a:gd name="T12" fmla="*/ 1 w 146"/>
                <a:gd name="T13" fmla="*/ 26 h 252"/>
                <a:gd name="T14" fmla="*/ 3 w 146"/>
                <a:gd name="T15" fmla="*/ 34 h 252"/>
                <a:gd name="T16" fmla="*/ 4 w 146"/>
                <a:gd name="T17" fmla="*/ 29 h 252"/>
                <a:gd name="T18" fmla="*/ 3 w 146"/>
                <a:gd name="T19" fmla="*/ 26 h 252"/>
                <a:gd name="T20" fmla="*/ 5 w 146"/>
                <a:gd name="T21" fmla="*/ 24 h 252"/>
                <a:gd name="T22" fmla="*/ 7 w 146"/>
                <a:gd name="T23" fmla="*/ 22 h 252"/>
                <a:gd name="T24" fmla="*/ 9 w 146"/>
                <a:gd name="T25" fmla="*/ 24 h 252"/>
                <a:gd name="T26" fmla="*/ 5 w 146"/>
                <a:gd name="T27" fmla="*/ 26 h 252"/>
                <a:gd name="T28" fmla="*/ 7 w 146"/>
                <a:gd name="T29" fmla="*/ 27 h 252"/>
                <a:gd name="T30" fmla="*/ 9 w 146"/>
                <a:gd name="T31" fmla="*/ 24 h 252"/>
                <a:gd name="T32" fmla="*/ 10 w 146"/>
                <a:gd name="T33" fmla="*/ 25 h 252"/>
                <a:gd name="T34" fmla="*/ 13 w 146"/>
                <a:gd name="T35" fmla="*/ 20 h 252"/>
                <a:gd name="T36" fmla="*/ 14 w 146"/>
                <a:gd name="T37" fmla="*/ 22 h 252"/>
                <a:gd name="T38" fmla="*/ 18 w 146"/>
                <a:gd name="T39" fmla="*/ 20 h 252"/>
                <a:gd name="T40" fmla="*/ 19 w 146"/>
                <a:gd name="T41" fmla="*/ 18 h 252"/>
                <a:gd name="T42" fmla="*/ 19 w 146"/>
                <a:gd name="T43" fmla="*/ 15 h 252"/>
                <a:gd name="T44" fmla="*/ 17 w 146"/>
                <a:gd name="T45" fmla="*/ 14 h 252"/>
                <a:gd name="T46" fmla="*/ 16 w 146"/>
                <a:gd name="T47" fmla="*/ 6 h 252"/>
                <a:gd name="T48" fmla="*/ 12 w 146"/>
                <a:gd name="T49" fmla="*/ 0 h 252"/>
                <a:gd name="T50" fmla="*/ 10 w 146"/>
                <a:gd name="T51" fmla="*/ 2 h 252"/>
                <a:gd name="T52" fmla="*/ 12 w 146"/>
                <a:gd name="T53" fmla="*/ 5 h 252"/>
                <a:gd name="T54" fmla="*/ 12 w 146"/>
                <a:gd name="T55" fmla="*/ 8 h 252"/>
                <a:gd name="T56" fmla="*/ 10 w 146"/>
                <a:gd name="T57" fmla="*/ 14 h 25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46" h="252">
                  <a:moveTo>
                    <a:pt x="82" y="100"/>
                  </a:moveTo>
                  <a:cubicBezTo>
                    <a:pt x="70" y="88"/>
                    <a:pt x="69" y="92"/>
                    <a:pt x="66" y="106"/>
                  </a:cubicBezTo>
                  <a:cubicBezTo>
                    <a:pt x="65" y="115"/>
                    <a:pt x="68" y="124"/>
                    <a:pt x="64" y="132"/>
                  </a:cubicBezTo>
                  <a:cubicBezTo>
                    <a:pt x="63" y="133"/>
                    <a:pt x="28" y="142"/>
                    <a:pt x="22" y="146"/>
                  </a:cubicBezTo>
                  <a:cubicBezTo>
                    <a:pt x="18" y="157"/>
                    <a:pt x="18" y="162"/>
                    <a:pt x="8" y="168"/>
                  </a:cubicBezTo>
                  <a:cubicBezTo>
                    <a:pt x="0" y="180"/>
                    <a:pt x="7" y="180"/>
                    <a:pt x="20" y="182"/>
                  </a:cubicBezTo>
                  <a:cubicBezTo>
                    <a:pt x="17" y="190"/>
                    <a:pt x="15" y="193"/>
                    <a:pt x="8" y="198"/>
                  </a:cubicBezTo>
                  <a:cubicBezTo>
                    <a:pt x="10" y="214"/>
                    <a:pt x="9" y="242"/>
                    <a:pt x="24" y="252"/>
                  </a:cubicBezTo>
                  <a:cubicBezTo>
                    <a:pt x="42" y="246"/>
                    <a:pt x="31" y="227"/>
                    <a:pt x="28" y="214"/>
                  </a:cubicBezTo>
                  <a:cubicBezTo>
                    <a:pt x="26" y="207"/>
                    <a:pt x="22" y="192"/>
                    <a:pt x="22" y="192"/>
                  </a:cubicBezTo>
                  <a:cubicBezTo>
                    <a:pt x="25" y="180"/>
                    <a:pt x="33" y="182"/>
                    <a:pt x="42" y="176"/>
                  </a:cubicBezTo>
                  <a:cubicBezTo>
                    <a:pt x="44" y="169"/>
                    <a:pt x="52" y="158"/>
                    <a:pt x="52" y="158"/>
                  </a:cubicBezTo>
                  <a:cubicBezTo>
                    <a:pt x="58" y="164"/>
                    <a:pt x="63" y="166"/>
                    <a:pt x="66" y="174"/>
                  </a:cubicBezTo>
                  <a:cubicBezTo>
                    <a:pt x="59" y="178"/>
                    <a:pt x="51" y="188"/>
                    <a:pt x="44" y="190"/>
                  </a:cubicBezTo>
                  <a:cubicBezTo>
                    <a:pt x="36" y="202"/>
                    <a:pt x="46" y="202"/>
                    <a:pt x="56" y="200"/>
                  </a:cubicBezTo>
                  <a:cubicBezTo>
                    <a:pt x="60" y="189"/>
                    <a:pt x="59" y="184"/>
                    <a:pt x="68" y="178"/>
                  </a:cubicBezTo>
                  <a:cubicBezTo>
                    <a:pt x="77" y="181"/>
                    <a:pt x="75" y="187"/>
                    <a:pt x="84" y="184"/>
                  </a:cubicBezTo>
                  <a:cubicBezTo>
                    <a:pt x="92" y="171"/>
                    <a:pt x="91" y="157"/>
                    <a:pt x="104" y="148"/>
                  </a:cubicBezTo>
                  <a:cubicBezTo>
                    <a:pt x="108" y="149"/>
                    <a:pt x="110" y="155"/>
                    <a:pt x="114" y="156"/>
                  </a:cubicBezTo>
                  <a:cubicBezTo>
                    <a:pt x="120" y="158"/>
                    <a:pt x="131" y="151"/>
                    <a:pt x="136" y="148"/>
                  </a:cubicBezTo>
                  <a:cubicBezTo>
                    <a:pt x="145" y="134"/>
                    <a:pt x="142" y="141"/>
                    <a:pt x="146" y="130"/>
                  </a:cubicBezTo>
                  <a:cubicBezTo>
                    <a:pt x="146" y="127"/>
                    <a:pt x="145" y="115"/>
                    <a:pt x="142" y="110"/>
                  </a:cubicBezTo>
                  <a:cubicBezTo>
                    <a:pt x="140" y="106"/>
                    <a:pt x="134" y="98"/>
                    <a:pt x="134" y="98"/>
                  </a:cubicBezTo>
                  <a:cubicBezTo>
                    <a:pt x="131" y="78"/>
                    <a:pt x="142" y="53"/>
                    <a:pt x="122" y="40"/>
                  </a:cubicBezTo>
                  <a:cubicBezTo>
                    <a:pt x="112" y="26"/>
                    <a:pt x="109" y="10"/>
                    <a:pt x="94" y="0"/>
                  </a:cubicBezTo>
                  <a:cubicBezTo>
                    <a:pt x="87" y="4"/>
                    <a:pt x="86" y="9"/>
                    <a:pt x="78" y="12"/>
                  </a:cubicBezTo>
                  <a:cubicBezTo>
                    <a:pt x="67" y="29"/>
                    <a:pt x="80" y="31"/>
                    <a:pt x="96" y="34"/>
                  </a:cubicBezTo>
                  <a:cubicBezTo>
                    <a:pt x="103" y="44"/>
                    <a:pt x="100" y="53"/>
                    <a:pt x="96" y="64"/>
                  </a:cubicBezTo>
                  <a:cubicBezTo>
                    <a:pt x="96" y="68"/>
                    <a:pt x="95" y="106"/>
                    <a:pt x="82" y="10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95"/>
            <p:cNvSpPr>
              <a:spLocks/>
            </p:cNvSpPr>
            <p:nvPr/>
          </p:nvSpPr>
          <p:spPr bwMode="invGray">
            <a:xfrm>
              <a:off x="3062" y="1988"/>
              <a:ext cx="52" cy="30"/>
            </a:xfrm>
            <a:custGeom>
              <a:avLst/>
              <a:gdLst>
                <a:gd name="T0" fmla="*/ 7 w 70"/>
                <a:gd name="T1" fmla="*/ 0 h 40"/>
                <a:gd name="T2" fmla="*/ 8 w 70"/>
                <a:gd name="T3" fmla="*/ 3 h 40"/>
                <a:gd name="T4" fmla="*/ 5 w 70"/>
                <a:gd name="T5" fmla="*/ 4 h 40"/>
                <a:gd name="T6" fmla="*/ 4 w 70"/>
                <a:gd name="T7" fmla="*/ 6 h 40"/>
                <a:gd name="T8" fmla="*/ 1 w 70"/>
                <a:gd name="T9" fmla="*/ 6 h 40"/>
                <a:gd name="T10" fmla="*/ 1 w 70"/>
                <a:gd name="T11" fmla="*/ 5 h 40"/>
                <a:gd name="T12" fmla="*/ 4 w 70"/>
                <a:gd name="T13" fmla="*/ 3 h 40"/>
                <a:gd name="T14" fmla="*/ 7 w 70"/>
                <a:gd name="T15" fmla="*/ 0 h 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0" h="40">
                  <a:moveTo>
                    <a:pt x="59" y="0"/>
                  </a:moveTo>
                  <a:cubicBezTo>
                    <a:pt x="68" y="3"/>
                    <a:pt x="70" y="10"/>
                    <a:pt x="65" y="20"/>
                  </a:cubicBezTo>
                  <a:cubicBezTo>
                    <a:pt x="61" y="27"/>
                    <a:pt x="49" y="23"/>
                    <a:pt x="41" y="24"/>
                  </a:cubicBezTo>
                  <a:cubicBezTo>
                    <a:pt x="36" y="38"/>
                    <a:pt x="41" y="34"/>
                    <a:pt x="31" y="40"/>
                  </a:cubicBezTo>
                  <a:cubicBezTo>
                    <a:pt x="23" y="39"/>
                    <a:pt x="15" y="39"/>
                    <a:pt x="7" y="38"/>
                  </a:cubicBezTo>
                  <a:cubicBezTo>
                    <a:pt x="5" y="38"/>
                    <a:pt x="0" y="38"/>
                    <a:pt x="1" y="36"/>
                  </a:cubicBezTo>
                  <a:cubicBezTo>
                    <a:pt x="7" y="26"/>
                    <a:pt x="23" y="23"/>
                    <a:pt x="33" y="20"/>
                  </a:cubicBezTo>
                  <a:cubicBezTo>
                    <a:pt x="39" y="11"/>
                    <a:pt x="51" y="8"/>
                    <a:pt x="59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96"/>
            <p:cNvSpPr>
              <a:spLocks/>
            </p:cNvSpPr>
            <p:nvPr/>
          </p:nvSpPr>
          <p:spPr bwMode="invGray">
            <a:xfrm>
              <a:off x="2955" y="1997"/>
              <a:ext cx="19" cy="22"/>
            </a:xfrm>
            <a:custGeom>
              <a:avLst/>
              <a:gdLst>
                <a:gd name="T0" fmla="*/ 2 w 26"/>
                <a:gd name="T1" fmla="*/ 0 h 29"/>
                <a:gd name="T2" fmla="*/ 0 w 26"/>
                <a:gd name="T3" fmla="*/ 3 h 29"/>
                <a:gd name="T4" fmla="*/ 2 w 26"/>
                <a:gd name="T5" fmla="*/ 4 h 29"/>
                <a:gd name="T6" fmla="*/ 2 w 26"/>
                <a:gd name="T7" fmla="*/ 0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29">
                  <a:moveTo>
                    <a:pt x="18" y="0"/>
                  </a:moveTo>
                  <a:cubicBezTo>
                    <a:pt x="9" y="6"/>
                    <a:pt x="4" y="7"/>
                    <a:pt x="0" y="18"/>
                  </a:cubicBezTo>
                  <a:cubicBezTo>
                    <a:pt x="7" y="25"/>
                    <a:pt x="9" y="29"/>
                    <a:pt x="18" y="26"/>
                  </a:cubicBezTo>
                  <a:cubicBezTo>
                    <a:pt x="22" y="14"/>
                    <a:pt x="26" y="12"/>
                    <a:pt x="18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97"/>
            <p:cNvSpPr>
              <a:spLocks/>
            </p:cNvSpPr>
            <p:nvPr/>
          </p:nvSpPr>
          <p:spPr bwMode="invGray">
            <a:xfrm>
              <a:off x="2979" y="1996"/>
              <a:ext cx="37" cy="27"/>
            </a:xfrm>
            <a:custGeom>
              <a:avLst/>
              <a:gdLst>
                <a:gd name="T0" fmla="*/ 2 w 49"/>
                <a:gd name="T1" fmla="*/ 2 h 36"/>
                <a:gd name="T2" fmla="*/ 0 w 49"/>
                <a:gd name="T3" fmla="*/ 3 h 36"/>
                <a:gd name="T4" fmla="*/ 2 w 49"/>
                <a:gd name="T5" fmla="*/ 5 h 36"/>
                <a:gd name="T6" fmla="*/ 3 w 49"/>
                <a:gd name="T7" fmla="*/ 5 h 36"/>
                <a:gd name="T8" fmla="*/ 6 w 49"/>
                <a:gd name="T9" fmla="*/ 4 h 36"/>
                <a:gd name="T10" fmla="*/ 2 w 49"/>
                <a:gd name="T11" fmla="*/ 2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36">
                  <a:moveTo>
                    <a:pt x="14" y="6"/>
                  </a:moveTo>
                  <a:cubicBezTo>
                    <a:pt x="11" y="14"/>
                    <a:pt x="7" y="13"/>
                    <a:pt x="0" y="18"/>
                  </a:cubicBezTo>
                  <a:cubicBezTo>
                    <a:pt x="1" y="22"/>
                    <a:pt x="2" y="29"/>
                    <a:pt x="6" y="32"/>
                  </a:cubicBezTo>
                  <a:cubicBezTo>
                    <a:pt x="10" y="34"/>
                    <a:pt x="18" y="36"/>
                    <a:pt x="18" y="36"/>
                  </a:cubicBezTo>
                  <a:cubicBezTo>
                    <a:pt x="24" y="27"/>
                    <a:pt x="30" y="28"/>
                    <a:pt x="40" y="26"/>
                  </a:cubicBezTo>
                  <a:cubicBezTo>
                    <a:pt x="49" y="0"/>
                    <a:pt x="26" y="18"/>
                    <a:pt x="14" y="6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98"/>
            <p:cNvSpPr>
              <a:spLocks/>
            </p:cNvSpPr>
            <p:nvPr/>
          </p:nvSpPr>
          <p:spPr bwMode="invGray">
            <a:xfrm>
              <a:off x="3040" y="1987"/>
              <a:ext cx="20" cy="16"/>
            </a:xfrm>
            <a:custGeom>
              <a:avLst/>
              <a:gdLst>
                <a:gd name="T0" fmla="*/ 1 w 27"/>
                <a:gd name="T1" fmla="*/ 0 h 22"/>
                <a:gd name="T2" fmla="*/ 1 w 27"/>
                <a:gd name="T3" fmla="*/ 1 h 22"/>
                <a:gd name="T4" fmla="*/ 2 w 27"/>
                <a:gd name="T5" fmla="*/ 3 h 22"/>
                <a:gd name="T6" fmla="*/ 1 w 27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11" y="0"/>
                  </a:moveTo>
                  <a:cubicBezTo>
                    <a:pt x="8" y="4"/>
                    <a:pt x="0" y="8"/>
                    <a:pt x="3" y="12"/>
                  </a:cubicBezTo>
                  <a:cubicBezTo>
                    <a:pt x="6" y="17"/>
                    <a:pt x="19" y="22"/>
                    <a:pt x="19" y="22"/>
                  </a:cubicBezTo>
                  <a:cubicBezTo>
                    <a:pt x="27" y="10"/>
                    <a:pt x="15" y="11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99"/>
            <p:cNvSpPr>
              <a:spLocks/>
            </p:cNvSpPr>
            <p:nvPr/>
          </p:nvSpPr>
          <p:spPr bwMode="invGray">
            <a:xfrm>
              <a:off x="3022" y="2005"/>
              <a:ext cx="15" cy="13"/>
            </a:xfrm>
            <a:custGeom>
              <a:avLst/>
              <a:gdLst>
                <a:gd name="T0" fmla="*/ 2 w 20"/>
                <a:gd name="T1" fmla="*/ 0 h 18"/>
                <a:gd name="T2" fmla="*/ 2 w 20"/>
                <a:gd name="T3" fmla="*/ 2 h 18"/>
                <a:gd name="T4" fmla="*/ 2 w 20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8">
                  <a:moveTo>
                    <a:pt x="11" y="0"/>
                  </a:moveTo>
                  <a:cubicBezTo>
                    <a:pt x="1" y="14"/>
                    <a:pt x="0" y="9"/>
                    <a:pt x="9" y="18"/>
                  </a:cubicBezTo>
                  <a:cubicBezTo>
                    <a:pt x="20" y="14"/>
                    <a:pt x="16" y="18"/>
                    <a:pt x="11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00"/>
            <p:cNvSpPr>
              <a:spLocks/>
            </p:cNvSpPr>
            <p:nvPr/>
          </p:nvSpPr>
          <p:spPr bwMode="invGray">
            <a:xfrm>
              <a:off x="4162" y="2021"/>
              <a:ext cx="18" cy="33"/>
            </a:xfrm>
            <a:custGeom>
              <a:avLst/>
              <a:gdLst>
                <a:gd name="T0" fmla="*/ 4 w 24"/>
                <a:gd name="T1" fmla="*/ 0 h 44"/>
                <a:gd name="T2" fmla="*/ 2 w 24"/>
                <a:gd name="T3" fmla="*/ 2 h 44"/>
                <a:gd name="T4" fmla="*/ 0 w 24"/>
                <a:gd name="T5" fmla="*/ 5 h 44"/>
                <a:gd name="T6" fmla="*/ 2 w 24"/>
                <a:gd name="T7" fmla="*/ 6 h 44"/>
                <a:gd name="T8" fmla="*/ 4 w 24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44">
                  <a:moveTo>
                    <a:pt x="24" y="0"/>
                  </a:moveTo>
                  <a:cubicBezTo>
                    <a:pt x="19" y="7"/>
                    <a:pt x="15" y="11"/>
                    <a:pt x="8" y="16"/>
                  </a:cubicBezTo>
                  <a:cubicBezTo>
                    <a:pt x="4" y="21"/>
                    <a:pt x="0" y="34"/>
                    <a:pt x="0" y="34"/>
                  </a:cubicBezTo>
                  <a:cubicBezTo>
                    <a:pt x="3" y="44"/>
                    <a:pt x="7" y="42"/>
                    <a:pt x="16" y="40"/>
                  </a:cubicBezTo>
                  <a:cubicBezTo>
                    <a:pt x="20" y="27"/>
                    <a:pt x="24" y="14"/>
                    <a:pt x="24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01"/>
            <p:cNvSpPr>
              <a:spLocks/>
            </p:cNvSpPr>
            <p:nvPr/>
          </p:nvSpPr>
          <p:spPr bwMode="invGray">
            <a:xfrm>
              <a:off x="3278" y="3473"/>
              <a:ext cx="31" cy="18"/>
            </a:xfrm>
            <a:custGeom>
              <a:avLst/>
              <a:gdLst>
                <a:gd name="T0" fmla="*/ 5 w 41"/>
                <a:gd name="T1" fmla="*/ 0 h 24"/>
                <a:gd name="T2" fmla="*/ 4 w 41"/>
                <a:gd name="T3" fmla="*/ 4 h 24"/>
                <a:gd name="T4" fmla="*/ 5 w 41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24">
                  <a:moveTo>
                    <a:pt x="30" y="0"/>
                  </a:moveTo>
                  <a:cubicBezTo>
                    <a:pt x="4" y="4"/>
                    <a:pt x="0" y="17"/>
                    <a:pt x="26" y="24"/>
                  </a:cubicBezTo>
                  <a:cubicBezTo>
                    <a:pt x="41" y="19"/>
                    <a:pt x="38" y="10"/>
                    <a:pt x="30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02"/>
            <p:cNvSpPr>
              <a:spLocks/>
            </p:cNvSpPr>
            <p:nvPr/>
          </p:nvSpPr>
          <p:spPr bwMode="invGray">
            <a:xfrm>
              <a:off x="3318" y="3466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03"/>
            <p:cNvSpPr>
              <a:spLocks/>
            </p:cNvSpPr>
            <p:nvPr/>
          </p:nvSpPr>
          <p:spPr bwMode="invGray">
            <a:xfrm>
              <a:off x="3251" y="3312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104"/>
            <p:cNvSpPr>
              <a:spLocks/>
            </p:cNvSpPr>
            <p:nvPr/>
          </p:nvSpPr>
          <p:spPr bwMode="invGray">
            <a:xfrm>
              <a:off x="3311" y="3239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7" name="Freeform 105"/>
            <p:cNvSpPr>
              <a:spLocks/>
            </p:cNvSpPr>
            <p:nvPr/>
          </p:nvSpPr>
          <p:spPr bwMode="invGray">
            <a:xfrm>
              <a:off x="3287" y="3238"/>
              <a:ext cx="11" cy="19"/>
            </a:xfrm>
            <a:custGeom>
              <a:avLst/>
              <a:gdLst>
                <a:gd name="T0" fmla="*/ 2 w 14"/>
                <a:gd name="T1" fmla="*/ 0 h 25"/>
                <a:gd name="T2" fmla="*/ 0 w 14"/>
                <a:gd name="T3" fmla="*/ 2 h 25"/>
                <a:gd name="T4" fmla="*/ 2 w 14"/>
                <a:gd name="T5" fmla="*/ 4 h 25"/>
                <a:gd name="T6" fmla="*/ 2 w 14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5">
                  <a:moveTo>
                    <a:pt x="6" y="0"/>
                  </a:moveTo>
                  <a:cubicBezTo>
                    <a:pt x="4" y="5"/>
                    <a:pt x="3" y="9"/>
                    <a:pt x="0" y="13"/>
                  </a:cubicBezTo>
                  <a:cubicBezTo>
                    <a:pt x="1" y="24"/>
                    <a:pt x="1" y="25"/>
                    <a:pt x="12" y="24"/>
                  </a:cubicBezTo>
                  <a:cubicBezTo>
                    <a:pt x="14" y="12"/>
                    <a:pt x="8" y="10"/>
                    <a:pt x="6" y="0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8" name="Freeform 106"/>
            <p:cNvSpPr>
              <a:spLocks/>
            </p:cNvSpPr>
            <p:nvPr/>
          </p:nvSpPr>
          <p:spPr bwMode="invGray">
            <a:xfrm>
              <a:off x="3276" y="3260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9" name="Freeform 107"/>
            <p:cNvSpPr>
              <a:spLocks/>
            </p:cNvSpPr>
            <p:nvPr/>
          </p:nvSpPr>
          <p:spPr bwMode="invGray">
            <a:xfrm>
              <a:off x="3251" y="3294"/>
              <a:ext cx="9" cy="15"/>
            </a:xfrm>
            <a:custGeom>
              <a:avLst/>
              <a:gdLst>
                <a:gd name="T0" fmla="*/ 1 w 13"/>
                <a:gd name="T1" fmla="*/ 2 h 20"/>
                <a:gd name="T2" fmla="*/ 1 w 13"/>
                <a:gd name="T3" fmla="*/ 2 h 20"/>
                <a:gd name="T4" fmla="*/ 1 w 13"/>
                <a:gd name="T5" fmla="*/ 3 h 20"/>
                <a:gd name="T6" fmla="*/ 1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0" name="Freeform 108"/>
            <p:cNvSpPr>
              <a:spLocks/>
            </p:cNvSpPr>
            <p:nvPr/>
          </p:nvSpPr>
          <p:spPr bwMode="invGray">
            <a:xfrm>
              <a:off x="3270" y="3281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1" name="Freeform 109"/>
            <p:cNvSpPr>
              <a:spLocks/>
            </p:cNvSpPr>
            <p:nvPr/>
          </p:nvSpPr>
          <p:spPr bwMode="invGray">
            <a:xfrm>
              <a:off x="2537" y="2293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2" name="Freeform 110"/>
            <p:cNvSpPr>
              <a:spLocks/>
            </p:cNvSpPr>
            <p:nvPr/>
          </p:nvSpPr>
          <p:spPr bwMode="invGray">
            <a:xfrm>
              <a:off x="2476" y="2259"/>
              <a:ext cx="10" cy="15"/>
            </a:xfrm>
            <a:custGeom>
              <a:avLst/>
              <a:gdLst>
                <a:gd name="T0" fmla="*/ 2 w 13"/>
                <a:gd name="T1" fmla="*/ 2 h 20"/>
                <a:gd name="T2" fmla="*/ 1 w 13"/>
                <a:gd name="T3" fmla="*/ 2 h 20"/>
                <a:gd name="T4" fmla="*/ 2 w 13"/>
                <a:gd name="T5" fmla="*/ 3 h 20"/>
                <a:gd name="T6" fmla="*/ 2 w 13"/>
                <a:gd name="T7" fmla="*/ 2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0">
                  <a:moveTo>
                    <a:pt x="10" y="5"/>
                  </a:moveTo>
                  <a:cubicBezTo>
                    <a:pt x="3" y="0"/>
                    <a:pt x="5" y="6"/>
                    <a:pt x="1" y="11"/>
                  </a:cubicBezTo>
                  <a:cubicBezTo>
                    <a:pt x="0" y="18"/>
                    <a:pt x="2" y="19"/>
                    <a:pt x="9" y="20"/>
                  </a:cubicBezTo>
                  <a:cubicBezTo>
                    <a:pt x="13" y="14"/>
                    <a:pt x="10" y="12"/>
                    <a:pt x="10" y="5"/>
                  </a:cubicBez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292929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" name="Freeform 111"/>
            <p:cNvSpPr>
              <a:spLocks/>
            </p:cNvSpPr>
            <p:nvPr/>
          </p:nvSpPr>
          <p:spPr bwMode="invGray">
            <a:xfrm>
              <a:off x="2238" y="2042"/>
              <a:ext cx="2060" cy="1644"/>
            </a:xfrm>
            <a:custGeom>
              <a:avLst/>
              <a:gdLst>
                <a:gd name="T0" fmla="*/ 452 w 2060"/>
                <a:gd name="T1" fmla="*/ 653 h 1644"/>
                <a:gd name="T2" fmla="*/ 333 w 2060"/>
                <a:gd name="T3" fmla="*/ 595 h 1644"/>
                <a:gd name="T4" fmla="*/ 158 w 2060"/>
                <a:gd name="T5" fmla="*/ 645 h 1644"/>
                <a:gd name="T6" fmla="*/ 46 w 2060"/>
                <a:gd name="T7" fmla="*/ 759 h 1644"/>
                <a:gd name="T8" fmla="*/ 12 w 2060"/>
                <a:gd name="T9" fmla="*/ 941 h 1644"/>
                <a:gd name="T10" fmla="*/ 146 w 2060"/>
                <a:gd name="T11" fmla="*/ 1059 h 1644"/>
                <a:gd name="T12" fmla="*/ 308 w 2060"/>
                <a:gd name="T13" fmla="*/ 1041 h 1644"/>
                <a:gd name="T14" fmla="*/ 396 w 2060"/>
                <a:gd name="T15" fmla="*/ 1138 h 1644"/>
                <a:gd name="T16" fmla="*/ 452 w 2060"/>
                <a:gd name="T17" fmla="*/ 1447 h 1644"/>
                <a:gd name="T18" fmla="*/ 497 w 2060"/>
                <a:gd name="T19" fmla="*/ 1628 h 1644"/>
                <a:gd name="T20" fmla="*/ 704 w 2060"/>
                <a:gd name="T21" fmla="*/ 1574 h 1644"/>
                <a:gd name="T22" fmla="*/ 817 w 2060"/>
                <a:gd name="T23" fmla="*/ 1380 h 1644"/>
                <a:gd name="T24" fmla="*/ 885 w 2060"/>
                <a:gd name="T25" fmla="*/ 1153 h 1644"/>
                <a:gd name="T26" fmla="*/ 998 w 2060"/>
                <a:gd name="T27" fmla="*/ 999 h 1644"/>
                <a:gd name="T28" fmla="*/ 796 w 2060"/>
                <a:gd name="T29" fmla="*/ 856 h 1644"/>
                <a:gd name="T30" fmla="*/ 817 w 2060"/>
                <a:gd name="T31" fmla="*/ 819 h 1644"/>
                <a:gd name="T32" fmla="*/ 1003 w 2060"/>
                <a:gd name="T33" fmla="*/ 916 h 1644"/>
                <a:gd name="T34" fmla="*/ 1098 w 2060"/>
                <a:gd name="T35" fmla="*/ 792 h 1644"/>
                <a:gd name="T36" fmla="*/ 1046 w 2060"/>
                <a:gd name="T37" fmla="*/ 763 h 1644"/>
                <a:gd name="T38" fmla="*/ 929 w 2060"/>
                <a:gd name="T39" fmla="*/ 716 h 1644"/>
                <a:gd name="T40" fmla="*/ 1141 w 2060"/>
                <a:gd name="T41" fmla="*/ 761 h 1644"/>
                <a:gd name="T42" fmla="*/ 1296 w 2060"/>
                <a:gd name="T43" fmla="*/ 852 h 1644"/>
                <a:gd name="T44" fmla="*/ 1373 w 2060"/>
                <a:gd name="T45" fmla="*/ 1033 h 1644"/>
                <a:gd name="T46" fmla="*/ 1608 w 2060"/>
                <a:gd name="T47" fmla="*/ 847 h 1644"/>
                <a:gd name="T48" fmla="*/ 1704 w 2060"/>
                <a:gd name="T49" fmla="*/ 1030 h 1644"/>
                <a:gd name="T50" fmla="*/ 1707 w 2060"/>
                <a:gd name="T51" fmla="*/ 874 h 1644"/>
                <a:gd name="T52" fmla="*/ 1759 w 2060"/>
                <a:gd name="T53" fmla="*/ 800 h 1644"/>
                <a:gd name="T54" fmla="*/ 1783 w 2060"/>
                <a:gd name="T55" fmla="*/ 544 h 1644"/>
                <a:gd name="T56" fmla="*/ 1824 w 2060"/>
                <a:gd name="T57" fmla="*/ 528 h 1644"/>
                <a:gd name="T58" fmla="*/ 1844 w 2060"/>
                <a:gd name="T59" fmla="*/ 427 h 1644"/>
                <a:gd name="T60" fmla="*/ 1805 w 2060"/>
                <a:gd name="T61" fmla="*/ 226 h 1644"/>
                <a:gd name="T62" fmla="*/ 1899 w 2060"/>
                <a:gd name="T63" fmla="*/ 108 h 1644"/>
                <a:gd name="T64" fmla="*/ 1947 w 2060"/>
                <a:gd name="T65" fmla="*/ 209 h 1644"/>
                <a:gd name="T66" fmla="*/ 1943 w 2060"/>
                <a:gd name="T67" fmla="*/ 123 h 1644"/>
                <a:gd name="T68" fmla="*/ 1975 w 2060"/>
                <a:gd name="T69" fmla="*/ 51 h 1644"/>
                <a:gd name="T70" fmla="*/ 2038 w 2060"/>
                <a:gd name="T71" fmla="*/ 0 h 1644"/>
                <a:gd name="T72" fmla="*/ 1820 w 2060"/>
                <a:gd name="T73" fmla="*/ 63 h 1644"/>
                <a:gd name="T74" fmla="*/ 1583 w 2060"/>
                <a:gd name="T75" fmla="*/ 83 h 1644"/>
                <a:gd name="T76" fmla="*/ 1349 w 2060"/>
                <a:gd name="T77" fmla="*/ 30 h 1644"/>
                <a:gd name="T78" fmla="*/ 1132 w 2060"/>
                <a:gd name="T79" fmla="*/ 65 h 1644"/>
                <a:gd name="T80" fmla="*/ 1040 w 2060"/>
                <a:gd name="T81" fmla="*/ 170 h 1644"/>
                <a:gd name="T82" fmla="*/ 926 w 2060"/>
                <a:gd name="T83" fmla="*/ 137 h 1644"/>
                <a:gd name="T84" fmla="*/ 758 w 2060"/>
                <a:gd name="T85" fmla="*/ 183 h 1644"/>
                <a:gd name="T86" fmla="*/ 667 w 2060"/>
                <a:gd name="T87" fmla="*/ 140 h 1644"/>
                <a:gd name="T88" fmla="*/ 364 w 2060"/>
                <a:gd name="T89" fmla="*/ 248 h 1644"/>
                <a:gd name="T90" fmla="*/ 535 w 2060"/>
                <a:gd name="T91" fmla="*/ 213 h 1644"/>
                <a:gd name="T92" fmla="*/ 638 w 2060"/>
                <a:gd name="T93" fmla="*/ 276 h 1644"/>
                <a:gd name="T94" fmla="*/ 443 w 2060"/>
                <a:gd name="T95" fmla="*/ 357 h 1644"/>
                <a:gd name="T96" fmla="*/ 275 w 2060"/>
                <a:gd name="T97" fmla="*/ 416 h 1644"/>
                <a:gd name="T98" fmla="*/ 167 w 2060"/>
                <a:gd name="T99" fmla="*/ 537 h 1644"/>
                <a:gd name="T100" fmla="*/ 283 w 2060"/>
                <a:gd name="T101" fmla="*/ 552 h 1644"/>
                <a:gd name="T102" fmla="*/ 381 w 2060"/>
                <a:gd name="T103" fmla="*/ 573 h 1644"/>
                <a:gd name="T104" fmla="*/ 493 w 2060"/>
                <a:gd name="T105" fmla="*/ 590 h 1644"/>
                <a:gd name="T106" fmla="*/ 487 w 2060"/>
                <a:gd name="T107" fmla="*/ 512 h 1644"/>
                <a:gd name="T108" fmla="*/ 592 w 2060"/>
                <a:gd name="T109" fmla="*/ 548 h 1644"/>
                <a:gd name="T110" fmla="*/ 686 w 2060"/>
                <a:gd name="T111" fmla="*/ 470 h 1644"/>
                <a:gd name="T112" fmla="*/ 772 w 2060"/>
                <a:gd name="T113" fmla="*/ 480 h 1644"/>
                <a:gd name="T114" fmla="*/ 639 w 2060"/>
                <a:gd name="T115" fmla="*/ 598 h 1644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</a:gdLst>
              <a:ahLst/>
              <a:cxnLst>
                <a:cxn ang="T116">
                  <a:pos x="T0" y="T1"/>
                </a:cxn>
                <a:cxn ang="T117">
                  <a:pos x="T2" y="T3"/>
                </a:cxn>
                <a:cxn ang="T118">
                  <a:pos x="T4" y="T5"/>
                </a:cxn>
                <a:cxn ang="T119">
                  <a:pos x="T6" y="T7"/>
                </a:cxn>
                <a:cxn ang="T120">
                  <a:pos x="T8" y="T9"/>
                </a:cxn>
                <a:cxn ang="T121">
                  <a:pos x="T10" y="T11"/>
                </a:cxn>
                <a:cxn ang="T122">
                  <a:pos x="T12" y="T13"/>
                </a:cxn>
                <a:cxn ang="T123">
                  <a:pos x="T14" y="T15"/>
                </a:cxn>
                <a:cxn ang="T124">
                  <a:pos x="T16" y="T17"/>
                </a:cxn>
                <a:cxn ang="T125">
                  <a:pos x="T18" y="T19"/>
                </a:cxn>
                <a:cxn ang="T126">
                  <a:pos x="T20" y="T21"/>
                </a:cxn>
                <a:cxn ang="T127">
                  <a:pos x="T22" y="T23"/>
                </a:cxn>
                <a:cxn ang="T128">
                  <a:pos x="T24" y="T25"/>
                </a:cxn>
                <a:cxn ang="T129">
                  <a:pos x="T26" y="T27"/>
                </a:cxn>
                <a:cxn ang="T130">
                  <a:pos x="T28" y="T29"/>
                </a:cxn>
                <a:cxn ang="T131">
                  <a:pos x="T30" y="T31"/>
                </a:cxn>
                <a:cxn ang="T132">
                  <a:pos x="T32" y="T33"/>
                </a:cxn>
                <a:cxn ang="T133">
                  <a:pos x="T34" y="T35"/>
                </a:cxn>
                <a:cxn ang="T134">
                  <a:pos x="T36" y="T37"/>
                </a:cxn>
                <a:cxn ang="T135">
                  <a:pos x="T38" y="T39"/>
                </a:cxn>
                <a:cxn ang="T136">
                  <a:pos x="T40" y="T41"/>
                </a:cxn>
                <a:cxn ang="T137">
                  <a:pos x="T42" y="T43"/>
                </a:cxn>
                <a:cxn ang="T138">
                  <a:pos x="T44" y="T45"/>
                </a:cxn>
                <a:cxn ang="T139">
                  <a:pos x="T46" y="T47"/>
                </a:cxn>
                <a:cxn ang="T140">
                  <a:pos x="T48" y="T49"/>
                </a:cxn>
                <a:cxn ang="T141">
                  <a:pos x="T50" y="T51"/>
                </a:cxn>
                <a:cxn ang="T142">
                  <a:pos x="T52" y="T53"/>
                </a:cxn>
                <a:cxn ang="T143">
                  <a:pos x="T54" y="T55"/>
                </a:cxn>
                <a:cxn ang="T144">
                  <a:pos x="T56" y="T57"/>
                </a:cxn>
                <a:cxn ang="T145">
                  <a:pos x="T58" y="T59"/>
                </a:cxn>
                <a:cxn ang="T146">
                  <a:pos x="T60" y="T61"/>
                </a:cxn>
                <a:cxn ang="T147">
                  <a:pos x="T62" y="T63"/>
                </a:cxn>
                <a:cxn ang="T148">
                  <a:pos x="T64" y="T65"/>
                </a:cxn>
                <a:cxn ang="T149">
                  <a:pos x="T66" y="T67"/>
                </a:cxn>
                <a:cxn ang="T150">
                  <a:pos x="T68" y="T69"/>
                </a:cxn>
                <a:cxn ang="T151">
                  <a:pos x="T70" y="T71"/>
                </a:cxn>
                <a:cxn ang="T152">
                  <a:pos x="T72" y="T73"/>
                </a:cxn>
                <a:cxn ang="T153">
                  <a:pos x="T74" y="T75"/>
                </a:cxn>
                <a:cxn ang="T154">
                  <a:pos x="T76" y="T77"/>
                </a:cxn>
                <a:cxn ang="T155">
                  <a:pos x="T78" y="T79"/>
                </a:cxn>
                <a:cxn ang="T156">
                  <a:pos x="T80" y="T81"/>
                </a:cxn>
                <a:cxn ang="T157">
                  <a:pos x="T82" y="T83"/>
                </a:cxn>
                <a:cxn ang="T158">
                  <a:pos x="T84" y="T85"/>
                </a:cxn>
                <a:cxn ang="T159">
                  <a:pos x="T86" y="T87"/>
                </a:cxn>
                <a:cxn ang="T160">
                  <a:pos x="T88" y="T89"/>
                </a:cxn>
                <a:cxn ang="T161">
                  <a:pos x="T90" y="T91"/>
                </a:cxn>
                <a:cxn ang="T162">
                  <a:pos x="T92" y="T93"/>
                </a:cxn>
                <a:cxn ang="T163">
                  <a:pos x="T94" y="T95"/>
                </a:cxn>
                <a:cxn ang="T164">
                  <a:pos x="T96" y="T97"/>
                </a:cxn>
                <a:cxn ang="T165">
                  <a:pos x="T98" y="T99"/>
                </a:cxn>
                <a:cxn ang="T166">
                  <a:pos x="T100" y="T101"/>
                </a:cxn>
                <a:cxn ang="T167">
                  <a:pos x="T102" y="T103"/>
                </a:cxn>
                <a:cxn ang="T168">
                  <a:pos x="T104" y="T105"/>
                </a:cxn>
                <a:cxn ang="T169">
                  <a:pos x="T106" y="T107"/>
                </a:cxn>
                <a:cxn ang="T170">
                  <a:pos x="T108" y="T109"/>
                </a:cxn>
                <a:cxn ang="T171">
                  <a:pos x="T110" y="T111"/>
                </a:cxn>
                <a:cxn ang="T172">
                  <a:pos x="T112" y="T113"/>
                </a:cxn>
                <a:cxn ang="T173">
                  <a:pos x="T114" y="T115"/>
                </a:cxn>
              </a:cxnLst>
              <a:rect l="0" t="0" r="r" b="b"/>
              <a:pathLst>
                <a:path w="2060" h="1644">
                  <a:moveTo>
                    <a:pt x="697" y="677"/>
                  </a:moveTo>
                  <a:cubicBezTo>
                    <a:pt x="659" y="675"/>
                    <a:pt x="652" y="669"/>
                    <a:pt x="618" y="667"/>
                  </a:cubicBezTo>
                  <a:cubicBezTo>
                    <a:pt x="607" y="666"/>
                    <a:pt x="594" y="661"/>
                    <a:pt x="582" y="658"/>
                  </a:cubicBezTo>
                  <a:cubicBezTo>
                    <a:pt x="577" y="655"/>
                    <a:pt x="568" y="650"/>
                    <a:pt x="568" y="650"/>
                  </a:cubicBezTo>
                  <a:cubicBezTo>
                    <a:pt x="551" y="652"/>
                    <a:pt x="557" y="655"/>
                    <a:pt x="546" y="658"/>
                  </a:cubicBezTo>
                  <a:cubicBezTo>
                    <a:pt x="540" y="667"/>
                    <a:pt x="542" y="669"/>
                    <a:pt x="546" y="677"/>
                  </a:cubicBezTo>
                  <a:cubicBezTo>
                    <a:pt x="548" y="680"/>
                    <a:pt x="550" y="686"/>
                    <a:pt x="550" y="686"/>
                  </a:cubicBezTo>
                  <a:cubicBezTo>
                    <a:pt x="526" y="694"/>
                    <a:pt x="506" y="678"/>
                    <a:pt x="488" y="670"/>
                  </a:cubicBezTo>
                  <a:cubicBezTo>
                    <a:pt x="481" y="653"/>
                    <a:pt x="472" y="655"/>
                    <a:pt x="452" y="653"/>
                  </a:cubicBezTo>
                  <a:cubicBezTo>
                    <a:pt x="446" y="648"/>
                    <a:pt x="444" y="648"/>
                    <a:pt x="437" y="650"/>
                  </a:cubicBezTo>
                  <a:cubicBezTo>
                    <a:pt x="427" y="647"/>
                    <a:pt x="433" y="648"/>
                    <a:pt x="423" y="642"/>
                  </a:cubicBezTo>
                  <a:cubicBezTo>
                    <a:pt x="421" y="641"/>
                    <a:pt x="418" y="639"/>
                    <a:pt x="418" y="639"/>
                  </a:cubicBezTo>
                  <a:cubicBezTo>
                    <a:pt x="416" y="638"/>
                    <a:pt x="413" y="633"/>
                    <a:pt x="413" y="630"/>
                  </a:cubicBezTo>
                  <a:cubicBezTo>
                    <a:pt x="415" y="625"/>
                    <a:pt x="418" y="616"/>
                    <a:pt x="418" y="616"/>
                  </a:cubicBezTo>
                  <a:cubicBezTo>
                    <a:pt x="416" y="592"/>
                    <a:pt x="421" y="588"/>
                    <a:pt x="398" y="591"/>
                  </a:cubicBezTo>
                  <a:cubicBezTo>
                    <a:pt x="390" y="598"/>
                    <a:pt x="390" y="595"/>
                    <a:pt x="381" y="592"/>
                  </a:cubicBezTo>
                  <a:cubicBezTo>
                    <a:pt x="370" y="592"/>
                    <a:pt x="361" y="595"/>
                    <a:pt x="348" y="597"/>
                  </a:cubicBezTo>
                  <a:cubicBezTo>
                    <a:pt x="344" y="595"/>
                    <a:pt x="337" y="597"/>
                    <a:pt x="333" y="595"/>
                  </a:cubicBezTo>
                  <a:cubicBezTo>
                    <a:pt x="331" y="594"/>
                    <a:pt x="330" y="592"/>
                    <a:pt x="328" y="592"/>
                  </a:cubicBezTo>
                  <a:cubicBezTo>
                    <a:pt x="314" y="591"/>
                    <a:pt x="296" y="597"/>
                    <a:pt x="283" y="602"/>
                  </a:cubicBezTo>
                  <a:cubicBezTo>
                    <a:pt x="276" y="603"/>
                    <a:pt x="268" y="606"/>
                    <a:pt x="260" y="608"/>
                  </a:cubicBezTo>
                  <a:cubicBezTo>
                    <a:pt x="255" y="609"/>
                    <a:pt x="246" y="613"/>
                    <a:pt x="246" y="613"/>
                  </a:cubicBezTo>
                  <a:cubicBezTo>
                    <a:pt x="228" y="611"/>
                    <a:pt x="209" y="609"/>
                    <a:pt x="189" y="611"/>
                  </a:cubicBezTo>
                  <a:cubicBezTo>
                    <a:pt x="184" y="613"/>
                    <a:pt x="180" y="614"/>
                    <a:pt x="175" y="617"/>
                  </a:cubicBezTo>
                  <a:cubicBezTo>
                    <a:pt x="173" y="619"/>
                    <a:pt x="173" y="620"/>
                    <a:pt x="173" y="622"/>
                  </a:cubicBezTo>
                  <a:cubicBezTo>
                    <a:pt x="172" y="623"/>
                    <a:pt x="169" y="623"/>
                    <a:pt x="169" y="625"/>
                  </a:cubicBezTo>
                  <a:cubicBezTo>
                    <a:pt x="163" y="634"/>
                    <a:pt x="167" y="641"/>
                    <a:pt x="158" y="645"/>
                  </a:cubicBezTo>
                  <a:cubicBezTo>
                    <a:pt x="153" y="648"/>
                    <a:pt x="149" y="652"/>
                    <a:pt x="144" y="655"/>
                  </a:cubicBezTo>
                  <a:cubicBezTo>
                    <a:pt x="141" y="656"/>
                    <a:pt x="135" y="659"/>
                    <a:pt x="135" y="659"/>
                  </a:cubicBezTo>
                  <a:cubicBezTo>
                    <a:pt x="133" y="664"/>
                    <a:pt x="130" y="666"/>
                    <a:pt x="130" y="669"/>
                  </a:cubicBezTo>
                  <a:cubicBezTo>
                    <a:pt x="128" y="677"/>
                    <a:pt x="132" y="691"/>
                    <a:pt x="124" y="698"/>
                  </a:cubicBezTo>
                  <a:cubicBezTo>
                    <a:pt x="118" y="703"/>
                    <a:pt x="108" y="709"/>
                    <a:pt x="101" y="711"/>
                  </a:cubicBezTo>
                  <a:cubicBezTo>
                    <a:pt x="101" y="711"/>
                    <a:pt x="90" y="716"/>
                    <a:pt x="87" y="716"/>
                  </a:cubicBezTo>
                  <a:cubicBezTo>
                    <a:pt x="85" y="717"/>
                    <a:pt x="82" y="717"/>
                    <a:pt x="82" y="717"/>
                  </a:cubicBezTo>
                  <a:cubicBezTo>
                    <a:pt x="76" y="725"/>
                    <a:pt x="68" y="733"/>
                    <a:pt x="60" y="738"/>
                  </a:cubicBezTo>
                  <a:cubicBezTo>
                    <a:pt x="56" y="745"/>
                    <a:pt x="53" y="755"/>
                    <a:pt x="46" y="759"/>
                  </a:cubicBezTo>
                  <a:cubicBezTo>
                    <a:pt x="43" y="764"/>
                    <a:pt x="37" y="767"/>
                    <a:pt x="31" y="773"/>
                  </a:cubicBezTo>
                  <a:cubicBezTo>
                    <a:pt x="26" y="780"/>
                    <a:pt x="25" y="789"/>
                    <a:pt x="23" y="797"/>
                  </a:cubicBezTo>
                  <a:cubicBezTo>
                    <a:pt x="20" y="803"/>
                    <a:pt x="19" y="809"/>
                    <a:pt x="17" y="816"/>
                  </a:cubicBezTo>
                  <a:cubicBezTo>
                    <a:pt x="15" y="817"/>
                    <a:pt x="14" y="824"/>
                    <a:pt x="14" y="824"/>
                  </a:cubicBezTo>
                  <a:cubicBezTo>
                    <a:pt x="15" y="831"/>
                    <a:pt x="26" y="842"/>
                    <a:pt x="26" y="842"/>
                  </a:cubicBezTo>
                  <a:cubicBezTo>
                    <a:pt x="26" y="847"/>
                    <a:pt x="17" y="855"/>
                    <a:pt x="17" y="855"/>
                  </a:cubicBezTo>
                  <a:cubicBezTo>
                    <a:pt x="14" y="863"/>
                    <a:pt x="17" y="867"/>
                    <a:pt x="25" y="870"/>
                  </a:cubicBezTo>
                  <a:cubicBezTo>
                    <a:pt x="28" y="884"/>
                    <a:pt x="17" y="902"/>
                    <a:pt x="6" y="909"/>
                  </a:cubicBezTo>
                  <a:cubicBezTo>
                    <a:pt x="0" y="927"/>
                    <a:pt x="5" y="927"/>
                    <a:pt x="12" y="941"/>
                  </a:cubicBezTo>
                  <a:cubicBezTo>
                    <a:pt x="23" y="963"/>
                    <a:pt x="29" y="969"/>
                    <a:pt x="53" y="977"/>
                  </a:cubicBezTo>
                  <a:cubicBezTo>
                    <a:pt x="60" y="986"/>
                    <a:pt x="56" y="983"/>
                    <a:pt x="63" y="989"/>
                  </a:cubicBezTo>
                  <a:cubicBezTo>
                    <a:pt x="62" y="994"/>
                    <a:pt x="59" y="997"/>
                    <a:pt x="59" y="1002"/>
                  </a:cubicBezTo>
                  <a:cubicBezTo>
                    <a:pt x="57" y="1009"/>
                    <a:pt x="70" y="1020"/>
                    <a:pt x="74" y="1027"/>
                  </a:cubicBezTo>
                  <a:cubicBezTo>
                    <a:pt x="77" y="1031"/>
                    <a:pt x="91" y="1036"/>
                    <a:pt x="91" y="1036"/>
                  </a:cubicBezTo>
                  <a:cubicBezTo>
                    <a:pt x="94" y="1036"/>
                    <a:pt x="96" y="1036"/>
                    <a:pt x="98" y="1034"/>
                  </a:cubicBezTo>
                  <a:cubicBezTo>
                    <a:pt x="99" y="1034"/>
                    <a:pt x="98" y="1031"/>
                    <a:pt x="99" y="1030"/>
                  </a:cubicBezTo>
                  <a:cubicBezTo>
                    <a:pt x="101" y="1030"/>
                    <a:pt x="107" y="1038"/>
                    <a:pt x="108" y="1038"/>
                  </a:cubicBezTo>
                  <a:cubicBezTo>
                    <a:pt x="119" y="1047"/>
                    <a:pt x="133" y="1055"/>
                    <a:pt x="146" y="1059"/>
                  </a:cubicBezTo>
                  <a:cubicBezTo>
                    <a:pt x="149" y="1067"/>
                    <a:pt x="152" y="1066"/>
                    <a:pt x="159" y="1064"/>
                  </a:cubicBezTo>
                  <a:cubicBezTo>
                    <a:pt x="163" y="1061"/>
                    <a:pt x="166" y="1059"/>
                    <a:pt x="169" y="1058"/>
                  </a:cubicBezTo>
                  <a:cubicBezTo>
                    <a:pt x="172" y="1056"/>
                    <a:pt x="178" y="1055"/>
                    <a:pt x="178" y="1055"/>
                  </a:cubicBezTo>
                  <a:cubicBezTo>
                    <a:pt x="192" y="1059"/>
                    <a:pt x="209" y="1061"/>
                    <a:pt x="224" y="1063"/>
                  </a:cubicBezTo>
                  <a:cubicBezTo>
                    <a:pt x="231" y="1067"/>
                    <a:pt x="229" y="1070"/>
                    <a:pt x="238" y="1069"/>
                  </a:cubicBezTo>
                  <a:cubicBezTo>
                    <a:pt x="238" y="1063"/>
                    <a:pt x="238" y="1056"/>
                    <a:pt x="238" y="1050"/>
                  </a:cubicBezTo>
                  <a:cubicBezTo>
                    <a:pt x="241" y="1041"/>
                    <a:pt x="257" y="1059"/>
                    <a:pt x="260" y="1061"/>
                  </a:cubicBezTo>
                  <a:cubicBezTo>
                    <a:pt x="266" y="1050"/>
                    <a:pt x="279" y="1052"/>
                    <a:pt x="291" y="1050"/>
                  </a:cubicBezTo>
                  <a:cubicBezTo>
                    <a:pt x="297" y="1049"/>
                    <a:pt x="302" y="1044"/>
                    <a:pt x="308" y="1041"/>
                  </a:cubicBezTo>
                  <a:cubicBezTo>
                    <a:pt x="319" y="1042"/>
                    <a:pt x="330" y="1045"/>
                    <a:pt x="341" y="1049"/>
                  </a:cubicBezTo>
                  <a:cubicBezTo>
                    <a:pt x="342" y="1050"/>
                    <a:pt x="344" y="1055"/>
                    <a:pt x="344" y="1058"/>
                  </a:cubicBezTo>
                  <a:cubicBezTo>
                    <a:pt x="344" y="1061"/>
                    <a:pt x="342" y="1067"/>
                    <a:pt x="342" y="1067"/>
                  </a:cubicBezTo>
                  <a:cubicBezTo>
                    <a:pt x="347" y="1070"/>
                    <a:pt x="355" y="1072"/>
                    <a:pt x="361" y="1075"/>
                  </a:cubicBezTo>
                  <a:cubicBezTo>
                    <a:pt x="362" y="1075"/>
                    <a:pt x="365" y="1077"/>
                    <a:pt x="365" y="1077"/>
                  </a:cubicBezTo>
                  <a:cubicBezTo>
                    <a:pt x="375" y="1074"/>
                    <a:pt x="384" y="1074"/>
                    <a:pt x="393" y="1080"/>
                  </a:cubicBezTo>
                  <a:cubicBezTo>
                    <a:pt x="396" y="1083"/>
                    <a:pt x="398" y="1088"/>
                    <a:pt x="401" y="1092"/>
                  </a:cubicBezTo>
                  <a:cubicBezTo>
                    <a:pt x="404" y="1095"/>
                    <a:pt x="407" y="1102"/>
                    <a:pt x="407" y="1102"/>
                  </a:cubicBezTo>
                  <a:cubicBezTo>
                    <a:pt x="404" y="1114"/>
                    <a:pt x="399" y="1127"/>
                    <a:pt x="396" y="1138"/>
                  </a:cubicBezTo>
                  <a:cubicBezTo>
                    <a:pt x="393" y="1147"/>
                    <a:pt x="395" y="1141"/>
                    <a:pt x="389" y="1152"/>
                  </a:cubicBezTo>
                  <a:cubicBezTo>
                    <a:pt x="387" y="1153"/>
                    <a:pt x="385" y="1156"/>
                    <a:pt x="385" y="1156"/>
                  </a:cubicBezTo>
                  <a:cubicBezTo>
                    <a:pt x="389" y="1185"/>
                    <a:pt x="396" y="1180"/>
                    <a:pt x="410" y="1197"/>
                  </a:cubicBezTo>
                  <a:cubicBezTo>
                    <a:pt x="427" y="1219"/>
                    <a:pt x="440" y="1239"/>
                    <a:pt x="447" y="1266"/>
                  </a:cubicBezTo>
                  <a:cubicBezTo>
                    <a:pt x="446" y="1280"/>
                    <a:pt x="452" y="1314"/>
                    <a:pt x="435" y="1325"/>
                  </a:cubicBezTo>
                  <a:cubicBezTo>
                    <a:pt x="427" y="1347"/>
                    <a:pt x="433" y="1325"/>
                    <a:pt x="430" y="1367"/>
                  </a:cubicBezTo>
                  <a:cubicBezTo>
                    <a:pt x="429" y="1377"/>
                    <a:pt x="421" y="1381"/>
                    <a:pt x="418" y="1391"/>
                  </a:cubicBezTo>
                  <a:cubicBezTo>
                    <a:pt x="421" y="1413"/>
                    <a:pt x="430" y="1422"/>
                    <a:pt x="446" y="1438"/>
                  </a:cubicBezTo>
                  <a:cubicBezTo>
                    <a:pt x="449" y="1441"/>
                    <a:pt x="450" y="1442"/>
                    <a:pt x="452" y="1447"/>
                  </a:cubicBezTo>
                  <a:cubicBezTo>
                    <a:pt x="454" y="1450"/>
                    <a:pt x="455" y="1456"/>
                    <a:pt x="455" y="1456"/>
                  </a:cubicBezTo>
                  <a:cubicBezTo>
                    <a:pt x="457" y="1475"/>
                    <a:pt x="458" y="1488"/>
                    <a:pt x="460" y="1505"/>
                  </a:cubicBezTo>
                  <a:cubicBezTo>
                    <a:pt x="461" y="1514"/>
                    <a:pt x="461" y="1511"/>
                    <a:pt x="464" y="1522"/>
                  </a:cubicBezTo>
                  <a:cubicBezTo>
                    <a:pt x="466" y="1524"/>
                    <a:pt x="466" y="1527"/>
                    <a:pt x="466" y="1527"/>
                  </a:cubicBezTo>
                  <a:cubicBezTo>
                    <a:pt x="468" y="1542"/>
                    <a:pt x="469" y="1552"/>
                    <a:pt x="481" y="1561"/>
                  </a:cubicBezTo>
                  <a:cubicBezTo>
                    <a:pt x="485" y="1566"/>
                    <a:pt x="488" y="1569"/>
                    <a:pt x="494" y="1572"/>
                  </a:cubicBezTo>
                  <a:cubicBezTo>
                    <a:pt x="497" y="1585"/>
                    <a:pt x="503" y="1597"/>
                    <a:pt x="506" y="1610"/>
                  </a:cubicBezTo>
                  <a:cubicBezTo>
                    <a:pt x="506" y="1614"/>
                    <a:pt x="508" y="1619"/>
                    <a:pt x="505" y="1622"/>
                  </a:cubicBezTo>
                  <a:cubicBezTo>
                    <a:pt x="503" y="1625"/>
                    <a:pt x="497" y="1628"/>
                    <a:pt x="497" y="1628"/>
                  </a:cubicBezTo>
                  <a:cubicBezTo>
                    <a:pt x="488" y="1642"/>
                    <a:pt x="509" y="1644"/>
                    <a:pt x="517" y="1644"/>
                  </a:cubicBezTo>
                  <a:cubicBezTo>
                    <a:pt x="539" y="1639"/>
                    <a:pt x="557" y="1635"/>
                    <a:pt x="579" y="1633"/>
                  </a:cubicBezTo>
                  <a:cubicBezTo>
                    <a:pt x="598" y="1630"/>
                    <a:pt x="613" y="1627"/>
                    <a:pt x="632" y="1624"/>
                  </a:cubicBezTo>
                  <a:cubicBezTo>
                    <a:pt x="635" y="1624"/>
                    <a:pt x="638" y="1622"/>
                    <a:pt x="641" y="1621"/>
                  </a:cubicBezTo>
                  <a:cubicBezTo>
                    <a:pt x="642" y="1621"/>
                    <a:pt x="644" y="1619"/>
                    <a:pt x="646" y="1617"/>
                  </a:cubicBezTo>
                  <a:cubicBezTo>
                    <a:pt x="649" y="1617"/>
                    <a:pt x="655" y="1616"/>
                    <a:pt x="655" y="1616"/>
                  </a:cubicBezTo>
                  <a:cubicBezTo>
                    <a:pt x="659" y="1610"/>
                    <a:pt x="664" y="1603"/>
                    <a:pt x="670" y="1600"/>
                  </a:cubicBezTo>
                  <a:cubicBezTo>
                    <a:pt x="675" y="1594"/>
                    <a:pt x="678" y="1591"/>
                    <a:pt x="683" y="1588"/>
                  </a:cubicBezTo>
                  <a:cubicBezTo>
                    <a:pt x="687" y="1581"/>
                    <a:pt x="697" y="1577"/>
                    <a:pt x="704" y="1574"/>
                  </a:cubicBezTo>
                  <a:cubicBezTo>
                    <a:pt x="715" y="1563"/>
                    <a:pt x="726" y="1550"/>
                    <a:pt x="731" y="1535"/>
                  </a:cubicBezTo>
                  <a:cubicBezTo>
                    <a:pt x="731" y="1531"/>
                    <a:pt x="729" y="1528"/>
                    <a:pt x="729" y="1525"/>
                  </a:cubicBezTo>
                  <a:cubicBezTo>
                    <a:pt x="729" y="1494"/>
                    <a:pt x="737" y="1505"/>
                    <a:pt x="754" y="1494"/>
                  </a:cubicBezTo>
                  <a:cubicBezTo>
                    <a:pt x="759" y="1488"/>
                    <a:pt x="762" y="1483"/>
                    <a:pt x="765" y="1475"/>
                  </a:cubicBezTo>
                  <a:cubicBezTo>
                    <a:pt x="763" y="1458"/>
                    <a:pt x="765" y="1439"/>
                    <a:pt x="755" y="1424"/>
                  </a:cubicBezTo>
                  <a:cubicBezTo>
                    <a:pt x="759" y="1413"/>
                    <a:pt x="771" y="1419"/>
                    <a:pt x="779" y="1422"/>
                  </a:cubicBezTo>
                  <a:cubicBezTo>
                    <a:pt x="782" y="1427"/>
                    <a:pt x="782" y="1435"/>
                    <a:pt x="785" y="1427"/>
                  </a:cubicBezTo>
                  <a:cubicBezTo>
                    <a:pt x="786" y="1416"/>
                    <a:pt x="786" y="1405"/>
                    <a:pt x="786" y="1396"/>
                  </a:cubicBezTo>
                  <a:cubicBezTo>
                    <a:pt x="788" y="1386"/>
                    <a:pt x="810" y="1385"/>
                    <a:pt x="817" y="1380"/>
                  </a:cubicBezTo>
                  <a:cubicBezTo>
                    <a:pt x="820" y="1374"/>
                    <a:pt x="831" y="1367"/>
                    <a:pt x="837" y="1363"/>
                  </a:cubicBezTo>
                  <a:cubicBezTo>
                    <a:pt x="841" y="1361"/>
                    <a:pt x="847" y="1356"/>
                    <a:pt x="847" y="1356"/>
                  </a:cubicBezTo>
                  <a:cubicBezTo>
                    <a:pt x="855" y="1345"/>
                    <a:pt x="845" y="1333"/>
                    <a:pt x="844" y="1320"/>
                  </a:cubicBezTo>
                  <a:cubicBezTo>
                    <a:pt x="845" y="1310"/>
                    <a:pt x="847" y="1308"/>
                    <a:pt x="850" y="1299"/>
                  </a:cubicBezTo>
                  <a:cubicBezTo>
                    <a:pt x="847" y="1288"/>
                    <a:pt x="842" y="1288"/>
                    <a:pt x="834" y="1280"/>
                  </a:cubicBezTo>
                  <a:cubicBezTo>
                    <a:pt x="833" y="1275"/>
                    <a:pt x="830" y="1266"/>
                    <a:pt x="830" y="1266"/>
                  </a:cubicBezTo>
                  <a:cubicBezTo>
                    <a:pt x="831" y="1250"/>
                    <a:pt x="831" y="1236"/>
                    <a:pt x="831" y="1220"/>
                  </a:cubicBezTo>
                  <a:cubicBezTo>
                    <a:pt x="833" y="1192"/>
                    <a:pt x="861" y="1183"/>
                    <a:pt x="876" y="1166"/>
                  </a:cubicBezTo>
                  <a:cubicBezTo>
                    <a:pt x="879" y="1160"/>
                    <a:pt x="884" y="1160"/>
                    <a:pt x="885" y="1153"/>
                  </a:cubicBezTo>
                  <a:cubicBezTo>
                    <a:pt x="890" y="1144"/>
                    <a:pt x="889" y="1142"/>
                    <a:pt x="895" y="1136"/>
                  </a:cubicBezTo>
                  <a:cubicBezTo>
                    <a:pt x="898" y="1127"/>
                    <a:pt x="906" y="1114"/>
                    <a:pt x="915" y="1111"/>
                  </a:cubicBezTo>
                  <a:cubicBezTo>
                    <a:pt x="920" y="1105"/>
                    <a:pt x="924" y="1099"/>
                    <a:pt x="930" y="1094"/>
                  </a:cubicBezTo>
                  <a:cubicBezTo>
                    <a:pt x="935" y="1089"/>
                    <a:pt x="938" y="1089"/>
                    <a:pt x="943" y="1084"/>
                  </a:cubicBezTo>
                  <a:cubicBezTo>
                    <a:pt x="947" y="1080"/>
                    <a:pt x="949" y="1078"/>
                    <a:pt x="955" y="1077"/>
                  </a:cubicBezTo>
                  <a:cubicBezTo>
                    <a:pt x="961" y="1066"/>
                    <a:pt x="958" y="1069"/>
                    <a:pt x="966" y="1064"/>
                  </a:cubicBezTo>
                  <a:cubicBezTo>
                    <a:pt x="972" y="1055"/>
                    <a:pt x="978" y="1045"/>
                    <a:pt x="983" y="1036"/>
                  </a:cubicBezTo>
                  <a:cubicBezTo>
                    <a:pt x="988" y="1030"/>
                    <a:pt x="989" y="1019"/>
                    <a:pt x="991" y="1013"/>
                  </a:cubicBezTo>
                  <a:cubicBezTo>
                    <a:pt x="994" y="1003"/>
                    <a:pt x="992" y="1009"/>
                    <a:pt x="998" y="999"/>
                  </a:cubicBezTo>
                  <a:cubicBezTo>
                    <a:pt x="1003" y="992"/>
                    <a:pt x="1003" y="984"/>
                    <a:pt x="1005" y="977"/>
                  </a:cubicBezTo>
                  <a:cubicBezTo>
                    <a:pt x="1003" y="966"/>
                    <a:pt x="1000" y="970"/>
                    <a:pt x="989" y="974"/>
                  </a:cubicBezTo>
                  <a:cubicBezTo>
                    <a:pt x="971" y="986"/>
                    <a:pt x="941" y="983"/>
                    <a:pt x="921" y="983"/>
                  </a:cubicBezTo>
                  <a:cubicBezTo>
                    <a:pt x="892" y="981"/>
                    <a:pt x="895" y="977"/>
                    <a:pt x="878" y="961"/>
                  </a:cubicBezTo>
                  <a:cubicBezTo>
                    <a:pt x="875" y="949"/>
                    <a:pt x="867" y="944"/>
                    <a:pt x="858" y="936"/>
                  </a:cubicBezTo>
                  <a:cubicBezTo>
                    <a:pt x="853" y="933"/>
                    <a:pt x="844" y="930"/>
                    <a:pt x="844" y="930"/>
                  </a:cubicBezTo>
                  <a:cubicBezTo>
                    <a:pt x="837" y="909"/>
                    <a:pt x="828" y="891"/>
                    <a:pt x="817" y="872"/>
                  </a:cubicBezTo>
                  <a:cubicBezTo>
                    <a:pt x="811" y="866"/>
                    <a:pt x="816" y="869"/>
                    <a:pt x="805" y="863"/>
                  </a:cubicBezTo>
                  <a:cubicBezTo>
                    <a:pt x="802" y="859"/>
                    <a:pt x="796" y="856"/>
                    <a:pt x="796" y="856"/>
                  </a:cubicBezTo>
                  <a:cubicBezTo>
                    <a:pt x="786" y="842"/>
                    <a:pt x="794" y="825"/>
                    <a:pt x="785" y="813"/>
                  </a:cubicBezTo>
                  <a:cubicBezTo>
                    <a:pt x="774" y="794"/>
                    <a:pt x="759" y="772"/>
                    <a:pt x="745" y="758"/>
                  </a:cubicBezTo>
                  <a:cubicBezTo>
                    <a:pt x="742" y="744"/>
                    <a:pt x="737" y="736"/>
                    <a:pt x="729" y="723"/>
                  </a:cubicBezTo>
                  <a:cubicBezTo>
                    <a:pt x="726" y="720"/>
                    <a:pt x="723" y="709"/>
                    <a:pt x="723" y="709"/>
                  </a:cubicBezTo>
                  <a:cubicBezTo>
                    <a:pt x="740" y="705"/>
                    <a:pt x="757" y="733"/>
                    <a:pt x="766" y="744"/>
                  </a:cubicBezTo>
                  <a:cubicBezTo>
                    <a:pt x="771" y="758"/>
                    <a:pt x="771" y="759"/>
                    <a:pt x="786" y="764"/>
                  </a:cubicBezTo>
                  <a:cubicBezTo>
                    <a:pt x="793" y="766"/>
                    <a:pt x="800" y="773"/>
                    <a:pt x="800" y="773"/>
                  </a:cubicBezTo>
                  <a:cubicBezTo>
                    <a:pt x="803" y="780"/>
                    <a:pt x="808" y="784"/>
                    <a:pt x="813" y="791"/>
                  </a:cubicBezTo>
                  <a:cubicBezTo>
                    <a:pt x="813" y="803"/>
                    <a:pt x="814" y="809"/>
                    <a:pt x="817" y="819"/>
                  </a:cubicBezTo>
                  <a:cubicBezTo>
                    <a:pt x="819" y="842"/>
                    <a:pt x="820" y="841"/>
                    <a:pt x="839" y="847"/>
                  </a:cubicBezTo>
                  <a:cubicBezTo>
                    <a:pt x="844" y="852"/>
                    <a:pt x="847" y="856"/>
                    <a:pt x="851" y="861"/>
                  </a:cubicBezTo>
                  <a:cubicBezTo>
                    <a:pt x="851" y="863"/>
                    <a:pt x="853" y="864"/>
                    <a:pt x="853" y="866"/>
                  </a:cubicBezTo>
                  <a:cubicBezTo>
                    <a:pt x="853" y="869"/>
                    <a:pt x="853" y="874"/>
                    <a:pt x="855" y="877"/>
                  </a:cubicBezTo>
                  <a:cubicBezTo>
                    <a:pt x="856" y="884"/>
                    <a:pt x="870" y="889"/>
                    <a:pt x="875" y="894"/>
                  </a:cubicBezTo>
                  <a:cubicBezTo>
                    <a:pt x="887" y="927"/>
                    <a:pt x="870" y="945"/>
                    <a:pt x="910" y="955"/>
                  </a:cubicBezTo>
                  <a:cubicBezTo>
                    <a:pt x="921" y="953"/>
                    <a:pt x="926" y="955"/>
                    <a:pt x="933" y="949"/>
                  </a:cubicBezTo>
                  <a:cubicBezTo>
                    <a:pt x="938" y="942"/>
                    <a:pt x="944" y="941"/>
                    <a:pt x="951" y="936"/>
                  </a:cubicBezTo>
                  <a:cubicBezTo>
                    <a:pt x="972" y="924"/>
                    <a:pt x="978" y="920"/>
                    <a:pt x="1003" y="916"/>
                  </a:cubicBezTo>
                  <a:cubicBezTo>
                    <a:pt x="1009" y="914"/>
                    <a:pt x="1017" y="911"/>
                    <a:pt x="1025" y="909"/>
                  </a:cubicBezTo>
                  <a:cubicBezTo>
                    <a:pt x="1031" y="906"/>
                    <a:pt x="1036" y="899"/>
                    <a:pt x="1042" y="897"/>
                  </a:cubicBezTo>
                  <a:cubicBezTo>
                    <a:pt x="1051" y="894"/>
                    <a:pt x="1060" y="894"/>
                    <a:pt x="1068" y="888"/>
                  </a:cubicBezTo>
                  <a:cubicBezTo>
                    <a:pt x="1073" y="881"/>
                    <a:pt x="1079" y="877"/>
                    <a:pt x="1084" y="869"/>
                  </a:cubicBezTo>
                  <a:cubicBezTo>
                    <a:pt x="1087" y="861"/>
                    <a:pt x="1088" y="850"/>
                    <a:pt x="1098" y="844"/>
                  </a:cubicBezTo>
                  <a:cubicBezTo>
                    <a:pt x="1104" y="836"/>
                    <a:pt x="1105" y="825"/>
                    <a:pt x="1108" y="816"/>
                  </a:cubicBezTo>
                  <a:cubicBezTo>
                    <a:pt x="1110" y="811"/>
                    <a:pt x="1115" y="808"/>
                    <a:pt x="1116" y="803"/>
                  </a:cubicBezTo>
                  <a:cubicBezTo>
                    <a:pt x="1110" y="800"/>
                    <a:pt x="1110" y="805"/>
                    <a:pt x="1102" y="808"/>
                  </a:cubicBezTo>
                  <a:cubicBezTo>
                    <a:pt x="1099" y="802"/>
                    <a:pt x="1104" y="795"/>
                    <a:pt x="1098" y="792"/>
                  </a:cubicBezTo>
                  <a:cubicBezTo>
                    <a:pt x="1094" y="789"/>
                    <a:pt x="1084" y="788"/>
                    <a:pt x="1084" y="788"/>
                  </a:cubicBezTo>
                  <a:cubicBezTo>
                    <a:pt x="1077" y="780"/>
                    <a:pt x="1076" y="783"/>
                    <a:pt x="1067" y="786"/>
                  </a:cubicBezTo>
                  <a:cubicBezTo>
                    <a:pt x="1064" y="788"/>
                    <a:pt x="1057" y="789"/>
                    <a:pt x="1057" y="789"/>
                  </a:cubicBezTo>
                  <a:cubicBezTo>
                    <a:pt x="1054" y="789"/>
                    <a:pt x="1051" y="789"/>
                    <a:pt x="1048" y="788"/>
                  </a:cubicBezTo>
                  <a:cubicBezTo>
                    <a:pt x="1046" y="786"/>
                    <a:pt x="1045" y="778"/>
                    <a:pt x="1045" y="778"/>
                  </a:cubicBezTo>
                  <a:cubicBezTo>
                    <a:pt x="1046" y="778"/>
                    <a:pt x="1048" y="777"/>
                    <a:pt x="1050" y="775"/>
                  </a:cubicBezTo>
                  <a:cubicBezTo>
                    <a:pt x="1060" y="772"/>
                    <a:pt x="1067" y="778"/>
                    <a:pt x="1060" y="763"/>
                  </a:cubicBezTo>
                  <a:cubicBezTo>
                    <a:pt x="1059" y="763"/>
                    <a:pt x="1057" y="761"/>
                    <a:pt x="1056" y="761"/>
                  </a:cubicBezTo>
                  <a:cubicBezTo>
                    <a:pt x="1053" y="761"/>
                    <a:pt x="1048" y="761"/>
                    <a:pt x="1046" y="763"/>
                  </a:cubicBezTo>
                  <a:cubicBezTo>
                    <a:pt x="1046" y="764"/>
                    <a:pt x="1045" y="766"/>
                    <a:pt x="1043" y="767"/>
                  </a:cubicBezTo>
                  <a:cubicBezTo>
                    <a:pt x="1036" y="775"/>
                    <a:pt x="1025" y="777"/>
                    <a:pt x="1016" y="780"/>
                  </a:cubicBezTo>
                  <a:cubicBezTo>
                    <a:pt x="1011" y="780"/>
                    <a:pt x="1006" y="778"/>
                    <a:pt x="1003" y="777"/>
                  </a:cubicBezTo>
                  <a:cubicBezTo>
                    <a:pt x="1002" y="777"/>
                    <a:pt x="997" y="775"/>
                    <a:pt x="997" y="775"/>
                  </a:cubicBezTo>
                  <a:cubicBezTo>
                    <a:pt x="988" y="763"/>
                    <a:pt x="986" y="761"/>
                    <a:pt x="971" y="758"/>
                  </a:cubicBezTo>
                  <a:cubicBezTo>
                    <a:pt x="971" y="753"/>
                    <a:pt x="974" y="747"/>
                    <a:pt x="971" y="742"/>
                  </a:cubicBezTo>
                  <a:cubicBezTo>
                    <a:pt x="969" y="739"/>
                    <a:pt x="960" y="736"/>
                    <a:pt x="957" y="734"/>
                  </a:cubicBezTo>
                  <a:cubicBezTo>
                    <a:pt x="954" y="733"/>
                    <a:pt x="947" y="731"/>
                    <a:pt x="947" y="731"/>
                  </a:cubicBezTo>
                  <a:cubicBezTo>
                    <a:pt x="941" y="725"/>
                    <a:pt x="935" y="722"/>
                    <a:pt x="929" y="716"/>
                  </a:cubicBezTo>
                  <a:cubicBezTo>
                    <a:pt x="930" y="706"/>
                    <a:pt x="932" y="700"/>
                    <a:pt x="941" y="697"/>
                  </a:cubicBezTo>
                  <a:cubicBezTo>
                    <a:pt x="955" y="698"/>
                    <a:pt x="968" y="702"/>
                    <a:pt x="980" y="705"/>
                  </a:cubicBezTo>
                  <a:cubicBezTo>
                    <a:pt x="986" y="711"/>
                    <a:pt x="988" y="716"/>
                    <a:pt x="995" y="720"/>
                  </a:cubicBezTo>
                  <a:cubicBezTo>
                    <a:pt x="1005" y="734"/>
                    <a:pt x="1012" y="736"/>
                    <a:pt x="1025" y="744"/>
                  </a:cubicBezTo>
                  <a:cubicBezTo>
                    <a:pt x="1033" y="742"/>
                    <a:pt x="1045" y="747"/>
                    <a:pt x="1051" y="741"/>
                  </a:cubicBezTo>
                  <a:cubicBezTo>
                    <a:pt x="1060" y="733"/>
                    <a:pt x="1048" y="738"/>
                    <a:pt x="1059" y="734"/>
                  </a:cubicBezTo>
                  <a:cubicBezTo>
                    <a:pt x="1064" y="738"/>
                    <a:pt x="1068" y="739"/>
                    <a:pt x="1073" y="742"/>
                  </a:cubicBezTo>
                  <a:cubicBezTo>
                    <a:pt x="1079" y="752"/>
                    <a:pt x="1093" y="750"/>
                    <a:pt x="1104" y="753"/>
                  </a:cubicBezTo>
                  <a:cubicBezTo>
                    <a:pt x="1121" y="764"/>
                    <a:pt x="1110" y="759"/>
                    <a:pt x="1141" y="761"/>
                  </a:cubicBezTo>
                  <a:cubicBezTo>
                    <a:pt x="1152" y="763"/>
                    <a:pt x="1156" y="766"/>
                    <a:pt x="1163" y="775"/>
                  </a:cubicBezTo>
                  <a:cubicBezTo>
                    <a:pt x="1159" y="788"/>
                    <a:pt x="1167" y="781"/>
                    <a:pt x="1173" y="777"/>
                  </a:cubicBezTo>
                  <a:cubicBezTo>
                    <a:pt x="1175" y="770"/>
                    <a:pt x="1178" y="770"/>
                    <a:pt x="1181" y="764"/>
                  </a:cubicBezTo>
                  <a:cubicBezTo>
                    <a:pt x="1190" y="767"/>
                    <a:pt x="1189" y="772"/>
                    <a:pt x="1187" y="783"/>
                  </a:cubicBezTo>
                  <a:cubicBezTo>
                    <a:pt x="1195" y="789"/>
                    <a:pt x="1206" y="786"/>
                    <a:pt x="1215" y="789"/>
                  </a:cubicBezTo>
                  <a:cubicBezTo>
                    <a:pt x="1221" y="791"/>
                    <a:pt x="1226" y="797"/>
                    <a:pt x="1234" y="800"/>
                  </a:cubicBezTo>
                  <a:cubicBezTo>
                    <a:pt x="1245" y="803"/>
                    <a:pt x="1255" y="808"/>
                    <a:pt x="1265" y="816"/>
                  </a:cubicBezTo>
                  <a:cubicBezTo>
                    <a:pt x="1268" y="827"/>
                    <a:pt x="1272" y="831"/>
                    <a:pt x="1282" y="834"/>
                  </a:cubicBezTo>
                  <a:cubicBezTo>
                    <a:pt x="1286" y="842"/>
                    <a:pt x="1288" y="847"/>
                    <a:pt x="1296" y="852"/>
                  </a:cubicBezTo>
                  <a:cubicBezTo>
                    <a:pt x="1308" y="849"/>
                    <a:pt x="1302" y="850"/>
                    <a:pt x="1314" y="847"/>
                  </a:cubicBezTo>
                  <a:cubicBezTo>
                    <a:pt x="1316" y="845"/>
                    <a:pt x="1319" y="845"/>
                    <a:pt x="1319" y="845"/>
                  </a:cubicBezTo>
                  <a:cubicBezTo>
                    <a:pt x="1328" y="852"/>
                    <a:pt x="1322" y="842"/>
                    <a:pt x="1319" y="839"/>
                  </a:cubicBezTo>
                  <a:cubicBezTo>
                    <a:pt x="1316" y="844"/>
                    <a:pt x="1311" y="847"/>
                    <a:pt x="1310" y="853"/>
                  </a:cubicBezTo>
                  <a:cubicBezTo>
                    <a:pt x="1310" y="856"/>
                    <a:pt x="1307" y="863"/>
                    <a:pt x="1307" y="863"/>
                  </a:cubicBezTo>
                  <a:cubicBezTo>
                    <a:pt x="1308" y="869"/>
                    <a:pt x="1310" y="880"/>
                    <a:pt x="1319" y="880"/>
                  </a:cubicBezTo>
                  <a:lnTo>
                    <a:pt x="1320" y="916"/>
                  </a:lnTo>
                  <a:lnTo>
                    <a:pt x="1348" y="1005"/>
                  </a:lnTo>
                  <a:lnTo>
                    <a:pt x="1373" y="1033"/>
                  </a:lnTo>
                  <a:lnTo>
                    <a:pt x="1416" y="994"/>
                  </a:lnTo>
                  <a:lnTo>
                    <a:pt x="1413" y="967"/>
                  </a:lnTo>
                  <a:lnTo>
                    <a:pt x="1424" y="959"/>
                  </a:lnTo>
                  <a:lnTo>
                    <a:pt x="1423" y="925"/>
                  </a:lnTo>
                  <a:lnTo>
                    <a:pt x="1452" y="916"/>
                  </a:lnTo>
                  <a:lnTo>
                    <a:pt x="1520" y="855"/>
                  </a:lnTo>
                  <a:lnTo>
                    <a:pt x="1533" y="839"/>
                  </a:lnTo>
                  <a:lnTo>
                    <a:pt x="1588" y="824"/>
                  </a:lnTo>
                  <a:lnTo>
                    <a:pt x="1608" y="847"/>
                  </a:lnTo>
                  <a:lnTo>
                    <a:pt x="1602" y="858"/>
                  </a:lnTo>
                  <a:lnTo>
                    <a:pt x="1619" y="875"/>
                  </a:lnTo>
                  <a:lnTo>
                    <a:pt x="1624" y="899"/>
                  </a:lnTo>
                  <a:lnTo>
                    <a:pt x="1641" y="906"/>
                  </a:lnTo>
                  <a:lnTo>
                    <a:pt x="1677" y="892"/>
                  </a:lnTo>
                  <a:lnTo>
                    <a:pt x="1675" y="975"/>
                  </a:lnTo>
                  <a:lnTo>
                    <a:pt x="1684" y="956"/>
                  </a:lnTo>
                  <a:lnTo>
                    <a:pt x="1707" y="1000"/>
                  </a:lnTo>
                  <a:lnTo>
                    <a:pt x="1704" y="1030"/>
                  </a:lnTo>
                  <a:lnTo>
                    <a:pt x="1718" y="1013"/>
                  </a:lnTo>
                  <a:lnTo>
                    <a:pt x="1721" y="997"/>
                  </a:lnTo>
                  <a:lnTo>
                    <a:pt x="1738" y="972"/>
                  </a:lnTo>
                  <a:lnTo>
                    <a:pt x="1728" y="958"/>
                  </a:lnTo>
                  <a:lnTo>
                    <a:pt x="1737" y="942"/>
                  </a:lnTo>
                  <a:lnTo>
                    <a:pt x="1725" y="913"/>
                  </a:lnTo>
                  <a:lnTo>
                    <a:pt x="1732" y="889"/>
                  </a:lnTo>
                  <a:lnTo>
                    <a:pt x="1715" y="895"/>
                  </a:lnTo>
                  <a:lnTo>
                    <a:pt x="1707" y="874"/>
                  </a:lnTo>
                  <a:lnTo>
                    <a:pt x="1701" y="844"/>
                  </a:lnTo>
                  <a:lnTo>
                    <a:pt x="1714" y="816"/>
                  </a:lnTo>
                  <a:lnTo>
                    <a:pt x="1728" y="834"/>
                  </a:lnTo>
                  <a:lnTo>
                    <a:pt x="1721" y="880"/>
                  </a:lnTo>
                  <a:lnTo>
                    <a:pt x="1738" y="849"/>
                  </a:lnTo>
                  <a:lnTo>
                    <a:pt x="1732" y="824"/>
                  </a:lnTo>
                  <a:lnTo>
                    <a:pt x="1752" y="808"/>
                  </a:lnTo>
                  <a:lnTo>
                    <a:pt x="1752" y="797"/>
                  </a:lnTo>
                  <a:lnTo>
                    <a:pt x="1759" y="800"/>
                  </a:lnTo>
                  <a:lnTo>
                    <a:pt x="1796" y="756"/>
                  </a:lnTo>
                  <a:lnTo>
                    <a:pt x="1805" y="684"/>
                  </a:lnTo>
                  <a:lnTo>
                    <a:pt x="1810" y="655"/>
                  </a:lnTo>
                  <a:lnTo>
                    <a:pt x="1794" y="664"/>
                  </a:lnTo>
                  <a:lnTo>
                    <a:pt x="1788" y="655"/>
                  </a:lnTo>
                  <a:lnTo>
                    <a:pt x="1800" y="638"/>
                  </a:lnTo>
                  <a:lnTo>
                    <a:pt x="1776" y="592"/>
                  </a:lnTo>
                  <a:lnTo>
                    <a:pt x="1763" y="580"/>
                  </a:lnTo>
                  <a:lnTo>
                    <a:pt x="1783" y="544"/>
                  </a:lnTo>
                  <a:lnTo>
                    <a:pt x="1762" y="539"/>
                  </a:lnTo>
                  <a:lnTo>
                    <a:pt x="1743" y="531"/>
                  </a:lnTo>
                  <a:lnTo>
                    <a:pt x="1751" y="503"/>
                  </a:lnTo>
                  <a:lnTo>
                    <a:pt x="1763" y="487"/>
                  </a:lnTo>
                  <a:lnTo>
                    <a:pt x="1766" y="519"/>
                  </a:lnTo>
                  <a:lnTo>
                    <a:pt x="1788" y="498"/>
                  </a:lnTo>
                  <a:lnTo>
                    <a:pt x="1805" y="497"/>
                  </a:lnTo>
                  <a:lnTo>
                    <a:pt x="1797" y="519"/>
                  </a:lnTo>
                  <a:lnTo>
                    <a:pt x="1824" y="528"/>
                  </a:lnTo>
                  <a:lnTo>
                    <a:pt x="1816" y="545"/>
                  </a:lnTo>
                  <a:lnTo>
                    <a:pt x="1830" y="559"/>
                  </a:lnTo>
                  <a:lnTo>
                    <a:pt x="1830" y="588"/>
                  </a:lnTo>
                  <a:lnTo>
                    <a:pt x="1861" y="559"/>
                  </a:lnTo>
                  <a:lnTo>
                    <a:pt x="1850" y="531"/>
                  </a:lnTo>
                  <a:lnTo>
                    <a:pt x="1821" y="489"/>
                  </a:lnTo>
                  <a:lnTo>
                    <a:pt x="1830" y="473"/>
                  </a:lnTo>
                  <a:lnTo>
                    <a:pt x="1824" y="448"/>
                  </a:lnTo>
                  <a:lnTo>
                    <a:pt x="1844" y="427"/>
                  </a:lnTo>
                  <a:lnTo>
                    <a:pt x="1868" y="416"/>
                  </a:lnTo>
                  <a:lnTo>
                    <a:pt x="1867" y="367"/>
                  </a:lnTo>
                  <a:lnTo>
                    <a:pt x="1865" y="333"/>
                  </a:lnTo>
                  <a:lnTo>
                    <a:pt x="1858" y="302"/>
                  </a:lnTo>
                  <a:lnTo>
                    <a:pt x="1830" y="248"/>
                  </a:lnTo>
                  <a:lnTo>
                    <a:pt x="1825" y="275"/>
                  </a:lnTo>
                  <a:lnTo>
                    <a:pt x="1807" y="258"/>
                  </a:lnTo>
                  <a:lnTo>
                    <a:pt x="1790" y="266"/>
                  </a:lnTo>
                  <a:lnTo>
                    <a:pt x="1805" y="226"/>
                  </a:lnTo>
                  <a:lnTo>
                    <a:pt x="1821" y="192"/>
                  </a:lnTo>
                  <a:lnTo>
                    <a:pt x="1850" y="176"/>
                  </a:lnTo>
                  <a:lnTo>
                    <a:pt x="1853" y="161"/>
                  </a:lnTo>
                  <a:lnTo>
                    <a:pt x="1873" y="155"/>
                  </a:lnTo>
                  <a:lnTo>
                    <a:pt x="1873" y="170"/>
                  </a:lnTo>
                  <a:lnTo>
                    <a:pt x="1896" y="145"/>
                  </a:lnTo>
                  <a:lnTo>
                    <a:pt x="1882" y="139"/>
                  </a:lnTo>
                  <a:lnTo>
                    <a:pt x="1882" y="120"/>
                  </a:lnTo>
                  <a:lnTo>
                    <a:pt x="1899" y="108"/>
                  </a:lnTo>
                  <a:lnTo>
                    <a:pt x="1906" y="122"/>
                  </a:lnTo>
                  <a:lnTo>
                    <a:pt x="1929" y="100"/>
                  </a:lnTo>
                  <a:lnTo>
                    <a:pt x="1926" y="120"/>
                  </a:lnTo>
                  <a:lnTo>
                    <a:pt x="1927" y="136"/>
                  </a:lnTo>
                  <a:lnTo>
                    <a:pt x="1926" y="158"/>
                  </a:lnTo>
                  <a:lnTo>
                    <a:pt x="1918" y="175"/>
                  </a:lnTo>
                  <a:lnTo>
                    <a:pt x="1932" y="197"/>
                  </a:lnTo>
                  <a:lnTo>
                    <a:pt x="1938" y="212"/>
                  </a:lnTo>
                  <a:lnTo>
                    <a:pt x="1947" y="209"/>
                  </a:lnTo>
                  <a:lnTo>
                    <a:pt x="1992" y="256"/>
                  </a:lnTo>
                  <a:lnTo>
                    <a:pt x="2002" y="233"/>
                  </a:lnTo>
                  <a:lnTo>
                    <a:pt x="2014" y="216"/>
                  </a:lnTo>
                  <a:lnTo>
                    <a:pt x="1994" y="205"/>
                  </a:lnTo>
                  <a:lnTo>
                    <a:pt x="1999" y="184"/>
                  </a:lnTo>
                  <a:lnTo>
                    <a:pt x="1999" y="172"/>
                  </a:lnTo>
                  <a:lnTo>
                    <a:pt x="1978" y="150"/>
                  </a:lnTo>
                  <a:lnTo>
                    <a:pt x="1960" y="147"/>
                  </a:lnTo>
                  <a:lnTo>
                    <a:pt x="1943" y="123"/>
                  </a:lnTo>
                  <a:lnTo>
                    <a:pt x="1966" y="119"/>
                  </a:lnTo>
                  <a:lnTo>
                    <a:pt x="1977" y="100"/>
                  </a:lnTo>
                  <a:lnTo>
                    <a:pt x="1991" y="106"/>
                  </a:lnTo>
                  <a:lnTo>
                    <a:pt x="2005" y="98"/>
                  </a:lnTo>
                  <a:lnTo>
                    <a:pt x="1990" y="80"/>
                  </a:lnTo>
                  <a:lnTo>
                    <a:pt x="2002" y="69"/>
                  </a:lnTo>
                  <a:lnTo>
                    <a:pt x="2021" y="68"/>
                  </a:lnTo>
                  <a:lnTo>
                    <a:pt x="2000" y="53"/>
                  </a:lnTo>
                  <a:lnTo>
                    <a:pt x="1975" y="51"/>
                  </a:lnTo>
                  <a:lnTo>
                    <a:pt x="1990" y="32"/>
                  </a:lnTo>
                  <a:lnTo>
                    <a:pt x="1989" y="11"/>
                  </a:lnTo>
                  <a:lnTo>
                    <a:pt x="2005" y="27"/>
                  </a:lnTo>
                  <a:lnTo>
                    <a:pt x="2015" y="18"/>
                  </a:lnTo>
                  <a:lnTo>
                    <a:pt x="2024" y="21"/>
                  </a:lnTo>
                  <a:lnTo>
                    <a:pt x="2038" y="36"/>
                  </a:lnTo>
                  <a:lnTo>
                    <a:pt x="2060" y="33"/>
                  </a:lnTo>
                  <a:lnTo>
                    <a:pt x="2042" y="15"/>
                  </a:lnTo>
                  <a:lnTo>
                    <a:pt x="2038" y="0"/>
                  </a:lnTo>
                  <a:lnTo>
                    <a:pt x="2006" y="5"/>
                  </a:lnTo>
                  <a:lnTo>
                    <a:pt x="1994" y="0"/>
                  </a:lnTo>
                  <a:lnTo>
                    <a:pt x="1955" y="11"/>
                  </a:lnTo>
                  <a:lnTo>
                    <a:pt x="1913" y="18"/>
                  </a:lnTo>
                  <a:lnTo>
                    <a:pt x="1886" y="30"/>
                  </a:lnTo>
                  <a:lnTo>
                    <a:pt x="1885" y="47"/>
                  </a:lnTo>
                  <a:lnTo>
                    <a:pt x="1864" y="50"/>
                  </a:lnTo>
                  <a:cubicBezTo>
                    <a:pt x="1858" y="55"/>
                    <a:pt x="1854" y="75"/>
                    <a:pt x="1847" y="77"/>
                  </a:cubicBezTo>
                  <a:cubicBezTo>
                    <a:pt x="1839" y="82"/>
                    <a:pt x="1830" y="65"/>
                    <a:pt x="1820" y="63"/>
                  </a:cubicBezTo>
                  <a:lnTo>
                    <a:pt x="1786" y="66"/>
                  </a:lnTo>
                  <a:lnTo>
                    <a:pt x="1732" y="56"/>
                  </a:lnTo>
                  <a:lnTo>
                    <a:pt x="1709" y="62"/>
                  </a:lnTo>
                  <a:lnTo>
                    <a:pt x="1678" y="56"/>
                  </a:lnTo>
                  <a:lnTo>
                    <a:pt x="1666" y="47"/>
                  </a:lnTo>
                  <a:lnTo>
                    <a:pt x="1643" y="50"/>
                  </a:lnTo>
                  <a:cubicBezTo>
                    <a:pt x="1635" y="52"/>
                    <a:pt x="1626" y="57"/>
                    <a:pt x="1618" y="60"/>
                  </a:cubicBezTo>
                  <a:cubicBezTo>
                    <a:pt x="1610" y="63"/>
                    <a:pt x="1603" y="67"/>
                    <a:pt x="1597" y="71"/>
                  </a:cubicBezTo>
                  <a:cubicBezTo>
                    <a:pt x="1591" y="75"/>
                    <a:pt x="1587" y="84"/>
                    <a:pt x="1583" y="83"/>
                  </a:cubicBezTo>
                  <a:cubicBezTo>
                    <a:pt x="1571" y="90"/>
                    <a:pt x="1576" y="67"/>
                    <a:pt x="1571" y="65"/>
                  </a:cubicBezTo>
                  <a:lnTo>
                    <a:pt x="1553" y="69"/>
                  </a:lnTo>
                  <a:cubicBezTo>
                    <a:pt x="1544" y="66"/>
                    <a:pt x="1531" y="50"/>
                    <a:pt x="1517" y="47"/>
                  </a:cubicBezTo>
                  <a:cubicBezTo>
                    <a:pt x="1503" y="46"/>
                    <a:pt x="1479" y="45"/>
                    <a:pt x="1468" y="48"/>
                  </a:cubicBezTo>
                  <a:cubicBezTo>
                    <a:pt x="1457" y="51"/>
                    <a:pt x="1461" y="63"/>
                    <a:pt x="1451" y="63"/>
                  </a:cubicBezTo>
                  <a:cubicBezTo>
                    <a:pt x="1439" y="66"/>
                    <a:pt x="1419" y="48"/>
                    <a:pt x="1408" y="47"/>
                  </a:cubicBezTo>
                  <a:cubicBezTo>
                    <a:pt x="1397" y="46"/>
                    <a:pt x="1390" y="59"/>
                    <a:pt x="1382" y="59"/>
                  </a:cubicBezTo>
                  <a:cubicBezTo>
                    <a:pt x="1374" y="59"/>
                    <a:pt x="1362" y="52"/>
                    <a:pt x="1357" y="47"/>
                  </a:cubicBezTo>
                  <a:cubicBezTo>
                    <a:pt x="1352" y="42"/>
                    <a:pt x="1356" y="36"/>
                    <a:pt x="1349" y="30"/>
                  </a:cubicBezTo>
                  <a:cubicBezTo>
                    <a:pt x="1333" y="26"/>
                    <a:pt x="1330" y="13"/>
                    <a:pt x="1318" y="11"/>
                  </a:cubicBezTo>
                  <a:cubicBezTo>
                    <a:pt x="1306" y="9"/>
                    <a:pt x="1287" y="20"/>
                    <a:pt x="1277" y="20"/>
                  </a:cubicBezTo>
                  <a:cubicBezTo>
                    <a:pt x="1267" y="20"/>
                    <a:pt x="1268" y="10"/>
                    <a:pt x="1259" y="9"/>
                  </a:cubicBezTo>
                  <a:lnTo>
                    <a:pt x="1222" y="14"/>
                  </a:lnTo>
                  <a:lnTo>
                    <a:pt x="1210" y="32"/>
                  </a:lnTo>
                  <a:cubicBezTo>
                    <a:pt x="1203" y="35"/>
                    <a:pt x="1187" y="28"/>
                    <a:pt x="1178" y="29"/>
                  </a:cubicBezTo>
                  <a:cubicBezTo>
                    <a:pt x="1169" y="30"/>
                    <a:pt x="1164" y="36"/>
                    <a:pt x="1154" y="39"/>
                  </a:cubicBezTo>
                  <a:cubicBezTo>
                    <a:pt x="1144" y="42"/>
                    <a:pt x="1124" y="44"/>
                    <a:pt x="1120" y="48"/>
                  </a:cubicBezTo>
                  <a:cubicBezTo>
                    <a:pt x="1109" y="57"/>
                    <a:pt x="1132" y="61"/>
                    <a:pt x="1132" y="65"/>
                  </a:cubicBezTo>
                  <a:cubicBezTo>
                    <a:pt x="1132" y="69"/>
                    <a:pt x="1126" y="70"/>
                    <a:pt x="1118" y="72"/>
                  </a:cubicBezTo>
                  <a:cubicBezTo>
                    <a:pt x="1110" y="74"/>
                    <a:pt x="1084" y="72"/>
                    <a:pt x="1085" y="77"/>
                  </a:cubicBezTo>
                  <a:cubicBezTo>
                    <a:pt x="1085" y="86"/>
                    <a:pt x="1126" y="103"/>
                    <a:pt x="1127" y="105"/>
                  </a:cubicBezTo>
                  <a:lnTo>
                    <a:pt x="1090" y="90"/>
                  </a:lnTo>
                  <a:lnTo>
                    <a:pt x="1072" y="95"/>
                  </a:lnTo>
                  <a:cubicBezTo>
                    <a:pt x="1063" y="93"/>
                    <a:pt x="1039" y="65"/>
                    <a:pt x="1033" y="80"/>
                  </a:cubicBezTo>
                  <a:cubicBezTo>
                    <a:pt x="1027" y="95"/>
                    <a:pt x="1077" y="132"/>
                    <a:pt x="1084" y="147"/>
                  </a:cubicBezTo>
                  <a:lnTo>
                    <a:pt x="1075" y="171"/>
                  </a:lnTo>
                  <a:lnTo>
                    <a:pt x="1040" y="170"/>
                  </a:lnTo>
                  <a:cubicBezTo>
                    <a:pt x="1040" y="170"/>
                    <a:pt x="1061" y="164"/>
                    <a:pt x="1060" y="155"/>
                  </a:cubicBezTo>
                  <a:cubicBezTo>
                    <a:pt x="1059" y="146"/>
                    <a:pt x="1043" y="127"/>
                    <a:pt x="1031" y="113"/>
                  </a:cubicBezTo>
                  <a:cubicBezTo>
                    <a:pt x="1025" y="101"/>
                    <a:pt x="1030" y="84"/>
                    <a:pt x="1024" y="81"/>
                  </a:cubicBezTo>
                  <a:cubicBezTo>
                    <a:pt x="1018" y="78"/>
                    <a:pt x="997" y="65"/>
                    <a:pt x="989" y="71"/>
                  </a:cubicBezTo>
                  <a:cubicBezTo>
                    <a:pt x="968" y="74"/>
                    <a:pt x="970" y="107"/>
                    <a:pt x="974" y="116"/>
                  </a:cubicBezTo>
                  <a:cubicBezTo>
                    <a:pt x="978" y="125"/>
                    <a:pt x="1009" y="122"/>
                    <a:pt x="1012" y="125"/>
                  </a:cubicBezTo>
                  <a:cubicBezTo>
                    <a:pt x="1028" y="153"/>
                    <a:pt x="1005" y="143"/>
                    <a:pt x="989" y="134"/>
                  </a:cubicBezTo>
                  <a:cubicBezTo>
                    <a:pt x="973" y="125"/>
                    <a:pt x="968" y="128"/>
                    <a:pt x="958" y="128"/>
                  </a:cubicBezTo>
                  <a:cubicBezTo>
                    <a:pt x="948" y="128"/>
                    <a:pt x="931" y="133"/>
                    <a:pt x="926" y="137"/>
                  </a:cubicBezTo>
                  <a:cubicBezTo>
                    <a:pt x="921" y="141"/>
                    <a:pt x="939" y="157"/>
                    <a:pt x="926" y="152"/>
                  </a:cubicBezTo>
                  <a:cubicBezTo>
                    <a:pt x="913" y="147"/>
                    <a:pt x="899" y="149"/>
                    <a:pt x="886" y="147"/>
                  </a:cubicBezTo>
                  <a:cubicBezTo>
                    <a:pt x="873" y="145"/>
                    <a:pt x="863" y="136"/>
                    <a:pt x="847" y="140"/>
                  </a:cubicBezTo>
                  <a:cubicBezTo>
                    <a:pt x="825" y="147"/>
                    <a:pt x="794" y="185"/>
                    <a:pt x="787" y="171"/>
                  </a:cubicBezTo>
                  <a:cubicBezTo>
                    <a:pt x="780" y="157"/>
                    <a:pt x="800" y="155"/>
                    <a:pt x="800" y="150"/>
                  </a:cubicBezTo>
                  <a:cubicBezTo>
                    <a:pt x="800" y="145"/>
                    <a:pt x="796" y="138"/>
                    <a:pt x="790" y="138"/>
                  </a:cubicBezTo>
                  <a:cubicBezTo>
                    <a:pt x="784" y="138"/>
                    <a:pt x="764" y="144"/>
                    <a:pt x="763" y="152"/>
                  </a:cubicBezTo>
                  <a:cubicBezTo>
                    <a:pt x="761" y="163"/>
                    <a:pt x="783" y="181"/>
                    <a:pt x="782" y="186"/>
                  </a:cubicBezTo>
                  <a:cubicBezTo>
                    <a:pt x="781" y="191"/>
                    <a:pt x="765" y="180"/>
                    <a:pt x="758" y="183"/>
                  </a:cubicBezTo>
                  <a:cubicBezTo>
                    <a:pt x="751" y="186"/>
                    <a:pt x="746" y="207"/>
                    <a:pt x="742" y="203"/>
                  </a:cubicBezTo>
                  <a:lnTo>
                    <a:pt x="728" y="189"/>
                  </a:lnTo>
                  <a:lnTo>
                    <a:pt x="746" y="170"/>
                  </a:lnTo>
                  <a:lnTo>
                    <a:pt x="733" y="158"/>
                  </a:lnTo>
                  <a:cubicBezTo>
                    <a:pt x="727" y="155"/>
                    <a:pt x="718" y="150"/>
                    <a:pt x="712" y="149"/>
                  </a:cubicBezTo>
                  <a:cubicBezTo>
                    <a:pt x="706" y="148"/>
                    <a:pt x="701" y="154"/>
                    <a:pt x="698" y="152"/>
                  </a:cubicBezTo>
                  <a:cubicBezTo>
                    <a:pt x="695" y="150"/>
                    <a:pt x="698" y="139"/>
                    <a:pt x="695" y="138"/>
                  </a:cubicBezTo>
                  <a:cubicBezTo>
                    <a:pt x="692" y="137"/>
                    <a:pt x="685" y="146"/>
                    <a:pt x="680" y="146"/>
                  </a:cubicBezTo>
                  <a:cubicBezTo>
                    <a:pt x="675" y="146"/>
                    <a:pt x="677" y="142"/>
                    <a:pt x="667" y="140"/>
                  </a:cubicBezTo>
                  <a:cubicBezTo>
                    <a:pt x="657" y="138"/>
                    <a:pt x="632" y="139"/>
                    <a:pt x="622" y="135"/>
                  </a:cubicBezTo>
                  <a:cubicBezTo>
                    <a:pt x="612" y="131"/>
                    <a:pt x="632" y="117"/>
                    <a:pt x="608" y="113"/>
                  </a:cubicBezTo>
                  <a:cubicBezTo>
                    <a:pt x="584" y="109"/>
                    <a:pt x="590" y="119"/>
                    <a:pt x="583" y="119"/>
                  </a:cubicBezTo>
                  <a:lnTo>
                    <a:pt x="568" y="114"/>
                  </a:lnTo>
                  <a:cubicBezTo>
                    <a:pt x="555" y="116"/>
                    <a:pt x="521" y="125"/>
                    <a:pt x="505" y="131"/>
                  </a:cubicBezTo>
                  <a:cubicBezTo>
                    <a:pt x="482" y="140"/>
                    <a:pt x="485" y="140"/>
                    <a:pt x="472" y="152"/>
                  </a:cubicBezTo>
                  <a:cubicBezTo>
                    <a:pt x="459" y="164"/>
                    <a:pt x="443" y="192"/>
                    <a:pt x="428" y="204"/>
                  </a:cubicBezTo>
                  <a:cubicBezTo>
                    <a:pt x="410" y="223"/>
                    <a:pt x="393" y="217"/>
                    <a:pt x="382" y="224"/>
                  </a:cubicBezTo>
                  <a:lnTo>
                    <a:pt x="364" y="248"/>
                  </a:lnTo>
                  <a:lnTo>
                    <a:pt x="368" y="290"/>
                  </a:lnTo>
                  <a:lnTo>
                    <a:pt x="389" y="306"/>
                  </a:lnTo>
                  <a:lnTo>
                    <a:pt x="436" y="290"/>
                  </a:lnTo>
                  <a:cubicBezTo>
                    <a:pt x="447" y="296"/>
                    <a:pt x="448" y="335"/>
                    <a:pt x="457" y="341"/>
                  </a:cubicBezTo>
                  <a:cubicBezTo>
                    <a:pt x="468" y="348"/>
                    <a:pt x="486" y="330"/>
                    <a:pt x="491" y="324"/>
                  </a:cubicBezTo>
                  <a:lnTo>
                    <a:pt x="496" y="300"/>
                  </a:lnTo>
                  <a:lnTo>
                    <a:pt x="514" y="281"/>
                  </a:lnTo>
                  <a:cubicBezTo>
                    <a:pt x="515" y="270"/>
                    <a:pt x="499" y="245"/>
                    <a:pt x="502" y="234"/>
                  </a:cubicBezTo>
                  <a:cubicBezTo>
                    <a:pt x="505" y="225"/>
                    <a:pt x="526" y="220"/>
                    <a:pt x="535" y="213"/>
                  </a:cubicBezTo>
                  <a:cubicBezTo>
                    <a:pt x="544" y="206"/>
                    <a:pt x="546" y="192"/>
                    <a:pt x="554" y="191"/>
                  </a:cubicBezTo>
                  <a:cubicBezTo>
                    <a:pt x="567" y="190"/>
                    <a:pt x="580" y="200"/>
                    <a:pt x="581" y="204"/>
                  </a:cubicBezTo>
                  <a:cubicBezTo>
                    <a:pt x="581" y="208"/>
                    <a:pt x="560" y="200"/>
                    <a:pt x="557" y="215"/>
                  </a:cubicBezTo>
                  <a:cubicBezTo>
                    <a:pt x="554" y="230"/>
                    <a:pt x="535" y="233"/>
                    <a:pt x="533" y="242"/>
                  </a:cubicBezTo>
                  <a:lnTo>
                    <a:pt x="548" y="267"/>
                  </a:lnTo>
                  <a:lnTo>
                    <a:pt x="571" y="276"/>
                  </a:lnTo>
                  <a:lnTo>
                    <a:pt x="598" y="264"/>
                  </a:lnTo>
                  <a:lnTo>
                    <a:pt x="625" y="261"/>
                  </a:lnTo>
                  <a:cubicBezTo>
                    <a:pt x="632" y="263"/>
                    <a:pt x="645" y="271"/>
                    <a:pt x="638" y="276"/>
                  </a:cubicBezTo>
                  <a:cubicBezTo>
                    <a:pt x="631" y="281"/>
                    <a:pt x="593" y="287"/>
                    <a:pt x="584" y="293"/>
                  </a:cubicBezTo>
                  <a:cubicBezTo>
                    <a:pt x="575" y="299"/>
                    <a:pt x="587" y="309"/>
                    <a:pt x="581" y="311"/>
                  </a:cubicBezTo>
                  <a:cubicBezTo>
                    <a:pt x="567" y="319"/>
                    <a:pt x="556" y="301"/>
                    <a:pt x="550" y="303"/>
                  </a:cubicBezTo>
                  <a:lnTo>
                    <a:pt x="547" y="323"/>
                  </a:lnTo>
                  <a:lnTo>
                    <a:pt x="536" y="350"/>
                  </a:lnTo>
                  <a:lnTo>
                    <a:pt x="512" y="351"/>
                  </a:lnTo>
                  <a:lnTo>
                    <a:pt x="476" y="360"/>
                  </a:lnTo>
                  <a:lnTo>
                    <a:pt x="457" y="351"/>
                  </a:lnTo>
                  <a:lnTo>
                    <a:pt x="443" y="357"/>
                  </a:lnTo>
                  <a:lnTo>
                    <a:pt x="419" y="342"/>
                  </a:lnTo>
                  <a:cubicBezTo>
                    <a:pt x="417" y="335"/>
                    <a:pt x="433" y="329"/>
                    <a:pt x="428" y="317"/>
                  </a:cubicBezTo>
                  <a:cubicBezTo>
                    <a:pt x="423" y="305"/>
                    <a:pt x="396" y="313"/>
                    <a:pt x="392" y="321"/>
                  </a:cubicBezTo>
                  <a:lnTo>
                    <a:pt x="397" y="362"/>
                  </a:lnTo>
                  <a:lnTo>
                    <a:pt x="373" y="362"/>
                  </a:lnTo>
                  <a:cubicBezTo>
                    <a:pt x="365" y="366"/>
                    <a:pt x="355" y="380"/>
                    <a:pt x="347" y="386"/>
                  </a:cubicBezTo>
                  <a:cubicBezTo>
                    <a:pt x="339" y="392"/>
                    <a:pt x="332" y="379"/>
                    <a:pt x="322" y="399"/>
                  </a:cubicBezTo>
                  <a:cubicBezTo>
                    <a:pt x="312" y="419"/>
                    <a:pt x="301" y="411"/>
                    <a:pt x="293" y="414"/>
                  </a:cubicBezTo>
                  <a:cubicBezTo>
                    <a:pt x="285" y="417"/>
                    <a:pt x="280" y="414"/>
                    <a:pt x="275" y="416"/>
                  </a:cubicBezTo>
                  <a:cubicBezTo>
                    <a:pt x="270" y="418"/>
                    <a:pt x="267" y="426"/>
                    <a:pt x="260" y="426"/>
                  </a:cubicBezTo>
                  <a:cubicBezTo>
                    <a:pt x="253" y="426"/>
                    <a:pt x="238" y="417"/>
                    <a:pt x="232" y="419"/>
                  </a:cubicBezTo>
                  <a:cubicBezTo>
                    <a:pt x="226" y="421"/>
                    <a:pt x="221" y="432"/>
                    <a:pt x="226" y="437"/>
                  </a:cubicBezTo>
                  <a:lnTo>
                    <a:pt x="263" y="449"/>
                  </a:lnTo>
                  <a:lnTo>
                    <a:pt x="272" y="474"/>
                  </a:lnTo>
                  <a:lnTo>
                    <a:pt x="262" y="503"/>
                  </a:lnTo>
                  <a:cubicBezTo>
                    <a:pt x="251" y="507"/>
                    <a:pt x="223" y="499"/>
                    <a:pt x="206" y="498"/>
                  </a:cubicBezTo>
                  <a:cubicBezTo>
                    <a:pt x="189" y="497"/>
                    <a:pt x="164" y="492"/>
                    <a:pt x="158" y="498"/>
                  </a:cubicBezTo>
                  <a:cubicBezTo>
                    <a:pt x="152" y="504"/>
                    <a:pt x="167" y="527"/>
                    <a:pt x="167" y="537"/>
                  </a:cubicBezTo>
                  <a:cubicBezTo>
                    <a:pt x="167" y="547"/>
                    <a:pt x="159" y="551"/>
                    <a:pt x="157" y="557"/>
                  </a:cubicBezTo>
                  <a:cubicBezTo>
                    <a:pt x="155" y="563"/>
                    <a:pt x="161" y="569"/>
                    <a:pt x="157" y="576"/>
                  </a:cubicBezTo>
                  <a:cubicBezTo>
                    <a:pt x="153" y="583"/>
                    <a:pt x="127" y="594"/>
                    <a:pt x="130" y="597"/>
                  </a:cubicBezTo>
                  <a:cubicBezTo>
                    <a:pt x="139" y="606"/>
                    <a:pt x="160" y="592"/>
                    <a:pt x="176" y="592"/>
                  </a:cubicBezTo>
                  <a:lnTo>
                    <a:pt x="226" y="598"/>
                  </a:lnTo>
                  <a:lnTo>
                    <a:pt x="260" y="588"/>
                  </a:lnTo>
                  <a:lnTo>
                    <a:pt x="274" y="576"/>
                  </a:lnTo>
                  <a:cubicBezTo>
                    <a:pt x="282" y="573"/>
                    <a:pt x="306" y="573"/>
                    <a:pt x="307" y="569"/>
                  </a:cubicBezTo>
                  <a:cubicBezTo>
                    <a:pt x="321" y="557"/>
                    <a:pt x="283" y="559"/>
                    <a:pt x="283" y="552"/>
                  </a:cubicBezTo>
                  <a:cubicBezTo>
                    <a:pt x="283" y="545"/>
                    <a:pt x="300" y="533"/>
                    <a:pt x="307" y="528"/>
                  </a:cubicBezTo>
                  <a:lnTo>
                    <a:pt x="325" y="522"/>
                  </a:lnTo>
                  <a:lnTo>
                    <a:pt x="320" y="503"/>
                  </a:lnTo>
                  <a:cubicBezTo>
                    <a:pt x="323" y="499"/>
                    <a:pt x="336" y="495"/>
                    <a:pt x="342" y="495"/>
                  </a:cubicBezTo>
                  <a:cubicBezTo>
                    <a:pt x="348" y="495"/>
                    <a:pt x="350" y="506"/>
                    <a:pt x="358" y="505"/>
                  </a:cubicBezTo>
                  <a:cubicBezTo>
                    <a:pt x="366" y="504"/>
                    <a:pt x="384" y="490"/>
                    <a:pt x="393" y="491"/>
                  </a:cubicBezTo>
                  <a:lnTo>
                    <a:pt x="415" y="510"/>
                  </a:lnTo>
                  <a:cubicBezTo>
                    <a:pt x="416" y="517"/>
                    <a:pt x="407" y="520"/>
                    <a:pt x="401" y="530"/>
                  </a:cubicBezTo>
                  <a:lnTo>
                    <a:pt x="381" y="573"/>
                  </a:lnTo>
                  <a:lnTo>
                    <a:pt x="406" y="576"/>
                  </a:lnTo>
                  <a:lnTo>
                    <a:pt x="412" y="561"/>
                  </a:lnTo>
                  <a:lnTo>
                    <a:pt x="404" y="543"/>
                  </a:lnTo>
                  <a:cubicBezTo>
                    <a:pt x="406" y="539"/>
                    <a:pt x="417" y="541"/>
                    <a:pt x="423" y="538"/>
                  </a:cubicBezTo>
                  <a:cubicBezTo>
                    <a:pt x="430" y="537"/>
                    <a:pt x="435" y="526"/>
                    <a:pt x="441" y="527"/>
                  </a:cubicBezTo>
                  <a:cubicBezTo>
                    <a:pt x="447" y="528"/>
                    <a:pt x="453" y="542"/>
                    <a:pt x="460" y="547"/>
                  </a:cubicBezTo>
                  <a:lnTo>
                    <a:pt x="483" y="559"/>
                  </a:lnTo>
                  <a:lnTo>
                    <a:pt x="490" y="573"/>
                  </a:lnTo>
                  <a:lnTo>
                    <a:pt x="493" y="590"/>
                  </a:lnTo>
                  <a:lnTo>
                    <a:pt x="508" y="579"/>
                  </a:lnTo>
                  <a:cubicBezTo>
                    <a:pt x="508" y="579"/>
                    <a:pt x="507" y="566"/>
                    <a:pt x="509" y="564"/>
                  </a:cubicBezTo>
                  <a:cubicBezTo>
                    <a:pt x="513" y="561"/>
                    <a:pt x="512" y="581"/>
                    <a:pt x="521" y="569"/>
                  </a:cubicBezTo>
                  <a:cubicBezTo>
                    <a:pt x="530" y="557"/>
                    <a:pt x="525" y="556"/>
                    <a:pt x="515" y="549"/>
                  </a:cubicBezTo>
                  <a:lnTo>
                    <a:pt x="468" y="523"/>
                  </a:lnTo>
                  <a:lnTo>
                    <a:pt x="441" y="508"/>
                  </a:lnTo>
                  <a:lnTo>
                    <a:pt x="455" y="480"/>
                  </a:lnTo>
                  <a:lnTo>
                    <a:pt x="464" y="498"/>
                  </a:lnTo>
                  <a:lnTo>
                    <a:pt x="487" y="512"/>
                  </a:lnTo>
                  <a:lnTo>
                    <a:pt x="517" y="527"/>
                  </a:lnTo>
                  <a:cubicBezTo>
                    <a:pt x="526" y="535"/>
                    <a:pt x="529" y="546"/>
                    <a:pt x="539" y="559"/>
                  </a:cubicBezTo>
                  <a:cubicBezTo>
                    <a:pt x="549" y="572"/>
                    <a:pt x="570" y="602"/>
                    <a:pt x="579" y="608"/>
                  </a:cubicBezTo>
                  <a:cubicBezTo>
                    <a:pt x="588" y="614"/>
                    <a:pt x="588" y="598"/>
                    <a:pt x="592" y="597"/>
                  </a:cubicBezTo>
                  <a:cubicBezTo>
                    <a:pt x="596" y="594"/>
                    <a:pt x="604" y="602"/>
                    <a:pt x="604" y="599"/>
                  </a:cubicBezTo>
                  <a:cubicBezTo>
                    <a:pt x="604" y="596"/>
                    <a:pt x="596" y="583"/>
                    <a:pt x="593" y="578"/>
                  </a:cubicBezTo>
                  <a:cubicBezTo>
                    <a:pt x="589" y="574"/>
                    <a:pt x="590" y="568"/>
                    <a:pt x="587" y="567"/>
                  </a:cubicBezTo>
                  <a:cubicBezTo>
                    <a:pt x="585" y="563"/>
                    <a:pt x="583" y="558"/>
                    <a:pt x="584" y="555"/>
                  </a:cubicBezTo>
                  <a:cubicBezTo>
                    <a:pt x="585" y="552"/>
                    <a:pt x="589" y="550"/>
                    <a:pt x="592" y="548"/>
                  </a:cubicBezTo>
                  <a:lnTo>
                    <a:pt x="601" y="542"/>
                  </a:lnTo>
                  <a:cubicBezTo>
                    <a:pt x="607" y="541"/>
                    <a:pt x="621" y="541"/>
                    <a:pt x="627" y="541"/>
                  </a:cubicBezTo>
                  <a:cubicBezTo>
                    <a:pt x="633" y="541"/>
                    <a:pt x="636" y="541"/>
                    <a:pt x="640" y="539"/>
                  </a:cubicBezTo>
                  <a:cubicBezTo>
                    <a:pt x="644" y="537"/>
                    <a:pt x="648" y="532"/>
                    <a:pt x="650" y="528"/>
                  </a:cubicBezTo>
                  <a:lnTo>
                    <a:pt x="653" y="513"/>
                  </a:lnTo>
                  <a:lnTo>
                    <a:pt x="639" y="505"/>
                  </a:lnTo>
                  <a:cubicBezTo>
                    <a:pt x="639" y="503"/>
                    <a:pt x="650" y="505"/>
                    <a:pt x="655" y="501"/>
                  </a:cubicBezTo>
                  <a:cubicBezTo>
                    <a:pt x="660" y="497"/>
                    <a:pt x="665" y="488"/>
                    <a:pt x="670" y="483"/>
                  </a:cubicBezTo>
                  <a:cubicBezTo>
                    <a:pt x="675" y="478"/>
                    <a:pt x="681" y="471"/>
                    <a:pt x="686" y="470"/>
                  </a:cubicBezTo>
                  <a:lnTo>
                    <a:pt x="703" y="476"/>
                  </a:lnTo>
                  <a:lnTo>
                    <a:pt x="718" y="494"/>
                  </a:lnTo>
                  <a:cubicBezTo>
                    <a:pt x="723" y="498"/>
                    <a:pt x="727" y="503"/>
                    <a:pt x="731" y="501"/>
                  </a:cubicBezTo>
                  <a:cubicBezTo>
                    <a:pt x="735" y="499"/>
                    <a:pt x="742" y="488"/>
                    <a:pt x="742" y="482"/>
                  </a:cubicBezTo>
                  <a:lnTo>
                    <a:pt x="728" y="466"/>
                  </a:lnTo>
                  <a:cubicBezTo>
                    <a:pt x="730" y="462"/>
                    <a:pt x="746" y="463"/>
                    <a:pt x="755" y="459"/>
                  </a:cubicBezTo>
                  <a:cubicBezTo>
                    <a:pt x="764" y="455"/>
                    <a:pt x="777" y="444"/>
                    <a:pt x="782" y="444"/>
                  </a:cubicBezTo>
                  <a:cubicBezTo>
                    <a:pt x="787" y="444"/>
                    <a:pt x="786" y="452"/>
                    <a:pt x="784" y="458"/>
                  </a:cubicBezTo>
                  <a:cubicBezTo>
                    <a:pt x="782" y="464"/>
                    <a:pt x="765" y="469"/>
                    <a:pt x="772" y="480"/>
                  </a:cubicBezTo>
                  <a:cubicBezTo>
                    <a:pt x="779" y="491"/>
                    <a:pt x="820" y="516"/>
                    <a:pt x="824" y="525"/>
                  </a:cubicBezTo>
                  <a:cubicBezTo>
                    <a:pt x="828" y="534"/>
                    <a:pt x="808" y="535"/>
                    <a:pt x="796" y="537"/>
                  </a:cubicBezTo>
                  <a:cubicBezTo>
                    <a:pt x="784" y="539"/>
                    <a:pt x="763" y="541"/>
                    <a:pt x="751" y="539"/>
                  </a:cubicBezTo>
                  <a:cubicBezTo>
                    <a:pt x="739" y="537"/>
                    <a:pt x="739" y="524"/>
                    <a:pt x="722" y="524"/>
                  </a:cubicBezTo>
                  <a:cubicBezTo>
                    <a:pt x="705" y="524"/>
                    <a:pt x="707" y="533"/>
                    <a:pt x="697" y="537"/>
                  </a:cubicBezTo>
                  <a:lnTo>
                    <a:pt x="667" y="538"/>
                  </a:lnTo>
                  <a:lnTo>
                    <a:pt x="623" y="560"/>
                  </a:lnTo>
                  <a:lnTo>
                    <a:pt x="634" y="576"/>
                  </a:lnTo>
                  <a:lnTo>
                    <a:pt x="639" y="598"/>
                  </a:lnTo>
                  <a:lnTo>
                    <a:pt x="669" y="617"/>
                  </a:lnTo>
                  <a:lnTo>
                    <a:pt x="700" y="602"/>
                  </a:lnTo>
                  <a:lnTo>
                    <a:pt x="718" y="611"/>
                  </a:lnTo>
                  <a:lnTo>
                    <a:pt x="752" y="608"/>
                  </a:lnTo>
                  <a:lnTo>
                    <a:pt x="757" y="644"/>
                  </a:lnTo>
                  <a:lnTo>
                    <a:pt x="697" y="677"/>
                  </a:lnTo>
                  <a:close/>
                </a:path>
              </a:pathLst>
            </a:custGeom>
            <a:solidFill>
              <a:srgbClr val="FEFEFE">
                <a:alpha val="30196"/>
              </a:srgb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FF5425"/>
                  </a:solidFill>
                  <a:prstDash val="dash"/>
                  <a:round/>
                  <a:headEnd type="none" w="med" len="med"/>
                  <a:tailEnd type="none" w="med" len="med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7961" dir="2700000" algn="ctr" rotWithShape="0">
                      <a:srgbClr val="808080">
                        <a:alpha val="50000"/>
                      </a:srgbClr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pic>
        <p:nvPicPr>
          <p:cNvPr id="114" name="Picture 112" descr="artplus_nature_naturalcity42_a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493933" y="3167063"/>
            <a:ext cx="5901267" cy="298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5" name="Picture 113" descr="artplus_nature_naturalcity42_i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275234" y="3352800"/>
            <a:ext cx="2205567" cy="877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6" name="Picture 114" descr="artplus_nature_naturalcity42_c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395200" y="2895601"/>
            <a:ext cx="1483784" cy="866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7" name="Picture 115" descr="artplus_nature_naturalcity42_f"/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67599" y="3144913"/>
            <a:ext cx="6478057" cy="2471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8" name="Picture 118" descr="artplus_nature_naturalcity42_b"/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927851" y="3097213"/>
            <a:ext cx="39624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" name="Picture 119" descr="artplus_nature_naturalcity42_e"/>
          <p:cNvPicPr>
            <a:picLocks noChangeAspect="1" noChangeArrowheads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924801" y="1993900"/>
            <a:ext cx="2061633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0" name="Picture 120" descr="artplus_nature_naturalcity42_d"/>
          <p:cNvPicPr>
            <a:picLocks noChangeAspect="1" noChangeArrowheads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01467" y="2862264"/>
            <a:ext cx="831851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1" name="Picture 121" descr="a1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2479867" y="95250"/>
            <a:ext cx="2404533" cy="207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" name="Picture 122" descr="b_1"/>
          <p:cNvPicPr>
            <a:picLocks noChangeAspect="1" noChangeArrowheads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3605934" y="1968500"/>
            <a:ext cx="143933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54452" name="Rectangle 116"/>
          <p:cNvSpPr>
            <a:spLocks noGrp="1" noChangeArrowheads="1"/>
          </p:cNvSpPr>
          <p:nvPr>
            <p:ph type="ctrTitle"/>
          </p:nvPr>
        </p:nvSpPr>
        <p:spPr>
          <a:xfrm>
            <a:off x="406400" y="4419600"/>
            <a:ext cx="8534400" cy="1143000"/>
          </a:xfrm>
          <a:prstGeom prst="rect">
            <a:avLst/>
          </a:prstGeom>
        </p:spPr>
        <p:txBody>
          <a:bodyPr/>
          <a:lstStyle>
            <a:lvl1pPr algn="l">
              <a:defRPr sz="4300">
                <a:solidFill>
                  <a:srgbClr val="C00000"/>
                </a:solidFill>
              </a:defRPr>
            </a:lvl1pPr>
          </a:lstStyle>
          <a:p>
            <a:pPr lvl="0"/>
            <a:r>
              <a:rPr lang="en-US" altLang="zh-CN" noProof="0"/>
              <a:t>Click to edit Master title style</a:t>
            </a:r>
          </a:p>
        </p:txBody>
      </p:sp>
      <p:sp>
        <p:nvSpPr>
          <p:cNvPr id="654453" name="Rectangle 117"/>
          <p:cNvSpPr>
            <a:spLocks noGrp="1" noChangeArrowheads="1"/>
          </p:cNvSpPr>
          <p:nvPr>
            <p:ph type="subTitle" idx="1"/>
          </p:nvPr>
        </p:nvSpPr>
        <p:spPr>
          <a:xfrm>
            <a:off x="406400" y="5715000"/>
            <a:ext cx="8534400" cy="3810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 b="1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/>
              <a:t>Click to edit Master subtitle style</a:t>
            </a:r>
          </a:p>
        </p:txBody>
      </p:sp>
      <p:pic>
        <p:nvPicPr>
          <p:cNvPr id="123" name="Picture 16" descr="a1"/>
          <p:cNvPicPr>
            <a:picLocks noChangeAspect="1" noChangeArrowheads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4573779" y="4593358"/>
            <a:ext cx="942975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70605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50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0"/>
                            </p:stCondLst>
                            <p:childTnLst>
                              <p:par>
                                <p:cTn id="24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2.37743E-6 L -0.21076 0.04787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538" y="2382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000"/>
                            </p:stCondLst>
                            <p:childTnLst>
                              <p:par>
                                <p:cTn id="3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6500"/>
                            </p:stCondLst>
                            <p:childTnLst>
                              <p:par>
                                <p:cTn id="3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0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30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4.81481E-6 C -0.08906 0.01505 -0.38802 0.03033 -0.53472 0.09075 C -0.68142 0.15116 -0.81198 0.322 -0.88055 0.36297 C -0.94913 0.40394 -0.93229 0.34237 -0.94583 0.33704 " pathEditMode="relative" rAng="0" ptsTypes="aaaa">
                                      <p:cBhvr>
                                        <p:cTn id="42" dur="20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465" y="20185"/>
                                    </p:animMotion>
                                  </p:childTnLst>
                                </p:cTn>
                              </p:par>
                              <p:par>
                                <p:cTn id="43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0 0.04629 C -0.07778 0.05393 -0.34948 0.0956 -0.46667 0.09166 C -0.58385 0.08773 -0.63611 -0.0007 -0.70278 0.02314 C -0.76944 0.04699 -0.83247 0.19027 -0.86667 0.23426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33" y="7037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0" presetClass="path" presetSubtype="0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2.58989E-6 -4.62214E-8 C -0.10149 -0.11578 -0.4135 -0.63115 -0.60787 -0.68939 C -0.80198 -0.7474 -1.04938 -0.42454 -1.16545 -0.35452 " pathEditMode="relative" rAng="0" ptsTypes="aaa">
                                      <p:cBhvr>
                                        <p:cTn id="46" dur="20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273" y="-373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.jpe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25A4A-BAED-4624-90D1-88F38BD6F015}" type="datetimeFigureOut">
              <a:rPr lang="zh-CN" altLang="en-US" smtClean="0"/>
              <a:pPr/>
              <a:t>2024/10/23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BD1F3D-25D0-41EF-98EA-A8204D8B08F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5666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6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467834"/>
            <a:ext cx="10972800" cy="5658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548912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07/relationships/hdphoto" Target="../media/hdphoto1.wdp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microsoft.com/office/2007/relationships/hdphoto" Target="../media/hdphoto1.wdp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emf"/><Relationship Id="rId5" Type="http://schemas.openxmlformats.org/officeDocument/2006/relationships/image" Target="../media/image35.emf"/><Relationship Id="rId4" Type="http://schemas.openxmlformats.org/officeDocument/2006/relationships/image" Target="../media/image34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C:/Documents%20and%20Settings/Administrator/&#26700;&#38754;/http:/www.tcf.ua.edu/AZ/AnalyticalEngine.jpg" TargetMode="External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jpeg"/><Relationship Id="rId5" Type="http://schemas.openxmlformats.org/officeDocument/2006/relationships/image" Target="../media/image48.png"/><Relationship Id="rId4" Type="http://schemas.openxmlformats.org/officeDocument/2006/relationships/image" Target="../media/image4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jpe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jpeg"/><Relationship Id="rId4" Type="http://schemas.openxmlformats.org/officeDocument/2006/relationships/image" Target="../media/image54.jpe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hyperlink" Target="https://baike.baidu.com/item/%E4%B9%BE%E5%A7%8B/61917266?fromModule=lemma_inlink" TargetMode="External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55024"/>
            <a:ext cx="9144000" cy="2387600"/>
          </a:xfrm>
        </p:spPr>
        <p:txBody>
          <a:bodyPr>
            <a:normAutofit/>
          </a:bodyPr>
          <a:lstStyle/>
          <a:p>
            <a:r>
              <a:rPr lang="zh-CN" altLang="en-US" sz="9600" b="1" dirty="0">
                <a:solidFill>
                  <a:srgbClr val="843C0C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计算机科学导论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7A974B1-CF7E-F81A-EDDF-A5288C7DB6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727" b="12682"/>
          <a:stretch/>
        </p:blipFill>
        <p:spPr>
          <a:xfrm>
            <a:off x="3711896" y="2683590"/>
            <a:ext cx="3997939" cy="4107262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482" y="2683590"/>
            <a:ext cx="10521950" cy="109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9368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第一章 计算机与计算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554885"/>
            <a:ext cx="10515600" cy="4727575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n"/>
            </a:pPr>
            <a:r>
              <a:rPr lang="zh-CN" altLang="en-US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计算机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lang="en-US" altLang="zh-CN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  </a:t>
            </a:r>
            <a:r>
              <a:rPr lang="zh-CN" altLang="en-US" sz="5400" dirty="0">
                <a:latin typeface="楷体" panose="02010609060101010101" pitchFamily="49" charset="-122"/>
                <a:ea typeface="楷体" panose="02010609060101010101" pitchFamily="49" charset="-122"/>
              </a:rPr>
              <a:t>模型，框架，应用</a:t>
            </a:r>
            <a:endParaRPr lang="en-US" altLang="zh-CN" sz="6100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en-US" altLang="zh-CN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  计算工具发展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,</a:t>
            </a:r>
            <a:r>
              <a:rPr lang="zh-CN" altLang="en-US" sz="5400" dirty="0">
                <a:solidFill>
                  <a:prstClr val="black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计算机发展，计算机未来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6100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 计算思维</a:t>
            </a: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marL="0" indent="0">
              <a:buNone/>
            </a:pPr>
            <a:endParaRPr lang="en-US" altLang="zh-CN" sz="6100" dirty="0">
              <a:solidFill>
                <a:schemeClr val="accent2">
                  <a:lumMod val="50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5299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53036" y="1435890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理想模型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内容占位符 2">
            <a:extLst>
              <a:ext uri="{FF2B5EF4-FFF2-40B4-BE49-F238E27FC236}">
                <a16:creationId xmlns:a16="http://schemas.microsoft.com/office/drawing/2014/main" id="{533ED1FF-9CBE-572F-37A7-42C345A0FFF7}"/>
              </a:ext>
            </a:extLst>
          </p:cNvPr>
          <p:cNvSpPr txBox="1">
            <a:spLocks/>
          </p:cNvSpPr>
          <p:nvPr/>
        </p:nvSpPr>
        <p:spPr>
          <a:xfrm>
            <a:off x="753036" y="2967553"/>
            <a:ext cx="6477002" cy="12144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结构框架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9" name="内容占位符 2">
            <a:extLst>
              <a:ext uri="{FF2B5EF4-FFF2-40B4-BE49-F238E27FC236}">
                <a16:creationId xmlns:a16="http://schemas.microsoft.com/office/drawing/2014/main" id="{3AB1B4AC-F1FB-69B7-56F2-1A8AB81E400D}"/>
              </a:ext>
            </a:extLst>
          </p:cNvPr>
          <p:cNvSpPr txBox="1">
            <a:spLocks/>
          </p:cNvSpPr>
          <p:nvPr/>
        </p:nvSpPr>
        <p:spPr>
          <a:xfrm>
            <a:off x="753036" y="4681532"/>
            <a:ext cx="6615952" cy="1013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计算机特点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3" name="内容占位符 2">
            <a:extLst>
              <a:ext uri="{FF2B5EF4-FFF2-40B4-BE49-F238E27FC236}">
                <a16:creationId xmlns:a16="http://schemas.microsoft.com/office/drawing/2014/main" id="{531CD947-8F0D-CD2C-A335-211F613A28D9}"/>
              </a:ext>
            </a:extLst>
          </p:cNvPr>
          <p:cNvSpPr txBox="1">
            <a:spLocks/>
          </p:cNvSpPr>
          <p:nvPr/>
        </p:nvSpPr>
        <p:spPr>
          <a:xfrm>
            <a:off x="7581901" y="3025103"/>
            <a:ext cx="3485028" cy="7899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800" b="1" dirty="0">
                <a:latin typeface="幼圆" panose="02010509060101010101" pitchFamily="49" charset="-122"/>
                <a:ea typeface="幼圆" panose="02010509060101010101" pitchFamily="49" charset="-122"/>
              </a:rPr>
              <a:t>冯诺依曼机</a:t>
            </a:r>
            <a:endParaRPr lang="en-US" altLang="zh-CN" sz="48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内容占位符 2">
            <a:extLst>
              <a:ext uri="{FF2B5EF4-FFF2-40B4-BE49-F238E27FC236}">
                <a16:creationId xmlns:a16="http://schemas.microsoft.com/office/drawing/2014/main" id="{E67A5785-6699-DA8B-52DC-B5641F755E03}"/>
              </a:ext>
            </a:extLst>
          </p:cNvPr>
          <p:cNvSpPr txBox="1">
            <a:spLocks/>
          </p:cNvSpPr>
          <p:nvPr/>
        </p:nvSpPr>
        <p:spPr>
          <a:xfrm>
            <a:off x="7581901" y="1468574"/>
            <a:ext cx="2034987" cy="8661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800" b="1" dirty="0">
                <a:latin typeface="幼圆" panose="02010509060101010101" pitchFamily="49" charset="-122"/>
                <a:ea typeface="幼圆" panose="02010509060101010101" pitchFamily="49" charset="-122"/>
              </a:rPr>
              <a:t>图灵机</a:t>
            </a:r>
            <a:endParaRPr lang="en-US" altLang="zh-CN" sz="48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5" name="内容占位符 2">
            <a:extLst>
              <a:ext uri="{FF2B5EF4-FFF2-40B4-BE49-F238E27FC236}">
                <a16:creationId xmlns:a16="http://schemas.microsoft.com/office/drawing/2014/main" id="{C30C1FDC-C712-77A5-E0F3-7D324CA90813}"/>
              </a:ext>
            </a:extLst>
          </p:cNvPr>
          <p:cNvSpPr txBox="1">
            <a:spLocks/>
          </p:cNvSpPr>
          <p:nvPr/>
        </p:nvSpPr>
        <p:spPr>
          <a:xfrm>
            <a:off x="7572937" y="4793254"/>
            <a:ext cx="4619063" cy="7899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4800" b="1" dirty="0">
                <a:latin typeface="幼圆" panose="02010509060101010101" pitchFamily="49" charset="-122"/>
                <a:ea typeface="幼圆" panose="02010509060101010101" pitchFamily="49" charset="-122"/>
              </a:rPr>
              <a:t>信息处理和局限</a:t>
            </a:r>
            <a:endParaRPr lang="en-US" altLang="zh-CN" sz="4800" b="1" dirty="0">
              <a:solidFill>
                <a:srgbClr val="FF0000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387100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理想模型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786F73C-2FEC-19D3-29AA-DEE574CF64AA}"/>
              </a:ext>
            </a:extLst>
          </p:cNvPr>
          <p:cNvGrpSpPr/>
          <p:nvPr/>
        </p:nvGrpSpPr>
        <p:grpSpPr>
          <a:xfrm>
            <a:off x="2196770" y="2057202"/>
            <a:ext cx="5427717" cy="2896902"/>
            <a:chOff x="220052" y="2691740"/>
            <a:chExt cx="5427717" cy="2896902"/>
          </a:xfrm>
        </p:grpSpPr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7CD32087-3164-64A9-BCD2-55247A109C39}"/>
                </a:ext>
              </a:extLst>
            </p:cNvPr>
            <p:cNvSpPr txBox="1"/>
            <p:nvPr/>
          </p:nvSpPr>
          <p:spPr>
            <a:xfrm>
              <a:off x="220052" y="3731893"/>
              <a:ext cx="2312688" cy="923330"/>
            </a:xfrm>
            <a:prstGeom prst="rect">
              <a:avLst/>
            </a:prstGeom>
            <a:noFill/>
            <a:ln w="28575">
              <a:solidFill>
                <a:srgbClr val="843C0C"/>
              </a:solidFill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图灵机</a:t>
              </a:r>
              <a:endParaRPr lang="zh-CN" altLang="en-US" sz="2000" dirty="0"/>
            </a:p>
          </p:txBody>
        </p:sp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7CB2B542-1FE7-A227-0E1E-8DDDB7BD8828}"/>
                </a:ext>
              </a:extLst>
            </p:cNvPr>
            <p:cNvSpPr txBox="1"/>
            <p:nvPr/>
          </p:nvSpPr>
          <p:spPr>
            <a:xfrm>
              <a:off x="3846067" y="2691740"/>
              <a:ext cx="1801702" cy="92333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28575">
              <a:solidFill>
                <a:srgbClr val="843C0C"/>
              </a:solidFill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贡献</a:t>
              </a:r>
              <a:endParaRPr lang="zh-CN" altLang="en-US" sz="2000" dirty="0"/>
            </a:p>
          </p:txBody>
        </p: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84712407-8B7F-9290-01AD-47081F021CCE}"/>
                </a:ext>
              </a:extLst>
            </p:cNvPr>
            <p:cNvSpPr txBox="1"/>
            <p:nvPr/>
          </p:nvSpPr>
          <p:spPr>
            <a:xfrm>
              <a:off x="3846067" y="4665312"/>
              <a:ext cx="1801702" cy="923330"/>
            </a:xfrm>
            <a:prstGeom prst="rect">
              <a:avLst/>
            </a:prstGeom>
            <a:solidFill>
              <a:srgbClr val="DBDBF9"/>
            </a:solidFill>
            <a:ln w="28575">
              <a:solidFill>
                <a:srgbClr val="843C0C"/>
              </a:solidFill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txBody>
            <a:bodyPr wrap="square">
              <a:spAutoFit/>
            </a:bodyPr>
            <a:lstStyle/>
            <a:p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原理</a:t>
              </a:r>
              <a:endParaRPr lang="zh-CN" altLang="en-US" sz="2000" dirty="0"/>
            </a:p>
          </p:txBody>
        </p:sp>
        <p:sp>
          <p:nvSpPr>
            <p:cNvPr id="9" name="左大括号 8">
              <a:extLst>
                <a:ext uri="{FF2B5EF4-FFF2-40B4-BE49-F238E27FC236}">
                  <a16:creationId xmlns:a16="http://schemas.microsoft.com/office/drawing/2014/main" id="{B610B6F9-9FA9-397D-80F3-5399D37B7C7D}"/>
                </a:ext>
              </a:extLst>
            </p:cNvPr>
            <p:cNvSpPr/>
            <p:nvPr/>
          </p:nvSpPr>
          <p:spPr>
            <a:xfrm>
              <a:off x="2685036" y="3031519"/>
              <a:ext cx="1048870" cy="2312894"/>
            </a:xfrm>
            <a:prstGeom prst="leftBrace">
              <a:avLst/>
            </a:prstGeom>
            <a:ln w="76200">
              <a:solidFill>
                <a:srgbClr val="843C0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" name="图片 9" descr="res01_attpic_brief">
            <a:extLst>
              <a:ext uri="{FF2B5EF4-FFF2-40B4-BE49-F238E27FC236}">
                <a16:creationId xmlns:a16="http://schemas.microsoft.com/office/drawing/2014/main" id="{D975DE66-DADC-A82F-72AA-380B2BA09C4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2016" y="804675"/>
            <a:ext cx="3432463" cy="4172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5EBBB891-DF14-A9A8-6D16-DC315315868C}"/>
              </a:ext>
            </a:extLst>
          </p:cNvPr>
          <p:cNvSpPr txBox="1"/>
          <p:nvPr/>
        </p:nvSpPr>
        <p:spPr>
          <a:xfrm>
            <a:off x="0" y="4944509"/>
            <a:ext cx="1199447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50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英国数学家，</a:t>
            </a:r>
            <a:r>
              <a:rPr lang="zh-CN" altLang="en-US" sz="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计算机科学之父</a:t>
            </a:r>
            <a:r>
              <a:rPr lang="zh-CN" altLang="en-US" sz="50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和</a:t>
            </a:r>
            <a:r>
              <a:rPr lang="zh-CN" altLang="en-US" sz="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人工智能之父</a:t>
            </a:r>
            <a:endParaRPr lang="zh-CN" altLang="en-US" sz="5000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5E0B7-FA67-6F42-70AF-1F780D5B4BC9}"/>
              </a:ext>
            </a:extLst>
          </p:cNvPr>
          <p:cNvSpPr txBox="1"/>
          <p:nvPr/>
        </p:nvSpPr>
        <p:spPr>
          <a:xfrm>
            <a:off x="8991600" y="-26680"/>
            <a:ext cx="31062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阿兰图灵</a:t>
            </a:r>
            <a:endParaRPr lang="zh-CN" altLang="en-US" sz="5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1D52E0-5E76-224A-8760-65944C164618}"/>
              </a:ext>
            </a:extLst>
          </p:cNvPr>
          <p:cNvSpPr txBox="1"/>
          <p:nvPr/>
        </p:nvSpPr>
        <p:spPr>
          <a:xfrm>
            <a:off x="178827" y="2160656"/>
            <a:ext cx="5261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Turing Machine</a:t>
            </a:r>
            <a:endParaRPr lang="zh-CN" altLang="en-US" sz="5400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4782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图灵机贡献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B10091C-B24E-0004-E9D9-234FD7CD78E7}"/>
              </a:ext>
            </a:extLst>
          </p:cNvPr>
          <p:cNvSpPr txBox="1"/>
          <p:nvPr/>
        </p:nvSpPr>
        <p:spPr>
          <a:xfrm>
            <a:off x="94130" y="2203773"/>
            <a:ext cx="844027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5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1936</a:t>
            </a:r>
            <a:r>
              <a:rPr lang="zh-CN" altLang="en-US" sz="5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年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，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24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岁阿兰图灵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在数学杂志发表论文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《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可计算数学及其在判断性问题中的应用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》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中提出</a:t>
            </a:r>
            <a:r>
              <a:rPr lang="zh-CN" altLang="en-US" sz="5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图灵机理论</a:t>
            </a:r>
            <a:endParaRPr lang="en-US" altLang="zh-CN" sz="5000" b="1" dirty="0">
              <a:solidFill>
                <a:srgbClr val="FF0000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2" name="图片 11" descr="res01_attpic_brief">
            <a:extLst>
              <a:ext uri="{FF2B5EF4-FFF2-40B4-BE49-F238E27FC236}">
                <a16:creationId xmlns:a16="http://schemas.microsoft.com/office/drawing/2014/main" id="{001D4292-35BD-3B30-EDE2-8A13A2CC77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903" y="1702420"/>
            <a:ext cx="3432463" cy="4172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475F262-FB83-ACE8-DDFA-54152B2B59C3}"/>
              </a:ext>
            </a:extLst>
          </p:cNvPr>
          <p:cNvSpPr txBox="1"/>
          <p:nvPr/>
        </p:nvSpPr>
        <p:spPr>
          <a:xfrm>
            <a:off x="8534400" y="5851635"/>
            <a:ext cx="35634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(1912-1954)</a:t>
            </a:r>
          </a:p>
        </p:txBody>
      </p:sp>
    </p:spTree>
    <p:extLst>
      <p:ext uri="{BB962C8B-B14F-4D97-AF65-F5344CB8AC3E}">
        <p14:creationId xmlns:p14="http://schemas.microsoft.com/office/powerpoint/2010/main" val="45084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4E51644-9232-2D0E-0819-C7B9AD196E18}"/>
              </a:ext>
            </a:extLst>
          </p:cNvPr>
          <p:cNvSpPr txBox="1">
            <a:spLocks noChangeArrowheads="1"/>
          </p:cNvSpPr>
          <p:nvPr/>
        </p:nvSpPr>
        <p:spPr>
          <a:xfrm>
            <a:off x="0" y="161365"/>
            <a:ext cx="10998024" cy="35075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0"/>
              </a:spcBef>
            </a:pP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31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岁，参与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Colossus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（二战时英国破解德国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Enigma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计算机）研制；</a:t>
            </a:r>
          </a:p>
          <a:p>
            <a:pPr>
              <a:spcBef>
                <a:spcPts val="0"/>
              </a:spcBef>
            </a:pP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33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岁，参与曼大计算机研制；</a:t>
            </a:r>
          </a:p>
          <a:p>
            <a:pPr>
              <a:spcBef>
                <a:spcPts val="0"/>
              </a:spcBef>
            </a:pP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35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岁，提出自动程序设计概念</a:t>
            </a:r>
          </a:p>
          <a:p>
            <a:pPr>
              <a:spcBef>
                <a:spcPts val="0"/>
              </a:spcBef>
            </a:pP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38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岁，提出 “图灵测试”</a:t>
            </a:r>
          </a:p>
          <a:p>
            <a:pPr>
              <a:spcBef>
                <a:spcPts val="0"/>
              </a:spcBef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创造新学科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—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非线性力学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  <a:p>
            <a:pPr>
              <a:spcBef>
                <a:spcPts val="0"/>
              </a:spcBef>
            </a:pP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42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岁吃毒苹果自杀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……</a:t>
            </a:r>
          </a:p>
          <a:p>
            <a:pPr>
              <a:spcBef>
                <a:spcPts val="0"/>
              </a:spcBef>
            </a:pP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Apple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的</a:t>
            </a:r>
            <a:r>
              <a:rPr lang="en-US" altLang="zh-CN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LOGO</a:t>
            </a:r>
          </a:p>
        </p:txBody>
      </p:sp>
      <p:pic>
        <p:nvPicPr>
          <p:cNvPr id="5" name="图片 4" descr="res01_attpic_brief">
            <a:extLst>
              <a:ext uri="{FF2B5EF4-FFF2-40B4-BE49-F238E27FC236}">
                <a16:creationId xmlns:a16="http://schemas.microsoft.com/office/drawing/2014/main" id="{0D907167-B2BF-7446-4188-705EC4D0AB0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5435" y="833718"/>
            <a:ext cx="3666565" cy="459572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C29CB37-A8A1-FF4A-7C52-8A94693EFD20}"/>
              </a:ext>
            </a:extLst>
          </p:cNvPr>
          <p:cNvSpPr txBox="1"/>
          <p:nvPr/>
        </p:nvSpPr>
        <p:spPr>
          <a:xfrm>
            <a:off x="8576982" y="5593395"/>
            <a:ext cx="35634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(1912-1954)</a:t>
            </a:r>
          </a:p>
        </p:txBody>
      </p:sp>
    </p:spTree>
    <p:extLst>
      <p:ext uri="{BB962C8B-B14F-4D97-AF65-F5344CB8AC3E}">
        <p14:creationId xmlns:p14="http://schemas.microsoft.com/office/powerpoint/2010/main" val="30127675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1">
            <a:extLst>
              <a:ext uri="{FF2B5EF4-FFF2-40B4-BE49-F238E27FC236}">
                <a16:creationId xmlns:a16="http://schemas.microsoft.com/office/drawing/2014/main" id="{7F80C969-57B7-1D81-4A24-44437CBFB3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3724" y="72528"/>
            <a:ext cx="6844552" cy="59236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EF254598-AF9A-AF24-94B7-13C89483D041}"/>
              </a:ext>
            </a:extLst>
          </p:cNvPr>
          <p:cNvSpPr txBox="1"/>
          <p:nvPr/>
        </p:nvSpPr>
        <p:spPr>
          <a:xfrm>
            <a:off x="1694330" y="5923698"/>
            <a:ext cx="108786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阿兰图灵在英国曼彻斯特大学雕像</a:t>
            </a:r>
            <a:endParaRPr lang="zh-CN" altLang="en-US" sz="5000" dirty="0"/>
          </a:p>
        </p:txBody>
      </p:sp>
    </p:spTree>
    <p:extLst>
      <p:ext uri="{BB962C8B-B14F-4D97-AF65-F5344CB8AC3E}">
        <p14:creationId xmlns:p14="http://schemas.microsoft.com/office/powerpoint/2010/main" val="2770322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图灵机贡献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>
            <a:extLst>
              <a:ext uri="{FF2B5EF4-FFF2-40B4-BE49-F238E27FC236}">
                <a16:creationId xmlns:a16="http://schemas.microsoft.com/office/drawing/2014/main" id="{8B10091C-B24E-0004-E9D9-234FD7CD78E7}"/>
              </a:ext>
            </a:extLst>
          </p:cNvPr>
          <p:cNvSpPr txBox="1"/>
          <p:nvPr/>
        </p:nvSpPr>
        <p:spPr>
          <a:xfrm>
            <a:off x="94130" y="2203773"/>
            <a:ext cx="8440270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证明了任何可</a:t>
            </a: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计算问题</a:t>
            </a: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，都可用</a:t>
            </a: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图灵机</a:t>
            </a: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解决</a:t>
            </a:r>
            <a:endParaRPr lang="en-US" altLang="zh-CN" sz="5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计算机设备都参照图灵机逻辑</a:t>
            </a: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实现，具有简单强大特点</a:t>
            </a:r>
            <a:endParaRPr lang="en-US" altLang="zh-CN" sz="5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是计算学科最核心理论</a:t>
            </a:r>
            <a:endParaRPr lang="en-US" altLang="zh-CN" sz="5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2" name="图片 11" descr="res01_attpic_brief">
            <a:extLst>
              <a:ext uri="{FF2B5EF4-FFF2-40B4-BE49-F238E27FC236}">
                <a16:creationId xmlns:a16="http://schemas.microsoft.com/office/drawing/2014/main" id="{001D4292-35BD-3B30-EDE2-8A13A2CC7728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9903" y="1702420"/>
            <a:ext cx="3432463" cy="4172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475F262-FB83-ACE8-DDFA-54152B2B59C3}"/>
              </a:ext>
            </a:extLst>
          </p:cNvPr>
          <p:cNvSpPr txBox="1"/>
          <p:nvPr/>
        </p:nvSpPr>
        <p:spPr>
          <a:xfrm>
            <a:off x="8534400" y="5851635"/>
            <a:ext cx="35634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(1912-1954)</a:t>
            </a:r>
          </a:p>
        </p:txBody>
      </p:sp>
    </p:spTree>
    <p:extLst>
      <p:ext uri="{BB962C8B-B14F-4D97-AF65-F5344CB8AC3E}">
        <p14:creationId xmlns:p14="http://schemas.microsoft.com/office/powerpoint/2010/main" val="2582663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图灵机原理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10C406A9-6995-F94B-6D2E-CC632D5730AD}"/>
              </a:ext>
            </a:extLst>
          </p:cNvPr>
          <p:cNvSpPr txBox="1"/>
          <p:nvPr/>
        </p:nvSpPr>
        <p:spPr>
          <a:xfrm>
            <a:off x="0" y="2664443"/>
            <a:ext cx="120978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图灵机是一种抽象计算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思想模型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，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而非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具体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机器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。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  <a:sym typeface="Wingdings" pitchFamily="2" charset="2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该模型，可实现，简单但运算能力极强的计算装置。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可模拟任何可计算问题</a:t>
            </a:r>
            <a:endParaRPr kumimoji="0" lang="en-US" altLang="zh-CN" sz="5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28662467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6A3B44D-496C-703B-9E66-46328BCE26E4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65" y="21189"/>
            <a:ext cx="6736978" cy="68368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0EBF69B-F827-6C93-1496-6F7E6D79A108}"/>
              </a:ext>
            </a:extLst>
          </p:cNvPr>
          <p:cNvSpPr txBox="1"/>
          <p:nvPr/>
        </p:nvSpPr>
        <p:spPr>
          <a:xfrm>
            <a:off x="6822143" y="248190"/>
            <a:ext cx="4715433" cy="5386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buFont typeface="Wingdings" panose="05000000000000000000" pitchFamily="2" charset="2"/>
              <a:buChar char="l"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1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条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纸带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  <a:sym typeface="Wingdings" pitchFamily="2" charset="2"/>
            </a:endParaRPr>
          </a:p>
          <a:p>
            <a:pPr marL="685800" indent="-685800">
              <a:buFont typeface="Wingdings" panose="05000000000000000000" pitchFamily="2" charset="2"/>
              <a:buChar char="l"/>
            </a:pPr>
            <a:r>
              <a:rPr lang="en-US" altLang="zh-CN" sz="54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1</a:t>
            </a:r>
            <a:r>
              <a:rPr lang="zh-CN" altLang="en-US" sz="54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个</a:t>
            </a:r>
            <a:r>
              <a:rPr lang="zh-CN" altLang="en-US" sz="5400" b="1" dirty="0">
                <a:solidFill>
                  <a:srgbClr val="843C0C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读写头</a:t>
            </a:r>
            <a:endParaRPr lang="en-US" altLang="zh-CN" sz="5400" b="1" dirty="0">
              <a:solidFill>
                <a:srgbClr val="843C0C"/>
              </a:solidFill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  <a:p>
            <a:pPr marL="685800" indent="-685800">
              <a:buFont typeface="Wingdings" panose="05000000000000000000" pitchFamily="2" charset="2"/>
              <a:buChar char="l"/>
            </a:pPr>
            <a:r>
              <a:rPr lang="en-US" altLang="zh-CN" sz="54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1</a:t>
            </a:r>
            <a:r>
              <a:rPr lang="zh-CN" altLang="en-US" sz="54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套控制规则即</a:t>
            </a:r>
            <a:r>
              <a:rPr lang="zh-CN" altLang="en-US" sz="5400" b="1" dirty="0">
                <a:solidFill>
                  <a:srgbClr val="843C0C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程序</a:t>
            </a:r>
            <a:endParaRPr lang="en-US" altLang="zh-CN" sz="5400" b="1" dirty="0">
              <a:solidFill>
                <a:srgbClr val="843C0C"/>
              </a:solidFill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  <a:p>
            <a:pPr marL="685800" indent="-685800">
              <a:buFont typeface="Wingdings" panose="05000000000000000000" pitchFamily="2" charset="2"/>
              <a:buChar char="l"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1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个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rPr>
              <a:t>状态寄存器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843C0C"/>
              </a:solidFill>
              <a:effectLst/>
              <a:highlight>
                <a:srgbClr val="FFFF00"/>
              </a:highlight>
              <a:uLnTx/>
              <a:uFillTx/>
              <a:latin typeface="仿宋" panose="02010609060101010101" pitchFamily="49" charset="-122"/>
              <a:ea typeface="仿宋" panose="02010609060101010101" pitchFamily="49" charset="-122"/>
              <a:cs typeface="+mn-cs"/>
              <a:sym typeface="Wingdings" pitchFamily="2" charset="2"/>
            </a:endParaRPr>
          </a:p>
          <a:p>
            <a:pPr marL="685800" indent="-685800" algn="just"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rgbClr val="843C0C"/>
              </a:solidFill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F463840-9CDB-5AFE-694D-7E36622F8096}"/>
              </a:ext>
            </a:extLst>
          </p:cNvPr>
          <p:cNvSpPr/>
          <p:nvPr/>
        </p:nvSpPr>
        <p:spPr>
          <a:xfrm rot="16200000" flipV="1">
            <a:off x="5514799" y="2553229"/>
            <a:ext cx="270411" cy="23308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AF6705FD-A1F1-D316-56C0-193B68E4003D}"/>
              </a:ext>
            </a:extLst>
          </p:cNvPr>
          <p:cNvSpPr/>
          <p:nvPr/>
        </p:nvSpPr>
        <p:spPr>
          <a:xfrm rot="10537221" flipV="1">
            <a:off x="3122918" y="772524"/>
            <a:ext cx="270411" cy="23308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2E5DF86F-E7F2-878D-BF3B-004A29B59844}"/>
              </a:ext>
            </a:extLst>
          </p:cNvPr>
          <p:cNvSpPr/>
          <p:nvPr/>
        </p:nvSpPr>
        <p:spPr>
          <a:xfrm>
            <a:off x="10287000" y="410475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903EB5B6-D185-B915-782B-A51EA17BAF33}"/>
              </a:ext>
            </a:extLst>
          </p:cNvPr>
          <p:cNvSpPr/>
          <p:nvPr/>
        </p:nvSpPr>
        <p:spPr>
          <a:xfrm>
            <a:off x="10748683" y="1242594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C26BC4A5-CDA8-293F-B640-8FF926FA66EC}"/>
              </a:ext>
            </a:extLst>
          </p:cNvPr>
          <p:cNvSpPr/>
          <p:nvPr/>
        </p:nvSpPr>
        <p:spPr>
          <a:xfrm>
            <a:off x="9708776" y="2941235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B3719296-D918-59B6-B5FB-FBE83327AF55}"/>
              </a:ext>
            </a:extLst>
          </p:cNvPr>
          <p:cNvSpPr/>
          <p:nvPr/>
        </p:nvSpPr>
        <p:spPr>
          <a:xfrm>
            <a:off x="8476130" y="4583546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0E239A2C-9475-E4EF-F8C2-E40B87B09CF1}"/>
              </a:ext>
            </a:extLst>
          </p:cNvPr>
          <p:cNvSpPr/>
          <p:nvPr/>
        </p:nvSpPr>
        <p:spPr>
          <a:xfrm>
            <a:off x="5406839" y="2834476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46CE622-D40E-7243-0D53-4A20BDF6F251}"/>
              </a:ext>
            </a:extLst>
          </p:cNvPr>
          <p:cNvSpPr/>
          <p:nvPr/>
        </p:nvSpPr>
        <p:spPr>
          <a:xfrm>
            <a:off x="3401834" y="2502023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FCD5561A-E67A-E718-BB95-B80CD690FC60}"/>
              </a:ext>
            </a:extLst>
          </p:cNvPr>
          <p:cNvSpPr/>
          <p:nvPr/>
        </p:nvSpPr>
        <p:spPr>
          <a:xfrm>
            <a:off x="4477597" y="586507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AF2919E2-DF99-59D3-77D2-C54F85B3A65A}"/>
              </a:ext>
            </a:extLst>
          </p:cNvPr>
          <p:cNvSpPr/>
          <p:nvPr/>
        </p:nvSpPr>
        <p:spPr>
          <a:xfrm>
            <a:off x="3401834" y="3183284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箭头: 右 18">
            <a:extLst>
              <a:ext uri="{FF2B5EF4-FFF2-40B4-BE49-F238E27FC236}">
                <a16:creationId xmlns:a16="http://schemas.microsoft.com/office/drawing/2014/main" id="{FA7E4C90-CA3A-40DC-B13A-843D88F70B34}"/>
              </a:ext>
            </a:extLst>
          </p:cNvPr>
          <p:cNvSpPr/>
          <p:nvPr/>
        </p:nvSpPr>
        <p:spPr>
          <a:xfrm rot="10982963" flipV="1">
            <a:off x="2986309" y="2436626"/>
            <a:ext cx="409900" cy="222401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1707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3637AB-B189-0795-C3DB-99BC947D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753" y="-389133"/>
            <a:ext cx="8431306" cy="724713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5CE57D1-B3BA-92CE-4252-DEA9143D3A94}"/>
              </a:ext>
            </a:extLst>
          </p:cNvPr>
          <p:cNvSpPr txBox="1"/>
          <p:nvPr/>
        </p:nvSpPr>
        <p:spPr>
          <a:xfrm>
            <a:off x="-195541" y="4168006"/>
            <a:ext cx="146909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程序</a:t>
            </a:r>
            <a:endParaRPr lang="en-US" altLang="zh-CN" sz="5000" b="1" dirty="0">
              <a:solidFill>
                <a:srgbClr val="843C0C"/>
              </a:solidFill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317E9F6B-A612-A72E-6415-8B96BBD23D53}"/>
              </a:ext>
            </a:extLst>
          </p:cNvPr>
          <p:cNvSpPr/>
          <p:nvPr/>
        </p:nvSpPr>
        <p:spPr>
          <a:xfrm>
            <a:off x="1160931" y="4356846"/>
            <a:ext cx="587188" cy="48409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4681FE0A-4AEE-4F5F-BA4B-8662B6D5577D}"/>
              </a:ext>
            </a:extLst>
          </p:cNvPr>
          <p:cNvSpPr/>
          <p:nvPr/>
        </p:nvSpPr>
        <p:spPr>
          <a:xfrm>
            <a:off x="1748119" y="3257757"/>
            <a:ext cx="621926" cy="2682273"/>
          </a:xfrm>
          <a:prstGeom prst="leftBrace">
            <a:avLst/>
          </a:prstGeom>
          <a:ln w="7620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3F69A9B-0851-A6F3-9C91-B26A6E091F7C}"/>
              </a:ext>
            </a:extLst>
          </p:cNvPr>
          <p:cNvSpPr txBox="1"/>
          <p:nvPr/>
        </p:nvSpPr>
        <p:spPr>
          <a:xfrm>
            <a:off x="6723529" y="1245511"/>
            <a:ext cx="55939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纸带</a:t>
            </a:r>
            <a:endParaRPr lang="en-US" altLang="zh-CN" sz="5000" b="1" dirty="0">
              <a:solidFill>
                <a:srgbClr val="843C0C"/>
              </a:solidFill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</p:txBody>
      </p:sp>
      <p:sp>
        <p:nvSpPr>
          <p:cNvPr id="10" name="箭头: 右 9">
            <a:extLst>
              <a:ext uri="{FF2B5EF4-FFF2-40B4-BE49-F238E27FC236}">
                <a16:creationId xmlns:a16="http://schemas.microsoft.com/office/drawing/2014/main" id="{E45F65BE-C7E6-ABB0-10DE-D27DD636483C}"/>
              </a:ext>
            </a:extLst>
          </p:cNvPr>
          <p:cNvSpPr/>
          <p:nvPr/>
        </p:nvSpPr>
        <p:spPr>
          <a:xfrm rot="16200000">
            <a:off x="7519147" y="847163"/>
            <a:ext cx="587188" cy="48409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9A152DF6-2780-0CC6-9FC6-29270471C5AF}"/>
              </a:ext>
            </a:extLst>
          </p:cNvPr>
          <p:cNvSpPr txBox="1"/>
          <p:nvPr/>
        </p:nvSpPr>
        <p:spPr>
          <a:xfrm>
            <a:off x="-80683" y="1578509"/>
            <a:ext cx="1748119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状态寄存器</a:t>
            </a:r>
            <a:endParaRPr lang="en-US" altLang="zh-CN" sz="5000" b="1" dirty="0">
              <a:solidFill>
                <a:srgbClr val="843C0C"/>
              </a:solidFill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C7044FCC-90B4-2ED6-24CB-B237B8D2E367}"/>
              </a:ext>
            </a:extLst>
          </p:cNvPr>
          <p:cNvSpPr/>
          <p:nvPr/>
        </p:nvSpPr>
        <p:spPr>
          <a:xfrm>
            <a:off x="1273550" y="2158667"/>
            <a:ext cx="587188" cy="484094"/>
          </a:xfrm>
          <a:prstGeom prst="right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522275C-C85F-1853-CC32-4C54481AD02C}"/>
              </a:ext>
            </a:extLst>
          </p:cNvPr>
          <p:cNvSpPr txBox="1"/>
          <p:nvPr/>
        </p:nvSpPr>
        <p:spPr>
          <a:xfrm>
            <a:off x="1531285" y="853801"/>
            <a:ext cx="5593977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solidFill>
                  <a:srgbClr val="843C0C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读写头   执行</a:t>
            </a:r>
            <a:endParaRPr lang="en-US" altLang="zh-CN" sz="5000" b="1" dirty="0">
              <a:solidFill>
                <a:srgbClr val="843C0C"/>
              </a:solidFill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E1212587-E92C-7760-B977-720070CDE739}"/>
              </a:ext>
            </a:extLst>
          </p:cNvPr>
          <p:cNvSpPr/>
          <p:nvPr/>
        </p:nvSpPr>
        <p:spPr>
          <a:xfrm>
            <a:off x="6225988" y="1502167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618AAF2D-0826-E4B6-C134-228BF3CCCE11}"/>
              </a:ext>
            </a:extLst>
          </p:cNvPr>
          <p:cNvSpPr/>
          <p:nvPr/>
        </p:nvSpPr>
        <p:spPr>
          <a:xfrm>
            <a:off x="1078848" y="1004005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0C261659-3D6B-7019-DEDB-EAC85719D563}"/>
              </a:ext>
            </a:extLst>
          </p:cNvPr>
          <p:cNvSpPr/>
          <p:nvPr/>
        </p:nvSpPr>
        <p:spPr>
          <a:xfrm>
            <a:off x="618564" y="3255553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3B064BB4-7A40-B241-95FB-7A9B1929806A}"/>
              </a:ext>
            </a:extLst>
          </p:cNvPr>
          <p:cNvSpPr/>
          <p:nvPr/>
        </p:nvSpPr>
        <p:spPr>
          <a:xfrm>
            <a:off x="201705" y="5020478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3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80106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3637AB-B189-0795-C3DB-99BC947D2C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95569"/>
            <a:ext cx="7059706" cy="606817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D3AE9136-EFCB-B31F-FBA8-4CDFAE0C7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4640" y="373217"/>
            <a:ext cx="4743450" cy="555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332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33637AB-B189-0795-C3DB-99BC947D2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5569"/>
            <a:ext cx="6729693" cy="57845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CD2A3640-4740-AF97-43D9-ACFC611C0C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646" y="282388"/>
            <a:ext cx="5966572" cy="5697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135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理想模型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7CD32087-3164-64A9-BCD2-55247A109C39}"/>
              </a:ext>
            </a:extLst>
          </p:cNvPr>
          <p:cNvSpPr txBox="1"/>
          <p:nvPr/>
        </p:nvSpPr>
        <p:spPr>
          <a:xfrm>
            <a:off x="5440811" y="2179268"/>
            <a:ext cx="3824213" cy="923330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图灵机小结</a:t>
            </a:r>
            <a:endParaRPr lang="zh-CN" altLang="en-US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C1D52E0-5E76-224A-8760-65944C164618}"/>
              </a:ext>
            </a:extLst>
          </p:cNvPr>
          <p:cNvSpPr txBox="1"/>
          <p:nvPr/>
        </p:nvSpPr>
        <p:spPr>
          <a:xfrm>
            <a:off x="178827" y="2160656"/>
            <a:ext cx="526198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54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Turing Machine</a:t>
            </a:r>
            <a:endParaRPr lang="zh-CN" altLang="en-US" sz="5400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36ACC5-E522-9481-44EC-9139108776E0}"/>
              </a:ext>
            </a:extLst>
          </p:cNvPr>
          <p:cNvSpPr txBox="1"/>
          <p:nvPr/>
        </p:nvSpPr>
        <p:spPr>
          <a:xfrm>
            <a:off x="-1" y="3270214"/>
            <a:ext cx="12021671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图灵证明了</a:t>
            </a:r>
            <a:r>
              <a:rPr lang="zh-CN" altLang="en-US" sz="5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通用计算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理论，肯定了</a:t>
            </a:r>
            <a:r>
              <a:rPr lang="zh-CN" altLang="en-US" sz="5000" b="1" dirty="0">
                <a:solidFill>
                  <a:srgbClr val="FF0000"/>
                </a:solidFill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计算机实现</a:t>
            </a: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的可能性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  <a:sym typeface="Wingdings" pitchFamily="2" charset="2"/>
            </a:endParaRPr>
          </a:p>
          <a:p>
            <a:pPr marL="685800" indent="-685800" algn="just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rPr>
              <a:t>图灵机引入读写，存储，算法以及程序设计语言的概念，突破了过去计算机器</a:t>
            </a:r>
            <a:endParaRPr lang="zh-CN" altLang="en-US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537595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C6AC332E-19E8-C44A-7A7F-25E3E0C01B98}"/>
              </a:ext>
            </a:extLst>
          </p:cNvPr>
          <p:cNvSpPr txBox="1"/>
          <p:nvPr/>
        </p:nvSpPr>
        <p:spPr>
          <a:xfrm>
            <a:off x="201706" y="497541"/>
            <a:ext cx="11833412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l"/>
            </a:pPr>
            <a:r>
              <a:rPr lang="zh-CN" altLang="en-US" sz="5400" dirty="0"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图灵机产生的意义</a:t>
            </a:r>
          </a:p>
          <a:p>
            <a:pPr algn="just"/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）奠定了现代数字计算机的基础（第一台计算机就是根据图灵设想设计出的。</a:t>
            </a:r>
          </a:p>
          <a:p>
            <a:pPr algn="just"/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（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）图灵机简洁的概念，可以看到可计算的极限是什么。（强调必须有限输入有限状态下完成有限的输出）</a:t>
            </a:r>
          </a:p>
        </p:txBody>
      </p:sp>
    </p:spTree>
    <p:extLst>
      <p:ext uri="{BB962C8B-B14F-4D97-AF65-F5344CB8AC3E}">
        <p14:creationId xmlns:p14="http://schemas.microsoft.com/office/powerpoint/2010/main" val="145587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结构模型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EBBB891-DF14-A9A8-6D16-DC315315868C}"/>
              </a:ext>
            </a:extLst>
          </p:cNvPr>
          <p:cNvSpPr txBox="1"/>
          <p:nvPr/>
        </p:nvSpPr>
        <p:spPr>
          <a:xfrm>
            <a:off x="197522" y="2444940"/>
            <a:ext cx="80993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zh-CN" altLang="en-US" sz="50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美国数学家，物理学家</a:t>
            </a:r>
            <a:r>
              <a:rPr lang="zh-CN" altLang="en-US" sz="5000" dirty="0">
                <a:solidFill>
                  <a:srgbClr val="FF0000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，</a:t>
            </a:r>
            <a:r>
              <a:rPr lang="zh-CN" altLang="en-US" sz="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计算机之父</a:t>
            </a:r>
            <a:r>
              <a:rPr lang="zh-CN" altLang="en-US" sz="50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和</a:t>
            </a:r>
            <a:r>
              <a:rPr lang="zh-CN" altLang="en-US" sz="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博弈论之父</a:t>
            </a:r>
            <a:endParaRPr lang="en-US" altLang="zh-CN" sz="50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zh-CN" altLang="en-US" sz="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冯诺依曼机</a:t>
            </a:r>
            <a:r>
              <a:rPr lang="zh-CN" altLang="en-US" sz="50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是现代计算机的结构框架，根据图灵机理念设计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endParaRPr lang="zh-CN" altLang="en-US" sz="5000" dirty="0">
              <a:solidFill>
                <a:srgbClr val="0000FF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5E0B7-FA67-6F42-70AF-1F780D5B4BC9}"/>
              </a:ext>
            </a:extLst>
          </p:cNvPr>
          <p:cNvSpPr txBox="1"/>
          <p:nvPr/>
        </p:nvSpPr>
        <p:spPr>
          <a:xfrm>
            <a:off x="8888207" y="671424"/>
            <a:ext cx="31062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冯诺依曼</a:t>
            </a:r>
            <a:endParaRPr lang="zh-CN" altLang="en-US" sz="5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0C7486-5C6E-6DB7-D985-0D375AC2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1440865"/>
            <a:ext cx="3508369" cy="38090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C1DF420-5E82-7487-ECAD-861ABBE4D764}"/>
              </a:ext>
            </a:extLst>
          </p:cNvPr>
          <p:cNvSpPr txBox="1"/>
          <p:nvPr/>
        </p:nvSpPr>
        <p:spPr>
          <a:xfrm>
            <a:off x="8486108" y="5417135"/>
            <a:ext cx="33009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1903-1957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7582877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结构模型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EBBB891-DF14-A9A8-6D16-DC315315868C}"/>
              </a:ext>
            </a:extLst>
          </p:cNvPr>
          <p:cNvSpPr txBox="1"/>
          <p:nvPr/>
        </p:nvSpPr>
        <p:spPr>
          <a:xfrm>
            <a:off x="197522" y="2444940"/>
            <a:ext cx="80993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美国数学家，物理学家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，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计算机之父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和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博弈论之父</a:t>
            </a:r>
            <a:endParaRPr kumimoji="0" lang="en-US" altLang="zh-CN" sz="5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冯诺依曼机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是现代计算机的结构框架，根据图灵机理念设计</a:t>
            </a:r>
          </a:p>
          <a:p>
            <a:pPr marL="685800" marR="0" lvl="0" indent="-6858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5E0B7-FA67-6F42-70AF-1F780D5B4BC9}"/>
              </a:ext>
            </a:extLst>
          </p:cNvPr>
          <p:cNvSpPr txBox="1"/>
          <p:nvPr/>
        </p:nvSpPr>
        <p:spPr>
          <a:xfrm>
            <a:off x="8888207" y="671424"/>
            <a:ext cx="31062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冯诺依曼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0C7486-5C6E-6DB7-D985-0D375AC2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1440865"/>
            <a:ext cx="3508369" cy="38090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C1DF420-5E82-7487-ECAD-861ABBE4D764}"/>
              </a:ext>
            </a:extLst>
          </p:cNvPr>
          <p:cNvSpPr txBox="1"/>
          <p:nvPr/>
        </p:nvSpPr>
        <p:spPr>
          <a:xfrm>
            <a:off x="8486108" y="5417135"/>
            <a:ext cx="33009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1903-1957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</a:t>
            </a:r>
            <a:endParaRPr kumimoji="0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0524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68574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结构模型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EBBB891-DF14-A9A8-6D16-DC315315868C}"/>
              </a:ext>
            </a:extLst>
          </p:cNvPr>
          <p:cNvSpPr txBox="1"/>
          <p:nvPr/>
        </p:nvSpPr>
        <p:spPr>
          <a:xfrm>
            <a:off x="197522" y="2291091"/>
            <a:ext cx="8288586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zh-CN" altLang="en-US" sz="5000" dirty="0">
                <a:solidFill>
                  <a:srgbClr val="0000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冯诺依曼机解决了如何实现一个类图灵机。即图灵机理念工程化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5E0B7-FA67-6F42-70AF-1F780D5B4BC9}"/>
              </a:ext>
            </a:extLst>
          </p:cNvPr>
          <p:cNvSpPr txBox="1"/>
          <p:nvPr/>
        </p:nvSpPr>
        <p:spPr>
          <a:xfrm>
            <a:off x="8888207" y="671424"/>
            <a:ext cx="31062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冯诺依曼</a:t>
            </a:r>
            <a:endParaRPr lang="zh-CN" altLang="en-US" sz="5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0C7486-5C6E-6DB7-D985-0D375AC2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1440865"/>
            <a:ext cx="3508369" cy="38090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C1DF420-5E82-7487-ECAD-861ABBE4D764}"/>
              </a:ext>
            </a:extLst>
          </p:cNvPr>
          <p:cNvSpPr txBox="1"/>
          <p:nvPr/>
        </p:nvSpPr>
        <p:spPr>
          <a:xfrm>
            <a:off x="8486108" y="5417135"/>
            <a:ext cx="33009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1903-1957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483281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  <a:r>
              <a:rPr lang="zh-CN" altLang="en-US" sz="5400" b="1" dirty="0">
                <a:solidFill>
                  <a:srgbClr val="FF0000"/>
                </a:solidFill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结构模型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EBBB891-DF14-A9A8-6D16-DC315315868C}"/>
              </a:ext>
            </a:extLst>
          </p:cNvPr>
          <p:cNvSpPr txBox="1"/>
          <p:nvPr/>
        </p:nvSpPr>
        <p:spPr>
          <a:xfrm>
            <a:off x="94130" y="2149019"/>
            <a:ext cx="8099314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altLang="zh-CN" sz="5000" dirty="0">
                <a:latin typeface="幼圆" panose="02010509060101010101" pitchFamily="49" charset="-122"/>
                <a:ea typeface="幼圆" panose="02010509060101010101" pitchFamily="49" charset="-122"/>
              </a:rPr>
              <a:t>1945</a:t>
            </a:r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年发表“</a:t>
            </a:r>
            <a:r>
              <a:rPr lang="en-US" altLang="zh-CN" sz="5000" dirty="0">
                <a:latin typeface="幼圆" panose="02010509060101010101" pitchFamily="49" charset="-122"/>
                <a:ea typeface="幼圆" panose="02010509060101010101" pitchFamily="49" charset="-122"/>
              </a:rPr>
              <a:t>101</a:t>
            </a:r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页报告”</a:t>
            </a:r>
            <a:r>
              <a:rPr lang="en-US" altLang="zh-CN" sz="5000" dirty="0">
                <a:latin typeface="幼圆" panose="02010509060101010101" pitchFamily="49" charset="-122"/>
                <a:ea typeface="幼圆" panose="02010509060101010101" pitchFamily="49" charset="-122"/>
              </a:rPr>
              <a:t>——First Draft of a Report on the EDVAC</a:t>
            </a:r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</a:p>
          <a:p>
            <a:pPr marL="685800" indent="-685800" algn="just">
              <a:buFont typeface="Wingdings" panose="05000000000000000000" pitchFamily="2" charset="2"/>
              <a:buChar char="Ø"/>
            </a:pPr>
            <a:r>
              <a:rPr lang="en-US" altLang="zh-CN" sz="5000" dirty="0">
                <a:latin typeface="幼圆" panose="02010509060101010101" pitchFamily="49" charset="-122"/>
                <a:ea typeface="幼圆" panose="02010509060101010101" pitchFamily="49" charset="-122"/>
              </a:rPr>
              <a:t>1946</a:t>
            </a:r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年又提出了更完善的设计报告“电子计算机逻辑设计初探”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5E0B7-FA67-6F42-70AF-1F780D5B4BC9}"/>
              </a:ext>
            </a:extLst>
          </p:cNvPr>
          <p:cNvSpPr txBox="1"/>
          <p:nvPr/>
        </p:nvSpPr>
        <p:spPr>
          <a:xfrm>
            <a:off x="8888207" y="671424"/>
            <a:ext cx="31062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冯诺依曼</a:t>
            </a:r>
            <a:endParaRPr lang="zh-CN" altLang="en-US" sz="50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50C7486-5C6E-6DB7-D985-0D375AC28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6108" y="1440865"/>
            <a:ext cx="3508369" cy="3809086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5C1DF420-5E82-7487-ECAD-861ABBE4D764}"/>
              </a:ext>
            </a:extLst>
          </p:cNvPr>
          <p:cNvSpPr txBox="1"/>
          <p:nvPr/>
        </p:nvSpPr>
        <p:spPr>
          <a:xfrm>
            <a:off x="8486108" y="5417135"/>
            <a:ext cx="330095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（</a:t>
            </a:r>
            <a:r>
              <a:rPr kumimoji="0" lang="en-US" altLang="zh-CN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1903-1957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）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420178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4130" y="1449962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冯诺依曼结构特点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>
            <a:extLst>
              <a:ext uri="{FF2B5EF4-FFF2-40B4-BE49-F238E27FC236}">
                <a16:creationId xmlns:a16="http://schemas.microsoft.com/office/drawing/2014/main" id="{5EBBB891-DF14-A9A8-6D16-DC315315868C}"/>
              </a:ext>
            </a:extLst>
          </p:cNvPr>
          <p:cNvSpPr txBox="1"/>
          <p:nvPr/>
        </p:nvSpPr>
        <p:spPr>
          <a:xfrm>
            <a:off x="94129" y="2149019"/>
            <a:ext cx="11900347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algn="just">
              <a:buFont typeface="+mj-ea"/>
              <a:buAutoNum type="circleNumDbPlain"/>
            </a:pPr>
            <a:r>
              <a:rPr lang="zh-CN" altLang="en-US" sz="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二进制存储程序</a:t>
            </a:r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：指令和数据都用二进制存储在内存；</a:t>
            </a:r>
            <a:endParaRPr lang="en-US" altLang="zh-CN" sz="5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914400" indent="-914400" algn="just">
              <a:buFont typeface="+mj-ea"/>
              <a:buAutoNum type="circleNumDbPlain"/>
            </a:pPr>
            <a:r>
              <a:rPr lang="zh-CN" altLang="en-US" sz="50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幼圆" panose="02010509060101010101" pitchFamily="49" charset="-122"/>
                <a:ea typeface="幼圆" panose="02010509060101010101" pitchFamily="49" charset="-122"/>
              </a:rPr>
              <a:t>程序控制</a:t>
            </a:r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：机器按程序指定顺序，逐条执行，完成自动处理</a:t>
            </a:r>
            <a:endParaRPr lang="en-US" altLang="zh-CN" sz="5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914400" indent="-914400" algn="just">
              <a:buFont typeface="+mj-ea"/>
              <a:buAutoNum type="circleNumDbPlain"/>
            </a:pPr>
            <a:endParaRPr lang="zh-CN" altLang="en-US" sz="5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B075E0B7-FA67-6F42-70AF-1F780D5B4BC9}"/>
              </a:ext>
            </a:extLst>
          </p:cNvPr>
          <p:cNvSpPr txBox="1"/>
          <p:nvPr/>
        </p:nvSpPr>
        <p:spPr>
          <a:xfrm>
            <a:off x="8888207" y="671424"/>
            <a:ext cx="310627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冯诺依曼</a:t>
            </a:r>
            <a:endParaRPr lang="zh-CN" altLang="en-US" sz="5000" dirty="0"/>
          </a:p>
        </p:txBody>
      </p:sp>
    </p:spTree>
    <p:extLst>
      <p:ext uri="{BB962C8B-B14F-4D97-AF65-F5344CB8AC3E}">
        <p14:creationId xmlns:p14="http://schemas.microsoft.com/office/powerpoint/2010/main" val="41830219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40865"/>
            <a:ext cx="6615952" cy="121448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5400" b="1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冯诺依曼结构</a:t>
            </a:r>
            <a:endParaRPr lang="en-US" altLang="zh-CN" sz="5400" b="1" dirty="0">
              <a:solidFill>
                <a:srgbClr val="FF0000"/>
              </a:solidFill>
              <a:highlight>
                <a:srgbClr val="FFFF00"/>
              </a:highlight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>
            <a:extLst>
              <a:ext uri="{FF2B5EF4-FFF2-40B4-BE49-F238E27FC236}">
                <a16:creationId xmlns:a16="http://schemas.microsoft.com/office/drawing/2014/main" id="{D55BAD21-C1E2-D6B1-7A2E-5F9C789282CE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743" b="100000" l="0" r="100000">
                        <a14:foregroundMark x1="23941" y1="7063" x2="72560" y2="61710"/>
                        <a14:foregroundMark x1="39042" y1="86617" x2="60405" y2="87732"/>
                        <a14:foregroundMark x1="93186" y1="10037" x2="92449" y2="57621"/>
                        <a14:foregroundMark x1="10129" y1="35316" x2="23941" y2="33829"/>
                        <a14:foregroundMark x1="56169" y1="75836" x2="55249" y2="64684"/>
                        <a14:foregroundMark x1="43462" y1="70260" x2="44383" y2="71747"/>
                        <a14:foregroundMark x1="76427" y1="34201" x2="88214" y2="34201"/>
                        <a14:foregroundMark x1="921" y1="2974" x2="9945" y2="2602"/>
                        <a14:foregroundMark x1="44751" y1="80297" x2="43646" y2="78067"/>
                        <a14:foregroundMark x1="44751" y1="83271" x2="44751" y2="83271"/>
                        <a14:foregroundMark x1="44936" y1="68401" x2="43646" y2="82900"/>
                        <a14:foregroundMark x1="54880" y1="13383" x2="69245" y2="21561"/>
                        <a14:foregroundMark x1="11418" y1="3717" x2="11418" y2="64684"/>
                        <a14:foregroundMark x1="10866" y1="65799" x2="552" y2="65799"/>
                        <a14:foregroundMark x1="921" y1="65428" x2="368" y2="2602"/>
                        <a14:backgroundMark x1="82136" y1="4461" x2="85451" y2="21933"/>
                        <a14:backgroundMark x1="15654" y1="2230" x2="20442" y2="27138"/>
                        <a14:backgroundMark x1="13812" y1="1859" x2="552" y2="743"/>
                        <a14:backgroundMark x1="47514" y1="70632" x2="51197" y2="754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377" y="2191871"/>
            <a:ext cx="7853082" cy="4289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193FE4DB-1F3B-8800-F1A5-F71CB51696A2}"/>
              </a:ext>
            </a:extLst>
          </p:cNvPr>
          <p:cNvGrpSpPr/>
          <p:nvPr/>
        </p:nvGrpSpPr>
        <p:grpSpPr>
          <a:xfrm>
            <a:off x="8473889" y="-122498"/>
            <a:ext cx="4715433" cy="3354765"/>
            <a:chOff x="6967819" y="183714"/>
            <a:chExt cx="4715433" cy="3354765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EE778984-F95B-1CA8-0694-893E23F6D3BE}"/>
                </a:ext>
              </a:extLst>
            </p:cNvPr>
            <p:cNvSpPr txBox="1"/>
            <p:nvPr/>
          </p:nvSpPr>
          <p:spPr>
            <a:xfrm>
              <a:off x="6967819" y="183714"/>
              <a:ext cx="4715433" cy="33547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FFF00"/>
                  </a:highligh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Wingdings" pitchFamily="2" charset="2"/>
                </a:rPr>
                <a:t>纸带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endParaRPr>
            </a:p>
            <a:p>
              <a:r>
                <a:rPr lang="zh-CN" altLang="en-US" sz="4800" b="1" dirty="0">
                  <a:solidFill>
                    <a:srgbClr val="843C0C"/>
                  </a:solidFill>
                  <a:highlight>
                    <a:srgbClr val="FFFF00"/>
                  </a:highlight>
                  <a:latin typeface="仿宋" panose="02010609060101010101" pitchFamily="49" charset="-122"/>
                  <a:ea typeface="仿宋" panose="02010609060101010101" pitchFamily="49" charset="-122"/>
                  <a:sym typeface="Wingdings" pitchFamily="2" charset="2"/>
                </a:rPr>
                <a:t>读写头</a:t>
              </a:r>
              <a:endParaRPr lang="en-US" altLang="zh-CN" sz="4800" b="1" dirty="0">
                <a:solidFill>
                  <a:srgbClr val="843C0C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endParaRPr>
            </a:p>
            <a:p>
              <a:r>
                <a:rPr lang="zh-CN" altLang="en-US" sz="4800" b="1" dirty="0">
                  <a:solidFill>
                    <a:srgbClr val="843C0C"/>
                  </a:solidFill>
                  <a:highlight>
                    <a:srgbClr val="FFFF00"/>
                  </a:highlight>
                  <a:latin typeface="仿宋" panose="02010609060101010101" pitchFamily="49" charset="-122"/>
                  <a:ea typeface="仿宋" panose="02010609060101010101" pitchFamily="49" charset="-122"/>
                  <a:sym typeface="Wingdings" pitchFamily="2" charset="2"/>
                </a:rPr>
                <a:t>程序</a:t>
              </a:r>
              <a:endParaRPr lang="en-US" altLang="zh-CN" sz="4800" b="1" dirty="0">
                <a:solidFill>
                  <a:srgbClr val="843C0C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  <a:sym typeface="Wingdings" pitchFamily="2" charset="2"/>
              </a:endParaRPr>
            </a:p>
            <a:p>
              <a:r>
                <a:rPr kumimoji="0" lang="zh-CN" altLang="en-US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843C0C"/>
                  </a:solidFill>
                  <a:effectLst/>
                  <a:highlight>
                    <a:srgbClr val="FFFF00"/>
                  </a:highligh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  <a:sym typeface="Wingdings" pitchFamily="2" charset="2"/>
                </a:rPr>
                <a:t>状态寄存器</a:t>
              </a:r>
              <a:endPara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/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  <a:sym typeface="Wingdings" pitchFamily="2" charset="2"/>
              </a:endParaRPr>
            </a:p>
            <a:p>
              <a:pPr marL="685800" indent="-685800" algn="just">
                <a:buFont typeface="Wingdings" panose="05000000000000000000" pitchFamily="2" charset="2"/>
                <a:buChar char="l"/>
              </a:pPr>
              <a:endParaRPr lang="zh-CN" altLang="en-US" sz="2000" dirty="0">
                <a:solidFill>
                  <a:srgbClr val="843C0C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4C3D14A8-C40E-9F5F-3A9E-CAE6C09CC570}"/>
                </a:ext>
              </a:extLst>
            </p:cNvPr>
            <p:cNvSpPr/>
            <p:nvPr/>
          </p:nvSpPr>
          <p:spPr>
            <a:xfrm>
              <a:off x="8476129" y="327751"/>
              <a:ext cx="591671" cy="60511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0" b="1" dirty="0">
                  <a:solidFill>
                    <a:srgbClr val="843C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1</a:t>
              </a:r>
              <a:endPara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7CA0CCC7-A211-5B07-DE8D-172168B26ED7}"/>
                </a:ext>
              </a:extLst>
            </p:cNvPr>
            <p:cNvSpPr/>
            <p:nvPr/>
          </p:nvSpPr>
          <p:spPr>
            <a:xfrm>
              <a:off x="8944536" y="1059205"/>
              <a:ext cx="591671" cy="60511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0" b="1" dirty="0">
                  <a:solidFill>
                    <a:srgbClr val="843C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2</a:t>
              </a:r>
              <a:endPara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668D7172-570C-AA14-D893-70165A6499A7}"/>
                </a:ext>
              </a:extLst>
            </p:cNvPr>
            <p:cNvSpPr/>
            <p:nvPr/>
          </p:nvSpPr>
          <p:spPr>
            <a:xfrm>
              <a:off x="8352865" y="1766321"/>
              <a:ext cx="591671" cy="60511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0" b="1" dirty="0">
                  <a:solidFill>
                    <a:srgbClr val="843C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3</a:t>
              </a:r>
              <a:endPara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3365E2AE-D441-4AB3-99FB-EE6672A39B55}"/>
                </a:ext>
              </a:extLst>
            </p:cNvPr>
            <p:cNvSpPr/>
            <p:nvPr/>
          </p:nvSpPr>
          <p:spPr>
            <a:xfrm>
              <a:off x="10141326" y="2498083"/>
              <a:ext cx="591671" cy="605118"/>
            </a:xfrm>
            <a:prstGeom prst="ellipse">
              <a:avLst/>
            </a:prstGeom>
            <a:solidFill>
              <a:schemeClr val="bg1"/>
            </a:solidFill>
            <a:ln w="57150">
              <a:solidFill>
                <a:srgbClr val="843C0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5000" b="1" dirty="0">
                  <a:solidFill>
                    <a:srgbClr val="843C0C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4</a:t>
              </a:r>
              <a:endParaRPr lang="zh-CN" altLang="en-US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</p:grpSp>
      <p:sp>
        <p:nvSpPr>
          <p:cNvPr id="19" name="椭圆 18">
            <a:extLst>
              <a:ext uri="{FF2B5EF4-FFF2-40B4-BE49-F238E27FC236}">
                <a16:creationId xmlns:a16="http://schemas.microsoft.com/office/drawing/2014/main" id="{4FDBCDF9-705E-B661-3AB2-3D2AF011D2FC}"/>
              </a:ext>
            </a:extLst>
          </p:cNvPr>
          <p:cNvSpPr/>
          <p:nvPr/>
        </p:nvSpPr>
        <p:spPr>
          <a:xfrm>
            <a:off x="7413810" y="4685427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0" name="右大括号 19">
            <a:extLst>
              <a:ext uri="{FF2B5EF4-FFF2-40B4-BE49-F238E27FC236}">
                <a16:creationId xmlns:a16="http://schemas.microsoft.com/office/drawing/2014/main" id="{3D2AEA22-38D2-DDEE-5EBF-A3C3B04A3239}"/>
              </a:ext>
            </a:extLst>
          </p:cNvPr>
          <p:cNvSpPr/>
          <p:nvPr/>
        </p:nvSpPr>
        <p:spPr>
          <a:xfrm>
            <a:off x="6925235" y="4182035"/>
            <a:ext cx="376518" cy="1922930"/>
          </a:xfrm>
          <a:prstGeom prst="rightBrace">
            <a:avLst/>
          </a:prstGeom>
          <a:ln w="5715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45AAC1A-E8F5-8EAD-3663-C6427DBAF20D}"/>
              </a:ext>
            </a:extLst>
          </p:cNvPr>
          <p:cNvSpPr/>
          <p:nvPr/>
        </p:nvSpPr>
        <p:spPr>
          <a:xfrm>
            <a:off x="5504329" y="1554884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4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2" name="右大括号 21">
            <a:extLst>
              <a:ext uri="{FF2B5EF4-FFF2-40B4-BE49-F238E27FC236}">
                <a16:creationId xmlns:a16="http://schemas.microsoft.com/office/drawing/2014/main" id="{6731CF00-4184-98D4-74B1-A19C4737DE59}"/>
              </a:ext>
            </a:extLst>
          </p:cNvPr>
          <p:cNvSpPr/>
          <p:nvPr/>
        </p:nvSpPr>
        <p:spPr>
          <a:xfrm rot="16200000">
            <a:off x="5734049" y="1309967"/>
            <a:ext cx="295836" cy="2086536"/>
          </a:xfrm>
          <a:prstGeom prst="rightBrace">
            <a:avLst/>
          </a:prstGeom>
          <a:ln w="57150">
            <a:solidFill>
              <a:srgbClr val="843C0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80440D84-B098-DE6F-F3B1-179F3021597C}"/>
              </a:ext>
            </a:extLst>
          </p:cNvPr>
          <p:cNvSpPr/>
          <p:nvPr/>
        </p:nvSpPr>
        <p:spPr>
          <a:xfrm>
            <a:off x="6712323" y="3458738"/>
            <a:ext cx="591671" cy="605118"/>
          </a:xfrm>
          <a:prstGeom prst="ellipse">
            <a:avLst/>
          </a:prstGeom>
          <a:solidFill>
            <a:schemeClr val="bg1"/>
          </a:solidFill>
          <a:ln w="57150">
            <a:solidFill>
              <a:srgbClr val="843C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5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</a:t>
            </a:r>
            <a:endParaRPr lang="zh-CN" altLang="en-US" sz="5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7A661C44-FF20-33DE-B2E9-19D5CCAEDF3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6158" y="5708072"/>
            <a:ext cx="2761818" cy="920606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293F6D9A-1408-B0A3-72B9-ED13E27890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5481" y="5903259"/>
            <a:ext cx="2802108" cy="725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6631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B2A27C76-5451-01DE-CF0D-A6C482009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8875" y="190500"/>
            <a:ext cx="7334250" cy="647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64259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60022F8-8022-09D2-6D3E-C301ADC3704D}"/>
              </a:ext>
            </a:extLst>
          </p:cNvPr>
          <p:cNvSpPr txBox="1"/>
          <p:nvPr/>
        </p:nvSpPr>
        <p:spPr>
          <a:xfrm>
            <a:off x="8413910" y="2667959"/>
            <a:ext cx="251169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插线板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2F09B880-B881-EA2E-7F49-AE1F6B9A3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3177" y="295914"/>
            <a:ext cx="3785481" cy="227667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585A89A-182E-74D7-2592-DB2B96BE26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039" b="39384"/>
          <a:stretch/>
        </p:blipFill>
        <p:spPr>
          <a:xfrm>
            <a:off x="7781791" y="3629302"/>
            <a:ext cx="3775934" cy="1979902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AB77C4D0-0DD5-4985-B6A6-E421840E1229}"/>
              </a:ext>
            </a:extLst>
          </p:cNvPr>
          <p:cNvSpPr txBox="1"/>
          <p:nvPr/>
        </p:nvSpPr>
        <p:spPr>
          <a:xfrm>
            <a:off x="8103177" y="5609204"/>
            <a:ext cx="328648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面板拨开关</a:t>
            </a:r>
            <a:endParaRPr lang="zh-CN" altLang="en-US" sz="4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EC801BB-3316-05DE-F442-458EBCC0E47A}"/>
              </a:ext>
            </a:extLst>
          </p:cNvPr>
          <p:cNvPicPr/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43" b="100000" l="0" r="100000">
                        <a14:foregroundMark x1="23941" y1="7063" x2="72560" y2="61710"/>
                        <a14:foregroundMark x1="39042" y1="86617" x2="60405" y2="87732"/>
                        <a14:foregroundMark x1="93186" y1="10037" x2="92449" y2="57621"/>
                        <a14:foregroundMark x1="10129" y1="35316" x2="23941" y2="33829"/>
                        <a14:foregroundMark x1="56169" y1="75836" x2="55249" y2="64684"/>
                        <a14:foregroundMark x1="43462" y1="70260" x2="44383" y2="71747"/>
                        <a14:foregroundMark x1="76427" y1="34201" x2="88214" y2="34201"/>
                        <a14:foregroundMark x1="921" y1="2974" x2="9945" y2="2602"/>
                        <a14:foregroundMark x1="44751" y1="80297" x2="43646" y2="78067"/>
                        <a14:foregroundMark x1="44751" y1="83271" x2="44751" y2="83271"/>
                        <a14:foregroundMark x1="44936" y1="68401" x2="43646" y2="82900"/>
                        <a14:foregroundMark x1="54880" y1="13383" x2="69245" y2="21561"/>
                        <a14:foregroundMark x1="11418" y1="3717" x2="11418" y2="64684"/>
                        <a14:foregroundMark x1="10866" y1="65799" x2="552" y2="65799"/>
                        <a14:foregroundMark x1="921" y1="65428" x2="368" y2="2602"/>
                        <a14:backgroundMark x1="82136" y1="4461" x2="85451" y2="21933"/>
                        <a14:backgroundMark x1="15654" y1="2230" x2="20442" y2="27138"/>
                        <a14:backgroundMark x1="13812" y1="1859" x2="552" y2="743"/>
                        <a14:backgroundMark x1="47514" y1="70632" x2="51197" y2="7546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024"/>
            <a:ext cx="7853082" cy="42896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4E611E1-700A-FB0B-94C9-2124F10C18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484" y="4681794"/>
            <a:ext cx="2761818" cy="92060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0B40137-F13E-D7DC-F591-572D112411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484" y="5814229"/>
            <a:ext cx="2802108" cy="72541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85FD42FB-0FF5-9B5C-AF93-161FA2015F28}"/>
              </a:ext>
            </a:extLst>
          </p:cNvPr>
          <p:cNvSpPr/>
          <p:nvPr/>
        </p:nvSpPr>
        <p:spPr>
          <a:xfrm>
            <a:off x="2509987" y="1586753"/>
            <a:ext cx="2909178" cy="2944906"/>
          </a:xfrm>
          <a:prstGeom prst="rect">
            <a:avLst/>
          </a:prstGeom>
          <a:noFill/>
          <a:ln w="57150">
            <a:solidFill>
              <a:srgbClr val="0000FF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D620B118-2C15-1889-1C05-1D3439CFADD9}"/>
              </a:ext>
            </a:extLst>
          </p:cNvPr>
          <p:cNvSpPr txBox="1"/>
          <p:nvPr/>
        </p:nvSpPr>
        <p:spPr>
          <a:xfrm>
            <a:off x="2748193" y="4677543"/>
            <a:ext cx="57015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放存储器</a:t>
            </a:r>
            <a:r>
              <a:rPr lang="en-US" altLang="zh-CN" sz="6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zh-CN" altLang="en-US" sz="6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纸带</a:t>
            </a:r>
            <a:endParaRPr lang="zh-CN" altLang="en-US" sz="60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46D0BE4-C217-3EC4-F921-91DC63097BAC}"/>
              </a:ext>
            </a:extLst>
          </p:cNvPr>
          <p:cNvSpPr txBox="1"/>
          <p:nvPr/>
        </p:nvSpPr>
        <p:spPr>
          <a:xfrm>
            <a:off x="2712357" y="5637384"/>
            <a:ext cx="570155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软件</a:t>
            </a:r>
            <a:r>
              <a:rPr lang="en-US" altLang="zh-CN" sz="6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</a:t>
            </a:r>
            <a:r>
              <a:rPr lang="zh-CN" altLang="en-US" sz="6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手动电路</a:t>
            </a:r>
            <a:endParaRPr lang="zh-CN" altLang="en-US" sz="6000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2AE2FF2-3589-7294-D378-6AE01931A5FF}"/>
              </a:ext>
            </a:extLst>
          </p:cNvPr>
          <p:cNvCxnSpPr>
            <a:cxnSpLocks/>
          </p:cNvCxnSpPr>
          <p:nvPr/>
        </p:nvCxnSpPr>
        <p:spPr>
          <a:xfrm flipH="1">
            <a:off x="1788459" y="4531659"/>
            <a:ext cx="721528" cy="282388"/>
          </a:xfrm>
          <a:prstGeom prst="straightConnector1">
            <a:avLst/>
          </a:prstGeom>
          <a:ln w="7620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6611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FFEF06-BA2B-F8F7-468A-B61FEA7DF8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978" y="0"/>
            <a:ext cx="6481762" cy="566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B73C3C9-99B2-5A4F-A9F5-422FC87E4E99}"/>
              </a:ext>
            </a:extLst>
          </p:cNvPr>
          <p:cNvSpPr txBox="1"/>
          <p:nvPr/>
        </p:nvSpPr>
        <p:spPr>
          <a:xfrm>
            <a:off x="978274" y="6014428"/>
            <a:ext cx="534184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dirty="0">
                <a:latin typeface="仿宋" panose="02010609060101010101" pitchFamily="49" charset="-122"/>
                <a:ea typeface="仿宋" panose="02010609060101010101" pitchFamily="49" charset="-122"/>
              </a:rPr>
              <a:t>冯诺依曼机工作原理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7127A3D-1DEE-51F7-9C91-EF8A39F13172}"/>
              </a:ext>
            </a:extLst>
          </p:cNvPr>
          <p:cNvSpPr txBox="1"/>
          <p:nvPr/>
        </p:nvSpPr>
        <p:spPr>
          <a:xfrm>
            <a:off x="6469716" y="217886"/>
            <a:ext cx="549228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早期程序是硬件化的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(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加法对应加法器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程序从硬件实现转换成软件实现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确定了计算机结构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,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使用二进制</a:t>
            </a:r>
            <a:endParaRPr lang="zh-CN" altLang="en-US" sz="4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358392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AC2F6530-2E18-EC61-0616-F11BF0D2BECE}"/>
              </a:ext>
            </a:extLst>
          </p:cNvPr>
          <p:cNvSpPr txBox="1"/>
          <p:nvPr/>
        </p:nvSpPr>
        <p:spPr>
          <a:xfrm>
            <a:off x="184896" y="180520"/>
            <a:ext cx="7614397" cy="8402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冯诺依曼机系统架构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highlight>
                <a:srgbClr val="FFFF00"/>
              </a:highlight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BE2375B-1734-AD27-E661-2E440B614FAF}"/>
              </a:ext>
            </a:extLst>
          </p:cNvPr>
          <p:cNvSpPr txBox="1"/>
          <p:nvPr/>
        </p:nvSpPr>
        <p:spPr>
          <a:xfrm>
            <a:off x="0" y="1580746"/>
            <a:ext cx="1210235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计算机由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硬件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和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软件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协同工作来执行任务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硬件系统指电子线路，装置等物理实体，即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躯体</a:t>
            </a:r>
            <a:endParaRPr lang="en-US" altLang="zh-C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ea"/>
              <a:buAutoNum type="circleNumDbPlain"/>
              <a:tabLst/>
              <a:defRPr/>
            </a:pP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软件系统指控制，管理和指挥计算机各类问题的程序和数据总和，即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灵魂</a:t>
            </a:r>
          </a:p>
        </p:txBody>
      </p:sp>
    </p:spTree>
    <p:extLst>
      <p:ext uri="{BB962C8B-B14F-4D97-AF65-F5344CB8AC3E}">
        <p14:creationId xmlns:p14="http://schemas.microsoft.com/office/powerpoint/2010/main" val="33624762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79F0360-4F1E-77CA-A1D0-4D35719EAF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Texturiz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718" y="-111639"/>
            <a:ext cx="7475917" cy="70812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43E9552F-1DB5-0E26-EC3A-A35194CFC357}"/>
              </a:ext>
            </a:extLst>
          </p:cNvPr>
          <p:cNvSpPr txBox="1"/>
          <p:nvPr/>
        </p:nvSpPr>
        <p:spPr>
          <a:xfrm>
            <a:off x="7943851" y="1945359"/>
            <a:ext cx="36340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计算机系统组成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66901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文本框 137">
            <a:extLst>
              <a:ext uri="{FF2B5EF4-FFF2-40B4-BE49-F238E27FC236}">
                <a16:creationId xmlns:a16="http://schemas.microsoft.com/office/drawing/2014/main" id="{EB60B042-0918-6A90-E430-937ECDC13B85}"/>
              </a:ext>
            </a:extLst>
          </p:cNvPr>
          <p:cNvSpPr txBox="1"/>
          <p:nvPr/>
        </p:nvSpPr>
        <p:spPr>
          <a:xfrm>
            <a:off x="1760442" y="170028"/>
            <a:ext cx="101456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现代计算机</a:t>
            </a: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----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硬件构架</a:t>
            </a:r>
            <a:endParaRPr lang="zh-CN" altLang="en-US" dirty="0"/>
          </a:p>
        </p:txBody>
      </p:sp>
      <p:pic>
        <p:nvPicPr>
          <p:cNvPr id="139" name="图片 138">
            <a:extLst>
              <a:ext uri="{FF2B5EF4-FFF2-40B4-BE49-F238E27FC236}">
                <a16:creationId xmlns:a16="http://schemas.microsoft.com/office/drawing/2014/main" id="{89F13081-8364-306C-F4DC-AD55EDEE50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167" y="1296902"/>
            <a:ext cx="11887665" cy="5171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87698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813551A-B5F7-9EDF-1D0F-DDBA794B72AF}"/>
              </a:ext>
            </a:extLst>
          </p:cNvPr>
          <p:cNvSpPr txBox="1"/>
          <p:nvPr/>
        </p:nvSpPr>
        <p:spPr>
          <a:xfrm>
            <a:off x="23309" y="1705342"/>
            <a:ext cx="2312688" cy="923330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图灵机</a:t>
            </a:r>
            <a:endParaRPr lang="zh-CN" altLang="en-US" sz="20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E7C91B3-EC67-4860-C3F1-D2EF3F0F8927}"/>
              </a:ext>
            </a:extLst>
          </p:cNvPr>
          <p:cNvSpPr txBox="1"/>
          <p:nvPr/>
        </p:nvSpPr>
        <p:spPr>
          <a:xfrm>
            <a:off x="7721955" y="1705342"/>
            <a:ext cx="4128246" cy="9233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28575">
            <a:solidFill>
              <a:srgbClr val="843C0C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现代计算机</a:t>
            </a:r>
            <a:endParaRPr lang="zh-CN" altLang="en-US" sz="20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1CA0C21-9BC0-5F59-52E5-E27BA050CDC3}"/>
              </a:ext>
            </a:extLst>
          </p:cNvPr>
          <p:cNvSpPr txBox="1"/>
          <p:nvPr/>
        </p:nvSpPr>
        <p:spPr>
          <a:xfrm>
            <a:off x="3072429" y="1728310"/>
            <a:ext cx="3913094" cy="923330"/>
          </a:xfrm>
          <a:prstGeom prst="rect">
            <a:avLst/>
          </a:prstGeom>
          <a:solidFill>
            <a:srgbClr val="DBDBF9"/>
          </a:solidFill>
          <a:ln w="28575">
            <a:solidFill>
              <a:srgbClr val="843C0C"/>
            </a:solidFill>
          </a:ln>
          <a:effectLst>
            <a:glow rad="1397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lang="zh-CN" altLang="en-US" sz="5400" b="1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冯诺依曼机</a:t>
            </a:r>
            <a:endParaRPr lang="zh-CN" altLang="en-US" sz="2000" dirty="0"/>
          </a:p>
        </p:txBody>
      </p:sp>
      <p:sp>
        <p:nvSpPr>
          <p:cNvPr id="6" name="箭头: 下 5">
            <a:extLst>
              <a:ext uri="{FF2B5EF4-FFF2-40B4-BE49-F238E27FC236}">
                <a16:creationId xmlns:a16="http://schemas.microsoft.com/office/drawing/2014/main" id="{E018E787-D5B1-983C-F1D3-E6330DA07195}"/>
              </a:ext>
            </a:extLst>
          </p:cNvPr>
          <p:cNvSpPr/>
          <p:nvPr/>
        </p:nvSpPr>
        <p:spPr>
          <a:xfrm rot="16200000">
            <a:off x="2506885" y="1862548"/>
            <a:ext cx="394657" cy="625516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箭头: 下 7">
            <a:extLst>
              <a:ext uri="{FF2B5EF4-FFF2-40B4-BE49-F238E27FC236}">
                <a16:creationId xmlns:a16="http://schemas.microsoft.com/office/drawing/2014/main" id="{0186DBEF-EE25-AE1B-83C7-2F94DEB6C126}"/>
              </a:ext>
            </a:extLst>
          </p:cNvPr>
          <p:cNvSpPr/>
          <p:nvPr/>
        </p:nvSpPr>
        <p:spPr>
          <a:xfrm rot="16200000">
            <a:off x="7156410" y="1694989"/>
            <a:ext cx="394657" cy="625516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321E-E82E-D9D9-06D6-F9E8EC3BC572}"/>
              </a:ext>
            </a:extLst>
          </p:cNvPr>
          <p:cNvSpPr txBox="1"/>
          <p:nvPr/>
        </p:nvSpPr>
        <p:spPr>
          <a:xfrm>
            <a:off x="-193513" y="2447790"/>
            <a:ext cx="6098240" cy="11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计算机的定义</a:t>
            </a:r>
            <a:endParaRPr lang="en-US" altLang="zh-CN" sz="5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79682C8-1617-D85F-90C7-A950D7D309FC}"/>
              </a:ext>
            </a:extLst>
          </p:cNvPr>
          <p:cNvSpPr txBox="1"/>
          <p:nvPr/>
        </p:nvSpPr>
        <p:spPr>
          <a:xfrm>
            <a:off x="23309" y="3451937"/>
            <a:ext cx="12168691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由电子元器件和机械装置等构成的，在计算机软件控制下，依照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存储程序和程序控制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的工作原理，能够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高速、有效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地完成人们指令的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自动化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系统。</a:t>
            </a:r>
            <a:endParaRPr lang="zh-CN" altLang="en-US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5503388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321E-E82E-D9D9-06D6-F9E8EC3BC572}"/>
              </a:ext>
            </a:extLst>
          </p:cNvPr>
          <p:cNvSpPr txBox="1"/>
          <p:nvPr/>
        </p:nvSpPr>
        <p:spPr>
          <a:xfrm>
            <a:off x="-126278" y="1359315"/>
            <a:ext cx="6098240" cy="11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计算机的特点</a:t>
            </a:r>
            <a:endParaRPr lang="en-US" altLang="zh-CN" sz="5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399308-72B7-BDD1-7E14-39A80595B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58" y="0"/>
            <a:ext cx="6476720" cy="626494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0881537-C812-BF51-48A4-13EB0E5BF70F}"/>
              </a:ext>
            </a:extLst>
          </p:cNvPr>
          <p:cNvSpPr txBox="1"/>
          <p:nvPr/>
        </p:nvSpPr>
        <p:spPr>
          <a:xfrm>
            <a:off x="-44128" y="2299590"/>
            <a:ext cx="6098240" cy="36370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运算速度：</a:t>
            </a:r>
            <a:r>
              <a:rPr lang="en-US" altLang="zh-C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CPU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主频</a:t>
            </a:r>
            <a:endParaRPr lang="en-US" altLang="zh-C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en-US" altLang="zh-C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3.0GHZ=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每秒执行</a:t>
            </a:r>
            <a:r>
              <a:rPr lang="en-US" altLang="zh-C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30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亿条指令</a:t>
            </a:r>
            <a:endParaRPr lang="en-US" altLang="zh-C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091FDEB-520B-A1F5-BA9F-FC74C31B0B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5805731"/>
            <a:ext cx="11397928" cy="83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642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321E-E82E-D9D9-06D6-F9E8EC3BC572}"/>
              </a:ext>
            </a:extLst>
          </p:cNvPr>
          <p:cNvSpPr txBox="1"/>
          <p:nvPr/>
        </p:nvSpPr>
        <p:spPr>
          <a:xfrm>
            <a:off x="-126278" y="1359315"/>
            <a:ext cx="6098240" cy="114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sz="54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计算机的特点</a:t>
            </a:r>
            <a:endParaRPr lang="en-US" altLang="zh-CN" sz="54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7399308-72B7-BDD1-7E14-39A80595B8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558" y="0"/>
            <a:ext cx="6476720" cy="6264948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0881537-C812-BF51-48A4-13EB0E5BF70F}"/>
              </a:ext>
            </a:extLst>
          </p:cNvPr>
          <p:cNvSpPr txBox="1"/>
          <p:nvPr/>
        </p:nvSpPr>
        <p:spPr>
          <a:xfrm>
            <a:off x="-44128" y="2299590"/>
            <a:ext cx="6098240" cy="23905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buSzPct val="90000"/>
            </a:pP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计算精度：</a:t>
            </a:r>
            <a:r>
              <a:rPr lang="en-US" altLang="zh-C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64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位或</a:t>
            </a:r>
            <a:r>
              <a:rPr lang="en-US" altLang="zh-CN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128</a:t>
            </a:r>
            <a:r>
              <a:rPr lang="zh-CN" altLang="en-US" sz="5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endParaRPr lang="en-US" altLang="zh-CN" sz="5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945510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13538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1.1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321E-E82E-D9D9-06D6-F9E8EC3BC572}"/>
              </a:ext>
            </a:extLst>
          </p:cNvPr>
          <p:cNvSpPr txBox="1"/>
          <p:nvPr/>
        </p:nvSpPr>
        <p:spPr>
          <a:xfrm>
            <a:off x="-1" y="0"/>
            <a:ext cx="7812741" cy="12609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sz="6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计算机应用</a:t>
            </a:r>
            <a:endParaRPr lang="en-US" altLang="zh-CN" sz="6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9" name="Picture 3" descr="操作系统01(Midinux)">
            <a:extLst>
              <a:ext uri="{FF2B5EF4-FFF2-40B4-BE49-F238E27FC236}">
                <a16:creationId xmlns:a16="http://schemas.microsoft.com/office/drawing/2014/main" id="{8D473524-336E-6DE7-B743-4E15395CE1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6280" y="1193452"/>
            <a:ext cx="5368228" cy="30884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4" descr="计算机自动控制03">
            <a:extLst>
              <a:ext uri="{FF2B5EF4-FFF2-40B4-BE49-F238E27FC236}">
                <a16:creationId xmlns:a16="http://schemas.microsoft.com/office/drawing/2014/main" id="{17B5BCED-223A-F8F3-C550-6DC54E651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72977" y="-125343"/>
            <a:ext cx="5319023" cy="2637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5" descr="图片22">
            <a:extLst>
              <a:ext uri="{FF2B5EF4-FFF2-40B4-BE49-F238E27FC236}">
                <a16:creationId xmlns:a16="http://schemas.microsoft.com/office/drawing/2014/main" id="{ADFC3497-9A62-C82A-CC73-139A4A1705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6402" y="1809898"/>
            <a:ext cx="6120065" cy="411480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Picture 6" descr="图片27">
            <a:extLst>
              <a:ext uri="{FF2B5EF4-FFF2-40B4-BE49-F238E27FC236}">
                <a16:creationId xmlns:a16="http://schemas.microsoft.com/office/drawing/2014/main" id="{F214E977-3994-D30A-A1ED-E8DC159EE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927" y="5310064"/>
            <a:ext cx="10328145" cy="129703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7">
            <a:extLst>
              <a:ext uri="{FF2B5EF4-FFF2-40B4-BE49-F238E27FC236}">
                <a16:creationId xmlns:a16="http://schemas.microsoft.com/office/drawing/2014/main" id="{9635271A-CE6B-45AA-FC2D-EF24B03B32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5175" y="1470364"/>
            <a:ext cx="3808404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48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自动控制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2C41C210-88EB-72A4-A716-CC15F850D8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1411" y="4536872"/>
            <a:ext cx="3007378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48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航空航天</a:t>
            </a: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026A0D31-31E4-1AF1-A5DA-F05E9DC1D1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06369" y="6027003"/>
            <a:ext cx="537736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48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军事应用广泛</a:t>
            </a:r>
          </a:p>
        </p:txBody>
      </p:sp>
      <p:sp>
        <p:nvSpPr>
          <p:cNvPr id="17" name="Text Box 10">
            <a:extLst>
              <a:ext uri="{FF2B5EF4-FFF2-40B4-BE49-F238E27FC236}">
                <a16:creationId xmlns:a16="http://schemas.microsoft.com/office/drawing/2014/main" id="{F2470D06-8BF4-923E-C701-31433C30D1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49" y="3534640"/>
            <a:ext cx="4041832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r>
              <a:rPr lang="zh-CN" altLang="en-US" sz="48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互联网</a:t>
            </a:r>
          </a:p>
        </p:txBody>
      </p:sp>
    </p:spTree>
    <p:extLst>
      <p:ext uri="{BB962C8B-B14F-4D97-AF65-F5344CB8AC3E}">
        <p14:creationId xmlns:p14="http://schemas.microsoft.com/office/powerpoint/2010/main" val="4027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6" grpId="0"/>
      <p:bldP spid="1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">
            <a:extLst>
              <a:ext uri="{FF2B5EF4-FFF2-40B4-BE49-F238E27FC236}">
                <a16:creationId xmlns:a16="http://schemas.microsoft.com/office/drawing/2014/main" id="{C22BE8CA-6144-1E7C-82B8-63F99A283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07" y="197455"/>
            <a:ext cx="12004839" cy="6781567"/>
          </a:xfrm>
        </p:spPr>
        <p:txBody>
          <a:bodyPr>
            <a:normAutofit/>
          </a:bodyPr>
          <a:lstStyle/>
          <a:p>
            <a:r>
              <a:rPr lang="zh-CN" altLang="en-US" sz="54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科学与工程计算</a:t>
            </a:r>
          </a:p>
          <a:p>
            <a:pPr marL="457200" lvl="1" indent="0">
              <a:buNone/>
            </a:pPr>
            <a:r>
              <a:rPr lang="zh-CN" altLang="en-US" sz="5400" dirty="0">
                <a:latin typeface="仿宋" panose="02010609060101010101" pitchFamily="49" charset="-122"/>
                <a:ea typeface="仿宋" panose="02010609060101010101" pitchFamily="49" charset="-122"/>
              </a:rPr>
              <a:t>天气预报、卫星发射与控制、太空探索、数学计算</a:t>
            </a:r>
            <a:endParaRPr lang="en-US" altLang="zh-CN" sz="5400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lvl="1"/>
            <a:r>
              <a:rPr lang="zh-CN" altLang="en-US" sz="54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信息处理</a:t>
            </a:r>
          </a:p>
          <a:p>
            <a:pPr marL="457200" lvl="1" indent="0">
              <a:buNone/>
            </a:pPr>
            <a:r>
              <a:rPr lang="zh-CN" altLang="en-US" sz="5400" dirty="0">
                <a:latin typeface="仿宋" panose="02010609060101010101" pitchFamily="49" charset="-122"/>
                <a:ea typeface="仿宋" panose="02010609060101010101" pitchFamily="49" charset="-122"/>
              </a:rPr>
              <a:t>信息管理（图书馆、</a:t>
            </a:r>
            <a:r>
              <a:rPr lang="en-US" altLang="zh-CN" sz="5400" dirty="0">
                <a:latin typeface="仿宋" panose="02010609060101010101" pitchFamily="49" charset="-122"/>
                <a:ea typeface="仿宋" panose="02010609060101010101" pitchFamily="49" charset="-122"/>
              </a:rPr>
              <a:t>OA</a:t>
            </a:r>
            <a:r>
              <a:rPr lang="zh-CN" altLang="en-US" sz="5400" dirty="0">
                <a:latin typeface="仿宋" panose="02010609060101010101" pitchFamily="49" charset="-122"/>
                <a:ea typeface="仿宋" panose="02010609060101010101" pitchFamily="49" charset="-122"/>
              </a:rPr>
              <a:t>、银行） 、信息检索、</a:t>
            </a:r>
            <a:r>
              <a:rPr lang="en-US" altLang="zh-CN" sz="5400" dirty="0">
                <a:latin typeface="仿宋" panose="02010609060101010101" pitchFamily="49" charset="-122"/>
                <a:ea typeface="仿宋" panose="02010609060101010101" pitchFamily="49" charset="-122"/>
              </a:rPr>
              <a:t>MIS -</a:t>
            </a:r>
            <a:r>
              <a:rPr lang="zh-CN" altLang="en-US" sz="5400" dirty="0">
                <a:latin typeface="仿宋" panose="02010609060101010101" pitchFamily="49" charset="-122"/>
                <a:ea typeface="仿宋" panose="02010609060101010101" pitchFamily="49" charset="-122"/>
              </a:rPr>
              <a:t>沃尔玛等</a:t>
            </a:r>
          </a:p>
          <a:p>
            <a:r>
              <a:rPr lang="zh-CN" altLang="en-US" sz="54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多媒体技术应用</a:t>
            </a:r>
            <a:endParaRPr lang="zh-CN" altLang="en-US" b="1" dirty="0">
              <a:solidFill>
                <a:srgbClr val="0000FF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BB5C48A-2EAD-09C9-2F1F-C4840C044AD6}"/>
              </a:ext>
            </a:extLst>
          </p:cNvPr>
          <p:cNvSpPr/>
          <p:nvPr/>
        </p:nvSpPr>
        <p:spPr>
          <a:xfrm>
            <a:off x="5301552" y="1717020"/>
            <a:ext cx="2336377" cy="1788551"/>
          </a:xfrm>
          <a:prstGeom prst="rect">
            <a:avLst/>
          </a:prstGeom>
          <a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000" b="-1000"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321CF7-C95F-A417-0AD4-216A76D80DBF}"/>
              </a:ext>
            </a:extLst>
          </p:cNvPr>
          <p:cNvSpPr/>
          <p:nvPr/>
        </p:nvSpPr>
        <p:spPr>
          <a:xfrm>
            <a:off x="8014447" y="1717021"/>
            <a:ext cx="3821780" cy="171197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CF645E-E8DC-2324-CD86-4AA9E1CFF8F7}"/>
              </a:ext>
            </a:extLst>
          </p:cNvPr>
          <p:cNvSpPr/>
          <p:nvPr/>
        </p:nvSpPr>
        <p:spPr>
          <a:xfrm>
            <a:off x="6368814" y="4883553"/>
            <a:ext cx="5265708" cy="1974447"/>
          </a:xfrm>
          <a:prstGeom prst="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86997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内容占位符 1">
            <a:extLst>
              <a:ext uri="{FF2B5EF4-FFF2-40B4-BE49-F238E27FC236}">
                <a16:creationId xmlns:a16="http://schemas.microsoft.com/office/drawing/2014/main" id="{201E3CC4-451C-FE59-B228-3840FF54CA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756" y="478827"/>
            <a:ext cx="12012488" cy="6473302"/>
          </a:xfrm>
        </p:spPr>
        <p:txBody>
          <a:bodyPr>
            <a:normAutofit fontScale="77500" lnSpcReduction="20000"/>
          </a:bodyPr>
          <a:lstStyle/>
          <a:p>
            <a:r>
              <a:rPr lang="zh-CN" altLang="en-US" sz="7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计算机通信和网络应用</a:t>
            </a:r>
            <a:endParaRPr lang="en-US" altLang="zh-CN" sz="71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 电子商务平台</a:t>
            </a:r>
          </a:p>
          <a:p>
            <a:r>
              <a:rPr lang="zh-CN" altLang="en-US" sz="7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过程控制</a:t>
            </a:r>
          </a:p>
          <a:p>
            <a:pPr marL="457200" lvl="1" indent="0">
              <a:buNone/>
            </a:pP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工业自动化实时控制等</a:t>
            </a:r>
          </a:p>
          <a:p>
            <a:r>
              <a:rPr lang="zh-CN" altLang="en-US" sz="7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计算机辅助系统</a:t>
            </a:r>
          </a:p>
          <a:p>
            <a:pPr marL="457200" lvl="1" indent="0">
              <a:buNone/>
            </a:pPr>
            <a:r>
              <a:rPr lang="en-US" altLang="zh-CN" sz="7000" dirty="0">
                <a:latin typeface="仿宋" panose="02010609060101010101" pitchFamily="49" charset="-122"/>
                <a:ea typeface="仿宋" panose="02010609060101010101" pitchFamily="49" charset="-122"/>
              </a:rPr>
              <a:t>CAD</a:t>
            </a: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7000" dirty="0">
                <a:latin typeface="仿宋" panose="02010609060101010101" pitchFamily="49" charset="-122"/>
                <a:ea typeface="仿宋" panose="02010609060101010101" pitchFamily="49" charset="-122"/>
              </a:rPr>
              <a:t>CAM</a:t>
            </a: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7000" dirty="0">
                <a:latin typeface="仿宋" panose="02010609060101010101" pitchFamily="49" charset="-122"/>
                <a:ea typeface="仿宋" panose="02010609060101010101" pitchFamily="49" charset="-122"/>
              </a:rPr>
              <a:t>CAI</a:t>
            </a: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、</a:t>
            </a:r>
            <a:r>
              <a:rPr lang="en-US" altLang="zh-CN" sz="7000" dirty="0">
                <a:latin typeface="仿宋" panose="02010609060101010101" pitchFamily="49" charset="-122"/>
                <a:ea typeface="仿宋" panose="02010609060101010101" pitchFamily="49" charset="-122"/>
              </a:rPr>
              <a:t>CAT</a:t>
            </a: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等</a:t>
            </a:r>
          </a:p>
          <a:p>
            <a:r>
              <a:rPr lang="zh-CN" altLang="en-US" sz="71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人工智能 </a:t>
            </a:r>
          </a:p>
          <a:p>
            <a:pPr marL="457200" lvl="1" indent="0">
              <a:buNone/>
            </a:pPr>
            <a:r>
              <a:rPr lang="zh-CN" altLang="en-US" sz="7000" dirty="0">
                <a:latin typeface="仿宋" panose="02010609060101010101" pitchFamily="49" charset="-122"/>
                <a:ea typeface="仿宋" panose="02010609060101010101" pitchFamily="49" charset="-122"/>
              </a:rPr>
              <a:t>智能家用电器、智能医生、计算机自动识别系统等 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491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000"/>
                            </p:stCondLst>
                            <p:childTnLst>
                              <p:par>
                                <p:cTn id="3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3000"/>
                            </p:stCondLst>
                            <p:childTnLst>
                              <p:par>
                                <p:cTn id="41" presetID="2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321E-E82E-D9D9-06D6-F9E8EC3BC572}"/>
              </a:ext>
            </a:extLst>
          </p:cNvPr>
          <p:cNvSpPr txBox="1"/>
          <p:nvPr/>
        </p:nvSpPr>
        <p:spPr>
          <a:xfrm>
            <a:off x="-1" y="0"/>
            <a:ext cx="7812741" cy="12609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sz="6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计算机不能做</a:t>
            </a:r>
            <a:endParaRPr lang="en-US" altLang="zh-CN" sz="6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DF3125CC-01DF-F5C7-EA6D-10B74588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562545-50A0-D4F1-2ECF-EF45B142F9F7}"/>
              </a:ext>
            </a:extLst>
          </p:cNvPr>
          <p:cNvSpPr txBox="1"/>
          <p:nvPr/>
        </p:nvSpPr>
        <p:spPr>
          <a:xfrm>
            <a:off x="0" y="1794707"/>
            <a:ext cx="11672048" cy="491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处理语义，能形成概念吗；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具有学习能力，有直觉和思想吗；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边缘意识，能处理模糊问题吗；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能表示嗅觉和触觉吗；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会有情感吗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8772492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889D321E-E82E-D9D9-06D6-F9E8EC3BC572}"/>
              </a:ext>
            </a:extLst>
          </p:cNvPr>
          <p:cNvSpPr txBox="1"/>
          <p:nvPr/>
        </p:nvSpPr>
        <p:spPr>
          <a:xfrm>
            <a:off x="-1" y="0"/>
            <a:ext cx="7812741" cy="1260923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685800" indent="-685800">
              <a:lnSpc>
                <a:spcPct val="150000"/>
              </a:lnSpc>
              <a:spcBef>
                <a:spcPts val="0"/>
              </a:spcBef>
              <a:buSzPct val="90000"/>
              <a:buFont typeface="Wingdings" panose="05000000000000000000" pitchFamily="2" charset="2"/>
              <a:buChar char="l"/>
            </a:pPr>
            <a:r>
              <a:rPr lang="zh-CN" altLang="en-US" sz="6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计算机不能做</a:t>
            </a:r>
            <a:endParaRPr lang="en-US" altLang="zh-CN" sz="6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标题 10">
            <a:extLst>
              <a:ext uri="{FF2B5EF4-FFF2-40B4-BE49-F238E27FC236}">
                <a16:creationId xmlns:a16="http://schemas.microsoft.com/office/drawing/2014/main" id="{DF3125CC-01DF-F5C7-EA6D-10B74588A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5562545-50A0-D4F1-2ECF-EF45B142F9F7}"/>
              </a:ext>
            </a:extLst>
          </p:cNvPr>
          <p:cNvSpPr txBox="1"/>
          <p:nvPr/>
        </p:nvSpPr>
        <p:spPr>
          <a:xfrm>
            <a:off x="0" y="1794707"/>
            <a:ext cx="11672048" cy="49121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无法二进制化的信息；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输入和输出无法确定的任务；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无穷大的数据范围和精度；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有二义性的</a:t>
            </a:r>
            <a:r>
              <a:rPr lang="zh-CN" altLang="en-US" sz="5400" b="1" dirty="0">
                <a:solidFill>
                  <a:prstClr val="black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问题</a:t>
            </a: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；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1028700" marR="0" lvl="1" indent="-5715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无法在有限步骤内完成</a:t>
            </a:r>
            <a:r>
              <a:rPr kumimoji="0" lang="zh-CN" alt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kumimoji="0" lang="en-US" altLang="zh-CN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6865336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6D6A3-9436-3F65-B025-6B71024A1F26}"/>
              </a:ext>
            </a:extLst>
          </p:cNvPr>
          <p:cNvSpPr txBox="1"/>
          <p:nvPr/>
        </p:nvSpPr>
        <p:spPr>
          <a:xfrm>
            <a:off x="53340" y="2179183"/>
            <a:ext cx="12085320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  计算机工具历程是人类文明史的缩影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indent="-9144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手工到机械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indent="-9144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机械到电动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indent="-9144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latin typeface="仿宋" panose="02010609060101010101" pitchFamily="49" charset="-122"/>
                <a:ea typeface="仿宋" panose="02010609060101010101" pitchFamily="49" charset="-122"/>
              </a:rPr>
              <a:t>机电全自动到电子数字</a:t>
            </a: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indent="-914400" algn="just">
              <a:buFont typeface="+mj-ea"/>
              <a:buAutoNum type="circleNumDbPlain"/>
            </a:pPr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/>
            <a:endParaRPr lang="zh-CN" altLang="en-US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C20C7B-8F05-FC9A-51E4-4DBC8693FF66}"/>
              </a:ext>
            </a:extLst>
          </p:cNvPr>
          <p:cNvSpPr txBox="1"/>
          <p:nvPr/>
        </p:nvSpPr>
        <p:spPr>
          <a:xfrm>
            <a:off x="152400" y="1554885"/>
            <a:ext cx="6187440" cy="101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计算工具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20656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6D6A3-9436-3F65-B025-6B71024A1F26}"/>
              </a:ext>
            </a:extLst>
          </p:cNvPr>
          <p:cNvSpPr txBox="1"/>
          <p:nvPr/>
        </p:nvSpPr>
        <p:spPr>
          <a:xfrm>
            <a:off x="152400" y="2273505"/>
            <a:ext cx="4533899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algn="just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5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手工到机械</a:t>
            </a:r>
            <a:endParaRPr lang="en-US" altLang="zh-CN" sz="50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/>
            <a:endParaRPr lang="zh-CN" altLang="en-US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C20C7B-8F05-FC9A-51E4-4DBC8693FF66}"/>
              </a:ext>
            </a:extLst>
          </p:cNvPr>
          <p:cNvSpPr txBox="1"/>
          <p:nvPr/>
        </p:nvSpPr>
        <p:spPr>
          <a:xfrm>
            <a:off x="152400" y="1554885"/>
            <a:ext cx="6187440" cy="101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计算工具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7627ED8-6BDF-0FB6-E4B8-92075C3AEBDE}"/>
              </a:ext>
            </a:extLst>
          </p:cNvPr>
          <p:cNvGrpSpPr/>
          <p:nvPr/>
        </p:nvGrpSpPr>
        <p:grpSpPr>
          <a:xfrm>
            <a:off x="-166499" y="3856377"/>
            <a:ext cx="5652223" cy="2540395"/>
            <a:chOff x="322000" y="3656915"/>
            <a:chExt cx="5652223" cy="2540395"/>
          </a:xfrm>
        </p:grpSpPr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C60F9BF-18A3-4B6F-E3F6-CE37A3B33CEB}"/>
                </a:ext>
              </a:extLst>
            </p:cNvPr>
            <p:cNvGrpSpPr/>
            <p:nvPr/>
          </p:nvGrpSpPr>
          <p:grpSpPr>
            <a:xfrm>
              <a:off x="933593" y="3656915"/>
              <a:ext cx="2059162" cy="1760220"/>
              <a:chOff x="4530089" y="1800007"/>
              <a:chExt cx="2059162" cy="1760220"/>
            </a:xfrm>
          </p:grpSpPr>
          <p:pic>
            <p:nvPicPr>
              <p:cNvPr id="3" name="图片 2">
                <a:extLst>
                  <a:ext uri="{FF2B5EF4-FFF2-40B4-BE49-F238E27FC236}">
                    <a16:creationId xmlns:a16="http://schemas.microsoft.com/office/drawing/2014/main" id="{4CF71C23-A9DC-D862-DF41-1EC389A5BD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530089" y="1800007"/>
                <a:ext cx="1280160" cy="1760220"/>
              </a:xfrm>
              <a:prstGeom prst="rect">
                <a:avLst/>
              </a:prstGeom>
            </p:spPr>
          </p:pic>
          <p:pic>
            <p:nvPicPr>
              <p:cNvPr id="4" name="图片 3">
                <a:extLst>
                  <a:ext uri="{FF2B5EF4-FFF2-40B4-BE49-F238E27FC236}">
                    <a16:creationId xmlns:a16="http://schemas.microsoft.com/office/drawing/2014/main" id="{722286E1-DDD7-8DE2-6663-33DEF62F36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560838" y="1816354"/>
                <a:ext cx="1028413" cy="1611181"/>
              </a:xfrm>
              <a:prstGeom prst="rect">
                <a:avLst/>
              </a:prstGeom>
            </p:spPr>
          </p:pic>
        </p:grpSp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FE41EC6-4701-79A6-AD03-2D3DDFE4DE15}"/>
                </a:ext>
              </a:extLst>
            </p:cNvPr>
            <p:cNvSpPr txBox="1"/>
            <p:nvPr/>
          </p:nvSpPr>
          <p:spPr>
            <a:xfrm>
              <a:off x="322000" y="5489424"/>
              <a:ext cx="5652223" cy="70788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4000" b="1" dirty="0">
                  <a:latin typeface="仿宋" panose="02010609060101010101" pitchFamily="49" charset="-122"/>
                  <a:ea typeface="仿宋" panose="02010609060101010101" pitchFamily="49" charset="-122"/>
                </a:rPr>
                <a:t>结绳，石头计数，算盘</a:t>
              </a:r>
              <a:endParaRPr lang="zh-CN" altLang="en-US" sz="4000" dirty="0"/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849B308-6FD4-6265-DAB1-F84DC09AF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78405" y="0"/>
            <a:ext cx="6513595" cy="4945295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DD43E97B-3B7B-6BA9-B84A-8FBA0DB67360}"/>
              </a:ext>
            </a:extLst>
          </p:cNvPr>
          <p:cNvSpPr txBox="1"/>
          <p:nvPr/>
        </p:nvSpPr>
        <p:spPr>
          <a:xfrm>
            <a:off x="7056796" y="5063192"/>
            <a:ext cx="51352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1822</a:t>
            </a:r>
            <a:r>
              <a:rPr lang="zh-CN" altLang="en-US" sz="4000" b="1" dirty="0">
                <a:latin typeface="仿宋" panose="02010609060101010101" pitchFamily="49" charset="-122"/>
                <a:ea typeface="仿宋" panose="02010609060101010101" pitchFamily="49" charset="-122"/>
              </a:rPr>
              <a:t>年巴贝奇差分机</a:t>
            </a:r>
            <a:endParaRPr lang="zh-CN" altLang="en-US" sz="40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03901D3-5209-B66D-0303-7CB5C8C6C7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63080" y="3526222"/>
            <a:ext cx="3705225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213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50A6D6A3-9436-3F65-B025-6B71024A1F26}"/>
              </a:ext>
            </a:extLst>
          </p:cNvPr>
          <p:cNvSpPr txBox="1"/>
          <p:nvPr/>
        </p:nvSpPr>
        <p:spPr>
          <a:xfrm>
            <a:off x="53340" y="2179183"/>
            <a:ext cx="12085320" cy="5416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5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机械到电动</a:t>
            </a:r>
            <a:endParaRPr lang="en-US" altLang="zh-CN" sz="5000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R="0" lvl="1" algn="just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1884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年，第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台电动计算机，用于人口普查。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1931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年， “微分分析仪”。</a:t>
            </a:r>
            <a:endParaRPr lang="en-US" altLang="zh-CN" sz="72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914400" indent="-914400" algn="just">
              <a:lnSpc>
                <a:spcPct val="150000"/>
              </a:lnSpc>
              <a:buFont typeface="+mj-ea"/>
              <a:buAutoNum type="circleNumDbPlain" startAt="2"/>
            </a:pPr>
            <a:r>
              <a:rPr lang="zh-CN" altLang="en-US" sz="5000" b="1" dirty="0">
                <a:solidFill>
                  <a:srgbClr val="0000FF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机电全自动到电子数字</a:t>
            </a:r>
            <a:endParaRPr lang="en-US" altLang="zh-CN" sz="5000" b="1" dirty="0">
              <a:solidFill>
                <a:srgbClr val="0000FF"/>
              </a:solidFill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/>
            <a:endParaRPr lang="en-US" altLang="zh-CN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algn="just"/>
            <a:endParaRPr lang="zh-CN" altLang="en-US" sz="5000" b="1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CC20C7B-8F05-FC9A-51E4-4DBC8693FF66}"/>
              </a:ext>
            </a:extLst>
          </p:cNvPr>
          <p:cNvSpPr txBox="1"/>
          <p:nvPr/>
        </p:nvSpPr>
        <p:spPr>
          <a:xfrm>
            <a:off x="152400" y="1554885"/>
            <a:ext cx="6187440" cy="1013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计算工具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  </a:t>
            </a:r>
            <a:endParaRPr kumimoji="0" lang="en-US" altLang="zh-CN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965F135-4E22-266B-FEC9-6057EAAA22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6385" y="-421706"/>
            <a:ext cx="6772275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9223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9730" y="1440865"/>
            <a:ext cx="105156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6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计算工具</a:t>
            </a:r>
            <a:endParaRPr lang="en-US" altLang="zh-CN" sz="6600" dirty="0">
              <a:solidFill>
                <a:schemeClr val="accent2">
                  <a:lumMod val="50000"/>
                </a:schemeClr>
              </a:solidFill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9FEE5BE-53E7-A148-2B1D-E29944F6BB9B}"/>
              </a:ext>
            </a:extLst>
          </p:cNvPr>
          <p:cNvGrpSpPr/>
          <p:nvPr/>
        </p:nvGrpSpPr>
        <p:grpSpPr>
          <a:xfrm>
            <a:off x="838200" y="2599161"/>
            <a:ext cx="11157438" cy="3409260"/>
            <a:chOff x="838200" y="1870551"/>
            <a:chExt cx="11157438" cy="340926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03104A8E-645F-8866-51B4-667A5A3E7810}"/>
                </a:ext>
              </a:extLst>
            </p:cNvPr>
            <p:cNvGrpSpPr/>
            <p:nvPr/>
          </p:nvGrpSpPr>
          <p:grpSpPr>
            <a:xfrm>
              <a:off x="838200" y="1951507"/>
              <a:ext cx="11157438" cy="3328304"/>
              <a:chOff x="685800" y="909973"/>
              <a:chExt cx="11157438" cy="3328304"/>
            </a:xfrm>
          </p:grpSpPr>
          <p:sp>
            <p:nvSpPr>
              <p:cNvPr id="5" name="右箭头 6">
                <a:extLst>
                  <a:ext uri="{FF2B5EF4-FFF2-40B4-BE49-F238E27FC236}">
                    <a16:creationId xmlns:a16="http://schemas.microsoft.com/office/drawing/2014/main" id="{436B8FE3-488C-E925-CEB1-AF94C13AFB2C}"/>
                  </a:ext>
                </a:extLst>
              </p:cNvPr>
              <p:cNvSpPr/>
              <p:nvPr/>
            </p:nvSpPr>
            <p:spPr>
              <a:xfrm>
                <a:off x="685800" y="909973"/>
                <a:ext cx="11157438" cy="3328304"/>
              </a:xfrm>
              <a:prstGeom prst="rightArrow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scene3d>
                <a:camera prst="orthographicFront"/>
                <a:lightRig rig="threePt" dir="t">
                  <a:rot lat="0" lon="0" rev="7500000"/>
                </a:lightRig>
              </a:scene3d>
              <a:sp3d z="-152400" extrusionH="63500" prstMaterial="matte">
                <a:bevelT w="144450" h="6350" prst="relaxedInset"/>
                <a:contourClr>
                  <a:schemeClr val="bg1"/>
                </a:contourClr>
              </a:sp3d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6" name="任意多边形 7">
                <a:extLst>
                  <a:ext uri="{FF2B5EF4-FFF2-40B4-BE49-F238E27FC236}">
                    <a16:creationId xmlns:a16="http://schemas.microsoft.com/office/drawing/2014/main" id="{243669A8-AF6B-32D6-F6CA-B27D2D1F3F45}"/>
                  </a:ext>
                </a:extLst>
              </p:cNvPr>
              <p:cNvSpPr/>
              <p:nvPr/>
            </p:nvSpPr>
            <p:spPr>
              <a:xfrm>
                <a:off x="1001638" y="1930266"/>
                <a:ext cx="1987748" cy="1287719"/>
              </a:xfrm>
              <a:custGeom>
                <a:avLst/>
                <a:gdLst>
                  <a:gd name="connsiteX0" fmla="*/ 0 w 2445194"/>
                  <a:gd name="connsiteY0" fmla="*/ 226065 h 1356360"/>
                  <a:gd name="connsiteX1" fmla="*/ 226065 w 2445194"/>
                  <a:gd name="connsiteY1" fmla="*/ 0 h 1356360"/>
                  <a:gd name="connsiteX2" fmla="*/ 2219129 w 2445194"/>
                  <a:gd name="connsiteY2" fmla="*/ 0 h 1356360"/>
                  <a:gd name="connsiteX3" fmla="*/ 2445194 w 2445194"/>
                  <a:gd name="connsiteY3" fmla="*/ 226065 h 1356360"/>
                  <a:gd name="connsiteX4" fmla="*/ 2445194 w 2445194"/>
                  <a:gd name="connsiteY4" fmla="*/ 1130295 h 1356360"/>
                  <a:gd name="connsiteX5" fmla="*/ 2219129 w 2445194"/>
                  <a:gd name="connsiteY5" fmla="*/ 1356360 h 1356360"/>
                  <a:gd name="connsiteX6" fmla="*/ 226065 w 2445194"/>
                  <a:gd name="connsiteY6" fmla="*/ 1356360 h 1356360"/>
                  <a:gd name="connsiteX7" fmla="*/ 0 w 2445194"/>
                  <a:gd name="connsiteY7" fmla="*/ 1130295 h 1356360"/>
                  <a:gd name="connsiteX8" fmla="*/ 0 w 2445194"/>
                  <a:gd name="connsiteY8" fmla="*/ 226065 h 135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45194" h="1356360">
                    <a:moveTo>
                      <a:pt x="0" y="226065"/>
                    </a:moveTo>
                    <a:cubicBezTo>
                      <a:pt x="0" y="101213"/>
                      <a:pt x="101213" y="0"/>
                      <a:pt x="226065" y="0"/>
                    </a:cubicBezTo>
                    <a:lnTo>
                      <a:pt x="2219129" y="0"/>
                    </a:lnTo>
                    <a:cubicBezTo>
                      <a:pt x="2343981" y="0"/>
                      <a:pt x="2445194" y="101213"/>
                      <a:pt x="2445194" y="226065"/>
                    </a:cubicBezTo>
                    <a:lnTo>
                      <a:pt x="2445194" y="1130295"/>
                    </a:lnTo>
                    <a:cubicBezTo>
                      <a:pt x="2445194" y="1255147"/>
                      <a:pt x="2343981" y="1356360"/>
                      <a:pt x="2219129" y="1356360"/>
                    </a:cubicBezTo>
                    <a:lnTo>
                      <a:pt x="226065" y="1356360"/>
                    </a:lnTo>
                    <a:cubicBezTo>
                      <a:pt x="101213" y="1356360"/>
                      <a:pt x="0" y="1255147"/>
                      <a:pt x="0" y="1130295"/>
                    </a:cubicBezTo>
                    <a:lnTo>
                      <a:pt x="0" y="226065"/>
                    </a:lnTo>
                    <a:close/>
                  </a:path>
                </a:pathLst>
              </a:custGeom>
              <a:scene3d>
                <a:camera prst="orthographicFront"/>
                <a:lightRig rig="threePt" dir="t">
                  <a:rot lat="0" lon="0" rev="7500000"/>
                </a:lightRig>
              </a:scene3d>
              <a:sp3d prstMaterial="plastic">
                <a:bevelT w="127000" h="254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5">
                  <a:hueOff val="0"/>
                  <a:satOff val="0"/>
                  <a:lumOff val="0"/>
                  <a:alphaOff val="0"/>
                </a:schemeClr>
              </a:fillRef>
              <a:effectRef idx="2">
                <a:schemeClr val="accent5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2892" tIns="172892" rIns="172892" bIns="172892" numCol="1" spcCol="1270" anchor="ctr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4800" b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计算工具</a:t>
                </a:r>
              </a:p>
            </p:txBody>
          </p:sp>
          <p:sp>
            <p:nvSpPr>
              <p:cNvPr id="8" name="任意多边形 8">
                <a:extLst>
                  <a:ext uri="{FF2B5EF4-FFF2-40B4-BE49-F238E27FC236}">
                    <a16:creationId xmlns:a16="http://schemas.microsoft.com/office/drawing/2014/main" id="{660F155A-716D-1E09-4EB5-6AB7FCFBA128}"/>
                  </a:ext>
                </a:extLst>
              </p:cNvPr>
              <p:cNvSpPr/>
              <p:nvPr/>
            </p:nvSpPr>
            <p:spPr>
              <a:xfrm>
                <a:off x="3149483" y="1930266"/>
                <a:ext cx="2222617" cy="1287719"/>
              </a:xfrm>
              <a:custGeom>
                <a:avLst/>
                <a:gdLst>
                  <a:gd name="connsiteX0" fmla="*/ 0 w 2445194"/>
                  <a:gd name="connsiteY0" fmla="*/ 226065 h 1356360"/>
                  <a:gd name="connsiteX1" fmla="*/ 226065 w 2445194"/>
                  <a:gd name="connsiteY1" fmla="*/ 0 h 1356360"/>
                  <a:gd name="connsiteX2" fmla="*/ 2219129 w 2445194"/>
                  <a:gd name="connsiteY2" fmla="*/ 0 h 1356360"/>
                  <a:gd name="connsiteX3" fmla="*/ 2445194 w 2445194"/>
                  <a:gd name="connsiteY3" fmla="*/ 226065 h 1356360"/>
                  <a:gd name="connsiteX4" fmla="*/ 2445194 w 2445194"/>
                  <a:gd name="connsiteY4" fmla="*/ 1130295 h 1356360"/>
                  <a:gd name="connsiteX5" fmla="*/ 2219129 w 2445194"/>
                  <a:gd name="connsiteY5" fmla="*/ 1356360 h 1356360"/>
                  <a:gd name="connsiteX6" fmla="*/ 226065 w 2445194"/>
                  <a:gd name="connsiteY6" fmla="*/ 1356360 h 1356360"/>
                  <a:gd name="connsiteX7" fmla="*/ 0 w 2445194"/>
                  <a:gd name="connsiteY7" fmla="*/ 1130295 h 1356360"/>
                  <a:gd name="connsiteX8" fmla="*/ 0 w 2445194"/>
                  <a:gd name="connsiteY8" fmla="*/ 226065 h 135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45194" h="1356360">
                    <a:moveTo>
                      <a:pt x="0" y="226065"/>
                    </a:moveTo>
                    <a:cubicBezTo>
                      <a:pt x="0" y="101213"/>
                      <a:pt x="101213" y="0"/>
                      <a:pt x="226065" y="0"/>
                    </a:cubicBezTo>
                    <a:lnTo>
                      <a:pt x="2219129" y="0"/>
                    </a:lnTo>
                    <a:cubicBezTo>
                      <a:pt x="2343981" y="0"/>
                      <a:pt x="2445194" y="101213"/>
                      <a:pt x="2445194" y="226065"/>
                    </a:cubicBezTo>
                    <a:lnTo>
                      <a:pt x="2445194" y="1130295"/>
                    </a:lnTo>
                    <a:cubicBezTo>
                      <a:pt x="2445194" y="1255147"/>
                      <a:pt x="2343981" y="1356360"/>
                      <a:pt x="2219129" y="1356360"/>
                    </a:cubicBezTo>
                    <a:lnTo>
                      <a:pt x="226065" y="1356360"/>
                    </a:lnTo>
                    <a:cubicBezTo>
                      <a:pt x="101213" y="1356360"/>
                      <a:pt x="0" y="1255147"/>
                      <a:pt x="0" y="1130295"/>
                    </a:cubicBezTo>
                    <a:lnTo>
                      <a:pt x="0" y="226065"/>
                    </a:lnTo>
                    <a:close/>
                  </a:path>
                </a:pathLst>
              </a:custGeom>
              <a:scene3d>
                <a:camera prst="orthographicFront"/>
                <a:lightRig rig="threePt" dir="t">
                  <a:rot lat="0" lon="0" rev="7500000"/>
                </a:lightRig>
              </a:scene3d>
              <a:sp3d prstMaterial="plastic">
                <a:bevelT w="127000" h="254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5">
                  <a:hueOff val="-3311292"/>
                  <a:satOff val="13270"/>
                  <a:lumOff val="2876"/>
                  <a:alphaOff val="0"/>
                </a:schemeClr>
              </a:fillRef>
              <a:effectRef idx="2">
                <a:schemeClr val="accent5">
                  <a:hueOff val="-3311292"/>
                  <a:satOff val="13270"/>
                  <a:lumOff val="2876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2892" tIns="172892" rIns="172892" bIns="172892" numCol="1" spcCol="1270" anchor="ctr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4800" b="1" kern="120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计算机器</a:t>
                </a:r>
              </a:p>
            </p:txBody>
          </p:sp>
          <p:sp>
            <p:nvSpPr>
              <p:cNvPr id="9" name="任意多边形 9">
                <a:extLst>
                  <a:ext uri="{FF2B5EF4-FFF2-40B4-BE49-F238E27FC236}">
                    <a16:creationId xmlns:a16="http://schemas.microsoft.com/office/drawing/2014/main" id="{07671EC7-0F44-091B-D707-A7DC746549D2}"/>
                  </a:ext>
                </a:extLst>
              </p:cNvPr>
              <p:cNvSpPr/>
              <p:nvPr/>
            </p:nvSpPr>
            <p:spPr>
              <a:xfrm>
                <a:off x="5675130" y="1930266"/>
                <a:ext cx="2343456" cy="1287719"/>
              </a:xfrm>
              <a:custGeom>
                <a:avLst/>
                <a:gdLst>
                  <a:gd name="connsiteX0" fmla="*/ 0 w 2445194"/>
                  <a:gd name="connsiteY0" fmla="*/ 226065 h 1356360"/>
                  <a:gd name="connsiteX1" fmla="*/ 226065 w 2445194"/>
                  <a:gd name="connsiteY1" fmla="*/ 0 h 1356360"/>
                  <a:gd name="connsiteX2" fmla="*/ 2219129 w 2445194"/>
                  <a:gd name="connsiteY2" fmla="*/ 0 h 1356360"/>
                  <a:gd name="connsiteX3" fmla="*/ 2445194 w 2445194"/>
                  <a:gd name="connsiteY3" fmla="*/ 226065 h 1356360"/>
                  <a:gd name="connsiteX4" fmla="*/ 2445194 w 2445194"/>
                  <a:gd name="connsiteY4" fmla="*/ 1130295 h 1356360"/>
                  <a:gd name="connsiteX5" fmla="*/ 2219129 w 2445194"/>
                  <a:gd name="connsiteY5" fmla="*/ 1356360 h 1356360"/>
                  <a:gd name="connsiteX6" fmla="*/ 226065 w 2445194"/>
                  <a:gd name="connsiteY6" fmla="*/ 1356360 h 1356360"/>
                  <a:gd name="connsiteX7" fmla="*/ 0 w 2445194"/>
                  <a:gd name="connsiteY7" fmla="*/ 1130295 h 1356360"/>
                  <a:gd name="connsiteX8" fmla="*/ 0 w 2445194"/>
                  <a:gd name="connsiteY8" fmla="*/ 226065 h 135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45194" h="1356360">
                    <a:moveTo>
                      <a:pt x="0" y="226065"/>
                    </a:moveTo>
                    <a:cubicBezTo>
                      <a:pt x="0" y="101213"/>
                      <a:pt x="101213" y="0"/>
                      <a:pt x="226065" y="0"/>
                    </a:cubicBezTo>
                    <a:lnTo>
                      <a:pt x="2219129" y="0"/>
                    </a:lnTo>
                    <a:cubicBezTo>
                      <a:pt x="2343981" y="0"/>
                      <a:pt x="2445194" y="101213"/>
                      <a:pt x="2445194" y="226065"/>
                    </a:cubicBezTo>
                    <a:lnTo>
                      <a:pt x="2445194" y="1130295"/>
                    </a:lnTo>
                    <a:cubicBezTo>
                      <a:pt x="2445194" y="1255147"/>
                      <a:pt x="2343981" y="1356360"/>
                      <a:pt x="2219129" y="1356360"/>
                    </a:cubicBezTo>
                    <a:lnTo>
                      <a:pt x="226065" y="1356360"/>
                    </a:lnTo>
                    <a:cubicBezTo>
                      <a:pt x="101213" y="1356360"/>
                      <a:pt x="0" y="1255147"/>
                      <a:pt x="0" y="1130295"/>
                    </a:cubicBezTo>
                    <a:lnTo>
                      <a:pt x="0" y="226065"/>
                    </a:lnTo>
                    <a:close/>
                  </a:path>
                </a:pathLst>
              </a:custGeom>
              <a:scene3d>
                <a:camera prst="orthographicFront"/>
                <a:lightRig rig="threePt" dir="t">
                  <a:rot lat="0" lon="0" rev="7500000"/>
                </a:lightRig>
              </a:scene3d>
              <a:sp3d prstMaterial="plastic">
                <a:bevelT w="127000" h="254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5">
                  <a:hueOff val="-6622584"/>
                  <a:satOff val="26541"/>
                  <a:lumOff val="5752"/>
                  <a:alphaOff val="0"/>
                </a:schemeClr>
              </a:fillRef>
              <a:effectRef idx="2">
                <a:schemeClr val="accent5">
                  <a:hueOff val="-6622584"/>
                  <a:satOff val="26541"/>
                  <a:lumOff val="5752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2892" tIns="172892" rIns="172892" bIns="172892" numCol="1" spcCol="1270" anchor="ctr" anchorCtr="0">
                <a:noAutofit/>
              </a:bodyPr>
              <a:lstStyle/>
              <a:p>
                <a:pPr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4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现代计算机</a:t>
                </a:r>
              </a:p>
            </p:txBody>
          </p:sp>
          <p:sp>
            <p:nvSpPr>
              <p:cNvPr id="10" name="任意多边形 10">
                <a:extLst>
                  <a:ext uri="{FF2B5EF4-FFF2-40B4-BE49-F238E27FC236}">
                    <a16:creationId xmlns:a16="http://schemas.microsoft.com/office/drawing/2014/main" id="{214DF57F-ED83-3CE0-03CC-310BF61B6D1A}"/>
                  </a:ext>
                </a:extLst>
              </p:cNvPr>
              <p:cNvSpPr/>
              <p:nvPr/>
            </p:nvSpPr>
            <p:spPr>
              <a:xfrm>
                <a:off x="8200969" y="1930266"/>
                <a:ext cx="2200331" cy="1287719"/>
              </a:xfrm>
              <a:custGeom>
                <a:avLst/>
                <a:gdLst>
                  <a:gd name="connsiteX0" fmla="*/ 0 w 2445194"/>
                  <a:gd name="connsiteY0" fmla="*/ 226065 h 1356360"/>
                  <a:gd name="connsiteX1" fmla="*/ 226065 w 2445194"/>
                  <a:gd name="connsiteY1" fmla="*/ 0 h 1356360"/>
                  <a:gd name="connsiteX2" fmla="*/ 2219129 w 2445194"/>
                  <a:gd name="connsiteY2" fmla="*/ 0 h 1356360"/>
                  <a:gd name="connsiteX3" fmla="*/ 2445194 w 2445194"/>
                  <a:gd name="connsiteY3" fmla="*/ 226065 h 1356360"/>
                  <a:gd name="connsiteX4" fmla="*/ 2445194 w 2445194"/>
                  <a:gd name="connsiteY4" fmla="*/ 1130295 h 1356360"/>
                  <a:gd name="connsiteX5" fmla="*/ 2219129 w 2445194"/>
                  <a:gd name="connsiteY5" fmla="*/ 1356360 h 1356360"/>
                  <a:gd name="connsiteX6" fmla="*/ 226065 w 2445194"/>
                  <a:gd name="connsiteY6" fmla="*/ 1356360 h 1356360"/>
                  <a:gd name="connsiteX7" fmla="*/ 0 w 2445194"/>
                  <a:gd name="connsiteY7" fmla="*/ 1130295 h 1356360"/>
                  <a:gd name="connsiteX8" fmla="*/ 0 w 2445194"/>
                  <a:gd name="connsiteY8" fmla="*/ 226065 h 13563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445194" h="1356360">
                    <a:moveTo>
                      <a:pt x="0" y="226065"/>
                    </a:moveTo>
                    <a:cubicBezTo>
                      <a:pt x="0" y="101213"/>
                      <a:pt x="101213" y="0"/>
                      <a:pt x="226065" y="0"/>
                    </a:cubicBezTo>
                    <a:lnTo>
                      <a:pt x="2219129" y="0"/>
                    </a:lnTo>
                    <a:cubicBezTo>
                      <a:pt x="2343981" y="0"/>
                      <a:pt x="2445194" y="101213"/>
                      <a:pt x="2445194" y="226065"/>
                    </a:cubicBezTo>
                    <a:lnTo>
                      <a:pt x="2445194" y="1130295"/>
                    </a:lnTo>
                    <a:cubicBezTo>
                      <a:pt x="2445194" y="1255147"/>
                      <a:pt x="2343981" y="1356360"/>
                      <a:pt x="2219129" y="1356360"/>
                    </a:cubicBezTo>
                    <a:lnTo>
                      <a:pt x="226065" y="1356360"/>
                    </a:lnTo>
                    <a:cubicBezTo>
                      <a:pt x="101213" y="1356360"/>
                      <a:pt x="0" y="1255147"/>
                      <a:pt x="0" y="1130295"/>
                    </a:cubicBezTo>
                    <a:lnTo>
                      <a:pt x="0" y="226065"/>
                    </a:lnTo>
                    <a:close/>
                  </a:path>
                </a:pathLst>
              </a:custGeom>
              <a:scene3d>
                <a:camera prst="orthographicFront"/>
                <a:lightRig rig="threePt" dir="t">
                  <a:rot lat="0" lon="0" rev="7500000"/>
                </a:lightRig>
              </a:scene3d>
              <a:sp3d prstMaterial="plastic">
                <a:bevelT w="127000" h="25400" prst="relaxedInset"/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3">
                <a:schemeClr val="accent5">
                  <a:hueOff val="-9933876"/>
                  <a:satOff val="39811"/>
                  <a:lumOff val="8628"/>
                  <a:alphaOff val="0"/>
                </a:schemeClr>
              </a:fillRef>
              <a:effectRef idx="2">
                <a:schemeClr val="accent5">
                  <a:hueOff val="-9933876"/>
                  <a:satOff val="39811"/>
                  <a:lumOff val="8628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72892" tIns="172892" rIns="172892" bIns="172892" numCol="1" spcCol="1270" anchor="ctr" anchorCtr="0">
                <a:noAutofit/>
              </a:bodyPr>
              <a:lstStyle/>
              <a:p>
                <a:pPr lvl="0" algn="ctr" defTabSz="12446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zh-CN" altLang="en-US" sz="4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微型计算机</a:t>
                </a:r>
              </a:p>
            </p:txBody>
          </p:sp>
        </p:grp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EAC61CD-6C2C-FFD3-61D2-A7BB623F7208}"/>
                </a:ext>
              </a:extLst>
            </p:cNvPr>
            <p:cNvSpPr txBox="1"/>
            <p:nvPr/>
          </p:nvSpPr>
          <p:spPr>
            <a:xfrm>
              <a:off x="1083810" y="1950007"/>
              <a:ext cx="1745397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手工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9BCC15F5-7CFF-6983-D679-6CA9335972DF}"/>
                </a:ext>
              </a:extLst>
            </p:cNvPr>
            <p:cNvSpPr txBox="1"/>
            <p:nvPr/>
          </p:nvSpPr>
          <p:spPr>
            <a:xfrm>
              <a:off x="2937535" y="1908283"/>
              <a:ext cx="3158465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机械</a:t>
              </a:r>
              <a:r>
                <a:rPr kumimoji="0" lang="en-US" altLang="zh-CN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-</a:t>
              </a:r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电动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775B569-1386-7DDC-1170-3D748FB7CBF2}"/>
                </a:ext>
              </a:extLst>
            </p:cNvPr>
            <p:cNvSpPr txBox="1"/>
            <p:nvPr/>
          </p:nvSpPr>
          <p:spPr>
            <a:xfrm>
              <a:off x="6802787" y="1870551"/>
              <a:ext cx="3158465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en-US" sz="5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仿宋" panose="02010609060101010101" pitchFamily="49" charset="-122"/>
                  <a:ea typeface="仿宋" panose="02010609060101010101" pitchFamily="49" charset="-122"/>
                  <a:cs typeface="+mn-cs"/>
                </a:rPr>
                <a:t>电动数字</a:t>
              </a:r>
              <a:endParaRPr lang="zh-CN" altLang="en-US" dirty="0">
                <a:solidFill>
                  <a:srgbClr val="0000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19574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D1A8A80-C706-179E-4FFD-1B574CEBE068}"/>
              </a:ext>
            </a:extLst>
          </p:cNvPr>
          <p:cNvGrpSpPr>
            <a:grpSpLocks/>
          </p:cNvGrpSpPr>
          <p:nvPr/>
        </p:nvGrpSpPr>
        <p:grpSpPr bwMode="auto">
          <a:xfrm>
            <a:off x="299571" y="-30581"/>
            <a:ext cx="12208221" cy="7208757"/>
            <a:chOff x="42" y="-243"/>
            <a:chExt cx="12968" cy="1008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4E6C56FB-E57A-D9A4-2DD0-8B35D5AFF7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" y="-243"/>
              <a:ext cx="12968" cy="10084"/>
              <a:chOff x="42" y="-243"/>
              <a:chExt cx="12968" cy="10084"/>
            </a:xfrm>
          </p:grpSpPr>
          <p:pic>
            <p:nvPicPr>
              <p:cNvPr id="7" name="Picture 5" descr="算盘">
                <a:extLst>
                  <a:ext uri="{FF2B5EF4-FFF2-40B4-BE49-F238E27FC236}">
                    <a16:creationId xmlns:a16="http://schemas.microsoft.com/office/drawing/2014/main" id="{C41D9DA4-0E86-32C1-763F-1D51EE7B3B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2" y="920"/>
                <a:ext cx="3310" cy="1960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8" name="Group 6">
                <a:extLst>
                  <a:ext uri="{FF2B5EF4-FFF2-40B4-BE49-F238E27FC236}">
                    <a16:creationId xmlns:a16="http://schemas.microsoft.com/office/drawing/2014/main" id="{1AFD1181-A451-91AF-2322-9155A2BDAF3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2135" y="455"/>
                <a:ext cx="7546" cy="3660"/>
                <a:chOff x="-1321" y="0"/>
                <a:chExt cx="5791" cy="2808"/>
              </a:xfrm>
            </p:grpSpPr>
            <p:pic>
              <p:nvPicPr>
                <p:cNvPr id="18" name="Picture 7" descr="PASCAL1">
                  <a:extLst>
                    <a:ext uri="{FF2B5EF4-FFF2-40B4-BE49-F238E27FC236}">
                      <a16:creationId xmlns:a16="http://schemas.microsoft.com/office/drawing/2014/main" id="{1A22F3AC-7EDA-AC33-06D0-09C200B2BC5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-3615" t="-3658" r="2629" b="2682"/>
                <a:stretch>
                  <a:fillRect/>
                </a:stretch>
              </p:blipFill>
              <p:spPr bwMode="auto">
                <a:xfrm>
                  <a:off x="0" y="0"/>
                  <a:ext cx="3480" cy="2355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9" name="Text Box 8">
                  <a:extLst>
                    <a:ext uri="{FF2B5EF4-FFF2-40B4-BE49-F238E27FC236}">
                      <a16:creationId xmlns:a16="http://schemas.microsoft.com/office/drawing/2014/main" id="{2B9325FA-2394-9EED-2E50-F0D037ADD071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-1321" y="2218"/>
                  <a:ext cx="5791" cy="59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0" hangingPunct="0"/>
                  <a:r>
                    <a:rPr lang="zh-CN" altLang="en-US" sz="44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帕斯卡加法机</a:t>
                  </a:r>
                </a:p>
              </p:txBody>
            </p:sp>
          </p:grpSp>
          <p:grpSp>
            <p:nvGrpSpPr>
              <p:cNvPr id="9" name="Group 9">
                <a:extLst>
                  <a:ext uri="{FF2B5EF4-FFF2-40B4-BE49-F238E27FC236}">
                    <a16:creationId xmlns:a16="http://schemas.microsoft.com/office/drawing/2014/main" id="{1B734BAA-CF88-EFEF-4478-1CBC50993727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1134" y="4649"/>
                <a:ext cx="4535" cy="2997"/>
                <a:chOff x="0" y="0"/>
                <a:chExt cx="3780" cy="2496"/>
              </a:xfrm>
            </p:grpSpPr>
            <p:pic>
              <p:nvPicPr>
                <p:cNvPr id="16" name="Picture 10" descr="leibniz">
                  <a:extLst>
                    <a:ext uri="{FF2B5EF4-FFF2-40B4-BE49-F238E27FC236}">
                      <a16:creationId xmlns:a16="http://schemas.microsoft.com/office/drawing/2014/main" id="{1DA81D0F-9BCF-9718-1CE8-D817540829D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0" y="0"/>
                  <a:ext cx="3780" cy="1994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7" name="Text Box 11">
                  <a:extLst>
                    <a:ext uri="{FF2B5EF4-FFF2-40B4-BE49-F238E27FC236}">
                      <a16:creationId xmlns:a16="http://schemas.microsoft.com/office/drawing/2014/main" id="{F4D85971-CE46-5E0D-D448-79174DD86544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360" y="2184"/>
                  <a:ext cx="3060" cy="31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 eaLnBrk="0" hangingPunct="0"/>
                  <a:r>
                    <a:rPr lang="zh-CN" altLang="zh-CN" sz="44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 </a:t>
                  </a:r>
                  <a:r>
                    <a:rPr lang="zh-CN" altLang="en-US" sz="44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仿宋" panose="02010609060101010101" pitchFamily="49" charset="-122"/>
                      <a:ea typeface="仿宋" panose="02010609060101010101" pitchFamily="49" charset="-122"/>
                    </a:rPr>
                    <a:t>莱布尼兹乘法机</a:t>
                  </a:r>
                </a:p>
              </p:txBody>
            </p:sp>
          </p:grpSp>
          <p:grpSp>
            <p:nvGrpSpPr>
              <p:cNvPr id="10" name="Group 12">
                <a:extLst>
                  <a:ext uri="{FF2B5EF4-FFF2-40B4-BE49-F238E27FC236}">
                    <a16:creationId xmlns:a16="http://schemas.microsoft.com/office/drawing/2014/main" id="{93F66CAF-F299-3123-E16C-29DD39F7A47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359" y="-243"/>
                <a:ext cx="4651" cy="5415"/>
                <a:chOff x="-259" y="-253"/>
                <a:chExt cx="4651" cy="5634"/>
              </a:xfrm>
            </p:grpSpPr>
            <p:pic>
              <p:nvPicPr>
                <p:cNvPr id="14" name="Picture 13" descr="babbage">
                  <a:extLst>
                    <a:ext uri="{FF2B5EF4-FFF2-40B4-BE49-F238E27FC236}">
                      <a16:creationId xmlns:a16="http://schemas.microsoft.com/office/drawing/2014/main" id="{E4F51843-D555-7E4C-901D-147802B5E8C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89" y="-253"/>
                  <a:ext cx="3150" cy="4035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5" name="Text Box 14">
                  <a:extLst>
                    <a:ext uri="{FF2B5EF4-FFF2-40B4-BE49-F238E27FC236}">
                      <a16:creationId xmlns:a16="http://schemas.microsoft.com/office/drawing/2014/main" id="{4E583A1B-3AEB-8ED0-091F-77076D8BB0E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-259" y="3810"/>
                  <a:ext cx="4651" cy="157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lang="zh-CN" altLang="zh-CN" sz="40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仿宋" panose="02010609060101010101" pitchFamily="49" charset="-122"/>
                      <a:ea typeface="仿宋" panose="02010609060101010101" pitchFamily="49" charset="-122"/>
                    </a:rPr>
                    <a:t> </a:t>
                  </a:r>
                  <a:r>
                    <a:rPr lang="zh-CN" altLang="en-US" sz="44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巴贝奇差分机</a:t>
                  </a:r>
                </a:p>
              </p:txBody>
            </p:sp>
          </p:grpSp>
          <p:grpSp>
            <p:nvGrpSpPr>
              <p:cNvPr id="11" name="Group 15">
                <a:extLst>
                  <a:ext uri="{FF2B5EF4-FFF2-40B4-BE49-F238E27FC236}">
                    <a16:creationId xmlns:a16="http://schemas.microsoft.com/office/drawing/2014/main" id="{F6D67105-30E0-7E6A-DE27-468BEEC68CD1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8344" y="4852"/>
                <a:ext cx="4512" cy="4989"/>
                <a:chOff x="809" y="355"/>
                <a:chExt cx="4886" cy="5624"/>
              </a:xfrm>
            </p:grpSpPr>
            <p:pic>
              <p:nvPicPr>
                <p:cNvPr id="12" name="Picture 16" descr="Analytical Engine">
                  <a:extLst>
                    <a:ext uri="{FF2B5EF4-FFF2-40B4-BE49-F238E27FC236}">
                      <a16:creationId xmlns:a16="http://schemas.microsoft.com/office/drawing/2014/main" id="{8BF4DF5A-97A3-81BC-18C3-35DF9C7F375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6" r:link="rId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355" y="355"/>
                  <a:ext cx="3691" cy="3050"/>
                </a:xfrm>
                <a:prstGeom prst="rect">
                  <a:avLst/>
                </a:prstGeom>
                <a:ln>
                  <a:noFill/>
                </a:ln>
                <a:effectLst>
                  <a:outerShdw blurRad="292100" dist="139700" dir="2700000" algn="tl" rotWithShape="0">
                    <a:srgbClr val="333333">
                      <a:alpha val="65000"/>
                    </a:srgbClr>
                  </a:outerShdw>
                </a:effectLst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sp>
              <p:nvSpPr>
                <p:cNvPr id="13" name="Text Box 17">
                  <a:extLst>
                    <a:ext uri="{FF2B5EF4-FFF2-40B4-BE49-F238E27FC236}">
                      <a16:creationId xmlns:a16="http://schemas.microsoft.com/office/drawing/2014/main" id="{37D1E203-D23D-AA00-E991-108AA5CE4547}"/>
                    </a:ext>
                  </a:extLst>
                </p:cNvPr>
                <p:cNvSpPr txBox="1">
                  <a:spLocks noChangeAspect="1" noChangeArrowheads="1"/>
                </p:cNvSpPr>
                <p:nvPr/>
              </p:nvSpPr>
              <p:spPr bwMode="auto">
                <a:xfrm>
                  <a:off x="809" y="3685"/>
                  <a:ext cx="4886" cy="229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0" tIns="0" rIns="0" bIns="0"/>
                <a:lstStyle>
                  <a:lvl1pPr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algn="l"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fontAlgn="base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algn="ctr"/>
                  <a:r>
                    <a:rPr lang="zh-CN" altLang="en-US" sz="4400" b="1" dirty="0"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  <a:latin typeface="仿宋" panose="02010609060101010101" pitchFamily="49" charset="-122"/>
                      <a:ea typeface="仿宋" panose="02010609060101010101" pitchFamily="49" charset="-122"/>
                    </a:rPr>
                    <a:t>巴贝奇分析机</a:t>
                  </a:r>
                </a:p>
              </p:txBody>
            </p:sp>
          </p:grpSp>
        </p:grpSp>
        <p:sp>
          <p:nvSpPr>
            <p:cNvPr id="6" name="Rectangle 18">
              <a:extLst>
                <a:ext uri="{FF2B5EF4-FFF2-40B4-BE49-F238E27FC236}">
                  <a16:creationId xmlns:a16="http://schemas.microsoft.com/office/drawing/2014/main" id="{3561480B-6955-70E3-A592-FFBCEE557F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3" y="3402"/>
              <a:ext cx="1398" cy="10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r>
                <a:rPr lang="zh-CN" altLang="en-US" sz="4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仿宋" panose="02010609060101010101" pitchFamily="49" charset="-122"/>
                  <a:ea typeface="仿宋" panose="02010609060101010101" pitchFamily="49" charset="-122"/>
                </a:rPr>
                <a:t>算盘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7687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EFD9A2C9-878C-ADDB-56F0-09A00BC758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0743929"/>
              </p:ext>
            </p:extLst>
          </p:nvPr>
        </p:nvGraphicFramePr>
        <p:xfrm>
          <a:off x="247426" y="2651606"/>
          <a:ext cx="11944573" cy="4206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2" imgW="14311080" imgH="5650560" progId="Photoshop.Image.14">
                  <p:embed/>
                </p:oleObj>
              </mc:Choice>
              <mc:Fallback>
                <p:oleObj name="Image" r:id="rId2" imgW="14311080" imgH="5650560" progId="Photoshop.Image.1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EFD9A2C9-878C-ADDB-56F0-09A00BC758E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47426" y="2651606"/>
                        <a:ext cx="11944573" cy="4206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内容占位符 2">
            <a:extLst>
              <a:ext uri="{FF2B5EF4-FFF2-40B4-BE49-F238E27FC236}">
                <a16:creationId xmlns:a16="http://schemas.microsoft.com/office/drawing/2014/main" id="{29104F1F-F9BC-C481-2F9F-42E109BD7B3D}"/>
              </a:ext>
            </a:extLst>
          </p:cNvPr>
          <p:cNvSpPr txBox="1">
            <a:spLocks/>
          </p:cNvSpPr>
          <p:nvPr/>
        </p:nvSpPr>
        <p:spPr>
          <a:xfrm>
            <a:off x="247426" y="1554885"/>
            <a:ext cx="11697148" cy="5996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 kern="1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 algn="l" defTabSz="914400" rtl="0" eaLnBrk="1" latinLnBrk="0" hangingPunct="1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kern="1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80000" indent="-360000" algn="l" defTabSz="914400" rtl="0" eaLnBrk="1" latinLnBrk="0" hangingPunct="1">
              <a:spcBef>
                <a:spcPts val="5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 algn="l" defTabSz="914400" rtl="0" eaLnBrk="1" latinLnBrk="0" hangingPunct="1">
              <a:spcBef>
                <a:spcPts val="5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843C0C"/>
              </a:buClr>
              <a:buSzPct val="101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6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计算机器件发展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</a:p>
          <a:p>
            <a:pPr marL="457200" marR="0" lvl="1" indent="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电子管→晶体管→ 中小规模集成电路→ 超大规模集成电路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5461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C7D9BC-91F1-8A59-ADD3-62D57B4B2CA0}"/>
              </a:ext>
            </a:extLst>
          </p:cNvPr>
          <p:cNvSpPr txBox="1"/>
          <p:nvPr/>
        </p:nvSpPr>
        <p:spPr>
          <a:xfrm>
            <a:off x="350520" y="1541945"/>
            <a:ext cx="1214628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代：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1946~195×   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电子管 计算机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机器语言，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5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千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~1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万次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秒，</a:t>
            </a:r>
            <a:r>
              <a:rPr lang="en-US" altLang="zh-CN" sz="5000" dirty="0">
                <a:solidFill>
                  <a:prstClr val="black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ENIAC 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代：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195× ~196× 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晶体管 计算机</a:t>
            </a:r>
          </a:p>
          <a:p>
            <a:pPr marR="0" lvl="1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汇编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高级语言，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10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~100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万次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</a:t>
            </a:r>
          </a:p>
          <a:p>
            <a:pPr marR="0" lvl="1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TRADIC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4652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824" y="1419667"/>
            <a:ext cx="10592696" cy="154356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ENIAC</a:t>
            </a: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计算机</a:t>
            </a: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-</a:t>
            </a:r>
            <a:r>
              <a:rPr lang="en-US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1946</a:t>
            </a:r>
            <a:r>
              <a:rPr lang="zh-CN" altLang="zh-CN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年</a:t>
            </a:r>
            <a:r>
              <a:rPr lang="zh-CN" alt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，电子管</a:t>
            </a:r>
            <a:endParaRPr lang="en-US" altLang="zh-CN" sz="4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BEBEF4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04D4C2BA-082A-028A-E614-C3BCBEA23689}"/>
              </a:ext>
            </a:extLst>
          </p:cNvPr>
          <p:cNvSpPr txBox="1"/>
          <p:nvPr/>
        </p:nvSpPr>
        <p:spPr>
          <a:xfrm>
            <a:off x="162560" y="1892420"/>
            <a:ext cx="12271786" cy="4564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美国宾夕法尼亚大学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研制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图灵完全和数字化，编程解决数值问题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计算美国陆军火炮射表，研究热核武器的可行性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十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进制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1.8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万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个电子管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耗电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150kW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重量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30t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占地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170m2</a:t>
            </a:r>
            <a:endParaRPr lang="zh-CN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6482794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468574"/>
            <a:ext cx="105156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ENIAC</a:t>
            </a: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计算机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8F3001C8-8A35-3CD9-91AC-513546BC6F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7284" y="-49893"/>
            <a:ext cx="8822661" cy="6907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1430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40865"/>
            <a:ext cx="1151128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ENIAC</a:t>
            </a: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计算机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3EC3B7A-BBA0-D29D-D822-6068DF85D444}"/>
              </a:ext>
            </a:extLst>
          </p:cNvPr>
          <p:cNvSpPr txBox="1"/>
          <p:nvPr/>
        </p:nvSpPr>
        <p:spPr>
          <a:xfrm>
            <a:off x="0" y="2173514"/>
            <a:ext cx="12841941" cy="35163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-571500" fontAlgn="auto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5000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次加法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每秒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最新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CPU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主频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5.8GHZ=1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秒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5.8*10^9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次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</a:p>
          <a:p>
            <a:pPr marL="0" marR="0" lvl="1" indent="-571500" fontAlgn="auto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在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3/1000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秒完成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个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10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位数乘法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算一条炮弹弹道只需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20</a:t>
            </a:r>
            <a:r>
              <a:rPr lang="zh-CN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秒。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lvl="1" indent="-571500" fontAlgn="auto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ENIAC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对早期计算机发展产生过重大影响。</a:t>
            </a:r>
            <a:endParaRPr lang="zh-CN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D0DD71-ADD5-6283-56F4-4E8CED62A102}"/>
              </a:ext>
            </a:extLst>
          </p:cNvPr>
          <p:cNvSpPr txBox="1"/>
          <p:nvPr/>
        </p:nvSpPr>
        <p:spPr>
          <a:xfrm>
            <a:off x="4147820" y="1361762"/>
            <a:ext cx="654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1946</a:t>
            </a:r>
            <a:r>
              <a:rPr kumimoji="0" lang="zh-CN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年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，电子管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998906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C7D9BC-91F1-8A59-ADD3-62D57B4B2CA0}"/>
              </a:ext>
            </a:extLst>
          </p:cNvPr>
          <p:cNvSpPr txBox="1"/>
          <p:nvPr/>
        </p:nvSpPr>
        <p:spPr>
          <a:xfrm>
            <a:off x="350520" y="1541945"/>
            <a:ext cx="12146280" cy="43627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代：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1946~195×   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电子管 计算机</a:t>
            </a:r>
          </a:p>
          <a:p>
            <a:pPr lvl="1">
              <a:lnSpc>
                <a:spcPct val="95000"/>
              </a:lnSpc>
              <a:spcBef>
                <a:spcPct val="20000"/>
              </a:spcBef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机器语言，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5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千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~1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万次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秒，</a:t>
            </a:r>
            <a:r>
              <a:rPr lang="en-US" altLang="zh-CN" sz="5000" dirty="0">
                <a:solidFill>
                  <a:prstClr val="black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ENIAC </a:t>
            </a:r>
            <a:endParaRPr kumimoji="0" lang="zh-CN" altLang="en-US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2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代：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195× ~196× 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晶体管 计算机</a:t>
            </a:r>
          </a:p>
          <a:p>
            <a:pPr marR="0" lvl="1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汇编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高级语言，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10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~100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万次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</a:t>
            </a:r>
          </a:p>
          <a:p>
            <a:pPr marR="0" lvl="1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TRADIC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9756185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68574"/>
            <a:ext cx="1151128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en-US" altLang="zh-CN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TRADIC</a:t>
            </a:r>
            <a:r>
              <a:rPr lang="zh-CN" altLang="en-US" sz="4800" dirty="0">
                <a:solidFill>
                  <a:schemeClr val="accent2">
                    <a:lumMod val="50000"/>
                  </a:scheme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计算机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A3EC3B7A-BBA0-D29D-D822-6068DF85D444}"/>
              </a:ext>
            </a:extLst>
          </p:cNvPr>
          <p:cNvSpPr txBox="1"/>
          <p:nvPr/>
        </p:nvSpPr>
        <p:spPr>
          <a:xfrm>
            <a:off x="1" y="2173514"/>
            <a:ext cx="1205992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1" indent="-571500" fontAlgn="auto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第二代计算机，美国贝尔实验室，磁盘机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lvl="1" indent="-571500" algn="just" fontAlgn="auto">
              <a:lnSpc>
                <a:spcPct val="15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800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个晶体管，功率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100W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，汇编语言</a:t>
            </a:r>
            <a:r>
              <a:rPr lang="en-US" altLang="zh-CN" sz="4000" dirty="0" err="1">
                <a:latin typeface="幼圆" panose="02010509060101010101" pitchFamily="49" charset="-122"/>
                <a:ea typeface="幼圆" panose="02010509060101010101" pitchFamily="49" charset="-122"/>
              </a:rPr>
              <a:t>Fortran,Basic,Cobol</a:t>
            </a: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等高级语言。</a:t>
            </a:r>
            <a:endParaRPr lang="en-US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marR="0" lvl="1" indent="-571500" fontAlgn="auto">
              <a:lnSpc>
                <a:spcPct val="100000"/>
              </a:lnSpc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CN" altLang="en-US" sz="4000" dirty="0">
                <a:latin typeface="幼圆" panose="02010509060101010101" pitchFamily="49" charset="-122"/>
                <a:ea typeface="幼圆" panose="02010509060101010101" pitchFamily="49" charset="-122"/>
              </a:rPr>
              <a:t>启发了</a:t>
            </a:r>
            <a:r>
              <a:rPr lang="en-US" altLang="zh-CN" sz="4000" dirty="0">
                <a:latin typeface="幼圆" panose="02010509060101010101" pitchFamily="49" charset="-122"/>
                <a:ea typeface="幼圆" panose="02010509060101010101" pitchFamily="49" charset="-122"/>
              </a:rPr>
              <a:t>IBM360</a:t>
            </a:r>
            <a:endParaRPr lang="zh-CN" altLang="zh-CN" sz="40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CD0DD71-ADD5-6283-56F4-4E8CED62A102}"/>
              </a:ext>
            </a:extLst>
          </p:cNvPr>
          <p:cNvSpPr txBox="1"/>
          <p:nvPr/>
        </p:nvSpPr>
        <p:spPr>
          <a:xfrm>
            <a:off x="4615180" y="1392531"/>
            <a:ext cx="65481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1954</a:t>
            </a:r>
            <a:r>
              <a:rPr kumimoji="0" lang="zh-CN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年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+mn-cs"/>
              </a:rPr>
              <a:t>，</a:t>
            </a:r>
            <a:r>
              <a:rPr lang="zh-CN" altLang="en-US" sz="4800" b="1" dirty="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BEBEF4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晶体管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174949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20070205-44">
            <a:extLst>
              <a:ext uri="{FF2B5EF4-FFF2-40B4-BE49-F238E27FC236}">
                <a16:creationId xmlns:a16="http://schemas.microsoft.com/office/drawing/2014/main" id="{58C93DDA-ABFC-DA6C-3A0B-4AA6B9EFFD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5985" y="0"/>
            <a:ext cx="5984240" cy="47743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F922BBAD-7787-9E97-64D7-2A6124B72329}"/>
              </a:ext>
            </a:extLst>
          </p:cNvPr>
          <p:cNvSpPr txBox="1"/>
          <p:nvPr/>
        </p:nvSpPr>
        <p:spPr>
          <a:xfrm>
            <a:off x="751840" y="4145519"/>
            <a:ext cx="378968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TRADIC</a:t>
            </a:r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计算机，使用晶体管</a:t>
            </a:r>
            <a:endParaRPr lang="zh-CN" altLang="en-US" sz="4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8010836C-811A-AD6C-C407-8300BD1CFD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43747" y="638352"/>
            <a:ext cx="2663785" cy="15454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3">
            <a:extLst>
              <a:ext uri="{FF2B5EF4-FFF2-40B4-BE49-F238E27FC236}">
                <a16:creationId xmlns:a16="http://schemas.microsoft.com/office/drawing/2014/main" id="{9F56CE12-9D7B-40B3-2E05-2794B4B874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19363" y="392081"/>
            <a:ext cx="2663785" cy="18628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663AFDD2-804D-BC19-7737-4AE198DB9043}"/>
              </a:ext>
            </a:extLst>
          </p:cNvPr>
          <p:cNvSpPr txBox="1"/>
          <p:nvPr/>
        </p:nvSpPr>
        <p:spPr>
          <a:xfrm>
            <a:off x="6243747" y="2202502"/>
            <a:ext cx="3509853" cy="861774"/>
          </a:xfrm>
          <a:prstGeom prst="rect">
            <a:avLst/>
          </a:prstGeom>
          <a:solidFill>
            <a:srgbClr val="BEBEF4"/>
          </a:solidFill>
        </p:spPr>
        <p:txBody>
          <a:bodyPr wrap="square">
            <a:spAutoFit/>
          </a:bodyPr>
          <a:lstStyle/>
          <a:p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晶体管优点</a:t>
            </a:r>
            <a:endParaRPr lang="zh-CN" altLang="en-US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16FDFC0-EC92-8C83-6087-2D7019832564}"/>
              </a:ext>
            </a:extLst>
          </p:cNvPr>
          <p:cNvSpPr txBox="1"/>
          <p:nvPr/>
        </p:nvSpPr>
        <p:spPr>
          <a:xfrm>
            <a:off x="9676288" y="0"/>
            <a:ext cx="20156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</a:rPr>
              <a:t>晶体管</a:t>
            </a:r>
            <a:endParaRPr lang="zh-CN" altLang="en-US" sz="4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CB693BD-219E-2C53-D909-4D5DA1E84586}"/>
              </a:ext>
            </a:extLst>
          </p:cNvPr>
          <p:cNvSpPr txBox="1"/>
          <p:nvPr/>
        </p:nvSpPr>
        <p:spPr>
          <a:xfrm>
            <a:off x="6445552" y="0"/>
            <a:ext cx="2260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电子管</a:t>
            </a:r>
            <a:endParaRPr lang="zh-CN" altLang="en-US" sz="4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4414296-CC21-7062-59E3-5C4A88A333E2}"/>
              </a:ext>
            </a:extLst>
          </p:cNvPr>
          <p:cNvSpPr txBox="1"/>
          <p:nvPr/>
        </p:nvSpPr>
        <p:spPr>
          <a:xfrm>
            <a:off x="5948255" y="3064276"/>
            <a:ext cx="685237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zh-CN" altLang="zh-CN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体积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比电子管小很多</a:t>
            </a:r>
          </a:p>
          <a:p>
            <a:pPr marL="685800" marR="0" lvl="0" indent="-685800" algn="l" defTabSz="914400" rtl="0" eaLnBrk="1" fontAlgn="auto" latinLnBrk="0" hangingPunct="1"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耗电大大降低</a:t>
            </a:r>
          </a:p>
          <a:p>
            <a:pPr marL="685800" marR="0" lvl="0" indent="-685800" algn="l" defTabSz="914400" rtl="0" eaLnBrk="1" fontAlgn="auto" latinLnBrk="0" hangingPunct="1"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稳定性有很大提高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4514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C7D9BC-91F1-8A59-ADD3-62D57B4B2CA0}"/>
              </a:ext>
            </a:extLst>
          </p:cNvPr>
          <p:cNvSpPr txBox="1"/>
          <p:nvPr/>
        </p:nvSpPr>
        <p:spPr>
          <a:xfrm>
            <a:off x="0" y="1575610"/>
            <a:ext cx="12090400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3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代：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196× ~197× 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集成电路计算机</a:t>
            </a:r>
          </a:p>
          <a:p>
            <a:pPr marL="0" marR="0" lvl="1" algn="just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OS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，编译系统，各类高级语言，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1000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万次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摩尔定律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IBM360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 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，体积和功耗降低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/300</a:t>
            </a:r>
            <a:endParaRPr lang="zh-CN" altLang="en-US" sz="5000" dirty="0"/>
          </a:p>
        </p:txBody>
      </p:sp>
      <p:pic>
        <p:nvPicPr>
          <p:cNvPr id="2" name="Picture 3" descr="P5-IBM360">
            <a:extLst>
              <a:ext uri="{FF2B5EF4-FFF2-40B4-BE49-F238E27FC236}">
                <a16:creationId xmlns:a16="http://schemas.microsoft.com/office/drawing/2014/main" id="{F1E13411-9F7D-57C5-43B0-65290E65C1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0240" y="4070929"/>
            <a:ext cx="4855180" cy="24229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1610FDF-4BF5-B22B-9409-730EB07EEC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88809"/>
            <a:ext cx="3235792" cy="226194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Picture 2" descr="http://www.audiodiy.cn/Article/UploadFiles/200601/20060106141201979.jpg">
            <a:extLst>
              <a:ext uri="{FF2B5EF4-FFF2-40B4-BE49-F238E27FC236}">
                <a16:creationId xmlns:a16="http://schemas.microsoft.com/office/drawing/2014/main" id="{64CD6B6E-35B6-7B1B-F1F3-5DDC3EB1F1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361" y="4488810"/>
            <a:ext cx="3412899" cy="226194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4848123-2E70-CBC7-042E-BD62A1BC5896}"/>
              </a:ext>
            </a:extLst>
          </p:cNvPr>
          <p:cNvSpPr txBox="1"/>
          <p:nvPr/>
        </p:nvSpPr>
        <p:spPr>
          <a:xfrm>
            <a:off x="3631327" y="3882523"/>
            <a:ext cx="22601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000" b="1" dirty="0">
                <a:solidFill>
                  <a:srgbClr val="843C0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集成电路</a:t>
            </a:r>
            <a:endParaRPr lang="zh-CN" altLang="en-US" sz="4000" b="1" dirty="0">
              <a:solidFill>
                <a:srgbClr val="843C0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6411263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圆角矩形 8">
            <a:extLst>
              <a:ext uri="{FF2B5EF4-FFF2-40B4-BE49-F238E27FC236}">
                <a16:creationId xmlns:a16="http://schemas.microsoft.com/office/drawing/2014/main" id="{3CD770AC-0797-E533-E843-BD0FF87A7566}"/>
              </a:ext>
            </a:extLst>
          </p:cNvPr>
          <p:cNvSpPr/>
          <p:nvPr/>
        </p:nvSpPr>
        <p:spPr>
          <a:xfrm>
            <a:off x="5819059" y="6336715"/>
            <a:ext cx="3885572" cy="486117"/>
          </a:xfrm>
          <a:prstGeom prst="roundRect">
            <a:avLst/>
          </a:prstGeom>
          <a:solidFill>
            <a:srgbClr val="00339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IBM 360</a:t>
            </a:r>
            <a:r>
              <a:rPr kumimoji="0" lang="zh-CN" alt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计算机和磁带存储设备</a:t>
            </a:r>
          </a:p>
        </p:txBody>
      </p:sp>
      <p:sp>
        <p:nvSpPr>
          <p:cNvPr id="19" name="内容占位符 18">
            <a:extLst>
              <a:ext uri="{FF2B5EF4-FFF2-40B4-BE49-F238E27FC236}">
                <a16:creationId xmlns:a16="http://schemas.microsoft.com/office/drawing/2014/main" id="{2C6204BC-281A-3391-315C-2CAABC1AC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2B955576-7B8A-1818-1967-C96C843907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3873" y="0"/>
            <a:ext cx="9384254" cy="6759985"/>
          </a:xfrm>
          <a:prstGeom prst="rect">
            <a:avLst/>
          </a:prstGeom>
        </p:spPr>
      </p:pic>
      <p:sp>
        <p:nvSpPr>
          <p:cNvPr id="21" name="圆角矩形 8">
            <a:extLst>
              <a:ext uri="{FF2B5EF4-FFF2-40B4-BE49-F238E27FC236}">
                <a16:creationId xmlns:a16="http://schemas.microsoft.com/office/drawing/2014/main" id="{EC6E8C6E-9FB7-76A7-F3C9-B20F0C19D649}"/>
              </a:ext>
            </a:extLst>
          </p:cNvPr>
          <p:cNvSpPr/>
          <p:nvPr/>
        </p:nvSpPr>
        <p:spPr>
          <a:xfrm>
            <a:off x="2388192" y="66413"/>
            <a:ext cx="7415616" cy="486117"/>
          </a:xfrm>
          <a:prstGeom prst="roundRect">
            <a:avLst/>
          </a:prstGeom>
          <a:solidFill>
            <a:srgbClr val="003399"/>
          </a:solidFill>
          <a:ln w="38100" cap="flat" cmpd="sng" algn="ctr">
            <a:solidFill>
              <a:sysClr val="window" lastClr="FFFFFF"/>
            </a:solidFill>
            <a:prstDash val="soli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altLang="zh-CN" sz="4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IBM 360</a:t>
            </a:r>
            <a:r>
              <a:rPr kumimoji="0" lang="zh-CN" altLang="en-US" sz="4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计算机和磁带存储设备</a:t>
            </a:r>
          </a:p>
        </p:txBody>
      </p:sp>
    </p:spTree>
    <p:extLst>
      <p:ext uri="{BB962C8B-B14F-4D97-AF65-F5344CB8AC3E}">
        <p14:creationId xmlns:p14="http://schemas.microsoft.com/office/powerpoint/2010/main" val="22819478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C7D9BC-91F1-8A59-ADD3-62D57B4B2CA0}"/>
              </a:ext>
            </a:extLst>
          </p:cNvPr>
          <p:cNvSpPr txBox="1"/>
          <p:nvPr/>
        </p:nvSpPr>
        <p:spPr>
          <a:xfrm>
            <a:off x="0" y="1468574"/>
            <a:ext cx="12192000" cy="47859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4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代： 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197× ~ 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现在大规模、超大规模集成电路计算机</a:t>
            </a:r>
          </a:p>
          <a:p>
            <a:pPr marL="0" lvl="1" algn="just">
              <a:lnSpc>
                <a:spcPct val="95000"/>
              </a:lnSpc>
              <a:spcBef>
                <a:spcPct val="20000"/>
              </a:spcBef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197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2  </a:t>
            </a:r>
            <a:r>
              <a:rPr lang="en-US" altLang="zh-CN" sz="5000" dirty="0">
                <a:solidFill>
                  <a:prstClr val="black"/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ILLIAC-IV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软件完善千万次以上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, </a:t>
            </a:r>
          </a:p>
          <a:p>
            <a:pPr marL="0" marR="0" lvl="1" algn="just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199×- 200× 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超大规模集成电路，亿万次以上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,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千亿浮点运算次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/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秒 ，智能化、模拟人的思维方式</a:t>
            </a:r>
          </a:p>
        </p:txBody>
      </p:sp>
    </p:spTree>
    <p:extLst>
      <p:ext uri="{BB962C8B-B14F-4D97-AF65-F5344CB8AC3E}">
        <p14:creationId xmlns:p14="http://schemas.microsoft.com/office/powerpoint/2010/main" val="250428985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C7D9BC-91F1-8A59-ADD3-62D57B4B2CA0}"/>
              </a:ext>
            </a:extLst>
          </p:cNvPr>
          <p:cNvSpPr txBox="1"/>
          <p:nvPr/>
        </p:nvSpPr>
        <p:spPr>
          <a:xfrm>
            <a:off x="0" y="1468574"/>
            <a:ext cx="12192000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4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代计算机：微型计算机</a:t>
            </a:r>
          </a:p>
          <a:p>
            <a:pPr marL="685800" lvl="1" indent="-685800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根据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CPU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字长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和芯片集成度划分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5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个阶段</a:t>
            </a:r>
            <a:endParaRPr kumimoji="0" lang="en-US" altLang="zh-C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685800" lvl="1" indent="-685800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字长（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WORD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）由多个字节（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Byte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）组成，是计算机处理性能指标，字长越长，计算机运行速度越快，计算精度就越高</a:t>
            </a:r>
            <a:endParaRPr lang="en-US" altLang="zh-CN" sz="50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685800" lvl="1" indent="-685800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个字节（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Byte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= 8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个位（</a:t>
            </a:r>
            <a:r>
              <a:rPr lang="en-US" altLang="zh-CN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bit</a:t>
            </a:r>
            <a:r>
              <a:rPr lang="zh-CN" altLang="en-US" sz="50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）</a:t>
            </a:r>
            <a:endParaRPr lang="en-US" altLang="zh-CN" sz="5000" dirty="0">
              <a:solidFill>
                <a:prstClr val="black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6185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1.2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计算机发展史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4C7D9BC-91F1-8A59-ADD3-62D57B4B2CA0}"/>
              </a:ext>
            </a:extLst>
          </p:cNvPr>
          <p:cNvSpPr txBox="1"/>
          <p:nvPr/>
        </p:nvSpPr>
        <p:spPr>
          <a:xfrm>
            <a:off x="0" y="1468574"/>
            <a:ext cx="12192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95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第</a:t>
            </a:r>
            <a:r>
              <a:rPr kumimoji="0" lang="en-US" altLang="zh-CN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4</a:t>
            </a: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uLnTx/>
                <a:uFillTx/>
                <a:latin typeface="Trebuchet MS"/>
                <a:ea typeface="方正姚体" panose="02010601030101010101" pitchFamily="2" charset="-122"/>
                <a:cs typeface="+mn-cs"/>
              </a:rPr>
              <a:t>代计算机：微型计算机</a:t>
            </a:r>
          </a:p>
          <a:p>
            <a:pPr marL="685800" lvl="1" indent="-685800" algn="just">
              <a:lnSpc>
                <a:spcPct val="95000"/>
              </a:lnSpc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根据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CPU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字长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和芯片集成度划分</a:t>
            </a:r>
            <a:r>
              <a:rPr kumimoji="0" lang="en-US" altLang="zh-CN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5</a:t>
            </a:r>
            <a:r>
              <a:rPr kumimoji="0" lang="zh-CN" altLang="en-US" sz="5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个阶段</a:t>
            </a:r>
            <a:endParaRPr kumimoji="0" lang="en-US" altLang="zh-CN" sz="5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3A4DD1B-E900-1BDA-CE4E-83E3E11BAE37}"/>
              </a:ext>
            </a:extLst>
          </p:cNvPr>
          <p:cNvSpPr txBox="1"/>
          <p:nvPr/>
        </p:nvSpPr>
        <p:spPr>
          <a:xfrm>
            <a:off x="279400" y="3454397"/>
            <a:ext cx="2463800" cy="830997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字长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4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91AC81F-D07C-A74D-00A4-F13125FB7F7F}"/>
              </a:ext>
            </a:extLst>
          </p:cNvPr>
          <p:cNvSpPr txBox="1"/>
          <p:nvPr/>
        </p:nvSpPr>
        <p:spPr>
          <a:xfrm>
            <a:off x="3302000" y="3454396"/>
            <a:ext cx="2463800" cy="830997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字长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8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110E8166-5C43-F3B5-E90B-F486150B4A03}"/>
              </a:ext>
            </a:extLst>
          </p:cNvPr>
          <p:cNvSpPr/>
          <p:nvPr/>
        </p:nvSpPr>
        <p:spPr>
          <a:xfrm>
            <a:off x="2787650" y="3672177"/>
            <a:ext cx="469900" cy="395433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150932-0186-5DCA-FA95-A4A4E55400DC}"/>
              </a:ext>
            </a:extLst>
          </p:cNvPr>
          <p:cNvSpPr txBox="1"/>
          <p:nvPr/>
        </p:nvSpPr>
        <p:spPr>
          <a:xfrm>
            <a:off x="6280150" y="3454396"/>
            <a:ext cx="2673350" cy="830997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字长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16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4132CB5-6098-63A2-FDF6-625138801DD2}"/>
              </a:ext>
            </a:extLst>
          </p:cNvPr>
          <p:cNvSpPr txBox="1"/>
          <p:nvPr/>
        </p:nvSpPr>
        <p:spPr>
          <a:xfrm>
            <a:off x="9518650" y="3418027"/>
            <a:ext cx="2673350" cy="830997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字长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32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1" name="箭头: 右 10">
            <a:extLst>
              <a:ext uri="{FF2B5EF4-FFF2-40B4-BE49-F238E27FC236}">
                <a16:creationId xmlns:a16="http://schemas.microsoft.com/office/drawing/2014/main" id="{C0988956-28E9-4DD7-1AA9-73F08B0FE6E5}"/>
              </a:ext>
            </a:extLst>
          </p:cNvPr>
          <p:cNvSpPr/>
          <p:nvPr/>
        </p:nvSpPr>
        <p:spPr>
          <a:xfrm>
            <a:off x="8953500" y="3635808"/>
            <a:ext cx="469900" cy="395433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箭头: 右 11">
            <a:extLst>
              <a:ext uri="{FF2B5EF4-FFF2-40B4-BE49-F238E27FC236}">
                <a16:creationId xmlns:a16="http://schemas.microsoft.com/office/drawing/2014/main" id="{9698915C-44AE-7682-2C10-2CAA6B1CEFE1}"/>
              </a:ext>
            </a:extLst>
          </p:cNvPr>
          <p:cNvSpPr/>
          <p:nvPr/>
        </p:nvSpPr>
        <p:spPr>
          <a:xfrm>
            <a:off x="5810250" y="3635813"/>
            <a:ext cx="469900" cy="395433"/>
          </a:xfrm>
          <a:prstGeom prst="rightArrow">
            <a:avLst/>
          </a:prstGeom>
          <a:solidFill>
            <a:srgbClr val="843C0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F4F7F4B-3366-C094-FF59-DE2C81CE9ACA}"/>
              </a:ext>
            </a:extLst>
          </p:cNvPr>
          <p:cNvSpPr txBox="1"/>
          <p:nvPr/>
        </p:nvSpPr>
        <p:spPr>
          <a:xfrm>
            <a:off x="203200" y="5262582"/>
            <a:ext cx="2673350" cy="830997"/>
          </a:xfrm>
          <a:prstGeom prst="rect">
            <a:avLst/>
          </a:prstGeom>
          <a:noFill/>
          <a:ln w="28575">
            <a:solidFill>
              <a:srgbClr val="843C0C"/>
            </a:solidFill>
          </a:ln>
          <a:effectLst>
            <a:glow rad="101600">
              <a:schemeClr val="accent4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字长</a:t>
            </a:r>
            <a:r>
              <a:rPr kumimoji="0" lang="en-US" altLang="zh-CN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64</a:t>
            </a: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</a:rPr>
              <a:t>位</a:t>
            </a:r>
            <a:endParaRPr lang="zh-CN" alt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AA53AA9-9C8B-4D3D-0BB9-75E8E1E1A5B2}"/>
              </a:ext>
            </a:extLst>
          </p:cNvPr>
          <p:cNvSpPr txBox="1"/>
          <p:nvPr/>
        </p:nvSpPr>
        <p:spPr>
          <a:xfrm>
            <a:off x="203200" y="4308475"/>
            <a:ext cx="3054350" cy="523220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1971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仿宋" panose="02010609060101010101" pitchFamily="49" charset="-122"/>
              </a:rPr>
              <a:t>-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Intel-4004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7AF9CB3-13F9-E9EA-BB54-696418378250}"/>
              </a:ext>
            </a:extLst>
          </p:cNvPr>
          <p:cNvSpPr txBox="1"/>
          <p:nvPr/>
        </p:nvSpPr>
        <p:spPr>
          <a:xfrm>
            <a:off x="3041650" y="4308475"/>
            <a:ext cx="3054350" cy="95410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1974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仿宋" panose="02010609060101010101" pitchFamily="49" charset="-122"/>
              </a:rPr>
              <a:t>-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Intel-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牛郎星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-1975-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微软公司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0C30ED-A28B-C28C-C98C-78A5BF7E201C}"/>
              </a:ext>
            </a:extLst>
          </p:cNvPr>
          <p:cNvSpPr txBox="1"/>
          <p:nvPr/>
        </p:nvSpPr>
        <p:spPr>
          <a:xfrm>
            <a:off x="6134100" y="4285393"/>
            <a:ext cx="3054350" cy="95410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1981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仿宋" panose="02010609060101010101" pitchFamily="49" charset="-122"/>
              </a:rPr>
              <a:t>-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微软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-MSDOS-1982-Intel-80286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1ACC16E-5E01-B38D-7D21-D1A79D2E7E53}"/>
              </a:ext>
            </a:extLst>
          </p:cNvPr>
          <p:cNvSpPr txBox="1"/>
          <p:nvPr/>
        </p:nvSpPr>
        <p:spPr>
          <a:xfrm>
            <a:off x="9201150" y="4269079"/>
            <a:ext cx="3968750" cy="95410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1985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微软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-Windows</a:t>
            </a:r>
          </a:p>
          <a:p>
            <a:pPr algn="just"/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Intel-80386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978215C-57E9-5AAA-46F8-913BE9D394A3}"/>
              </a:ext>
            </a:extLst>
          </p:cNvPr>
          <p:cNvSpPr txBox="1"/>
          <p:nvPr/>
        </p:nvSpPr>
        <p:spPr>
          <a:xfrm>
            <a:off x="2990850" y="5284392"/>
            <a:ext cx="9201150" cy="954107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微软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-1997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仿宋" panose="02010609060101010101" pitchFamily="49" charset="-122"/>
              </a:rPr>
              <a:t>-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Windows95-07Vista-15win9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服务家庭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-win11</a:t>
            </a:r>
          </a:p>
          <a:p>
            <a:pPr algn="just"/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Intel-Pentium Pro-07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四核酷睿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-15i7—i9</a:t>
            </a:r>
            <a:endParaRPr lang="zh-CN" altLang="en-US" sz="2800" b="1" dirty="0"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636389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17C173-3BCF-7E8F-0895-2C60040C9A42}"/>
              </a:ext>
            </a:extLst>
          </p:cNvPr>
          <p:cNvSpPr txBox="1">
            <a:spLocks/>
          </p:cNvSpPr>
          <p:nvPr/>
        </p:nvSpPr>
        <p:spPr>
          <a:xfrm>
            <a:off x="458075" y="1175962"/>
            <a:ext cx="11557591" cy="5996762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360000" indent="-360000" algn="l" defTabSz="914400" rtl="0" eaLnBrk="1" latinLnBrk="0" hangingPunct="1">
              <a:lnSpc>
                <a:spcPct val="100000"/>
              </a:lnSpc>
              <a:spcBef>
                <a:spcPts val="50"/>
              </a:spcBef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defRPr sz="2800" kern="1200">
                <a:solidFill>
                  <a:srgbClr val="003399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defRPr>
            </a:lvl1pPr>
            <a:lvl2pPr marL="360000" indent="-360000" algn="l" defTabSz="914400" rtl="0" eaLnBrk="1" latinLnBrk="0" hangingPunct="1">
              <a:lnSpc>
                <a:spcPct val="100000"/>
              </a:lnSpc>
              <a:spcBef>
                <a:spcPts val="50"/>
              </a:spcBef>
              <a:buFont typeface="Arial" panose="020B0604020202020204" pitchFamily="34" charset="0"/>
              <a:buChar char="•"/>
              <a:defRPr lang="zh-CN" altLang="en-US" sz="24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2pPr>
            <a:lvl3pPr marL="720000" marR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lang="en-US" altLang="zh-CN" sz="2200" kern="1200" smtClean="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3pPr>
            <a:lvl4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4pPr>
            <a:lvl5pPr marL="1080000" indent="-360000" algn="l" defTabSz="914400" rtl="0" eaLnBrk="1" latinLnBrk="0" hangingPunct="1">
              <a:spcBef>
                <a:spcPts val="5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defRPr>
            </a:lvl5pPr>
            <a:lvl6pPr marL="720000" indent="-360000" algn="l" defTabSz="914400" rtl="0" eaLnBrk="1" latinLnBrk="0" hangingPunct="1">
              <a:spcBef>
                <a:spcPts val="50"/>
              </a:spcBef>
              <a:buFont typeface="Arial" panose="020B0604020202020204" pitchFamily="34" charset="0"/>
              <a:buChar char="•"/>
              <a:defRPr sz="1800" kern="1200">
                <a:solidFill>
                  <a:srgbClr val="00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0000" marR="0" lvl="1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360000" marR="0" lvl="1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1976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年，乔布斯开发了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Apple I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微机（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8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</a:rPr>
              <a:t>位系统）。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CPU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Motorola M6502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位）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主频：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4MHz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速度：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50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万次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/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秒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DRAM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64KB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ROM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16KB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（固化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BASIC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）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视频：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80x25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行字符</a:t>
            </a:r>
          </a:p>
          <a:p>
            <a:pPr marL="720000" marR="0" lvl="2" indent="-360000" algn="l" defTabSz="914400" rtl="0" eaLnBrk="1" fontAlgn="auto" latinLnBrk="0" hangingPunct="1">
              <a:lnSpc>
                <a:spcPct val="15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售价：</a:t>
            </a:r>
            <a:r>
              <a:rPr kumimoji="0" lang="en-US" altLang="zh-CN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1 300</a:t>
            </a:r>
            <a:r>
              <a:rPr kumimoji="0" lang="zh-CN" altLang="en-US" sz="5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美元</a:t>
            </a:r>
          </a:p>
          <a:p>
            <a:pPr marL="360000" marR="0" lvl="1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8C3A0E1-C169-F78E-E49B-6668B8C5AD9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48517" y="2418624"/>
            <a:ext cx="5163879" cy="3511438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FB776088-5B3C-58D0-9CF1-9BD3286CAABC}"/>
              </a:ext>
            </a:extLst>
          </p:cNvPr>
          <p:cNvSpPr txBox="1"/>
          <p:nvPr/>
        </p:nvSpPr>
        <p:spPr>
          <a:xfrm>
            <a:off x="228600" y="181551"/>
            <a:ext cx="60942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843C0C"/>
              </a:buClr>
              <a:buSzPct val="101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苹果微机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Apple II</a:t>
            </a:r>
          </a:p>
        </p:txBody>
      </p:sp>
    </p:spTree>
    <p:extLst>
      <p:ext uri="{BB962C8B-B14F-4D97-AF65-F5344CB8AC3E}">
        <p14:creationId xmlns:p14="http://schemas.microsoft.com/office/powerpoint/2010/main" val="203322587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2">
            <a:extLst>
              <a:ext uri="{FF2B5EF4-FFF2-40B4-BE49-F238E27FC236}">
                <a16:creationId xmlns:a16="http://schemas.microsoft.com/office/drawing/2014/main" id="{F5A1B7B6-4EDE-293E-F9B7-460973E2DE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204" y="1041849"/>
            <a:ext cx="11557591" cy="5996762"/>
          </a:xfrm>
        </p:spPr>
        <p:txBody>
          <a:bodyPr>
            <a:normAutofit fontScale="92500"/>
          </a:bodyPr>
          <a:lstStyle/>
          <a:p>
            <a:pPr lvl="1"/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1981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年，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IBM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公司推出了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IBM PC 5150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个人计算机（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</a:rPr>
              <a:t>16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</a:rPr>
              <a:t>位系统）。</a:t>
            </a:r>
            <a:endParaRPr lang="en-US" altLang="zh-CN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lvl="2">
              <a:lnSpc>
                <a:spcPct val="150000"/>
              </a:lnSpc>
            </a:pP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arn-CL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：</a:t>
            </a: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Intel 8088</a:t>
            </a:r>
            <a:r>
              <a:rPr lang="zh-CN" altLang="arn-CL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（</a:t>
            </a: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16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位）</a:t>
            </a:r>
          </a:p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频率：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4.77</a:t>
            </a: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MHz</a:t>
            </a:r>
          </a:p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内存：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16</a:t>
            </a: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KB</a:t>
            </a:r>
          </a:p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软驱：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160</a:t>
            </a: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KB  5.25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英寸</a:t>
            </a:r>
          </a:p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显示器：单色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11.5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英寸</a:t>
            </a:r>
          </a:p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操作系统：</a:t>
            </a:r>
            <a:r>
              <a:rPr lang="arn-CL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MS-DOS 1.0</a:t>
            </a:r>
          </a:p>
          <a:p>
            <a:pPr lvl="2">
              <a:lnSpc>
                <a:spcPct val="150000"/>
              </a:lnSpc>
            </a:pP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价格：</a:t>
            </a:r>
            <a:r>
              <a:rPr lang="en-US" altLang="zh-CN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3 045</a:t>
            </a:r>
            <a:r>
              <a:rPr lang="zh-CN" altLang="en-US" sz="3200" dirty="0"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美元</a:t>
            </a:r>
          </a:p>
          <a:p>
            <a:pPr lvl="1"/>
            <a:endParaRPr lang="en-US" altLang="zh-CN" sz="1000" dirty="0"/>
          </a:p>
        </p:txBody>
      </p:sp>
      <p:pic>
        <p:nvPicPr>
          <p:cNvPr id="6" name="Picture 2" descr="https://pic1.zhimg.com/80/v2-4972c2742a470ec2cfb090ba064b4d21_720w.jpg?source=1940ef5c">
            <a:extLst>
              <a:ext uri="{FF2B5EF4-FFF2-40B4-BE49-F238E27FC236}">
                <a16:creationId xmlns:a16="http://schemas.microsoft.com/office/drawing/2014/main" id="{0F5371D8-B734-4C2D-65D2-EF8B1F36C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688847" y="2149518"/>
            <a:ext cx="5124450" cy="3781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E3CF01C-9E08-E577-51FA-532A03F2FF93}"/>
              </a:ext>
            </a:extLst>
          </p:cNvPr>
          <p:cNvSpPr txBox="1"/>
          <p:nvPr/>
        </p:nvSpPr>
        <p:spPr>
          <a:xfrm>
            <a:off x="228600" y="181551"/>
            <a:ext cx="774281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843C0C"/>
              </a:buClr>
              <a:buSzPct val="101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个人计算机</a:t>
            </a:r>
            <a:r>
              <a:rPr kumimoji="0" lang="en-US" altLang="zh-CN" sz="48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IBM PC 5150</a:t>
            </a:r>
          </a:p>
        </p:txBody>
      </p:sp>
    </p:spTree>
    <p:extLst>
      <p:ext uri="{BB962C8B-B14F-4D97-AF65-F5344CB8AC3E}">
        <p14:creationId xmlns:p14="http://schemas.microsoft.com/office/powerpoint/2010/main" val="289406365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8667EF34-FB87-FD0C-DEF9-8228940171B2}"/>
              </a:ext>
            </a:extLst>
          </p:cNvPr>
          <p:cNvSpPr txBox="1"/>
          <p:nvPr/>
        </p:nvSpPr>
        <p:spPr>
          <a:xfrm>
            <a:off x="0" y="1091098"/>
            <a:ext cx="12192000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1958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年首台电子管计算机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DJS-1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型</a:t>
            </a: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1974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年研制微机：长城、东海、联想、方正等</a:t>
            </a: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1983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年研制大、巨型机： “银河”和“曙光” 。</a:t>
            </a:r>
            <a:endParaRPr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2013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年国防科技大学天河二号每秒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5.49*1016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计算速度，每秒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3.39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亿亿次双精度浮点运算，比美国泰坦快近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1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倍，中山大学，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2019</a:t>
            </a: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年量子计算</a:t>
            </a:r>
          </a:p>
          <a:p>
            <a:endParaRPr lang="zh-CN" altLang="en-US" sz="1800" dirty="0">
              <a:latin typeface="黑体" pitchFamily="49" charset="-122"/>
            </a:endParaRPr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030E17E-A67C-9CEA-D70C-FCFF5825207A}"/>
              </a:ext>
            </a:extLst>
          </p:cNvPr>
          <p:cNvSpPr txBox="1"/>
          <p:nvPr/>
        </p:nvSpPr>
        <p:spPr>
          <a:xfrm>
            <a:off x="228600" y="181551"/>
            <a:ext cx="77428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marR="0" lvl="0" indent="-6858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843C0C"/>
              </a:buClr>
              <a:buSzPct val="101000"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srgbClr val="ED7D31">
                    <a:lumMod val="50000"/>
                  </a:srgbClr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国产机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srgbClr val="ED7D31">
                  <a:lumMod val="50000"/>
                </a:srgbClr>
              </a:solidFill>
              <a:effectLst/>
              <a:highlight>
                <a:srgbClr val="FFFF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99395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009263D7-E042-E8BC-9148-02B5452DBF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53050" y="3036093"/>
            <a:ext cx="6093838" cy="287928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FC15146-A95A-1ACA-87F2-A672317A77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7056784" cy="3482832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BCB150BD-93DA-A9E5-264F-03884CA05A54}"/>
              </a:ext>
            </a:extLst>
          </p:cNvPr>
          <p:cNvSpPr txBox="1"/>
          <p:nvPr/>
        </p:nvSpPr>
        <p:spPr>
          <a:xfrm>
            <a:off x="5674693" y="2659559"/>
            <a:ext cx="63118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湖南大学国家超算中心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AA1294E-79A2-0567-C6DC-FB22F3AEA889}"/>
              </a:ext>
            </a:extLst>
          </p:cNvPr>
          <p:cNvSpPr txBox="1"/>
          <p:nvPr/>
        </p:nvSpPr>
        <p:spPr>
          <a:xfrm>
            <a:off x="2531443" y="0"/>
            <a:ext cx="282160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highlight>
                  <a:srgbClr val="FFFF00"/>
                </a:highlight>
                <a:uLnTx/>
                <a:uFillTx/>
                <a:latin typeface="仿宋" panose="02010609060101010101" pitchFamily="49" charset="-122"/>
                <a:ea typeface="仿宋" panose="02010609060101010101" pitchFamily="49" charset="-122"/>
                <a:cs typeface="+mn-cs"/>
              </a:rPr>
              <a:t>天河二号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23180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283F43A4-DD7E-88C9-A3C4-D593CC5E372F}"/>
              </a:ext>
            </a:extLst>
          </p:cNvPr>
          <p:cNvSpPr txBox="1"/>
          <p:nvPr/>
        </p:nvSpPr>
        <p:spPr>
          <a:xfrm>
            <a:off x="177800" y="0"/>
            <a:ext cx="9969500" cy="1021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1">
              <a:lnSpc>
                <a:spcPct val="130000"/>
              </a:lnSpc>
              <a:buFont typeface="Wingdings" panose="05000000000000000000" pitchFamily="2" charset="2"/>
              <a:buChar char="l"/>
            </a:pPr>
            <a:r>
              <a:rPr lang="zh-CN" altLang="en-US" sz="5000" dirty="0">
                <a:solidFill>
                  <a:srgbClr val="ED7D31">
                    <a:lumMod val="50000"/>
                  </a:srgbClr>
                </a:solidFill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未来计算机：量子计算机</a:t>
            </a:r>
            <a:endParaRPr lang="en-US" altLang="zh-CN" sz="5000" dirty="0">
              <a:solidFill>
                <a:srgbClr val="ED7D31">
                  <a:lumMod val="50000"/>
                </a:srgbClr>
              </a:solidFill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5B0BE9-15F5-8606-6BCF-B3D0123DEA73}"/>
              </a:ext>
            </a:extLst>
          </p:cNvPr>
          <p:cNvSpPr txBox="1"/>
          <p:nvPr/>
        </p:nvSpPr>
        <p:spPr>
          <a:xfrm>
            <a:off x="0" y="915301"/>
            <a:ext cx="12191999" cy="47628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以量子编码（</a:t>
            </a:r>
            <a:r>
              <a:rPr kumimoji="0" lang="en-US" altLang="zh-CN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0,1,</a:t>
            </a: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叠加），量子动力学演化完成量子通讯与计算，硬件元件原子或分子量级</a:t>
            </a:r>
            <a:endParaRPr kumimoji="0" lang="en-US" altLang="zh-CN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运行速度较快、处置信息能力较强、应用范围较广</a:t>
            </a:r>
            <a:endParaRPr kumimoji="0" lang="en-US" altLang="zh-CN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zh-CN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2022</a:t>
            </a: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年</a:t>
            </a:r>
            <a:r>
              <a:rPr kumimoji="0" lang="en-US" altLang="zh-CN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8</a:t>
            </a: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月，百度发布集量子硬件、量子软件、量子应用于一体的超导量子计算机“</a:t>
            </a: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乾始</a:t>
            </a: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”</a:t>
            </a:r>
            <a:endParaRPr kumimoji="0" lang="en-US" altLang="zh-CN" sz="4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幼圆" panose="02010509060101010101" pitchFamily="49" charset="-122"/>
              <a:ea typeface="幼圆" panose="02010509060101010101" pitchFamily="49" charset="-122"/>
              <a:cs typeface="Times New Roman" panose="02020603050405020304" pitchFamily="18" charset="0"/>
            </a:endParaRPr>
          </a:p>
          <a:p>
            <a:pPr marL="360000" marR="0" lvl="0" indent="-360000" algn="l" defTabSz="914400" rtl="0" eaLnBrk="1" fontAlgn="auto" latinLnBrk="0" hangingPunct="1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Clr>
                <a:srgbClr val="003399"/>
              </a:buClr>
              <a:buSzPct val="101000"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4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幼圆" panose="02010509060101010101" pitchFamily="49" charset="-122"/>
                <a:ea typeface="幼圆" panose="02010509060101010101" pitchFamily="49" charset="-122"/>
                <a:cs typeface="Times New Roman" panose="02020603050405020304" pitchFamily="18" charset="0"/>
              </a:rPr>
              <a:t>目前概念模拟阶段，还不能实际应用推广</a:t>
            </a:r>
          </a:p>
        </p:txBody>
      </p:sp>
    </p:spTree>
    <p:extLst>
      <p:ext uri="{BB962C8B-B14F-4D97-AF65-F5344CB8AC3E}">
        <p14:creationId xmlns:p14="http://schemas.microsoft.com/office/powerpoint/2010/main" val="104674246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6ADD5FF8-E3FD-FB05-F093-904F48FC4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8775" y="0"/>
            <a:ext cx="8842687" cy="609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82916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>
            <a:extLst>
              <a:ext uri="{FF2B5EF4-FFF2-40B4-BE49-F238E27FC236}">
                <a16:creationId xmlns:a16="http://schemas.microsoft.com/office/drawing/2014/main" id="{4D017162-A8A5-F34E-0CEC-DC5BE1E2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970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BBAC061-707C-110A-BDF9-FC24A67D7B43}"/>
              </a:ext>
            </a:extLst>
          </p:cNvPr>
          <p:cNvCxnSpPr/>
          <p:nvPr/>
        </p:nvCxnSpPr>
        <p:spPr>
          <a:xfrm flipV="1">
            <a:off x="744967" y="1223173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DAE11251-68E9-CB9F-E348-FD5E83161D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600" y="1573350"/>
            <a:ext cx="120904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计算和数学</a:t>
            </a:r>
            <a:endParaRPr lang="en-US" altLang="zh-CN" sz="6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</a:t>
            </a:r>
            <a:r>
              <a:rPr lang="zh-CN" altLang="en-US" sz="48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r>
              <a:rPr lang="zh-CN" altLang="en-US" sz="48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sz="5400" dirty="0">
                <a:latin typeface="华文楷体" panose="02010600040101010101" pitchFamily="2" charset="-122"/>
                <a:ea typeface="华文楷体" panose="02010600040101010101" pitchFamily="2" charset="-122"/>
              </a:rPr>
              <a:t>数理逻辑（数学分支），形成集合论，模型论，递归论，构造性数学与证明论。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70585236-5D80-9641-34F1-14624BFCCADF}"/>
              </a:ext>
            </a:extLst>
          </p:cNvPr>
          <p:cNvGrpSpPr/>
          <p:nvPr/>
        </p:nvGrpSpPr>
        <p:grpSpPr>
          <a:xfrm>
            <a:off x="4418629" y="2394658"/>
            <a:ext cx="4317641" cy="897427"/>
            <a:chOff x="3902262" y="2766428"/>
            <a:chExt cx="4317641" cy="89742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F708005-5F28-03D8-1999-106A37E3AB91}"/>
                </a:ext>
              </a:extLst>
            </p:cNvPr>
            <p:cNvSpPr txBox="1"/>
            <p:nvPr/>
          </p:nvSpPr>
          <p:spPr>
            <a:xfrm>
              <a:off x="3902262" y="2766428"/>
              <a:ext cx="1415772" cy="830997"/>
            </a:xfrm>
            <a:prstGeom prst="rect">
              <a:avLst/>
            </a:prstGeom>
            <a:solidFill>
              <a:srgbClr val="FFFF00"/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4800" dirty="0">
                  <a:latin typeface="幼圆" panose="02010509060101010101" pitchFamily="49" charset="-122"/>
                  <a:ea typeface="幼圆" panose="02010509060101010101" pitchFamily="49" charset="-122"/>
                </a:rPr>
                <a:t>计算</a:t>
              </a:r>
            </a:p>
          </p:txBody>
        </p:sp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DAB2F2A8-D4C6-B947-A102-F8E3050EC1E7}"/>
                </a:ext>
              </a:extLst>
            </p:cNvPr>
            <p:cNvSpPr txBox="1"/>
            <p:nvPr/>
          </p:nvSpPr>
          <p:spPr>
            <a:xfrm>
              <a:off x="6752835" y="2802081"/>
              <a:ext cx="1467068" cy="86177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lang="zh-CN" altLang="en-US" sz="5000" dirty="0">
                  <a:latin typeface="幼圆" panose="02010509060101010101" pitchFamily="49" charset="-122"/>
                  <a:ea typeface="幼圆" panose="02010509060101010101" pitchFamily="49" charset="-122"/>
                </a:rPr>
                <a:t>数学</a:t>
              </a:r>
            </a:p>
          </p:txBody>
        </p:sp>
        <p:sp>
          <p:nvSpPr>
            <p:cNvPr id="10" name="不等号 9">
              <a:extLst>
                <a:ext uri="{FF2B5EF4-FFF2-40B4-BE49-F238E27FC236}">
                  <a16:creationId xmlns:a16="http://schemas.microsoft.com/office/drawing/2014/main" id="{618C2947-D6C0-87C2-348F-273AFECE3711}"/>
                </a:ext>
              </a:extLst>
            </p:cNvPr>
            <p:cNvSpPr/>
            <p:nvPr/>
          </p:nvSpPr>
          <p:spPr>
            <a:xfrm>
              <a:off x="5486400" y="2883049"/>
              <a:ext cx="892885" cy="545951"/>
            </a:xfrm>
            <a:prstGeom prst="mathNotEqual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1" name="图片 10">
            <a:extLst>
              <a:ext uri="{FF2B5EF4-FFF2-40B4-BE49-F238E27FC236}">
                <a16:creationId xmlns:a16="http://schemas.microsoft.com/office/drawing/2014/main" id="{26DCDBE7-A39C-048E-49BF-07BEB374EB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2071" y="1616516"/>
            <a:ext cx="1871729" cy="162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7863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0415" y="-1248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010" y="1200719"/>
            <a:ext cx="10515600" cy="4727575"/>
          </a:xfr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计算和计算机</a:t>
            </a:r>
            <a:endParaRPr kumimoji="0" lang="en-US" altLang="zh-CN" sz="6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highlight>
                <a:srgbClr val="FFFF00"/>
              </a:highlight>
              <a:uLnTx/>
              <a:uFillTx/>
              <a:latin typeface="华文楷体" panose="02010600040101010101" pitchFamily="2" charset="-122"/>
              <a:ea typeface="华文楷体" panose="02010600040101010101" pitchFamily="2" charset="-122"/>
              <a:cs typeface="+mn-cs"/>
            </a:endParaRPr>
          </a:p>
          <a:p>
            <a:pPr marL="0" indent="0">
              <a:buNone/>
            </a:pP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010262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81D2A8E2-FF16-EACA-8AC5-5B9E98EDB9D1}"/>
              </a:ext>
            </a:extLst>
          </p:cNvPr>
          <p:cNvSpPr txBox="1"/>
          <p:nvPr/>
        </p:nvSpPr>
        <p:spPr>
          <a:xfrm>
            <a:off x="249010" y="2501838"/>
            <a:ext cx="117652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计算机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：自动计算的设备，</a:t>
            </a:r>
            <a:r>
              <a:rPr lang="zh-CN" altLang="en-US" sz="4800" dirty="0">
                <a:solidFill>
                  <a:prstClr val="blac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根据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实际应用设计的计算平台。</a:t>
            </a:r>
            <a:endParaRPr lang="zh-CN" altLang="en-US" dirty="0"/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79FA9C3-3FCA-8247-B339-526C181AC1B9}"/>
              </a:ext>
            </a:extLst>
          </p:cNvPr>
          <p:cNvGrpSpPr/>
          <p:nvPr/>
        </p:nvGrpSpPr>
        <p:grpSpPr>
          <a:xfrm>
            <a:off x="6822223" y="1049556"/>
            <a:ext cx="4947412" cy="1313978"/>
            <a:chOff x="4508074" y="1974532"/>
            <a:chExt cx="4947412" cy="1313978"/>
          </a:xfrm>
        </p:grpSpPr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37EC97F4-4CB1-7FAE-6131-CC1DDB6FA5FF}"/>
                </a:ext>
              </a:extLst>
            </p:cNvPr>
            <p:cNvGrpSpPr/>
            <p:nvPr/>
          </p:nvGrpSpPr>
          <p:grpSpPr>
            <a:xfrm>
              <a:off x="4508074" y="2398234"/>
              <a:ext cx="4947412" cy="890276"/>
              <a:chOff x="3902262" y="2737926"/>
              <a:chExt cx="4947412" cy="890276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9519B4A-BE9D-D4A9-CA21-53B8463DB835}"/>
                  </a:ext>
                </a:extLst>
              </p:cNvPr>
              <p:cNvSpPr txBox="1"/>
              <p:nvPr/>
            </p:nvSpPr>
            <p:spPr>
              <a:xfrm>
                <a:off x="3902262" y="2766428"/>
                <a:ext cx="1467068" cy="861774"/>
              </a:xfrm>
              <a:prstGeom prst="rect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5000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计算</a:t>
                </a: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17C11698-7E93-74A1-EF0D-2638128C3C3D}"/>
                  </a:ext>
                </a:extLst>
              </p:cNvPr>
              <p:cNvSpPr txBox="1"/>
              <p:nvPr/>
            </p:nvSpPr>
            <p:spPr>
              <a:xfrm>
                <a:off x="6741405" y="2737926"/>
                <a:ext cx="2108269" cy="861774"/>
              </a:xfrm>
              <a:prstGeom prst="rect">
                <a:avLst/>
              </a:prstGeom>
              <a:solidFill>
                <a:srgbClr val="DBDBF9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5000" dirty="0">
                    <a:latin typeface="幼圆" panose="02010509060101010101" pitchFamily="49" charset="-122"/>
                    <a:ea typeface="幼圆" panose="02010509060101010101" pitchFamily="49" charset="-122"/>
                  </a:rPr>
                  <a:t>计算机</a:t>
                </a:r>
              </a:p>
            </p:txBody>
          </p:sp>
        </p:grpSp>
        <p:sp>
          <p:nvSpPr>
            <p:cNvPr id="11" name="箭头: 左右 10">
              <a:extLst>
                <a:ext uri="{FF2B5EF4-FFF2-40B4-BE49-F238E27FC236}">
                  <a16:creationId xmlns:a16="http://schemas.microsoft.com/office/drawing/2014/main" id="{A6C76FC6-44FB-6C93-A8E3-2FB9BE2A383C}"/>
                </a:ext>
              </a:extLst>
            </p:cNvPr>
            <p:cNvSpPr/>
            <p:nvPr/>
          </p:nvSpPr>
          <p:spPr>
            <a:xfrm>
              <a:off x="6295064" y="2708005"/>
              <a:ext cx="880110" cy="377190"/>
            </a:xfrm>
            <a:prstGeom prst="left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B5C2BF1-05A4-FF34-FEB1-ABAFA56246F4}"/>
                </a:ext>
              </a:extLst>
            </p:cNvPr>
            <p:cNvGrpSpPr/>
            <p:nvPr/>
          </p:nvGrpSpPr>
          <p:grpSpPr>
            <a:xfrm>
              <a:off x="6480417" y="1974532"/>
              <a:ext cx="363287" cy="757911"/>
              <a:chOff x="6552138" y="2171898"/>
              <a:chExt cx="363287" cy="757911"/>
            </a:xfrm>
          </p:grpSpPr>
          <p:sp>
            <p:nvSpPr>
              <p:cNvPr id="12" name="任意多边形: 形状 11">
                <a:extLst>
                  <a:ext uri="{FF2B5EF4-FFF2-40B4-BE49-F238E27FC236}">
                    <a16:creationId xmlns:a16="http://schemas.microsoft.com/office/drawing/2014/main" id="{BB089187-06E8-DA0D-D07C-1B38D5528E03}"/>
                  </a:ext>
                </a:extLst>
              </p:cNvPr>
              <p:cNvSpPr/>
              <p:nvPr/>
            </p:nvSpPr>
            <p:spPr>
              <a:xfrm>
                <a:off x="6552138" y="2171898"/>
                <a:ext cx="363287" cy="514350"/>
              </a:xfrm>
              <a:custGeom>
                <a:avLst/>
                <a:gdLst>
                  <a:gd name="connsiteX0" fmla="*/ 0 w 363287"/>
                  <a:gd name="connsiteY0" fmla="*/ 160020 h 514350"/>
                  <a:gd name="connsiteX1" fmla="*/ 11430 w 363287"/>
                  <a:gd name="connsiteY1" fmla="*/ 80010 h 514350"/>
                  <a:gd name="connsiteX2" fmla="*/ 45720 w 363287"/>
                  <a:gd name="connsiteY2" fmla="*/ 22860 h 514350"/>
                  <a:gd name="connsiteX3" fmla="*/ 80010 w 363287"/>
                  <a:gd name="connsiteY3" fmla="*/ 11430 h 514350"/>
                  <a:gd name="connsiteX4" fmla="*/ 182880 w 363287"/>
                  <a:gd name="connsiteY4" fmla="*/ 0 h 514350"/>
                  <a:gd name="connsiteX5" fmla="*/ 240030 w 363287"/>
                  <a:gd name="connsiteY5" fmla="*/ 11430 h 514350"/>
                  <a:gd name="connsiteX6" fmla="*/ 274320 w 363287"/>
                  <a:gd name="connsiteY6" fmla="*/ 22860 h 514350"/>
                  <a:gd name="connsiteX7" fmla="*/ 320040 w 363287"/>
                  <a:gd name="connsiteY7" fmla="*/ 34290 h 514350"/>
                  <a:gd name="connsiteX8" fmla="*/ 342900 w 363287"/>
                  <a:gd name="connsiteY8" fmla="*/ 217170 h 514350"/>
                  <a:gd name="connsiteX9" fmla="*/ 262890 w 363287"/>
                  <a:gd name="connsiteY9" fmla="*/ 274320 h 514350"/>
                  <a:gd name="connsiteX10" fmla="*/ 228600 w 363287"/>
                  <a:gd name="connsiteY10" fmla="*/ 308610 h 514350"/>
                  <a:gd name="connsiteX11" fmla="*/ 228600 w 363287"/>
                  <a:gd name="connsiteY11" fmla="*/ 502920 h 514350"/>
                  <a:gd name="connsiteX12" fmla="*/ 240030 w 363287"/>
                  <a:gd name="connsiteY12" fmla="*/ 514350 h 514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363287" h="514350">
                    <a:moveTo>
                      <a:pt x="0" y="160020"/>
                    </a:moveTo>
                    <a:cubicBezTo>
                      <a:pt x="3810" y="133350"/>
                      <a:pt x="2911" y="105568"/>
                      <a:pt x="11430" y="80010"/>
                    </a:cubicBezTo>
                    <a:cubicBezTo>
                      <a:pt x="18455" y="58934"/>
                      <a:pt x="30011" y="38569"/>
                      <a:pt x="45720" y="22860"/>
                    </a:cubicBezTo>
                    <a:cubicBezTo>
                      <a:pt x="54239" y="14341"/>
                      <a:pt x="68126" y="13411"/>
                      <a:pt x="80010" y="11430"/>
                    </a:cubicBezTo>
                    <a:cubicBezTo>
                      <a:pt x="114042" y="5758"/>
                      <a:pt x="148590" y="3810"/>
                      <a:pt x="182880" y="0"/>
                    </a:cubicBezTo>
                    <a:cubicBezTo>
                      <a:pt x="201930" y="3810"/>
                      <a:pt x="221183" y="6718"/>
                      <a:pt x="240030" y="11430"/>
                    </a:cubicBezTo>
                    <a:cubicBezTo>
                      <a:pt x="251719" y="14352"/>
                      <a:pt x="262735" y="19550"/>
                      <a:pt x="274320" y="22860"/>
                    </a:cubicBezTo>
                    <a:cubicBezTo>
                      <a:pt x="289425" y="27176"/>
                      <a:pt x="304800" y="30480"/>
                      <a:pt x="320040" y="34290"/>
                    </a:cubicBezTo>
                    <a:cubicBezTo>
                      <a:pt x="351897" y="98005"/>
                      <a:pt x="386172" y="136036"/>
                      <a:pt x="342900" y="217170"/>
                    </a:cubicBezTo>
                    <a:cubicBezTo>
                      <a:pt x="327477" y="246089"/>
                      <a:pt x="288483" y="253846"/>
                      <a:pt x="262890" y="274320"/>
                    </a:cubicBezTo>
                    <a:cubicBezTo>
                      <a:pt x="250268" y="284418"/>
                      <a:pt x="240030" y="297180"/>
                      <a:pt x="228600" y="308610"/>
                    </a:cubicBezTo>
                    <a:cubicBezTo>
                      <a:pt x="201973" y="388490"/>
                      <a:pt x="208704" y="353704"/>
                      <a:pt x="228600" y="502920"/>
                    </a:cubicBezTo>
                    <a:cubicBezTo>
                      <a:pt x="229312" y="508261"/>
                      <a:pt x="236220" y="510540"/>
                      <a:pt x="240030" y="514350"/>
                    </a:cubicBezTo>
                  </a:path>
                </a:pathLst>
              </a:cu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6B57DC7E-A660-0430-2563-3260A06A7273}"/>
                  </a:ext>
                </a:extLst>
              </p:cNvPr>
              <p:cNvSpPr/>
              <p:nvPr/>
            </p:nvSpPr>
            <p:spPr>
              <a:xfrm>
                <a:off x="6698255" y="2745738"/>
                <a:ext cx="217170" cy="184071"/>
              </a:xfrm>
              <a:custGeom>
                <a:avLst/>
                <a:gdLst>
                  <a:gd name="connsiteX0" fmla="*/ 125730 w 217170"/>
                  <a:gd name="connsiteY0" fmla="*/ 0 h 184071"/>
                  <a:gd name="connsiteX1" fmla="*/ 57150 w 217170"/>
                  <a:gd name="connsiteY1" fmla="*/ 11430 h 184071"/>
                  <a:gd name="connsiteX2" fmla="*/ 0 w 217170"/>
                  <a:gd name="connsiteY2" fmla="*/ 91440 h 184071"/>
                  <a:gd name="connsiteX3" fmla="*/ 22860 w 217170"/>
                  <a:gd name="connsiteY3" fmla="*/ 160020 h 184071"/>
                  <a:gd name="connsiteX4" fmla="*/ 217170 w 217170"/>
                  <a:gd name="connsiteY4" fmla="*/ 125730 h 184071"/>
                  <a:gd name="connsiteX5" fmla="*/ 205740 w 217170"/>
                  <a:gd name="connsiteY5" fmla="*/ 68580 h 184071"/>
                  <a:gd name="connsiteX6" fmla="*/ 148590 w 217170"/>
                  <a:gd name="connsiteY6" fmla="*/ 57150 h 184071"/>
                  <a:gd name="connsiteX7" fmla="*/ 114300 w 217170"/>
                  <a:gd name="connsiteY7" fmla="*/ 45720 h 184071"/>
                  <a:gd name="connsiteX8" fmla="*/ 80010 w 217170"/>
                  <a:gd name="connsiteY8" fmla="*/ 22860 h 18407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17170" h="184071">
                    <a:moveTo>
                      <a:pt x="125730" y="0"/>
                    </a:moveTo>
                    <a:cubicBezTo>
                      <a:pt x="102870" y="3810"/>
                      <a:pt x="78328" y="2018"/>
                      <a:pt x="57150" y="11430"/>
                    </a:cubicBezTo>
                    <a:cubicBezTo>
                      <a:pt x="27361" y="24670"/>
                      <a:pt x="12644" y="66151"/>
                      <a:pt x="0" y="91440"/>
                    </a:cubicBezTo>
                    <a:cubicBezTo>
                      <a:pt x="7620" y="114300"/>
                      <a:pt x="10089" y="139586"/>
                      <a:pt x="22860" y="160020"/>
                    </a:cubicBezTo>
                    <a:cubicBezTo>
                      <a:pt x="65450" y="228165"/>
                      <a:pt x="204300" y="130327"/>
                      <a:pt x="217170" y="125730"/>
                    </a:cubicBezTo>
                    <a:cubicBezTo>
                      <a:pt x="213360" y="106680"/>
                      <a:pt x="219477" y="82317"/>
                      <a:pt x="205740" y="68580"/>
                    </a:cubicBezTo>
                    <a:cubicBezTo>
                      <a:pt x="192003" y="54843"/>
                      <a:pt x="167437" y="61862"/>
                      <a:pt x="148590" y="57150"/>
                    </a:cubicBezTo>
                    <a:cubicBezTo>
                      <a:pt x="136901" y="54228"/>
                      <a:pt x="125730" y="49530"/>
                      <a:pt x="114300" y="45720"/>
                    </a:cubicBezTo>
                    <a:cubicBezTo>
                      <a:pt x="77316" y="8736"/>
                      <a:pt x="80010" y="-4734"/>
                      <a:pt x="80010" y="22860"/>
                    </a:cubicBezTo>
                  </a:path>
                </a:pathLst>
              </a:custGeom>
              <a:noFill/>
              <a:ln w="76200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F18A6E8A-F745-69A5-8A42-8A83D8C8C913}"/>
              </a:ext>
            </a:extLst>
          </p:cNvPr>
          <p:cNvSpPr txBox="1"/>
          <p:nvPr/>
        </p:nvSpPr>
        <p:spPr>
          <a:xfrm>
            <a:off x="249010" y="3947488"/>
            <a:ext cx="1157841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highlight>
                  <a:srgbClr val="FFFF00"/>
                </a:highlight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计算</a:t>
            </a:r>
            <a:r>
              <a:rPr kumimoji="0" lang="zh-CN" altLang="en-US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：用数学语言描述行为，将其变成计算机设备能执行和解决的事务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923491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0719"/>
            <a:ext cx="121920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计算科学</a:t>
            </a:r>
            <a:endParaRPr lang="en-US" altLang="zh-CN" sz="6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5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计算科学</a:t>
            </a:r>
            <a:r>
              <a:rPr lang="zh-CN" altLang="en-US" sz="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：数理逻辑，计算模型，算法理论，自动计算机器研究，创立于</a:t>
            </a:r>
            <a:r>
              <a:rPr lang="en-US" altLang="zh-CN" sz="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1930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519B4A-BE9D-D4A9-CA21-53B8463DB835}"/>
              </a:ext>
            </a:extLst>
          </p:cNvPr>
          <p:cNvSpPr txBox="1"/>
          <p:nvPr/>
        </p:nvSpPr>
        <p:spPr>
          <a:xfrm>
            <a:off x="2108290" y="2173077"/>
            <a:ext cx="1467068" cy="86177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计算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273952-4C4E-1C9C-06A1-03782EE1DD31}"/>
              </a:ext>
            </a:extLst>
          </p:cNvPr>
          <p:cNvSpPr txBox="1"/>
          <p:nvPr/>
        </p:nvSpPr>
        <p:spPr>
          <a:xfrm>
            <a:off x="4530303" y="2173077"/>
            <a:ext cx="2108269" cy="861774"/>
          </a:xfrm>
          <a:prstGeom prst="rect">
            <a:avLst/>
          </a:prstGeom>
          <a:solidFill>
            <a:srgbClr val="DBDBF9"/>
          </a:solidFill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58D84E-3212-768B-C0AE-B2C487738FD1}"/>
              </a:ext>
            </a:extLst>
          </p:cNvPr>
          <p:cNvSpPr txBox="1"/>
          <p:nvPr/>
        </p:nvSpPr>
        <p:spPr>
          <a:xfrm>
            <a:off x="8144688" y="2173077"/>
            <a:ext cx="2749471" cy="8617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计算科学</a:t>
            </a:r>
          </a:p>
        </p:txBody>
      </p:sp>
      <p:sp>
        <p:nvSpPr>
          <p:cNvPr id="13" name="加号 12">
            <a:extLst>
              <a:ext uri="{FF2B5EF4-FFF2-40B4-BE49-F238E27FC236}">
                <a16:creationId xmlns:a16="http://schemas.microsoft.com/office/drawing/2014/main" id="{05BB3A24-9650-4AF4-EF24-9D1B10D9A134}"/>
              </a:ext>
            </a:extLst>
          </p:cNvPr>
          <p:cNvSpPr/>
          <p:nvPr/>
        </p:nvSpPr>
        <p:spPr>
          <a:xfrm>
            <a:off x="3646787" y="2370147"/>
            <a:ext cx="723027" cy="46763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号 13">
            <a:extLst>
              <a:ext uri="{FF2B5EF4-FFF2-40B4-BE49-F238E27FC236}">
                <a16:creationId xmlns:a16="http://schemas.microsoft.com/office/drawing/2014/main" id="{79B7DED4-D344-5BE9-F6EE-8E08A0C2181C}"/>
              </a:ext>
            </a:extLst>
          </p:cNvPr>
          <p:cNvSpPr/>
          <p:nvPr/>
        </p:nvSpPr>
        <p:spPr>
          <a:xfrm>
            <a:off x="6980088" y="2378112"/>
            <a:ext cx="704959" cy="45170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7DB4A49-6E82-CBEB-635E-44412F25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15" y="-1248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2684DC-C7A1-22AC-FA97-CBECA20AE2FE}"/>
              </a:ext>
            </a:extLst>
          </p:cNvPr>
          <p:cNvCxnSpPr/>
          <p:nvPr/>
        </p:nvCxnSpPr>
        <p:spPr>
          <a:xfrm flipV="1">
            <a:off x="838200" y="1010262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74798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0719"/>
            <a:ext cx="121920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计算科学</a:t>
            </a:r>
            <a:endParaRPr lang="en-US" altLang="zh-CN" sz="6000" dirty="0">
              <a:highlight>
                <a:srgbClr val="FFFF00"/>
              </a:highligh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l"/>
            </a:pP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r>
              <a:rPr lang="zh-CN" altLang="en-US" sz="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5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计算科学</a:t>
            </a:r>
            <a:r>
              <a:rPr lang="zh-CN" altLang="en-US" sz="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：数理逻辑，计算模型，算法理论，自动计算机器研究，创立于</a:t>
            </a:r>
            <a:r>
              <a:rPr lang="en-US" altLang="zh-CN" sz="5000" dirty="0">
                <a:latin typeface="华文楷体" panose="02010600040101010101" pitchFamily="2" charset="-122"/>
                <a:ea typeface="华文楷体" panose="02010600040101010101" pitchFamily="2" charset="-122"/>
              </a:rPr>
              <a:t>1930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9519B4A-BE9D-D4A9-CA21-53B8463DB835}"/>
              </a:ext>
            </a:extLst>
          </p:cNvPr>
          <p:cNvSpPr txBox="1"/>
          <p:nvPr/>
        </p:nvSpPr>
        <p:spPr>
          <a:xfrm>
            <a:off x="2108290" y="2173077"/>
            <a:ext cx="1467068" cy="861774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计算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0273952-4C4E-1C9C-06A1-03782EE1DD31}"/>
              </a:ext>
            </a:extLst>
          </p:cNvPr>
          <p:cNvSpPr txBox="1"/>
          <p:nvPr/>
        </p:nvSpPr>
        <p:spPr>
          <a:xfrm>
            <a:off x="4530303" y="2173077"/>
            <a:ext cx="2108269" cy="861774"/>
          </a:xfrm>
          <a:prstGeom prst="rect">
            <a:avLst/>
          </a:prstGeom>
          <a:solidFill>
            <a:srgbClr val="DBDBF9"/>
          </a:solidFill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计算机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558D84E-3212-768B-C0AE-B2C487738FD1}"/>
              </a:ext>
            </a:extLst>
          </p:cNvPr>
          <p:cNvSpPr txBox="1"/>
          <p:nvPr/>
        </p:nvSpPr>
        <p:spPr>
          <a:xfrm>
            <a:off x="8144688" y="2173077"/>
            <a:ext cx="2749471" cy="86177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zh-CN" altLang="en-US" sz="5000" dirty="0">
                <a:latin typeface="幼圆" panose="02010509060101010101" pitchFamily="49" charset="-122"/>
                <a:ea typeface="幼圆" panose="02010509060101010101" pitchFamily="49" charset="-122"/>
              </a:rPr>
              <a:t>计算科学</a:t>
            </a:r>
          </a:p>
        </p:txBody>
      </p:sp>
      <p:sp>
        <p:nvSpPr>
          <p:cNvPr id="13" name="加号 12">
            <a:extLst>
              <a:ext uri="{FF2B5EF4-FFF2-40B4-BE49-F238E27FC236}">
                <a16:creationId xmlns:a16="http://schemas.microsoft.com/office/drawing/2014/main" id="{05BB3A24-9650-4AF4-EF24-9D1B10D9A134}"/>
              </a:ext>
            </a:extLst>
          </p:cNvPr>
          <p:cNvSpPr/>
          <p:nvPr/>
        </p:nvSpPr>
        <p:spPr>
          <a:xfrm>
            <a:off x="3646787" y="2370147"/>
            <a:ext cx="723027" cy="467634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等号 13">
            <a:extLst>
              <a:ext uri="{FF2B5EF4-FFF2-40B4-BE49-F238E27FC236}">
                <a16:creationId xmlns:a16="http://schemas.microsoft.com/office/drawing/2014/main" id="{79B7DED4-D344-5BE9-F6EE-8E08A0C2181C}"/>
              </a:ext>
            </a:extLst>
          </p:cNvPr>
          <p:cNvSpPr/>
          <p:nvPr/>
        </p:nvSpPr>
        <p:spPr>
          <a:xfrm>
            <a:off x="6980088" y="2378112"/>
            <a:ext cx="704959" cy="451703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7DB4A49-6E82-CBEB-635E-44412F25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15" y="-1248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2684DC-C7A1-22AC-FA97-CBECA20AE2FE}"/>
              </a:ext>
            </a:extLst>
          </p:cNvPr>
          <p:cNvCxnSpPr/>
          <p:nvPr/>
        </p:nvCxnSpPr>
        <p:spPr>
          <a:xfrm flipV="1">
            <a:off x="838200" y="1010262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440516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899160"/>
            <a:ext cx="12192000" cy="641881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计算思维特点定义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不仅编程，还需多层面</a:t>
            </a:r>
            <a:r>
              <a:rPr lang="zh-CN" altLang="en-US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抽象</a:t>
            </a: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思维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指</a:t>
            </a:r>
            <a:r>
              <a:rPr lang="zh-CN" altLang="en-US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人</a:t>
            </a: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求解问题，而</a:t>
            </a:r>
            <a:r>
              <a:rPr lang="zh-CN" altLang="en-US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非计算机</a:t>
            </a: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的思维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是数学与工程互补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是</a:t>
            </a:r>
            <a:r>
              <a:rPr lang="zh-CN" altLang="en-US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思想而非人造物</a:t>
            </a:r>
            <a:endParaRPr lang="en-US" altLang="zh-CN" sz="5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面向人类各种活动，而非形式上的理论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7DB4A49-6E82-CBEB-635E-44412F25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15" y="-1248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2684DC-C7A1-22AC-FA97-CBECA20AE2FE}"/>
              </a:ext>
            </a:extLst>
          </p:cNvPr>
          <p:cNvCxnSpPr/>
          <p:nvPr/>
        </p:nvCxnSpPr>
        <p:spPr>
          <a:xfrm flipV="1">
            <a:off x="838200" y="900811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22860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0719"/>
            <a:ext cx="121920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计算思维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运用</a:t>
            </a:r>
            <a:r>
              <a:rPr lang="zh-CN" altLang="en-US" sz="5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计算机科学概念</a:t>
            </a: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求解问题，设计系统以及理解人类行为等一系列思维活动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0">
              <a:buNone/>
            </a:pP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7DB4A49-6E82-CBEB-635E-44412F25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15" y="-1248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2684DC-C7A1-22AC-FA97-CBECA20AE2FE}"/>
              </a:ext>
            </a:extLst>
          </p:cNvPr>
          <p:cNvCxnSpPr/>
          <p:nvPr/>
        </p:nvCxnSpPr>
        <p:spPr>
          <a:xfrm flipV="1">
            <a:off x="838200" y="1010262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0512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200719"/>
            <a:ext cx="12192000" cy="5977321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6000" dirty="0">
                <a:highlight>
                  <a:srgbClr val="FFFF00"/>
                </a:highlight>
                <a:latin typeface="华文楷体" panose="02010600040101010101" pitchFamily="2" charset="-122"/>
                <a:ea typeface="华文楷体" panose="02010600040101010101" pitchFamily="2" charset="-122"/>
              </a:rPr>
              <a:t>计算思维涵盖</a:t>
            </a:r>
            <a:endParaRPr lang="en-US" altLang="zh-CN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720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化繁为简，转化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720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抽象与分解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720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启发式推理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720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恢复的思维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 marL="0" indent="720000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zh-CN" altLang="en-US" sz="5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" panose="02010609060101010101" pitchFamily="49" charset="-122"/>
                <a:ea typeface="仿宋" panose="02010609060101010101" pitchFamily="49" charset="-122"/>
              </a:rPr>
              <a:t>递归和并行处理</a:t>
            </a:r>
            <a:endParaRPr lang="en-US" altLang="zh-CN" sz="5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67DB4A49-6E82-CBEB-635E-44412F250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0415" y="-12484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2C2684DC-C7A1-22AC-FA97-CBECA20AE2FE}"/>
              </a:ext>
            </a:extLst>
          </p:cNvPr>
          <p:cNvCxnSpPr/>
          <p:nvPr/>
        </p:nvCxnSpPr>
        <p:spPr>
          <a:xfrm flipV="1">
            <a:off x="838200" y="1010262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623523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293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1.3 </a:t>
            </a:r>
            <a:r>
              <a:rPr lang="zh-CN" altLang="en-US" sz="7000" b="1" dirty="0">
                <a:solidFill>
                  <a:schemeClr val="accent2">
                    <a:lumMod val="50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计算思维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653502"/>
            <a:ext cx="10515600" cy="4727575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en-US" sz="4800" dirty="0">
                <a:highlight>
                  <a:srgbClr val="FFFF00"/>
                </a:highlight>
                <a:latin typeface="幼圆" panose="02010509060101010101" pitchFamily="49" charset="-122"/>
                <a:ea typeface="幼圆" panose="02010509060101010101" pitchFamily="49" charset="-122"/>
              </a:rPr>
              <a:t>计算科学的知识结构</a:t>
            </a:r>
            <a:endParaRPr lang="zh-CN" altLang="en-US" sz="48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cxnSp>
        <p:nvCxnSpPr>
          <p:cNvPr id="7" name="直接连接符 6"/>
          <p:cNvCxnSpPr/>
          <p:nvPr/>
        </p:nvCxnSpPr>
        <p:spPr>
          <a:xfrm flipV="1">
            <a:off x="838200" y="1440865"/>
            <a:ext cx="10515600" cy="27709"/>
          </a:xfrm>
          <a:prstGeom prst="line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8B0A0A9-4BEB-9788-AFB8-D663FE9DDB98}"/>
              </a:ext>
            </a:extLst>
          </p:cNvPr>
          <p:cNvSpPr/>
          <p:nvPr/>
        </p:nvSpPr>
        <p:spPr>
          <a:xfrm>
            <a:off x="3040380" y="2680117"/>
            <a:ext cx="5086350" cy="104013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应用层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36E051-0D82-CE59-37F0-8158473A6550}"/>
              </a:ext>
            </a:extLst>
          </p:cNvPr>
          <p:cNvSpPr/>
          <p:nvPr/>
        </p:nvSpPr>
        <p:spPr>
          <a:xfrm>
            <a:off x="3040380" y="3935317"/>
            <a:ext cx="5086350" cy="104013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专业基础层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C100C79-CEC5-ACC3-776C-15458DB04AE7}"/>
              </a:ext>
            </a:extLst>
          </p:cNvPr>
          <p:cNvSpPr/>
          <p:nvPr/>
        </p:nvSpPr>
        <p:spPr>
          <a:xfrm>
            <a:off x="3040380" y="5170897"/>
            <a:ext cx="5086350" cy="104013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5400" dirty="0">
                <a:solidFill>
                  <a:schemeClr val="tx1"/>
                </a:solidFill>
              </a:rPr>
              <a:t>基础层</a:t>
            </a:r>
          </a:p>
        </p:txBody>
      </p:sp>
    </p:spTree>
    <p:extLst>
      <p:ext uri="{BB962C8B-B14F-4D97-AF65-F5344CB8AC3E}">
        <p14:creationId xmlns:p14="http://schemas.microsoft.com/office/powerpoint/2010/main" val="302809220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A49B5EA-67D1-95AC-4ED1-C0A064B0701E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56" r="4375"/>
          <a:stretch/>
        </p:blipFill>
        <p:spPr>
          <a:xfrm>
            <a:off x="0" y="342900"/>
            <a:ext cx="12192000" cy="638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88884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DFFD76-17DD-1570-6BFA-AFC3859E2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C25D30-C880-66D1-D24B-BB6E2EE8AC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altLang="zh-CN" sz="7200" dirty="0"/>
          </a:p>
          <a:p>
            <a:pPr marL="0" indent="0" algn="ctr">
              <a:buNone/>
            </a:pPr>
            <a:endParaRPr lang="en-US" altLang="zh-CN" sz="72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 algn="ctr">
              <a:buNone/>
            </a:pPr>
            <a:r>
              <a:rPr lang="zh-CN" altLang="en-US" sz="9600" b="1" dirty="0">
                <a:latin typeface="幼圆" panose="02010509060101010101" pitchFamily="49" charset="-122"/>
                <a:ea typeface="幼圆" panose="02010509060101010101" pitchFamily="49" charset="-122"/>
              </a:rPr>
              <a:t>谢谢！</a:t>
            </a:r>
          </a:p>
        </p:txBody>
      </p:sp>
    </p:spTree>
    <p:extLst>
      <p:ext uri="{BB962C8B-B14F-4D97-AF65-F5344CB8AC3E}">
        <p14:creationId xmlns:p14="http://schemas.microsoft.com/office/powerpoint/2010/main" val="417017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plit orient="vert"/>
      </p:transition>
    </mc:Choice>
    <mc:Fallback xmlns="">
      <p:transition spd="slow">
        <p:split orient="vert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8688</TotalTime>
  <Words>3661</Words>
  <Application>Microsoft Office PowerPoint</Application>
  <PresentationFormat>宽屏</PresentationFormat>
  <Paragraphs>472</Paragraphs>
  <Slides>69</Slides>
  <Notes>47</Notes>
  <HiddenSlides>0</HiddenSlides>
  <MMClips>0</MMClips>
  <ScaleCrop>false</ScaleCrop>
  <HeadingPairs>
    <vt:vector size="8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69</vt:i4>
      </vt:variant>
    </vt:vector>
  </HeadingPairs>
  <TitlesOfParts>
    <vt:vector size="88" baseType="lpstr">
      <vt:lpstr>-apple-system</vt:lpstr>
      <vt:lpstr>Helvetica Neue</vt:lpstr>
      <vt:lpstr>等线</vt:lpstr>
      <vt:lpstr>等线 Light</vt:lpstr>
      <vt:lpstr>仿宋</vt:lpstr>
      <vt:lpstr>黑体</vt:lpstr>
      <vt:lpstr>华文楷体</vt:lpstr>
      <vt:lpstr>楷体</vt:lpstr>
      <vt:lpstr>微软雅黑</vt:lpstr>
      <vt:lpstr>幼圆</vt:lpstr>
      <vt:lpstr>Arial</vt:lpstr>
      <vt:lpstr>Arial</vt:lpstr>
      <vt:lpstr>Calibri</vt:lpstr>
      <vt:lpstr>Times New Roman</vt:lpstr>
      <vt:lpstr>Trebuchet MS</vt:lpstr>
      <vt:lpstr>Wingdings</vt:lpstr>
      <vt:lpstr>Office 主题​​</vt:lpstr>
      <vt:lpstr>自定义设计方案</vt:lpstr>
      <vt:lpstr>Image</vt:lpstr>
      <vt:lpstr>计算机科学导论</vt:lpstr>
      <vt:lpstr>第一章 计算机与计算</vt:lpstr>
      <vt:lpstr>1.1 计算机</vt:lpstr>
      <vt:lpstr>1.1 计算机</vt:lpstr>
      <vt:lpstr>1.1 计算机</vt:lpstr>
      <vt:lpstr>PowerPoint 演示文稿</vt:lpstr>
      <vt:lpstr>PowerPoint 演示文稿</vt:lpstr>
      <vt:lpstr>1.1 计算机</vt:lpstr>
      <vt:lpstr>1.1 计算机</vt:lpstr>
      <vt:lpstr>PowerPoint 演示文稿</vt:lpstr>
      <vt:lpstr>PowerPoint 演示文稿</vt:lpstr>
      <vt:lpstr>PowerPoint 演示文稿</vt:lpstr>
      <vt:lpstr>PowerPoint 演示文稿</vt:lpstr>
      <vt:lpstr>1.1 计算机</vt:lpstr>
      <vt:lpstr>PowerPoint 演示文稿</vt:lpstr>
      <vt:lpstr>1.1 计算机</vt:lpstr>
      <vt:lpstr>1.1 计算机</vt:lpstr>
      <vt:lpstr>1.1 计算机</vt:lpstr>
      <vt:lpstr>1.1 计算机</vt:lpstr>
      <vt:lpstr>1.1 计算机</vt:lpstr>
      <vt:lpstr>1.1 计算机</vt:lpstr>
      <vt:lpstr>PowerPoint 演示文稿</vt:lpstr>
      <vt:lpstr>PowerPoint 演示文稿</vt:lpstr>
      <vt:lpstr>PowerPoint 演示文稿</vt:lpstr>
      <vt:lpstr>1.1 计算机</vt:lpstr>
      <vt:lpstr>PowerPoint 演示文稿</vt:lpstr>
      <vt:lpstr>PowerPoint 演示文稿</vt:lpstr>
      <vt:lpstr>1.1 计算机</vt:lpstr>
      <vt:lpstr>1.1 计算机</vt:lpstr>
      <vt:lpstr>1.1 计算机</vt:lpstr>
      <vt:lpstr>1.1 计算机</vt:lpstr>
      <vt:lpstr>PowerPoint 演示文稿</vt:lpstr>
      <vt:lpstr>PowerPoint 演示文稿</vt:lpstr>
      <vt:lpstr>PowerPoint 演示文稿</vt:lpstr>
      <vt:lpstr>PowerPoint 演示文稿</vt:lpstr>
      <vt:lpstr>1.2 计算机发展史</vt:lpstr>
      <vt:lpstr>1.2 计算机发展史</vt:lpstr>
      <vt:lpstr>1.2 计算机发展史</vt:lpstr>
      <vt:lpstr>1.2 计算机发展史</vt:lpstr>
      <vt:lpstr>PowerPoint 演示文稿</vt:lpstr>
      <vt:lpstr>1.2 计算机发展史</vt:lpstr>
      <vt:lpstr>1.2 计算机发展史</vt:lpstr>
      <vt:lpstr>1.2 计算机发展史</vt:lpstr>
      <vt:lpstr>1.2 计算机发展史</vt:lpstr>
      <vt:lpstr>1.2 计算机发展史</vt:lpstr>
      <vt:lpstr>1.2 计算机发展史</vt:lpstr>
      <vt:lpstr>1.2 计算机发展史</vt:lpstr>
      <vt:lpstr>PowerPoint 演示文稿</vt:lpstr>
      <vt:lpstr>1.2 计算机发展史</vt:lpstr>
      <vt:lpstr>1.2 计算机发展史</vt:lpstr>
      <vt:lpstr>1.2 计算机发展史</vt:lpstr>
      <vt:lpstr>1.2 计算机发展史</vt:lpstr>
      <vt:lpstr>1.2 计算机发展史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1.3 计算思维</vt:lpstr>
      <vt:lpstr>1.3 计算思维</vt:lpstr>
      <vt:lpstr>1.3 计算思维</vt:lpstr>
      <vt:lpstr>1.3 计算思维</vt:lpstr>
      <vt:lpstr>1.3 计算思维</vt:lpstr>
      <vt:lpstr>1.3 计算思维</vt:lpstr>
      <vt:lpstr>1.3 计算思维</vt:lpstr>
      <vt:lpstr>1.3 计算思维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数据分析方法</dc:title>
  <dc:creator>Windows 用户</dc:creator>
  <cp:lastModifiedBy>254885449@qq.com</cp:lastModifiedBy>
  <cp:revision>358</cp:revision>
  <dcterms:created xsi:type="dcterms:W3CDTF">2020-02-05T02:41:26Z</dcterms:created>
  <dcterms:modified xsi:type="dcterms:W3CDTF">2024-10-23T12:20:31Z</dcterms:modified>
</cp:coreProperties>
</file>