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gif"/>
  <Default Extension="png" ContentType="image/png"/>
  <Default Extension="rels" ContentType="application/vnd.openxmlformats-package.relationships+xml"/>
  <Default Extension="tif" ContentType="image/tiff"/>
  <Default Extension="tiff" ContentType="image/tiff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9"/>
  </p:notesMasterIdLst>
  <p:handoutMasterIdLst>
    <p:handoutMasterId r:id="rId60"/>
  </p:handoutMasterIdLst>
  <p:sldIdLst>
    <p:sldId id="379" r:id="rId3"/>
    <p:sldId id="431" r:id="rId4"/>
    <p:sldId id="558" r:id="rId5"/>
    <p:sldId id="554" r:id="rId6"/>
    <p:sldId id="578" r:id="rId7"/>
    <p:sldId id="583" r:id="rId8"/>
    <p:sldId id="584" r:id="rId9"/>
    <p:sldId id="579" r:id="rId10"/>
    <p:sldId id="585" r:id="rId11"/>
    <p:sldId id="586" r:id="rId12"/>
    <p:sldId id="587" r:id="rId13"/>
    <p:sldId id="588" r:id="rId14"/>
    <p:sldId id="589" r:id="rId15"/>
    <p:sldId id="590" r:id="rId16"/>
    <p:sldId id="591" r:id="rId17"/>
    <p:sldId id="592" r:id="rId18"/>
    <p:sldId id="593" r:id="rId19"/>
    <p:sldId id="594" r:id="rId20"/>
    <p:sldId id="595" r:id="rId21"/>
    <p:sldId id="596" r:id="rId22"/>
    <p:sldId id="597" r:id="rId23"/>
    <p:sldId id="598" r:id="rId24"/>
    <p:sldId id="599" r:id="rId25"/>
    <p:sldId id="600" r:id="rId26"/>
    <p:sldId id="601" r:id="rId27"/>
    <p:sldId id="621" r:id="rId28"/>
    <p:sldId id="622" r:id="rId29"/>
    <p:sldId id="620" r:id="rId30"/>
    <p:sldId id="623" r:id="rId31"/>
    <p:sldId id="624" r:id="rId32"/>
    <p:sldId id="625" r:id="rId33"/>
    <p:sldId id="626" r:id="rId34"/>
    <p:sldId id="628" r:id="rId35"/>
    <p:sldId id="637" r:id="rId36"/>
    <p:sldId id="627" r:id="rId37"/>
    <p:sldId id="630" r:id="rId38"/>
    <p:sldId id="629" r:id="rId39"/>
    <p:sldId id="647" r:id="rId40"/>
    <p:sldId id="631" r:id="rId41"/>
    <p:sldId id="632" r:id="rId42"/>
    <p:sldId id="633" r:id="rId43"/>
    <p:sldId id="646" r:id="rId44"/>
    <p:sldId id="634" r:id="rId45"/>
    <p:sldId id="443" r:id="rId46"/>
    <p:sldId id="636" r:id="rId47"/>
    <p:sldId id="648" r:id="rId48"/>
    <p:sldId id="651" r:id="rId49"/>
    <p:sldId id="635" r:id="rId50"/>
    <p:sldId id="638" r:id="rId51"/>
    <p:sldId id="639" r:id="rId52"/>
    <p:sldId id="641" r:id="rId53"/>
    <p:sldId id="644" r:id="rId54"/>
    <p:sldId id="645" r:id="rId55"/>
    <p:sldId id="640" r:id="rId56"/>
    <p:sldId id="642" r:id="rId57"/>
    <p:sldId id="643" r:id="rId5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1E1"/>
    <a:srgbClr val="0000FF"/>
    <a:srgbClr val="843C0C"/>
    <a:srgbClr val="C55A11"/>
    <a:srgbClr val="C29E86"/>
    <a:srgbClr val="DBDBF9"/>
    <a:srgbClr val="CDCDF7"/>
    <a:srgbClr val="BEB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85" autoAdjust="0"/>
    <p:restoredTop sz="73546" autoAdjust="0"/>
  </p:normalViewPr>
  <p:slideViewPr>
    <p:cSldViewPr snapToGrid="0">
      <p:cViewPr varScale="1">
        <p:scale>
          <a:sx n="57" d="100"/>
          <a:sy n="57" d="100"/>
        </p:scale>
        <p:origin x="1186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980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6" d="100"/>
          <a:sy n="16" d="100"/>
        </p:scale>
        <p:origin x="3950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1AB5E9A-CBFC-67FC-49F2-FD96B6BC22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4A6E9F-26DE-E0AA-7E70-D42E366E6D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1F8C96-C84E-4991-B653-754E6670E9BB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3A63FD-69E6-5F4A-9A71-ED0673F47A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EE3B3B-3680-85F6-6214-CA3A6E6382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6192DE-76F3-439D-B2AD-FDAE705A6C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720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C5B4B0-65D4-4E33-8144-61AC5D25D1E9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DD49BE-BF5F-4C11-9ED4-DFF65B4717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565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520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4365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面向过程：优点：效率高，因为不需要实例化对象。缺点：耦合度高，扩展性差，不易维护（例如：每个步骤都要有，不然就不行）</a:t>
            </a:r>
            <a:endParaRPr lang="en-US" altLang="zh-CN" dirty="0"/>
          </a:p>
          <a:p>
            <a:r>
              <a:rPr lang="zh-CN" altLang="en-US" dirty="0"/>
              <a:t>面向对象：优点：耦合低（易复用），扩展性强，易维护，由于面向对象有封装、继承、多态性的特点，可以设计出低耦合的系统，使系统更加灵活、更加易于维护。</a:t>
            </a:r>
            <a:endParaRPr lang="en-US" altLang="zh-CN" dirty="0"/>
          </a:p>
          <a:p>
            <a:r>
              <a:rPr lang="zh-CN" altLang="en-US" dirty="0"/>
              <a:t>缺点：效率比面向过程低。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7352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5952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98584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7979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4484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8791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8862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7518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3102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36433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96442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68246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37620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44636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94461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71382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07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56742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41735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7DB8F-A41A-43CC-4024-E54AB034F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29644A-1232-1EAE-9ECA-52C9EA8DF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803AC7-8D3E-B347-A9E8-276BA6A92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656E1E-AA87-DBEC-3093-CAE44B0BF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1393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482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86821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6994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10505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24638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55935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81116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5768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910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448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82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609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120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883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545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00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005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85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981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1734" y="21266"/>
            <a:ext cx="10111563" cy="512177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2771" y="627322"/>
            <a:ext cx="11557591" cy="5996762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50"/>
              </a:spcBef>
              <a:buClr>
                <a:srgbClr val="003399"/>
              </a:buClr>
              <a:buSzPct val="101000"/>
              <a:buFont typeface="Arial" panose="020B0604020202020204" pitchFamily="34" charset="0"/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360000" indent="-36000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Char char="•"/>
              <a:defRPr lang="zh-CN" altLang="en-US" sz="2400" kern="12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720000" marR="0" indent="-3600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altLang="zh-CN" sz="2200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742950" indent="-285750">
              <a:buFont typeface="Arial" panose="020B0604020202020204" pitchFamily="34" charset="0"/>
              <a:buChar char="•"/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080000" indent="-360000">
              <a:spcBef>
                <a:spcPts val="50"/>
              </a:spcBef>
              <a:buFont typeface="Arial" panose="020B0604020202020204" pitchFamily="34" charset="0"/>
              <a:buChar char="•"/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  <a:lvl6pPr marL="720000" indent="-360000">
              <a:spcBef>
                <a:spcPts val="50"/>
              </a:spcBef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4"/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级</a:t>
            </a:r>
            <a:endParaRPr lang="en-US" altLang="zh-CN"/>
          </a:p>
          <a:p>
            <a:pPr lvl="5"/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级</a:t>
            </a:r>
            <a:endParaRPr lang="en-US" altLang="zh-CN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14670" y="552890"/>
            <a:ext cx="11536325" cy="0"/>
          </a:xfrm>
          <a:prstGeom prst="line">
            <a:avLst/>
          </a:prstGeom>
          <a:ln cmpd="thickThin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7"/>
          <p:cNvSpPr txBox="1">
            <a:spLocks noChangeArrowheads="1"/>
          </p:cNvSpPr>
          <p:nvPr userDrawn="1"/>
        </p:nvSpPr>
        <p:spPr bwMode="auto">
          <a:xfrm>
            <a:off x="9898916" y="130167"/>
            <a:ext cx="2064527" cy="412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0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fld id="{C5E79471-F8A8-4285-BECE-D9E30C77A9C8}" type="slidenum">
              <a:rPr lang="zh-CN" altLang="en-US" sz="1600" b="0" smtClean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‹#›</a:t>
            </a:fld>
            <a:r>
              <a:rPr lang="zh-CN" altLang="en-US" sz="1600" b="0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页 共</a:t>
            </a:r>
            <a:r>
              <a:rPr lang="en-US" altLang="zh-CN" sz="1600" b="0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152</a:t>
            </a:r>
            <a:r>
              <a:rPr lang="zh-CN" altLang="en-US" sz="1600" b="0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页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1687" y="73046"/>
            <a:ext cx="4401894" cy="40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07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1734" y="21266"/>
            <a:ext cx="10111563" cy="512177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2771" y="627322"/>
            <a:ext cx="11557591" cy="5996762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50"/>
              </a:spcBef>
              <a:buClr>
                <a:srgbClr val="003399"/>
              </a:buClr>
              <a:buSzPct val="101000"/>
              <a:buFont typeface="Arial" panose="020B0604020202020204" pitchFamily="34" charset="0"/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360000" indent="-36000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720000" indent="-360000">
              <a:lnSpc>
                <a:spcPct val="100000"/>
              </a:lnSpc>
              <a:spcBef>
                <a:spcPts val="50"/>
              </a:spcBef>
              <a:defRPr sz="220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80000" indent="-360000">
              <a:spcBef>
                <a:spcPts val="50"/>
              </a:spcBef>
              <a:buFont typeface="Arial" panose="020B0604020202020204" pitchFamily="34" charset="0"/>
              <a:buChar char="•"/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6pPr marL="720000" indent="-360000">
              <a:spcBef>
                <a:spcPts val="50"/>
              </a:spcBef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级</a:t>
            </a:r>
            <a:endParaRPr lang="en-US" altLang="zh-CN"/>
          </a:p>
          <a:p>
            <a:pPr lvl="5"/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级</a:t>
            </a: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14670" y="552890"/>
            <a:ext cx="11536325" cy="0"/>
          </a:xfrm>
          <a:prstGeom prst="line">
            <a:avLst/>
          </a:prstGeom>
          <a:ln cmpd="thickThin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66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833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gray">
          <a:xfrm>
            <a:off x="0" y="0"/>
            <a:ext cx="12192000" cy="1828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 sz="2800">
              <a:solidFill>
                <a:srgbClr val="080808"/>
              </a:solidFill>
            </a:endParaRPr>
          </a:p>
        </p:txBody>
      </p:sp>
      <p:grpSp>
        <p:nvGrpSpPr>
          <p:cNvPr id="5" name="Group 3"/>
          <p:cNvGrpSpPr>
            <a:grpSpLocks/>
          </p:cNvGrpSpPr>
          <p:nvPr userDrawn="1"/>
        </p:nvGrpSpPr>
        <p:grpSpPr bwMode="auto">
          <a:xfrm>
            <a:off x="203200" y="381000"/>
            <a:ext cx="9118600" cy="3365500"/>
            <a:chOff x="664" y="1951"/>
            <a:chExt cx="4308" cy="2120"/>
          </a:xfrm>
        </p:grpSpPr>
        <p:sp>
          <p:nvSpPr>
            <p:cNvPr id="6" name="Freeform 4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6 w 1692"/>
                <a:gd name="T1" fmla="*/ 34 h 2586"/>
                <a:gd name="T2" fmla="*/ 43 w 1692"/>
                <a:gd name="T3" fmla="*/ 28 h 2586"/>
                <a:gd name="T4" fmla="*/ 57 w 1692"/>
                <a:gd name="T5" fmla="*/ 32 h 2586"/>
                <a:gd name="T6" fmla="*/ 55 w 1692"/>
                <a:gd name="T7" fmla="*/ 59 h 2586"/>
                <a:gd name="T8" fmla="*/ 36 w 1692"/>
                <a:gd name="T9" fmla="*/ 77 h 2586"/>
                <a:gd name="T10" fmla="*/ 28 w 1692"/>
                <a:gd name="T11" fmla="*/ 95 h 2586"/>
                <a:gd name="T12" fmla="*/ 37 w 1692"/>
                <a:gd name="T13" fmla="*/ 128 h 2586"/>
                <a:gd name="T14" fmla="*/ 42 w 1692"/>
                <a:gd name="T15" fmla="*/ 127 h 2586"/>
                <a:gd name="T16" fmla="*/ 43 w 1692"/>
                <a:gd name="T17" fmla="*/ 120 h 2586"/>
                <a:gd name="T18" fmla="*/ 64 w 1692"/>
                <a:gd name="T19" fmla="*/ 154 h 2586"/>
                <a:gd name="T20" fmla="*/ 86 w 1692"/>
                <a:gd name="T21" fmla="*/ 159 h 2586"/>
                <a:gd name="T22" fmla="*/ 105 w 1692"/>
                <a:gd name="T23" fmla="*/ 179 h 2586"/>
                <a:gd name="T24" fmla="*/ 113 w 1692"/>
                <a:gd name="T25" fmla="*/ 189 h 2586"/>
                <a:gd name="T26" fmla="*/ 102 w 1692"/>
                <a:gd name="T27" fmla="*/ 214 h 2586"/>
                <a:gd name="T28" fmla="*/ 121 w 1692"/>
                <a:gd name="T29" fmla="*/ 236 h 2586"/>
                <a:gd name="T30" fmla="*/ 136 w 1692"/>
                <a:gd name="T31" fmla="*/ 268 h 2586"/>
                <a:gd name="T32" fmla="*/ 145 w 1692"/>
                <a:gd name="T33" fmla="*/ 307 h 2586"/>
                <a:gd name="T34" fmla="*/ 157 w 1692"/>
                <a:gd name="T35" fmla="*/ 337 h 2586"/>
                <a:gd name="T36" fmla="*/ 168 w 1692"/>
                <a:gd name="T37" fmla="*/ 335 h 2586"/>
                <a:gd name="T38" fmla="*/ 165 w 1692"/>
                <a:gd name="T39" fmla="*/ 318 h 2586"/>
                <a:gd name="T40" fmla="*/ 170 w 1692"/>
                <a:gd name="T41" fmla="*/ 306 h 2586"/>
                <a:gd name="T42" fmla="*/ 180 w 1692"/>
                <a:gd name="T43" fmla="*/ 296 h 2586"/>
                <a:gd name="T44" fmla="*/ 191 w 1692"/>
                <a:gd name="T45" fmla="*/ 276 h 2586"/>
                <a:gd name="T46" fmla="*/ 207 w 1692"/>
                <a:gd name="T47" fmla="*/ 259 h 2586"/>
                <a:gd name="T48" fmla="*/ 214 w 1692"/>
                <a:gd name="T49" fmla="*/ 232 h 2586"/>
                <a:gd name="T50" fmla="*/ 204 w 1692"/>
                <a:gd name="T51" fmla="*/ 204 h 2586"/>
                <a:gd name="T52" fmla="*/ 181 w 1692"/>
                <a:gd name="T53" fmla="*/ 187 h 2586"/>
                <a:gd name="T54" fmla="*/ 146 w 1692"/>
                <a:gd name="T55" fmla="*/ 170 h 2586"/>
                <a:gd name="T56" fmla="*/ 128 w 1692"/>
                <a:gd name="T57" fmla="*/ 167 h 2586"/>
                <a:gd name="T58" fmla="*/ 119 w 1692"/>
                <a:gd name="T59" fmla="*/ 169 h 2586"/>
                <a:gd name="T60" fmla="*/ 105 w 1692"/>
                <a:gd name="T61" fmla="*/ 174 h 2586"/>
                <a:gd name="T62" fmla="*/ 100 w 1692"/>
                <a:gd name="T63" fmla="*/ 156 h 2586"/>
                <a:gd name="T64" fmla="*/ 97 w 1692"/>
                <a:gd name="T65" fmla="*/ 141 h 2586"/>
                <a:gd name="T66" fmla="*/ 83 w 1692"/>
                <a:gd name="T67" fmla="*/ 147 h 2586"/>
                <a:gd name="T68" fmla="*/ 75 w 1692"/>
                <a:gd name="T69" fmla="*/ 127 h 2586"/>
                <a:gd name="T70" fmla="*/ 97 w 1692"/>
                <a:gd name="T71" fmla="*/ 121 h 2586"/>
                <a:gd name="T72" fmla="*/ 111 w 1692"/>
                <a:gd name="T73" fmla="*/ 120 h 2586"/>
                <a:gd name="T74" fmla="*/ 118 w 1692"/>
                <a:gd name="T75" fmla="*/ 119 h 2586"/>
                <a:gd name="T76" fmla="*/ 139 w 1692"/>
                <a:gd name="T77" fmla="*/ 100 h 2586"/>
                <a:gd name="T78" fmla="*/ 157 w 1692"/>
                <a:gd name="T79" fmla="*/ 90 h 2586"/>
                <a:gd name="T80" fmla="*/ 168 w 1692"/>
                <a:gd name="T81" fmla="*/ 85 h 2586"/>
                <a:gd name="T82" fmla="*/ 177 w 1692"/>
                <a:gd name="T83" fmla="*/ 71 h 2586"/>
                <a:gd name="T84" fmla="*/ 170 w 1692"/>
                <a:gd name="T85" fmla="*/ 68 h 2586"/>
                <a:gd name="T86" fmla="*/ 201 w 1692"/>
                <a:gd name="T87" fmla="*/ 61 h 2586"/>
                <a:gd name="T88" fmla="*/ 186 w 1692"/>
                <a:gd name="T89" fmla="*/ 46 h 2586"/>
                <a:gd name="T90" fmla="*/ 175 w 1692"/>
                <a:gd name="T91" fmla="*/ 34 h 2586"/>
                <a:gd name="T92" fmla="*/ 162 w 1692"/>
                <a:gd name="T93" fmla="*/ 48 h 2586"/>
                <a:gd name="T94" fmla="*/ 146 w 1692"/>
                <a:gd name="T95" fmla="*/ 59 h 2586"/>
                <a:gd name="T96" fmla="*/ 135 w 1692"/>
                <a:gd name="T97" fmla="*/ 40 h 2586"/>
                <a:gd name="T98" fmla="*/ 159 w 1692"/>
                <a:gd name="T99" fmla="*/ 32 h 2586"/>
                <a:gd name="T100" fmla="*/ 167 w 1692"/>
                <a:gd name="T101" fmla="*/ 25 h 2586"/>
                <a:gd name="T102" fmla="*/ 175 w 1692"/>
                <a:gd name="T103" fmla="*/ 23 h 2586"/>
                <a:gd name="T104" fmla="*/ 170 w 1692"/>
                <a:gd name="T105" fmla="*/ 19 h 2586"/>
                <a:gd name="T106" fmla="*/ 166 w 1692"/>
                <a:gd name="T107" fmla="*/ 16 h 2586"/>
                <a:gd name="T108" fmla="*/ 159 w 1692"/>
                <a:gd name="T109" fmla="*/ 13 h 2586"/>
                <a:gd name="T110" fmla="*/ 146 w 1692"/>
                <a:gd name="T111" fmla="*/ 18 h 2586"/>
                <a:gd name="T112" fmla="*/ 125 w 1692"/>
                <a:gd name="T113" fmla="*/ 16 h 2586"/>
                <a:gd name="T114" fmla="*/ 73 w 1692"/>
                <a:gd name="T115" fmla="*/ 0 h 2586"/>
                <a:gd name="T116" fmla="*/ 46 w 1692"/>
                <a:gd name="T117" fmla="*/ 4 h 2586"/>
                <a:gd name="T118" fmla="*/ 38 w 1692"/>
                <a:gd name="T119" fmla="*/ 13 h 2586"/>
                <a:gd name="T120" fmla="*/ 16 w 1692"/>
                <a:gd name="T121" fmla="*/ 23 h 2586"/>
                <a:gd name="T122" fmla="*/ 16 w 1692"/>
                <a:gd name="T123" fmla="*/ 28 h 2586"/>
                <a:gd name="T124" fmla="*/ 1 w 1692"/>
                <a:gd name="T125" fmla="*/ 33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2 w 46"/>
                <a:gd name="T1" fmla="*/ 1 h 38"/>
                <a:gd name="T2" fmla="*/ 0 w 46"/>
                <a:gd name="T3" fmla="*/ 3 h 38"/>
                <a:gd name="T4" fmla="*/ 3 w 46"/>
                <a:gd name="T5" fmla="*/ 4 h 38"/>
                <a:gd name="T6" fmla="*/ 5 w 46"/>
                <a:gd name="T7" fmla="*/ 3 h 38"/>
                <a:gd name="T8" fmla="*/ 4 w 46"/>
                <a:gd name="T9" fmla="*/ 0 h 38"/>
                <a:gd name="T10" fmla="*/ 2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2 w 52"/>
                <a:gd name="T1" fmla="*/ 0 h 44"/>
                <a:gd name="T2" fmla="*/ 4 w 52"/>
                <a:gd name="T3" fmla="*/ 5 h 44"/>
                <a:gd name="T4" fmla="*/ 6 w 52"/>
                <a:gd name="T5" fmla="*/ 5 h 44"/>
                <a:gd name="T6" fmla="*/ 6 w 52"/>
                <a:gd name="T7" fmla="*/ 2 h 44"/>
                <a:gd name="T8" fmla="*/ 4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13 w 131"/>
                <a:gd name="T1" fmla="*/ 0 h 98"/>
                <a:gd name="T2" fmla="*/ 10 w 131"/>
                <a:gd name="T3" fmla="*/ 2 h 98"/>
                <a:gd name="T4" fmla="*/ 7 w 131"/>
                <a:gd name="T5" fmla="*/ 4 h 98"/>
                <a:gd name="T6" fmla="*/ 5 w 131"/>
                <a:gd name="T7" fmla="*/ 6 h 98"/>
                <a:gd name="T8" fmla="*/ 3 w 131"/>
                <a:gd name="T9" fmla="*/ 8 h 98"/>
                <a:gd name="T10" fmla="*/ 7 w 131"/>
                <a:gd name="T11" fmla="*/ 11 h 98"/>
                <a:gd name="T12" fmla="*/ 10 w 131"/>
                <a:gd name="T13" fmla="*/ 13 h 98"/>
                <a:gd name="T14" fmla="*/ 11 w 131"/>
                <a:gd name="T15" fmla="*/ 13 h 98"/>
                <a:gd name="T16" fmla="*/ 12 w 131"/>
                <a:gd name="T17" fmla="*/ 12 h 98"/>
                <a:gd name="T18" fmla="*/ 13 w 131"/>
                <a:gd name="T19" fmla="*/ 14 h 98"/>
                <a:gd name="T20" fmla="*/ 16 w 131"/>
                <a:gd name="T21" fmla="*/ 12 h 98"/>
                <a:gd name="T22" fmla="*/ 17 w 131"/>
                <a:gd name="T23" fmla="*/ 11 h 98"/>
                <a:gd name="T24" fmla="*/ 13 w 131"/>
                <a:gd name="T25" fmla="*/ 6 h 98"/>
                <a:gd name="T26" fmla="*/ 15 w 131"/>
                <a:gd name="T27" fmla="*/ 4 h 98"/>
                <a:gd name="T28" fmla="*/ 14 w 131"/>
                <a:gd name="T29" fmla="*/ 2 h 98"/>
                <a:gd name="T30" fmla="*/ 13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5 w 212"/>
                <a:gd name="T1" fmla="*/ 2 h 112"/>
                <a:gd name="T2" fmla="*/ 2 w 212"/>
                <a:gd name="T3" fmla="*/ 2 h 112"/>
                <a:gd name="T4" fmla="*/ 1 w 212"/>
                <a:gd name="T5" fmla="*/ 2 h 112"/>
                <a:gd name="T6" fmla="*/ 3 w 212"/>
                <a:gd name="T7" fmla="*/ 8 h 112"/>
                <a:gd name="T8" fmla="*/ 7 w 212"/>
                <a:gd name="T9" fmla="*/ 6 h 112"/>
                <a:gd name="T10" fmla="*/ 12 w 212"/>
                <a:gd name="T11" fmla="*/ 8 h 112"/>
                <a:gd name="T12" fmla="*/ 14 w 212"/>
                <a:gd name="T13" fmla="*/ 8 h 112"/>
                <a:gd name="T14" fmla="*/ 17 w 212"/>
                <a:gd name="T15" fmla="*/ 13 h 112"/>
                <a:gd name="T16" fmla="*/ 18 w 212"/>
                <a:gd name="T17" fmla="*/ 15 h 112"/>
                <a:gd name="T18" fmla="*/ 20 w 212"/>
                <a:gd name="T19" fmla="*/ 14 h 112"/>
                <a:gd name="T20" fmla="*/ 22 w 212"/>
                <a:gd name="T21" fmla="*/ 13 h 112"/>
                <a:gd name="T22" fmla="*/ 24 w 212"/>
                <a:gd name="T23" fmla="*/ 14 h 112"/>
                <a:gd name="T24" fmla="*/ 25 w 212"/>
                <a:gd name="T25" fmla="*/ 11 h 112"/>
                <a:gd name="T26" fmla="*/ 19 w 212"/>
                <a:gd name="T27" fmla="*/ 8 h 112"/>
                <a:gd name="T28" fmla="*/ 13 w 212"/>
                <a:gd name="T29" fmla="*/ 3 h 112"/>
                <a:gd name="T30" fmla="*/ 7 w 212"/>
                <a:gd name="T31" fmla="*/ 4 h 112"/>
                <a:gd name="T32" fmla="*/ 5 w 212"/>
                <a:gd name="T33" fmla="*/ 2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7 w 133"/>
                <a:gd name="T1" fmla="*/ 0 h 54"/>
                <a:gd name="T2" fmla="*/ 5 w 133"/>
                <a:gd name="T3" fmla="*/ 2 h 54"/>
                <a:gd name="T4" fmla="*/ 4 w 133"/>
                <a:gd name="T5" fmla="*/ 5 h 54"/>
                <a:gd name="T6" fmla="*/ 1 w 133"/>
                <a:gd name="T7" fmla="*/ 5 h 54"/>
                <a:gd name="T8" fmla="*/ 1 w 133"/>
                <a:gd name="T9" fmla="*/ 6 h 54"/>
                <a:gd name="T10" fmla="*/ 1 w 133"/>
                <a:gd name="T11" fmla="*/ 8 h 54"/>
                <a:gd name="T12" fmla="*/ 17 w 133"/>
                <a:gd name="T13" fmla="*/ 5 h 54"/>
                <a:gd name="T14" fmla="*/ 16 w 133"/>
                <a:gd name="T15" fmla="*/ 2 h 54"/>
                <a:gd name="T16" fmla="*/ 13 w 133"/>
                <a:gd name="T17" fmla="*/ 2 h 54"/>
                <a:gd name="T18" fmla="*/ 13 w 133"/>
                <a:gd name="T19" fmla="*/ 4 h 54"/>
                <a:gd name="T20" fmla="*/ 11 w 133"/>
                <a:gd name="T21" fmla="*/ 3 h 54"/>
                <a:gd name="T22" fmla="*/ 9 w 133"/>
                <a:gd name="T23" fmla="*/ 2 h 54"/>
                <a:gd name="T24" fmla="*/ 7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3 h 24"/>
                <a:gd name="T4" fmla="*/ 3 w 51"/>
                <a:gd name="T5" fmla="*/ 4 h 24"/>
                <a:gd name="T6" fmla="*/ 4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4 h 34"/>
                <a:gd name="T6" fmla="*/ 2 w 16"/>
                <a:gd name="T7" fmla="*/ 2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8 w 240"/>
                <a:gd name="T1" fmla="*/ 1 h 117"/>
                <a:gd name="T2" fmla="*/ 4 w 240"/>
                <a:gd name="T3" fmla="*/ 5 h 117"/>
                <a:gd name="T4" fmla="*/ 2 w 240"/>
                <a:gd name="T5" fmla="*/ 5 h 117"/>
                <a:gd name="T6" fmla="*/ 0 w 240"/>
                <a:gd name="T7" fmla="*/ 6 h 117"/>
                <a:gd name="T8" fmla="*/ 4 w 240"/>
                <a:gd name="T9" fmla="*/ 8 h 117"/>
                <a:gd name="T10" fmla="*/ 6 w 240"/>
                <a:gd name="T11" fmla="*/ 8 h 117"/>
                <a:gd name="T12" fmla="*/ 10 w 240"/>
                <a:gd name="T13" fmla="*/ 6 h 117"/>
                <a:gd name="T14" fmla="*/ 11 w 240"/>
                <a:gd name="T15" fmla="*/ 6 h 117"/>
                <a:gd name="T16" fmla="*/ 11 w 240"/>
                <a:gd name="T17" fmla="*/ 8 h 117"/>
                <a:gd name="T18" fmla="*/ 8 w 240"/>
                <a:gd name="T19" fmla="*/ 8 h 117"/>
                <a:gd name="T20" fmla="*/ 10 w 240"/>
                <a:gd name="T21" fmla="*/ 10 h 117"/>
                <a:gd name="T22" fmla="*/ 6 w 240"/>
                <a:gd name="T23" fmla="*/ 12 h 117"/>
                <a:gd name="T24" fmla="*/ 10 w 240"/>
                <a:gd name="T25" fmla="*/ 15 h 117"/>
                <a:gd name="T26" fmla="*/ 11 w 240"/>
                <a:gd name="T27" fmla="*/ 15 h 117"/>
                <a:gd name="T28" fmla="*/ 17 w 240"/>
                <a:gd name="T29" fmla="*/ 14 h 117"/>
                <a:gd name="T30" fmla="*/ 20 w 240"/>
                <a:gd name="T31" fmla="*/ 14 h 117"/>
                <a:gd name="T32" fmla="*/ 23 w 240"/>
                <a:gd name="T33" fmla="*/ 17 h 117"/>
                <a:gd name="T34" fmla="*/ 28 w 240"/>
                <a:gd name="T35" fmla="*/ 15 h 117"/>
                <a:gd name="T36" fmla="*/ 30 w 240"/>
                <a:gd name="T37" fmla="*/ 14 h 117"/>
                <a:gd name="T38" fmla="*/ 30 w 240"/>
                <a:gd name="T39" fmla="*/ 11 h 117"/>
                <a:gd name="T40" fmla="*/ 32 w 240"/>
                <a:gd name="T41" fmla="*/ 10 h 117"/>
                <a:gd name="T42" fmla="*/ 32 w 240"/>
                <a:gd name="T43" fmla="*/ 6 h 117"/>
                <a:gd name="T44" fmla="*/ 29 w 240"/>
                <a:gd name="T45" fmla="*/ 8 h 117"/>
                <a:gd name="T46" fmla="*/ 27 w 240"/>
                <a:gd name="T47" fmla="*/ 6 h 117"/>
                <a:gd name="T48" fmla="*/ 23 w 240"/>
                <a:gd name="T49" fmla="*/ 6 h 117"/>
                <a:gd name="T50" fmla="*/ 18 w 240"/>
                <a:gd name="T51" fmla="*/ 2 h 117"/>
                <a:gd name="T52" fmla="*/ 13 w 240"/>
                <a:gd name="T53" fmla="*/ 2 h 117"/>
                <a:gd name="T54" fmla="*/ 11 w 240"/>
                <a:gd name="T55" fmla="*/ 1 h 117"/>
                <a:gd name="T56" fmla="*/ 8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13 w 194"/>
                <a:gd name="T1" fmla="*/ 2 h 80"/>
                <a:gd name="T2" fmla="*/ 2 w 194"/>
                <a:gd name="T3" fmla="*/ 4 h 80"/>
                <a:gd name="T4" fmla="*/ 2 w 194"/>
                <a:gd name="T5" fmla="*/ 5 h 80"/>
                <a:gd name="T6" fmla="*/ 8 w 194"/>
                <a:gd name="T7" fmla="*/ 8 h 80"/>
                <a:gd name="T8" fmla="*/ 19 w 194"/>
                <a:gd name="T9" fmla="*/ 11 h 80"/>
                <a:gd name="T10" fmla="*/ 24 w 194"/>
                <a:gd name="T11" fmla="*/ 10 h 80"/>
                <a:gd name="T12" fmla="*/ 26 w 194"/>
                <a:gd name="T13" fmla="*/ 8 h 80"/>
                <a:gd name="T14" fmla="*/ 24 w 194"/>
                <a:gd name="T15" fmla="*/ 6 h 80"/>
                <a:gd name="T16" fmla="*/ 23 w 194"/>
                <a:gd name="T17" fmla="*/ 5 h 80"/>
                <a:gd name="T18" fmla="*/ 17 w 194"/>
                <a:gd name="T19" fmla="*/ 4 h 80"/>
                <a:gd name="T20" fmla="*/ 13 w 194"/>
                <a:gd name="T21" fmla="*/ 2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10 w 310"/>
                <a:gd name="T1" fmla="*/ 1 h 254"/>
                <a:gd name="T2" fmla="*/ 8 w 310"/>
                <a:gd name="T3" fmla="*/ 3 h 254"/>
                <a:gd name="T4" fmla="*/ 3 w 310"/>
                <a:gd name="T5" fmla="*/ 5 h 254"/>
                <a:gd name="T6" fmla="*/ 8 w 310"/>
                <a:gd name="T7" fmla="*/ 10 h 254"/>
                <a:gd name="T8" fmla="*/ 11 w 310"/>
                <a:gd name="T9" fmla="*/ 11 h 254"/>
                <a:gd name="T10" fmla="*/ 14 w 310"/>
                <a:gd name="T11" fmla="*/ 13 h 254"/>
                <a:gd name="T12" fmla="*/ 17 w 310"/>
                <a:gd name="T13" fmla="*/ 11 h 254"/>
                <a:gd name="T14" fmla="*/ 20 w 310"/>
                <a:gd name="T15" fmla="*/ 13 h 254"/>
                <a:gd name="T16" fmla="*/ 20 w 310"/>
                <a:gd name="T17" fmla="*/ 16 h 254"/>
                <a:gd name="T18" fmla="*/ 16 w 310"/>
                <a:gd name="T19" fmla="*/ 20 h 254"/>
                <a:gd name="T20" fmla="*/ 13 w 310"/>
                <a:gd name="T21" fmla="*/ 22 h 254"/>
                <a:gd name="T22" fmla="*/ 10 w 310"/>
                <a:gd name="T23" fmla="*/ 22 h 254"/>
                <a:gd name="T24" fmla="*/ 8 w 310"/>
                <a:gd name="T25" fmla="*/ 22 h 254"/>
                <a:gd name="T26" fmla="*/ 6 w 310"/>
                <a:gd name="T27" fmla="*/ 25 h 254"/>
                <a:gd name="T28" fmla="*/ 6 w 310"/>
                <a:gd name="T29" fmla="*/ 25 h 254"/>
                <a:gd name="T30" fmla="*/ 10 w 310"/>
                <a:gd name="T31" fmla="*/ 27 h 254"/>
                <a:gd name="T32" fmla="*/ 13 w 310"/>
                <a:gd name="T33" fmla="*/ 27 h 254"/>
                <a:gd name="T34" fmla="*/ 16 w 310"/>
                <a:gd name="T35" fmla="*/ 30 h 254"/>
                <a:gd name="T36" fmla="*/ 17 w 310"/>
                <a:gd name="T37" fmla="*/ 31 h 254"/>
                <a:gd name="T38" fmla="*/ 19 w 310"/>
                <a:gd name="T39" fmla="*/ 31 h 254"/>
                <a:gd name="T40" fmla="*/ 22 w 310"/>
                <a:gd name="T41" fmla="*/ 33 h 254"/>
                <a:gd name="T42" fmla="*/ 25 w 310"/>
                <a:gd name="T43" fmla="*/ 31 h 254"/>
                <a:gd name="T44" fmla="*/ 28 w 310"/>
                <a:gd name="T45" fmla="*/ 31 h 254"/>
                <a:gd name="T46" fmla="*/ 31 w 310"/>
                <a:gd name="T47" fmla="*/ 28 h 254"/>
                <a:gd name="T48" fmla="*/ 30 w 310"/>
                <a:gd name="T49" fmla="*/ 24 h 254"/>
                <a:gd name="T50" fmla="*/ 29 w 310"/>
                <a:gd name="T51" fmla="*/ 22 h 254"/>
                <a:gd name="T52" fmla="*/ 32 w 310"/>
                <a:gd name="T53" fmla="*/ 22 h 254"/>
                <a:gd name="T54" fmla="*/ 33 w 310"/>
                <a:gd name="T55" fmla="*/ 24 h 254"/>
                <a:gd name="T56" fmla="*/ 33 w 310"/>
                <a:gd name="T57" fmla="*/ 25 h 254"/>
                <a:gd name="T58" fmla="*/ 35 w 310"/>
                <a:gd name="T59" fmla="*/ 25 h 254"/>
                <a:gd name="T60" fmla="*/ 41 w 310"/>
                <a:gd name="T61" fmla="*/ 22 h 254"/>
                <a:gd name="T62" fmla="*/ 40 w 310"/>
                <a:gd name="T63" fmla="*/ 19 h 254"/>
                <a:gd name="T64" fmla="*/ 35 w 310"/>
                <a:gd name="T65" fmla="*/ 16 h 254"/>
                <a:gd name="T66" fmla="*/ 36 w 310"/>
                <a:gd name="T67" fmla="*/ 14 h 254"/>
                <a:gd name="T68" fmla="*/ 38 w 310"/>
                <a:gd name="T69" fmla="*/ 13 h 254"/>
                <a:gd name="T70" fmla="*/ 34 w 310"/>
                <a:gd name="T71" fmla="*/ 7 h 254"/>
                <a:gd name="T72" fmla="*/ 32 w 310"/>
                <a:gd name="T73" fmla="*/ 7 h 254"/>
                <a:gd name="T74" fmla="*/ 30 w 310"/>
                <a:gd name="T75" fmla="*/ 7 h 254"/>
                <a:gd name="T76" fmla="*/ 27 w 310"/>
                <a:gd name="T77" fmla="*/ 4 h 254"/>
                <a:gd name="T78" fmla="*/ 22 w 310"/>
                <a:gd name="T79" fmla="*/ 5 h 254"/>
                <a:gd name="T80" fmla="*/ 23 w 310"/>
                <a:gd name="T81" fmla="*/ 3 h 254"/>
                <a:gd name="T82" fmla="*/ 19 w 310"/>
                <a:gd name="T83" fmla="*/ 2 h 254"/>
                <a:gd name="T84" fmla="*/ 17 w 310"/>
                <a:gd name="T85" fmla="*/ 2 h 254"/>
                <a:gd name="T86" fmla="*/ 10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3 w 59"/>
                <a:gd name="T1" fmla="*/ 0 h 50"/>
                <a:gd name="T2" fmla="*/ 0 w 59"/>
                <a:gd name="T3" fmla="*/ 1 h 50"/>
                <a:gd name="T4" fmla="*/ 4 w 59"/>
                <a:gd name="T5" fmla="*/ 5 h 50"/>
                <a:gd name="T6" fmla="*/ 6 w 59"/>
                <a:gd name="T7" fmla="*/ 6 h 50"/>
                <a:gd name="T8" fmla="*/ 7 w 59"/>
                <a:gd name="T9" fmla="*/ 4 h 50"/>
                <a:gd name="T10" fmla="*/ 5 w 59"/>
                <a:gd name="T11" fmla="*/ 1 h 50"/>
                <a:gd name="T12" fmla="*/ 3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6 w 86"/>
                <a:gd name="T1" fmla="*/ 1 h 57"/>
                <a:gd name="T2" fmla="*/ 4 w 86"/>
                <a:gd name="T3" fmla="*/ 3 h 57"/>
                <a:gd name="T4" fmla="*/ 2 w 86"/>
                <a:gd name="T5" fmla="*/ 3 h 57"/>
                <a:gd name="T6" fmla="*/ 2 w 86"/>
                <a:gd name="T7" fmla="*/ 7 h 57"/>
                <a:gd name="T8" fmla="*/ 11 w 86"/>
                <a:gd name="T9" fmla="*/ 4 h 57"/>
                <a:gd name="T10" fmla="*/ 12 w 86"/>
                <a:gd name="T11" fmla="*/ 2 h 57"/>
                <a:gd name="T12" fmla="*/ 8 w 86"/>
                <a:gd name="T13" fmla="*/ 1 h 57"/>
                <a:gd name="T14" fmla="*/ 6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5 w 73"/>
                <a:gd name="T1" fmla="*/ 0 h 34"/>
                <a:gd name="T2" fmla="*/ 1 w 73"/>
                <a:gd name="T3" fmla="*/ 2 h 34"/>
                <a:gd name="T4" fmla="*/ 3 w 73"/>
                <a:gd name="T5" fmla="*/ 4 h 34"/>
                <a:gd name="T6" fmla="*/ 7 w 73"/>
                <a:gd name="T7" fmla="*/ 3 h 34"/>
                <a:gd name="T8" fmla="*/ 7 w 73"/>
                <a:gd name="T9" fmla="*/ 2 h 34"/>
                <a:gd name="T10" fmla="*/ 5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8 w 85"/>
                <a:gd name="T1" fmla="*/ 2 h 45"/>
                <a:gd name="T2" fmla="*/ 4 w 85"/>
                <a:gd name="T3" fmla="*/ 2 h 45"/>
                <a:gd name="T4" fmla="*/ 0 w 85"/>
                <a:gd name="T5" fmla="*/ 3 h 45"/>
                <a:gd name="T6" fmla="*/ 6 w 85"/>
                <a:gd name="T7" fmla="*/ 5 h 45"/>
                <a:gd name="T8" fmla="*/ 8 w 85"/>
                <a:gd name="T9" fmla="*/ 6 h 45"/>
                <a:gd name="T10" fmla="*/ 11 w 85"/>
                <a:gd name="T11" fmla="*/ 3 h 45"/>
                <a:gd name="T12" fmla="*/ 11 w 85"/>
                <a:gd name="T13" fmla="*/ 2 h 45"/>
                <a:gd name="T14" fmla="*/ 8 w 85"/>
                <a:gd name="T15" fmla="*/ 0 h 45"/>
                <a:gd name="T16" fmla="*/ 8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3 h 31"/>
                <a:gd name="T4" fmla="*/ 3 w 58"/>
                <a:gd name="T5" fmla="*/ 5 h 31"/>
                <a:gd name="T6" fmla="*/ 4 w 58"/>
                <a:gd name="T7" fmla="*/ 3 h 31"/>
                <a:gd name="T8" fmla="*/ 8 w 58"/>
                <a:gd name="T9" fmla="*/ 2 h 31"/>
                <a:gd name="T10" fmla="*/ 6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6 w 152"/>
                <a:gd name="T1" fmla="*/ 0 h 102"/>
                <a:gd name="T2" fmla="*/ 2 w 152"/>
                <a:gd name="T3" fmla="*/ 2 h 102"/>
                <a:gd name="T4" fmla="*/ 2 w 152"/>
                <a:gd name="T5" fmla="*/ 6 h 102"/>
                <a:gd name="T6" fmla="*/ 2 w 152"/>
                <a:gd name="T7" fmla="*/ 8 h 102"/>
                <a:gd name="T8" fmla="*/ 0 w 152"/>
                <a:gd name="T9" fmla="*/ 10 h 102"/>
                <a:gd name="T10" fmla="*/ 8 w 152"/>
                <a:gd name="T11" fmla="*/ 12 h 102"/>
                <a:gd name="T12" fmla="*/ 11 w 152"/>
                <a:gd name="T13" fmla="*/ 13 h 102"/>
                <a:gd name="T14" fmla="*/ 21 w 152"/>
                <a:gd name="T15" fmla="*/ 12 h 102"/>
                <a:gd name="T16" fmla="*/ 11 w 152"/>
                <a:gd name="T17" fmla="*/ 10 h 102"/>
                <a:gd name="T18" fmla="*/ 8 w 152"/>
                <a:gd name="T19" fmla="*/ 8 h 102"/>
                <a:gd name="T20" fmla="*/ 6 w 152"/>
                <a:gd name="T21" fmla="*/ 8 h 102"/>
                <a:gd name="T22" fmla="*/ 8 w 152"/>
                <a:gd name="T23" fmla="*/ 5 h 102"/>
                <a:gd name="T24" fmla="*/ 6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4 w 34"/>
                <a:gd name="T1" fmla="*/ 0 h 20"/>
                <a:gd name="T2" fmla="*/ 3 w 34"/>
                <a:gd name="T3" fmla="*/ 3 h 20"/>
                <a:gd name="T4" fmla="*/ 1 w 34"/>
                <a:gd name="T5" fmla="*/ 3 h 20"/>
                <a:gd name="T6" fmla="*/ 1 w 34"/>
                <a:gd name="T7" fmla="*/ 2 h 20"/>
                <a:gd name="T8" fmla="*/ 4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3 h 24"/>
                <a:gd name="T4" fmla="*/ 3 w 51"/>
                <a:gd name="T5" fmla="*/ 4 h 24"/>
                <a:gd name="T6" fmla="*/ 4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3 h 24"/>
                <a:gd name="T4" fmla="*/ 3 w 51"/>
                <a:gd name="T5" fmla="*/ 4 h 24"/>
                <a:gd name="T6" fmla="*/ 4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3 h 24"/>
                <a:gd name="T4" fmla="*/ 4 w 51"/>
                <a:gd name="T5" fmla="*/ 4 h 24"/>
                <a:gd name="T6" fmla="*/ 5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3 h 24"/>
                <a:gd name="T4" fmla="*/ 3 w 51"/>
                <a:gd name="T5" fmla="*/ 4 h 24"/>
                <a:gd name="T6" fmla="*/ 4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4 w 929"/>
                <a:gd name="T1" fmla="*/ 7 h 462"/>
                <a:gd name="T2" fmla="*/ 1 w 929"/>
                <a:gd name="T3" fmla="*/ 12 h 462"/>
                <a:gd name="T4" fmla="*/ 4 w 929"/>
                <a:gd name="T5" fmla="*/ 13 h 462"/>
                <a:gd name="T6" fmla="*/ 2 w 929"/>
                <a:gd name="T7" fmla="*/ 16 h 462"/>
                <a:gd name="T8" fmla="*/ 13 w 929"/>
                <a:gd name="T9" fmla="*/ 18 h 462"/>
                <a:gd name="T10" fmla="*/ 19 w 929"/>
                <a:gd name="T11" fmla="*/ 17 h 462"/>
                <a:gd name="T12" fmla="*/ 33 w 929"/>
                <a:gd name="T13" fmla="*/ 10 h 462"/>
                <a:gd name="T14" fmla="*/ 40 w 929"/>
                <a:gd name="T15" fmla="*/ 9 h 462"/>
                <a:gd name="T16" fmla="*/ 43 w 929"/>
                <a:gd name="T17" fmla="*/ 10 h 462"/>
                <a:gd name="T18" fmla="*/ 36 w 929"/>
                <a:gd name="T19" fmla="*/ 12 h 462"/>
                <a:gd name="T20" fmla="*/ 32 w 929"/>
                <a:gd name="T21" fmla="*/ 14 h 462"/>
                <a:gd name="T22" fmla="*/ 33 w 929"/>
                <a:gd name="T23" fmla="*/ 16 h 462"/>
                <a:gd name="T24" fmla="*/ 34 w 929"/>
                <a:gd name="T25" fmla="*/ 21 h 462"/>
                <a:gd name="T26" fmla="*/ 46 w 929"/>
                <a:gd name="T27" fmla="*/ 25 h 462"/>
                <a:gd name="T28" fmla="*/ 44 w 929"/>
                <a:gd name="T29" fmla="*/ 28 h 462"/>
                <a:gd name="T30" fmla="*/ 49 w 929"/>
                <a:gd name="T31" fmla="*/ 32 h 462"/>
                <a:gd name="T32" fmla="*/ 46 w 929"/>
                <a:gd name="T33" fmla="*/ 35 h 462"/>
                <a:gd name="T34" fmla="*/ 43 w 929"/>
                <a:gd name="T35" fmla="*/ 39 h 462"/>
                <a:gd name="T36" fmla="*/ 39 w 929"/>
                <a:gd name="T37" fmla="*/ 43 h 462"/>
                <a:gd name="T38" fmla="*/ 39 w 929"/>
                <a:gd name="T39" fmla="*/ 56 h 462"/>
                <a:gd name="T40" fmla="*/ 44 w 929"/>
                <a:gd name="T41" fmla="*/ 59 h 462"/>
                <a:gd name="T42" fmla="*/ 51 w 929"/>
                <a:gd name="T43" fmla="*/ 59 h 462"/>
                <a:gd name="T44" fmla="*/ 55 w 929"/>
                <a:gd name="T45" fmla="*/ 56 h 462"/>
                <a:gd name="T46" fmla="*/ 67 w 929"/>
                <a:gd name="T47" fmla="*/ 47 h 462"/>
                <a:gd name="T48" fmla="*/ 76 w 929"/>
                <a:gd name="T49" fmla="*/ 44 h 462"/>
                <a:gd name="T50" fmla="*/ 86 w 929"/>
                <a:gd name="T51" fmla="*/ 41 h 462"/>
                <a:gd name="T52" fmla="*/ 95 w 929"/>
                <a:gd name="T53" fmla="*/ 38 h 462"/>
                <a:gd name="T54" fmla="*/ 101 w 929"/>
                <a:gd name="T55" fmla="*/ 34 h 462"/>
                <a:gd name="T56" fmla="*/ 106 w 929"/>
                <a:gd name="T57" fmla="*/ 26 h 462"/>
                <a:gd name="T58" fmla="*/ 106 w 929"/>
                <a:gd name="T59" fmla="*/ 20 h 462"/>
                <a:gd name="T60" fmla="*/ 106 w 929"/>
                <a:gd name="T61" fmla="*/ 16 h 462"/>
                <a:gd name="T62" fmla="*/ 110 w 929"/>
                <a:gd name="T63" fmla="*/ 12 h 462"/>
                <a:gd name="T64" fmla="*/ 116 w 929"/>
                <a:gd name="T65" fmla="*/ 12 h 462"/>
                <a:gd name="T66" fmla="*/ 122 w 929"/>
                <a:gd name="T67" fmla="*/ 7 h 462"/>
                <a:gd name="T68" fmla="*/ 118 w 929"/>
                <a:gd name="T69" fmla="*/ 7 h 462"/>
                <a:gd name="T70" fmla="*/ 112 w 929"/>
                <a:gd name="T71" fmla="*/ 5 h 462"/>
                <a:gd name="T72" fmla="*/ 105 w 929"/>
                <a:gd name="T73" fmla="*/ 3 h 462"/>
                <a:gd name="T74" fmla="*/ 85 w 929"/>
                <a:gd name="T75" fmla="*/ 3 h 462"/>
                <a:gd name="T76" fmla="*/ 77 w 929"/>
                <a:gd name="T77" fmla="*/ 5 h 462"/>
                <a:gd name="T78" fmla="*/ 73 w 929"/>
                <a:gd name="T79" fmla="*/ 5 h 462"/>
                <a:gd name="T80" fmla="*/ 68 w 929"/>
                <a:gd name="T81" fmla="*/ 7 h 462"/>
                <a:gd name="T82" fmla="*/ 64 w 929"/>
                <a:gd name="T83" fmla="*/ 4 h 462"/>
                <a:gd name="T84" fmla="*/ 57 w 929"/>
                <a:gd name="T85" fmla="*/ 5 h 462"/>
                <a:gd name="T86" fmla="*/ 48 w 929"/>
                <a:gd name="T87" fmla="*/ 7 h 462"/>
                <a:gd name="T88" fmla="*/ 55 w 929"/>
                <a:gd name="T89" fmla="*/ 5 h 462"/>
                <a:gd name="T90" fmla="*/ 46 w 929"/>
                <a:gd name="T91" fmla="*/ 1 h 462"/>
                <a:gd name="T92" fmla="*/ 44 w 929"/>
                <a:gd name="T93" fmla="*/ 1 h 462"/>
                <a:gd name="T94" fmla="*/ 41 w 929"/>
                <a:gd name="T95" fmla="*/ 1 h 462"/>
                <a:gd name="T96" fmla="*/ 32 w 929"/>
                <a:gd name="T97" fmla="*/ 2 h 462"/>
                <a:gd name="T98" fmla="*/ 21 w 929"/>
                <a:gd name="T99" fmla="*/ 4 h 462"/>
                <a:gd name="T100" fmla="*/ 14 w 929"/>
                <a:gd name="T101" fmla="*/ 3 h 462"/>
                <a:gd name="T102" fmla="*/ 15 w 929"/>
                <a:gd name="T103" fmla="*/ 9 h 462"/>
                <a:gd name="T104" fmla="*/ 13 w 929"/>
                <a:gd name="T105" fmla="*/ 7 h 462"/>
                <a:gd name="T106" fmla="*/ 7 w 929"/>
                <a:gd name="T107" fmla="*/ 5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5 w 52"/>
                <a:gd name="T1" fmla="*/ 0 h 32"/>
                <a:gd name="T2" fmla="*/ 2 w 52"/>
                <a:gd name="T3" fmla="*/ 3 h 32"/>
                <a:gd name="T4" fmla="*/ 4 w 52"/>
                <a:gd name="T5" fmla="*/ 5 h 32"/>
                <a:gd name="T6" fmla="*/ 6 w 52"/>
                <a:gd name="T7" fmla="*/ 5 h 32"/>
                <a:gd name="T8" fmla="*/ 5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3 w 172"/>
                <a:gd name="T1" fmla="*/ 2 h 72"/>
                <a:gd name="T2" fmla="*/ 8 w 172"/>
                <a:gd name="T3" fmla="*/ 2 h 72"/>
                <a:gd name="T4" fmla="*/ 7 w 172"/>
                <a:gd name="T5" fmla="*/ 0 h 72"/>
                <a:gd name="T6" fmla="*/ 0 w 172"/>
                <a:gd name="T7" fmla="*/ 4 h 72"/>
                <a:gd name="T8" fmla="*/ 4 w 172"/>
                <a:gd name="T9" fmla="*/ 6 h 72"/>
                <a:gd name="T10" fmla="*/ 5 w 172"/>
                <a:gd name="T11" fmla="*/ 8 h 72"/>
                <a:gd name="T12" fmla="*/ 8 w 172"/>
                <a:gd name="T13" fmla="*/ 10 h 72"/>
                <a:gd name="T14" fmla="*/ 10 w 172"/>
                <a:gd name="T15" fmla="*/ 10 h 72"/>
                <a:gd name="T16" fmla="*/ 16 w 172"/>
                <a:gd name="T17" fmla="*/ 8 h 72"/>
                <a:gd name="T18" fmla="*/ 22 w 172"/>
                <a:gd name="T19" fmla="*/ 6 h 72"/>
                <a:gd name="T20" fmla="*/ 19 w 172"/>
                <a:gd name="T21" fmla="*/ 3 h 72"/>
                <a:gd name="T22" fmla="*/ 17 w 172"/>
                <a:gd name="T23" fmla="*/ 2 h 72"/>
                <a:gd name="T24" fmla="*/ 13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5 w 52"/>
                <a:gd name="T1" fmla="*/ 0 h 32"/>
                <a:gd name="T2" fmla="*/ 2 w 52"/>
                <a:gd name="T3" fmla="*/ 3 h 32"/>
                <a:gd name="T4" fmla="*/ 4 w 52"/>
                <a:gd name="T5" fmla="*/ 5 h 32"/>
                <a:gd name="T6" fmla="*/ 6 w 52"/>
                <a:gd name="T7" fmla="*/ 5 h 32"/>
                <a:gd name="T8" fmla="*/ 5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26 w 206"/>
                <a:gd name="T1" fmla="*/ 1 h 85"/>
                <a:gd name="T2" fmla="*/ 14 w 206"/>
                <a:gd name="T3" fmla="*/ 1 h 85"/>
                <a:gd name="T4" fmla="*/ 15 w 206"/>
                <a:gd name="T5" fmla="*/ 3 h 85"/>
                <a:gd name="T6" fmla="*/ 15 w 206"/>
                <a:gd name="T7" fmla="*/ 4 h 85"/>
                <a:gd name="T8" fmla="*/ 13 w 206"/>
                <a:gd name="T9" fmla="*/ 3 h 85"/>
                <a:gd name="T10" fmla="*/ 11 w 206"/>
                <a:gd name="T11" fmla="*/ 2 h 85"/>
                <a:gd name="T12" fmla="*/ 4 w 206"/>
                <a:gd name="T13" fmla="*/ 3 h 85"/>
                <a:gd name="T14" fmla="*/ 5 w 206"/>
                <a:gd name="T15" fmla="*/ 6 h 85"/>
                <a:gd name="T16" fmla="*/ 8 w 206"/>
                <a:gd name="T17" fmla="*/ 7 h 85"/>
                <a:gd name="T18" fmla="*/ 11 w 206"/>
                <a:gd name="T19" fmla="*/ 9 h 85"/>
                <a:gd name="T20" fmla="*/ 13 w 206"/>
                <a:gd name="T21" fmla="*/ 10 h 85"/>
                <a:gd name="T22" fmla="*/ 15 w 206"/>
                <a:gd name="T23" fmla="*/ 8 h 85"/>
                <a:gd name="T24" fmla="*/ 17 w 206"/>
                <a:gd name="T25" fmla="*/ 7 h 85"/>
                <a:gd name="T26" fmla="*/ 17 w 206"/>
                <a:gd name="T27" fmla="*/ 5 h 85"/>
                <a:gd name="T28" fmla="*/ 23 w 206"/>
                <a:gd name="T29" fmla="*/ 4 h 85"/>
                <a:gd name="T30" fmla="*/ 26 w 206"/>
                <a:gd name="T31" fmla="*/ 4 h 85"/>
                <a:gd name="T32" fmla="*/ 27 w 206"/>
                <a:gd name="T33" fmla="*/ 3 h 85"/>
                <a:gd name="T34" fmla="*/ 26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5 w 64"/>
                <a:gd name="T1" fmla="*/ 2 h 28"/>
                <a:gd name="T2" fmla="*/ 2 w 64"/>
                <a:gd name="T3" fmla="*/ 2 h 28"/>
                <a:gd name="T4" fmla="*/ 4 w 64"/>
                <a:gd name="T5" fmla="*/ 4 h 28"/>
                <a:gd name="T6" fmla="*/ 8 w 64"/>
                <a:gd name="T7" fmla="*/ 2 h 28"/>
                <a:gd name="T8" fmla="*/ 5 w 64"/>
                <a:gd name="T9" fmla="*/ 2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3 w 146"/>
                <a:gd name="T1" fmla="*/ 3 h 176"/>
                <a:gd name="T2" fmla="*/ 0 w 146"/>
                <a:gd name="T3" fmla="*/ 4 h 176"/>
                <a:gd name="T4" fmla="*/ 1 w 146"/>
                <a:gd name="T5" fmla="*/ 6 h 176"/>
                <a:gd name="T6" fmla="*/ 4 w 146"/>
                <a:gd name="T7" fmla="*/ 12 h 176"/>
                <a:gd name="T8" fmla="*/ 7 w 146"/>
                <a:gd name="T9" fmla="*/ 13 h 176"/>
                <a:gd name="T10" fmla="*/ 7 w 146"/>
                <a:gd name="T11" fmla="*/ 15 h 176"/>
                <a:gd name="T12" fmla="*/ 4 w 146"/>
                <a:gd name="T13" fmla="*/ 15 h 176"/>
                <a:gd name="T14" fmla="*/ 2 w 146"/>
                <a:gd name="T15" fmla="*/ 18 h 176"/>
                <a:gd name="T16" fmla="*/ 2 w 146"/>
                <a:gd name="T17" fmla="*/ 19 h 176"/>
                <a:gd name="T18" fmla="*/ 4 w 146"/>
                <a:gd name="T19" fmla="*/ 20 h 176"/>
                <a:gd name="T20" fmla="*/ 2 w 146"/>
                <a:gd name="T21" fmla="*/ 23 h 176"/>
                <a:gd name="T22" fmla="*/ 2 w 146"/>
                <a:gd name="T23" fmla="*/ 24 h 176"/>
                <a:gd name="T24" fmla="*/ 4 w 146"/>
                <a:gd name="T25" fmla="*/ 23 h 176"/>
                <a:gd name="T26" fmla="*/ 7 w 146"/>
                <a:gd name="T27" fmla="*/ 23 h 176"/>
                <a:gd name="T28" fmla="*/ 12 w 146"/>
                <a:gd name="T29" fmla="*/ 23 h 176"/>
                <a:gd name="T30" fmla="*/ 14 w 146"/>
                <a:gd name="T31" fmla="*/ 23 h 176"/>
                <a:gd name="T32" fmla="*/ 16 w 146"/>
                <a:gd name="T33" fmla="*/ 23 h 176"/>
                <a:gd name="T34" fmla="*/ 16 w 146"/>
                <a:gd name="T35" fmla="*/ 20 h 176"/>
                <a:gd name="T36" fmla="*/ 19 w 146"/>
                <a:gd name="T37" fmla="*/ 18 h 176"/>
                <a:gd name="T38" fmla="*/ 14 w 146"/>
                <a:gd name="T39" fmla="*/ 15 h 176"/>
                <a:gd name="T40" fmla="*/ 12 w 146"/>
                <a:gd name="T41" fmla="*/ 11 h 176"/>
                <a:gd name="T42" fmla="*/ 10 w 146"/>
                <a:gd name="T43" fmla="*/ 10 h 176"/>
                <a:gd name="T44" fmla="*/ 8 w 146"/>
                <a:gd name="T45" fmla="*/ 8 h 176"/>
                <a:gd name="T46" fmla="*/ 11 w 146"/>
                <a:gd name="T47" fmla="*/ 6 h 176"/>
                <a:gd name="T48" fmla="*/ 8 w 146"/>
                <a:gd name="T49" fmla="*/ 5 h 176"/>
                <a:gd name="T50" fmla="*/ 9 w 146"/>
                <a:gd name="T51" fmla="*/ 2 h 176"/>
                <a:gd name="T52" fmla="*/ 5 w 146"/>
                <a:gd name="T53" fmla="*/ 1 h 176"/>
                <a:gd name="T54" fmla="*/ 4 w 146"/>
                <a:gd name="T55" fmla="*/ 2 h 176"/>
                <a:gd name="T56" fmla="*/ 3 w 146"/>
                <a:gd name="T57" fmla="*/ 3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8 w 92"/>
                <a:gd name="T1" fmla="*/ 1 h 92"/>
                <a:gd name="T2" fmla="*/ 11 w 92"/>
                <a:gd name="T3" fmla="*/ 1 h 92"/>
                <a:gd name="T4" fmla="*/ 13 w 92"/>
                <a:gd name="T5" fmla="*/ 3 h 92"/>
                <a:gd name="T6" fmla="*/ 11 w 92"/>
                <a:gd name="T7" fmla="*/ 5 h 92"/>
                <a:gd name="T8" fmla="*/ 6 w 92"/>
                <a:gd name="T9" fmla="*/ 9 h 92"/>
                <a:gd name="T10" fmla="*/ 3 w 92"/>
                <a:gd name="T11" fmla="*/ 11 h 92"/>
                <a:gd name="T12" fmla="*/ 2 w 92"/>
                <a:gd name="T13" fmla="*/ 9 h 92"/>
                <a:gd name="T14" fmla="*/ 3 w 92"/>
                <a:gd name="T15" fmla="*/ 7 h 92"/>
                <a:gd name="T16" fmla="*/ 2 w 92"/>
                <a:gd name="T17" fmla="*/ 5 h 92"/>
                <a:gd name="T18" fmla="*/ 6 w 92"/>
                <a:gd name="T19" fmla="*/ 4 h 92"/>
                <a:gd name="T20" fmla="*/ 8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8 w 633"/>
                <a:gd name="T1" fmla="*/ 2 h 660"/>
                <a:gd name="T2" fmla="*/ 23 w 633"/>
                <a:gd name="T3" fmla="*/ 3 h 660"/>
                <a:gd name="T4" fmla="*/ 19 w 633"/>
                <a:gd name="T5" fmla="*/ 8 h 660"/>
                <a:gd name="T6" fmla="*/ 13 w 633"/>
                <a:gd name="T7" fmla="*/ 8 h 660"/>
                <a:gd name="T8" fmla="*/ 10 w 633"/>
                <a:gd name="T9" fmla="*/ 11 h 660"/>
                <a:gd name="T10" fmla="*/ 9 w 633"/>
                <a:gd name="T11" fmla="*/ 16 h 660"/>
                <a:gd name="T12" fmla="*/ 4 w 633"/>
                <a:gd name="T13" fmla="*/ 23 h 660"/>
                <a:gd name="T14" fmla="*/ 0 w 633"/>
                <a:gd name="T15" fmla="*/ 24 h 660"/>
                <a:gd name="T16" fmla="*/ 9 w 633"/>
                <a:gd name="T17" fmla="*/ 44 h 660"/>
                <a:gd name="T18" fmla="*/ 16 w 633"/>
                <a:gd name="T19" fmla="*/ 57 h 660"/>
                <a:gd name="T20" fmla="*/ 19 w 633"/>
                <a:gd name="T21" fmla="*/ 59 h 660"/>
                <a:gd name="T22" fmla="*/ 22 w 633"/>
                <a:gd name="T23" fmla="*/ 60 h 660"/>
                <a:gd name="T24" fmla="*/ 30 w 633"/>
                <a:gd name="T25" fmla="*/ 58 h 660"/>
                <a:gd name="T26" fmla="*/ 33 w 633"/>
                <a:gd name="T27" fmla="*/ 57 h 660"/>
                <a:gd name="T28" fmla="*/ 39 w 633"/>
                <a:gd name="T29" fmla="*/ 60 h 660"/>
                <a:gd name="T30" fmla="*/ 43 w 633"/>
                <a:gd name="T31" fmla="*/ 71 h 660"/>
                <a:gd name="T32" fmla="*/ 44 w 633"/>
                <a:gd name="T33" fmla="*/ 71 h 660"/>
                <a:gd name="T34" fmla="*/ 46 w 633"/>
                <a:gd name="T35" fmla="*/ 68 h 660"/>
                <a:gd name="T36" fmla="*/ 49 w 633"/>
                <a:gd name="T37" fmla="*/ 74 h 660"/>
                <a:gd name="T38" fmla="*/ 53 w 633"/>
                <a:gd name="T39" fmla="*/ 77 h 660"/>
                <a:gd name="T40" fmla="*/ 58 w 633"/>
                <a:gd name="T41" fmla="*/ 80 h 660"/>
                <a:gd name="T42" fmla="*/ 58 w 633"/>
                <a:gd name="T43" fmla="*/ 83 h 660"/>
                <a:gd name="T44" fmla="*/ 60 w 633"/>
                <a:gd name="T45" fmla="*/ 83 h 660"/>
                <a:gd name="T46" fmla="*/ 64 w 633"/>
                <a:gd name="T47" fmla="*/ 87 h 660"/>
                <a:gd name="T48" fmla="*/ 65 w 633"/>
                <a:gd name="T49" fmla="*/ 85 h 660"/>
                <a:gd name="T50" fmla="*/ 71 w 633"/>
                <a:gd name="T51" fmla="*/ 89 h 660"/>
                <a:gd name="T52" fmla="*/ 77 w 633"/>
                <a:gd name="T53" fmla="*/ 87 h 660"/>
                <a:gd name="T54" fmla="*/ 82 w 633"/>
                <a:gd name="T55" fmla="*/ 71 h 660"/>
                <a:gd name="T56" fmla="*/ 83 w 633"/>
                <a:gd name="T57" fmla="*/ 62 h 660"/>
                <a:gd name="T58" fmla="*/ 82 w 633"/>
                <a:gd name="T59" fmla="*/ 49 h 660"/>
                <a:gd name="T60" fmla="*/ 70 w 633"/>
                <a:gd name="T61" fmla="*/ 37 h 660"/>
                <a:gd name="T62" fmla="*/ 70 w 633"/>
                <a:gd name="T63" fmla="*/ 32 h 660"/>
                <a:gd name="T64" fmla="*/ 61 w 633"/>
                <a:gd name="T65" fmla="*/ 24 h 660"/>
                <a:gd name="T66" fmla="*/ 62 w 633"/>
                <a:gd name="T67" fmla="*/ 21 h 660"/>
                <a:gd name="T68" fmla="*/ 60 w 633"/>
                <a:gd name="T69" fmla="*/ 18 h 660"/>
                <a:gd name="T70" fmla="*/ 55 w 633"/>
                <a:gd name="T71" fmla="*/ 11 h 660"/>
                <a:gd name="T72" fmla="*/ 52 w 633"/>
                <a:gd name="T73" fmla="*/ 5 h 660"/>
                <a:gd name="T74" fmla="*/ 51 w 633"/>
                <a:gd name="T75" fmla="*/ 3 h 660"/>
                <a:gd name="T76" fmla="*/ 48 w 633"/>
                <a:gd name="T77" fmla="*/ 20 h 660"/>
                <a:gd name="T78" fmla="*/ 43 w 633"/>
                <a:gd name="T79" fmla="*/ 16 h 660"/>
                <a:gd name="T80" fmla="*/ 39 w 633"/>
                <a:gd name="T81" fmla="*/ 15 h 660"/>
                <a:gd name="T82" fmla="*/ 36 w 633"/>
                <a:gd name="T83" fmla="*/ 12 h 660"/>
                <a:gd name="T84" fmla="*/ 34 w 633"/>
                <a:gd name="T85" fmla="*/ 8 h 660"/>
                <a:gd name="T86" fmla="*/ 37 w 633"/>
                <a:gd name="T87" fmla="*/ 8 h 660"/>
                <a:gd name="T88" fmla="*/ 32 w 633"/>
                <a:gd name="T89" fmla="*/ 3 h 660"/>
                <a:gd name="T90" fmla="*/ 28 w 633"/>
                <a:gd name="T91" fmla="*/ 2 h 660"/>
                <a:gd name="T92" fmla="*/ 27 w 633"/>
                <a:gd name="T93" fmla="*/ 2 h 660"/>
                <a:gd name="T94" fmla="*/ 28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10 w 426"/>
                <a:gd name="T1" fmla="*/ 8 h 280"/>
                <a:gd name="T2" fmla="*/ 9 w 426"/>
                <a:gd name="T3" fmla="*/ 5 h 280"/>
                <a:gd name="T4" fmla="*/ 8 w 426"/>
                <a:gd name="T5" fmla="*/ 2 h 280"/>
                <a:gd name="T6" fmla="*/ 7 w 426"/>
                <a:gd name="T7" fmla="*/ 2 h 280"/>
                <a:gd name="T8" fmla="*/ 2 w 426"/>
                <a:gd name="T9" fmla="*/ 2 h 280"/>
                <a:gd name="T10" fmla="*/ 5 w 426"/>
                <a:gd name="T11" fmla="*/ 6 h 280"/>
                <a:gd name="T12" fmla="*/ 6 w 426"/>
                <a:gd name="T13" fmla="*/ 8 h 280"/>
                <a:gd name="T14" fmla="*/ 3 w 426"/>
                <a:gd name="T15" fmla="*/ 10 h 280"/>
                <a:gd name="T16" fmla="*/ 12 w 426"/>
                <a:gd name="T17" fmla="*/ 13 h 280"/>
                <a:gd name="T18" fmla="*/ 16 w 426"/>
                <a:gd name="T19" fmla="*/ 15 h 280"/>
                <a:gd name="T20" fmla="*/ 16 w 426"/>
                <a:gd name="T21" fmla="*/ 17 h 280"/>
                <a:gd name="T22" fmla="*/ 19 w 426"/>
                <a:gd name="T23" fmla="*/ 18 h 280"/>
                <a:gd name="T24" fmla="*/ 19 w 426"/>
                <a:gd name="T25" fmla="*/ 22 h 280"/>
                <a:gd name="T26" fmla="*/ 17 w 426"/>
                <a:gd name="T27" fmla="*/ 26 h 280"/>
                <a:gd name="T28" fmla="*/ 24 w 426"/>
                <a:gd name="T29" fmla="*/ 26 h 280"/>
                <a:gd name="T30" fmla="*/ 25 w 426"/>
                <a:gd name="T31" fmla="*/ 29 h 280"/>
                <a:gd name="T32" fmla="*/ 28 w 426"/>
                <a:gd name="T33" fmla="*/ 30 h 280"/>
                <a:gd name="T34" fmla="*/ 30 w 426"/>
                <a:gd name="T35" fmla="*/ 31 h 280"/>
                <a:gd name="T36" fmla="*/ 33 w 426"/>
                <a:gd name="T37" fmla="*/ 30 h 280"/>
                <a:gd name="T38" fmla="*/ 37 w 426"/>
                <a:gd name="T39" fmla="*/ 26 h 280"/>
                <a:gd name="T40" fmla="*/ 44 w 426"/>
                <a:gd name="T41" fmla="*/ 34 h 280"/>
                <a:gd name="T42" fmla="*/ 48 w 426"/>
                <a:gd name="T43" fmla="*/ 38 h 280"/>
                <a:gd name="T44" fmla="*/ 48 w 426"/>
                <a:gd name="T45" fmla="*/ 30 h 280"/>
                <a:gd name="T46" fmla="*/ 44 w 426"/>
                <a:gd name="T47" fmla="*/ 27 h 280"/>
                <a:gd name="T48" fmla="*/ 49 w 426"/>
                <a:gd name="T49" fmla="*/ 23 h 280"/>
                <a:gd name="T50" fmla="*/ 54 w 426"/>
                <a:gd name="T51" fmla="*/ 22 h 280"/>
                <a:gd name="T52" fmla="*/ 56 w 426"/>
                <a:gd name="T53" fmla="*/ 21 h 280"/>
                <a:gd name="T54" fmla="*/ 56 w 426"/>
                <a:gd name="T55" fmla="*/ 19 h 280"/>
                <a:gd name="T56" fmla="*/ 47 w 426"/>
                <a:gd name="T57" fmla="*/ 20 h 280"/>
                <a:gd name="T58" fmla="*/ 40 w 426"/>
                <a:gd name="T59" fmla="*/ 19 h 280"/>
                <a:gd name="T60" fmla="*/ 39 w 426"/>
                <a:gd name="T61" fmla="*/ 17 h 280"/>
                <a:gd name="T62" fmla="*/ 39 w 426"/>
                <a:gd name="T63" fmla="*/ 16 h 280"/>
                <a:gd name="T64" fmla="*/ 29 w 426"/>
                <a:gd name="T65" fmla="*/ 11 h 280"/>
                <a:gd name="T66" fmla="*/ 21 w 426"/>
                <a:gd name="T67" fmla="*/ 8 h 280"/>
                <a:gd name="T68" fmla="*/ 18 w 426"/>
                <a:gd name="T69" fmla="*/ 8 h 280"/>
                <a:gd name="T70" fmla="*/ 10 w 426"/>
                <a:gd name="T71" fmla="*/ 8 h 280"/>
                <a:gd name="T72" fmla="*/ 9 w 426"/>
                <a:gd name="T73" fmla="*/ 5 h 280"/>
                <a:gd name="T74" fmla="*/ 9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algn="ctr" rotWithShape="0">
                      <a:srgbClr val="989898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39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 w 416"/>
                <a:gd name="T3" fmla="*/ 5 h 282"/>
                <a:gd name="T4" fmla="*/ 4 w 416"/>
                <a:gd name="T5" fmla="*/ 7 h 282"/>
                <a:gd name="T6" fmla="*/ 10 w 416"/>
                <a:gd name="T7" fmla="*/ 12 h 282"/>
                <a:gd name="T8" fmla="*/ 16 w 416"/>
                <a:gd name="T9" fmla="*/ 15 h 282"/>
                <a:gd name="T10" fmla="*/ 17 w 416"/>
                <a:gd name="T11" fmla="*/ 16 h 282"/>
                <a:gd name="T12" fmla="*/ 18 w 416"/>
                <a:gd name="T13" fmla="*/ 22 h 282"/>
                <a:gd name="T14" fmla="*/ 16 w 416"/>
                <a:gd name="T15" fmla="*/ 26 h 282"/>
                <a:gd name="T16" fmla="*/ 18 w 416"/>
                <a:gd name="T17" fmla="*/ 25 h 282"/>
                <a:gd name="T18" fmla="*/ 19 w 416"/>
                <a:gd name="T19" fmla="*/ 25 h 282"/>
                <a:gd name="T20" fmla="*/ 21 w 416"/>
                <a:gd name="T21" fmla="*/ 26 h 282"/>
                <a:gd name="T22" fmla="*/ 24 w 416"/>
                <a:gd name="T23" fmla="*/ 28 h 282"/>
                <a:gd name="T24" fmla="*/ 28 w 416"/>
                <a:gd name="T25" fmla="*/ 31 h 282"/>
                <a:gd name="T26" fmla="*/ 31 w 416"/>
                <a:gd name="T27" fmla="*/ 29 h 282"/>
                <a:gd name="T28" fmla="*/ 32 w 416"/>
                <a:gd name="T29" fmla="*/ 25 h 282"/>
                <a:gd name="T30" fmla="*/ 35 w 416"/>
                <a:gd name="T31" fmla="*/ 26 h 282"/>
                <a:gd name="T32" fmla="*/ 38 w 416"/>
                <a:gd name="T33" fmla="*/ 28 h 282"/>
                <a:gd name="T34" fmla="*/ 44 w 416"/>
                <a:gd name="T35" fmla="*/ 37 h 282"/>
                <a:gd name="T36" fmla="*/ 46 w 416"/>
                <a:gd name="T37" fmla="*/ 37 h 282"/>
                <a:gd name="T38" fmla="*/ 46 w 416"/>
                <a:gd name="T39" fmla="*/ 33 h 282"/>
                <a:gd name="T40" fmla="*/ 41 w 416"/>
                <a:gd name="T41" fmla="*/ 25 h 282"/>
                <a:gd name="T42" fmla="*/ 47 w 416"/>
                <a:gd name="T43" fmla="*/ 23 h 282"/>
                <a:gd name="T44" fmla="*/ 53 w 416"/>
                <a:gd name="T45" fmla="*/ 19 h 282"/>
                <a:gd name="T46" fmla="*/ 54 w 416"/>
                <a:gd name="T47" fmla="*/ 16 h 282"/>
                <a:gd name="T48" fmla="*/ 48 w 416"/>
                <a:gd name="T49" fmla="*/ 18 h 282"/>
                <a:gd name="T50" fmla="*/ 40 w 416"/>
                <a:gd name="T51" fmla="*/ 18 h 282"/>
                <a:gd name="T52" fmla="*/ 34 w 416"/>
                <a:gd name="T53" fmla="*/ 13 h 282"/>
                <a:gd name="T54" fmla="*/ 24 w 416"/>
                <a:gd name="T55" fmla="*/ 7 h 282"/>
                <a:gd name="T56" fmla="*/ 17 w 416"/>
                <a:gd name="T57" fmla="*/ 4 h 282"/>
                <a:gd name="T58" fmla="*/ 12 w 416"/>
                <a:gd name="T59" fmla="*/ 5 h 282"/>
                <a:gd name="T60" fmla="*/ 10 w 416"/>
                <a:gd name="T61" fmla="*/ 7 h 282"/>
                <a:gd name="T62" fmla="*/ 7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5 w 60"/>
                <a:gd name="T1" fmla="*/ 2 h 78"/>
                <a:gd name="T2" fmla="*/ 0 w 60"/>
                <a:gd name="T3" fmla="*/ 2 h 78"/>
                <a:gd name="T4" fmla="*/ 3 w 60"/>
                <a:gd name="T5" fmla="*/ 5 h 78"/>
                <a:gd name="T6" fmla="*/ 4 w 60"/>
                <a:gd name="T7" fmla="*/ 8 h 78"/>
                <a:gd name="T8" fmla="*/ 5 w 60"/>
                <a:gd name="T9" fmla="*/ 10 h 78"/>
                <a:gd name="T10" fmla="*/ 8 w 60"/>
                <a:gd name="T11" fmla="*/ 7 h 78"/>
                <a:gd name="T12" fmla="*/ 5 w 60"/>
                <a:gd name="T13" fmla="*/ 2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41"/>
            <p:cNvSpPr>
              <a:spLocks/>
            </p:cNvSpPr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5 w 219"/>
                <a:gd name="T1" fmla="*/ 10 h 113"/>
                <a:gd name="T2" fmla="*/ 5 w 219"/>
                <a:gd name="T3" fmla="*/ 8 h 113"/>
                <a:gd name="T4" fmla="*/ 1 w 219"/>
                <a:gd name="T5" fmla="*/ 10 h 113"/>
                <a:gd name="T6" fmla="*/ 5 w 219"/>
                <a:gd name="T7" fmla="*/ 15 h 113"/>
                <a:gd name="T8" fmla="*/ 16 w 219"/>
                <a:gd name="T9" fmla="*/ 13 h 113"/>
                <a:gd name="T10" fmla="*/ 19 w 219"/>
                <a:gd name="T11" fmla="*/ 10 h 113"/>
                <a:gd name="T12" fmla="*/ 22 w 219"/>
                <a:gd name="T13" fmla="*/ 9 h 113"/>
                <a:gd name="T14" fmla="*/ 29 w 219"/>
                <a:gd name="T15" fmla="*/ 3 h 113"/>
                <a:gd name="T16" fmla="*/ 28 w 219"/>
                <a:gd name="T17" fmla="*/ 0 h 113"/>
                <a:gd name="T18" fmla="*/ 23 w 219"/>
                <a:gd name="T19" fmla="*/ 3 h 113"/>
                <a:gd name="T20" fmla="*/ 14 w 219"/>
                <a:gd name="T21" fmla="*/ 6 h 113"/>
                <a:gd name="T22" fmla="*/ 10 w 219"/>
                <a:gd name="T23" fmla="*/ 6 h 113"/>
                <a:gd name="T24" fmla="*/ 7 w 219"/>
                <a:gd name="T25" fmla="*/ 8 h 113"/>
                <a:gd name="T26" fmla="*/ 5 w 219"/>
                <a:gd name="T27" fmla="*/ 10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42"/>
            <p:cNvSpPr>
              <a:spLocks/>
            </p:cNvSpPr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 w 139"/>
                <a:gd name="T1" fmla="*/ 8 h 122"/>
                <a:gd name="T2" fmla="*/ 1 w 139"/>
                <a:gd name="T3" fmla="*/ 11 h 122"/>
                <a:gd name="T4" fmla="*/ 0 w 139"/>
                <a:gd name="T5" fmla="*/ 15 h 122"/>
                <a:gd name="T6" fmla="*/ 4 w 139"/>
                <a:gd name="T7" fmla="*/ 17 h 122"/>
                <a:gd name="T8" fmla="*/ 7 w 139"/>
                <a:gd name="T9" fmla="*/ 13 h 122"/>
                <a:gd name="T10" fmla="*/ 16 w 139"/>
                <a:gd name="T11" fmla="*/ 10 h 122"/>
                <a:gd name="T12" fmla="*/ 18 w 139"/>
                <a:gd name="T13" fmla="*/ 6 h 122"/>
                <a:gd name="T14" fmla="*/ 14 w 139"/>
                <a:gd name="T15" fmla="*/ 4 h 122"/>
                <a:gd name="T16" fmla="*/ 13 w 139"/>
                <a:gd name="T17" fmla="*/ 3 h 122"/>
                <a:gd name="T18" fmla="*/ 8 w 139"/>
                <a:gd name="T19" fmla="*/ 2 h 122"/>
                <a:gd name="T20" fmla="*/ 7 w 139"/>
                <a:gd name="T21" fmla="*/ 5 h 122"/>
                <a:gd name="T22" fmla="*/ 1 w 139"/>
                <a:gd name="T23" fmla="*/ 8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43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5 w 49"/>
                <a:gd name="T1" fmla="*/ 0 h 35"/>
                <a:gd name="T2" fmla="*/ 2 w 49"/>
                <a:gd name="T3" fmla="*/ 1 h 35"/>
                <a:gd name="T4" fmla="*/ 4 w 49"/>
                <a:gd name="T5" fmla="*/ 4 h 35"/>
                <a:gd name="T6" fmla="*/ 6 w 49"/>
                <a:gd name="T7" fmla="*/ 3 h 35"/>
                <a:gd name="T8" fmla="*/ 5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44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7 w 164"/>
                <a:gd name="T1" fmla="*/ 0 h 268"/>
                <a:gd name="T2" fmla="*/ 14 w 164"/>
                <a:gd name="T3" fmla="*/ 4 h 268"/>
                <a:gd name="T4" fmla="*/ 13 w 164"/>
                <a:gd name="T5" fmla="*/ 8 h 268"/>
                <a:gd name="T6" fmla="*/ 5 w 164"/>
                <a:gd name="T7" fmla="*/ 11 h 268"/>
                <a:gd name="T8" fmla="*/ 4 w 164"/>
                <a:gd name="T9" fmla="*/ 13 h 268"/>
                <a:gd name="T10" fmla="*/ 2 w 164"/>
                <a:gd name="T11" fmla="*/ 14 h 268"/>
                <a:gd name="T12" fmla="*/ 3 w 164"/>
                <a:gd name="T13" fmla="*/ 18 h 268"/>
                <a:gd name="T14" fmla="*/ 4 w 164"/>
                <a:gd name="T15" fmla="*/ 22 h 268"/>
                <a:gd name="T16" fmla="*/ 0 w 164"/>
                <a:gd name="T17" fmla="*/ 27 h 268"/>
                <a:gd name="T18" fmla="*/ 4 w 164"/>
                <a:gd name="T19" fmla="*/ 35 h 268"/>
                <a:gd name="T20" fmla="*/ 8 w 164"/>
                <a:gd name="T21" fmla="*/ 36 h 268"/>
                <a:gd name="T22" fmla="*/ 13 w 164"/>
                <a:gd name="T23" fmla="*/ 29 h 268"/>
                <a:gd name="T24" fmla="*/ 14 w 164"/>
                <a:gd name="T25" fmla="*/ 26 h 268"/>
                <a:gd name="T26" fmla="*/ 17 w 164"/>
                <a:gd name="T27" fmla="*/ 16 h 268"/>
                <a:gd name="T28" fmla="*/ 19 w 164"/>
                <a:gd name="T29" fmla="*/ 11 h 268"/>
                <a:gd name="T30" fmla="*/ 22 w 164"/>
                <a:gd name="T31" fmla="*/ 10 h 268"/>
                <a:gd name="T32" fmla="*/ 17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45"/>
            <p:cNvSpPr>
              <a:spLocks/>
            </p:cNvSpPr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4 w 66"/>
                <a:gd name="T1" fmla="*/ 0 h 81"/>
                <a:gd name="T2" fmla="*/ 3 w 66"/>
                <a:gd name="T3" fmla="*/ 8 h 81"/>
                <a:gd name="T4" fmla="*/ 4 w 66"/>
                <a:gd name="T5" fmla="*/ 11 h 81"/>
                <a:gd name="T6" fmla="*/ 5 w 66"/>
                <a:gd name="T7" fmla="*/ 11 h 81"/>
                <a:gd name="T8" fmla="*/ 7 w 66"/>
                <a:gd name="T9" fmla="*/ 11 h 81"/>
                <a:gd name="T10" fmla="*/ 4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46"/>
            <p:cNvSpPr>
              <a:spLocks/>
            </p:cNvSpPr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13 w 148"/>
                <a:gd name="T1" fmla="*/ 0 h 244"/>
                <a:gd name="T2" fmla="*/ 8 w 148"/>
                <a:gd name="T3" fmla="*/ 11 h 244"/>
                <a:gd name="T4" fmla="*/ 5 w 148"/>
                <a:gd name="T5" fmla="*/ 13 h 244"/>
                <a:gd name="T6" fmla="*/ 2 w 148"/>
                <a:gd name="T7" fmla="*/ 15 h 244"/>
                <a:gd name="T8" fmla="*/ 6 w 148"/>
                <a:gd name="T9" fmla="*/ 26 h 244"/>
                <a:gd name="T10" fmla="*/ 8 w 148"/>
                <a:gd name="T11" fmla="*/ 30 h 244"/>
                <a:gd name="T12" fmla="*/ 8 w 148"/>
                <a:gd name="T13" fmla="*/ 32 h 244"/>
                <a:gd name="T14" fmla="*/ 11 w 148"/>
                <a:gd name="T15" fmla="*/ 33 h 244"/>
                <a:gd name="T16" fmla="*/ 13 w 148"/>
                <a:gd name="T17" fmla="*/ 26 h 244"/>
                <a:gd name="T18" fmla="*/ 17 w 148"/>
                <a:gd name="T19" fmla="*/ 23 h 244"/>
                <a:gd name="T20" fmla="*/ 15 w 148"/>
                <a:gd name="T21" fmla="*/ 10 h 244"/>
                <a:gd name="T22" fmla="*/ 19 w 148"/>
                <a:gd name="T23" fmla="*/ 6 h 244"/>
                <a:gd name="T24" fmla="*/ 15 w 148"/>
                <a:gd name="T25" fmla="*/ 3 h 244"/>
                <a:gd name="T26" fmla="*/ 13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47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6 w 96"/>
                <a:gd name="T1" fmla="*/ 1 h 183"/>
                <a:gd name="T2" fmla="*/ 8 w 96"/>
                <a:gd name="T3" fmla="*/ 4 h 183"/>
                <a:gd name="T4" fmla="*/ 8 w 96"/>
                <a:gd name="T5" fmla="*/ 7 h 183"/>
                <a:gd name="T6" fmla="*/ 8 w 96"/>
                <a:gd name="T7" fmla="*/ 12 h 183"/>
                <a:gd name="T8" fmla="*/ 10 w 96"/>
                <a:gd name="T9" fmla="*/ 14 h 183"/>
                <a:gd name="T10" fmla="*/ 10 w 96"/>
                <a:gd name="T11" fmla="*/ 16 h 183"/>
                <a:gd name="T12" fmla="*/ 8 w 96"/>
                <a:gd name="T13" fmla="*/ 12 h 183"/>
                <a:gd name="T14" fmla="*/ 5 w 96"/>
                <a:gd name="T15" fmla="*/ 10 h 183"/>
                <a:gd name="T16" fmla="*/ 2 w 96"/>
                <a:gd name="T17" fmla="*/ 10 h 183"/>
                <a:gd name="T18" fmla="*/ 2 w 96"/>
                <a:gd name="T19" fmla="*/ 13 h 183"/>
                <a:gd name="T20" fmla="*/ 6 w 96"/>
                <a:gd name="T21" fmla="*/ 15 h 183"/>
                <a:gd name="T22" fmla="*/ 8 w 96"/>
                <a:gd name="T23" fmla="*/ 18 h 183"/>
                <a:gd name="T24" fmla="*/ 10 w 96"/>
                <a:gd name="T25" fmla="*/ 18 h 183"/>
                <a:gd name="T26" fmla="*/ 11 w 96"/>
                <a:gd name="T27" fmla="*/ 19 h 183"/>
                <a:gd name="T28" fmla="*/ 13 w 96"/>
                <a:gd name="T29" fmla="*/ 23 h 183"/>
                <a:gd name="T30" fmla="*/ 11 w 96"/>
                <a:gd name="T31" fmla="*/ 16 h 183"/>
                <a:gd name="T32" fmla="*/ 11 w 96"/>
                <a:gd name="T33" fmla="*/ 12 h 183"/>
                <a:gd name="T34" fmla="*/ 10 w 96"/>
                <a:gd name="T35" fmla="*/ 7 h 183"/>
                <a:gd name="T36" fmla="*/ 8 w 96"/>
                <a:gd name="T37" fmla="*/ 5 h 183"/>
                <a:gd name="T38" fmla="*/ 8 w 96"/>
                <a:gd name="T39" fmla="*/ 2 h 183"/>
                <a:gd name="T40" fmla="*/ 6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48"/>
            <p:cNvSpPr>
              <a:spLocks/>
            </p:cNvSpPr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3 h 175"/>
                <a:gd name="T4" fmla="*/ 1 w 54"/>
                <a:gd name="T5" fmla="*/ 7 h 175"/>
                <a:gd name="T6" fmla="*/ 2 w 54"/>
                <a:gd name="T7" fmla="*/ 12 h 175"/>
                <a:gd name="T8" fmla="*/ 4 w 54"/>
                <a:gd name="T9" fmla="*/ 17 h 175"/>
                <a:gd name="T10" fmla="*/ 7 w 54"/>
                <a:gd name="T11" fmla="*/ 23 h 175"/>
                <a:gd name="T12" fmla="*/ 5 w 54"/>
                <a:gd name="T13" fmla="*/ 15 h 175"/>
                <a:gd name="T14" fmla="*/ 4 w 54"/>
                <a:gd name="T15" fmla="*/ 12 h 175"/>
                <a:gd name="T16" fmla="*/ 4 w 54"/>
                <a:gd name="T17" fmla="*/ 7 h 175"/>
                <a:gd name="T18" fmla="*/ 3 w 54"/>
                <a:gd name="T19" fmla="*/ 5 h 175"/>
                <a:gd name="T20" fmla="*/ 2 w 54"/>
                <a:gd name="T21" fmla="*/ 5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49"/>
            <p:cNvSpPr>
              <a:spLocks/>
            </p:cNvSpPr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4 h 73"/>
                <a:gd name="T4" fmla="*/ 4 w 86"/>
                <a:gd name="T5" fmla="*/ 5 h 73"/>
                <a:gd name="T6" fmla="*/ 6 w 86"/>
                <a:gd name="T7" fmla="*/ 6 h 73"/>
                <a:gd name="T8" fmla="*/ 8 w 86"/>
                <a:gd name="T9" fmla="*/ 7 h 73"/>
                <a:gd name="T10" fmla="*/ 11 w 86"/>
                <a:gd name="T11" fmla="*/ 8 h 73"/>
                <a:gd name="T12" fmla="*/ 12 w 86"/>
                <a:gd name="T13" fmla="*/ 9 h 73"/>
                <a:gd name="T14" fmla="*/ 10 w 86"/>
                <a:gd name="T15" fmla="*/ 5 h 73"/>
                <a:gd name="T16" fmla="*/ 8 w 86"/>
                <a:gd name="T17" fmla="*/ 3 h 73"/>
                <a:gd name="T18" fmla="*/ 5 w 86"/>
                <a:gd name="T19" fmla="*/ 3 h 73"/>
                <a:gd name="T20" fmla="*/ 4 w 86"/>
                <a:gd name="T21" fmla="*/ 2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50"/>
            <p:cNvSpPr>
              <a:spLocks/>
            </p:cNvSpPr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13 w 111"/>
                <a:gd name="T1" fmla="*/ 0 h 156"/>
                <a:gd name="T2" fmla="*/ 10 w 111"/>
                <a:gd name="T3" fmla="*/ 2 h 156"/>
                <a:gd name="T4" fmla="*/ 3 w 111"/>
                <a:gd name="T5" fmla="*/ 2 h 156"/>
                <a:gd name="T6" fmla="*/ 1 w 111"/>
                <a:gd name="T7" fmla="*/ 5 h 156"/>
                <a:gd name="T8" fmla="*/ 1 w 111"/>
                <a:gd name="T9" fmla="*/ 8 h 156"/>
                <a:gd name="T10" fmla="*/ 1 w 111"/>
                <a:gd name="T11" fmla="*/ 11 h 156"/>
                <a:gd name="T12" fmla="*/ 1 w 111"/>
                <a:gd name="T13" fmla="*/ 13 h 156"/>
                <a:gd name="T14" fmla="*/ 1 w 111"/>
                <a:gd name="T15" fmla="*/ 15 h 156"/>
                <a:gd name="T16" fmla="*/ 3 w 111"/>
                <a:gd name="T17" fmla="*/ 17 h 156"/>
                <a:gd name="T18" fmla="*/ 1 w 111"/>
                <a:gd name="T19" fmla="*/ 20 h 156"/>
                <a:gd name="T20" fmla="*/ 3 w 111"/>
                <a:gd name="T21" fmla="*/ 22 h 156"/>
                <a:gd name="T22" fmla="*/ 5 w 111"/>
                <a:gd name="T23" fmla="*/ 20 h 156"/>
                <a:gd name="T24" fmla="*/ 7 w 111"/>
                <a:gd name="T25" fmla="*/ 13 h 156"/>
                <a:gd name="T26" fmla="*/ 7 w 111"/>
                <a:gd name="T27" fmla="*/ 17 h 156"/>
                <a:gd name="T28" fmla="*/ 9 w 111"/>
                <a:gd name="T29" fmla="*/ 20 h 156"/>
                <a:gd name="T30" fmla="*/ 7 w 111"/>
                <a:gd name="T31" fmla="*/ 15 h 156"/>
                <a:gd name="T32" fmla="*/ 9 w 111"/>
                <a:gd name="T33" fmla="*/ 10 h 156"/>
                <a:gd name="T34" fmla="*/ 9 w 111"/>
                <a:gd name="T35" fmla="*/ 8 h 156"/>
                <a:gd name="T36" fmla="*/ 7 w 111"/>
                <a:gd name="T37" fmla="*/ 8 h 156"/>
                <a:gd name="T38" fmla="*/ 4 w 111"/>
                <a:gd name="T39" fmla="*/ 8 h 156"/>
                <a:gd name="T40" fmla="*/ 5 w 111"/>
                <a:gd name="T41" fmla="*/ 5 h 156"/>
                <a:gd name="T42" fmla="*/ 7 w 111"/>
                <a:gd name="T43" fmla="*/ 5 h 156"/>
                <a:gd name="T44" fmla="*/ 10 w 111"/>
                <a:gd name="T45" fmla="*/ 6 h 156"/>
                <a:gd name="T46" fmla="*/ 13 w 111"/>
                <a:gd name="T47" fmla="*/ 5 h 156"/>
                <a:gd name="T48" fmla="*/ 14 w 111"/>
                <a:gd name="T49" fmla="*/ 2 h 156"/>
                <a:gd name="T50" fmla="*/ 13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51"/>
            <p:cNvSpPr>
              <a:spLocks/>
            </p:cNvSpPr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2 h 94"/>
                <a:gd name="T4" fmla="*/ 1 w 30"/>
                <a:gd name="T5" fmla="*/ 5 h 94"/>
                <a:gd name="T6" fmla="*/ 1 w 30"/>
                <a:gd name="T7" fmla="*/ 8 h 94"/>
                <a:gd name="T8" fmla="*/ 2 w 30"/>
                <a:gd name="T9" fmla="*/ 13 h 94"/>
                <a:gd name="T10" fmla="*/ 4 w 30"/>
                <a:gd name="T11" fmla="*/ 11 h 94"/>
                <a:gd name="T12" fmla="*/ 3 w 30"/>
                <a:gd name="T13" fmla="*/ 8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52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2 h 158"/>
                <a:gd name="T4" fmla="*/ 2 w 81"/>
                <a:gd name="T5" fmla="*/ 7 h 158"/>
                <a:gd name="T6" fmla="*/ 2 w 81"/>
                <a:gd name="T7" fmla="*/ 14 h 158"/>
                <a:gd name="T8" fmla="*/ 3 w 81"/>
                <a:gd name="T9" fmla="*/ 13 h 158"/>
                <a:gd name="T10" fmla="*/ 3 w 81"/>
                <a:gd name="T11" fmla="*/ 15 h 158"/>
                <a:gd name="T12" fmla="*/ 5 w 81"/>
                <a:gd name="T13" fmla="*/ 16 h 158"/>
                <a:gd name="T14" fmla="*/ 6 w 81"/>
                <a:gd name="T15" fmla="*/ 18 h 158"/>
                <a:gd name="T16" fmla="*/ 6 w 81"/>
                <a:gd name="T17" fmla="*/ 16 h 158"/>
                <a:gd name="T18" fmla="*/ 9 w 81"/>
                <a:gd name="T19" fmla="*/ 17 h 158"/>
                <a:gd name="T20" fmla="*/ 8 w 81"/>
                <a:gd name="T21" fmla="*/ 14 h 158"/>
                <a:gd name="T22" fmla="*/ 6 w 81"/>
                <a:gd name="T23" fmla="*/ 13 h 158"/>
                <a:gd name="T24" fmla="*/ 6 w 81"/>
                <a:gd name="T25" fmla="*/ 12 h 158"/>
                <a:gd name="T26" fmla="*/ 5 w 81"/>
                <a:gd name="T27" fmla="*/ 10 h 158"/>
                <a:gd name="T28" fmla="*/ 6 w 81"/>
                <a:gd name="T29" fmla="*/ 7 h 158"/>
                <a:gd name="T30" fmla="*/ 5 w 81"/>
                <a:gd name="T31" fmla="*/ 4 h 158"/>
                <a:gd name="T32" fmla="*/ 6 w 81"/>
                <a:gd name="T33" fmla="*/ 2 h 158"/>
                <a:gd name="T34" fmla="*/ 5 w 81"/>
                <a:gd name="T35" fmla="*/ 1 h 158"/>
                <a:gd name="T36" fmla="*/ 3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53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8 w 85"/>
                <a:gd name="T1" fmla="*/ 0 h 105"/>
                <a:gd name="T2" fmla="*/ 6 w 85"/>
                <a:gd name="T3" fmla="*/ 3 h 105"/>
                <a:gd name="T4" fmla="*/ 5 w 85"/>
                <a:gd name="T5" fmla="*/ 5 h 105"/>
                <a:gd name="T6" fmla="*/ 2 w 85"/>
                <a:gd name="T7" fmla="*/ 5 h 105"/>
                <a:gd name="T8" fmla="*/ 2 w 85"/>
                <a:gd name="T9" fmla="*/ 6 h 105"/>
                <a:gd name="T10" fmla="*/ 2 w 85"/>
                <a:gd name="T11" fmla="*/ 11 h 105"/>
                <a:gd name="T12" fmla="*/ 2 w 85"/>
                <a:gd name="T13" fmla="*/ 10 h 105"/>
                <a:gd name="T14" fmla="*/ 4 w 85"/>
                <a:gd name="T15" fmla="*/ 8 h 105"/>
                <a:gd name="T16" fmla="*/ 5 w 85"/>
                <a:gd name="T17" fmla="*/ 10 h 105"/>
                <a:gd name="T18" fmla="*/ 8 w 85"/>
                <a:gd name="T19" fmla="*/ 14 h 105"/>
                <a:gd name="T20" fmla="*/ 10 w 85"/>
                <a:gd name="T21" fmla="*/ 10 h 105"/>
                <a:gd name="T22" fmla="*/ 11 w 85"/>
                <a:gd name="T23" fmla="*/ 10 h 105"/>
                <a:gd name="T24" fmla="*/ 11 w 85"/>
                <a:gd name="T25" fmla="*/ 6 h 105"/>
                <a:gd name="T26" fmla="*/ 8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54"/>
            <p:cNvSpPr>
              <a:spLocks/>
            </p:cNvSpPr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2 w 38"/>
                <a:gd name="T1" fmla="*/ 3 h 66"/>
                <a:gd name="T2" fmla="*/ 4 w 38"/>
                <a:gd name="T3" fmla="*/ 8 h 66"/>
                <a:gd name="T4" fmla="*/ 5 w 38"/>
                <a:gd name="T5" fmla="*/ 7 h 66"/>
                <a:gd name="T6" fmla="*/ 6 w 38"/>
                <a:gd name="T7" fmla="*/ 5 h 66"/>
                <a:gd name="T8" fmla="*/ 5 w 38"/>
                <a:gd name="T9" fmla="*/ 3 h 66"/>
                <a:gd name="T10" fmla="*/ 3 w 38"/>
                <a:gd name="T11" fmla="*/ 1 h 66"/>
                <a:gd name="T12" fmla="*/ 2 w 38"/>
                <a:gd name="T13" fmla="*/ 1 h 66"/>
                <a:gd name="T14" fmla="*/ 2 w 38"/>
                <a:gd name="T15" fmla="*/ 1 h 66"/>
                <a:gd name="T16" fmla="*/ 2 w 38"/>
                <a:gd name="T17" fmla="*/ 3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55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3 h 23"/>
                <a:gd name="T4" fmla="*/ 4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56"/>
            <p:cNvSpPr>
              <a:spLocks/>
            </p:cNvSpPr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3 h 49"/>
                <a:gd name="T4" fmla="*/ 4 w 60"/>
                <a:gd name="T5" fmla="*/ 5 h 49"/>
                <a:gd name="T6" fmla="*/ 6 w 60"/>
                <a:gd name="T7" fmla="*/ 6 h 49"/>
                <a:gd name="T8" fmla="*/ 8 w 60"/>
                <a:gd name="T9" fmla="*/ 6 h 49"/>
                <a:gd name="T10" fmla="*/ 7 w 60"/>
                <a:gd name="T11" fmla="*/ 4 h 49"/>
                <a:gd name="T12" fmla="*/ 4 w 60"/>
                <a:gd name="T13" fmla="*/ 2 h 49"/>
                <a:gd name="T14" fmla="*/ 3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57"/>
            <p:cNvSpPr>
              <a:spLocks/>
            </p:cNvSpPr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4 w 32"/>
                <a:gd name="T1" fmla="*/ 0 h 44"/>
                <a:gd name="T2" fmla="*/ 2 w 32"/>
                <a:gd name="T3" fmla="*/ 2 h 44"/>
                <a:gd name="T4" fmla="*/ 2 w 32"/>
                <a:gd name="T5" fmla="*/ 5 h 44"/>
                <a:gd name="T6" fmla="*/ 4 w 32"/>
                <a:gd name="T7" fmla="*/ 5 h 44"/>
                <a:gd name="T8" fmla="*/ 4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58"/>
            <p:cNvSpPr>
              <a:spLocks/>
            </p:cNvSpPr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4 w 61"/>
                <a:gd name="T5" fmla="*/ 4 h 63"/>
                <a:gd name="T6" fmla="*/ 5 w 61"/>
                <a:gd name="T7" fmla="*/ 7 h 63"/>
                <a:gd name="T8" fmla="*/ 6 w 61"/>
                <a:gd name="T9" fmla="*/ 7 h 63"/>
                <a:gd name="T10" fmla="*/ 8 w 61"/>
                <a:gd name="T11" fmla="*/ 7 h 63"/>
                <a:gd name="T12" fmla="*/ 5 w 61"/>
                <a:gd name="T13" fmla="*/ 2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59"/>
            <p:cNvSpPr>
              <a:spLocks/>
            </p:cNvSpPr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4 w 61"/>
                <a:gd name="T1" fmla="*/ 1 h 67"/>
                <a:gd name="T2" fmla="*/ 5 w 61"/>
                <a:gd name="T3" fmla="*/ 4 h 67"/>
                <a:gd name="T4" fmla="*/ 2 w 61"/>
                <a:gd name="T5" fmla="*/ 5 h 67"/>
                <a:gd name="T6" fmla="*/ 4 w 61"/>
                <a:gd name="T7" fmla="*/ 9 h 67"/>
                <a:gd name="T8" fmla="*/ 6 w 61"/>
                <a:gd name="T9" fmla="*/ 7 h 67"/>
                <a:gd name="T10" fmla="*/ 8 w 61"/>
                <a:gd name="T11" fmla="*/ 5 h 67"/>
                <a:gd name="T12" fmla="*/ 8 w 61"/>
                <a:gd name="T13" fmla="*/ 4 h 67"/>
                <a:gd name="T14" fmla="*/ 8 w 61"/>
                <a:gd name="T15" fmla="*/ 1 h 67"/>
                <a:gd name="T16" fmla="*/ 8 w 61"/>
                <a:gd name="T17" fmla="*/ 1 h 67"/>
                <a:gd name="T18" fmla="*/ 6 w 61"/>
                <a:gd name="T19" fmla="*/ 1 h 67"/>
                <a:gd name="T20" fmla="*/ 8 w 61"/>
                <a:gd name="T21" fmla="*/ 1 h 67"/>
                <a:gd name="T22" fmla="*/ 7 w 61"/>
                <a:gd name="T23" fmla="*/ 2 h 67"/>
                <a:gd name="T24" fmla="*/ 6 w 61"/>
                <a:gd name="T25" fmla="*/ 3 h 67"/>
                <a:gd name="T26" fmla="*/ 4 w 61"/>
                <a:gd name="T27" fmla="*/ 1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60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3 w 43"/>
                <a:gd name="T1" fmla="*/ 2 h 36"/>
                <a:gd name="T2" fmla="*/ 1 w 43"/>
                <a:gd name="T3" fmla="*/ 2 h 36"/>
                <a:gd name="T4" fmla="*/ 4 w 43"/>
                <a:gd name="T5" fmla="*/ 5 h 36"/>
                <a:gd name="T6" fmla="*/ 5 w 43"/>
                <a:gd name="T7" fmla="*/ 5 h 36"/>
                <a:gd name="T8" fmla="*/ 3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61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3 w 32"/>
                <a:gd name="T1" fmla="*/ 0 h 41"/>
                <a:gd name="T2" fmla="*/ 0 w 32"/>
                <a:gd name="T3" fmla="*/ 4 h 41"/>
                <a:gd name="T4" fmla="*/ 2 w 32"/>
                <a:gd name="T5" fmla="*/ 4 h 41"/>
                <a:gd name="T6" fmla="*/ 3 w 32"/>
                <a:gd name="T7" fmla="*/ 5 h 41"/>
                <a:gd name="T8" fmla="*/ 2 w 32"/>
                <a:gd name="T9" fmla="*/ 5 h 41"/>
                <a:gd name="T10" fmla="*/ 5 w 32"/>
                <a:gd name="T11" fmla="*/ 3 h 41"/>
                <a:gd name="T12" fmla="*/ 4 w 32"/>
                <a:gd name="T13" fmla="*/ 2 h 41"/>
                <a:gd name="T14" fmla="*/ 3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62"/>
            <p:cNvSpPr>
              <a:spLocks/>
            </p:cNvSpPr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3 w 45"/>
                <a:gd name="T1" fmla="*/ 0 h 32"/>
                <a:gd name="T2" fmla="*/ 0 w 45"/>
                <a:gd name="T3" fmla="*/ 2 h 32"/>
                <a:gd name="T4" fmla="*/ 4 w 45"/>
                <a:gd name="T5" fmla="*/ 5 h 32"/>
                <a:gd name="T6" fmla="*/ 6 w 45"/>
                <a:gd name="T7" fmla="*/ 4 h 32"/>
                <a:gd name="T8" fmla="*/ 4 w 45"/>
                <a:gd name="T9" fmla="*/ 2 h 32"/>
                <a:gd name="T10" fmla="*/ 3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63"/>
            <p:cNvSpPr>
              <a:spLocks/>
            </p:cNvSpPr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5 w 35"/>
                <a:gd name="T1" fmla="*/ 0 h 74"/>
                <a:gd name="T2" fmla="*/ 3 w 35"/>
                <a:gd name="T3" fmla="*/ 1 h 74"/>
                <a:gd name="T4" fmla="*/ 2 w 35"/>
                <a:gd name="T5" fmla="*/ 4 h 74"/>
                <a:gd name="T6" fmla="*/ 0 w 35"/>
                <a:gd name="T7" fmla="*/ 7 h 74"/>
                <a:gd name="T8" fmla="*/ 2 w 35"/>
                <a:gd name="T9" fmla="*/ 9 h 74"/>
                <a:gd name="T10" fmla="*/ 3 w 35"/>
                <a:gd name="T11" fmla="*/ 7 h 74"/>
                <a:gd name="T12" fmla="*/ 5 w 35"/>
                <a:gd name="T13" fmla="*/ 4 h 74"/>
                <a:gd name="T14" fmla="*/ 5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Freeform 64"/>
            <p:cNvSpPr>
              <a:spLocks/>
            </p:cNvSpPr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4 h 73"/>
                <a:gd name="T6" fmla="*/ 2 w 25"/>
                <a:gd name="T7" fmla="*/ 6 h 73"/>
                <a:gd name="T8" fmla="*/ 4 w 25"/>
                <a:gd name="T9" fmla="*/ 8 h 73"/>
                <a:gd name="T10" fmla="*/ 2 w 25"/>
                <a:gd name="T11" fmla="*/ 3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Freeform 65"/>
            <p:cNvSpPr>
              <a:spLocks/>
            </p:cNvSpPr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4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Freeform 66"/>
            <p:cNvSpPr>
              <a:spLocks/>
            </p:cNvSpPr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2 h 64"/>
                <a:gd name="T4" fmla="*/ 3 w 28"/>
                <a:gd name="T5" fmla="*/ 3 h 64"/>
                <a:gd name="T6" fmla="*/ 2 w 28"/>
                <a:gd name="T7" fmla="*/ 6 h 64"/>
                <a:gd name="T8" fmla="*/ 0 w 28"/>
                <a:gd name="T9" fmla="*/ 8 h 64"/>
                <a:gd name="T10" fmla="*/ 2 w 28"/>
                <a:gd name="T11" fmla="*/ 8 h 64"/>
                <a:gd name="T12" fmla="*/ 4 w 28"/>
                <a:gd name="T13" fmla="*/ 4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Freeform 67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4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Freeform 68"/>
            <p:cNvSpPr>
              <a:spLocks/>
            </p:cNvSpPr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Freeform 69"/>
            <p:cNvSpPr>
              <a:spLocks/>
            </p:cNvSpPr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2 w 16"/>
                <a:gd name="T1" fmla="*/ 1 h 19"/>
                <a:gd name="T2" fmla="*/ 0 w 16"/>
                <a:gd name="T3" fmla="*/ 1 h 19"/>
                <a:gd name="T4" fmla="*/ 2 w 16"/>
                <a:gd name="T5" fmla="*/ 2 h 19"/>
                <a:gd name="T6" fmla="*/ 2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Freeform 70"/>
            <p:cNvSpPr>
              <a:spLocks/>
            </p:cNvSpPr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2 h 25"/>
                <a:gd name="T4" fmla="*/ 2 w 14"/>
                <a:gd name="T5" fmla="*/ 4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Freeform 71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2 w 22"/>
                <a:gd name="T3" fmla="*/ 2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Freeform 72"/>
            <p:cNvSpPr>
              <a:spLocks/>
            </p:cNvSpPr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2 h 81"/>
                <a:gd name="T4" fmla="*/ 2 w 60"/>
                <a:gd name="T5" fmla="*/ 5 h 81"/>
                <a:gd name="T6" fmla="*/ 4 w 60"/>
                <a:gd name="T7" fmla="*/ 7 h 81"/>
                <a:gd name="T8" fmla="*/ 6 w 60"/>
                <a:gd name="T9" fmla="*/ 7 h 81"/>
                <a:gd name="T10" fmla="*/ 8 w 60"/>
                <a:gd name="T11" fmla="*/ 10 h 81"/>
                <a:gd name="T12" fmla="*/ 8 w 60"/>
                <a:gd name="T13" fmla="*/ 7 h 81"/>
                <a:gd name="T14" fmla="*/ 6 w 60"/>
                <a:gd name="T15" fmla="*/ 4 h 81"/>
                <a:gd name="T16" fmla="*/ 4 w 60"/>
                <a:gd name="T17" fmla="*/ 2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Freeform 73"/>
            <p:cNvSpPr>
              <a:spLocks/>
            </p:cNvSpPr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4 w 71"/>
                <a:gd name="T1" fmla="*/ 4 h 61"/>
                <a:gd name="T2" fmla="*/ 1 w 71"/>
                <a:gd name="T3" fmla="*/ 5 h 61"/>
                <a:gd name="T4" fmla="*/ 1 w 71"/>
                <a:gd name="T5" fmla="*/ 6 h 61"/>
                <a:gd name="T6" fmla="*/ 1 w 71"/>
                <a:gd name="T7" fmla="*/ 8 h 61"/>
                <a:gd name="T8" fmla="*/ 4 w 71"/>
                <a:gd name="T9" fmla="*/ 6 h 61"/>
                <a:gd name="T10" fmla="*/ 5 w 71"/>
                <a:gd name="T11" fmla="*/ 4 h 61"/>
                <a:gd name="T12" fmla="*/ 7 w 71"/>
                <a:gd name="T13" fmla="*/ 0 h 61"/>
                <a:gd name="T14" fmla="*/ 9 w 71"/>
                <a:gd name="T15" fmla="*/ 2 h 61"/>
                <a:gd name="T16" fmla="*/ 4 w 71"/>
                <a:gd name="T17" fmla="*/ 4 h 61"/>
                <a:gd name="T18" fmla="*/ 4 w 71"/>
                <a:gd name="T19" fmla="*/ 4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Freeform 74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5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Freeform 75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3 w 26"/>
                <a:gd name="T1" fmla="*/ 0 h 23"/>
                <a:gd name="T2" fmla="*/ 0 w 26"/>
                <a:gd name="T3" fmla="*/ 1 h 23"/>
                <a:gd name="T4" fmla="*/ 3 w 26"/>
                <a:gd name="T5" fmla="*/ 2 h 23"/>
                <a:gd name="T6" fmla="*/ 3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76"/>
            <p:cNvSpPr>
              <a:spLocks/>
            </p:cNvSpPr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4 w 32"/>
                <a:gd name="T1" fmla="*/ 0 h 44"/>
                <a:gd name="T2" fmla="*/ 2 w 32"/>
                <a:gd name="T3" fmla="*/ 2 h 44"/>
                <a:gd name="T4" fmla="*/ 2 w 32"/>
                <a:gd name="T5" fmla="*/ 5 h 44"/>
                <a:gd name="T6" fmla="*/ 4 w 32"/>
                <a:gd name="T7" fmla="*/ 5 h 44"/>
                <a:gd name="T8" fmla="*/ 4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77"/>
            <p:cNvSpPr>
              <a:spLocks/>
            </p:cNvSpPr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5 w 34"/>
                <a:gd name="T1" fmla="*/ 0 h 44"/>
                <a:gd name="T2" fmla="*/ 2 w 34"/>
                <a:gd name="T3" fmla="*/ 2 h 44"/>
                <a:gd name="T4" fmla="*/ 2 w 34"/>
                <a:gd name="T5" fmla="*/ 5 h 44"/>
                <a:gd name="T6" fmla="*/ 4 w 34"/>
                <a:gd name="T7" fmla="*/ 5 h 44"/>
                <a:gd name="T8" fmla="*/ 5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78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4 w 38"/>
                <a:gd name="T1" fmla="*/ 2 h 37"/>
                <a:gd name="T2" fmla="*/ 1 w 38"/>
                <a:gd name="T3" fmla="*/ 2 h 37"/>
                <a:gd name="T4" fmla="*/ 1 w 38"/>
                <a:gd name="T5" fmla="*/ 4 h 37"/>
                <a:gd name="T6" fmla="*/ 3 w 38"/>
                <a:gd name="T7" fmla="*/ 5 h 37"/>
                <a:gd name="T8" fmla="*/ 4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Freeform 79"/>
            <p:cNvSpPr>
              <a:spLocks/>
            </p:cNvSpPr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4 w 38"/>
                <a:gd name="T1" fmla="*/ 2 h 34"/>
                <a:gd name="T2" fmla="*/ 1 w 38"/>
                <a:gd name="T3" fmla="*/ 2 h 34"/>
                <a:gd name="T4" fmla="*/ 2 w 38"/>
                <a:gd name="T5" fmla="*/ 4 h 34"/>
                <a:gd name="T6" fmla="*/ 3 w 38"/>
                <a:gd name="T7" fmla="*/ 4 h 34"/>
                <a:gd name="T8" fmla="*/ 4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Freeform 80"/>
            <p:cNvSpPr>
              <a:spLocks/>
            </p:cNvSpPr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4 w 35"/>
                <a:gd name="T1" fmla="*/ 1 h 27"/>
                <a:gd name="T2" fmla="*/ 1 w 35"/>
                <a:gd name="T3" fmla="*/ 1 h 27"/>
                <a:gd name="T4" fmla="*/ 1 w 35"/>
                <a:gd name="T5" fmla="*/ 1 h 27"/>
                <a:gd name="T6" fmla="*/ 3 w 35"/>
                <a:gd name="T7" fmla="*/ 2 h 27"/>
                <a:gd name="T8" fmla="*/ 4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Freeform 81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4 w 35"/>
                <a:gd name="T1" fmla="*/ 2 h 47"/>
                <a:gd name="T2" fmla="*/ 2 w 35"/>
                <a:gd name="T3" fmla="*/ 1 h 47"/>
                <a:gd name="T4" fmla="*/ 1 w 35"/>
                <a:gd name="T5" fmla="*/ 3 h 47"/>
                <a:gd name="T6" fmla="*/ 2 w 35"/>
                <a:gd name="T7" fmla="*/ 4 h 47"/>
                <a:gd name="T8" fmla="*/ 3 w 35"/>
                <a:gd name="T9" fmla="*/ 4 h 47"/>
                <a:gd name="T10" fmla="*/ 4 w 35"/>
                <a:gd name="T11" fmla="*/ 2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Freeform 82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4 w 32"/>
                <a:gd name="T1" fmla="*/ 1 h 35"/>
                <a:gd name="T2" fmla="*/ 2 w 32"/>
                <a:gd name="T3" fmla="*/ 1 h 35"/>
                <a:gd name="T4" fmla="*/ 2 w 32"/>
                <a:gd name="T5" fmla="*/ 3 h 35"/>
                <a:gd name="T6" fmla="*/ 4 w 32"/>
                <a:gd name="T7" fmla="*/ 3 h 35"/>
                <a:gd name="T8" fmla="*/ 4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83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4 w 32"/>
                <a:gd name="T1" fmla="*/ 1 h 35"/>
                <a:gd name="T2" fmla="*/ 2 w 32"/>
                <a:gd name="T3" fmla="*/ 1 h 35"/>
                <a:gd name="T4" fmla="*/ 2 w 32"/>
                <a:gd name="T5" fmla="*/ 3 h 35"/>
                <a:gd name="T6" fmla="*/ 4 w 32"/>
                <a:gd name="T7" fmla="*/ 3 h 35"/>
                <a:gd name="T8" fmla="*/ 4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Freeform 84"/>
            <p:cNvSpPr>
              <a:spLocks/>
            </p:cNvSpPr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22 w 189"/>
                <a:gd name="T1" fmla="*/ 2 h 144"/>
                <a:gd name="T2" fmla="*/ 24 w 189"/>
                <a:gd name="T3" fmla="*/ 2 h 144"/>
                <a:gd name="T4" fmla="*/ 24 w 189"/>
                <a:gd name="T5" fmla="*/ 2 h 144"/>
                <a:gd name="T6" fmla="*/ 24 w 189"/>
                <a:gd name="T7" fmla="*/ 4 h 144"/>
                <a:gd name="T8" fmla="*/ 16 w 189"/>
                <a:gd name="T9" fmla="*/ 6 h 144"/>
                <a:gd name="T10" fmla="*/ 14 w 189"/>
                <a:gd name="T11" fmla="*/ 8 h 144"/>
                <a:gd name="T12" fmla="*/ 12 w 189"/>
                <a:gd name="T13" fmla="*/ 8 h 144"/>
                <a:gd name="T14" fmla="*/ 9 w 189"/>
                <a:gd name="T15" fmla="*/ 11 h 144"/>
                <a:gd name="T16" fmla="*/ 10 w 189"/>
                <a:gd name="T17" fmla="*/ 13 h 144"/>
                <a:gd name="T18" fmla="*/ 10 w 189"/>
                <a:gd name="T19" fmla="*/ 16 h 144"/>
                <a:gd name="T20" fmla="*/ 14 w 189"/>
                <a:gd name="T21" fmla="*/ 17 h 144"/>
                <a:gd name="T22" fmla="*/ 12 w 189"/>
                <a:gd name="T23" fmla="*/ 19 h 144"/>
                <a:gd name="T24" fmla="*/ 10 w 189"/>
                <a:gd name="T25" fmla="*/ 18 h 144"/>
                <a:gd name="T26" fmla="*/ 9 w 189"/>
                <a:gd name="T27" fmla="*/ 18 h 144"/>
                <a:gd name="T28" fmla="*/ 3 w 189"/>
                <a:gd name="T29" fmla="*/ 17 h 144"/>
                <a:gd name="T30" fmla="*/ 2 w 189"/>
                <a:gd name="T31" fmla="*/ 15 h 144"/>
                <a:gd name="T32" fmla="*/ 5 w 189"/>
                <a:gd name="T33" fmla="*/ 13 h 144"/>
                <a:gd name="T34" fmla="*/ 7 w 189"/>
                <a:gd name="T35" fmla="*/ 11 h 144"/>
                <a:gd name="T36" fmla="*/ 5 w 189"/>
                <a:gd name="T37" fmla="*/ 8 h 144"/>
                <a:gd name="T38" fmla="*/ 9 w 189"/>
                <a:gd name="T39" fmla="*/ 6 h 144"/>
                <a:gd name="T40" fmla="*/ 12 w 189"/>
                <a:gd name="T41" fmla="*/ 5 h 144"/>
                <a:gd name="T42" fmla="*/ 14 w 189"/>
                <a:gd name="T43" fmla="*/ 4 h 144"/>
                <a:gd name="T44" fmla="*/ 22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Freeform 85"/>
            <p:cNvSpPr>
              <a:spLocks/>
            </p:cNvSpPr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4 w 53"/>
                <a:gd name="T1" fmla="*/ 0 h 17"/>
                <a:gd name="T2" fmla="*/ 2 w 53"/>
                <a:gd name="T3" fmla="*/ 1 h 17"/>
                <a:gd name="T4" fmla="*/ 5 w 53"/>
                <a:gd name="T5" fmla="*/ 1 h 17"/>
                <a:gd name="T6" fmla="*/ 6 w 53"/>
                <a:gd name="T7" fmla="*/ 1 h 17"/>
                <a:gd name="T8" fmla="*/ 4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86"/>
            <p:cNvSpPr>
              <a:spLocks/>
            </p:cNvSpPr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7 w 57"/>
                <a:gd name="T1" fmla="*/ 2 h 37"/>
                <a:gd name="T2" fmla="*/ 3 w 57"/>
                <a:gd name="T3" fmla="*/ 4 h 37"/>
                <a:gd name="T4" fmla="*/ 1 w 57"/>
                <a:gd name="T5" fmla="*/ 5 h 37"/>
                <a:gd name="T6" fmla="*/ 1 w 57"/>
                <a:gd name="T7" fmla="*/ 2 h 37"/>
                <a:gd name="T8" fmla="*/ 2 w 57"/>
                <a:gd name="T9" fmla="*/ 0 h 37"/>
                <a:gd name="T10" fmla="*/ 7 w 57"/>
                <a:gd name="T11" fmla="*/ 2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87"/>
            <p:cNvSpPr>
              <a:spLocks/>
            </p:cNvSpPr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3 w 68"/>
                <a:gd name="T1" fmla="*/ 0 h 26"/>
                <a:gd name="T2" fmla="*/ 1 w 68"/>
                <a:gd name="T3" fmla="*/ 2 h 26"/>
                <a:gd name="T4" fmla="*/ 7 w 68"/>
                <a:gd name="T5" fmla="*/ 4 h 26"/>
                <a:gd name="T6" fmla="*/ 7 w 68"/>
                <a:gd name="T7" fmla="*/ 4 h 26"/>
                <a:gd name="T8" fmla="*/ 3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88"/>
            <p:cNvSpPr>
              <a:spLocks/>
            </p:cNvSpPr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8 w 66"/>
                <a:gd name="T1" fmla="*/ 1 h 43"/>
                <a:gd name="T2" fmla="*/ 4 w 66"/>
                <a:gd name="T3" fmla="*/ 1 h 43"/>
                <a:gd name="T4" fmla="*/ 2 w 66"/>
                <a:gd name="T5" fmla="*/ 1 h 43"/>
                <a:gd name="T6" fmla="*/ 2 w 66"/>
                <a:gd name="T7" fmla="*/ 4 h 43"/>
                <a:gd name="T8" fmla="*/ 5 w 66"/>
                <a:gd name="T9" fmla="*/ 5 h 43"/>
                <a:gd name="T10" fmla="*/ 8 w 66"/>
                <a:gd name="T11" fmla="*/ 3 h 43"/>
                <a:gd name="T12" fmla="*/ 8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Freeform 89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8 w 117"/>
                <a:gd name="T5" fmla="*/ 5 h 41"/>
                <a:gd name="T6" fmla="*/ 11 w 117"/>
                <a:gd name="T7" fmla="*/ 5 h 41"/>
                <a:gd name="T8" fmla="*/ 15 w 117"/>
                <a:gd name="T9" fmla="*/ 4 h 41"/>
                <a:gd name="T10" fmla="*/ 11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Freeform 90"/>
            <p:cNvSpPr>
              <a:spLocks/>
            </p:cNvSpPr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4 w 62"/>
                <a:gd name="T1" fmla="*/ 2 h 32"/>
                <a:gd name="T2" fmla="*/ 7 w 62"/>
                <a:gd name="T3" fmla="*/ 2 h 32"/>
                <a:gd name="T4" fmla="*/ 4 w 62"/>
                <a:gd name="T5" fmla="*/ 5 h 32"/>
                <a:gd name="T6" fmla="*/ 1 w 62"/>
                <a:gd name="T7" fmla="*/ 4 h 32"/>
                <a:gd name="T8" fmla="*/ 4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91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3 w 49"/>
                <a:gd name="T1" fmla="*/ 1 h 23"/>
                <a:gd name="T2" fmla="*/ 2 w 49"/>
                <a:gd name="T3" fmla="*/ 1 h 23"/>
                <a:gd name="T4" fmla="*/ 6 w 49"/>
                <a:gd name="T5" fmla="*/ 3 h 23"/>
                <a:gd name="T6" fmla="*/ 3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92"/>
            <p:cNvSpPr>
              <a:spLocks/>
            </p:cNvSpPr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3 h 152"/>
                <a:gd name="T4" fmla="*/ 1 w 102"/>
                <a:gd name="T5" fmla="*/ 6 h 152"/>
                <a:gd name="T6" fmla="*/ 4 w 102"/>
                <a:gd name="T7" fmla="*/ 10 h 152"/>
                <a:gd name="T8" fmla="*/ 4 w 102"/>
                <a:gd name="T9" fmla="*/ 14 h 152"/>
                <a:gd name="T10" fmla="*/ 10 w 102"/>
                <a:gd name="T11" fmla="*/ 21 h 152"/>
                <a:gd name="T12" fmla="*/ 11 w 102"/>
                <a:gd name="T13" fmla="*/ 17 h 152"/>
                <a:gd name="T14" fmla="*/ 10 w 102"/>
                <a:gd name="T15" fmla="*/ 14 h 152"/>
                <a:gd name="T16" fmla="*/ 7 w 102"/>
                <a:gd name="T17" fmla="*/ 13 h 152"/>
                <a:gd name="T18" fmla="*/ 7 w 102"/>
                <a:gd name="T19" fmla="*/ 11 h 152"/>
                <a:gd name="T20" fmla="*/ 5 w 102"/>
                <a:gd name="T21" fmla="*/ 6 h 152"/>
                <a:gd name="T22" fmla="*/ 1 w 102"/>
                <a:gd name="T23" fmla="*/ 2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93"/>
            <p:cNvSpPr>
              <a:spLocks/>
            </p:cNvSpPr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8 w 74"/>
                <a:gd name="T1" fmla="*/ 4 h 103"/>
                <a:gd name="T2" fmla="*/ 9 w 74"/>
                <a:gd name="T3" fmla="*/ 6 h 103"/>
                <a:gd name="T4" fmla="*/ 4 w 74"/>
                <a:gd name="T5" fmla="*/ 11 h 103"/>
                <a:gd name="T6" fmla="*/ 4 w 74"/>
                <a:gd name="T7" fmla="*/ 14 h 103"/>
                <a:gd name="T8" fmla="*/ 2 w 74"/>
                <a:gd name="T9" fmla="*/ 13 h 103"/>
                <a:gd name="T10" fmla="*/ 1 w 74"/>
                <a:gd name="T11" fmla="*/ 11 h 103"/>
                <a:gd name="T12" fmla="*/ 0 w 74"/>
                <a:gd name="T13" fmla="*/ 11 h 103"/>
                <a:gd name="T14" fmla="*/ 1 w 74"/>
                <a:gd name="T15" fmla="*/ 8 h 103"/>
                <a:gd name="T16" fmla="*/ 1 w 74"/>
                <a:gd name="T17" fmla="*/ 8 h 103"/>
                <a:gd name="T18" fmla="*/ 1 w 74"/>
                <a:gd name="T19" fmla="*/ 4 h 103"/>
                <a:gd name="T20" fmla="*/ 1 w 74"/>
                <a:gd name="T21" fmla="*/ 2 h 103"/>
                <a:gd name="T22" fmla="*/ 3 w 74"/>
                <a:gd name="T23" fmla="*/ 4 h 103"/>
                <a:gd name="T24" fmla="*/ 4 w 74"/>
                <a:gd name="T25" fmla="*/ 5 h 103"/>
                <a:gd name="T26" fmla="*/ 8 w 74"/>
                <a:gd name="T27" fmla="*/ 4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94"/>
            <p:cNvSpPr>
              <a:spLocks/>
            </p:cNvSpPr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10 w 146"/>
                <a:gd name="T1" fmla="*/ 14 h 252"/>
                <a:gd name="T2" fmla="*/ 9 w 146"/>
                <a:gd name="T3" fmla="*/ 15 h 252"/>
                <a:gd name="T4" fmla="*/ 8 w 146"/>
                <a:gd name="T5" fmla="*/ 18 h 252"/>
                <a:gd name="T6" fmla="*/ 3 w 146"/>
                <a:gd name="T7" fmla="*/ 20 h 252"/>
                <a:gd name="T8" fmla="*/ 1 w 146"/>
                <a:gd name="T9" fmla="*/ 23 h 252"/>
                <a:gd name="T10" fmla="*/ 2 w 146"/>
                <a:gd name="T11" fmla="*/ 25 h 252"/>
                <a:gd name="T12" fmla="*/ 1 w 146"/>
                <a:gd name="T13" fmla="*/ 26 h 252"/>
                <a:gd name="T14" fmla="*/ 3 w 146"/>
                <a:gd name="T15" fmla="*/ 34 h 252"/>
                <a:gd name="T16" fmla="*/ 4 w 146"/>
                <a:gd name="T17" fmla="*/ 29 h 252"/>
                <a:gd name="T18" fmla="*/ 3 w 146"/>
                <a:gd name="T19" fmla="*/ 26 h 252"/>
                <a:gd name="T20" fmla="*/ 5 w 146"/>
                <a:gd name="T21" fmla="*/ 24 h 252"/>
                <a:gd name="T22" fmla="*/ 7 w 146"/>
                <a:gd name="T23" fmla="*/ 22 h 252"/>
                <a:gd name="T24" fmla="*/ 9 w 146"/>
                <a:gd name="T25" fmla="*/ 24 h 252"/>
                <a:gd name="T26" fmla="*/ 5 w 146"/>
                <a:gd name="T27" fmla="*/ 26 h 252"/>
                <a:gd name="T28" fmla="*/ 7 w 146"/>
                <a:gd name="T29" fmla="*/ 27 h 252"/>
                <a:gd name="T30" fmla="*/ 9 w 146"/>
                <a:gd name="T31" fmla="*/ 24 h 252"/>
                <a:gd name="T32" fmla="*/ 10 w 146"/>
                <a:gd name="T33" fmla="*/ 25 h 252"/>
                <a:gd name="T34" fmla="*/ 13 w 146"/>
                <a:gd name="T35" fmla="*/ 20 h 252"/>
                <a:gd name="T36" fmla="*/ 14 w 146"/>
                <a:gd name="T37" fmla="*/ 22 h 252"/>
                <a:gd name="T38" fmla="*/ 18 w 146"/>
                <a:gd name="T39" fmla="*/ 20 h 252"/>
                <a:gd name="T40" fmla="*/ 19 w 146"/>
                <a:gd name="T41" fmla="*/ 18 h 252"/>
                <a:gd name="T42" fmla="*/ 19 w 146"/>
                <a:gd name="T43" fmla="*/ 15 h 252"/>
                <a:gd name="T44" fmla="*/ 17 w 146"/>
                <a:gd name="T45" fmla="*/ 14 h 252"/>
                <a:gd name="T46" fmla="*/ 16 w 146"/>
                <a:gd name="T47" fmla="*/ 6 h 252"/>
                <a:gd name="T48" fmla="*/ 12 w 146"/>
                <a:gd name="T49" fmla="*/ 0 h 252"/>
                <a:gd name="T50" fmla="*/ 10 w 146"/>
                <a:gd name="T51" fmla="*/ 2 h 252"/>
                <a:gd name="T52" fmla="*/ 12 w 146"/>
                <a:gd name="T53" fmla="*/ 5 h 252"/>
                <a:gd name="T54" fmla="*/ 12 w 146"/>
                <a:gd name="T55" fmla="*/ 8 h 252"/>
                <a:gd name="T56" fmla="*/ 10 w 146"/>
                <a:gd name="T57" fmla="*/ 14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95"/>
            <p:cNvSpPr>
              <a:spLocks/>
            </p:cNvSpPr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7 w 70"/>
                <a:gd name="T1" fmla="*/ 0 h 40"/>
                <a:gd name="T2" fmla="*/ 8 w 70"/>
                <a:gd name="T3" fmla="*/ 3 h 40"/>
                <a:gd name="T4" fmla="*/ 5 w 70"/>
                <a:gd name="T5" fmla="*/ 4 h 40"/>
                <a:gd name="T6" fmla="*/ 4 w 70"/>
                <a:gd name="T7" fmla="*/ 6 h 40"/>
                <a:gd name="T8" fmla="*/ 1 w 70"/>
                <a:gd name="T9" fmla="*/ 6 h 40"/>
                <a:gd name="T10" fmla="*/ 1 w 70"/>
                <a:gd name="T11" fmla="*/ 5 h 40"/>
                <a:gd name="T12" fmla="*/ 4 w 70"/>
                <a:gd name="T13" fmla="*/ 3 h 40"/>
                <a:gd name="T14" fmla="*/ 7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96"/>
            <p:cNvSpPr>
              <a:spLocks/>
            </p:cNvSpPr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2 w 26"/>
                <a:gd name="T1" fmla="*/ 0 h 29"/>
                <a:gd name="T2" fmla="*/ 0 w 26"/>
                <a:gd name="T3" fmla="*/ 3 h 29"/>
                <a:gd name="T4" fmla="*/ 2 w 26"/>
                <a:gd name="T5" fmla="*/ 4 h 29"/>
                <a:gd name="T6" fmla="*/ 2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97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3 h 36"/>
                <a:gd name="T4" fmla="*/ 2 w 49"/>
                <a:gd name="T5" fmla="*/ 5 h 36"/>
                <a:gd name="T6" fmla="*/ 3 w 49"/>
                <a:gd name="T7" fmla="*/ 5 h 36"/>
                <a:gd name="T8" fmla="*/ 6 w 49"/>
                <a:gd name="T9" fmla="*/ 4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98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2 w 27"/>
                <a:gd name="T5" fmla="*/ 3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99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2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100"/>
            <p:cNvSpPr>
              <a:spLocks/>
            </p:cNvSpPr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4 w 24"/>
                <a:gd name="T1" fmla="*/ 0 h 44"/>
                <a:gd name="T2" fmla="*/ 2 w 24"/>
                <a:gd name="T3" fmla="*/ 2 h 44"/>
                <a:gd name="T4" fmla="*/ 0 w 24"/>
                <a:gd name="T5" fmla="*/ 5 h 44"/>
                <a:gd name="T6" fmla="*/ 2 w 24"/>
                <a:gd name="T7" fmla="*/ 6 h 44"/>
                <a:gd name="T8" fmla="*/ 4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01"/>
            <p:cNvSpPr>
              <a:spLocks/>
            </p:cNvSpPr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5 w 41"/>
                <a:gd name="T1" fmla="*/ 0 h 24"/>
                <a:gd name="T2" fmla="*/ 4 w 41"/>
                <a:gd name="T3" fmla="*/ 4 h 24"/>
                <a:gd name="T4" fmla="*/ 5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02"/>
            <p:cNvSpPr>
              <a:spLocks/>
            </p:cNvSpPr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103"/>
            <p:cNvSpPr>
              <a:spLocks/>
            </p:cNvSpPr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3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104"/>
            <p:cNvSpPr>
              <a:spLocks/>
            </p:cNvSpPr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2 h 25"/>
                <a:gd name="T4" fmla="*/ 2 w 14"/>
                <a:gd name="T5" fmla="*/ 4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Freeform 105"/>
            <p:cNvSpPr>
              <a:spLocks/>
            </p:cNvSpPr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2 h 25"/>
                <a:gd name="T4" fmla="*/ 2 w 14"/>
                <a:gd name="T5" fmla="*/ 4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Freeform 106"/>
            <p:cNvSpPr>
              <a:spLocks/>
            </p:cNvSpPr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Freeform 107"/>
            <p:cNvSpPr>
              <a:spLocks/>
            </p:cNvSpPr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3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Freeform 108"/>
            <p:cNvSpPr>
              <a:spLocks/>
            </p:cNvSpPr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109"/>
            <p:cNvSpPr>
              <a:spLocks/>
            </p:cNvSpPr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Freeform 110"/>
            <p:cNvSpPr>
              <a:spLocks/>
            </p:cNvSpPr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Freeform 111"/>
            <p:cNvSpPr>
              <a:spLocks/>
            </p:cNvSpPr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14" name="Picture 112" descr="artplus_nature_naturalcity42_a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93933" y="3167063"/>
            <a:ext cx="5901267" cy="298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5" name="Picture 113" descr="artplus_nature_naturalcity42_i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75234" y="3352800"/>
            <a:ext cx="2205567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" name="Picture 114" descr="artplus_nature_naturalcity42_c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395200" y="2895601"/>
            <a:ext cx="1483784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7" name="Picture 115" descr="artplus_nature_naturalcity42_f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67599" y="3144913"/>
            <a:ext cx="6478057" cy="247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" name="Picture 118" descr="artplus_nature_naturalcity42_b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27851" y="3097213"/>
            <a:ext cx="39624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" name="Picture 119" descr="artplus_nature_naturalcity42_e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24801" y="1993900"/>
            <a:ext cx="2061633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0" name="Picture 120" descr="artplus_nature_naturalcity42_d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01467" y="2862264"/>
            <a:ext cx="831851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" name="Picture 121" descr="a1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479867" y="95250"/>
            <a:ext cx="2404533" cy="207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" name="Picture 122" descr="b_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605934" y="1968500"/>
            <a:ext cx="143933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4452" name="Rectangle 116"/>
          <p:cNvSpPr>
            <a:spLocks noGrp="1" noChangeArrowheads="1"/>
          </p:cNvSpPr>
          <p:nvPr>
            <p:ph type="ctrTitle"/>
          </p:nvPr>
        </p:nvSpPr>
        <p:spPr>
          <a:xfrm>
            <a:off x="406400" y="4419600"/>
            <a:ext cx="8534400" cy="1143000"/>
          </a:xfrm>
          <a:prstGeom prst="rect">
            <a:avLst/>
          </a:prstGeom>
        </p:spPr>
        <p:txBody>
          <a:bodyPr/>
          <a:lstStyle>
            <a:lvl1pPr algn="l">
              <a:defRPr sz="430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654453" name="Rectangle 117"/>
          <p:cNvSpPr>
            <a:spLocks noGrp="1" noChangeArrowheads="1"/>
          </p:cNvSpPr>
          <p:nvPr>
            <p:ph type="subTitle" idx="1"/>
          </p:nvPr>
        </p:nvSpPr>
        <p:spPr>
          <a:xfrm>
            <a:off x="406400" y="5715000"/>
            <a:ext cx="8534400" cy="381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 b="1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pic>
        <p:nvPicPr>
          <p:cNvPr id="123" name="Picture 16" descr="a1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573779" y="4593358"/>
            <a:ext cx="94297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060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2.37743E-6 L -0.21076 0.04787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38" y="2382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300"/>
                            </p:stCondLst>
                            <p:childTnLst>
                              <p:par>
                                <p:cTn id="4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4.81481E-6 C -0.08906 0.01505 -0.38802 0.03033 -0.53472 0.09075 C -0.68142 0.15116 -0.81198 0.322 -0.88055 0.36297 C -0.94913 0.40394 -0.93229 0.34237 -0.94583 0.33704 " pathEditMode="relative" rAng="0" ptsTypes="aaaa">
                                      <p:cBhvr>
                                        <p:cTn id="42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465" y="20185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4629 C -0.07778 0.05393 -0.34948 0.0956 -0.46667 0.09166 C -0.58385 0.08773 -0.63611 -0.0007 -0.70278 0.02314 C -0.76944 0.04699 -0.83247 0.19027 -0.86667 0.23426 " pathEditMode="relative" rAng="0" ptsTypes="aaaa">
                                      <p:cBhvr>
                                        <p:cTn id="44" dur="2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333" y="7037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58989E-6 -4.62214E-8 C -0.10149 -0.11578 -0.4135 -0.63115 -0.60787 -0.68939 C -0.80198 -0.7474 -1.04938 -0.42454 -1.16545 -0.35452 " pathEditMode="relative" rAng="0" ptsTypes="aaa">
                                      <p:cBhvr>
                                        <p:cTn id="46" dur="2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273" y="-37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25A4A-BAED-4624-90D1-88F38BD6F015}" type="datetimeFigureOut">
              <a:rPr lang="zh-CN" altLang="en-US" smtClean="0"/>
              <a:pPr/>
              <a:t>2024/12/25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66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467834"/>
            <a:ext cx="10972800" cy="5658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548912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gi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ti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99" y="155024"/>
            <a:ext cx="10521949" cy="2387600"/>
          </a:xfrm>
        </p:spPr>
        <p:txBody>
          <a:bodyPr>
            <a:normAutofit fontScale="90000"/>
          </a:bodyPr>
          <a:lstStyle/>
          <a:p>
            <a:r>
              <a:rPr lang="zh-CN" altLang="en-US" sz="96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第五章 程序语言和算法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A974B1-CF7E-F81A-EDDF-A5288C7DB6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727" b="12682"/>
          <a:stretch/>
        </p:blipFill>
        <p:spPr>
          <a:xfrm>
            <a:off x="3711896" y="2683590"/>
            <a:ext cx="3997939" cy="4107262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82" y="2683590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9368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729" y="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CN" altLang="en-US" sz="60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8415" y="1375349"/>
            <a:ext cx="11553585" cy="5401968"/>
          </a:xfrm>
        </p:spPr>
        <p:txBody>
          <a:bodyPr>
            <a:normAutofit/>
          </a:bodyPr>
          <a:lstStyle/>
          <a:p>
            <a:pPr marL="342900" indent="-571500">
              <a:lnSpc>
                <a:spcPts val="6500"/>
              </a:lnSpc>
              <a:buFont typeface="Wingdings" panose="05000000000000000000" pitchFamily="2" charset="2"/>
              <a:buChar char="Ø"/>
            </a:pPr>
            <a:r>
              <a:rPr lang="zh-CN" altLang="en-US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Python </a:t>
            </a:r>
            <a:r>
              <a:rPr lang="zh-CN" altLang="en-US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编程基础</a:t>
            </a:r>
            <a:endParaRPr lang="en-US" altLang="zh-CN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342900" indent="-571500">
              <a:lnSpc>
                <a:spcPts val="6500"/>
              </a:lnSpc>
              <a:buFont typeface="Wingdings" panose="05000000000000000000" pitchFamily="2" charset="2"/>
              <a:buChar char="Ø"/>
            </a:pPr>
            <a:r>
              <a:rPr lang="zh-CN" altLang="en-US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 算法</a:t>
            </a:r>
            <a:endParaRPr lang="en-US" altLang="zh-CN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342900" indent="-571500">
              <a:lnSpc>
                <a:spcPts val="6500"/>
              </a:lnSpc>
              <a:buFont typeface="Wingdings" panose="05000000000000000000" pitchFamily="2" charset="2"/>
              <a:buChar char="Ø"/>
            </a:pPr>
            <a:r>
              <a:rPr lang="zh-CN" altLang="en-US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 数据结构</a:t>
            </a:r>
            <a:endParaRPr lang="en-US" altLang="zh-CN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7EEF413-BECD-2C23-2BE6-654A22F88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69" y="1025726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8DC5D14E-A83B-E4AA-B37C-9C376C65981D}"/>
              </a:ext>
            </a:extLst>
          </p:cNvPr>
          <p:cNvSpPr/>
          <p:nvPr/>
        </p:nvSpPr>
        <p:spPr>
          <a:xfrm>
            <a:off x="328258" y="1344720"/>
            <a:ext cx="11138572" cy="5050384"/>
          </a:xfrm>
          <a:prstGeom prst="roundRect">
            <a:avLst/>
          </a:prstGeom>
          <a:noFill/>
          <a:ln w="57150">
            <a:solidFill>
              <a:srgbClr val="843C0C"/>
            </a:solidFill>
            <a:prstDash val="dash"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302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B378B01-A62B-1CEB-D8A5-F4B31369872D}"/>
              </a:ext>
            </a:extLst>
          </p:cNvPr>
          <p:cNvSpPr txBox="1"/>
          <p:nvPr/>
        </p:nvSpPr>
        <p:spPr>
          <a:xfrm>
            <a:off x="686360" y="1552335"/>
            <a:ext cx="113487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>
              <a:buFont typeface="Wingdings" panose="05000000000000000000" pitchFamily="2" charset="2"/>
              <a:buChar char="n"/>
            </a:pPr>
            <a:r>
              <a:rPr lang="zh-CN" altLang="en-US" sz="4400" dirty="0">
                <a:solidFill>
                  <a:prstClr val="black"/>
                </a:solidFill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高级程序按程序设计风格分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语言发展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82426C-DB6E-4833-FD09-84D68312EE11}"/>
              </a:ext>
            </a:extLst>
          </p:cNvPr>
          <p:cNvSpPr txBox="1"/>
          <p:nvPr/>
        </p:nvSpPr>
        <p:spPr>
          <a:xfrm>
            <a:off x="563096" y="2136338"/>
            <a:ext cx="1094254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   面向过程：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C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（通用）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   面向对象：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Java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，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Python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，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C++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3798314D-BE4E-ADED-A257-09A2DFEF6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162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E45391-7B6E-52B1-CE7C-387DF9773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6" y="144033"/>
            <a:ext cx="11098306" cy="6008781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面向过程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：以过程为中心的思想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 分解问题的步骤，用</a:t>
            </a:r>
            <a:r>
              <a:rPr lang="zh-CN" altLang="en-US" sz="4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函数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按步实现。</a:t>
            </a:r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zh-CN" altLang="en-US" sz="40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面向对象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：先抽象出对象，然后给对象赋予</a:t>
            </a:r>
            <a:r>
              <a:rPr lang="zh-CN" altLang="en-US" sz="4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属性和方法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，然后让对象执行方法。</a:t>
            </a:r>
            <a:endParaRPr lang="en-US" altLang="zh-CN" sz="4000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31E036D-60C6-6DC2-7128-12F2412B06A1}"/>
              </a:ext>
            </a:extLst>
          </p:cNvPr>
          <p:cNvGrpSpPr/>
          <p:nvPr/>
        </p:nvGrpSpPr>
        <p:grpSpPr>
          <a:xfrm>
            <a:off x="1198804" y="2808937"/>
            <a:ext cx="2278156" cy="3118684"/>
            <a:chOff x="1274669" y="3071624"/>
            <a:chExt cx="2278156" cy="3118684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A183690-E6D3-9EC3-8BD6-03C904D94B48}"/>
                </a:ext>
              </a:extLst>
            </p:cNvPr>
            <p:cNvSpPr/>
            <p:nvPr/>
          </p:nvSpPr>
          <p:spPr>
            <a:xfrm>
              <a:off x="1714500" y="3071624"/>
              <a:ext cx="1398494" cy="83371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放水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97A9F27-1F11-569D-EAFF-04888EFF30A2}"/>
                </a:ext>
              </a:extLst>
            </p:cNvPr>
            <p:cNvSpPr/>
            <p:nvPr/>
          </p:nvSpPr>
          <p:spPr>
            <a:xfrm>
              <a:off x="1274669" y="4232733"/>
              <a:ext cx="2278156" cy="83371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加洗洁精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670023E-4975-D22A-DFDC-A463A352EF66}"/>
                </a:ext>
              </a:extLst>
            </p:cNvPr>
            <p:cNvSpPr/>
            <p:nvPr/>
          </p:nvSpPr>
          <p:spPr>
            <a:xfrm>
              <a:off x="1274669" y="5356590"/>
              <a:ext cx="2278156" cy="83371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冲洗</a:t>
              </a:r>
            </a:p>
          </p:txBody>
        </p:sp>
        <p:sp>
          <p:nvSpPr>
            <p:cNvPr id="12" name="箭头: 下 11">
              <a:extLst>
                <a:ext uri="{FF2B5EF4-FFF2-40B4-BE49-F238E27FC236}">
                  <a16:creationId xmlns:a16="http://schemas.microsoft.com/office/drawing/2014/main" id="{DA5825C6-72DC-E338-AEB4-DD853118C62F}"/>
                </a:ext>
              </a:extLst>
            </p:cNvPr>
            <p:cNvSpPr/>
            <p:nvPr/>
          </p:nvSpPr>
          <p:spPr>
            <a:xfrm>
              <a:off x="2175623" y="3923968"/>
              <a:ext cx="389964" cy="290139"/>
            </a:xfrm>
            <a:prstGeom prst="downArrow">
              <a:avLst/>
            </a:prstGeom>
            <a:solidFill>
              <a:srgbClr val="843C0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箭头: 下 12">
              <a:extLst>
                <a:ext uri="{FF2B5EF4-FFF2-40B4-BE49-F238E27FC236}">
                  <a16:creationId xmlns:a16="http://schemas.microsoft.com/office/drawing/2014/main" id="{89637577-B70C-E648-D7DE-64251831FF55}"/>
                </a:ext>
              </a:extLst>
            </p:cNvPr>
            <p:cNvSpPr/>
            <p:nvPr/>
          </p:nvSpPr>
          <p:spPr>
            <a:xfrm>
              <a:off x="2218765" y="5066451"/>
              <a:ext cx="389964" cy="290139"/>
            </a:xfrm>
            <a:prstGeom prst="downArrow">
              <a:avLst/>
            </a:prstGeom>
            <a:solidFill>
              <a:srgbClr val="843C0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165AB113-BAA6-A44F-1102-D6475F5E9797}"/>
              </a:ext>
            </a:extLst>
          </p:cNvPr>
          <p:cNvGrpSpPr/>
          <p:nvPr/>
        </p:nvGrpSpPr>
        <p:grpSpPr>
          <a:xfrm>
            <a:off x="3732965" y="2594030"/>
            <a:ext cx="4982077" cy="3520978"/>
            <a:chOff x="3732965" y="2594030"/>
            <a:chExt cx="4982077" cy="3520978"/>
          </a:xfrm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E2A863DA-E663-89F0-0139-27CB949CFFC7}"/>
                </a:ext>
              </a:extLst>
            </p:cNvPr>
            <p:cNvSpPr/>
            <p:nvPr/>
          </p:nvSpPr>
          <p:spPr>
            <a:xfrm>
              <a:off x="6092492" y="5281290"/>
              <a:ext cx="1032847" cy="833718"/>
            </a:xfrm>
            <a:prstGeom prst="ellipse">
              <a:avLst/>
            </a:prstGeom>
            <a:solidFill>
              <a:srgbClr val="C29E8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581C6C46-9355-D1C1-7DF3-4DB9070EF249}"/>
                </a:ext>
              </a:extLst>
            </p:cNvPr>
            <p:cNvGrpSpPr/>
            <p:nvPr/>
          </p:nvGrpSpPr>
          <p:grpSpPr>
            <a:xfrm>
              <a:off x="3732965" y="2594030"/>
              <a:ext cx="4982077" cy="3333591"/>
              <a:chOff x="4840381" y="2702746"/>
              <a:chExt cx="4982077" cy="3333591"/>
            </a:xfrm>
          </p:grpSpPr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D4B94069-5EDF-5A78-17E2-2F5E5667DF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65937" y="3273786"/>
                <a:ext cx="1113529" cy="1686479"/>
              </a:xfrm>
              <a:prstGeom prst="rect">
                <a:avLst/>
              </a:prstGeom>
            </p:spPr>
          </p:pic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AE04DDB2-4747-EF57-54F4-A8C295988B59}"/>
                  </a:ext>
                </a:extLst>
              </p:cNvPr>
              <p:cNvSpPr/>
              <p:nvPr/>
            </p:nvSpPr>
            <p:spPr>
              <a:xfrm>
                <a:off x="8708929" y="2978783"/>
                <a:ext cx="1032847" cy="833718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A2FC769E-0C0B-271B-E9D0-FDFC56B43ECA}"/>
                  </a:ext>
                </a:extLst>
              </p:cNvPr>
              <p:cNvSpPr/>
              <p:nvPr/>
            </p:nvSpPr>
            <p:spPr>
              <a:xfrm>
                <a:off x="5189554" y="4153756"/>
                <a:ext cx="1714781" cy="833718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3E98A9E4-266E-DF9D-9FEC-1498C7BFA57F}"/>
                  </a:ext>
                </a:extLst>
              </p:cNvPr>
              <p:cNvSpPr/>
              <p:nvPr/>
            </p:nvSpPr>
            <p:spPr>
              <a:xfrm>
                <a:off x="8354768" y="4680725"/>
                <a:ext cx="1322628" cy="833717"/>
              </a:xfrm>
              <a:prstGeom prst="ellipse">
                <a:avLst/>
              </a:prstGeom>
              <a:solidFill>
                <a:srgbClr val="D9B1E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7579D81B-B108-7537-14D2-767108A82949}"/>
                  </a:ext>
                </a:extLst>
              </p:cNvPr>
              <p:cNvSpPr/>
              <p:nvPr/>
            </p:nvSpPr>
            <p:spPr>
              <a:xfrm>
                <a:off x="5703627" y="2702746"/>
                <a:ext cx="1032847" cy="833718"/>
              </a:xfrm>
              <a:prstGeom prst="ellipse">
                <a:avLst/>
              </a:prstGeom>
              <a:solidFill>
                <a:srgbClr val="CDCDF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C38D25C-6EC0-5E74-77DE-8DA086EBCCFF}"/>
                  </a:ext>
                </a:extLst>
              </p:cNvPr>
              <p:cNvSpPr txBox="1"/>
              <p:nvPr/>
            </p:nvSpPr>
            <p:spPr>
              <a:xfrm>
                <a:off x="5727715" y="2825257"/>
                <a:ext cx="111352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+mn-cs"/>
                  </a:rPr>
                  <a:t>放水</a:t>
                </a: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3D049C3-14BD-DD1B-C1B5-F8693840F586}"/>
                  </a:ext>
                </a:extLst>
              </p:cNvPr>
              <p:cNvSpPr txBox="1"/>
              <p:nvPr/>
            </p:nvSpPr>
            <p:spPr>
              <a:xfrm>
                <a:off x="4840381" y="4247449"/>
                <a:ext cx="227815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+mn-cs"/>
                  </a:rPr>
                  <a:t>加洗洁精</a:t>
                </a: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7CC1CF4-8D6C-DC01-A511-50126C15747B}"/>
                  </a:ext>
                </a:extLst>
              </p:cNvPr>
              <p:cNvSpPr txBox="1"/>
              <p:nvPr/>
            </p:nvSpPr>
            <p:spPr>
              <a:xfrm>
                <a:off x="8708929" y="2996324"/>
                <a:ext cx="111352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+mn-cs"/>
                  </a:rPr>
                  <a:t>冲洗</a:t>
                </a: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1D66EE5-E551-B7F2-774D-AAA7D0642154}"/>
                  </a:ext>
                </a:extLst>
              </p:cNvPr>
              <p:cNvSpPr txBox="1"/>
              <p:nvPr/>
            </p:nvSpPr>
            <p:spPr>
              <a:xfrm>
                <a:off x="8194774" y="4727310"/>
                <a:ext cx="156862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+mn-cs"/>
                  </a:rPr>
                  <a:t>打电话</a:t>
                </a: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3EB5FB6-E62A-AAB3-6641-3630976314AA}"/>
                  </a:ext>
                </a:extLst>
              </p:cNvPr>
              <p:cNvSpPr txBox="1"/>
              <p:nvPr/>
            </p:nvSpPr>
            <p:spPr>
              <a:xfrm>
                <a:off x="7170543" y="5390006"/>
                <a:ext cx="111352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+mn-cs"/>
                  </a:rPr>
                  <a:t>蹲下</a:t>
                </a:r>
              </a:p>
            </p:txBody>
          </p: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DD24814D-1D2B-0196-71B0-E917A629A8A6}"/>
                  </a:ext>
                </a:extLst>
              </p:cNvPr>
              <p:cNvCxnSpPr>
                <a:cxnSpLocks/>
                <a:stCxn id="21" idx="3"/>
              </p:cNvCxnSpPr>
              <p:nvPr/>
            </p:nvCxnSpPr>
            <p:spPr>
              <a:xfrm>
                <a:off x="6841244" y="3148423"/>
                <a:ext cx="387784" cy="171066"/>
              </a:xfrm>
              <a:prstGeom prst="line">
                <a:avLst/>
              </a:prstGeom>
              <a:ln w="57150">
                <a:solidFill>
                  <a:srgbClr val="843C0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74425B60-E224-1332-2E01-0FDD319BE4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77351" y="3219547"/>
                <a:ext cx="531578" cy="176095"/>
              </a:xfrm>
              <a:prstGeom prst="line">
                <a:avLst/>
              </a:prstGeom>
              <a:ln w="57150">
                <a:solidFill>
                  <a:srgbClr val="843C0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8E9BAB5E-0DFA-8B35-4131-78CF15C7CB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04335" y="4153755"/>
                <a:ext cx="429463" cy="526970"/>
              </a:xfrm>
              <a:prstGeom prst="line">
                <a:avLst/>
              </a:prstGeom>
              <a:ln w="57150">
                <a:solidFill>
                  <a:srgbClr val="843C0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E6FE0288-88FF-924E-C31E-AA937023F1E7}"/>
                  </a:ext>
                </a:extLst>
              </p:cNvPr>
              <p:cNvCxnSpPr>
                <a:cxnSpLocks/>
                <a:endCxn id="15" idx="3"/>
              </p:cNvCxnSpPr>
              <p:nvPr/>
            </p:nvCxnSpPr>
            <p:spPr>
              <a:xfrm flipH="1" flipV="1">
                <a:off x="8279466" y="4117026"/>
                <a:ext cx="344771" cy="657392"/>
              </a:xfrm>
              <a:prstGeom prst="line">
                <a:avLst/>
              </a:prstGeom>
              <a:ln w="57150">
                <a:solidFill>
                  <a:srgbClr val="843C0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506DF184-F46B-71E6-4726-419DF67B6B78}"/>
                  </a:ext>
                </a:extLst>
              </p:cNvPr>
              <p:cNvCxnSpPr>
                <a:cxnSpLocks/>
                <a:stCxn id="27" idx="0"/>
                <a:endCxn id="15" idx="2"/>
              </p:cNvCxnSpPr>
              <p:nvPr/>
            </p:nvCxnSpPr>
            <p:spPr>
              <a:xfrm flipV="1">
                <a:off x="7716332" y="4960265"/>
                <a:ext cx="6370" cy="429741"/>
              </a:xfrm>
              <a:prstGeom prst="line">
                <a:avLst/>
              </a:prstGeom>
              <a:ln w="57150">
                <a:solidFill>
                  <a:srgbClr val="843C0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50" name="图片 49">
            <a:extLst>
              <a:ext uri="{FF2B5EF4-FFF2-40B4-BE49-F238E27FC236}">
                <a16:creationId xmlns:a16="http://schemas.microsoft.com/office/drawing/2014/main" id="{44F966D8-CBD6-1584-3C19-895B3124C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1798" y="2509847"/>
            <a:ext cx="661644" cy="1002083"/>
          </a:xfrm>
          <a:prstGeom prst="rect">
            <a:avLst/>
          </a:prstGeom>
        </p:spPr>
      </p:pic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75D2AFE1-C3FB-6442-0B49-C68A6612E2C7}"/>
              </a:ext>
            </a:extLst>
          </p:cNvPr>
          <p:cNvCxnSpPr>
            <a:cxnSpLocks/>
          </p:cNvCxnSpPr>
          <p:nvPr/>
        </p:nvCxnSpPr>
        <p:spPr>
          <a:xfrm flipH="1">
            <a:off x="10107545" y="3038346"/>
            <a:ext cx="394500" cy="0"/>
          </a:xfrm>
          <a:prstGeom prst="line">
            <a:avLst/>
          </a:prstGeom>
          <a:ln w="76200">
            <a:solidFill>
              <a:srgbClr val="843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图片 54">
            <a:extLst>
              <a:ext uri="{FF2B5EF4-FFF2-40B4-BE49-F238E27FC236}">
                <a16:creationId xmlns:a16="http://schemas.microsoft.com/office/drawing/2014/main" id="{BC281123-1E79-8F26-B238-F11D1936C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6259" y="2674965"/>
            <a:ext cx="685859" cy="556308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609A2D58-9576-5CF0-FE69-25292C35D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9920" y="3703785"/>
            <a:ext cx="661644" cy="1002083"/>
          </a:xfrm>
          <a:prstGeom prst="rect">
            <a:avLst/>
          </a:prstGeom>
        </p:spPr>
      </p:pic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0F654C4A-66DE-C448-CF26-1D8BAA110540}"/>
              </a:ext>
            </a:extLst>
          </p:cNvPr>
          <p:cNvCxnSpPr>
            <a:cxnSpLocks/>
          </p:cNvCxnSpPr>
          <p:nvPr/>
        </p:nvCxnSpPr>
        <p:spPr>
          <a:xfrm flipH="1">
            <a:off x="10107545" y="4308524"/>
            <a:ext cx="394500" cy="0"/>
          </a:xfrm>
          <a:prstGeom prst="line">
            <a:avLst/>
          </a:prstGeom>
          <a:ln w="76200">
            <a:solidFill>
              <a:srgbClr val="843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图片 57">
            <a:extLst>
              <a:ext uri="{FF2B5EF4-FFF2-40B4-BE49-F238E27FC236}">
                <a16:creationId xmlns:a16="http://schemas.microsoft.com/office/drawing/2014/main" id="{1C49CE01-61B5-56F5-3F46-585EF33BD2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5399" y="4045039"/>
            <a:ext cx="1066892" cy="495343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D87F9B29-032D-7888-1EC5-44C6C7F30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9920" y="5026676"/>
            <a:ext cx="661644" cy="1002083"/>
          </a:xfrm>
          <a:prstGeom prst="rect">
            <a:avLst/>
          </a:prstGeom>
        </p:spPr>
      </p:pic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B3A1F79A-7857-A1AF-8740-9EC1F4CCB2E1}"/>
              </a:ext>
            </a:extLst>
          </p:cNvPr>
          <p:cNvCxnSpPr>
            <a:cxnSpLocks/>
          </p:cNvCxnSpPr>
          <p:nvPr/>
        </p:nvCxnSpPr>
        <p:spPr>
          <a:xfrm flipH="1">
            <a:off x="10120380" y="5527717"/>
            <a:ext cx="394500" cy="0"/>
          </a:xfrm>
          <a:prstGeom prst="line">
            <a:avLst/>
          </a:prstGeom>
          <a:ln w="76200">
            <a:solidFill>
              <a:srgbClr val="843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图片 60">
            <a:extLst>
              <a:ext uri="{FF2B5EF4-FFF2-40B4-BE49-F238E27FC236}">
                <a16:creationId xmlns:a16="http://schemas.microsoft.com/office/drawing/2014/main" id="{F92CF471-5F05-EEE5-6F5D-D4002314F2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8361" y="5306932"/>
            <a:ext cx="617273" cy="525826"/>
          </a:xfrm>
          <a:prstGeom prst="rect">
            <a:avLst/>
          </a:prstGeom>
        </p:spPr>
      </p:pic>
      <p:sp>
        <p:nvSpPr>
          <p:cNvPr id="62" name="箭头: 下 61">
            <a:extLst>
              <a:ext uri="{FF2B5EF4-FFF2-40B4-BE49-F238E27FC236}">
                <a16:creationId xmlns:a16="http://schemas.microsoft.com/office/drawing/2014/main" id="{AC36F4DD-B6F2-0BBF-94BE-2E745EEA46B1}"/>
              </a:ext>
            </a:extLst>
          </p:cNvPr>
          <p:cNvSpPr/>
          <p:nvPr/>
        </p:nvSpPr>
        <p:spPr>
          <a:xfrm>
            <a:off x="9702278" y="3479759"/>
            <a:ext cx="389964" cy="290139"/>
          </a:xfrm>
          <a:prstGeom prst="down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3" name="箭头: 下 62">
            <a:extLst>
              <a:ext uri="{FF2B5EF4-FFF2-40B4-BE49-F238E27FC236}">
                <a16:creationId xmlns:a16="http://schemas.microsoft.com/office/drawing/2014/main" id="{A7F18A3B-18F4-4CC8-B1FC-43FF2DFA9084}"/>
              </a:ext>
            </a:extLst>
          </p:cNvPr>
          <p:cNvSpPr/>
          <p:nvPr/>
        </p:nvSpPr>
        <p:spPr>
          <a:xfrm>
            <a:off x="9717581" y="4721202"/>
            <a:ext cx="389964" cy="290139"/>
          </a:xfrm>
          <a:prstGeom prst="down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BCB873A-A734-5A25-24C9-9D990A01EE8B}"/>
              </a:ext>
            </a:extLst>
          </p:cNvPr>
          <p:cNvSpPr txBox="1"/>
          <p:nvPr/>
        </p:nvSpPr>
        <p:spPr>
          <a:xfrm>
            <a:off x="-87119" y="5986577"/>
            <a:ext cx="6098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洗碗的面向过程实现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6977811-7543-F696-15C0-2B754E8117E3}"/>
              </a:ext>
            </a:extLst>
          </p:cNvPr>
          <p:cNvSpPr txBox="1"/>
          <p:nvPr/>
        </p:nvSpPr>
        <p:spPr>
          <a:xfrm>
            <a:off x="5177063" y="5947375"/>
            <a:ext cx="6098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洗碗的面向对象实现</a:t>
            </a:r>
          </a:p>
        </p:txBody>
      </p:sp>
      <p:sp>
        <p:nvSpPr>
          <p:cNvPr id="68" name="任意多边形: 形状 67">
            <a:extLst>
              <a:ext uri="{FF2B5EF4-FFF2-40B4-BE49-F238E27FC236}">
                <a16:creationId xmlns:a16="http://schemas.microsoft.com/office/drawing/2014/main" id="{ADA690ED-1900-97EC-8B6B-41CB4FB3845D}"/>
              </a:ext>
            </a:extLst>
          </p:cNvPr>
          <p:cNvSpPr/>
          <p:nvPr/>
        </p:nvSpPr>
        <p:spPr>
          <a:xfrm>
            <a:off x="3678170" y="2374402"/>
            <a:ext cx="8194065" cy="4440809"/>
          </a:xfrm>
          <a:custGeom>
            <a:avLst/>
            <a:gdLst>
              <a:gd name="connsiteX0" fmla="*/ 1189665 w 8194065"/>
              <a:gd name="connsiteY0" fmla="*/ 4039845 h 4440809"/>
              <a:gd name="connsiteX1" fmla="*/ 651783 w 8194065"/>
              <a:gd name="connsiteY1" fmla="*/ 3259916 h 4440809"/>
              <a:gd name="connsiteX2" fmla="*/ 100454 w 8194065"/>
              <a:gd name="connsiteY2" fmla="*/ 1928657 h 4440809"/>
              <a:gd name="connsiteX3" fmla="*/ 140795 w 8194065"/>
              <a:gd name="connsiteY3" fmla="*/ 610845 h 4440809"/>
              <a:gd name="connsiteX4" fmla="*/ 1498948 w 8194065"/>
              <a:gd name="connsiteY4" fmla="*/ 72963 h 4440809"/>
              <a:gd name="connsiteX5" fmla="*/ 3758054 w 8194065"/>
              <a:gd name="connsiteY5" fmla="*/ 167092 h 4440809"/>
              <a:gd name="connsiteX6" fmla="*/ 5479277 w 8194065"/>
              <a:gd name="connsiteY6" fmla="*/ 113304 h 4440809"/>
              <a:gd name="connsiteX7" fmla="*/ 7899748 w 8194065"/>
              <a:gd name="connsiteY7" fmla="*/ 247774 h 4440809"/>
              <a:gd name="connsiteX8" fmla="*/ 8061112 w 8194065"/>
              <a:gd name="connsiteY8" fmla="*/ 2950633 h 4440809"/>
              <a:gd name="connsiteX9" fmla="*/ 7066030 w 8194065"/>
              <a:gd name="connsiteY9" fmla="*/ 4308786 h 4440809"/>
              <a:gd name="connsiteX10" fmla="*/ 4551430 w 8194065"/>
              <a:gd name="connsiteY10" fmla="*/ 4349127 h 4440809"/>
              <a:gd name="connsiteX11" fmla="*/ 2023383 w 8194065"/>
              <a:gd name="connsiteY11" fmla="*/ 4429810 h 4440809"/>
              <a:gd name="connsiteX12" fmla="*/ 1230006 w 8194065"/>
              <a:gd name="connsiteY12" fmla="*/ 4080186 h 4440809"/>
              <a:gd name="connsiteX13" fmla="*/ 1230006 w 8194065"/>
              <a:gd name="connsiteY13" fmla="*/ 4080186 h 4440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94065" h="4440809">
                <a:moveTo>
                  <a:pt x="1189665" y="4039845"/>
                </a:moveTo>
                <a:cubicBezTo>
                  <a:pt x="1011491" y="3825813"/>
                  <a:pt x="833318" y="3611781"/>
                  <a:pt x="651783" y="3259916"/>
                </a:cubicBezTo>
                <a:cubicBezTo>
                  <a:pt x="470248" y="2908051"/>
                  <a:pt x="185619" y="2370169"/>
                  <a:pt x="100454" y="1928657"/>
                </a:cubicBezTo>
                <a:cubicBezTo>
                  <a:pt x="15289" y="1487145"/>
                  <a:pt x="-92287" y="920127"/>
                  <a:pt x="140795" y="610845"/>
                </a:cubicBezTo>
                <a:cubicBezTo>
                  <a:pt x="373877" y="301563"/>
                  <a:pt x="896071" y="146922"/>
                  <a:pt x="1498948" y="72963"/>
                </a:cubicBezTo>
                <a:cubicBezTo>
                  <a:pt x="2101825" y="-996"/>
                  <a:pt x="3094666" y="160369"/>
                  <a:pt x="3758054" y="167092"/>
                </a:cubicBezTo>
                <a:cubicBezTo>
                  <a:pt x="4421442" y="173815"/>
                  <a:pt x="4788995" y="99857"/>
                  <a:pt x="5479277" y="113304"/>
                </a:cubicBezTo>
                <a:cubicBezTo>
                  <a:pt x="6169559" y="126751"/>
                  <a:pt x="7469442" y="-225114"/>
                  <a:pt x="7899748" y="247774"/>
                </a:cubicBezTo>
                <a:cubicBezTo>
                  <a:pt x="8330054" y="720662"/>
                  <a:pt x="8200065" y="2273798"/>
                  <a:pt x="8061112" y="2950633"/>
                </a:cubicBezTo>
                <a:cubicBezTo>
                  <a:pt x="7922159" y="3627468"/>
                  <a:pt x="7650977" y="4075704"/>
                  <a:pt x="7066030" y="4308786"/>
                </a:cubicBezTo>
                <a:cubicBezTo>
                  <a:pt x="6481083" y="4541868"/>
                  <a:pt x="4551430" y="4349127"/>
                  <a:pt x="4551430" y="4349127"/>
                </a:cubicBezTo>
                <a:cubicBezTo>
                  <a:pt x="3710989" y="4369298"/>
                  <a:pt x="2576954" y="4474634"/>
                  <a:pt x="2023383" y="4429810"/>
                </a:cubicBezTo>
                <a:cubicBezTo>
                  <a:pt x="1469812" y="4384987"/>
                  <a:pt x="1230006" y="4080186"/>
                  <a:pt x="1230006" y="4080186"/>
                </a:cubicBezTo>
                <a:lnTo>
                  <a:pt x="1230006" y="4080186"/>
                </a:lnTo>
              </a:path>
            </a:pathLst>
          </a:custGeom>
          <a:noFill/>
          <a:ln w="38100">
            <a:solidFill>
              <a:srgbClr val="843C0C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7643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22787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 Python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编程基础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069976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2" descr="https://timgsa.baidu.com/timg?image&amp;quality=80&amp;size=b9999_10000&amp;sec=1523997627056&amp;di=346c8f3eca23dc180f8205d437f7167e&amp;imgtype=0&amp;src=http%3A%2F%2Fstatic.chayuqing.com%2F7e28c719fe4d7aa2ccf9aa52ac6783ac.jpg%3Fwatermark%2F1%2Fimage%2FaHR0cDovL3d3dy5pamlhbmRhby5jb20vd3AtY29udGVudC91cGxvYWRzLzIwMTUvMDMv6Zq8MS5wbmc%3D%2Fdissolve%2F100%2Fgravity%2FCenter%2Fdx%2F1%2Fdy">
            <a:extLst>
              <a:ext uri="{FF2B5EF4-FFF2-40B4-BE49-F238E27FC236}">
                <a16:creationId xmlns:a16="http://schemas.microsoft.com/office/drawing/2014/main" id="{E679CC36-F2A2-5380-EB48-B029BBBE19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572" t="6793" r="9376" b="8894"/>
          <a:stretch/>
        </p:blipFill>
        <p:spPr bwMode="auto">
          <a:xfrm>
            <a:off x="258584" y="1567265"/>
            <a:ext cx="11372193" cy="528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8723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FE3C3E1-7137-45FB-4388-C0480D924831}"/>
              </a:ext>
            </a:extLst>
          </p:cNvPr>
          <p:cNvSpPr txBox="1"/>
          <p:nvPr/>
        </p:nvSpPr>
        <p:spPr>
          <a:xfrm>
            <a:off x="206829" y="13062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常用软件包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4477DA1-5C63-4359-7E49-B4591587195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66800"/>
            <a:ext cx="121920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11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16064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 Python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编程基础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938048" y="1024007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EA0D6D1-78AC-4069-BFC1-7918CCCCD597}"/>
              </a:ext>
            </a:extLst>
          </p:cNvPr>
          <p:cNvSpPr txBox="1"/>
          <p:nvPr/>
        </p:nvSpPr>
        <p:spPr>
          <a:xfrm>
            <a:off x="325820" y="1554885"/>
            <a:ext cx="11740056" cy="3008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简单程序（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IDLE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程序组成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基本语法：保留字，标识符，运算符和表达式，注释，数据类型，控制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5972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17223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 Python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编程基础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EA0D6D1-78AC-4069-BFC1-7918CCCCD597}"/>
              </a:ext>
            </a:extLst>
          </p:cNvPr>
          <p:cNvSpPr txBox="1"/>
          <p:nvPr/>
        </p:nvSpPr>
        <p:spPr>
          <a:xfrm>
            <a:off x="325821" y="1554885"/>
            <a:ext cx="6096000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简单程序（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IDLE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2FC983C-5409-4870-6F55-526474123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130075"/>
              </p:ext>
            </p:extLst>
          </p:nvPr>
        </p:nvGraphicFramePr>
        <p:xfrm>
          <a:off x="457200" y="2312015"/>
          <a:ext cx="11919856" cy="4316663"/>
        </p:xfrm>
        <a:graphic>
          <a:graphicData uri="http://schemas.openxmlformats.org/drawingml/2006/table">
            <a:tbl>
              <a:tblPr firstRow="1" firstCol="1" bandRow="1"/>
              <a:tblGrid>
                <a:gridCol w="513933">
                  <a:extLst>
                    <a:ext uri="{9D8B030D-6E8A-4147-A177-3AD203B41FA5}">
                      <a16:colId xmlns:a16="http://schemas.microsoft.com/office/drawing/2014/main" val="3203733646"/>
                    </a:ext>
                  </a:extLst>
                </a:gridCol>
                <a:gridCol w="3026545">
                  <a:extLst>
                    <a:ext uri="{9D8B030D-6E8A-4147-A177-3AD203B41FA5}">
                      <a16:colId xmlns:a16="http://schemas.microsoft.com/office/drawing/2014/main" val="2489464426"/>
                    </a:ext>
                  </a:extLst>
                </a:gridCol>
                <a:gridCol w="8379378">
                  <a:extLst>
                    <a:ext uri="{9D8B030D-6E8A-4147-A177-3AD203B41FA5}">
                      <a16:colId xmlns:a16="http://schemas.microsoft.com/office/drawing/2014/main" val="1370815971"/>
                    </a:ext>
                  </a:extLst>
                </a:gridCol>
              </a:tblGrid>
              <a:tr h="30668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#E0210.py</a:t>
                      </a:r>
                      <a:endParaRPr lang="zh-CN" sz="24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print(‘HelloWorld’)</a:t>
                      </a:r>
                      <a:endParaRPr lang="zh-CN" sz="24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print('</a:t>
                      </a:r>
                      <a:r>
                        <a:rPr lang="zh-CN" sz="24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你好，世界！</a:t>
                      </a:r>
                      <a:r>
                        <a:rPr lang="en-US" sz="24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')</a:t>
                      </a:r>
                      <a:endParaRPr lang="zh-CN" sz="24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井号为程序行注释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打印输出字符串</a:t>
                      </a: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'Hello World!'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注意：</a:t>
                      </a:r>
                      <a:r>
                        <a:rPr lang="en-US" sz="2800" b="1" kern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Python</a:t>
                      </a:r>
                      <a:r>
                        <a:rPr lang="zh-CN" sz="2800" b="1" kern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命令和符号为英文字符，</a:t>
                      </a:r>
                      <a:endParaRPr lang="en-US" altLang="zh-CN" sz="2800" b="1" kern="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800" b="1" kern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  <a:r>
                        <a:rPr lang="zh-CN" sz="2800" b="1" kern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文本信息中英不限</a:t>
                      </a:r>
                      <a:endParaRPr lang="zh-CN" sz="2800" b="1" kern="1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720835"/>
                  </a:ext>
                </a:extLst>
              </a:tr>
              <a:tr h="12498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&gt;&gt;&gt;Hello World!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你好，世界！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程序运行结果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752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5490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EA0D6D1-78AC-4069-BFC1-7918CCCCD597}"/>
              </a:ext>
            </a:extLst>
          </p:cNvPr>
          <p:cNvSpPr txBox="1"/>
          <p:nvPr/>
        </p:nvSpPr>
        <p:spPr>
          <a:xfrm>
            <a:off x="0" y="0"/>
            <a:ext cx="4517572" cy="155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Python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程序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基本组成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522207-53A9-2F41-BD5D-406A86F3E4D7}"/>
              </a:ext>
            </a:extLst>
          </p:cNvPr>
          <p:cNvSpPr txBox="1"/>
          <p:nvPr/>
        </p:nvSpPr>
        <p:spPr>
          <a:xfrm>
            <a:off x="-329293" y="1405419"/>
            <a:ext cx="5521778" cy="2718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头部语句块；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函数语句块；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主程序语句块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1EC5829-19F6-0181-ED74-1CA7F9098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685" y="-95903"/>
            <a:ext cx="8374315" cy="69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107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F72E73-1562-F9FD-5D97-25CEB668C298}"/>
              </a:ext>
            </a:extLst>
          </p:cNvPr>
          <p:cNvSpPr txBox="1"/>
          <p:nvPr/>
        </p:nvSpPr>
        <p:spPr>
          <a:xfrm>
            <a:off x="-1" y="0"/>
            <a:ext cx="10711544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基本语法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保留字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82C91AD-A323-1C89-43B5-181551658F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8299" y="679190"/>
          <a:ext cx="8544272" cy="5950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1999880" imgH="7466400" progId="Photoshop.Image.14">
                  <p:embed/>
                </p:oleObj>
              </mc:Choice>
              <mc:Fallback>
                <p:oleObj name="Image" r:id="rId2" imgW="11999880" imgH="7466400" progId="Photoshop.Image.1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82C91AD-A323-1C89-43B5-181551658F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88299" y="679190"/>
                        <a:ext cx="8544272" cy="59502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0965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F72E73-1562-F9FD-5D97-25CEB668C298}"/>
              </a:ext>
            </a:extLst>
          </p:cNvPr>
          <p:cNvSpPr txBox="1"/>
          <p:nvPr/>
        </p:nvSpPr>
        <p:spPr>
          <a:xfrm>
            <a:off x="-1" y="0"/>
            <a:ext cx="10711544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基本语法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标识符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0D5CAE-3C76-A4FE-5DDC-5F3D11F7593F}"/>
              </a:ext>
            </a:extLst>
          </p:cNvPr>
          <p:cNvSpPr txBox="1"/>
          <p:nvPr/>
        </p:nvSpPr>
        <p:spPr>
          <a:xfrm>
            <a:off x="617764" y="757130"/>
            <a:ext cx="1125854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变量名、函数名、类名、方法名、文件名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好标识符不需要注释即可明白含义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9AC1A4-2493-8F0F-5E18-485B6B95ED4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085" y="2035628"/>
            <a:ext cx="12017829" cy="482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054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F72E73-1562-F9FD-5D97-25CEB668C298}"/>
              </a:ext>
            </a:extLst>
          </p:cNvPr>
          <p:cNvSpPr txBox="1"/>
          <p:nvPr/>
        </p:nvSpPr>
        <p:spPr>
          <a:xfrm>
            <a:off x="-1" y="0"/>
            <a:ext cx="10711544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基本语法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标识符命名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0D5CAE-3C76-A4FE-5DDC-5F3D11F7593F}"/>
              </a:ext>
            </a:extLst>
          </p:cNvPr>
          <p:cNvSpPr txBox="1"/>
          <p:nvPr/>
        </p:nvSpPr>
        <p:spPr>
          <a:xfrm>
            <a:off x="321129" y="757130"/>
            <a:ext cx="1187087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下画线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命名。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如：</a:t>
            </a:r>
            <a:r>
              <a:rPr kumimoji="0" lang="en-US" altLang="zh-CN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my_list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background_color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read_csv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 )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等（如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）。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驼峰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命名。如：</a:t>
            </a:r>
            <a:r>
              <a:rPr kumimoji="0" lang="en-US" altLang="zh-CN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myListName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outPrint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 )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等（如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 。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帕斯卡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命名。如：</a:t>
            </a:r>
            <a:r>
              <a:rPr kumimoji="0" lang="en-US" altLang="zh-CN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DisplayInfo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 )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MinMaxScaler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 )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等（如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VB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 。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全大写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命名。如：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KEY_UP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PI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等（ 如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Prolog 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343134-A16A-3A11-B229-9E8D345B937F}"/>
              </a:ext>
            </a:extLst>
          </p:cNvPr>
          <p:cNvSpPr txBox="1"/>
          <p:nvPr/>
        </p:nvSpPr>
        <p:spPr>
          <a:xfrm>
            <a:off x="623206" y="5158335"/>
            <a:ext cx="115687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开放性问题：变量名可以用汉字命名吗？如：姓名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=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"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白居易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"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2150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F72E73-1562-F9FD-5D97-25CEB668C298}"/>
              </a:ext>
            </a:extLst>
          </p:cNvPr>
          <p:cNvSpPr txBox="1"/>
          <p:nvPr/>
        </p:nvSpPr>
        <p:spPr>
          <a:xfrm>
            <a:off x="-1" y="0"/>
            <a:ext cx="10711544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基本语法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标识符命名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0D5CAE-3C76-A4FE-5DDC-5F3D11F7593F}"/>
              </a:ext>
            </a:extLst>
          </p:cNvPr>
          <p:cNvSpPr txBox="1"/>
          <p:nvPr/>
        </p:nvSpPr>
        <p:spPr>
          <a:xfrm>
            <a:off x="65313" y="757130"/>
            <a:ext cx="1187087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）标识符要唯一，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不能用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、小数和空格，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不能以数字开头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）大部分程序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对字母大小写敏感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）变量名不用通用函数名、已有名、保留字名等。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）不用单个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（与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混淆）、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（与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混淆）、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（与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混淆）做变量名。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不用保留字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，如：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if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else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for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while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等。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）除字符串信息外，均为英文。</a:t>
            </a:r>
          </a:p>
        </p:txBody>
      </p:sp>
    </p:spTree>
    <p:extLst>
      <p:ext uri="{BB962C8B-B14F-4D97-AF65-F5344CB8AC3E}">
        <p14:creationId xmlns:p14="http://schemas.microsoft.com/office/powerpoint/2010/main" val="2761972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F72E73-1562-F9FD-5D97-25CEB668C298}"/>
              </a:ext>
            </a:extLst>
          </p:cNvPr>
          <p:cNvSpPr txBox="1"/>
          <p:nvPr/>
        </p:nvSpPr>
        <p:spPr>
          <a:xfrm>
            <a:off x="-1" y="0"/>
            <a:ext cx="10711544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基本语法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运算符和表达式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10A65D2-1554-ED3B-9961-D4286CC6F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84" y="666153"/>
            <a:ext cx="11615057" cy="604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336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F72E73-1562-F9FD-5D97-25CEB668C298}"/>
              </a:ext>
            </a:extLst>
          </p:cNvPr>
          <p:cNvSpPr txBox="1"/>
          <p:nvPr/>
        </p:nvSpPr>
        <p:spPr>
          <a:xfrm>
            <a:off x="-1" y="0"/>
            <a:ext cx="10711544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基本语法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注释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C3E787-83D3-747C-CA9B-BF2201110F58}"/>
              </a:ext>
            </a:extLst>
          </p:cNvPr>
          <p:cNvSpPr txBox="1"/>
          <p:nvPr/>
        </p:nvSpPr>
        <p:spPr>
          <a:xfrm>
            <a:off x="0" y="994902"/>
            <a:ext cx="12398829" cy="2333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（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</a:t>
            </a: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）单行注释符号为“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#</a:t>
            </a: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”；多行注释采用三个引号。</a:t>
            </a:r>
          </a:p>
          <a:p>
            <a:pPr marL="0" marR="0" lvl="1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（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2</a:t>
            </a: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）好注释提供代码没有的额外信息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8E6AC50-60B2-1DE4-D4C9-1A8969284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10" y="4118322"/>
            <a:ext cx="11062607" cy="70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12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F72E73-1562-F9FD-5D97-25CEB668C298}"/>
              </a:ext>
            </a:extLst>
          </p:cNvPr>
          <p:cNvSpPr txBox="1"/>
          <p:nvPr/>
        </p:nvSpPr>
        <p:spPr>
          <a:xfrm>
            <a:off x="-1" y="0"/>
            <a:ext cx="10711544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基本语法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数据类型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66E2665-F59F-7909-2D5F-58C25CF739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757130"/>
            <a:ext cx="12192000" cy="574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172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F72E73-1562-F9FD-5D97-25CEB668C298}"/>
              </a:ext>
            </a:extLst>
          </p:cNvPr>
          <p:cNvSpPr txBox="1"/>
          <p:nvPr/>
        </p:nvSpPr>
        <p:spPr>
          <a:xfrm>
            <a:off x="0" y="152400"/>
            <a:ext cx="10711544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基本语法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控制（顺序，选择，循环）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BEFE96-54B2-C0C8-DE35-A4EAABFCA853}"/>
              </a:ext>
            </a:extLst>
          </p:cNvPr>
          <p:cNvSpPr txBox="1"/>
          <p:nvPr/>
        </p:nvSpPr>
        <p:spPr>
          <a:xfrm>
            <a:off x="451757" y="1072441"/>
            <a:ext cx="11288485" cy="2718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30"/>
              </a:spcBef>
              <a:spcAft>
                <a:spcPts val="0"/>
              </a:spcAft>
              <a:buClr>
                <a:srgbClr val="003399"/>
              </a:buClr>
              <a:buSzPct val="101000"/>
              <a:buFont typeface="Arial" panose="020B0604020202020204" pitchFamily="34" charset="0"/>
              <a:buNone/>
              <a:tabLst/>
              <a:defRPr/>
            </a:pP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（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</a:t>
            </a: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）程序内的每一部分都会执行。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30"/>
              </a:spcBef>
              <a:spcAft>
                <a:spcPts val="0"/>
              </a:spcAft>
              <a:buClr>
                <a:srgbClr val="003399"/>
              </a:buClr>
              <a:buSzPct val="101000"/>
              <a:buFont typeface="Arial" panose="020B0604020202020204" pitchFamily="34" charset="0"/>
              <a:buNone/>
              <a:tabLst/>
              <a:defRPr/>
            </a:pP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（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2</a:t>
            </a: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）程序内不能存在死循环。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30"/>
              </a:spcBef>
              <a:spcAft>
                <a:spcPts val="0"/>
              </a:spcAft>
              <a:buClr>
                <a:srgbClr val="003399"/>
              </a:buClr>
              <a:buSzPct val="101000"/>
              <a:buFont typeface="Arial" panose="020B0604020202020204" pitchFamily="34" charset="0"/>
              <a:buNone/>
              <a:tabLst/>
              <a:defRPr/>
            </a:pP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（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</a:t>
            </a: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）程序只有一个入口和一个出口</a:t>
            </a: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39983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F72E73-1562-F9FD-5D97-25CEB668C298}"/>
              </a:ext>
            </a:extLst>
          </p:cNvPr>
          <p:cNvSpPr txBox="1"/>
          <p:nvPr/>
        </p:nvSpPr>
        <p:spPr>
          <a:xfrm>
            <a:off x="0" y="152400"/>
            <a:ext cx="10711544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基本语法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顺序控制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3858ECB-E43D-1850-36E1-9C2A17AEF19B}"/>
              </a:ext>
            </a:extLst>
          </p:cNvPr>
          <p:cNvGrpSpPr/>
          <p:nvPr/>
        </p:nvGrpSpPr>
        <p:grpSpPr>
          <a:xfrm>
            <a:off x="4645478" y="2144488"/>
            <a:ext cx="2075269" cy="3608512"/>
            <a:chOff x="1439175" y="1992209"/>
            <a:chExt cx="1802919" cy="3364795"/>
          </a:xfrm>
        </p:grpSpPr>
        <p:sp>
          <p:nvSpPr>
            <p:cNvPr id="17" name="圆角矩形 4">
              <a:extLst>
                <a:ext uri="{FF2B5EF4-FFF2-40B4-BE49-F238E27FC236}">
                  <a16:creationId xmlns:a16="http://schemas.microsoft.com/office/drawing/2014/main" id="{E6D9F134-731E-F28F-23F4-7613A05FD8B9}"/>
                </a:ext>
              </a:extLst>
            </p:cNvPr>
            <p:cNvSpPr/>
            <p:nvPr/>
          </p:nvSpPr>
          <p:spPr>
            <a:xfrm>
              <a:off x="1932317" y="2113472"/>
              <a:ext cx="845389" cy="396815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00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开始</a:t>
              </a: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 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8" name="圆角矩形 6">
              <a:extLst>
                <a:ext uri="{FF2B5EF4-FFF2-40B4-BE49-F238E27FC236}">
                  <a16:creationId xmlns:a16="http://schemas.microsoft.com/office/drawing/2014/main" id="{0A02F805-BC22-BFD4-8B08-B7F3526CEF32}"/>
                </a:ext>
              </a:extLst>
            </p:cNvPr>
            <p:cNvSpPr/>
            <p:nvPr/>
          </p:nvSpPr>
          <p:spPr>
            <a:xfrm>
              <a:off x="1929441" y="4819292"/>
              <a:ext cx="845389" cy="396815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00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结束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AAC6B51-FCAD-EF61-2EC2-B91D787C2488}"/>
                </a:ext>
              </a:extLst>
            </p:cNvPr>
            <p:cNvSpPr/>
            <p:nvPr/>
          </p:nvSpPr>
          <p:spPr>
            <a:xfrm>
              <a:off x="1705154" y="2731199"/>
              <a:ext cx="1293962" cy="396815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00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语句</a:t>
              </a: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5375B3A-5E40-E0BE-AF00-7F1433A8BCD3}"/>
                </a:ext>
              </a:extLst>
            </p:cNvPr>
            <p:cNvSpPr/>
            <p:nvPr/>
          </p:nvSpPr>
          <p:spPr>
            <a:xfrm>
              <a:off x="1719533" y="3349421"/>
              <a:ext cx="1293962" cy="396815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00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语句</a:t>
              </a: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D7CA475-71C6-6447-D466-67FE122BEC5C}"/>
                </a:ext>
              </a:extLst>
            </p:cNvPr>
            <p:cNvSpPr/>
            <p:nvPr/>
          </p:nvSpPr>
          <p:spPr>
            <a:xfrm>
              <a:off x="1710907" y="4177557"/>
              <a:ext cx="1293962" cy="396815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00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语句</a:t>
              </a: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n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851C1374-7134-6F8F-EEA3-FE0BA79E617F}"/>
                </a:ext>
              </a:extLst>
            </p:cNvPr>
            <p:cNvCxnSpPr>
              <a:stCxn id="17" idx="2"/>
              <a:endCxn id="19" idx="0"/>
            </p:cNvCxnSpPr>
            <p:nvPr/>
          </p:nvCxnSpPr>
          <p:spPr>
            <a:xfrm flipH="1">
              <a:off x="2352135" y="2510287"/>
              <a:ext cx="2877" cy="220912"/>
            </a:xfrm>
            <a:prstGeom prst="straightConnector1">
              <a:avLst/>
            </a:prstGeom>
            <a:noFill/>
            <a:ln w="28575" cap="flat" cmpd="sng" algn="ctr">
              <a:solidFill>
                <a:srgbClr val="0000FF"/>
              </a:solidFill>
              <a:prstDash val="solid"/>
              <a:tailEnd type="triangle"/>
            </a:ln>
            <a:effectLst/>
          </p:spPr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88F5D082-6687-5DD9-8312-A0F5E3527242}"/>
                </a:ext>
              </a:extLst>
            </p:cNvPr>
            <p:cNvCxnSpPr/>
            <p:nvPr/>
          </p:nvCxnSpPr>
          <p:spPr>
            <a:xfrm flipH="1">
              <a:off x="2349261" y="3128509"/>
              <a:ext cx="2877" cy="220912"/>
            </a:xfrm>
            <a:prstGeom prst="straightConnector1">
              <a:avLst/>
            </a:prstGeom>
            <a:noFill/>
            <a:ln w="28575" cap="flat" cmpd="sng" algn="ctr">
              <a:solidFill>
                <a:srgbClr val="0000FF"/>
              </a:solidFill>
              <a:prstDash val="solid"/>
              <a:tailEnd type="triangle"/>
            </a:ln>
            <a:effectLst/>
          </p:spPr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7759F2F2-61CB-3E61-331E-593AF542EE10}"/>
                </a:ext>
              </a:extLst>
            </p:cNvPr>
            <p:cNvCxnSpPr/>
            <p:nvPr/>
          </p:nvCxnSpPr>
          <p:spPr>
            <a:xfrm flipH="1">
              <a:off x="2340635" y="4577745"/>
              <a:ext cx="2877" cy="220912"/>
            </a:xfrm>
            <a:prstGeom prst="straightConnector1">
              <a:avLst/>
            </a:prstGeom>
            <a:noFill/>
            <a:ln w="28575" cap="flat" cmpd="sng" algn="ctr">
              <a:solidFill>
                <a:srgbClr val="0000FF"/>
              </a:solidFill>
              <a:prstDash val="solid"/>
              <a:tailEnd type="triangle"/>
            </a:ln>
            <a:effectLst/>
          </p:spPr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D790EF01-D3D5-070E-6371-814F012410AF}"/>
                </a:ext>
              </a:extLst>
            </p:cNvPr>
            <p:cNvCxnSpPr/>
            <p:nvPr/>
          </p:nvCxnSpPr>
          <p:spPr>
            <a:xfrm flipH="1">
              <a:off x="2340635" y="3758246"/>
              <a:ext cx="2877" cy="220912"/>
            </a:xfrm>
            <a:prstGeom prst="straightConnector1">
              <a:avLst/>
            </a:prstGeom>
            <a:noFill/>
            <a:ln w="28575" cap="flat" cmpd="sng" algn="ctr">
              <a:solidFill>
                <a:srgbClr val="0000FF"/>
              </a:solidFill>
              <a:prstDash val="solid"/>
              <a:tailEnd type="triangle"/>
            </a:ln>
            <a:effectLst/>
          </p:spPr>
        </p:cxn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F0A00C6B-740D-47F6-267A-39EFACDCDB30}"/>
                </a:ext>
              </a:extLst>
            </p:cNvPr>
            <p:cNvSpPr/>
            <p:nvPr/>
          </p:nvSpPr>
          <p:spPr>
            <a:xfrm>
              <a:off x="2118610" y="3814261"/>
              <a:ext cx="628355" cy="487882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...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737F76EC-75CC-D590-CDEB-8FB9CB5820D2}"/>
                </a:ext>
              </a:extLst>
            </p:cNvPr>
            <p:cNvSpPr/>
            <p:nvPr/>
          </p:nvSpPr>
          <p:spPr>
            <a:xfrm>
              <a:off x="1439175" y="1992209"/>
              <a:ext cx="1802919" cy="3364795"/>
            </a:xfrm>
            <a:prstGeom prst="rect">
              <a:avLst/>
            </a:prstGeom>
            <a:noFill/>
            <a:ln w="6350" cap="flat" cmpd="sng" algn="ctr">
              <a:solidFill>
                <a:srgbClr val="0000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26FAC019-5022-8426-339E-5AA0F03C2B88}"/>
              </a:ext>
            </a:extLst>
          </p:cNvPr>
          <p:cNvSpPr txBox="1"/>
          <p:nvPr/>
        </p:nvSpPr>
        <p:spPr>
          <a:xfrm>
            <a:off x="693964" y="982482"/>
            <a:ext cx="116395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从</a:t>
            </a: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第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</a:t>
            </a: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条句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按顺序</a:t>
            </a: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直到所有语句执行完成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2990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F72E73-1562-F9FD-5D97-25CEB668C298}"/>
              </a:ext>
            </a:extLst>
          </p:cNvPr>
          <p:cNvSpPr txBox="1"/>
          <p:nvPr/>
        </p:nvSpPr>
        <p:spPr>
          <a:xfrm>
            <a:off x="0" y="152400"/>
            <a:ext cx="10711544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基本语法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顺序控制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748D8A44-9CA2-7C86-34BE-D7B1CC04F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392" y="909530"/>
            <a:ext cx="11965215" cy="5709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zh-CN" sz="3600" dirty="0">
                <a:latin typeface="幼圆" panose="02010509060101010101" pitchFamily="49" charset="-122"/>
                <a:ea typeface="幼圆" panose="02010509060101010101" pitchFamily="49" charset="-122"/>
              </a:rPr>
              <a:t>【例】根据勾股定理</a:t>
            </a:r>
            <a:r>
              <a:rPr lang="en-US" altLang="zh-CN" sz="3600" dirty="0">
                <a:latin typeface="幼圆" panose="02010509060101010101" pitchFamily="49" charset="-122"/>
                <a:ea typeface="幼圆" panose="02010509060101010101" pitchFamily="49" charset="-122"/>
              </a:rPr>
              <a:t>a</a:t>
            </a:r>
            <a:r>
              <a:rPr lang="zh-CN" altLang="zh-CN" sz="3600" dirty="0">
                <a:latin typeface="幼圆" panose="02010509060101010101" pitchFamily="49" charset="-122"/>
                <a:ea typeface="幼圆" panose="02010509060101010101" pitchFamily="49" charset="-122"/>
              </a:rPr>
              <a:t>²</a:t>
            </a:r>
            <a:r>
              <a:rPr lang="en-US" altLang="zh-CN" sz="3600" dirty="0">
                <a:latin typeface="幼圆" panose="02010509060101010101" pitchFamily="49" charset="-122"/>
                <a:ea typeface="幼圆" panose="02010509060101010101" pitchFamily="49" charset="-122"/>
              </a:rPr>
              <a:t>+b</a:t>
            </a:r>
            <a:r>
              <a:rPr lang="zh-CN" altLang="zh-CN" sz="3600" dirty="0">
                <a:latin typeface="幼圆" panose="02010509060101010101" pitchFamily="49" charset="-122"/>
                <a:ea typeface="幼圆" panose="02010509060101010101" pitchFamily="49" charset="-122"/>
              </a:rPr>
              <a:t>²</a:t>
            </a:r>
            <a:r>
              <a:rPr lang="en-US" altLang="zh-CN" sz="3600" dirty="0">
                <a:latin typeface="幼圆" panose="02010509060101010101" pitchFamily="49" charset="-122"/>
                <a:ea typeface="幼圆" panose="02010509060101010101" pitchFamily="49" charset="-122"/>
              </a:rPr>
              <a:t>=c</a:t>
            </a:r>
            <a:r>
              <a:rPr lang="zh-CN" altLang="zh-CN" sz="3600" dirty="0">
                <a:latin typeface="幼圆" panose="02010509060101010101" pitchFamily="49" charset="-122"/>
                <a:ea typeface="幼圆" panose="02010509060101010101" pitchFamily="49" charset="-122"/>
              </a:rPr>
              <a:t>²，计算直角三角形边长。</a:t>
            </a:r>
            <a:endParaRPr lang="en-US" altLang="zh-CN" sz="36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82437EC-0680-6D01-8115-B469B86198D5}"/>
              </a:ext>
            </a:extLst>
          </p:cNvPr>
          <p:cNvGraphicFramePr>
            <a:graphicFrameLocks noGrp="1"/>
          </p:cNvGraphicFramePr>
          <p:nvPr/>
        </p:nvGraphicFramePr>
        <p:xfrm>
          <a:off x="243684" y="1480458"/>
          <a:ext cx="11965215" cy="5240315"/>
        </p:xfrm>
        <a:graphic>
          <a:graphicData uri="http://schemas.openxmlformats.org/drawingml/2006/table">
            <a:tbl>
              <a:tblPr firstRow="1" firstCol="1" bandRow="1"/>
              <a:tblGrid>
                <a:gridCol w="619746">
                  <a:extLst>
                    <a:ext uri="{9D8B030D-6E8A-4147-A177-3AD203B41FA5}">
                      <a16:colId xmlns:a16="http://schemas.microsoft.com/office/drawing/2014/main" val="1402456300"/>
                    </a:ext>
                  </a:extLst>
                </a:gridCol>
                <a:gridCol w="7039599">
                  <a:extLst>
                    <a:ext uri="{9D8B030D-6E8A-4147-A177-3AD203B41FA5}">
                      <a16:colId xmlns:a16="http://schemas.microsoft.com/office/drawing/2014/main" val="265271498"/>
                    </a:ext>
                  </a:extLst>
                </a:gridCol>
                <a:gridCol w="4305870">
                  <a:extLst>
                    <a:ext uri="{9D8B030D-6E8A-4147-A177-3AD203B41FA5}">
                      <a16:colId xmlns:a16="http://schemas.microsoft.com/office/drawing/2014/main" val="2510090603"/>
                    </a:ext>
                  </a:extLst>
                </a:gridCol>
              </a:tblGrid>
              <a:tr h="29511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3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5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6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#E0213.py</a:t>
                      </a:r>
                      <a:endParaRPr lang="zh-CN" sz="24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import math</a:t>
                      </a:r>
                      <a:endParaRPr lang="zh-CN" sz="24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a = float(input('</a:t>
                      </a:r>
                      <a:r>
                        <a:rPr lang="zh-CN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输入直角三角形第</a:t>
                      </a: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条边长：</a:t>
                      </a: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'))</a:t>
                      </a:r>
                      <a:endParaRPr lang="zh-CN" sz="24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b = float(input('</a:t>
                      </a:r>
                      <a:r>
                        <a:rPr lang="zh-CN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输入直角三角形第</a:t>
                      </a: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条边长：</a:t>
                      </a: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'))</a:t>
                      </a:r>
                      <a:endParaRPr lang="zh-CN" sz="24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c = math.sqrt(a*a + b*b)</a:t>
                      </a:r>
                      <a:endParaRPr lang="zh-CN" sz="24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print('</a:t>
                      </a: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</a:rPr>
                        <a:t>直角</a:t>
                      </a:r>
                      <a:r>
                        <a:rPr lang="zh-CN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三角形的第</a:t>
                      </a: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条边长为：</a:t>
                      </a: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', c)</a:t>
                      </a:r>
                      <a:endParaRPr lang="zh-CN" sz="24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#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【顺序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计算直角三角形边长】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# 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导入标准模块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数学计算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# 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输入边长，转换成浮点数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# 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输入边长，转换成浮点数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# 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调用数学开方函数计算边长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# 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打印计算值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029305"/>
                  </a:ext>
                </a:extLst>
              </a:tr>
              <a:tr h="20063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indent="2286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输入直角三角形第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条边长：</a:t>
                      </a: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3</a:t>
                      </a:r>
                      <a:endParaRPr lang="zh-CN" sz="2400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输入直角三角形第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条边长：</a:t>
                      </a: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</a:t>
                      </a:r>
                      <a:endParaRPr lang="zh-CN" sz="2400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直角三角形的第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条边长为：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 5.0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# 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程序运行结果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184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4177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F72E73-1562-F9FD-5D97-25CEB668C298}"/>
              </a:ext>
            </a:extLst>
          </p:cNvPr>
          <p:cNvSpPr txBox="1"/>
          <p:nvPr/>
        </p:nvSpPr>
        <p:spPr>
          <a:xfrm>
            <a:off x="0" y="152400"/>
            <a:ext cx="10711544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基本语法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选择控制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EB2E85B-9027-88C6-F03C-65F1A043F4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2447" b="2447"/>
          <a:stretch/>
        </p:blipFill>
        <p:spPr>
          <a:xfrm>
            <a:off x="2699657" y="2052531"/>
            <a:ext cx="5950275" cy="444905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EC1FA89-6677-22BC-88E3-2630FD7C847D}"/>
              </a:ext>
            </a:extLst>
          </p:cNvPr>
          <p:cNvSpPr txBox="1"/>
          <p:nvPr/>
        </p:nvSpPr>
        <p:spPr>
          <a:xfrm>
            <a:off x="285750" y="909530"/>
            <a:ext cx="11620500" cy="1794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条件表达式只能执行一个分支语句块，不能同时执行两个语句块。</a:t>
            </a:r>
          </a:p>
        </p:txBody>
      </p:sp>
    </p:spTree>
    <p:extLst>
      <p:ext uri="{BB962C8B-B14F-4D97-AF65-F5344CB8AC3E}">
        <p14:creationId xmlns:p14="http://schemas.microsoft.com/office/powerpoint/2010/main" val="3955210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F72E73-1562-F9FD-5D97-25CEB668C298}"/>
              </a:ext>
            </a:extLst>
          </p:cNvPr>
          <p:cNvSpPr txBox="1"/>
          <p:nvPr/>
        </p:nvSpPr>
        <p:spPr>
          <a:xfrm>
            <a:off x="0" y="152400"/>
            <a:ext cx="10711544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基本语法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选择控制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C1FA89-6677-22BC-88E3-2630FD7C847D}"/>
              </a:ext>
            </a:extLst>
          </p:cNvPr>
          <p:cNvSpPr txBox="1"/>
          <p:nvPr/>
        </p:nvSpPr>
        <p:spPr>
          <a:xfrm>
            <a:off x="122464" y="650639"/>
            <a:ext cx="11620500" cy="871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【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例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】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利用分支选择结构，判断学生成绩等级。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92CEEB4-D6B4-9229-B2BF-F059D0E6E31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0620" b="49824"/>
          <a:stretch/>
        </p:blipFill>
        <p:spPr>
          <a:xfrm>
            <a:off x="543827" y="1634696"/>
            <a:ext cx="4811945" cy="310058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D845071-784B-D1A0-B772-C33931A5EE2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5723" t="-2483" r="4898" b="-200"/>
          <a:stretch/>
        </p:blipFill>
        <p:spPr>
          <a:xfrm>
            <a:off x="6346371" y="1245503"/>
            <a:ext cx="4256314" cy="561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789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F72E73-1562-F9FD-5D97-25CEB668C298}"/>
              </a:ext>
            </a:extLst>
          </p:cNvPr>
          <p:cNvSpPr txBox="1"/>
          <p:nvPr/>
        </p:nvSpPr>
        <p:spPr>
          <a:xfrm>
            <a:off x="0" y="152400"/>
            <a:ext cx="10711544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基本语法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循环控制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C1FA89-6677-22BC-88E3-2630FD7C847D}"/>
              </a:ext>
            </a:extLst>
          </p:cNvPr>
          <p:cNvSpPr txBox="1"/>
          <p:nvPr/>
        </p:nvSpPr>
        <p:spPr>
          <a:xfrm>
            <a:off x="122464" y="650639"/>
            <a:ext cx="11620500" cy="3641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1" indent="-571500" algn="l" defTabSz="914400" rtl="0" eaLnBrk="1" fontAlgn="auto" latinLnBrk="0" hangingPunct="1">
              <a:lnSpc>
                <a:spcPct val="15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循环就是重复执行一部分语句块（循环体），直到满足条件时结束循环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571500" marR="0" lvl="1" indent="-571500" algn="l" defTabSz="914400" rtl="0" eaLnBrk="1" fontAlgn="auto" latinLnBrk="0" hangingPunct="1">
              <a:lnSpc>
                <a:spcPct val="15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for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循环：用于循环次数确定的情况；</a:t>
            </a:r>
          </a:p>
          <a:p>
            <a:pPr marL="571500" marR="0" lvl="1" indent="-571500" algn="l" defTabSz="914400" rtl="0" eaLnBrk="1" fontAlgn="auto" latinLnBrk="0" hangingPunct="1">
              <a:lnSpc>
                <a:spcPct val="15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while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循环：用于循环次数不确定的情况。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C8726CC-EE27-B8AA-1461-73D48B2E9DFE}"/>
              </a:ext>
            </a:extLst>
          </p:cNvPr>
          <p:cNvGraphicFramePr>
            <a:graphicFrameLocks noGrp="1"/>
          </p:cNvGraphicFramePr>
          <p:nvPr/>
        </p:nvGraphicFramePr>
        <p:xfrm>
          <a:off x="181482" y="4631009"/>
          <a:ext cx="11829035" cy="1284796"/>
        </p:xfrm>
        <a:graphic>
          <a:graphicData uri="http://schemas.openxmlformats.org/drawingml/2006/table">
            <a:tbl>
              <a:tblPr firstRow="1" firstCol="1" bandRow="1"/>
              <a:tblGrid>
                <a:gridCol w="595768">
                  <a:extLst>
                    <a:ext uri="{9D8B030D-6E8A-4147-A177-3AD203B41FA5}">
                      <a16:colId xmlns:a16="http://schemas.microsoft.com/office/drawing/2014/main" val="989482426"/>
                    </a:ext>
                  </a:extLst>
                </a:gridCol>
                <a:gridCol w="4430229">
                  <a:extLst>
                    <a:ext uri="{9D8B030D-6E8A-4147-A177-3AD203B41FA5}">
                      <a16:colId xmlns:a16="http://schemas.microsoft.com/office/drawing/2014/main" val="1562173214"/>
                    </a:ext>
                  </a:extLst>
                </a:gridCol>
                <a:gridCol w="6803038">
                  <a:extLst>
                    <a:ext uri="{9D8B030D-6E8A-4147-A177-3AD203B41FA5}">
                      <a16:colId xmlns:a16="http://schemas.microsoft.com/office/drawing/2014/main" val="3655679500"/>
                    </a:ext>
                  </a:extLst>
                </a:gridCol>
              </a:tblGrid>
              <a:tr h="9475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0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for </a:t>
                      </a:r>
                      <a:r>
                        <a:rPr lang="zh-CN" sz="30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临时变量</a:t>
                      </a:r>
                      <a:r>
                        <a:rPr lang="en-US" sz="30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in </a:t>
                      </a:r>
                      <a:r>
                        <a:rPr lang="zh-CN" sz="30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序列</a:t>
                      </a:r>
                      <a:r>
                        <a:rPr lang="en-US" sz="30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:</a:t>
                      </a:r>
                      <a:endParaRPr lang="zh-CN" sz="3000" b="1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0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zh-CN" sz="30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循环</a:t>
                      </a:r>
                      <a:r>
                        <a:rPr lang="zh-CN" altLang="en-US" sz="30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体</a:t>
                      </a:r>
                      <a:endParaRPr lang="zh-CN" sz="3000" b="1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3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将序列中每个元素逐个代入临时变量</a:t>
                      </a:r>
                      <a:endParaRPr lang="zh-CN" sz="3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3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临时变量在这里起到迭代变量的作用</a:t>
                      </a:r>
                      <a:endParaRPr lang="zh-CN" sz="3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2710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549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806DB41-7D25-FFCF-8031-F9B4A5A374EF}"/>
              </a:ext>
            </a:extLst>
          </p:cNvPr>
          <p:cNvGraphicFramePr>
            <a:graphicFrameLocks noGrp="1"/>
          </p:cNvGraphicFramePr>
          <p:nvPr/>
        </p:nvGraphicFramePr>
        <p:xfrm>
          <a:off x="0" y="1037775"/>
          <a:ext cx="12311742" cy="1289431"/>
        </p:xfrm>
        <a:graphic>
          <a:graphicData uri="http://schemas.openxmlformats.org/drawingml/2006/table">
            <a:tbl>
              <a:tblPr firstRow="1" firstCol="1" bandRow="1"/>
              <a:tblGrid>
                <a:gridCol w="618451">
                  <a:extLst>
                    <a:ext uri="{9D8B030D-6E8A-4147-A177-3AD203B41FA5}">
                      <a16:colId xmlns:a16="http://schemas.microsoft.com/office/drawing/2014/main" val="3521242769"/>
                    </a:ext>
                  </a:extLst>
                </a:gridCol>
                <a:gridCol w="3352649">
                  <a:extLst>
                    <a:ext uri="{9D8B030D-6E8A-4147-A177-3AD203B41FA5}">
                      <a16:colId xmlns:a16="http://schemas.microsoft.com/office/drawing/2014/main" val="1626948732"/>
                    </a:ext>
                  </a:extLst>
                </a:gridCol>
                <a:gridCol w="8340642">
                  <a:extLst>
                    <a:ext uri="{9D8B030D-6E8A-4147-A177-3AD203B41FA5}">
                      <a16:colId xmlns:a16="http://schemas.microsoft.com/office/drawing/2014/main" val="3312493746"/>
                    </a:ext>
                  </a:extLst>
                </a:gridCol>
              </a:tblGrid>
              <a:tr h="91662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sz="3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sz="3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0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while </a:t>
                      </a:r>
                      <a:r>
                        <a:rPr lang="zh-CN" sz="30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条件表达式</a:t>
                      </a:r>
                      <a:r>
                        <a:rPr lang="en-US" sz="30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:</a:t>
                      </a:r>
                      <a:endParaRPr lang="zh-CN" sz="3000" b="1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algn="just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0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zh-CN" sz="30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循环</a:t>
                      </a:r>
                      <a:r>
                        <a:rPr lang="zh-CN" altLang="en-US" sz="30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体</a:t>
                      </a:r>
                      <a:endParaRPr lang="zh-CN" sz="3000" b="1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3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如果条件表达式</a:t>
                      </a:r>
                      <a:r>
                        <a:rPr lang="en-US" sz="3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=True</a:t>
                      </a:r>
                      <a:r>
                        <a:rPr lang="zh-CN" sz="3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，则执行循环</a:t>
                      </a:r>
                      <a:r>
                        <a:rPr lang="zh-CN" altLang="en-US" sz="3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体</a:t>
                      </a:r>
                      <a:r>
                        <a:rPr lang="zh-CN" sz="3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语句块</a:t>
                      </a:r>
                      <a:endParaRPr lang="zh-CN" sz="3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3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如果条件表达式</a:t>
                      </a:r>
                      <a:r>
                        <a:rPr lang="en-US" sz="3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=False</a:t>
                      </a:r>
                      <a:r>
                        <a:rPr lang="zh-CN" sz="3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，则结束循环</a:t>
                      </a:r>
                      <a:r>
                        <a:rPr lang="zh-CN" altLang="en-US" sz="3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体</a:t>
                      </a:r>
                      <a:r>
                        <a:rPr lang="zh-CN" sz="3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语句块</a:t>
                      </a:r>
                      <a:endParaRPr lang="zh-CN" sz="3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4968717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192C86A5-ABA7-7EB0-FA69-8CEC58BEB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02" y="2509453"/>
            <a:ext cx="11309697" cy="428343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16695B6-6538-8BEF-2EB4-2656B61A86A0}"/>
              </a:ext>
            </a:extLst>
          </p:cNvPr>
          <p:cNvSpPr txBox="1"/>
          <p:nvPr/>
        </p:nvSpPr>
        <p:spPr>
          <a:xfrm>
            <a:off x="0" y="152400"/>
            <a:ext cx="10711544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基本语法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循环控制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428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F16695B6-6538-8BEF-2EB4-2656B61A86A0}"/>
              </a:ext>
            </a:extLst>
          </p:cNvPr>
          <p:cNvSpPr txBox="1"/>
          <p:nvPr/>
        </p:nvSpPr>
        <p:spPr>
          <a:xfrm>
            <a:off x="0" y="152400"/>
            <a:ext cx="10711544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基本语法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函数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F9BC5D1-7225-0D1F-ED8E-46E4CF82ACEE}"/>
              </a:ext>
            </a:extLst>
          </p:cNvPr>
          <p:cNvGraphicFramePr>
            <a:graphicFrameLocks noGrp="1"/>
          </p:cNvGraphicFramePr>
          <p:nvPr/>
        </p:nvGraphicFramePr>
        <p:xfrm>
          <a:off x="0" y="909530"/>
          <a:ext cx="12813043" cy="2122714"/>
        </p:xfrm>
        <a:graphic>
          <a:graphicData uri="http://schemas.openxmlformats.org/drawingml/2006/table">
            <a:tbl>
              <a:tblPr firstRow="1" firstCol="1" bandRow="1"/>
              <a:tblGrid>
                <a:gridCol w="569680">
                  <a:extLst>
                    <a:ext uri="{9D8B030D-6E8A-4147-A177-3AD203B41FA5}">
                      <a16:colId xmlns:a16="http://schemas.microsoft.com/office/drawing/2014/main" val="203876359"/>
                    </a:ext>
                  </a:extLst>
                </a:gridCol>
                <a:gridCol w="2881091">
                  <a:extLst>
                    <a:ext uri="{9D8B030D-6E8A-4147-A177-3AD203B41FA5}">
                      <a16:colId xmlns:a16="http://schemas.microsoft.com/office/drawing/2014/main" val="3242318505"/>
                    </a:ext>
                  </a:extLst>
                </a:gridCol>
                <a:gridCol w="9362272">
                  <a:extLst>
                    <a:ext uri="{9D8B030D-6E8A-4147-A177-3AD203B41FA5}">
                      <a16:colId xmlns:a16="http://schemas.microsoft.com/office/drawing/2014/main" val="1074176313"/>
                    </a:ext>
                  </a:extLst>
                </a:gridCol>
              </a:tblGrid>
              <a:tr h="212271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sz="2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sz="2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sz="2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def </a:t>
                      </a:r>
                      <a:r>
                        <a:rPr lang="zh-CN" sz="26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函数名</a:t>
                      </a:r>
                      <a:r>
                        <a:rPr lang="en-US" sz="26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sz="26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形参</a:t>
                      </a:r>
                      <a:r>
                        <a:rPr lang="en-US" sz="26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26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：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zh-CN" sz="26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函数体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   return </a:t>
                      </a:r>
                      <a:r>
                        <a:rPr lang="zh-CN" sz="26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返回值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def</a:t>
                      </a:r>
                      <a:r>
                        <a:rPr lang="zh-CN" sz="2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为定义函数；形参为接收数据的变量名；行尾为冒号：</a:t>
                      </a:r>
                      <a:endParaRPr lang="zh-CN" sz="2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函数执行主体，比</a:t>
                      </a:r>
                      <a:r>
                        <a:rPr lang="en-US" sz="2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def</a:t>
                      </a:r>
                      <a:r>
                        <a:rPr lang="zh-CN" sz="2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缩进</a:t>
                      </a:r>
                      <a:r>
                        <a:rPr lang="en-US" sz="2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lang="zh-CN" sz="2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个空格</a:t>
                      </a:r>
                      <a:endParaRPr lang="zh-CN" sz="2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函数结束，返回值传递给调用语句，比</a:t>
                      </a:r>
                      <a:r>
                        <a:rPr lang="en-US" sz="2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def</a:t>
                      </a:r>
                      <a:r>
                        <a:rPr lang="zh-CN" sz="2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缩进</a:t>
                      </a:r>
                      <a:r>
                        <a:rPr lang="en-US" sz="2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lang="zh-CN" sz="2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个空格</a:t>
                      </a:r>
                      <a:endParaRPr lang="zh-CN" sz="2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2416741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C1A3267B-C95E-E843-F1E2-9BC68AC60D32}"/>
              </a:ext>
            </a:extLst>
          </p:cNvPr>
          <p:cNvSpPr txBox="1"/>
          <p:nvPr/>
        </p:nvSpPr>
        <p:spPr>
          <a:xfrm>
            <a:off x="517071" y="3244333"/>
            <a:ext cx="1115785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Python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中，函数必先定义后调用；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函数调用名与定义函数名一致；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形参是接收调用语句传递过来的实参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对于位置形参，形参与实参位置和数量从左到右一一对应</a:t>
            </a:r>
            <a:r>
              <a:rPr kumimoji="0" lang="zh-CN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。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91650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F16695B6-6538-8BEF-2EB4-2656B61A86A0}"/>
              </a:ext>
            </a:extLst>
          </p:cNvPr>
          <p:cNvSpPr txBox="1"/>
          <p:nvPr/>
        </p:nvSpPr>
        <p:spPr>
          <a:xfrm>
            <a:off x="0" y="152400"/>
            <a:ext cx="10711544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基本语法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函数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A3267B-C95E-E843-F1E2-9BC68AC60D32}"/>
              </a:ext>
            </a:extLst>
          </p:cNvPr>
          <p:cNvSpPr txBox="1"/>
          <p:nvPr/>
        </p:nvSpPr>
        <p:spPr>
          <a:xfrm>
            <a:off x="4936672" y="152400"/>
            <a:ext cx="7973786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实参与形参的关系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74A8DFB-A9E1-D93A-EA7D-96A4F5EF07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823" y="909530"/>
          <a:ext cx="11972354" cy="5948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4577480" imgH="6323760" progId="Photoshop.Image.14">
                  <p:embed/>
                </p:oleObj>
              </mc:Choice>
              <mc:Fallback>
                <p:oleObj name="Image" r:id="rId2" imgW="14577480" imgH="6323760" progId="Photoshop.Image.1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B74A8DFB-A9E1-D93A-EA7D-96A4F5EF07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9823" y="909530"/>
                        <a:ext cx="11972354" cy="5948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34207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算法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C78F0790-46F1-2F7E-7D57-41B255B0E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275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n"/>
            </a:pPr>
            <a:r>
              <a:rPr lang="zh-CN" altLang="en-US" sz="6100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定义</a:t>
            </a:r>
            <a:endParaRPr lang="en-US" altLang="zh-CN" sz="6100" dirty="0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6100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6100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评价</a:t>
            </a:r>
            <a:endParaRPr lang="en-US" altLang="zh-CN" sz="6100" dirty="0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zh-CN" altLang="en-US" sz="6100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常用算法</a:t>
            </a:r>
            <a:endParaRPr lang="en-US" altLang="zh-CN" sz="6100" dirty="0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n"/>
            </a:pPr>
            <a:endParaRPr lang="en-US" altLang="zh-CN" sz="6100" dirty="0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0155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算法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C78F0790-46F1-2F7E-7D57-41B255B0E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574"/>
            <a:ext cx="10515600" cy="508462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n"/>
            </a:pPr>
            <a:r>
              <a:rPr lang="zh-CN" altLang="en-US" sz="5400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定义</a:t>
            </a:r>
            <a:r>
              <a:rPr lang="en-US" altLang="zh-CN" sz="3200" dirty="0">
                <a:latin typeface="幼圆" panose="02010509060101010101" pitchFamily="49" charset="-122"/>
                <a:ea typeface="幼圆" panose="02010509060101010101" pitchFamily="49" charset="-122"/>
              </a:rPr>
              <a:t>    </a:t>
            </a:r>
          </a:p>
          <a:p>
            <a:r>
              <a:rPr lang="en-US" altLang="zh-CN" sz="32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zh-CN" sz="40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算法</a:t>
            </a:r>
            <a:r>
              <a:rPr lang="zh-CN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是定义明确的计算步骤</a:t>
            </a:r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zh-CN" sz="40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程序</a:t>
            </a:r>
            <a:r>
              <a:rPr lang="zh-CN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是算法在计算机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中</a:t>
            </a:r>
            <a:r>
              <a:rPr lang="zh-CN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的实现</a:t>
            </a:r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177ADF-2975-5228-FE4C-D42877C0E03A}"/>
              </a:ext>
            </a:extLst>
          </p:cNvPr>
          <p:cNvSpPr/>
          <p:nvPr/>
        </p:nvSpPr>
        <p:spPr>
          <a:xfrm>
            <a:off x="5151120" y="4143474"/>
            <a:ext cx="146304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算法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4B33D24F-63DC-C277-C709-69D8CDCDF3F7}"/>
              </a:ext>
            </a:extLst>
          </p:cNvPr>
          <p:cNvSpPr/>
          <p:nvPr/>
        </p:nvSpPr>
        <p:spPr>
          <a:xfrm>
            <a:off x="1291590" y="4241215"/>
            <a:ext cx="2240280" cy="90228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9D4DC2-110C-114A-A848-6FF039E9E92A}"/>
              </a:ext>
            </a:extLst>
          </p:cNvPr>
          <p:cNvSpPr txBox="1"/>
          <p:nvPr/>
        </p:nvSpPr>
        <p:spPr>
          <a:xfrm>
            <a:off x="1417320" y="4363134"/>
            <a:ext cx="224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值，集合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7D8F73D-8C98-4FD7-97CD-62E9CC209E08}"/>
              </a:ext>
            </a:extLst>
          </p:cNvPr>
          <p:cNvSpPr/>
          <p:nvPr/>
        </p:nvSpPr>
        <p:spPr>
          <a:xfrm>
            <a:off x="8256270" y="4210735"/>
            <a:ext cx="2240280" cy="90228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E5CE8AA-2E6F-E3EA-8649-32572E8B21E8}"/>
              </a:ext>
            </a:extLst>
          </p:cNvPr>
          <p:cNvSpPr txBox="1"/>
          <p:nvPr/>
        </p:nvSpPr>
        <p:spPr>
          <a:xfrm>
            <a:off x="8382000" y="4332654"/>
            <a:ext cx="224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值，集合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E4DDD3A2-A9E6-0DC4-76AD-3CC7CA348219}"/>
              </a:ext>
            </a:extLst>
          </p:cNvPr>
          <p:cNvSpPr/>
          <p:nvPr/>
        </p:nvSpPr>
        <p:spPr>
          <a:xfrm>
            <a:off x="3693795" y="4363134"/>
            <a:ext cx="1200150" cy="655320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5E8F608B-83DC-203B-5600-A86E0EB42888}"/>
              </a:ext>
            </a:extLst>
          </p:cNvPr>
          <p:cNvSpPr/>
          <p:nvPr/>
        </p:nvSpPr>
        <p:spPr>
          <a:xfrm>
            <a:off x="6863715" y="4323664"/>
            <a:ext cx="1200150" cy="655320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9DADD89-71C5-5E66-2CA2-F8E95FE18CF4}"/>
              </a:ext>
            </a:extLst>
          </p:cNvPr>
          <p:cNvSpPr txBox="1"/>
          <p:nvPr/>
        </p:nvSpPr>
        <p:spPr>
          <a:xfrm>
            <a:off x="3568065" y="3918049"/>
            <a:ext cx="1200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输入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8141EC7-B6F3-A939-11A4-489047556FE5}"/>
              </a:ext>
            </a:extLst>
          </p:cNvPr>
          <p:cNvSpPr txBox="1"/>
          <p:nvPr/>
        </p:nvSpPr>
        <p:spPr>
          <a:xfrm>
            <a:off x="6806565" y="3887569"/>
            <a:ext cx="1200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输出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86FE077-DBFE-ABDE-B160-D424398E2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5398607"/>
            <a:ext cx="1486256" cy="1310714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67F34A9E-2B5D-D615-8316-B7D9ED6051AD}"/>
              </a:ext>
            </a:extLst>
          </p:cNvPr>
          <p:cNvSpPr/>
          <p:nvPr/>
        </p:nvSpPr>
        <p:spPr>
          <a:xfrm>
            <a:off x="5193030" y="5655849"/>
            <a:ext cx="1200150" cy="646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程序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5CA7F05-94CA-9A9D-4B3A-34105D86C857}"/>
              </a:ext>
            </a:extLst>
          </p:cNvPr>
          <p:cNvSpPr/>
          <p:nvPr/>
        </p:nvSpPr>
        <p:spPr>
          <a:xfrm>
            <a:off x="1680210" y="5521815"/>
            <a:ext cx="146304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算法</a:t>
            </a: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6A7E8B6B-ACDF-5F2D-0270-A545E6033926}"/>
              </a:ext>
            </a:extLst>
          </p:cNvPr>
          <p:cNvSpPr/>
          <p:nvPr/>
        </p:nvSpPr>
        <p:spPr>
          <a:xfrm>
            <a:off x="3568065" y="5689891"/>
            <a:ext cx="1200150" cy="655320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56B244E6-260F-CE51-A8CA-81880619B733}"/>
              </a:ext>
            </a:extLst>
          </p:cNvPr>
          <p:cNvSpPr/>
          <p:nvPr/>
        </p:nvSpPr>
        <p:spPr>
          <a:xfrm>
            <a:off x="6863715" y="5689891"/>
            <a:ext cx="1200150" cy="655320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057A64A-AC87-1C35-F654-AAC283878051}"/>
              </a:ext>
            </a:extLst>
          </p:cNvPr>
          <p:cNvSpPr txBox="1"/>
          <p:nvPr/>
        </p:nvSpPr>
        <p:spPr>
          <a:xfrm>
            <a:off x="3527286" y="5192075"/>
            <a:ext cx="1200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编程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2FC640-1C62-CE85-2A17-6BB98F6891FD}"/>
              </a:ext>
            </a:extLst>
          </p:cNvPr>
          <p:cNvSpPr/>
          <p:nvPr/>
        </p:nvSpPr>
        <p:spPr>
          <a:xfrm>
            <a:off x="8006715" y="331521"/>
            <a:ext cx="3874770" cy="28792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394304C-D69B-4450-E5E9-1582850D6D60}"/>
              </a:ext>
            </a:extLst>
          </p:cNvPr>
          <p:cNvSpPr txBox="1"/>
          <p:nvPr/>
        </p:nvSpPr>
        <p:spPr>
          <a:xfrm>
            <a:off x="8006715" y="207954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算法：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877DBE8-16CE-131F-D32F-7F547CE2FC79}"/>
              </a:ext>
            </a:extLst>
          </p:cNvPr>
          <p:cNvSpPr txBox="1"/>
          <p:nvPr/>
        </p:nvSpPr>
        <p:spPr>
          <a:xfrm>
            <a:off x="8063865" y="831445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第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1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步：执行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XXX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B3F558E-C994-C5F0-E8C4-0E7DF3281D61}"/>
              </a:ext>
            </a:extLst>
          </p:cNvPr>
          <p:cNvSpPr txBox="1"/>
          <p:nvPr/>
        </p:nvSpPr>
        <p:spPr>
          <a:xfrm>
            <a:off x="8084978" y="1482297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第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2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步：执行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XXX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7C7FA32-1F49-C810-71A4-FE2F9E5663DA}"/>
              </a:ext>
            </a:extLst>
          </p:cNvPr>
          <p:cNvSpPr txBox="1"/>
          <p:nvPr/>
        </p:nvSpPr>
        <p:spPr>
          <a:xfrm>
            <a:off x="8106091" y="2099759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第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3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步：执行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XXX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F859E8B-6341-69C5-2E57-457747F7D84C}"/>
              </a:ext>
            </a:extLst>
          </p:cNvPr>
          <p:cNvSpPr txBox="1"/>
          <p:nvPr/>
        </p:nvSpPr>
        <p:spPr>
          <a:xfrm>
            <a:off x="9138403" y="2404497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。。。。</a:t>
            </a:r>
          </a:p>
        </p:txBody>
      </p:sp>
    </p:spTree>
    <p:extLst>
      <p:ext uri="{BB962C8B-B14F-4D97-AF65-F5344CB8AC3E}">
        <p14:creationId xmlns:p14="http://schemas.microsoft.com/office/powerpoint/2010/main" val="3981401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算法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C78F0790-46F1-2F7E-7D57-41B255B0E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574"/>
            <a:ext cx="10515600" cy="508462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n"/>
            </a:pPr>
            <a:r>
              <a:rPr lang="zh-CN" altLang="en-US" sz="5400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特征</a:t>
            </a:r>
            <a:r>
              <a:rPr lang="en-US" altLang="zh-CN" sz="3200" dirty="0">
                <a:latin typeface="幼圆" panose="02010509060101010101" pitchFamily="49" charset="-122"/>
                <a:ea typeface="幼圆" panose="02010509060101010101" pitchFamily="49" charset="-122"/>
              </a:rPr>
              <a:t>    </a:t>
            </a:r>
          </a:p>
          <a:p>
            <a:pPr marL="0" indent="0">
              <a:buNone/>
            </a:pP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（</a:t>
            </a:r>
            <a:r>
              <a:rPr lang="en-US" altLang="zh-CN" sz="3200" dirty="0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）有穷性。有开始和结束，有穷步后结束。</a:t>
            </a:r>
          </a:p>
          <a:p>
            <a:pPr marL="0" indent="0">
              <a:buNone/>
            </a:pP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（</a:t>
            </a:r>
            <a:r>
              <a:rPr lang="en-US" altLang="zh-CN" sz="3200" dirty="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）确定性。只有一条执行路径。</a:t>
            </a:r>
          </a:p>
          <a:p>
            <a:pPr marL="0" indent="0">
              <a:buNone/>
            </a:pP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（</a:t>
            </a:r>
            <a:r>
              <a:rPr lang="en-US" altLang="zh-CN" sz="3200" dirty="0"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）可行性。操作通过基本运算实现。</a:t>
            </a:r>
          </a:p>
          <a:p>
            <a:pPr marL="0" indent="0">
              <a:buNone/>
            </a:pP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（</a:t>
            </a:r>
            <a:r>
              <a:rPr lang="en-US" altLang="zh-CN" sz="3200" dirty="0">
                <a:latin typeface="幼圆" panose="02010509060101010101" pitchFamily="49" charset="-122"/>
                <a:ea typeface="幼圆" panose="02010509060101010101" pitchFamily="49" charset="-122"/>
              </a:rPr>
              <a:t>4</a:t>
            </a: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）输入。有</a:t>
            </a:r>
            <a:r>
              <a:rPr lang="en-US" altLang="zh-CN" sz="3200" dirty="0">
                <a:latin typeface="幼圆" panose="02010509060101010101" pitchFamily="49" charset="-122"/>
                <a:ea typeface="幼圆" panose="02010509060101010101" pitchFamily="49" charset="-122"/>
              </a:rPr>
              <a:t>0</a:t>
            </a: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个或多个输入。</a:t>
            </a:r>
          </a:p>
          <a:p>
            <a:pPr marL="0" indent="0">
              <a:buNone/>
            </a:pP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（</a:t>
            </a:r>
            <a:r>
              <a:rPr lang="en-US" altLang="zh-CN" sz="3200" dirty="0">
                <a:latin typeface="幼圆" panose="02010509060101010101" pitchFamily="49" charset="-122"/>
                <a:ea typeface="幼圆" panose="02010509060101010101" pitchFamily="49" charset="-122"/>
              </a:rPr>
              <a:t>5</a:t>
            </a: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）输出。有</a:t>
            </a:r>
            <a:r>
              <a:rPr lang="en-US" altLang="zh-CN" sz="3200" dirty="0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个或多个输出；</a:t>
            </a:r>
          </a:p>
          <a:p>
            <a:pPr marL="0" indent="0">
              <a:buNone/>
            </a:pP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 不同输入有不同输出，相同输入产生相同输出</a:t>
            </a:r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D64B72AA-1E48-8D3B-0D77-572AF59BD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6761" y="115022"/>
            <a:ext cx="3265239" cy="518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126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>
            <a:extLst>
              <a:ext uri="{FF2B5EF4-FFF2-40B4-BE49-F238E27FC236}">
                <a16:creationId xmlns:a16="http://schemas.microsoft.com/office/drawing/2014/main" id="{A95E4898-2A77-56C1-ACBD-7AA8CFA6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算法表达形式</a:t>
            </a:r>
            <a:b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b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5F61EE1-39DF-6A73-2CB3-309DCF7289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165" r="1355" b="-1"/>
          <a:stretch/>
        </p:blipFill>
        <p:spPr>
          <a:xfrm>
            <a:off x="838200" y="2164067"/>
            <a:ext cx="3059430" cy="29792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47E4BBC-66B2-9F01-B37A-89B58B674BE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617"/>
          <a:stretch/>
        </p:blipFill>
        <p:spPr>
          <a:xfrm>
            <a:off x="4484312" y="2118006"/>
            <a:ext cx="2801514" cy="388039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24F3A7E-6932-EA90-46DA-A320DA38E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6986" y="967486"/>
            <a:ext cx="4435013" cy="574192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9ADB1D-5613-186A-ED5E-C1FA0A4D9663}"/>
              </a:ext>
            </a:extLst>
          </p:cNvPr>
          <p:cNvSpPr txBox="1"/>
          <p:nvPr/>
        </p:nvSpPr>
        <p:spPr>
          <a:xfrm>
            <a:off x="571558" y="1574322"/>
            <a:ext cx="33260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自然语言表达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F61ACA-5DEC-6983-0020-C4208A42D5E1}"/>
              </a:ext>
            </a:extLst>
          </p:cNvPr>
          <p:cNvSpPr txBox="1"/>
          <p:nvPr/>
        </p:nvSpPr>
        <p:spPr>
          <a:xfrm>
            <a:off x="4164272" y="1520849"/>
            <a:ext cx="33260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 startAt="2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伪代码表达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8FFA065-7468-C4D4-0D4C-A1FCFA9479A3}"/>
              </a:ext>
            </a:extLst>
          </p:cNvPr>
          <p:cNvSpPr txBox="1"/>
          <p:nvPr/>
        </p:nvSpPr>
        <p:spPr>
          <a:xfrm>
            <a:off x="8576945" y="406147"/>
            <a:ext cx="33260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 startAt="2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流程图表达</a:t>
            </a:r>
          </a:p>
        </p:txBody>
      </p:sp>
    </p:spTree>
    <p:extLst>
      <p:ext uri="{BB962C8B-B14F-4D97-AF65-F5344CB8AC3E}">
        <p14:creationId xmlns:p14="http://schemas.microsoft.com/office/powerpoint/2010/main" val="5433832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>
            <a:extLst>
              <a:ext uri="{FF2B5EF4-FFF2-40B4-BE49-F238E27FC236}">
                <a16:creationId xmlns:a16="http://schemas.microsoft.com/office/drawing/2014/main" id="{A95E4898-2A77-56C1-ACBD-7AA8CFA6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算法评估</a:t>
            </a:r>
            <a:b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b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F61ACA-5DEC-6983-0020-C4208A42D5E1}"/>
              </a:ext>
            </a:extLst>
          </p:cNvPr>
          <p:cNvSpPr txBox="1"/>
          <p:nvPr/>
        </p:nvSpPr>
        <p:spPr>
          <a:xfrm>
            <a:off x="1078345" y="1690688"/>
            <a:ext cx="9100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可读性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：算法简单，则程序结构也会简单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8FFA065-7468-C4D4-0D4C-A1FCFA9479A3}"/>
              </a:ext>
            </a:extLst>
          </p:cNvPr>
          <p:cNvSpPr txBox="1"/>
          <p:nvPr/>
        </p:nvSpPr>
        <p:spPr>
          <a:xfrm>
            <a:off x="985981" y="3106153"/>
            <a:ext cx="1006994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 startAt="2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健壮性：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具有容错处理，输入的非法数据或错误操作给出提示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D3B974-C0E3-4AF4-679C-02E64F4C3516}"/>
              </a:ext>
            </a:extLst>
          </p:cNvPr>
          <p:cNvSpPr txBox="1"/>
          <p:nvPr/>
        </p:nvSpPr>
        <p:spPr>
          <a:xfrm>
            <a:off x="985982" y="4582537"/>
            <a:ext cx="1036781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 startAt="3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复杂度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：运行时所需资源，“时间复杂度”和“空间复杂度”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93121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>
            <a:extLst>
              <a:ext uri="{FF2B5EF4-FFF2-40B4-BE49-F238E27FC236}">
                <a16:creationId xmlns:a16="http://schemas.microsoft.com/office/drawing/2014/main" id="{A95E4898-2A77-56C1-ACBD-7AA8CFA6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算法评估</a:t>
            </a:r>
            <a:b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b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D3B974-C0E3-4AF4-679C-02E64F4C3516}"/>
              </a:ext>
            </a:extLst>
          </p:cNvPr>
          <p:cNvSpPr txBox="1"/>
          <p:nvPr/>
        </p:nvSpPr>
        <p:spPr>
          <a:xfrm>
            <a:off x="985982" y="1563747"/>
            <a:ext cx="103678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时间复杂度：为常数，记作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T(n)=O(1)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5EBE974-8430-82FF-4A9F-42D1904DBB58}"/>
              </a:ext>
            </a:extLst>
          </p:cNvPr>
          <p:cNvGraphicFramePr>
            <a:graphicFrameLocks noGrp="1"/>
          </p:cNvGraphicFramePr>
          <p:nvPr/>
        </p:nvGraphicFramePr>
        <p:xfrm>
          <a:off x="985982" y="2211637"/>
          <a:ext cx="11720352" cy="3763772"/>
        </p:xfrm>
        <a:graphic>
          <a:graphicData uri="http://schemas.openxmlformats.org/drawingml/2006/table">
            <a:tbl>
              <a:tblPr firstRow="1" firstCol="1" bandRow="1"/>
              <a:tblGrid>
                <a:gridCol w="430031">
                  <a:extLst>
                    <a:ext uri="{9D8B030D-6E8A-4147-A177-3AD203B41FA5}">
                      <a16:colId xmlns:a16="http://schemas.microsoft.com/office/drawing/2014/main" val="3050183307"/>
                    </a:ext>
                  </a:extLst>
                </a:gridCol>
                <a:gridCol w="6367801">
                  <a:extLst>
                    <a:ext uri="{9D8B030D-6E8A-4147-A177-3AD203B41FA5}">
                      <a16:colId xmlns:a16="http://schemas.microsoft.com/office/drawing/2014/main" val="1311408249"/>
                    </a:ext>
                  </a:extLst>
                </a:gridCol>
                <a:gridCol w="4922520">
                  <a:extLst>
                    <a:ext uri="{9D8B030D-6E8A-4147-A177-3AD203B41FA5}">
                      <a16:colId xmlns:a16="http://schemas.microsoft.com/office/drawing/2014/main" val="29270095"/>
                    </a:ext>
                  </a:extLst>
                </a:gridCol>
              </a:tblGrid>
              <a:tr h="27435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#E0405.py</a:t>
                      </a:r>
                      <a:endParaRPr lang="zh-CN" sz="28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import math</a:t>
                      </a:r>
                      <a:endParaRPr lang="zh-CN" sz="28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= int(input("</a:t>
                      </a:r>
                      <a:r>
                        <a:rPr lang="zh-CN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输入直角第</a:t>
                      </a: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条边长：</a:t>
                      </a: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"));</a:t>
                      </a:r>
                      <a:endParaRPr lang="zh-CN" sz="28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 = int(input("</a:t>
                      </a:r>
                      <a:r>
                        <a:rPr lang="zh-CN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输入直角第</a:t>
                      </a: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条边长：</a:t>
                      </a: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"));</a:t>
                      </a:r>
                      <a:endParaRPr lang="zh-CN" sz="28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 = math.sqrt(a*a+b*b)</a:t>
                      </a:r>
                      <a:endParaRPr lang="zh-CN" sz="28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print("</a:t>
                      </a:r>
                      <a:r>
                        <a:rPr lang="zh-CN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条直角边长为：</a:t>
                      </a: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", c)</a:t>
                      </a:r>
                      <a:endParaRPr lang="zh-CN" sz="28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【计算直角三角形边长】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导入数学模块计算频度</a:t>
                      </a: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=1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次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输入取整，计算频度</a:t>
                      </a: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=1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次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输入取整，计算频度</a:t>
                      </a: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=1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次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计算边长，计算频度</a:t>
                      </a: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=1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次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输出计算值，计算频度</a:t>
                      </a: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=1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次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0966961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D46618E7-70A6-C5D0-FFDF-D6D9ADB6069E}"/>
              </a:ext>
            </a:extLst>
          </p:cNvPr>
          <p:cNvSpPr txBox="1"/>
          <p:nvPr/>
        </p:nvSpPr>
        <p:spPr>
          <a:xfrm>
            <a:off x="1340312" y="5975409"/>
            <a:ext cx="119413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*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没有循环或不随问题规模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n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而增长，复杂度为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O(1)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49202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>
            <a:extLst>
              <a:ext uri="{FF2B5EF4-FFF2-40B4-BE49-F238E27FC236}">
                <a16:creationId xmlns:a16="http://schemas.microsoft.com/office/drawing/2014/main" id="{A95E4898-2A77-56C1-ACBD-7AA8CFA6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算法评估</a:t>
            </a:r>
            <a:b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b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D3B974-C0E3-4AF4-679C-02E64F4C3516}"/>
              </a:ext>
            </a:extLst>
          </p:cNvPr>
          <p:cNvSpPr txBox="1"/>
          <p:nvPr/>
        </p:nvSpPr>
        <p:spPr>
          <a:xfrm>
            <a:off x="985982" y="1563747"/>
            <a:ext cx="103678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时间复杂度：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T(n)=O(n2)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6618E7-70A6-C5D0-FFDF-D6D9ADB6069E}"/>
              </a:ext>
            </a:extLst>
          </p:cNvPr>
          <p:cNvSpPr txBox="1"/>
          <p:nvPr/>
        </p:nvSpPr>
        <p:spPr>
          <a:xfrm>
            <a:off x="838200" y="5124747"/>
            <a:ext cx="119413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* </a:t>
            </a:r>
            <a:r>
              <a:rPr kumimoji="0" lang="pt-BR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T(n)=n+n2+n2=O(n2)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5D3AA7F-1E61-9BEE-A9E3-72F424259607}"/>
              </a:ext>
            </a:extLst>
          </p:cNvPr>
          <p:cNvGraphicFramePr>
            <a:graphicFrameLocks noGrp="1"/>
          </p:cNvGraphicFramePr>
          <p:nvPr/>
        </p:nvGraphicFramePr>
        <p:xfrm>
          <a:off x="579120" y="2544314"/>
          <a:ext cx="11612880" cy="1950720"/>
        </p:xfrm>
        <a:graphic>
          <a:graphicData uri="http://schemas.openxmlformats.org/drawingml/2006/table">
            <a:tbl>
              <a:tblPr firstRow="1" firstCol="1" bandRow="1"/>
              <a:tblGrid>
                <a:gridCol w="494544">
                  <a:extLst>
                    <a:ext uri="{9D8B030D-6E8A-4147-A177-3AD203B41FA5}">
                      <a16:colId xmlns:a16="http://schemas.microsoft.com/office/drawing/2014/main" val="1892067642"/>
                    </a:ext>
                  </a:extLst>
                </a:gridCol>
                <a:gridCol w="4538466">
                  <a:extLst>
                    <a:ext uri="{9D8B030D-6E8A-4147-A177-3AD203B41FA5}">
                      <a16:colId xmlns:a16="http://schemas.microsoft.com/office/drawing/2014/main" val="3162441770"/>
                    </a:ext>
                  </a:extLst>
                </a:gridCol>
                <a:gridCol w="6579870">
                  <a:extLst>
                    <a:ext uri="{9D8B030D-6E8A-4147-A177-3AD203B41FA5}">
                      <a16:colId xmlns:a16="http://schemas.microsoft.com/office/drawing/2014/main" val="3852663411"/>
                    </a:ext>
                  </a:extLst>
                </a:gridCol>
              </a:tblGrid>
              <a:tr h="13395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32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#E0408.py</a:t>
                      </a:r>
                      <a:endParaRPr lang="zh-CN" sz="32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32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for i in range(1, 10):</a:t>
                      </a:r>
                      <a:endParaRPr lang="zh-CN" sz="32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32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for j in range(1, i+1):</a:t>
                      </a:r>
                      <a:endParaRPr lang="zh-CN" sz="32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32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print(i, '*', j, '=', i*j)</a:t>
                      </a:r>
                      <a:endParaRPr lang="zh-CN" sz="32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【复杂度</a:t>
                      </a: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打印乘法口诀】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外循环，</a:t>
                      </a:r>
                      <a:r>
                        <a:rPr lang="en-US" sz="280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为循环次数，计算频度</a:t>
                      </a: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=n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次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内循环，</a:t>
                      </a: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为循环次数，计算频度</a:t>
                      </a: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=n</a:t>
                      </a:r>
                      <a:r>
                        <a:rPr lang="en-US" sz="2800" kern="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次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输出</a:t>
                      </a: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i*j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值，计算频度</a:t>
                      </a: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=n</a:t>
                      </a:r>
                      <a:r>
                        <a:rPr lang="en-US" sz="2800" kern="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次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0955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74338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>
            <a:extLst>
              <a:ext uri="{FF2B5EF4-FFF2-40B4-BE49-F238E27FC236}">
                <a16:creationId xmlns:a16="http://schemas.microsoft.com/office/drawing/2014/main" id="{A95E4898-2A77-56C1-ACBD-7AA8CFA6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算法评估</a:t>
            </a:r>
            <a:b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b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D3B974-C0E3-4AF4-679C-02E64F4C3516}"/>
              </a:ext>
            </a:extLst>
          </p:cNvPr>
          <p:cNvSpPr txBox="1"/>
          <p:nvPr/>
        </p:nvSpPr>
        <p:spPr>
          <a:xfrm>
            <a:off x="985982" y="1563747"/>
            <a:ext cx="1036781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空间复杂度：算法在运行中临时占用存储空间大小的量度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  F(n)=1+1+1=3,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记作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O(1)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5D3AA7F-1E61-9BEE-A9E3-72F424259607}"/>
              </a:ext>
            </a:extLst>
          </p:cNvPr>
          <p:cNvGraphicFramePr>
            <a:graphicFrameLocks noGrp="1"/>
          </p:cNvGraphicFramePr>
          <p:nvPr/>
        </p:nvGraphicFramePr>
        <p:xfrm>
          <a:off x="1420710" y="2663281"/>
          <a:ext cx="10626897" cy="1950720"/>
        </p:xfrm>
        <a:graphic>
          <a:graphicData uri="http://schemas.openxmlformats.org/drawingml/2006/table">
            <a:tbl>
              <a:tblPr firstRow="1" firstCol="1" bandRow="1"/>
              <a:tblGrid>
                <a:gridCol w="452555">
                  <a:extLst>
                    <a:ext uri="{9D8B030D-6E8A-4147-A177-3AD203B41FA5}">
                      <a16:colId xmlns:a16="http://schemas.microsoft.com/office/drawing/2014/main" val="1892067642"/>
                    </a:ext>
                  </a:extLst>
                </a:gridCol>
                <a:gridCol w="5101270">
                  <a:extLst>
                    <a:ext uri="{9D8B030D-6E8A-4147-A177-3AD203B41FA5}">
                      <a16:colId xmlns:a16="http://schemas.microsoft.com/office/drawing/2014/main" val="3162441770"/>
                    </a:ext>
                  </a:extLst>
                </a:gridCol>
                <a:gridCol w="5073072">
                  <a:extLst>
                    <a:ext uri="{9D8B030D-6E8A-4147-A177-3AD203B41FA5}">
                      <a16:colId xmlns:a16="http://schemas.microsoft.com/office/drawing/2014/main" val="3852663411"/>
                    </a:ext>
                  </a:extLst>
                </a:gridCol>
              </a:tblGrid>
              <a:tr h="13395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32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a=0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32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b=1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32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c=2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32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print (</a:t>
                      </a:r>
                      <a:r>
                        <a:rPr lang="en-US" altLang="zh-CN" sz="3200" b="1" kern="0" dirty="0" err="1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a+b+c</a:t>
                      </a:r>
                      <a:r>
                        <a:rPr lang="en-US" altLang="zh-CN" sz="32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lang="zh-CN" sz="32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  <a:r>
                        <a:rPr lang="zh-CN" alt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局部变量</a:t>
                      </a:r>
                      <a:r>
                        <a:rPr lang="en-US" alt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  <a:r>
                        <a:rPr lang="zh-CN" alt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局部变量</a:t>
                      </a:r>
                      <a:r>
                        <a:rPr lang="en-US" alt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  <a:r>
                        <a:rPr lang="zh-CN" alt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局部变量</a:t>
                      </a:r>
                      <a:r>
                        <a:rPr lang="en-US" alt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alt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打印</a:t>
                      </a:r>
                      <a:r>
                        <a:rPr lang="en-US" altLang="zh-CN" sz="280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a+b+c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0955531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DD5DA5C1-D5AF-7977-46CD-97598F6E005F}"/>
              </a:ext>
            </a:extLst>
          </p:cNvPr>
          <p:cNvSpPr/>
          <p:nvPr/>
        </p:nvSpPr>
        <p:spPr>
          <a:xfrm>
            <a:off x="2225963" y="5600300"/>
            <a:ext cx="2041237" cy="637309"/>
          </a:xfrm>
          <a:prstGeom prst="rect">
            <a:avLst/>
          </a:prstGeom>
          <a:solidFill>
            <a:srgbClr val="E7D9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数据所占存储空间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FA941D-7F68-1A40-6DF3-944352F46A15}"/>
              </a:ext>
            </a:extLst>
          </p:cNvPr>
          <p:cNvSpPr/>
          <p:nvPr/>
        </p:nvSpPr>
        <p:spPr>
          <a:xfrm>
            <a:off x="4953291" y="5570774"/>
            <a:ext cx="2041237" cy="637309"/>
          </a:xfrm>
          <a:prstGeom prst="rect">
            <a:avLst/>
          </a:prstGeom>
          <a:solidFill>
            <a:srgbClr val="E7D9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算法本身所占空间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C41CB2-1640-1E53-3248-AD98F0A10FD3}"/>
              </a:ext>
            </a:extLst>
          </p:cNvPr>
          <p:cNvSpPr/>
          <p:nvPr/>
        </p:nvSpPr>
        <p:spPr>
          <a:xfrm>
            <a:off x="7924800" y="5569565"/>
            <a:ext cx="2041237" cy="637309"/>
          </a:xfrm>
          <a:prstGeom prst="rect">
            <a:avLst/>
          </a:prstGeom>
          <a:solidFill>
            <a:srgbClr val="E7D9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算法执行临时所占空间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C7D361C-5753-BE04-114C-32FAD4083348}"/>
              </a:ext>
            </a:extLst>
          </p:cNvPr>
          <p:cNvSpPr/>
          <p:nvPr/>
        </p:nvSpPr>
        <p:spPr>
          <a:xfrm>
            <a:off x="4953290" y="4588918"/>
            <a:ext cx="2041237" cy="637309"/>
          </a:xfrm>
          <a:prstGeom prst="rect">
            <a:avLst/>
          </a:prstGeom>
          <a:solidFill>
            <a:srgbClr val="E7D9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空间复杂度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FA6CE53-47E9-E704-5703-379CBE2A44FE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3246582" y="5226227"/>
            <a:ext cx="2230582" cy="374073"/>
          </a:xfrm>
          <a:prstGeom prst="straightConnector1">
            <a:avLst/>
          </a:prstGeom>
          <a:ln w="76200">
            <a:solidFill>
              <a:srgbClr val="843C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99B29D1-F2B4-2A01-A82B-67D341D1EEEB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>
            <a:off x="5973909" y="5226227"/>
            <a:ext cx="1" cy="344547"/>
          </a:xfrm>
          <a:prstGeom prst="straightConnector1">
            <a:avLst/>
          </a:prstGeom>
          <a:ln w="76200">
            <a:solidFill>
              <a:srgbClr val="843C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2365654-9906-CE0D-2860-BA508CA103FE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6560418" y="5226227"/>
            <a:ext cx="2385001" cy="343338"/>
          </a:xfrm>
          <a:prstGeom prst="straightConnector1">
            <a:avLst/>
          </a:prstGeom>
          <a:ln w="76200">
            <a:solidFill>
              <a:srgbClr val="843C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00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7A37981-64E5-FC4F-85CE-96B34E7C00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66256" y="1"/>
          <a:ext cx="12358255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6253640" imgH="8317440" progId="Photoshop.Image.14">
                  <p:embed/>
                </p:oleObj>
              </mc:Choice>
              <mc:Fallback>
                <p:oleObj name="Image" r:id="rId2" imgW="16253640" imgH="8317440" progId="Photoshop.Image.1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7A37981-64E5-FC4F-85CE-96B34E7C0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66256" y="1"/>
                        <a:ext cx="12358255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82195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>
            <a:extLst>
              <a:ext uri="{FF2B5EF4-FFF2-40B4-BE49-F238E27FC236}">
                <a16:creationId xmlns:a16="http://schemas.microsoft.com/office/drawing/2014/main" id="{A95E4898-2A77-56C1-ACBD-7AA8CFA6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常用算法</a:t>
            </a:r>
            <a:b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b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D3B974-C0E3-4AF4-679C-02E64F4C3516}"/>
              </a:ext>
            </a:extLst>
          </p:cNvPr>
          <p:cNvSpPr txBox="1"/>
          <p:nvPr/>
        </p:nvSpPr>
        <p:spPr>
          <a:xfrm>
            <a:off x="985982" y="1563747"/>
            <a:ext cx="1036781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迭代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递归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贪心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排序和查找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48357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>
            <a:extLst>
              <a:ext uri="{FF2B5EF4-FFF2-40B4-BE49-F238E27FC236}">
                <a16:creationId xmlns:a16="http://schemas.microsoft.com/office/drawing/2014/main" id="{A95E4898-2A77-56C1-ACBD-7AA8CFA6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常用算法</a:t>
            </a:r>
            <a:b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b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D3B974-C0E3-4AF4-679C-02E64F4C3516}"/>
              </a:ext>
            </a:extLst>
          </p:cNvPr>
          <p:cNvSpPr txBox="1"/>
          <p:nvPr/>
        </p:nvSpPr>
        <p:spPr>
          <a:xfrm>
            <a:off x="838200" y="1468574"/>
            <a:ext cx="1036781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迭代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利用变量原值推出新值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适合重复性操作，用循环实现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A45532-9CEC-5F55-5305-A76FDA35A7F6}"/>
              </a:ext>
            </a:extLst>
          </p:cNvPr>
          <p:cNvSpPr txBox="1"/>
          <p:nvPr/>
        </p:nvSpPr>
        <p:spPr>
          <a:xfrm>
            <a:off x="838200" y="3132225"/>
            <a:ext cx="109196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迭代实例：细菌繁殖问题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 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已知容器最多装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2^20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个细菌，细菌总分裂了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15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次，每次按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2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倍分裂，问：开始时容器内放了多少个细菌？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F524057-5AA0-356D-4115-A5BC31AF132F}"/>
              </a:ext>
            </a:extLst>
          </p:cNvPr>
          <p:cNvGrpSpPr/>
          <p:nvPr/>
        </p:nvGrpSpPr>
        <p:grpSpPr>
          <a:xfrm>
            <a:off x="5183041" y="5233451"/>
            <a:ext cx="498764" cy="1024046"/>
            <a:chOff x="4852554" y="5053482"/>
            <a:chExt cx="498764" cy="1024046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DD49763-CB4B-0AD6-964D-B6F9C2740F53}"/>
                </a:ext>
              </a:extLst>
            </p:cNvPr>
            <p:cNvSpPr/>
            <p:nvPr/>
          </p:nvSpPr>
          <p:spPr>
            <a:xfrm>
              <a:off x="4925291" y="5149215"/>
              <a:ext cx="353291" cy="333860"/>
            </a:xfrm>
            <a:prstGeom prst="ellipse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B9F5E42E-A80E-E70A-FF06-CA6E0C924F14}"/>
                </a:ext>
              </a:extLst>
            </p:cNvPr>
            <p:cNvSpPr/>
            <p:nvPr/>
          </p:nvSpPr>
          <p:spPr>
            <a:xfrm>
              <a:off x="4925290" y="5650005"/>
              <a:ext cx="353291" cy="333860"/>
            </a:xfrm>
            <a:prstGeom prst="ellipse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A43A2F7-4C90-D21D-1D3B-CAFCD92A6F21}"/>
                </a:ext>
              </a:extLst>
            </p:cNvPr>
            <p:cNvSpPr/>
            <p:nvPr/>
          </p:nvSpPr>
          <p:spPr>
            <a:xfrm>
              <a:off x="4852554" y="5053482"/>
              <a:ext cx="498764" cy="102404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7820DCD-B8A4-E18B-586B-62978FE8EE94}"/>
              </a:ext>
            </a:extLst>
          </p:cNvPr>
          <p:cNvGrpSpPr/>
          <p:nvPr/>
        </p:nvGrpSpPr>
        <p:grpSpPr>
          <a:xfrm>
            <a:off x="2839342" y="5436085"/>
            <a:ext cx="498764" cy="620290"/>
            <a:chOff x="1061026" y="5220411"/>
            <a:chExt cx="498764" cy="62029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EDD4A842-6A3C-CBCA-2E4B-B761E50A58B8}"/>
                </a:ext>
              </a:extLst>
            </p:cNvPr>
            <p:cNvSpPr/>
            <p:nvPr/>
          </p:nvSpPr>
          <p:spPr>
            <a:xfrm>
              <a:off x="1133763" y="5363626"/>
              <a:ext cx="353291" cy="333860"/>
            </a:xfrm>
            <a:prstGeom prst="ellipse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2E83936-799D-3E4B-000D-D96BD9271660}"/>
                </a:ext>
              </a:extLst>
            </p:cNvPr>
            <p:cNvSpPr/>
            <p:nvPr/>
          </p:nvSpPr>
          <p:spPr>
            <a:xfrm>
              <a:off x="1061026" y="5220411"/>
              <a:ext cx="498764" cy="62029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4DD9A6-7F14-6762-CA76-1E9BE866121E}"/>
              </a:ext>
            </a:extLst>
          </p:cNvPr>
          <p:cNvGrpSpPr/>
          <p:nvPr/>
        </p:nvGrpSpPr>
        <p:grpSpPr>
          <a:xfrm>
            <a:off x="7398332" y="4788627"/>
            <a:ext cx="498764" cy="2008096"/>
            <a:chOff x="6298045" y="4731574"/>
            <a:chExt cx="498764" cy="2008096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4841F1B2-4349-26D7-8A10-527B2CC51A39}"/>
                </a:ext>
              </a:extLst>
            </p:cNvPr>
            <p:cNvSpPr/>
            <p:nvPr/>
          </p:nvSpPr>
          <p:spPr>
            <a:xfrm>
              <a:off x="6336143" y="4819735"/>
              <a:ext cx="353291" cy="333860"/>
            </a:xfrm>
            <a:prstGeom prst="ellipse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B4067513-C1D0-1504-2F4E-E7247744F5BE}"/>
                </a:ext>
              </a:extLst>
            </p:cNvPr>
            <p:cNvSpPr/>
            <p:nvPr/>
          </p:nvSpPr>
          <p:spPr>
            <a:xfrm>
              <a:off x="6326906" y="5296810"/>
              <a:ext cx="353291" cy="333860"/>
            </a:xfrm>
            <a:prstGeom prst="ellipse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42B4995-8E46-8269-21AE-F1F59D5A4BEA}"/>
                </a:ext>
              </a:extLst>
            </p:cNvPr>
            <p:cNvSpPr/>
            <p:nvPr/>
          </p:nvSpPr>
          <p:spPr>
            <a:xfrm>
              <a:off x="6326906" y="5773885"/>
              <a:ext cx="353291" cy="333860"/>
            </a:xfrm>
            <a:prstGeom prst="ellipse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88423ADA-2676-EEA4-AE24-6D57ABEBD8C9}"/>
                </a:ext>
              </a:extLst>
            </p:cNvPr>
            <p:cNvSpPr/>
            <p:nvPr/>
          </p:nvSpPr>
          <p:spPr>
            <a:xfrm>
              <a:off x="6326905" y="6270220"/>
              <a:ext cx="353291" cy="333860"/>
            </a:xfrm>
            <a:prstGeom prst="ellipse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762B286-CB27-5738-C7AA-A02BFD919AFF}"/>
                </a:ext>
              </a:extLst>
            </p:cNvPr>
            <p:cNvSpPr/>
            <p:nvPr/>
          </p:nvSpPr>
          <p:spPr>
            <a:xfrm>
              <a:off x="6298045" y="4731574"/>
              <a:ext cx="498764" cy="200809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22" name="箭头: 右 21">
            <a:extLst>
              <a:ext uri="{FF2B5EF4-FFF2-40B4-BE49-F238E27FC236}">
                <a16:creationId xmlns:a16="http://schemas.microsoft.com/office/drawing/2014/main" id="{FB5DC843-1A27-6E6F-83FF-10EBA4560522}"/>
              </a:ext>
            </a:extLst>
          </p:cNvPr>
          <p:cNvSpPr/>
          <p:nvPr/>
        </p:nvSpPr>
        <p:spPr>
          <a:xfrm>
            <a:off x="3728883" y="5496114"/>
            <a:ext cx="978408" cy="484632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46B213E4-627C-FED4-9FD0-E7EB52DE5974}"/>
              </a:ext>
            </a:extLst>
          </p:cNvPr>
          <p:cNvSpPr/>
          <p:nvPr/>
        </p:nvSpPr>
        <p:spPr>
          <a:xfrm>
            <a:off x="6096000" y="5479392"/>
            <a:ext cx="978408" cy="484632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15CEA22-99BA-EA72-5ADE-916FC5819983}"/>
              </a:ext>
            </a:extLst>
          </p:cNvPr>
          <p:cNvSpPr txBox="1"/>
          <p:nvPr/>
        </p:nvSpPr>
        <p:spPr>
          <a:xfrm>
            <a:off x="3466514" y="5158593"/>
            <a:ext cx="1651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次分裂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6E521E0-37D3-4A01-DD53-3CFF09085903}"/>
              </a:ext>
            </a:extLst>
          </p:cNvPr>
          <p:cNvSpPr txBox="1"/>
          <p:nvPr/>
        </p:nvSpPr>
        <p:spPr>
          <a:xfrm>
            <a:off x="5820823" y="5139110"/>
            <a:ext cx="1651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次分裂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B130F5AF-E4FB-BBD3-9E2B-7A479F6DE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2422" y="-55423"/>
            <a:ext cx="6652954" cy="259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6560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>
            <a:extLst>
              <a:ext uri="{FF2B5EF4-FFF2-40B4-BE49-F238E27FC236}">
                <a16:creationId xmlns:a16="http://schemas.microsoft.com/office/drawing/2014/main" id="{A95E4898-2A77-56C1-ACBD-7AA8CFA6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常用算法</a:t>
            </a:r>
            <a:b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br>
            <a:endParaRPr lang="zh-CN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110A348-F8D9-9FD5-FAE5-66A39EBB521B}"/>
              </a:ext>
            </a:extLst>
          </p:cNvPr>
          <p:cNvGraphicFramePr>
            <a:graphicFrameLocks noGrp="1"/>
          </p:cNvGraphicFramePr>
          <p:nvPr/>
        </p:nvGraphicFramePr>
        <p:xfrm>
          <a:off x="706929" y="3113225"/>
          <a:ext cx="11371978" cy="3199818"/>
        </p:xfrm>
        <a:graphic>
          <a:graphicData uri="http://schemas.openxmlformats.org/drawingml/2006/table">
            <a:tbl>
              <a:tblPr firstRow="1" firstCol="1" bandRow="1"/>
              <a:tblGrid>
                <a:gridCol w="446502">
                  <a:extLst>
                    <a:ext uri="{9D8B030D-6E8A-4147-A177-3AD203B41FA5}">
                      <a16:colId xmlns:a16="http://schemas.microsoft.com/office/drawing/2014/main" val="3154226468"/>
                    </a:ext>
                  </a:extLst>
                </a:gridCol>
                <a:gridCol w="4887151">
                  <a:extLst>
                    <a:ext uri="{9D8B030D-6E8A-4147-A177-3AD203B41FA5}">
                      <a16:colId xmlns:a16="http://schemas.microsoft.com/office/drawing/2014/main" val="764396159"/>
                    </a:ext>
                  </a:extLst>
                </a:gridCol>
                <a:gridCol w="6038325">
                  <a:extLst>
                    <a:ext uri="{9D8B030D-6E8A-4147-A177-3AD203B41FA5}">
                      <a16:colId xmlns:a16="http://schemas.microsoft.com/office/drawing/2014/main" val="1172094431"/>
                    </a:ext>
                  </a:extLst>
                </a:gridCol>
              </a:tblGrid>
              <a:tr h="24006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#E0409.py</a:t>
                      </a:r>
                      <a:endParaRPr lang="zh-CN" sz="24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 = 2**20</a:t>
                      </a:r>
                      <a:endParaRPr lang="zh-CN" sz="24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for i in range(0, 15):</a:t>
                      </a:r>
                      <a:endParaRPr lang="zh-CN" sz="24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x = x / 2</a:t>
                      </a:r>
                      <a:endParaRPr lang="zh-CN" sz="24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print('</a:t>
                      </a:r>
                      <a:r>
                        <a:rPr lang="zh-CN" sz="24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初始阿米巴细菌数量为：</a:t>
                      </a:r>
                      <a:r>
                        <a:rPr lang="en-US" sz="24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', x)</a:t>
                      </a:r>
                      <a:endParaRPr lang="zh-CN" sz="24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【算法</a:t>
                      </a: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迭代计算细菌数量】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最终细菌数量赋值给</a:t>
                      </a: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（迭代初始条件）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设置循环起止条件（迭代</a:t>
                      </a: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次）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利用基本公式进行迭代计算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输出初始细菌数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779217"/>
                  </a:ext>
                </a:extLst>
              </a:tr>
              <a:tr h="5223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初始阿米巴细菌数量为： </a:t>
                      </a: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32.0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程序运行结果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09038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F592E791-4DBC-D9A3-D230-99B4FF1DDF1C}"/>
              </a:ext>
            </a:extLst>
          </p:cNvPr>
          <p:cNvSpPr txBox="1"/>
          <p:nvPr/>
        </p:nvSpPr>
        <p:spPr>
          <a:xfrm>
            <a:off x="636154" y="1358899"/>
            <a:ext cx="109196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迭代实例：细菌繁殖问题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 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已知容器最多装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2^20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个细菌，细菌总分裂了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15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次，每次按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2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倍分裂，问：开始时容器内放了多少个细菌？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64422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23392" y="111343"/>
            <a:ext cx="10972800" cy="1143000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迭代算法</a:t>
            </a:r>
            <a:r>
              <a:rPr lang="en-US" altLang="zh-CN" sz="3200" dirty="0"/>
              <a:t>—</a:t>
            </a:r>
            <a:r>
              <a:rPr lang="zh-CN" altLang="en-US" sz="3600" dirty="0"/>
              <a:t>斐波那契数列问题</a:t>
            </a:r>
            <a:endParaRPr lang="zh-CN" altLang="en-US" sz="3200" dirty="0"/>
          </a:p>
        </p:txBody>
      </p:sp>
      <p:sp>
        <p:nvSpPr>
          <p:cNvPr id="2401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59952"/>
            <a:ext cx="8784299" cy="4915043"/>
          </a:xfrm>
        </p:spPr>
        <p:txBody>
          <a:bodyPr>
            <a:normAutofit fontScale="47500" lnSpcReduction="20000"/>
          </a:bodyPr>
          <a:lstStyle/>
          <a:p>
            <a:pPr lvl="1">
              <a:lnSpc>
                <a:spcPct val="150000"/>
              </a:lnSpc>
            </a:pPr>
            <a:r>
              <a:rPr lang="zh-CN" altLang="en-US" sz="6500" dirty="0">
                <a:latin typeface="仿宋" panose="02010609060101010101" pitchFamily="49" charset="-122"/>
                <a:ea typeface="仿宋" panose="02010609060101010101" pitchFamily="49" charset="-122"/>
              </a:rPr>
              <a:t>是斐波那契（</a:t>
            </a:r>
            <a:r>
              <a:rPr lang="en-US" altLang="zh-CN" sz="6500" dirty="0">
                <a:latin typeface="仿宋" panose="02010609060101010101" pitchFamily="49" charset="-122"/>
                <a:ea typeface="仿宋" panose="02010609060101010101" pitchFamily="49" charset="-122"/>
              </a:rPr>
              <a:t>Fibonacci</a:t>
            </a:r>
            <a:r>
              <a:rPr lang="zh-CN" altLang="en-US" sz="6500" dirty="0">
                <a:latin typeface="仿宋" panose="02010609060101010101" pitchFamily="49" charset="-122"/>
                <a:ea typeface="仿宋" panose="02010609060101010101" pitchFamily="49" charset="-122"/>
              </a:rPr>
              <a:t>）数列。</a:t>
            </a:r>
            <a:r>
              <a:rPr lang="en-US" altLang="zh-CN" sz="6500" dirty="0"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lang="zh-CN" altLang="en-US" sz="65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6500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65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6500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65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6500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65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6500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65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6500" dirty="0"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lang="zh-CN" altLang="en-US" sz="65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6500" dirty="0">
                <a:latin typeface="仿宋" panose="02010609060101010101" pitchFamily="49" charset="-122"/>
                <a:ea typeface="仿宋" panose="02010609060101010101" pitchFamily="49" charset="-122"/>
              </a:rPr>
              <a:t>8</a:t>
            </a:r>
            <a:r>
              <a:rPr lang="zh-CN" altLang="en-US" sz="65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6500" dirty="0">
                <a:latin typeface="仿宋" panose="02010609060101010101" pitchFamily="49" charset="-122"/>
                <a:ea typeface="仿宋" panose="02010609060101010101" pitchFamily="49" charset="-122"/>
              </a:rPr>
              <a:t>13</a:t>
            </a:r>
            <a:r>
              <a:rPr lang="zh-CN" altLang="en-US" sz="65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6500" dirty="0">
                <a:latin typeface="仿宋" panose="02010609060101010101" pitchFamily="49" charset="-122"/>
                <a:ea typeface="仿宋" panose="02010609060101010101" pitchFamily="49" charset="-122"/>
              </a:rPr>
              <a:t>21</a:t>
            </a:r>
            <a:r>
              <a:rPr lang="zh-CN" altLang="en-US" sz="65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6500" dirty="0">
                <a:latin typeface="仿宋" panose="02010609060101010101" pitchFamily="49" charset="-122"/>
                <a:ea typeface="仿宋" panose="02010609060101010101" pitchFamily="49" charset="-122"/>
              </a:rPr>
              <a:t>…</a:t>
            </a:r>
            <a:r>
              <a:rPr lang="zh-CN" altLang="en-US" sz="6500" dirty="0">
                <a:latin typeface="仿宋" panose="02010609060101010101" pitchFamily="49" charset="-122"/>
                <a:ea typeface="仿宋" panose="02010609060101010101" pitchFamily="49" charset="-122"/>
              </a:rPr>
              <a:t>，即 </a:t>
            </a:r>
            <a:r>
              <a:rPr lang="en-US" altLang="zh-CN" sz="6500" dirty="0">
                <a:latin typeface="仿宋" panose="02010609060101010101" pitchFamily="49" charset="-122"/>
                <a:ea typeface="仿宋" panose="02010609060101010101" pitchFamily="49" charset="-122"/>
              </a:rPr>
              <a:t>f(1)=1</a:t>
            </a:r>
            <a:r>
              <a:rPr lang="zh-CN" altLang="en-US" sz="6500" dirty="0">
                <a:latin typeface="仿宋" panose="02010609060101010101" pitchFamily="49" charset="-122"/>
                <a:ea typeface="仿宋" panose="02010609060101010101" pitchFamily="49" charset="-122"/>
              </a:rPr>
              <a:t>；</a:t>
            </a:r>
            <a:r>
              <a:rPr lang="en-US" altLang="zh-CN" sz="6500" dirty="0">
                <a:latin typeface="仿宋" panose="02010609060101010101" pitchFamily="49" charset="-122"/>
                <a:ea typeface="仿宋" panose="02010609060101010101" pitchFamily="49" charset="-122"/>
              </a:rPr>
              <a:t>f(2)=1</a:t>
            </a:r>
            <a:r>
              <a:rPr lang="zh-CN" altLang="en-US" sz="6500" dirty="0">
                <a:latin typeface="仿宋" panose="02010609060101010101" pitchFamily="49" charset="-122"/>
                <a:ea typeface="仿宋" panose="02010609060101010101" pitchFamily="49" charset="-122"/>
              </a:rPr>
              <a:t>；</a:t>
            </a:r>
            <a:r>
              <a:rPr lang="en-US" altLang="zh-CN" sz="6500" dirty="0">
                <a:latin typeface="仿宋" panose="02010609060101010101" pitchFamily="49" charset="-122"/>
                <a:ea typeface="仿宋" panose="02010609060101010101" pitchFamily="49" charset="-122"/>
              </a:rPr>
              <a:t>f(n)=f(n-1)+f(n-2) (</a:t>
            </a:r>
            <a:r>
              <a:rPr lang="zh-CN" altLang="en-US" sz="6500" dirty="0">
                <a:latin typeface="仿宋" panose="02010609060101010101" pitchFamily="49" charset="-122"/>
                <a:ea typeface="仿宋" panose="02010609060101010101" pitchFamily="49" charset="-122"/>
              </a:rPr>
              <a:t>当</a:t>
            </a:r>
            <a:r>
              <a:rPr lang="en-US" altLang="zh-CN" sz="6500" dirty="0">
                <a:latin typeface="仿宋" panose="02010609060101010101" pitchFamily="49" charset="-122"/>
                <a:ea typeface="仿宋" panose="02010609060101010101" pitchFamily="49" charset="-122"/>
              </a:rPr>
              <a:t>n&gt;2</a:t>
            </a:r>
            <a:r>
              <a:rPr lang="zh-CN" altLang="en-US" sz="6500" dirty="0">
                <a:latin typeface="仿宋" panose="02010609060101010101" pitchFamily="49" charset="-122"/>
                <a:ea typeface="仿宋" panose="02010609060101010101" pitchFamily="49" charset="-122"/>
              </a:rPr>
              <a:t>时</a:t>
            </a:r>
            <a:r>
              <a:rPr lang="en-US" altLang="zh-CN" sz="6500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r>
              <a:rPr lang="zh-CN" altLang="en-US" sz="6500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</a:p>
          <a:p>
            <a:pPr lvl="1">
              <a:lnSpc>
                <a:spcPct val="150000"/>
              </a:lnSpc>
            </a:pPr>
            <a:r>
              <a:rPr lang="zh-CN" altLang="en-US" sz="6500" dirty="0">
                <a:latin typeface="仿宋" panose="02010609060101010101" pitchFamily="49" charset="-122"/>
                <a:ea typeface="仿宋" panose="02010609060101010101" pitchFamily="49" charset="-122"/>
              </a:rPr>
              <a:t>在</a:t>
            </a:r>
            <a:r>
              <a:rPr lang="en-US" altLang="zh-CN" sz="6500" dirty="0">
                <a:latin typeface="仿宋" panose="02010609060101010101" pitchFamily="49" charset="-122"/>
                <a:ea typeface="仿宋" panose="02010609060101010101" pitchFamily="49" charset="-122"/>
              </a:rPr>
              <a:t>n&gt;2</a:t>
            </a:r>
            <a:r>
              <a:rPr lang="zh-CN" altLang="en-US" sz="6500" dirty="0">
                <a:latin typeface="仿宋" panose="02010609060101010101" pitchFamily="49" charset="-122"/>
                <a:ea typeface="仿宋" panose="02010609060101010101" pitchFamily="49" charset="-122"/>
              </a:rPr>
              <a:t>时，</a:t>
            </a:r>
            <a:r>
              <a:rPr lang="en-US" altLang="zh-CN" sz="6500" dirty="0">
                <a:latin typeface="仿宋" panose="02010609060101010101" pitchFamily="49" charset="-122"/>
                <a:ea typeface="仿宋" panose="02010609060101010101" pitchFamily="49" charset="-122"/>
              </a:rPr>
              <a:t>f(n)</a:t>
            </a:r>
            <a:r>
              <a:rPr lang="zh-CN" altLang="en-US" sz="6500" dirty="0">
                <a:latin typeface="仿宋" panose="02010609060101010101" pitchFamily="49" charset="-122"/>
                <a:ea typeface="仿宋" panose="02010609060101010101" pitchFamily="49" charset="-122"/>
              </a:rPr>
              <a:t>总可以由</a:t>
            </a:r>
            <a:r>
              <a:rPr lang="en-US" altLang="zh-CN" sz="6500" dirty="0">
                <a:latin typeface="仿宋" panose="02010609060101010101" pitchFamily="49" charset="-122"/>
                <a:ea typeface="仿宋" panose="02010609060101010101" pitchFamily="49" charset="-122"/>
              </a:rPr>
              <a:t>f(n-1)</a:t>
            </a:r>
            <a:r>
              <a:rPr lang="zh-CN" altLang="en-US" sz="6500" dirty="0">
                <a:latin typeface="仿宋" panose="02010609060101010101" pitchFamily="49" charset="-122"/>
                <a:ea typeface="仿宋" panose="02010609060101010101" pitchFamily="49" charset="-122"/>
              </a:rPr>
              <a:t>和</a:t>
            </a:r>
            <a:r>
              <a:rPr lang="en-US" altLang="zh-CN" sz="6500" dirty="0">
                <a:latin typeface="仿宋" panose="02010609060101010101" pitchFamily="49" charset="-122"/>
                <a:ea typeface="仿宋" panose="02010609060101010101" pitchFamily="49" charset="-122"/>
              </a:rPr>
              <a:t>f(n-2)</a:t>
            </a:r>
            <a:r>
              <a:rPr lang="zh-CN" altLang="en-US" sz="6500" dirty="0">
                <a:latin typeface="仿宋" panose="02010609060101010101" pitchFamily="49" charset="-122"/>
                <a:ea typeface="仿宋" panose="02010609060101010101" pitchFamily="49" charset="-122"/>
              </a:rPr>
              <a:t>得到，由旧值递推出新值，这是一个典型的迭代关系，所以我们可以考虑迭代算法。</a:t>
            </a:r>
            <a:endParaRPr lang="zh-CN" altLang="en-US" sz="2933" dirty="0"/>
          </a:p>
        </p:txBody>
      </p:sp>
      <p:sp>
        <p:nvSpPr>
          <p:cNvPr id="4" name="TextBox 3"/>
          <p:cNvSpPr txBox="1"/>
          <p:nvPr/>
        </p:nvSpPr>
        <p:spPr>
          <a:xfrm>
            <a:off x="0" y="5736"/>
            <a:ext cx="8836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ym typeface="Wingdings"/>
                <a:hlinkClick r:id="" action="ppaction://noaction"/>
              </a:rPr>
              <a:t></a:t>
            </a:r>
            <a:endParaRPr lang="zh-CN" altLang="en-US" sz="8000" dirty="0"/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8341" y="1700808"/>
            <a:ext cx="2400267" cy="4320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892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01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01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0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0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0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0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128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>
            <a:extLst>
              <a:ext uri="{FF2B5EF4-FFF2-40B4-BE49-F238E27FC236}">
                <a16:creationId xmlns:a16="http://schemas.microsoft.com/office/drawing/2014/main" id="{A95E4898-2A77-56C1-ACBD-7AA8CFA6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常用算法</a:t>
            </a:r>
            <a:b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b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D3B974-C0E3-4AF4-679C-02E64F4C3516}"/>
              </a:ext>
            </a:extLst>
          </p:cNvPr>
          <p:cNvSpPr txBox="1"/>
          <p:nvPr/>
        </p:nvSpPr>
        <p:spPr>
          <a:xfrm>
            <a:off x="838200" y="1468574"/>
            <a:ext cx="1036781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递归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函数调用自身，自我描述，自我繁殖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3B37C73B-C8BF-6357-CBCD-C525138FE1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0982" y="2766428"/>
            <a:ext cx="5521734" cy="3944096"/>
          </a:xfrm>
          <a:prstGeom prst="rect">
            <a:avLst/>
          </a:prstGeom>
          <a:ln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9184012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>
            <a:extLst>
              <a:ext uri="{FF2B5EF4-FFF2-40B4-BE49-F238E27FC236}">
                <a16:creationId xmlns:a16="http://schemas.microsoft.com/office/drawing/2014/main" id="{A95E4898-2A77-56C1-ACBD-7AA8CFA6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常用算法</a:t>
            </a:r>
            <a:b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b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D3B974-C0E3-4AF4-679C-02E64F4C3516}"/>
              </a:ext>
            </a:extLst>
          </p:cNvPr>
          <p:cNvSpPr txBox="1"/>
          <p:nvPr/>
        </p:nvSpPr>
        <p:spPr>
          <a:xfrm>
            <a:off x="838200" y="1468574"/>
            <a:ext cx="1036781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递归案例：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从前有座山，山上有个庙，庙里有个老和尚和小和尚，老和尚给小和尚讲故事，讲的是：从前有座山，此外还有汉诺塔问题，阶乘计算问题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A8113DE-941F-EA18-C6CA-AA7ABA718D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782" y="3127499"/>
          <a:ext cx="11896436" cy="377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6266600" imgH="5346000" progId="Photoshop.Image.14">
                  <p:embed/>
                </p:oleObj>
              </mc:Choice>
              <mc:Fallback>
                <p:oleObj name="Image" r:id="rId3" imgW="16266600" imgH="5346000" progId="Photoshop.Image.1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A8113DE-941F-EA18-C6CA-AA7ABA718D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782" y="3127499"/>
                        <a:ext cx="11896436" cy="3774513"/>
                      </a:xfrm>
                      <a:prstGeom prst="rect">
                        <a:avLst/>
                      </a:prstGeom>
                      <a:ln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31145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95E4898-2A77-56C1-ACBD-7AA8CFA61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10515600" cy="1325563"/>
          </a:xfrm>
        </p:spPr>
        <p:txBody>
          <a:bodyPr>
            <a:normAutofit fontScale="9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递归算法</a:t>
            </a:r>
            <a:b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br>
            <a:endParaRPr lang="zh-CN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F93DEB3-BBE7-2FD0-A3AE-27272DDA5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115553"/>
              </p:ext>
            </p:extLst>
          </p:nvPr>
        </p:nvGraphicFramePr>
        <p:xfrm>
          <a:off x="388232" y="1375604"/>
          <a:ext cx="11415535" cy="4852035"/>
        </p:xfrm>
        <a:graphic>
          <a:graphicData uri="http://schemas.openxmlformats.org/drawingml/2006/table">
            <a:tbl>
              <a:tblPr firstRow="1" firstCol="1" bandRow="1"/>
              <a:tblGrid>
                <a:gridCol w="475298">
                  <a:extLst>
                    <a:ext uri="{9D8B030D-6E8A-4147-A177-3AD203B41FA5}">
                      <a16:colId xmlns:a16="http://schemas.microsoft.com/office/drawing/2014/main" val="1620746123"/>
                    </a:ext>
                  </a:extLst>
                </a:gridCol>
                <a:gridCol w="6800850">
                  <a:extLst>
                    <a:ext uri="{9D8B030D-6E8A-4147-A177-3AD203B41FA5}">
                      <a16:colId xmlns:a16="http://schemas.microsoft.com/office/drawing/2014/main" val="3219999128"/>
                    </a:ext>
                  </a:extLst>
                </a:gridCol>
                <a:gridCol w="4139387">
                  <a:extLst>
                    <a:ext uri="{9D8B030D-6E8A-4147-A177-3AD203B41FA5}">
                      <a16:colId xmlns:a16="http://schemas.microsoft.com/office/drawing/2014/main" val="802038486"/>
                    </a:ext>
                  </a:extLst>
                </a:gridCol>
              </a:tblGrid>
              <a:tr h="46796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b="1" kern="100" dirty="0"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def factorial(n):</a:t>
                      </a:r>
                    </a:p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b="1" kern="100" dirty="0"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    if n == 0:</a:t>
                      </a:r>
                    </a:p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b="1" kern="100" dirty="0"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        return 1</a:t>
                      </a:r>
                    </a:p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b="1" kern="100" dirty="0"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    else:</a:t>
                      </a:r>
                    </a:p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b="1" kern="100" dirty="0"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        return n * factorial (n - 1)</a:t>
                      </a:r>
                    </a:p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altLang="zh-CN" sz="2400" b="1" kern="100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b="1" kern="100" dirty="0"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zh-CN" altLang="en-US" sz="2400" b="1" kern="100" dirty="0"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使用递归方法计算阶乘</a:t>
                      </a:r>
                    </a:p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b="1" kern="100" dirty="0"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n = 5  # </a:t>
                      </a:r>
                      <a:r>
                        <a:rPr lang="zh-CN" altLang="en-US" sz="2400" b="1" kern="100" dirty="0"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举例计算</a:t>
                      </a:r>
                      <a:r>
                        <a:rPr lang="en-US" altLang="zh-CN" sz="2400" b="1" kern="100" dirty="0"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5</a:t>
                      </a:r>
                      <a:r>
                        <a:rPr lang="zh-CN" altLang="en-US" sz="2400" b="1" kern="100" dirty="0"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的阶乘</a:t>
                      </a:r>
                    </a:p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b="1" kern="100" dirty="0"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print(factorial(n))</a:t>
                      </a:r>
                      <a:endParaRPr lang="zh-CN" sz="2400" b="1" kern="100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2400" b="1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519082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6182AA03-625B-E01D-D12B-65761A28BD1A}"/>
              </a:ext>
            </a:extLst>
          </p:cNvPr>
          <p:cNvSpPr txBox="1"/>
          <p:nvPr/>
        </p:nvSpPr>
        <p:spPr>
          <a:xfrm>
            <a:off x="3325906" y="-50041"/>
            <a:ext cx="3747247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9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阶乘计算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2CD16-95B8-B7CB-7490-E7C14042920E}"/>
              </a:ext>
            </a:extLst>
          </p:cNvPr>
          <p:cNvSpPr txBox="1"/>
          <p:nvPr/>
        </p:nvSpPr>
        <p:spPr>
          <a:xfrm>
            <a:off x="779931" y="347312"/>
            <a:ext cx="8367432" cy="89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n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的阶乘：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n!=n×(n-1) ×(n-2) ×•••×2×1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A9DE7EB-7E94-F958-A0DA-5A2681D7AA5E}"/>
              </a:ext>
            </a:extLst>
          </p:cNvPr>
          <p:cNvSpPr txBox="1"/>
          <p:nvPr/>
        </p:nvSpPr>
        <p:spPr>
          <a:xfrm>
            <a:off x="6552079" y="1295419"/>
            <a:ext cx="3734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n!= n×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（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n-1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）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!</a:t>
            </a:r>
            <a:endParaRPr lang="zh-CN" altLang="en-US" sz="32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92E2D36-DEF0-B5C0-2989-F43B90E409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73" r="2103"/>
          <a:stretch/>
        </p:blipFill>
        <p:spPr>
          <a:xfrm>
            <a:off x="6601457" y="2400954"/>
            <a:ext cx="5091812" cy="251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29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9028E-E860-E089-33DF-478CA93C1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098B41D-7F42-A266-4BEA-72CE7CC00D99}"/>
              </a:ext>
            </a:extLst>
          </p:cNvPr>
          <p:cNvCxnSpPr/>
          <p:nvPr/>
        </p:nvCxnSpPr>
        <p:spPr>
          <a:xfrm flipV="1">
            <a:off x="838200" y="970218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>
            <a:extLst>
              <a:ext uri="{FF2B5EF4-FFF2-40B4-BE49-F238E27FC236}">
                <a16:creationId xmlns:a16="http://schemas.microsoft.com/office/drawing/2014/main" id="{75905AF7-BA7E-378A-3F86-F32B0EBF3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011"/>
            <a:ext cx="10515600" cy="1325563"/>
          </a:xfrm>
        </p:spPr>
        <p:txBody>
          <a:bodyPr>
            <a:normAutofit fontScale="9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递归算法</a:t>
            </a:r>
            <a:br>
              <a:rPr kumimoji="0" lang="zh-CN" altLang="en-US" sz="4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br>
            <a:b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br>
            <a:endParaRPr lang="zh-CN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46E13BB-DEEA-9A8B-0B13-B0542B15D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959214"/>
              </p:ext>
            </p:extLst>
          </p:nvPr>
        </p:nvGraphicFramePr>
        <p:xfrm>
          <a:off x="388232" y="997927"/>
          <a:ext cx="11415535" cy="5896230"/>
        </p:xfrm>
        <a:graphic>
          <a:graphicData uri="http://schemas.openxmlformats.org/drawingml/2006/table">
            <a:tbl>
              <a:tblPr firstRow="1" firstCol="1" bandRow="1"/>
              <a:tblGrid>
                <a:gridCol w="475298">
                  <a:extLst>
                    <a:ext uri="{9D8B030D-6E8A-4147-A177-3AD203B41FA5}">
                      <a16:colId xmlns:a16="http://schemas.microsoft.com/office/drawing/2014/main" val="1620746123"/>
                    </a:ext>
                  </a:extLst>
                </a:gridCol>
                <a:gridCol w="6800850">
                  <a:extLst>
                    <a:ext uri="{9D8B030D-6E8A-4147-A177-3AD203B41FA5}">
                      <a16:colId xmlns:a16="http://schemas.microsoft.com/office/drawing/2014/main" val="3219999128"/>
                    </a:ext>
                  </a:extLst>
                </a:gridCol>
                <a:gridCol w="4139387">
                  <a:extLst>
                    <a:ext uri="{9D8B030D-6E8A-4147-A177-3AD203B41FA5}">
                      <a16:colId xmlns:a16="http://schemas.microsoft.com/office/drawing/2014/main" val="802038486"/>
                    </a:ext>
                  </a:extLst>
                </a:gridCol>
              </a:tblGrid>
              <a:tr h="46796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import time </a:t>
                      </a:r>
                      <a:endParaRPr lang="zh-CN" sz="2400" b="1" kern="100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def story(a):</a:t>
                      </a:r>
                      <a:endParaRPr lang="zh-CN" sz="2400" b="1" kern="100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    print(a)</a:t>
                      </a:r>
                      <a:endParaRPr lang="zh-CN" sz="2400" b="1" kern="100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    time.sleep(1)</a:t>
                      </a:r>
                      <a:endParaRPr lang="zh-CN" sz="2400" b="1" kern="100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    return story(a)</a:t>
                      </a:r>
                      <a:endParaRPr lang="zh-CN" sz="2400" b="1" kern="100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myList = ["</a:t>
                      </a:r>
                      <a:r>
                        <a:rPr lang="zh-CN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从前有座山，山上有个庙，庙里有个老和尚和小和尚，老和尚给小和尚讲故事，讲的是：</a:t>
                      </a: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"]</a:t>
                      </a:r>
                      <a:endParaRPr lang="zh-CN" sz="2400" b="1" kern="100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story(myList)</a:t>
                      </a:r>
                      <a:endParaRPr lang="zh-CN" sz="2400" b="1" kern="100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导入标准模块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时间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en-US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zh-CN" sz="24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定义故事递归函数</a:t>
                      </a:r>
                      <a:endParaRPr lang="en-US" altLang="zh-CN" sz="2400" b="1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打印输出故事</a:t>
                      </a:r>
                      <a:endParaRPr lang="en-US" altLang="zh-CN" sz="2400" kern="10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暂停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秒（调用休眠函数）</a:t>
                      </a:r>
                      <a:endParaRPr lang="en-US" altLang="zh-CN" sz="2400" kern="10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zh-CN" sz="24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递归调用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（自己调用自己）</a:t>
                      </a:r>
                      <a:endParaRPr lang="zh-CN" sz="2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故事赋值</a:t>
                      </a:r>
                      <a:endParaRPr lang="en-US" alt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# </a:t>
                      </a:r>
                      <a:r>
                        <a:rPr lang="zh-CN" sz="24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调用故事递归函数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519082"/>
                  </a:ext>
                </a:extLst>
              </a:tr>
              <a:tr h="4165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&gt;&gt;&gt;'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从前有座山，山上有个庙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…</a:t>
                      </a:r>
                      <a:r>
                        <a:rPr lang="en-US" alt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zh-CN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（输出略）</a:t>
                      </a:r>
                      <a:endParaRPr lang="zh-CN" sz="2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4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按</a:t>
                      </a:r>
                      <a:r>
                        <a:rPr lang="en-US" sz="24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[Ctrl+C]</a:t>
                      </a:r>
                      <a:r>
                        <a:rPr lang="zh-CN" sz="24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或关闭窗口强制中断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923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19089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>
            <a:extLst>
              <a:ext uri="{FF2B5EF4-FFF2-40B4-BE49-F238E27FC236}">
                <a16:creationId xmlns:a16="http://schemas.microsoft.com/office/drawing/2014/main" id="{A95E4898-2A77-56C1-ACBD-7AA8CFA6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常用算法</a:t>
            </a:r>
            <a:b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b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D3B974-C0E3-4AF4-679C-02E64F4C3516}"/>
              </a:ext>
            </a:extLst>
          </p:cNvPr>
          <p:cNvSpPr txBox="1"/>
          <p:nvPr/>
        </p:nvSpPr>
        <p:spPr>
          <a:xfrm>
            <a:off x="838200" y="1468574"/>
            <a:ext cx="1036781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递归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分为递推和回溯两个阶段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递推：较复杂问题，递推到比原问题更简单的子问题求解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递归必有终止的边界条件，否则将陷入无限循环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回溯：利用基本公式进行计算，逐级回溯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39555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7594887" y="1359950"/>
            <a:ext cx="4597113" cy="4704523"/>
            <a:chOff x="5652120" y="1131590"/>
            <a:chExt cx="3447835" cy="352839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Texturize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47" t="1693" r="8808" b="5609"/>
            <a:stretch/>
          </p:blipFill>
          <p:spPr>
            <a:xfrm>
              <a:off x="5652120" y="1131590"/>
              <a:ext cx="3447835" cy="3528392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7596336" y="4011910"/>
              <a:ext cx="1296144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2"/>
                  </a:solidFill>
                </a:rPr>
                <a:t>某女相亲</a:t>
              </a:r>
            </a:p>
          </p:txBody>
        </p:sp>
      </p:grpSp>
      <p:sp>
        <p:nvSpPr>
          <p:cNvPr id="2401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23392" y="111343"/>
            <a:ext cx="10972800" cy="1143000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贪心算法</a:t>
            </a:r>
            <a:endParaRPr lang="zh-CN" altLang="en-US" sz="3200" dirty="0"/>
          </a:p>
        </p:txBody>
      </p:sp>
      <p:sp>
        <p:nvSpPr>
          <p:cNvPr id="2401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59952"/>
            <a:ext cx="7824191" cy="504537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求解问题时，总是做出当前最好选择</a:t>
            </a: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不从整体考虑最优，仅是某种意义上的局部最优解。</a:t>
            </a:r>
            <a:endParaRPr lang="en-US" altLang="zh-C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贪心算法并不能保证整体最优解，但它能产生整体最优解近似解。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736"/>
            <a:ext cx="8836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ym typeface="Wingdings"/>
                <a:hlinkClick r:id="" action="ppaction://noaction"/>
              </a:rPr>
              <a:t></a:t>
            </a:r>
            <a:endParaRPr lang="zh-CN" altLang="en-US" sz="8000" dirty="0"/>
          </a:p>
        </p:txBody>
      </p:sp>
    </p:spTree>
    <p:extLst>
      <p:ext uri="{BB962C8B-B14F-4D97-AF65-F5344CB8AC3E}">
        <p14:creationId xmlns:p14="http://schemas.microsoft.com/office/powerpoint/2010/main" val="4028295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01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01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0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0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0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0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128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2D3B974-C0E3-4AF4-679C-02E64F4C3516}"/>
              </a:ext>
            </a:extLst>
          </p:cNvPr>
          <p:cNvSpPr txBox="1"/>
          <p:nvPr/>
        </p:nvSpPr>
        <p:spPr>
          <a:xfrm>
            <a:off x="455373" y="424255"/>
            <a:ext cx="1036781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贪心法基本算法思想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（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1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）将问题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分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成若干个子问题。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（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2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）对子问题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求局部最优解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（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3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）将子问题局部最优解，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     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合成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为原来问题的解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grpSp>
        <p:nvGrpSpPr>
          <p:cNvPr id="3" name="Group 25">
            <a:extLst>
              <a:ext uri="{FF2B5EF4-FFF2-40B4-BE49-F238E27FC236}">
                <a16:creationId xmlns:a16="http://schemas.microsoft.com/office/drawing/2014/main" id="{9932AA72-4209-02C3-72B3-A103FA9A2E87}"/>
              </a:ext>
            </a:extLst>
          </p:cNvPr>
          <p:cNvGrpSpPr>
            <a:grpSpLocks/>
          </p:cNvGrpSpPr>
          <p:nvPr/>
        </p:nvGrpSpPr>
        <p:grpSpPr bwMode="auto">
          <a:xfrm>
            <a:off x="7258917" y="4167213"/>
            <a:ext cx="800473" cy="818000"/>
            <a:chOff x="1816" y="2348"/>
            <a:chExt cx="583" cy="597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5" name="Line 7">
              <a:extLst>
                <a:ext uri="{FF2B5EF4-FFF2-40B4-BE49-F238E27FC236}">
                  <a16:creationId xmlns:a16="http://schemas.microsoft.com/office/drawing/2014/main" id="{AE8A92AC-068D-E304-E29C-2A6F4EEE9B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7" y="2705"/>
              <a:ext cx="0" cy="24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AutoShape 9">
              <a:extLst>
                <a:ext uri="{FF2B5EF4-FFF2-40B4-BE49-F238E27FC236}">
                  <a16:creationId xmlns:a16="http://schemas.microsoft.com/office/drawing/2014/main" id="{14632BBF-DFDD-39B0-2A1D-49A2CE198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6" y="2348"/>
              <a:ext cx="583" cy="451"/>
            </a:xfrm>
            <a:prstGeom prst="doubleWave">
              <a:avLst>
                <a:gd name="adj1" fmla="val 6500"/>
                <a:gd name="adj2" fmla="val 0"/>
              </a:avLst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itchFamily="34" charset="0"/>
                  <a:ea typeface="等线" panose="02010600030101010101" pitchFamily="2" charset="-122"/>
                  <a:cs typeface="+mn-cs"/>
                </a:rPr>
                <a:t>局部</a:t>
              </a:r>
            </a:p>
          </p:txBody>
        </p:sp>
      </p:grpSp>
      <p:grpSp>
        <p:nvGrpSpPr>
          <p:cNvPr id="8" name="Group 26">
            <a:extLst>
              <a:ext uri="{FF2B5EF4-FFF2-40B4-BE49-F238E27FC236}">
                <a16:creationId xmlns:a16="http://schemas.microsoft.com/office/drawing/2014/main" id="{4B18ED26-2968-810F-2C5A-3212F7D9D70C}"/>
              </a:ext>
            </a:extLst>
          </p:cNvPr>
          <p:cNvGrpSpPr>
            <a:grpSpLocks/>
          </p:cNvGrpSpPr>
          <p:nvPr/>
        </p:nvGrpSpPr>
        <p:grpSpPr bwMode="auto">
          <a:xfrm>
            <a:off x="10672158" y="3100236"/>
            <a:ext cx="800473" cy="768674"/>
            <a:chOff x="3813" y="1613"/>
            <a:chExt cx="583" cy="561"/>
          </a:xfrm>
          <a:solidFill>
            <a:srgbClr val="FF0000"/>
          </a:solidFill>
        </p:grpSpPr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F00E6CF3-9FD2-7D8D-2407-8EFA3354A6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3" y="1934"/>
              <a:ext cx="0" cy="24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D99329BB-C505-657A-03B8-12C87B809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3" y="1613"/>
              <a:ext cx="583" cy="451"/>
            </a:xfrm>
            <a:prstGeom prst="doubleWave">
              <a:avLst>
                <a:gd name="adj1" fmla="val 6500"/>
                <a:gd name="adj2" fmla="val 0"/>
              </a:avLst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itchFamily="34" charset="0"/>
                  <a:ea typeface="等线" panose="02010600030101010101" pitchFamily="2" charset="-122"/>
                  <a:cs typeface="+mn-cs"/>
                </a:rPr>
                <a:t>全局</a:t>
              </a: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B76D4810-20F9-80EA-0C2C-2E4542797E0E}"/>
              </a:ext>
            </a:extLst>
          </p:cNvPr>
          <p:cNvSpPr>
            <a:spLocks/>
          </p:cNvSpPr>
          <p:nvPr/>
        </p:nvSpPr>
        <p:spPr bwMode="auto">
          <a:xfrm>
            <a:off x="5084720" y="3787572"/>
            <a:ext cx="6850000" cy="2839016"/>
          </a:xfrm>
          <a:custGeom>
            <a:avLst/>
            <a:gdLst>
              <a:gd name="T0" fmla="*/ 0 w 4608"/>
              <a:gd name="T1" fmla="*/ 2072 h 2072"/>
              <a:gd name="T2" fmla="*/ 432 w 4608"/>
              <a:gd name="T3" fmla="*/ 1640 h 2072"/>
              <a:gd name="T4" fmla="*/ 912 w 4608"/>
              <a:gd name="T5" fmla="*/ 1880 h 2072"/>
              <a:gd name="T6" fmla="*/ 1536 w 4608"/>
              <a:gd name="T7" fmla="*/ 872 h 2072"/>
              <a:gd name="T8" fmla="*/ 2400 w 4608"/>
              <a:gd name="T9" fmla="*/ 1448 h 2072"/>
              <a:gd name="T10" fmla="*/ 2928 w 4608"/>
              <a:gd name="T11" fmla="*/ 1208 h 2072"/>
              <a:gd name="T12" fmla="*/ 3312 w 4608"/>
              <a:gd name="T13" fmla="*/ 1448 h 2072"/>
              <a:gd name="T14" fmla="*/ 3888 w 4608"/>
              <a:gd name="T15" fmla="*/ 56 h 2072"/>
              <a:gd name="T16" fmla="*/ 4608 w 4608"/>
              <a:gd name="T17" fmla="*/ 1784 h 20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08" h="2072">
                <a:moveTo>
                  <a:pt x="0" y="2072"/>
                </a:moveTo>
                <a:cubicBezTo>
                  <a:pt x="140" y="1872"/>
                  <a:pt x="280" y="1672"/>
                  <a:pt x="432" y="1640"/>
                </a:cubicBezTo>
                <a:cubicBezTo>
                  <a:pt x="584" y="1608"/>
                  <a:pt x="728" y="2008"/>
                  <a:pt x="912" y="1880"/>
                </a:cubicBezTo>
                <a:cubicBezTo>
                  <a:pt x="1096" y="1752"/>
                  <a:pt x="1288" y="944"/>
                  <a:pt x="1536" y="872"/>
                </a:cubicBezTo>
                <a:cubicBezTo>
                  <a:pt x="1784" y="800"/>
                  <a:pt x="2168" y="1392"/>
                  <a:pt x="2400" y="1448"/>
                </a:cubicBezTo>
                <a:cubicBezTo>
                  <a:pt x="2632" y="1504"/>
                  <a:pt x="2776" y="1208"/>
                  <a:pt x="2928" y="1208"/>
                </a:cubicBezTo>
                <a:cubicBezTo>
                  <a:pt x="3080" y="1208"/>
                  <a:pt x="3152" y="1640"/>
                  <a:pt x="3312" y="1448"/>
                </a:cubicBezTo>
                <a:cubicBezTo>
                  <a:pt x="3472" y="1256"/>
                  <a:pt x="3672" y="0"/>
                  <a:pt x="3888" y="56"/>
                </a:cubicBezTo>
                <a:cubicBezTo>
                  <a:pt x="4104" y="112"/>
                  <a:pt x="4356" y="948"/>
                  <a:pt x="4608" y="1784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2" name="Group 6">
            <a:extLst>
              <a:ext uri="{FF2B5EF4-FFF2-40B4-BE49-F238E27FC236}">
                <a16:creationId xmlns:a16="http://schemas.microsoft.com/office/drawing/2014/main" id="{1B8FC1D4-B9C0-EF28-E595-E1FD74C42413}"/>
              </a:ext>
            </a:extLst>
          </p:cNvPr>
          <p:cNvGrpSpPr>
            <a:grpSpLocks/>
          </p:cNvGrpSpPr>
          <p:nvPr/>
        </p:nvGrpSpPr>
        <p:grpSpPr bwMode="auto">
          <a:xfrm rot="13300789">
            <a:off x="4983328" y="5994382"/>
            <a:ext cx="318541" cy="526150"/>
            <a:chOff x="2452" y="1140"/>
            <a:chExt cx="857" cy="2304"/>
          </a:xfrm>
        </p:grpSpPr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8C7BEAB-5CCD-8E39-2B87-DD1C5A9EC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3" y="1550"/>
              <a:ext cx="330" cy="401"/>
            </a:xfrm>
            <a:custGeom>
              <a:avLst/>
              <a:gdLst>
                <a:gd name="T0" fmla="*/ 230 w 330"/>
                <a:gd name="T1" fmla="*/ 126 h 401"/>
                <a:gd name="T2" fmla="*/ 215 w 330"/>
                <a:gd name="T3" fmla="*/ 61 h 401"/>
                <a:gd name="T4" fmla="*/ 180 w 330"/>
                <a:gd name="T5" fmla="*/ 21 h 401"/>
                <a:gd name="T6" fmla="*/ 130 w 330"/>
                <a:gd name="T7" fmla="*/ 0 h 401"/>
                <a:gd name="T8" fmla="*/ 55 w 330"/>
                <a:gd name="T9" fmla="*/ 16 h 401"/>
                <a:gd name="T10" fmla="*/ 15 w 330"/>
                <a:gd name="T11" fmla="*/ 91 h 401"/>
                <a:gd name="T12" fmla="*/ 0 w 330"/>
                <a:gd name="T13" fmla="*/ 166 h 401"/>
                <a:gd name="T14" fmla="*/ 0 w 330"/>
                <a:gd name="T15" fmla="*/ 246 h 401"/>
                <a:gd name="T16" fmla="*/ 15 w 330"/>
                <a:gd name="T17" fmla="*/ 336 h 401"/>
                <a:gd name="T18" fmla="*/ 70 w 330"/>
                <a:gd name="T19" fmla="*/ 391 h 401"/>
                <a:gd name="T20" fmla="*/ 120 w 330"/>
                <a:gd name="T21" fmla="*/ 401 h 401"/>
                <a:gd name="T22" fmla="*/ 185 w 330"/>
                <a:gd name="T23" fmla="*/ 386 h 401"/>
                <a:gd name="T24" fmla="*/ 215 w 330"/>
                <a:gd name="T25" fmla="*/ 326 h 401"/>
                <a:gd name="T26" fmla="*/ 235 w 330"/>
                <a:gd name="T27" fmla="*/ 266 h 401"/>
                <a:gd name="T28" fmla="*/ 245 w 330"/>
                <a:gd name="T29" fmla="*/ 216 h 401"/>
                <a:gd name="T30" fmla="*/ 245 w 330"/>
                <a:gd name="T31" fmla="*/ 181 h 401"/>
                <a:gd name="T32" fmla="*/ 325 w 330"/>
                <a:gd name="T33" fmla="*/ 106 h 401"/>
                <a:gd name="T34" fmla="*/ 330 w 330"/>
                <a:gd name="T35" fmla="*/ 81 h 401"/>
                <a:gd name="T36" fmla="*/ 315 w 330"/>
                <a:gd name="T37" fmla="*/ 71 h 401"/>
                <a:gd name="T38" fmla="*/ 235 w 330"/>
                <a:gd name="T39" fmla="*/ 156 h 401"/>
                <a:gd name="T40" fmla="*/ 230 w 330"/>
                <a:gd name="T41" fmla="*/ 126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0" h="401">
                  <a:moveTo>
                    <a:pt x="230" y="126"/>
                  </a:moveTo>
                  <a:lnTo>
                    <a:pt x="215" y="61"/>
                  </a:lnTo>
                  <a:lnTo>
                    <a:pt x="180" y="21"/>
                  </a:lnTo>
                  <a:lnTo>
                    <a:pt x="130" y="0"/>
                  </a:lnTo>
                  <a:lnTo>
                    <a:pt x="55" y="16"/>
                  </a:lnTo>
                  <a:lnTo>
                    <a:pt x="15" y="91"/>
                  </a:lnTo>
                  <a:lnTo>
                    <a:pt x="0" y="166"/>
                  </a:lnTo>
                  <a:lnTo>
                    <a:pt x="0" y="246"/>
                  </a:lnTo>
                  <a:lnTo>
                    <a:pt x="15" y="336"/>
                  </a:lnTo>
                  <a:lnTo>
                    <a:pt x="70" y="391"/>
                  </a:lnTo>
                  <a:lnTo>
                    <a:pt x="120" y="401"/>
                  </a:lnTo>
                  <a:lnTo>
                    <a:pt x="185" y="386"/>
                  </a:lnTo>
                  <a:lnTo>
                    <a:pt x="215" y="326"/>
                  </a:lnTo>
                  <a:lnTo>
                    <a:pt x="235" y="266"/>
                  </a:lnTo>
                  <a:lnTo>
                    <a:pt x="245" y="216"/>
                  </a:lnTo>
                  <a:lnTo>
                    <a:pt x="245" y="181"/>
                  </a:lnTo>
                  <a:lnTo>
                    <a:pt x="325" y="106"/>
                  </a:lnTo>
                  <a:lnTo>
                    <a:pt x="330" y="81"/>
                  </a:lnTo>
                  <a:lnTo>
                    <a:pt x="315" y="71"/>
                  </a:lnTo>
                  <a:lnTo>
                    <a:pt x="235" y="156"/>
                  </a:lnTo>
                  <a:lnTo>
                    <a:pt x="230" y="1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485E68C-EADD-FF61-28EB-D4ADAB0BB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1140"/>
              <a:ext cx="581" cy="681"/>
            </a:xfrm>
            <a:custGeom>
              <a:avLst/>
              <a:gdLst>
                <a:gd name="T0" fmla="*/ 11 w 581"/>
                <a:gd name="T1" fmla="*/ 681 h 681"/>
                <a:gd name="T2" fmla="*/ 0 w 581"/>
                <a:gd name="T3" fmla="*/ 620 h 681"/>
                <a:gd name="T4" fmla="*/ 26 w 581"/>
                <a:gd name="T5" fmla="*/ 540 h 681"/>
                <a:gd name="T6" fmla="*/ 96 w 581"/>
                <a:gd name="T7" fmla="*/ 475 h 681"/>
                <a:gd name="T8" fmla="*/ 196 w 581"/>
                <a:gd name="T9" fmla="*/ 385 h 681"/>
                <a:gd name="T10" fmla="*/ 301 w 581"/>
                <a:gd name="T11" fmla="*/ 285 h 681"/>
                <a:gd name="T12" fmla="*/ 396 w 581"/>
                <a:gd name="T13" fmla="*/ 160 h 681"/>
                <a:gd name="T14" fmla="*/ 426 w 581"/>
                <a:gd name="T15" fmla="*/ 85 h 681"/>
                <a:gd name="T16" fmla="*/ 436 w 581"/>
                <a:gd name="T17" fmla="*/ 0 h 681"/>
                <a:gd name="T18" fmla="*/ 456 w 581"/>
                <a:gd name="T19" fmla="*/ 0 h 681"/>
                <a:gd name="T20" fmla="*/ 446 w 581"/>
                <a:gd name="T21" fmla="*/ 90 h 681"/>
                <a:gd name="T22" fmla="*/ 461 w 581"/>
                <a:gd name="T23" fmla="*/ 90 h 681"/>
                <a:gd name="T24" fmla="*/ 541 w 581"/>
                <a:gd name="T25" fmla="*/ 30 h 681"/>
                <a:gd name="T26" fmla="*/ 556 w 581"/>
                <a:gd name="T27" fmla="*/ 50 h 681"/>
                <a:gd name="T28" fmla="*/ 491 w 581"/>
                <a:gd name="T29" fmla="*/ 95 h 681"/>
                <a:gd name="T30" fmla="*/ 481 w 581"/>
                <a:gd name="T31" fmla="*/ 125 h 681"/>
                <a:gd name="T32" fmla="*/ 501 w 581"/>
                <a:gd name="T33" fmla="*/ 135 h 681"/>
                <a:gd name="T34" fmla="*/ 566 w 581"/>
                <a:gd name="T35" fmla="*/ 135 h 681"/>
                <a:gd name="T36" fmla="*/ 581 w 581"/>
                <a:gd name="T37" fmla="*/ 145 h 681"/>
                <a:gd name="T38" fmla="*/ 576 w 581"/>
                <a:gd name="T39" fmla="*/ 160 h 681"/>
                <a:gd name="T40" fmla="*/ 496 w 581"/>
                <a:gd name="T41" fmla="*/ 155 h 681"/>
                <a:gd name="T42" fmla="*/ 471 w 581"/>
                <a:gd name="T43" fmla="*/ 155 h 681"/>
                <a:gd name="T44" fmla="*/ 466 w 581"/>
                <a:gd name="T45" fmla="*/ 170 h 681"/>
                <a:gd name="T46" fmla="*/ 521 w 581"/>
                <a:gd name="T47" fmla="*/ 245 h 681"/>
                <a:gd name="T48" fmla="*/ 506 w 581"/>
                <a:gd name="T49" fmla="*/ 260 h 681"/>
                <a:gd name="T50" fmla="*/ 451 w 581"/>
                <a:gd name="T51" fmla="*/ 190 h 681"/>
                <a:gd name="T52" fmla="*/ 431 w 581"/>
                <a:gd name="T53" fmla="*/ 190 h 681"/>
                <a:gd name="T54" fmla="*/ 391 w 581"/>
                <a:gd name="T55" fmla="*/ 220 h 681"/>
                <a:gd name="T56" fmla="*/ 321 w 581"/>
                <a:gd name="T57" fmla="*/ 315 h 681"/>
                <a:gd name="T58" fmla="*/ 256 w 581"/>
                <a:gd name="T59" fmla="*/ 395 h 681"/>
                <a:gd name="T60" fmla="*/ 181 w 581"/>
                <a:gd name="T61" fmla="*/ 480 h 681"/>
                <a:gd name="T62" fmla="*/ 126 w 581"/>
                <a:gd name="T63" fmla="*/ 565 h 681"/>
                <a:gd name="T64" fmla="*/ 56 w 581"/>
                <a:gd name="T65" fmla="*/ 675 h 681"/>
                <a:gd name="T66" fmla="*/ 11 w 581"/>
                <a:gd name="T67" fmla="*/ 681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1" h="681">
                  <a:moveTo>
                    <a:pt x="11" y="681"/>
                  </a:moveTo>
                  <a:lnTo>
                    <a:pt x="0" y="620"/>
                  </a:lnTo>
                  <a:lnTo>
                    <a:pt x="26" y="540"/>
                  </a:lnTo>
                  <a:lnTo>
                    <a:pt x="96" y="475"/>
                  </a:lnTo>
                  <a:lnTo>
                    <a:pt x="196" y="385"/>
                  </a:lnTo>
                  <a:lnTo>
                    <a:pt x="301" y="285"/>
                  </a:lnTo>
                  <a:lnTo>
                    <a:pt x="396" y="160"/>
                  </a:lnTo>
                  <a:lnTo>
                    <a:pt x="426" y="85"/>
                  </a:lnTo>
                  <a:lnTo>
                    <a:pt x="436" y="0"/>
                  </a:lnTo>
                  <a:lnTo>
                    <a:pt x="456" y="0"/>
                  </a:lnTo>
                  <a:lnTo>
                    <a:pt x="446" y="90"/>
                  </a:lnTo>
                  <a:lnTo>
                    <a:pt x="461" y="90"/>
                  </a:lnTo>
                  <a:lnTo>
                    <a:pt x="541" y="30"/>
                  </a:lnTo>
                  <a:lnTo>
                    <a:pt x="556" y="50"/>
                  </a:lnTo>
                  <a:lnTo>
                    <a:pt x="491" y="95"/>
                  </a:lnTo>
                  <a:lnTo>
                    <a:pt x="481" y="125"/>
                  </a:lnTo>
                  <a:lnTo>
                    <a:pt x="501" y="135"/>
                  </a:lnTo>
                  <a:lnTo>
                    <a:pt x="566" y="135"/>
                  </a:lnTo>
                  <a:lnTo>
                    <a:pt x="581" y="145"/>
                  </a:lnTo>
                  <a:lnTo>
                    <a:pt x="576" y="160"/>
                  </a:lnTo>
                  <a:lnTo>
                    <a:pt x="496" y="155"/>
                  </a:lnTo>
                  <a:lnTo>
                    <a:pt x="471" y="155"/>
                  </a:lnTo>
                  <a:lnTo>
                    <a:pt x="466" y="170"/>
                  </a:lnTo>
                  <a:lnTo>
                    <a:pt x="521" y="245"/>
                  </a:lnTo>
                  <a:lnTo>
                    <a:pt x="506" y="260"/>
                  </a:lnTo>
                  <a:lnTo>
                    <a:pt x="451" y="190"/>
                  </a:lnTo>
                  <a:lnTo>
                    <a:pt x="431" y="190"/>
                  </a:lnTo>
                  <a:lnTo>
                    <a:pt x="391" y="220"/>
                  </a:lnTo>
                  <a:lnTo>
                    <a:pt x="321" y="315"/>
                  </a:lnTo>
                  <a:lnTo>
                    <a:pt x="256" y="395"/>
                  </a:lnTo>
                  <a:lnTo>
                    <a:pt x="181" y="480"/>
                  </a:lnTo>
                  <a:lnTo>
                    <a:pt x="126" y="565"/>
                  </a:lnTo>
                  <a:lnTo>
                    <a:pt x="56" y="675"/>
                  </a:lnTo>
                  <a:lnTo>
                    <a:pt x="11" y="6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EC659B47-17AF-D467-510A-16FC728F9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8" y="1656"/>
              <a:ext cx="681" cy="481"/>
            </a:xfrm>
            <a:custGeom>
              <a:avLst/>
              <a:gdLst>
                <a:gd name="T0" fmla="*/ 0 w 681"/>
                <a:gd name="T1" fmla="*/ 360 h 481"/>
                <a:gd name="T2" fmla="*/ 5 w 681"/>
                <a:gd name="T3" fmla="*/ 400 h 481"/>
                <a:gd name="T4" fmla="*/ 40 w 681"/>
                <a:gd name="T5" fmla="*/ 430 h 481"/>
                <a:gd name="T6" fmla="*/ 125 w 681"/>
                <a:gd name="T7" fmla="*/ 455 h 481"/>
                <a:gd name="T8" fmla="*/ 215 w 681"/>
                <a:gd name="T9" fmla="*/ 475 h 481"/>
                <a:gd name="T10" fmla="*/ 325 w 681"/>
                <a:gd name="T11" fmla="*/ 481 h 481"/>
                <a:gd name="T12" fmla="*/ 370 w 681"/>
                <a:gd name="T13" fmla="*/ 475 h 481"/>
                <a:gd name="T14" fmla="*/ 440 w 681"/>
                <a:gd name="T15" fmla="*/ 315 h 481"/>
                <a:gd name="T16" fmla="*/ 500 w 681"/>
                <a:gd name="T17" fmla="*/ 190 h 481"/>
                <a:gd name="T18" fmla="*/ 550 w 681"/>
                <a:gd name="T19" fmla="*/ 110 h 481"/>
                <a:gd name="T20" fmla="*/ 570 w 681"/>
                <a:gd name="T21" fmla="*/ 110 h 481"/>
                <a:gd name="T22" fmla="*/ 580 w 681"/>
                <a:gd name="T23" fmla="*/ 125 h 481"/>
                <a:gd name="T24" fmla="*/ 580 w 681"/>
                <a:gd name="T25" fmla="*/ 165 h 481"/>
                <a:gd name="T26" fmla="*/ 560 w 681"/>
                <a:gd name="T27" fmla="*/ 190 h 481"/>
                <a:gd name="T28" fmla="*/ 570 w 681"/>
                <a:gd name="T29" fmla="*/ 200 h 481"/>
                <a:gd name="T30" fmla="*/ 595 w 681"/>
                <a:gd name="T31" fmla="*/ 185 h 481"/>
                <a:gd name="T32" fmla="*/ 600 w 681"/>
                <a:gd name="T33" fmla="*/ 160 h 481"/>
                <a:gd name="T34" fmla="*/ 600 w 681"/>
                <a:gd name="T35" fmla="*/ 115 h 481"/>
                <a:gd name="T36" fmla="*/ 620 w 681"/>
                <a:gd name="T37" fmla="*/ 135 h 481"/>
                <a:gd name="T38" fmla="*/ 635 w 681"/>
                <a:gd name="T39" fmla="*/ 170 h 481"/>
                <a:gd name="T40" fmla="*/ 650 w 681"/>
                <a:gd name="T41" fmla="*/ 165 h 481"/>
                <a:gd name="T42" fmla="*/ 635 w 681"/>
                <a:gd name="T43" fmla="*/ 125 h 481"/>
                <a:gd name="T44" fmla="*/ 615 w 681"/>
                <a:gd name="T45" fmla="*/ 105 h 481"/>
                <a:gd name="T46" fmla="*/ 600 w 681"/>
                <a:gd name="T47" fmla="*/ 90 h 481"/>
                <a:gd name="T48" fmla="*/ 635 w 681"/>
                <a:gd name="T49" fmla="*/ 80 h 481"/>
                <a:gd name="T50" fmla="*/ 670 w 681"/>
                <a:gd name="T51" fmla="*/ 95 h 481"/>
                <a:gd name="T52" fmla="*/ 675 w 681"/>
                <a:gd name="T53" fmla="*/ 75 h 481"/>
                <a:gd name="T54" fmla="*/ 635 w 681"/>
                <a:gd name="T55" fmla="*/ 60 h 481"/>
                <a:gd name="T56" fmla="*/ 595 w 681"/>
                <a:gd name="T57" fmla="*/ 65 h 481"/>
                <a:gd name="T58" fmla="*/ 600 w 681"/>
                <a:gd name="T59" fmla="*/ 40 h 481"/>
                <a:gd name="T60" fmla="*/ 625 w 681"/>
                <a:gd name="T61" fmla="*/ 20 h 481"/>
                <a:gd name="T62" fmla="*/ 660 w 681"/>
                <a:gd name="T63" fmla="*/ 20 h 481"/>
                <a:gd name="T64" fmla="*/ 681 w 681"/>
                <a:gd name="T65" fmla="*/ 10 h 481"/>
                <a:gd name="T66" fmla="*/ 640 w 681"/>
                <a:gd name="T67" fmla="*/ 0 h 481"/>
                <a:gd name="T68" fmla="*/ 605 w 681"/>
                <a:gd name="T69" fmla="*/ 5 h 481"/>
                <a:gd name="T70" fmla="*/ 585 w 681"/>
                <a:gd name="T71" fmla="*/ 20 h 481"/>
                <a:gd name="T72" fmla="*/ 535 w 681"/>
                <a:gd name="T73" fmla="*/ 50 h 481"/>
                <a:gd name="T74" fmla="*/ 510 w 681"/>
                <a:gd name="T75" fmla="*/ 90 h 481"/>
                <a:gd name="T76" fmla="*/ 470 w 681"/>
                <a:gd name="T77" fmla="*/ 155 h 481"/>
                <a:gd name="T78" fmla="*/ 420 w 681"/>
                <a:gd name="T79" fmla="*/ 245 h 481"/>
                <a:gd name="T80" fmla="*/ 360 w 681"/>
                <a:gd name="T81" fmla="*/ 350 h 481"/>
                <a:gd name="T82" fmla="*/ 335 w 681"/>
                <a:gd name="T83" fmla="*/ 410 h 481"/>
                <a:gd name="T84" fmla="*/ 310 w 681"/>
                <a:gd name="T85" fmla="*/ 410 h 481"/>
                <a:gd name="T86" fmla="*/ 215 w 681"/>
                <a:gd name="T87" fmla="*/ 405 h 481"/>
                <a:gd name="T88" fmla="*/ 145 w 681"/>
                <a:gd name="T89" fmla="*/ 375 h 481"/>
                <a:gd name="T90" fmla="*/ 80 w 681"/>
                <a:gd name="T91" fmla="*/ 340 h 481"/>
                <a:gd name="T92" fmla="*/ 30 w 681"/>
                <a:gd name="T93" fmla="*/ 330 h 481"/>
                <a:gd name="T94" fmla="*/ 25 w 681"/>
                <a:gd name="T95" fmla="*/ 330 h 481"/>
                <a:gd name="T96" fmla="*/ 0 w 681"/>
                <a:gd name="T97" fmla="*/ 36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1" h="481">
                  <a:moveTo>
                    <a:pt x="0" y="360"/>
                  </a:moveTo>
                  <a:lnTo>
                    <a:pt x="5" y="400"/>
                  </a:lnTo>
                  <a:lnTo>
                    <a:pt x="40" y="430"/>
                  </a:lnTo>
                  <a:lnTo>
                    <a:pt x="125" y="455"/>
                  </a:lnTo>
                  <a:lnTo>
                    <a:pt x="215" y="475"/>
                  </a:lnTo>
                  <a:lnTo>
                    <a:pt x="325" y="481"/>
                  </a:lnTo>
                  <a:lnTo>
                    <a:pt x="370" y="475"/>
                  </a:lnTo>
                  <a:lnTo>
                    <a:pt x="440" y="315"/>
                  </a:lnTo>
                  <a:lnTo>
                    <a:pt x="500" y="190"/>
                  </a:lnTo>
                  <a:lnTo>
                    <a:pt x="550" y="110"/>
                  </a:lnTo>
                  <a:lnTo>
                    <a:pt x="570" y="110"/>
                  </a:lnTo>
                  <a:lnTo>
                    <a:pt x="580" y="125"/>
                  </a:lnTo>
                  <a:lnTo>
                    <a:pt x="580" y="165"/>
                  </a:lnTo>
                  <a:lnTo>
                    <a:pt x="560" y="190"/>
                  </a:lnTo>
                  <a:lnTo>
                    <a:pt x="570" y="200"/>
                  </a:lnTo>
                  <a:lnTo>
                    <a:pt x="595" y="185"/>
                  </a:lnTo>
                  <a:lnTo>
                    <a:pt x="600" y="160"/>
                  </a:lnTo>
                  <a:lnTo>
                    <a:pt x="600" y="115"/>
                  </a:lnTo>
                  <a:lnTo>
                    <a:pt x="620" y="135"/>
                  </a:lnTo>
                  <a:lnTo>
                    <a:pt x="635" y="170"/>
                  </a:lnTo>
                  <a:lnTo>
                    <a:pt x="650" y="165"/>
                  </a:lnTo>
                  <a:lnTo>
                    <a:pt x="635" y="125"/>
                  </a:lnTo>
                  <a:lnTo>
                    <a:pt x="615" y="105"/>
                  </a:lnTo>
                  <a:lnTo>
                    <a:pt x="600" y="90"/>
                  </a:lnTo>
                  <a:lnTo>
                    <a:pt x="635" y="80"/>
                  </a:lnTo>
                  <a:lnTo>
                    <a:pt x="670" y="95"/>
                  </a:lnTo>
                  <a:lnTo>
                    <a:pt x="675" y="75"/>
                  </a:lnTo>
                  <a:lnTo>
                    <a:pt x="635" y="60"/>
                  </a:lnTo>
                  <a:lnTo>
                    <a:pt x="595" y="65"/>
                  </a:lnTo>
                  <a:lnTo>
                    <a:pt x="600" y="40"/>
                  </a:lnTo>
                  <a:lnTo>
                    <a:pt x="625" y="20"/>
                  </a:lnTo>
                  <a:lnTo>
                    <a:pt x="660" y="20"/>
                  </a:lnTo>
                  <a:lnTo>
                    <a:pt x="681" y="10"/>
                  </a:lnTo>
                  <a:lnTo>
                    <a:pt x="640" y="0"/>
                  </a:lnTo>
                  <a:lnTo>
                    <a:pt x="605" y="5"/>
                  </a:lnTo>
                  <a:lnTo>
                    <a:pt x="585" y="20"/>
                  </a:lnTo>
                  <a:lnTo>
                    <a:pt x="535" y="50"/>
                  </a:lnTo>
                  <a:lnTo>
                    <a:pt x="510" y="90"/>
                  </a:lnTo>
                  <a:lnTo>
                    <a:pt x="470" y="155"/>
                  </a:lnTo>
                  <a:lnTo>
                    <a:pt x="420" y="245"/>
                  </a:lnTo>
                  <a:lnTo>
                    <a:pt x="360" y="350"/>
                  </a:lnTo>
                  <a:lnTo>
                    <a:pt x="335" y="410"/>
                  </a:lnTo>
                  <a:lnTo>
                    <a:pt x="310" y="410"/>
                  </a:lnTo>
                  <a:lnTo>
                    <a:pt x="215" y="405"/>
                  </a:lnTo>
                  <a:lnTo>
                    <a:pt x="145" y="375"/>
                  </a:lnTo>
                  <a:lnTo>
                    <a:pt x="80" y="340"/>
                  </a:lnTo>
                  <a:lnTo>
                    <a:pt x="30" y="330"/>
                  </a:lnTo>
                  <a:lnTo>
                    <a:pt x="25" y="330"/>
                  </a:lnTo>
                  <a:lnTo>
                    <a:pt x="0" y="3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6418D4B-3409-BEEE-C80D-4FD407957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2007"/>
              <a:ext cx="356" cy="726"/>
            </a:xfrm>
            <a:custGeom>
              <a:avLst/>
              <a:gdLst>
                <a:gd name="T0" fmla="*/ 60 w 356"/>
                <a:gd name="T1" fmla="*/ 75 h 726"/>
                <a:gd name="T2" fmla="*/ 110 w 356"/>
                <a:gd name="T3" fmla="*/ 15 h 726"/>
                <a:gd name="T4" fmla="*/ 165 w 356"/>
                <a:gd name="T5" fmla="*/ 0 h 726"/>
                <a:gd name="T6" fmla="*/ 246 w 356"/>
                <a:gd name="T7" fmla="*/ 20 h 726"/>
                <a:gd name="T8" fmla="*/ 261 w 356"/>
                <a:gd name="T9" fmla="*/ 60 h 726"/>
                <a:gd name="T10" fmla="*/ 266 w 356"/>
                <a:gd name="T11" fmla="*/ 135 h 726"/>
                <a:gd name="T12" fmla="*/ 236 w 356"/>
                <a:gd name="T13" fmla="*/ 255 h 726"/>
                <a:gd name="T14" fmla="*/ 221 w 356"/>
                <a:gd name="T15" fmla="*/ 305 h 726"/>
                <a:gd name="T16" fmla="*/ 221 w 356"/>
                <a:gd name="T17" fmla="*/ 360 h 726"/>
                <a:gd name="T18" fmla="*/ 241 w 356"/>
                <a:gd name="T19" fmla="*/ 411 h 726"/>
                <a:gd name="T20" fmla="*/ 271 w 356"/>
                <a:gd name="T21" fmla="*/ 451 h 726"/>
                <a:gd name="T22" fmla="*/ 341 w 356"/>
                <a:gd name="T23" fmla="*/ 511 h 726"/>
                <a:gd name="T24" fmla="*/ 356 w 356"/>
                <a:gd name="T25" fmla="*/ 576 h 726"/>
                <a:gd name="T26" fmla="*/ 346 w 356"/>
                <a:gd name="T27" fmla="*/ 626 h 726"/>
                <a:gd name="T28" fmla="*/ 326 w 356"/>
                <a:gd name="T29" fmla="*/ 666 h 726"/>
                <a:gd name="T30" fmla="*/ 276 w 356"/>
                <a:gd name="T31" fmla="*/ 711 h 726"/>
                <a:gd name="T32" fmla="*/ 236 w 356"/>
                <a:gd name="T33" fmla="*/ 726 h 726"/>
                <a:gd name="T34" fmla="*/ 175 w 356"/>
                <a:gd name="T35" fmla="*/ 721 h 726"/>
                <a:gd name="T36" fmla="*/ 115 w 356"/>
                <a:gd name="T37" fmla="*/ 706 h 726"/>
                <a:gd name="T38" fmla="*/ 80 w 356"/>
                <a:gd name="T39" fmla="*/ 666 h 726"/>
                <a:gd name="T40" fmla="*/ 40 w 356"/>
                <a:gd name="T41" fmla="*/ 601 h 726"/>
                <a:gd name="T42" fmla="*/ 20 w 356"/>
                <a:gd name="T43" fmla="*/ 541 h 726"/>
                <a:gd name="T44" fmla="*/ 0 w 356"/>
                <a:gd name="T45" fmla="*/ 436 h 726"/>
                <a:gd name="T46" fmla="*/ 0 w 356"/>
                <a:gd name="T47" fmla="*/ 320 h 726"/>
                <a:gd name="T48" fmla="*/ 25 w 356"/>
                <a:gd name="T49" fmla="*/ 195 h 726"/>
                <a:gd name="T50" fmla="*/ 45 w 356"/>
                <a:gd name="T51" fmla="*/ 120 h 726"/>
                <a:gd name="T52" fmla="*/ 60 w 356"/>
                <a:gd name="T53" fmla="*/ 75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6" h="726">
                  <a:moveTo>
                    <a:pt x="60" y="75"/>
                  </a:moveTo>
                  <a:lnTo>
                    <a:pt x="110" y="15"/>
                  </a:lnTo>
                  <a:lnTo>
                    <a:pt x="165" y="0"/>
                  </a:lnTo>
                  <a:lnTo>
                    <a:pt x="246" y="20"/>
                  </a:lnTo>
                  <a:lnTo>
                    <a:pt x="261" y="60"/>
                  </a:lnTo>
                  <a:lnTo>
                    <a:pt x="266" y="135"/>
                  </a:lnTo>
                  <a:lnTo>
                    <a:pt x="236" y="255"/>
                  </a:lnTo>
                  <a:lnTo>
                    <a:pt x="221" y="305"/>
                  </a:lnTo>
                  <a:lnTo>
                    <a:pt x="221" y="360"/>
                  </a:lnTo>
                  <a:lnTo>
                    <a:pt x="241" y="411"/>
                  </a:lnTo>
                  <a:lnTo>
                    <a:pt x="271" y="451"/>
                  </a:lnTo>
                  <a:lnTo>
                    <a:pt x="341" y="511"/>
                  </a:lnTo>
                  <a:lnTo>
                    <a:pt x="356" y="576"/>
                  </a:lnTo>
                  <a:lnTo>
                    <a:pt x="346" y="626"/>
                  </a:lnTo>
                  <a:lnTo>
                    <a:pt x="326" y="666"/>
                  </a:lnTo>
                  <a:lnTo>
                    <a:pt x="276" y="711"/>
                  </a:lnTo>
                  <a:lnTo>
                    <a:pt x="236" y="726"/>
                  </a:lnTo>
                  <a:lnTo>
                    <a:pt x="175" y="721"/>
                  </a:lnTo>
                  <a:lnTo>
                    <a:pt x="115" y="706"/>
                  </a:lnTo>
                  <a:lnTo>
                    <a:pt x="80" y="666"/>
                  </a:lnTo>
                  <a:lnTo>
                    <a:pt x="40" y="601"/>
                  </a:lnTo>
                  <a:lnTo>
                    <a:pt x="20" y="541"/>
                  </a:lnTo>
                  <a:lnTo>
                    <a:pt x="0" y="436"/>
                  </a:lnTo>
                  <a:lnTo>
                    <a:pt x="0" y="320"/>
                  </a:lnTo>
                  <a:lnTo>
                    <a:pt x="25" y="195"/>
                  </a:lnTo>
                  <a:lnTo>
                    <a:pt x="45" y="120"/>
                  </a:lnTo>
                  <a:lnTo>
                    <a:pt x="60" y="7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876AFE82-6628-89B4-0527-1B28158CD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" y="2608"/>
              <a:ext cx="300" cy="836"/>
            </a:xfrm>
            <a:custGeom>
              <a:avLst/>
              <a:gdLst>
                <a:gd name="T0" fmla="*/ 30 w 300"/>
                <a:gd name="T1" fmla="*/ 55 h 836"/>
                <a:gd name="T2" fmla="*/ 45 w 300"/>
                <a:gd name="T3" fmla="*/ 10 h 836"/>
                <a:gd name="T4" fmla="*/ 90 w 300"/>
                <a:gd name="T5" fmla="*/ 0 h 836"/>
                <a:gd name="T6" fmla="*/ 130 w 300"/>
                <a:gd name="T7" fmla="*/ 20 h 836"/>
                <a:gd name="T8" fmla="*/ 180 w 300"/>
                <a:gd name="T9" fmla="*/ 105 h 836"/>
                <a:gd name="T10" fmla="*/ 240 w 300"/>
                <a:gd name="T11" fmla="*/ 205 h 836"/>
                <a:gd name="T12" fmla="*/ 285 w 300"/>
                <a:gd name="T13" fmla="*/ 288 h 836"/>
                <a:gd name="T14" fmla="*/ 300 w 300"/>
                <a:gd name="T15" fmla="*/ 375 h 836"/>
                <a:gd name="T16" fmla="*/ 295 w 300"/>
                <a:gd name="T17" fmla="*/ 436 h 836"/>
                <a:gd name="T18" fmla="*/ 250 w 300"/>
                <a:gd name="T19" fmla="*/ 516 h 836"/>
                <a:gd name="T20" fmla="*/ 195 w 300"/>
                <a:gd name="T21" fmla="*/ 571 h 836"/>
                <a:gd name="T22" fmla="*/ 150 w 300"/>
                <a:gd name="T23" fmla="*/ 596 h 836"/>
                <a:gd name="T24" fmla="*/ 80 w 300"/>
                <a:gd name="T25" fmla="*/ 611 h 836"/>
                <a:gd name="T26" fmla="*/ 55 w 300"/>
                <a:gd name="T27" fmla="*/ 636 h 836"/>
                <a:gd name="T28" fmla="*/ 75 w 300"/>
                <a:gd name="T29" fmla="*/ 676 h 836"/>
                <a:gd name="T30" fmla="*/ 110 w 300"/>
                <a:gd name="T31" fmla="*/ 711 h 836"/>
                <a:gd name="T32" fmla="*/ 135 w 300"/>
                <a:gd name="T33" fmla="*/ 776 h 836"/>
                <a:gd name="T34" fmla="*/ 175 w 300"/>
                <a:gd name="T35" fmla="*/ 771 h 836"/>
                <a:gd name="T36" fmla="*/ 200 w 300"/>
                <a:gd name="T37" fmla="*/ 806 h 836"/>
                <a:gd name="T38" fmla="*/ 165 w 300"/>
                <a:gd name="T39" fmla="*/ 836 h 836"/>
                <a:gd name="T40" fmla="*/ 135 w 300"/>
                <a:gd name="T41" fmla="*/ 821 h 836"/>
                <a:gd name="T42" fmla="*/ 100 w 300"/>
                <a:gd name="T43" fmla="*/ 796 h 836"/>
                <a:gd name="T44" fmla="*/ 85 w 300"/>
                <a:gd name="T45" fmla="*/ 731 h 836"/>
                <a:gd name="T46" fmla="*/ 35 w 300"/>
                <a:gd name="T47" fmla="*/ 686 h 836"/>
                <a:gd name="T48" fmla="*/ 0 w 300"/>
                <a:gd name="T49" fmla="*/ 636 h 836"/>
                <a:gd name="T50" fmla="*/ 5 w 300"/>
                <a:gd name="T51" fmla="*/ 601 h 836"/>
                <a:gd name="T52" fmla="*/ 40 w 300"/>
                <a:gd name="T53" fmla="*/ 586 h 836"/>
                <a:gd name="T54" fmla="*/ 125 w 300"/>
                <a:gd name="T55" fmla="*/ 556 h 836"/>
                <a:gd name="T56" fmla="*/ 195 w 300"/>
                <a:gd name="T57" fmla="*/ 516 h 836"/>
                <a:gd name="T58" fmla="*/ 220 w 300"/>
                <a:gd name="T59" fmla="*/ 456 h 836"/>
                <a:gd name="T60" fmla="*/ 235 w 300"/>
                <a:gd name="T61" fmla="*/ 410 h 836"/>
                <a:gd name="T62" fmla="*/ 235 w 300"/>
                <a:gd name="T63" fmla="*/ 370 h 836"/>
                <a:gd name="T64" fmla="*/ 230 w 300"/>
                <a:gd name="T65" fmla="*/ 320 h 836"/>
                <a:gd name="T66" fmla="*/ 210 w 300"/>
                <a:gd name="T67" fmla="*/ 280 h 836"/>
                <a:gd name="T68" fmla="*/ 175 w 300"/>
                <a:gd name="T69" fmla="*/ 220 h 836"/>
                <a:gd name="T70" fmla="*/ 115 w 300"/>
                <a:gd name="T71" fmla="*/ 155 h 836"/>
                <a:gd name="T72" fmla="*/ 75 w 300"/>
                <a:gd name="T73" fmla="*/ 120 h 836"/>
                <a:gd name="T74" fmla="*/ 40 w 300"/>
                <a:gd name="T75" fmla="*/ 80 h 836"/>
                <a:gd name="T76" fmla="*/ 30 w 300"/>
                <a:gd name="T77" fmla="*/ 55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00" h="836">
                  <a:moveTo>
                    <a:pt x="30" y="55"/>
                  </a:moveTo>
                  <a:lnTo>
                    <a:pt x="45" y="10"/>
                  </a:lnTo>
                  <a:lnTo>
                    <a:pt x="90" y="0"/>
                  </a:lnTo>
                  <a:lnTo>
                    <a:pt x="130" y="20"/>
                  </a:lnTo>
                  <a:lnTo>
                    <a:pt x="180" y="105"/>
                  </a:lnTo>
                  <a:lnTo>
                    <a:pt x="240" y="205"/>
                  </a:lnTo>
                  <a:lnTo>
                    <a:pt x="285" y="288"/>
                  </a:lnTo>
                  <a:lnTo>
                    <a:pt x="300" y="375"/>
                  </a:lnTo>
                  <a:lnTo>
                    <a:pt x="295" y="436"/>
                  </a:lnTo>
                  <a:lnTo>
                    <a:pt x="250" y="516"/>
                  </a:lnTo>
                  <a:lnTo>
                    <a:pt x="195" y="571"/>
                  </a:lnTo>
                  <a:lnTo>
                    <a:pt x="150" y="596"/>
                  </a:lnTo>
                  <a:lnTo>
                    <a:pt x="80" y="611"/>
                  </a:lnTo>
                  <a:lnTo>
                    <a:pt x="55" y="636"/>
                  </a:lnTo>
                  <a:lnTo>
                    <a:pt x="75" y="676"/>
                  </a:lnTo>
                  <a:lnTo>
                    <a:pt x="110" y="711"/>
                  </a:lnTo>
                  <a:lnTo>
                    <a:pt x="135" y="776"/>
                  </a:lnTo>
                  <a:lnTo>
                    <a:pt x="175" y="771"/>
                  </a:lnTo>
                  <a:lnTo>
                    <a:pt x="200" y="806"/>
                  </a:lnTo>
                  <a:lnTo>
                    <a:pt x="165" y="836"/>
                  </a:lnTo>
                  <a:lnTo>
                    <a:pt x="135" y="821"/>
                  </a:lnTo>
                  <a:lnTo>
                    <a:pt x="100" y="796"/>
                  </a:lnTo>
                  <a:lnTo>
                    <a:pt x="85" y="731"/>
                  </a:lnTo>
                  <a:lnTo>
                    <a:pt x="35" y="686"/>
                  </a:lnTo>
                  <a:lnTo>
                    <a:pt x="0" y="636"/>
                  </a:lnTo>
                  <a:lnTo>
                    <a:pt x="5" y="601"/>
                  </a:lnTo>
                  <a:lnTo>
                    <a:pt x="40" y="586"/>
                  </a:lnTo>
                  <a:lnTo>
                    <a:pt x="125" y="556"/>
                  </a:lnTo>
                  <a:lnTo>
                    <a:pt x="195" y="516"/>
                  </a:lnTo>
                  <a:lnTo>
                    <a:pt x="220" y="456"/>
                  </a:lnTo>
                  <a:lnTo>
                    <a:pt x="235" y="410"/>
                  </a:lnTo>
                  <a:lnTo>
                    <a:pt x="235" y="370"/>
                  </a:lnTo>
                  <a:lnTo>
                    <a:pt x="230" y="320"/>
                  </a:lnTo>
                  <a:lnTo>
                    <a:pt x="210" y="280"/>
                  </a:lnTo>
                  <a:lnTo>
                    <a:pt x="175" y="220"/>
                  </a:lnTo>
                  <a:lnTo>
                    <a:pt x="115" y="155"/>
                  </a:lnTo>
                  <a:lnTo>
                    <a:pt x="75" y="120"/>
                  </a:lnTo>
                  <a:lnTo>
                    <a:pt x="40" y="80"/>
                  </a:lnTo>
                  <a:lnTo>
                    <a:pt x="30" y="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519A621-6038-EE5D-215D-5AA38C324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2422"/>
              <a:ext cx="621" cy="441"/>
            </a:xfrm>
            <a:custGeom>
              <a:avLst/>
              <a:gdLst>
                <a:gd name="T0" fmla="*/ 0 w 621"/>
                <a:gd name="T1" fmla="*/ 225 h 441"/>
                <a:gd name="T2" fmla="*/ 5 w 621"/>
                <a:gd name="T3" fmla="*/ 265 h 441"/>
                <a:gd name="T4" fmla="*/ 80 w 621"/>
                <a:gd name="T5" fmla="*/ 295 h 441"/>
                <a:gd name="T6" fmla="*/ 160 w 621"/>
                <a:gd name="T7" fmla="*/ 300 h 441"/>
                <a:gd name="T8" fmla="*/ 235 w 621"/>
                <a:gd name="T9" fmla="*/ 270 h 441"/>
                <a:gd name="T10" fmla="*/ 290 w 621"/>
                <a:gd name="T11" fmla="*/ 185 h 441"/>
                <a:gd name="T12" fmla="*/ 330 w 621"/>
                <a:gd name="T13" fmla="*/ 100 h 441"/>
                <a:gd name="T14" fmla="*/ 345 w 621"/>
                <a:gd name="T15" fmla="*/ 85 h 441"/>
                <a:gd name="T16" fmla="*/ 370 w 621"/>
                <a:gd name="T17" fmla="*/ 90 h 441"/>
                <a:gd name="T18" fmla="*/ 405 w 621"/>
                <a:gd name="T19" fmla="*/ 160 h 441"/>
                <a:gd name="T20" fmla="*/ 435 w 621"/>
                <a:gd name="T21" fmla="*/ 285 h 441"/>
                <a:gd name="T22" fmla="*/ 455 w 621"/>
                <a:gd name="T23" fmla="*/ 380 h 441"/>
                <a:gd name="T24" fmla="*/ 465 w 621"/>
                <a:gd name="T25" fmla="*/ 430 h 441"/>
                <a:gd name="T26" fmla="*/ 495 w 621"/>
                <a:gd name="T27" fmla="*/ 441 h 441"/>
                <a:gd name="T28" fmla="*/ 520 w 621"/>
                <a:gd name="T29" fmla="*/ 420 h 441"/>
                <a:gd name="T30" fmla="*/ 540 w 621"/>
                <a:gd name="T31" fmla="*/ 350 h 441"/>
                <a:gd name="T32" fmla="*/ 570 w 621"/>
                <a:gd name="T33" fmla="*/ 285 h 441"/>
                <a:gd name="T34" fmla="*/ 585 w 621"/>
                <a:gd name="T35" fmla="*/ 205 h 441"/>
                <a:gd name="T36" fmla="*/ 615 w 621"/>
                <a:gd name="T37" fmla="*/ 200 h 441"/>
                <a:gd name="T38" fmla="*/ 621 w 621"/>
                <a:gd name="T39" fmla="*/ 185 h 441"/>
                <a:gd name="T40" fmla="*/ 600 w 621"/>
                <a:gd name="T41" fmla="*/ 165 h 441"/>
                <a:gd name="T42" fmla="*/ 565 w 621"/>
                <a:gd name="T43" fmla="*/ 170 h 441"/>
                <a:gd name="T44" fmla="*/ 550 w 621"/>
                <a:gd name="T45" fmla="*/ 220 h 441"/>
                <a:gd name="T46" fmla="*/ 545 w 621"/>
                <a:gd name="T47" fmla="*/ 260 h 441"/>
                <a:gd name="T48" fmla="*/ 525 w 621"/>
                <a:gd name="T49" fmla="*/ 315 h 441"/>
                <a:gd name="T50" fmla="*/ 500 w 621"/>
                <a:gd name="T51" fmla="*/ 335 h 441"/>
                <a:gd name="T52" fmla="*/ 480 w 621"/>
                <a:gd name="T53" fmla="*/ 275 h 441"/>
                <a:gd name="T54" fmla="*/ 455 w 621"/>
                <a:gd name="T55" fmla="*/ 170 h 441"/>
                <a:gd name="T56" fmla="*/ 440 w 621"/>
                <a:gd name="T57" fmla="*/ 120 h 441"/>
                <a:gd name="T58" fmla="*/ 410 w 621"/>
                <a:gd name="T59" fmla="*/ 60 h 441"/>
                <a:gd name="T60" fmla="*/ 385 w 621"/>
                <a:gd name="T61" fmla="*/ 15 h 441"/>
                <a:gd name="T62" fmla="*/ 340 w 621"/>
                <a:gd name="T63" fmla="*/ 0 h 441"/>
                <a:gd name="T64" fmla="*/ 320 w 621"/>
                <a:gd name="T65" fmla="*/ 5 h 441"/>
                <a:gd name="T66" fmla="*/ 290 w 621"/>
                <a:gd name="T67" fmla="*/ 70 h 441"/>
                <a:gd name="T68" fmla="*/ 255 w 621"/>
                <a:gd name="T69" fmla="*/ 150 h 441"/>
                <a:gd name="T70" fmla="*/ 220 w 621"/>
                <a:gd name="T71" fmla="*/ 185 h 441"/>
                <a:gd name="T72" fmla="*/ 175 w 621"/>
                <a:gd name="T73" fmla="*/ 220 h 441"/>
                <a:gd name="T74" fmla="*/ 120 w 621"/>
                <a:gd name="T75" fmla="*/ 190 h 441"/>
                <a:gd name="T76" fmla="*/ 55 w 621"/>
                <a:gd name="T77" fmla="*/ 170 h 441"/>
                <a:gd name="T78" fmla="*/ 30 w 621"/>
                <a:gd name="T79" fmla="*/ 190 h 441"/>
                <a:gd name="T80" fmla="*/ 0 w 621"/>
                <a:gd name="T81" fmla="*/ 225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21" h="441">
                  <a:moveTo>
                    <a:pt x="0" y="225"/>
                  </a:moveTo>
                  <a:lnTo>
                    <a:pt x="5" y="265"/>
                  </a:lnTo>
                  <a:lnTo>
                    <a:pt x="80" y="295"/>
                  </a:lnTo>
                  <a:lnTo>
                    <a:pt x="160" y="300"/>
                  </a:lnTo>
                  <a:lnTo>
                    <a:pt x="235" y="270"/>
                  </a:lnTo>
                  <a:lnTo>
                    <a:pt x="290" y="185"/>
                  </a:lnTo>
                  <a:lnTo>
                    <a:pt x="330" y="100"/>
                  </a:lnTo>
                  <a:lnTo>
                    <a:pt x="345" y="85"/>
                  </a:lnTo>
                  <a:lnTo>
                    <a:pt x="370" y="90"/>
                  </a:lnTo>
                  <a:lnTo>
                    <a:pt x="405" y="160"/>
                  </a:lnTo>
                  <a:lnTo>
                    <a:pt x="435" y="285"/>
                  </a:lnTo>
                  <a:lnTo>
                    <a:pt x="455" y="380"/>
                  </a:lnTo>
                  <a:lnTo>
                    <a:pt x="465" y="430"/>
                  </a:lnTo>
                  <a:lnTo>
                    <a:pt x="495" y="441"/>
                  </a:lnTo>
                  <a:lnTo>
                    <a:pt x="520" y="420"/>
                  </a:lnTo>
                  <a:lnTo>
                    <a:pt x="540" y="350"/>
                  </a:lnTo>
                  <a:lnTo>
                    <a:pt x="570" y="285"/>
                  </a:lnTo>
                  <a:lnTo>
                    <a:pt x="585" y="205"/>
                  </a:lnTo>
                  <a:lnTo>
                    <a:pt x="615" y="200"/>
                  </a:lnTo>
                  <a:lnTo>
                    <a:pt x="621" y="185"/>
                  </a:lnTo>
                  <a:lnTo>
                    <a:pt x="600" y="165"/>
                  </a:lnTo>
                  <a:lnTo>
                    <a:pt x="565" y="170"/>
                  </a:lnTo>
                  <a:lnTo>
                    <a:pt x="550" y="220"/>
                  </a:lnTo>
                  <a:lnTo>
                    <a:pt x="545" y="260"/>
                  </a:lnTo>
                  <a:lnTo>
                    <a:pt x="525" y="315"/>
                  </a:lnTo>
                  <a:lnTo>
                    <a:pt x="500" y="335"/>
                  </a:lnTo>
                  <a:lnTo>
                    <a:pt x="480" y="275"/>
                  </a:lnTo>
                  <a:lnTo>
                    <a:pt x="455" y="170"/>
                  </a:lnTo>
                  <a:lnTo>
                    <a:pt x="440" y="120"/>
                  </a:lnTo>
                  <a:lnTo>
                    <a:pt x="410" y="60"/>
                  </a:lnTo>
                  <a:lnTo>
                    <a:pt x="385" y="15"/>
                  </a:lnTo>
                  <a:lnTo>
                    <a:pt x="340" y="0"/>
                  </a:lnTo>
                  <a:lnTo>
                    <a:pt x="320" y="5"/>
                  </a:lnTo>
                  <a:lnTo>
                    <a:pt x="290" y="70"/>
                  </a:lnTo>
                  <a:lnTo>
                    <a:pt x="255" y="150"/>
                  </a:lnTo>
                  <a:lnTo>
                    <a:pt x="220" y="185"/>
                  </a:lnTo>
                  <a:lnTo>
                    <a:pt x="175" y="220"/>
                  </a:lnTo>
                  <a:lnTo>
                    <a:pt x="120" y="190"/>
                  </a:lnTo>
                  <a:lnTo>
                    <a:pt x="55" y="170"/>
                  </a:lnTo>
                  <a:lnTo>
                    <a:pt x="30" y="190"/>
                  </a:lnTo>
                  <a:lnTo>
                    <a:pt x="0" y="2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9" name="Group 13">
            <a:extLst>
              <a:ext uri="{FF2B5EF4-FFF2-40B4-BE49-F238E27FC236}">
                <a16:creationId xmlns:a16="http://schemas.microsoft.com/office/drawing/2014/main" id="{AC21F706-D67E-3FC1-C8D3-551E3E33EFFA}"/>
              </a:ext>
            </a:extLst>
          </p:cNvPr>
          <p:cNvGrpSpPr>
            <a:grpSpLocks/>
          </p:cNvGrpSpPr>
          <p:nvPr/>
        </p:nvGrpSpPr>
        <p:grpSpPr bwMode="auto">
          <a:xfrm rot="2429079">
            <a:off x="6746287" y="4854392"/>
            <a:ext cx="435247" cy="700162"/>
            <a:chOff x="2452" y="1140"/>
            <a:chExt cx="857" cy="2304"/>
          </a:xfrm>
        </p:grpSpPr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AEEA2640-29EB-B892-6B17-91422B46E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3" y="1550"/>
              <a:ext cx="330" cy="401"/>
            </a:xfrm>
            <a:custGeom>
              <a:avLst/>
              <a:gdLst>
                <a:gd name="T0" fmla="*/ 230 w 330"/>
                <a:gd name="T1" fmla="*/ 126 h 401"/>
                <a:gd name="T2" fmla="*/ 215 w 330"/>
                <a:gd name="T3" fmla="*/ 61 h 401"/>
                <a:gd name="T4" fmla="*/ 180 w 330"/>
                <a:gd name="T5" fmla="*/ 21 h 401"/>
                <a:gd name="T6" fmla="*/ 130 w 330"/>
                <a:gd name="T7" fmla="*/ 0 h 401"/>
                <a:gd name="T8" fmla="*/ 55 w 330"/>
                <a:gd name="T9" fmla="*/ 16 h 401"/>
                <a:gd name="T10" fmla="*/ 15 w 330"/>
                <a:gd name="T11" fmla="*/ 91 h 401"/>
                <a:gd name="T12" fmla="*/ 0 w 330"/>
                <a:gd name="T13" fmla="*/ 166 h 401"/>
                <a:gd name="T14" fmla="*/ 0 w 330"/>
                <a:gd name="T15" fmla="*/ 246 h 401"/>
                <a:gd name="T16" fmla="*/ 15 w 330"/>
                <a:gd name="T17" fmla="*/ 336 h 401"/>
                <a:gd name="T18" fmla="*/ 70 w 330"/>
                <a:gd name="T19" fmla="*/ 391 h 401"/>
                <a:gd name="T20" fmla="*/ 120 w 330"/>
                <a:gd name="T21" fmla="*/ 401 h 401"/>
                <a:gd name="T22" fmla="*/ 185 w 330"/>
                <a:gd name="T23" fmla="*/ 386 h 401"/>
                <a:gd name="T24" fmla="*/ 215 w 330"/>
                <a:gd name="T25" fmla="*/ 326 h 401"/>
                <a:gd name="T26" fmla="*/ 235 w 330"/>
                <a:gd name="T27" fmla="*/ 266 h 401"/>
                <a:gd name="T28" fmla="*/ 245 w 330"/>
                <a:gd name="T29" fmla="*/ 216 h 401"/>
                <a:gd name="T30" fmla="*/ 245 w 330"/>
                <a:gd name="T31" fmla="*/ 181 h 401"/>
                <a:gd name="T32" fmla="*/ 325 w 330"/>
                <a:gd name="T33" fmla="*/ 106 h 401"/>
                <a:gd name="T34" fmla="*/ 330 w 330"/>
                <a:gd name="T35" fmla="*/ 81 h 401"/>
                <a:gd name="T36" fmla="*/ 315 w 330"/>
                <a:gd name="T37" fmla="*/ 71 h 401"/>
                <a:gd name="T38" fmla="*/ 235 w 330"/>
                <a:gd name="T39" fmla="*/ 156 h 401"/>
                <a:gd name="T40" fmla="*/ 230 w 330"/>
                <a:gd name="T41" fmla="*/ 126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0" h="401">
                  <a:moveTo>
                    <a:pt x="230" y="126"/>
                  </a:moveTo>
                  <a:lnTo>
                    <a:pt x="215" y="61"/>
                  </a:lnTo>
                  <a:lnTo>
                    <a:pt x="180" y="21"/>
                  </a:lnTo>
                  <a:lnTo>
                    <a:pt x="130" y="0"/>
                  </a:lnTo>
                  <a:lnTo>
                    <a:pt x="55" y="16"/>
                  </a:lnTo>
                  <a:lnTo>
                    <a:pt x="15" y="91"/>
                  </a:lnTo>
                  <a:lnTo>
                    <a:pt x="0" y="166"/>
                  </a:lnTo>
                  <a:lnTo>
                    <a:pt x="0" y="246"/>
                  </a:lnTo>
                  <a:lnTo>
                    <a:pt x="15" y="336"/>
                  </a:lnTo>
                  <a:lnTo>
                    <a:pt x="70" y="391"/>
                  </a:lnTo>
                  <a:lnTo>
                    <a:pt x="120" y="401"/>
                  </a:lnTo>
                  <a:lnTo>
                    <a:pt x="185" y="386"/>
                  </a:lnTo>
                  <a:lnTo>
                    <a:pt x="215" y="326"/>
                  </a:lnTo>
                  <a:lnTo>
                    <a:pt x="235" y="266"/>
                  </a:lnTo>
                  <a:lnTo>
                    <a:pt x="245" y="216"/>
                  </a:lnTo>
                  <a:lnTo>
                    <a:pt x="245" y="181"/>
                  </a:lnTo>
                  <a:lnTo>
                    <a:pt x="325" y="106"/>
                  </a:lnTo>
                  <a:lnTo>
                    <a:pt x="330" y="81"/>
                  </a:lnTo>
                  <a:lnTo>
                    <a:pt x="315" y="71"/>
                  </a:lnTo>
                  <a:lnTo>
                    <a:pt x="235" y="156"/>
                  </a:lnTo>
                  <a:lnTo>
                    <a:pt x="230" y="1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9EBC2C2-7BD8-490D-F2BB-595C223B1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1140"/>
              <a:ext cx="581" cy="681"/>
            </a:xfrm>
            <a:custGeom>
              <a:avLst/>
              <a:gdLst>
                <a:gd name="T0" fmla="*/ 11 w 581"/>
                <a:gd name="T1" fmla="*/ 681 h 681"/>
                <a:gd name="T2" fmla="*/ 0 w 581"/>
                <a:gd name="T3" fmla="*/ 620 h 681"/>
                <a:gd name="T4" fmla="*/ 26 w 581"/>
                <a:gd name="T5" fmla="*/ 540 h 681"/>
                <a:gd name="T6" fmla="*/ 96 w 581"/>
                <a:gd name="T7" fmla="*/ 475 h 681"/>
                <a:gd name="T8" fmla="*/ 196 w 581"/>
                <a:gd name="T9" fmla="*/ 385 h 681"/>
                <a:gd name="T10" fmla="*/ 301 w 581"/>
                <a:gd name="T11" fmla="*/ 285 h 681"/>
                <a:gd name="T12" fmla="*/ 396 w 581"/>
                <a:gd name="T13" fmla="*/ 160 h 681"/>
                <a:gd name="T14" fmla="*/ 426 w 581"/>
                <a:gd name="T15" fmla="*/ 85 h 681"/>
                <a:gd name="T16" fmla="*/ 436 w 581"/>
                <a:gd name="T17" fmla="*/ 0 h 681"/>
                <a:gd name="T18" fmla="*/ 456 w 581"/>
                <a:gd name="T19" fmla="*/ 0 h 681"/>
                <a:gd name="T20" fmla="*/ 446 w 581"/>
                <a:gd name="T21" fmla="*/ 90 h 681"/>
                <a:gd name="T22" fmla="*/ 461 w 581"/>
                <a:gd name="T23" fmla="*/ 90 h 681"/>
                <a:gd name="T24" fmla="*/ 541 w 581"/>
                <a:gd name="T25" fmla="*/ 30 h 681"/>
                <a:gd name="T26" fmla="*/ 556 w 581"/>
                <a:gd name="T27" fmla="*/ 50 h 681"/>
                <a:gd name="T28" fmla="*/ 491 w 581"/>
                <a:gd name="T29" fmla="*/ 95 h 681"/>
                <a:gd name="T30" fmla="*/ 481 w 581"/>
                <a:gd name="T31" fmla="*/ 125 h 681"/>
                <a:gd name="T32" fmla="*/ 501 w 581"/>
                <a:gd name="T33" fmla="*/ 135 h 681"/>
                <a:gd name="T34" fmla="*/ 566 w 581"/>
                <a:gd name="T35" fmla="*/ 135 h 681"/>
                <a:gd name="T36" fmla="*/ 581 w 581"/>
                <a:gd name="T37" fmla="*/ 145 h 681"/>
                <a:gd name="T38" fmla="*/ 576 w 581"/>
                <a:gd name="T39" fmla="*/ 160 h 681"/>
                <a:gd name="T40" fmla="*/ 496 w 581"/>
                <a:gd name="T41" fmla="*/ 155 h 681"/>
                <a:gd name="T42" fmla="*/ 471 w 581"/>
                <a:gd name="T43" fmla="*/ 155 h 681"/>
                <a:gd name="T44" fmla="*/ 466 w 581"/>
                <a:gd name="T45" fmla="*/ 170 h 681"/>
                <a:gd name="T46" fmla="*/ 521 w 581"/>
                <a:gd name="T47" fmla="*/ 245 h 681"/>
                <a:gd name="T48" fmla="*/ 506 w 581"/>
                <a:gd name="T49" fmla="*/ 260 h 681"/>
                <a:gd name="T50" fmla="*/ 451 w 581"/>
                <a:gd name="T51" fmla="*/ 190 h 681"/>
                <a:gd name="T52" fmla="*/ 431 w 581"/>
                <a:gd name="T53" fmla="*/ 190 h 681"/>
                <a:gd name="T54" fmla="*/ 391 w 581"/>
                <a:gd name="T55" fmla="*/ 220 h 681"/>
                <a:gd name="T56" fmla="*/ 321 w 581"/>
                <a:gd name="T57" fmla="*/ 315 h 681"/>
                <a:gd name="T58" fmla="*/ 256 w 581"/>
                <a:gd name="T59" fmla="*/ 395 h 681"/>
                <a:gd name="T60" fmla="*/ 181 w 581"/>
                <a:gd name="T61" fmla="*/ 480 h 681"/>
                <a:gd name="T62" fmla="*/ 126 w 581"/>
                <a:gd name="T63" fmla="*/ 565 h 681"/>
                <a:gd name="T64" fmla="*/ 56 w 581"/>
                <a:gd name="T65" fmla="*/ 675 h 681"/>
                <a:gd name="T66" fmla="*/ 11 w 581"/>
                <a:gd name="T67" fmla="*/ 681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1" h="681">
                  <a:moveTo>
                    <a:pt x="11" y="681"/>
                  </a:moveTo>
                  <a:lnTo>
                    <a:pt x="0" y="620"/>
                  </a:lnTo>
                  <a:lnTo>
                    <a:pt x="26" y="540"/>
                  </a:lnTo>
                  <a:lnTo>
                    <a:pt x="96" y="475"/>
                  </a:lnTo>
                  <a:lnTo>
                    <a:pt x="196" y="385"/>
                  </a:lnTo>
                  <a:lnTo>
                    <a:pt x="301" y="285"/>
                  </a:lnTo>
                  <a:lnTo>
                    <a:pt x="396" y="160"/>
                  </a:lnTo>
                  <a:lnTo>
                    <a:pt x="426" y="85"/>
                  </a:lnTo>
                  <a:lnTo>
                    <a:pt x="436" y="0"/>
                  </a:lnTo>
                  <a:lnTo>
                    <a:pt x="456" y="0"/>
                  </a:lnTo>
                  <a:lnTo>
                    <a:pt x="446" y="90"/>
                  </a:lnTo>
                  <a:lnTo>
                    <a:pt x="461" y="90"/>
                  </a:lnTo>
                  <a:lnTo>
                    <a:pt x="541" y="30"/>
                  </a:lnTo>
                  <a:lnTo>
                    <a:pt x="556" y="50"/>
                  </a:lnTo>
                  <a:lnTo>
                    <a:pt x="491" y="95"/>
                  </a:lnTo>
                  <a:lnTo>
                    <a:pt x="481" y="125"/>
                  </a:lnTo>
                  <a:lnTo>
                    <a:pt x="501" y="135"/>
                  </a:lnTo>
                  <a:lnTo>
                    <a:pt x="566" y="135"/>
                  </a:lnTo>
                  <a:lnTo>
                    <a:pt x="581" y="145"/>
                  </a:lnTo>
                  <a:lnTo>
                    <a:pt x="576" y="160"/>
                  </a:lnTo>
                  <a:lnTo>
                    <a:pt x="496" y="155"/>
                  </a:lnTo>
                  <a:lnTo>
                    <a:pt x="471" y="155"/>
                  </a:lnTo>
                  <a:lnTo>
                    <a:pt x="466" y="170"/>
                  </a:lnTo>
                  <a:lnTo>
                    <a:pt x="521" y="245"/>
                  </a:lnTo>
                  <a:lnTo>
                    <a:pt x="506" y="260"/>
                  </a:lnTo>
                  <a:lnTo>
                    <a:pt x="451" y="190"/>
                  </a:lnTo>
                  <a:lnTo>
                    <a:pt x="431" y="190"/>
                  </a:lnTo>
                  <a:lnTo>
                    <a:pt x="391" y="220"/>
                  </a:lnTo>
                  <a:lnTo>
                    <a:pt x="321" y="315"/>
                  </a:lnTo>
                  <a:lnTo>
                    <a:pt x="256" y="395"/>
                  </a:lnTo>
                  <a:lnTo>
                    <a:pt x="181" y="480"/>
                  </a:lnTo>
                  <a:lnTo>
                    <a:pt x="126" y="565"/>
                  </a:lnTo>
                  <a:lnTo>
                    <a:pt x="56" y="675"/>
                  </a:lnTo>
                  <a:lnTo>
                    <a:pt x="11" y="6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B76A4E56-FB12-0733-D862-B0B4ABE18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8" y="1656"/>
              <a:ext cx="681" cy="481"/>
            </a:xfrm>
            <a:custGeom>
              <a:avLst/>
              <a:gdLst>
                <a:gd name="T0" fmla="*/ 0 w 681"/>
                <a:gd name="T1" fmla="*/ 360 h 481"/>
                <a:gd name="T2" fmla="*/ 5 w 681"/>
                <a:gd name="T3" fmla="*/ 400 h 481"/>
                <a:gd name="T4" fmla="*/ 40 w 681"/>
                <a:gd name="T5" fmla="*/ 430 h 481"/>
                <a:gd name="T6" fmla="*/ 125 w 681"/>
                <a:gd name="T7" fmla="*/ 455 h 481"/>
                <a:gd name="T8" fmla="*/ 215 w 681"/>
                <a:gd name="T9" fmla="*/ 475 h 481"/>
                <a:gd name="T10" fmla="*/ 325 w 681"/>
                <a:gd name="T11" fmla="*/ 481 h 481"/>
                <a:gd name="T12" fmla="*/ 370 w 681"/>
                <a:gd name="T13" fmla="*/ 475 h 481"/>
                <a:gd name="T14" fmla="*/ 440 w 681"/>
                <a:gd name="T15" fmla="*/ 315 h 481"/>
                <a:gd name="T16" fmla="*/ 500 w 681"/>
                <a:gd name="T17" fmla="*/ 190 h 481"/>
                <a:gd name="T18" fmla="*/ 550 w 681"/>
                <a:gd name="T19" fmla="*/ 110 h 481"/>
                <a:gd name="T20" fmla="*/ 570 w 681"/>
                <a:gd name="T21" fmla="*/ 110 h 481"/>
                <a:gd name="T22" fmla="*/ 580 w 681"/>
                <a:gd name="T23" fmla="*/ 125 h 481"/>
                <a:gd name="T24" fmla="*/ 580 w 681"/>
                <a:gd name="T25" fmla="*/ 165 h 481"/>
                <a:gd name="T26" fmla="*/ 560 w 681"/>
                <a:gd name="T27" fmla="*/ 190 h 481"/>
                <a:gd name="T28" fmla="*/ 570 w 681"/>
                <a:gd name="T29" fmla="*/ 200 h 481"/>
                <a:gd name="T30" fmla="*/ 595 w 681"/>
                <a:gd name="T31" fmla="*/ 185 h 481"/>
                <a:gd name="T32" fmla="*/ 600 w 681"/>
                <a:gd name="T33" fmla="*/ 160 h 481"/>
                <a:gd name="T34" fmla="*/ 600 w 681"/>
                <a:gd name="T35" fmla="*/ 115 h 481"/>
                <a:gd name="T36" fmla="*/ 620 w 681"/>
                <a:gd name="T37" fmla="*/ 135 h 481"/>
                <a:gd name="T38" fmla="*/ 635 w 681"/>
                <a:gd name="T39" fmla="*/ 170 h 481"/>
                <a:gd name="T40" fmla="*/ 650 w 681"/>
                <a:gd name="T41" fmla="*/ 165 h 481"/>
                <a:gd name="T42" fmla="*/ 635 w 681"/>
                <a:gd name="T43" fmla="*/ 125 h 481"/>
                <a:gd name="T44" fmla="*/ 615 w 681"/>
                <a:gd name="T45" fmla="*/ 105 h 481"/>
                <a:gd name="T46" fmla="*/ 600 w 681"/>
                <a:gd name="T47" fmla="*/ 90 h 481"/>
                <a:gd name="T48" fmla="*/ 635 w 681"/>
                <a:gd name="T49" fmla="*/ 80 h 481"/>
                <a:gd name="T50" fmla="*/ 670 w 681"/>
                <a:gd name="T51" fmla="*/ 95 h 481"/>
                <a:gd name="T52" fmla="*/ 675 w 681"/>
                <a:gd name="T53" fmla="*/ 75 h 481"/>
                <a:gd name="T54" fmla="*/ 635 w 681"/>
                <a:gd name="T55" fmla="*/ 60 h 481"/>
                <a:gd name="T56" fmla="*/ 595 w 681"/>
                <a:gd name="T57" fmla="*/ 65 h 481"/>
                <a:gd name="T58" fmla="*/ 600 w 681"/>
                <a:gd name="T59" fmla="*/ 40 h 481"/>
                <a:gd name="T60" fmla="*/ 625 w 681"/>
                <a:gd name="T61" fmla="*/ 20 h 481"/>
                <a:gd name="T62" fmla="*/ 660 w 681"/>
                <a:gd name="T63" fmla="*/ 20 h 481"/>
                <a:gd name="T64" fmla="*/ 681 w 681"/>
                <a:gd name="T65" fmla="*/ 10 h 481"/>
                <a:gd name="T66" fmla="*/ 640 w 681"/>
                <a:gd name="T67" fmla="*/ 0 h 481"/>
                <a:gd name="T68" fmla="*/ 605 w 681"/>
                <a:gd name="T69" fmla="*/ 5 h 481"/>
                <a:gd name="T70" fmla="*/ 585 w 681"/>
                <a:gd name="T71" fmla="*/ 20 h 481"/>
                <a:gd name="T72" fmla="*/ 535 w 681"/>
                <a:gd name="T73" fmla="*/ 50 h 481"/>
                <a:gd name="T74" fmla="*/ 510 w 681"/>
                <a:gd name="T75" fmla="*/ 90 h 481"/>
                <a:gd name="T76" fmla="*/ 470 w 681"/>
                <a:gd name="T77" fmla="*/ 155 h 481"/>
                <a:gd name="T78" fmla="*/ 420 w 681"/>
                <a:gd name="T79" fmla="*/ 245 h 481"/>
                <a:gd name="T80" fmla="*/ 360 w 681"/>
                <a:gd name="T81" fmla="*/ 350 h 481"/>
                <a:gd name="T82" fmla="*/ 335 w 681"/>
                <a:gd name="T83" fmla="*/ 410 h 481"/>
                <a:gd name="T84" fmla="*/ 310 w 681"/>
                <a:gd name="T85" fmla="*/ 410 h 481"/>
                <a:gd name="T86" fmla="*/ 215 w 681"/>
                <a:gd name="T87" fmla="*/ 405 h 481"/>
                <a:gd name="T88" fmla="*/ 145 w 681"/>
                <a:gd name="T89" fmla="*/ 375 h 481"/>
                <a:gd name="T90" fmla="*/ 80 w 681"/>
                <a:gd name="T91" fmla="*/ 340 h 481"/>
                <a:gd name="T92" fmla="*/ 30 w 681"/>
                <a:gd name="T93" fmla="*/ 330 h 481"/>
                <a:gd name="T94" fmla="*/ 25 w 681"/>
                <a:gd name="T95" fmla="*/ 330 h 481"/>
                <a:gd name="T96" fmla="*/ 0 w 681"/>
                <a:gd name="T97" fmla="*/ 36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1" h="481">
                  <a:moveTo>
                    <a:pt x="0" y="360"/>
                  </a:moveTo>
                  <a:lnTo>
                    <a:pt x="5" y="400"/>
                  </a:lnTo>
                  <a:lnTo>
                    <a:pt x="40" y="430"/>
                  </a:lnTo>
                  <a:lnTo>
                    <a:pt x="125" y="455"/>
                  </a:lnTo>
                  <a:lnTo>
                    <a:pt x="215" y="475"/>
                  </a:lnTo>
                  <a:lnTo>
                    <a:pt x="325" y="481"/>
                  </a:lnTo>
                  <a:lnTo>
                    <a:pt x="370" y="475"/>
                  </a:lnTo>
                  <a:lnTo>
                    <a:pt x="440" y="315"/>
                  </a:lnTo>
                  <a:lnTo>
                    <a:pt x="500" y="190"/>
                  </a:lnTo>
                  <a:lnTo>
                    <a:pt x="550" y="110"/>
                  </a:lnTo>
                  <a:lnTo>
                    <a:pt x="570" y="110"/>
                  </a:lnTo>
                  <a:lnTo>
                    <a:pt x="580" y="125"/>
                  </a:lnTo>
                  <a:lnTo>
                    <a:pt x="580" y="165"/>
                  </a:lnTo>
                  <a:lnTo>
                    <a:pt x="560" y="190"/>
                  </a:lnTo>
                  <a:lnTo>
                    <a:pt x="570" y="200"/>
                  </a:lnTo>
                  <a:lnTo>
                    <a:pt x="595" y="185"/>
                  </a:lnTo>
                  <a:lnTo>
                    <a:pt x="600" y="160"/>
                  </a:lnTo>
                  <a:lnTo>
                    <a:pt x="600" y="115"/>
                  </a:lnTo>
                  <a:lnTo>
                    <a:pt x="620" y="135"/>
                  </a:lnTo>
                  <a:lnTo>
                    <a:pt x="635" y="170"/>
                  </a:lnTo>
                  <a:lnTo>
                    <a:pt x="650" y="165"/>
                  </a:lnTo>
                  <a:lnTo>
                    <a:pt x="635" y="125"/>
                  </a:lnTo>
                  <a:lnTo>
                    <a:pt x="615" y="105"/>
                  </a:lnTo>
                  <a:lnTo>
                    <a:pt x="600" y="90"/>
                  </a:lnTo>
                  <a:lnTo>
                    <a:pt x="635" y="80"/>
                  </a:lnTo>
                  <a:lnTo>
                    <a:pt x="670" y="95"/>
                  </a:lnTo>
                  <a:lnTo>
                    <a:pt x="675" y="75"/>
                  </a:lnTo>
                  <a:lnTo>
                    <a:pt x="635" y="60"/>
                  </a:lnTo>
                  <a:lnTo>
                    <a:pt x="595" y="65"/>
                  </a:lnTo>
                  <a:lnTo>
                    <a:pt x="600" y="40"/>
                  </a:lnTo>
                  <a:lnTo>
                    <a:pt x="625" y="20"/>
                  </a:lnTo>
                  <a:lnTo>
                    <a:pt x="660" y="20"/>
                  </a:lnTo>
                  <a:lnTo>
                    <a:pt x="681" y="10"/>
                  </a:lnTo>
                  <a:lnTo>
                    <a:pt x="640" y="0"/>
                  </a:lnTo>
                  <a:lnTo>
                    <a:pt x="605" y="5"/>
                  </a:lnTo>
                  <a:lnTo>
                    <a:pt x="585" y="20"/>
                  </a:lnTo>
                  <a:lnTo>
                    <a:pt x="535" y="50"/>
                  </a:lnTo>
                  <a:lnTo>
                    <a:pt x="510" y="90"/>
                  </a:lnTo>
                  <a:lnTo>
                    <a:pt x="470" y="155"/>
                  </a:lnTo>
                  <a:lnTo>
                    <a:pt x="420" y="245"/>
                  </a:lnTo>
                  <a:lnTo>
                    <a:pt x="360" y="350"/>
                  </a:lnTo>
                  <a:lnTo>
                    <a:pt x="335" y="410"/>
                  </a:lnTo>
                  <a:lnTo>
                    <a:pt x="310" y="410"/>
                  </a:lnTo>
                  <a:lnTo>
                    <a:pt x="215" y="405"/>
                  </a:lnTo>
                  <a:lnTo>
                    <a:pt x="145" y="375"/>
                  </a:lnTo>
                  <a:lnTo>
                    <a:pt x="80" y="340"/>
                  </a:lnTo>
                  <a:lnTo>
                    <a:pt x="30" y="330"/>
                  </a:lnTo>
                  <a:lnTo>
                    <a:pt x="25" y="330"/>
                  </a:lnTo>
                  <a:lnTo>
                    <a:pt x="0" y="3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837B6EE5-32E3-484E-489C-FAF6871BF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2007"/>
              <a:ext cx="356" cy="726"/>
            </a:xfrm>
            <a:custGeom>
              <a:avLst/>
              <a:gdLst>
                <a:gd name="T0" fmla="*/ 60 w 356"/>
                <a:gd name="T1" fmla="*/ 75 h 726"/>
                <a:gd name="T2" fmla="*/ 110 w 356"/>
                <a:gd name="T3" fmla="*/ 15 h 726"/>
                <a:gd name="T4" fmla="*/ 165 w 356"/>
                <a:gd name="T5" fmla="*/ 0 h 726"/>
                <a:gd name="T6" fmla="*/ 246 w 356"/>
                <a:gd name="T7" fmla="*/ 20 h 726"/>
                <a:gd name="T8" fmla="*/ 261 w 356"/>
                <a:gd name="T9" fmla="*/ 60 h 726"/>
                <a:gd name="T10" fmla="*/ 266 w 356"/>
                <a:gd name="T11" fmla="*/ 135 h 726"/>
                <a:gd name="T12" fmla="*/ 236 w 356"/>
                <a:gd name="T13" fmla="*/ 255 h 726"/>
                <a:gd name="T14" fmla="*/ 221 w 356"/>
                <a:gd name="T15" fmla="*/ 305 h 726"/>
                <a:gd name="T16" fmla="*/ 221 w 356"/>
                <a:gd name="T17" fmla="*/ 360 h 726"/>
                <a:gd name="T18" fmla="*/ 241 w 356"/>
                <a:gd name="T19" fmla="*/ 411 h 726"/>
                <a:gd name="T20" fmla="*/ 271 w 356"/>
                <a:gd name="T21" fmla="*/ 451 h 726"/>
                <a:gd name="T22" fmla="*/ 341 w 356"/>
                <a:gd name="T23" fmla="*/ 511 h 726"/>
                <a:gd name="T24" fmla="*/ 356 w 356"/>
                <a:gd name="T25" fmla="*/ 576 h 726"/>
                <a:gd name="T26" fmla="*/ 346 w 356"/>
                <a:gd name="T27" fmla="*/ 626 h 726"/>
                <a:gd name="T28" fmla="*/ 326 w 356"/>
                <a:gd name="T29" fmla="*/ 666 h 726"/>
                <a:gd name="T30" fmla="*/ 276 w 356"/>
                <a:gd name="T31" fmla="*/ 711 h 726"/>
                <a:gd name="T32" fmla="*/ 236 w 356"/>
                <a:gd name="T33" fmla="*/ 726 h 726"/>
                <a:gd name="T34" fmla="*/ 175 w 356"/>
                <a:gd name="T35" fmla="*/ 721 h 726"/>
                <a:gd name="T36" fmla="*/ 115 w 356"/>
                <a:gd name="T37" fmla="*/ 706 h 726"/>
                <a:gd name="T38" fmla="*/ 80 w 356"/>
                <a:gd name="T39" fmla="*/ 666 h 726"/>
                <a:gd name="T40" fmla="*/ 40 w 356"/>
                <a:gd name="T41" fmla="*/ 601 h 726"/>
                <a:gd name="T42" fmla="*/ 20 w 356"/>
                <a:gd name="T43" fmla="*/ 541 h 726"/>
                <a:gd name="T44" fmla="*/ 0 w 356"/>
                <a:gd name="T45" fmla="*/ 436 h 726"/>
                <a:gd name="T46" fmla="*/ 0 w 356"/>
                <a:gd name="T47" fmla="*/ 320 h 726"/>
                <a:gd name="T48" fmla="*/ 25 w 356"/>
                <a:gd name="T49" fmla="*/ 195 h 726"/>
                <a:gd name="T50" fmla="*/ 45 w 356"/>
                <a:gd name="T51" fmla="*/ 120 h 726"/>
                <a:gd name="T52" fmla="*/ 60 w 356"/>
                <a:gd name="T53" fmla="*/ 75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6" h="726">
                  <a:moveTo>
                    <a:pt x="60" y="75"/>
                  </a:moveTo>
                  <a:lnTo>
                    <a:pt x="110" y="15"/>
                  </a:lnTo>
                  <a:lnTo>
                    <a:pt x="165" y="0"/>
                  </a:lnTo>
                  <a:lnTo>
                    <a:pt x="246" y="20"/>
                  </a:lnTo>
                  <a:lnTo>
                    <a:pt x="261" y="60"/>
                  </a:lnTo>
                  <a:lnTo>
                    <a:pt x="266" y="135"/>
                  </a:lnTo>
                  <a:lnTo>
                    <a:pt x="236" y="255"/>
                  </a:lnTo>
                  <a:lnTo>
                    <a:pt x="221" y="305"/>
                  </a:lnTo>
                  <a:lnTo>
                    <a:pt x="221" y="360"/>
                  </a:lnTo>
                  <a:lnTo>
                    <a:pt x="241" y="411"/>
                  </a:lnTo>
                  <a:lnTo>
                    <a:pt x="271" y="451"/>
                  </a:lnTo>
                  <a:lnTo>
                    <a:pt x="341" y="511"/>
                  </a:lnTo>
                  <a:lnTo>
                    <a:pt x="356" y="576"/>
                  </a:lnTo>
                  <a:lnTo>
                    <a:pt x="346" y="626"/>
                  </a:lnTo>
                  <a:lnTo>
                    <a:pt x="326" y="666"/>
                  </a:lnTo>
                  <a:lnTo>
                    <a:pt x="276" y="711"/>
                  </a:lnTo>
                  <a:lnTo>
                    <a:pt x="236" y="726"/>
                  </a:lnTo>
                  <a:lnTo>
                    <a:pt x="175" y="721"/>
                  </a:lnTo>
                  <a:lnTo>
                    <a:pt x="115" y="706"/>
                  </a:lnTo>
                  <a:lnTo>
                    <a:pt x="80" y="666"/>
                  </a:lnTo>
                  <a:lnTo>
                    <a:pt x="40" y="601"/>
                  </a:lnTo>
                  <a:lnTo>
                    <a:pt x="20" y="541"/>
                  </a:lnTo>
                  <a:lnTo>
                    <a:pt x="0" y="436"/>
                  </a:lnTo>
                  <a:lnTo>
                    <a:pt x="0" y="320"/>
                  </a:lnTo>
                  <a:lnTo>
                    <a:pt x="25" y="195"/>
                  </a:lnTo>
                  <a:lnTo>
                    <a:pt x="45" y="120"/>
                  </a:lnTo>
                  <a:lnTo>
                    <a:pt x="60" y="7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8D74F871-2E7A-654F-C5BC-200EDCB25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" y="2608"/>
              <a:ext cx="300" cy="836"/>
            </a:xfrm>
            <a:custGeom>
              <a:avLst/>
              <a:gdLst>
                <a:gd name="T0" fmla="*/ 30 w 300"/>
                <a:gd name="T1" fmla="*/ 55 h 836"/>
                <a:gd name="T2" fmla="*/ 45 w 300"/>
                <a:gd name="T3" fmla="*/ 10 h 836"/>
                <a:gd name="T4" fmla="*/ 90 w 300"/>
                <a:gd name="T5" fmla="*/ 0 h 836"/>
                <a:gd name="T6" fmla="*/ 130 w 300"/>
                <a:gd name="T7" fmla="*/ 20 h 836"/>
                <a:gd name="T8" fmla="*/ 180 w 300"/>
                <a:gd name="T9" fmla="*/ 105 h 836"/>
                <a:gd name="T10" fmla="*/ 240 w 300"/>
                <a:gd name="T11" fmla="*/ 205 h 836"/>
                <a:gd name="T12" fmla="*/ 285 w 300"/>
                <a:gd name="T13" fmla="*/ 288 h 836"/>
                <a:gd name="T14" fmla="*/ 300 w 300"/>
                <a:gd name="T15" fmla="*/ 375 h 836"/>
                <a:gd name="T16" fmla="*/ 295 w 300"/>
                <a:gd name="T17" fmla="*/ 436 h 836"/>
                <a:gd name="T18" fmla="*/ 250 w 300"/>
                <a:gd name="T19" fmla="*/ 516 h 836"/>
                <a:gd name="T20" fmla="*/ 195 w 300"/>
                <a:gd name="T21" fmla="*/ 571 h 836"/>
                <a:gd name="T22" fmla="*/ 150 w 300"/>
                <a:gd name="T23" fmla="*/ 596 h 836"/>
                <a:gd name="T24" fmla="*/ 80 w 300"/>
                <a:gd name="T25" fmla="*/ 611 h 836"/>
                <a:gd name="T26" fmla="*/ 55 w 300"/>
                <a:gd name="T27" fmla="*/ 636 h 836"/>
                <a:gd name="T28" fmla="*/ 75 w 300"/>
                <a:gd name="T29" fmla="*/ 676 h 836"/>
                <a:gd name="T30" fmla="*/ 110 w 300"/>
                <a:gd name="T31" fmla="*/ 711 h 836"/>
                <a:gd name="T32" fmla="*/ 135 w 300"/>
                <a:gd name="T33" fmla="*/ 776 h 836"/>
                <a:gd name="T34" fmla="*/ 175 w 300"/>
                <a:gd name="T35" fmla="*/ 771 h 836"/>
                <a:gd name="T36" fmla="*/ 200 w 300"/>
                <a:gd name="T37" fmla="*/ 806 h 836"/>
                <a:gd name="T38" fmla="*/ 165 w 300"/>
                <a:gd name="T39" fmla="*/ 836 h 836"/>
                <a:gd name="T40" fmla="*/ 135 w 300"/>
                <a:gd name="T41" fmla="*/ 821 h 836"/>
                <a:gd name="T42" fmla="*/ 100 w 300"/>
                <a:gd name="T43" fmla="*/ 796 h 836"/>
                <a:gd name="T44" fmla="*/ 85 w 300"/>
                <a:gd name="T45" fmla="*/ 731 h 836"/>
                <a:gd name="T46" fmla="*/ 35 w 300"/>
                <a:gd name="T47" fmla="*/ 686 h 836"/>
                <a:gd name="T48" fmla="*/ 0 w 300"/>
                <a:gd name="T49" fmla="*/ 636 h 836"/>
                <a:gd name="T50" fmla="*/ 5 w 300"/>
                <a:gd name="T51" fmla="*/ 601 h 836"/>
                <a:gd name="T52" fmla="*/ 40 w 300"/>
                <a:gd name="T53" fmla="*/ 586 h 836"/>
                <a:gd name="T54" fmla="*/ 125 w 300"/>
                <a:gd name="T55" fmla="*/ 556 h 836"/>
                <a:gd name="T56" fmla="*/ 195 w 300"/>
                <a:gd name="T57" fmla="*/ 516 h 836"/>
                <a:gd name="T58" fmla="*/ 220 w 300"/>
                <a:gd name="T59" fmla="*/ 456 h 836"/>
                <a:gd name="T60" fmla="*/ 235 w 300"/>
                <a:gd name="T61" fmla="*/ 410 h 836"/>
                <a:gd name="T62" fmla="*/ 235 w 300"/>
                <a:gd name="T63" fmla="*/ 370 h 836"/>
                <a:gd name="T64" fmla="*/ 230 w 300"/>
                <a:gd name="T65" fmla="*/ 320 h 836"/>
                <a:gd name="T66" fmla="*/ 210 w 300"/>
                <a:gd name="T67" fmla="*/ 280 h 836"/>
                <a:gd name="T68" fmla="*/ 175 w 300"/>
                <a:gd name="T69" fmla="*/ 220 h 836"/>
                <a:gd name="T70" fmla="*/ 115 w 300"/>
                <a:gd name="T71" fmla="*/ 155 h 836"/>
                <a:gd name="T72" fmla="*/ 75 w 300"/>
                <a:gd name="T73" fmla="*/ 120 h 836"/>
                <a:gd name="T74" fmla="*/ 40 w 300"/>
                <a:gd name="T75" fmla="*/ 80 h 836"/>
                <a:gd name="T76" fmla="*/ 30 w 300"/>
                <a:gd name="T77" fmla="*/ 55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00" h="836">
                  <a:moveTo>
                    <a:pt x="30" y="55"/>
                  </a:moveTo>
                  <a:lnTo>
                    <a:pt x="45" y="10"/>
                  </a:lnTo>
                  <a:lnTo>
                    <a:pt x="90" y="0"/>
                  </a:lnTo>
                  <a:lnTo>
                    <a:pt x="130" y="20"/>
                  </a:lnTo>
                  <a:lnTo>
                    <a:pt x="180" y="105"/>
                  </a:lnTo>
                  <a:lnTo>
                    <a:pt x="240" y="205"/>
                  </a:lnTo>
                  <a:lnTo>
                    <a:pt x="285" y="288"/>
                  </a:lnTo>
                  <a:lnTo>
                    <a:pt x="300" y="375"/>
                  </a:lnTo>
                  <a:lnTo>
                    <a:pt x="295" y="436"/>
                  </a:lnTo>
                  <a:lnTo>
                    <a:pt x="250" y="516"/>
                  </a:lnTo>
                  <a:lnTo>
                    <a:pt x="195" y="571"/>
                  </a:lnTo>
                  <a:lnTo>
                    <a:pt x="150" y="596"/>
                  </a:lnTo>
                  <a:lnTo>
                    <a:pt x="80" y="611"/>
                  </a:lnTo>
                  <a:lnTo>
                    <a:pt x="55" y="636"/>
                  </a:lnTo>
                  <a:lnTo>
                    <a:pt x="75" y="676"/>
                  </a:lnTo>
                  <a:lnTo>
                    <a:pt x="110" y="711"/>
                  </a:lnTo>
                  <a:lnTo>
                    <a:pt x="135" y="776"/>
                  </a:lnTo>
                  <a:lnTo>
                    <a:pt x="175" y="771"/>
                  </a:lnTo>
                  <a:lnTo>
                    <a:pt x="200" y="806"/>
                  </a:lnTo>
                  <a:lnTo>
                    <a:pt x="165" y="836"/>
                  </a:lnTo>
                  <a:lnTo>
                    <a:pt x="135" y="821"/>
                  </a:lnTo>
                  <a:lnTo>
                    <a:pt x="100" y="796"/>
                  </a:lnTo>
                  <a:lnTo>
                    <a:pt x="85" y="731"/>
                  </a:lnTo>
                  <a:lnTo>
                    <a:pt x="35" y="686"/>
                  </a:lnTo>
                  <a:lnTo>
                    <a:pt x="0" y="636"/>
                  </a:lnTo>
                  <a:lnTo>
                    <a:pt x="5" y="601"/>
                  </a:lnTo>
                  <a:lnTo>
                    <a:pt x="40" y="586"/>
                  </a:lnTo>
                  <a:lnTo>
                    <a:pt x="125" y="556"/>
                  </a:lnTo>
                  <a:lnTo>
                    <a:pt x="195" y="516"/>
                  </a:lnTo>
                  <a:lnTo>
                    <a:pt x="220" y="456"/>
                  </a:lnTo>
                  <a:lnTo>
                    <a:pt x="235" y="410"/>
                  </a:lnTo>
                  <a:lnTo>
                    <a:pt x="235" y="370"/>
                  </a:lnTo>
                  <a:lnTo>
                    <a:pt x="230" y="320"/>
                  </a:lnTo>
                  <a:lnTo>
                    <a:pt x="210" y="280"/>
                  </a:lnTo>
                  <a:lnTo>
                    <a:pt x="175" y="220"/>
                  </a:lnTo>
                  <a:lnTo>
                    <a:pt x="115" y="155"/>
                  </a:lnTo>
                  <a:lnTo>
                    <a:pt x="75" y="120"/>
                  </a:lnTo>
                  <a:lnTo>
                    <a:pt x="40" y="80"/>
                  </a:lnTo>
                  <a:lnTo>
                    <a:pt x="30" y="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1E19A2D9-5422-6488-AAA6-5AB4E3527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2422"/>
              <a:ext cx="621" cy="441"/>
            </a:xfrm>
            <a:custGeom>
              <a:avLst/>
              <a:gdLst>
                <a:gd name="T0" fmla="*/ 0 w 621"/>
                <a:gd name="T1" fmla="*/ 225 h 441"/>
                <a:gd name="T2" fmla="*/ 5 w 621"/>
                <a:gd name="T3" fmla="*/ 265 h 441"/>
                <a:gd name="T4" fmla="*/ 80 w 621"/>
                <a:gd name="T5" fmla="*/ 295 h 441"/>
                <a:gd name="T6" fmla="*/ 160 w 621"/>
                <a:gd name="T7" fmla="*/ 300 h 441"/>
                <a:gd name="T8" fmla="*/ 235 w 621"/>
                <a:gd name="T9" fmla="*/ 270 h 441"/>
                <a:gd name="T10" fmla="*/ 290 w 621"/>
                <a:gd name="T11" fmla="*/ 185 h 441"/>
                <a:gd name="T12" fmla="*/ 330 w 621"/>
                <a:gd name="T13" fmla="*/ 100 h 441"/>
                <a:gd name="T14" fmla="*/ 345 w 621"/>
                <a:gd name="T15" fmla="*/ 85 h 441"/>
                <a:gd name="T16" fmla="*/ 370 w 621"/>
                <a:gd name="T17" fmla="*/ 90 h 441"/>
                <a:gd name="T18" fmla="*/ 405 w 621"/>
                <a:gd name="T19" fmla="*/ 160 h 441"/>
                <a:gd name="T20" fmla="*/ 435 w 621"/>
                <a:gd name="T21" fmla="*/ 285 h 441"/>
                <a:gd name="T22" fmla="*/ 455 w 621"/>
                <a:gd name="T23" fmla="*/ 380 h 441"/>
                <a:gd name="T24" fmla="*/ 465 w 621"/>
                <a:gd name="T25" fmla="*/ 430 h 441"/>
                <a:gd name="T26" fmla="*/ 495 w 621"/>
                <a:gd name="T27" fmla="*/ 441 h 441"/>
                <a:gd name="T28" fmla="*/ 520 w 621"/>
                <a:gd name="T29" fmla="*/ 420 h 441"/>
                <a:gd name="T30" fmla="*/ 540 w 621"/>
                <a:gd name="T31" fmla="*/ 350 h 441"/>
                <a:gd name="T32" fmla="*/ 570 w 621"/>
                <a:gd name="T33" fmla="*/ 285 h 441"/>
                <a:gd name="T34" fmla="*/ 585 w 621"/>
                <a:gd name="T35" fmla="*/ 205 h 441"/>
                <a:gd name="T36" fmla="*/ 615 w 621"/>
                <a:gd name="T37" fmla="*/ 200 h 441"/>
                <a:gd name="T38" fmla="*/ 621 w 621"/>
                <a:gd name="T39" fmla="*/ 185 h 441"/>
                <a:gd name="T40" fmla="*/ 600 w 621"/>
                <a:gd name="T41" fmla="*/ 165 h 441"/>
                <a:gd name="T42" fmla="*/ 565 w 621"/>
                <a:gd name="T43" fmla="*/ 170 h 441"/>
                <a:gd name="T44" fmla="*/ 550 w 621"/>
                <a:gd name="T45" fmla="*/ 220 h 441"/>
                <a:gd name="T46" fmla="*/ 545 w 621"/>
                <a:gd name="T47" fmla="*/ 260 h 441"/>
                <a:gd name="T48" fmla="*/ 525 w 621"/>
                <a:gd name="T49" fmla="*/ 315 h 441"/>
                <a:gd name="T50" fmla="*/ 500 w 621"/>
                <a:gd name="T51" fmla="*/ 335 h 441"/>
                <a:gd name="T52" fmla="*/ 480 w 621"/>
                <a:gd name="T53" fmla="*/ 275 h 441"/>
                <a:gd name="T54" fmla="*/ 455 w 621"/>
                <a:gd name="T55" fmla="*/ 170 h 441"/>
                <a:gd name="T56" fmla="*/ 440 w 621"/>
                <a:gd name="T57" fmla="*/ 120 h 441"/>
                <a:gd name="T58" fmla="*/ 410 w 621"/>
                <a:gd name="T59" fmla="*/ 60 h 441"/>
                <a:gd name="T60" fmla="*/ 385 w 621"/>
                <a:gd name="T61" fmla="*/ 15 h 441"/>
                <a:gd name="T62" fmla="*/ 340 w 621"/>
                <a:gd name="T63" fmla="*/ 0 h 441"/>
                <a:gd name="T64" fmla="*/ 320 w 621"/>
                <a:gd name="T65" fmla="*/ 5 h 441"/>
                <a:gd name="T66" fmla="*/ 290 w 621"/>
                <a:gd name="T67" fmla="*/ 70 h 441"/>
                <a:gd name="T68" fmla="*/ 255 w 621"/>
                <a:gd name="T69" fmla="*/ 150 h 441"/>
                <a:gd name="T70" fmla="*/ 220 w 621"/>
                <a:gd name="T71" fmla="*/ 185 h 441"/>
                <a:gd name="T72" fmla="*/ 175 w 621"/>
                <a:gd name="T73" fmla="*/ 220 h 441"/>
                <a:gd name="T74" fmla="*/ 120 w 621"/>
                <a:gd name="T75" fmla="*/ 190 h 441"/>
                <a:gd name="T76" fmla="*/ 55 w 621"/>
                <a:gd name="T77" fmla="*/ 170 h 441"/>
                <a:gd name="T78" fmla="*/ 30 w 621"/>
                <a:gd name="T79" fmla="*/ 190 h 441"/>
                <a:gd name="T80" fmla="*/ 0 w 621"/>
                <a:gd name="T81" fmla="*/ 225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21" h="441">
                  <a:moveTo>
                    <a:pt x="0" y="225"/>
                  </a:moveTo>
                  <a:lnTo>
                    <a:pt x="5" y="265"/>
                  </a:lnTo>
                  <a:lnTo>
                    <a:pt x="80" y="295"/>
                  </a:lnTo>
                  <a:lnTo>
                    <a:pt x="160" y="300"/>
                  </a:lnTo>
                  <a:lnTo>
                    <a:pt x="235" y="270"/>
                  </a:lnTo>
                  <a:lnTo>
                    <a:pt x="290" y="185"/>
                  </a:lnTo>
                  <a:lnTo>
                    <a:pt x="330" y="100"/>
                  </a:lnTo>
                  <a:lnTo>
                    <a:pt x="345" y="85"/>
                  </a:lnTo>
                  <a:lnTo>
                    <a:pt x="370" y="90"/>
                  </a:lnTo>
                  <a:lnTo>
                    <a:pt x="405" y="160"/>
                  </a:lnTo>
                  <a:lnTo>
                    <a:pt x="435" y="285"/>
                  </a:lnTo>
                  <a:lnTo>
                    <a:pt x="455" y="380"/>
                  </a:lnTo>
                  <a:lnTo>
                    <a:pt x="465" y="430"/>
                  </a:lnTo>
                  <a:lnTo>
                    <a:pt x="495" y="441"/>
                  </a:lnTo>
                  <a:lnTo>
                    <a:pt x="520" y="420"/>
                  </a:lnTo>
                  <a:lnTo>
                    <a:pt x="540" y="350"/>
                  </a:lnTo>
                  <a:lnTo>
                    <a:pt x="570" y="285"/>
                  </a:lnTo>
                  <a:lnTo>
                    <a:pt x="585" y="205"/>
                  </a:lnTo>
                  <a:lnTo>
                    <a:pt x="615" y="200"/>
                  </a:lnTo>
                  <a:lnTo>
                    <a:pt x="621" y="185"/>
                  </a:lnTo>
                  <a:lnTo>
                    <a:pt x="600" y="165"/>
                  </a:lnTo>
                  <a:lnTo>
                    <a:pt x="565" y="170"/>
                  </a:lnTo>
                  <a:lnTo>
                    <a:pt x="550" y="220"/>
                  </a:lnTo>
                  <a:lnTo>
                    <a:pt x="545" y="260"/>
                  </a:lnTo>
                  <a:lnTo>
                    <a:pt x="525" y="315"/>
                  </a:lnTo>
                  <a:lnTo>
                    <a:pt x="500" y="335"/>
                  </a:lnTo>
                  <a:lnTo>
                    <a:pt x="480" y="275"/>
                  </a:lnTo>
                  <a:lnTo>
                    <a:pt x="455" y="170"/>
                  </a:lnTo>
                  <a:lnTo>
                    <a:pt x="440" y="120"/>
                  </a:lnTo>
                  <a:lnTo>
                    <a:pt x="410" y="60"/>
                  </a:lnTo>
                  <a:lnTo>
                    <a:pt x="385" y="15"/>
                  </a:lnTo>
                  <a:lnTo>
                    <a:pt x="340" y="0"/>
                  </a:lnTo>
                  <a:lnTo>
                    <a:pt x="320" y="5"/>
                  </a:lnTo>
                  <a:lnTo>
                    <a:pt x="290" y="70"/>
                  </a:lnTo>
                  <a:lnTo>
                    <a:pt x="255" y="150"/>
                  </a:lnTo>
                  <a:lnTo>
                    <a:pt x="220" y="185"/>
                  </a:lnTo>
                  <a:lnTo>
                    <a:pt x="175" y="220"/>
                  </a:lnTo>
                  <a:lnTo>
                    <a:pt x="120" y="190"/>
                  </a:lnTo>
                  <a:lnTo>
                    <a:pt x="55" y="170"/>
                  </a:lnTo>
                  <a:lnTo>
                    <a:pt x="30" y="190"/>
                  </a:lnTo>
                  <a:lnTo>
                    <a:pt x="0" y="2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6" name="Group 20">
            <a:extLst>
              <a:ext uri="{FF2B5EF4-FFF2-40B4-BE49-F238E27FC236}">
                <a16:creationId xmlns:a16="http://schemas.microsoft.com/office/drawing/2014/main" id="{75AC4192-495D-26C1-44F7-320AC469FA62}"/>
              </a:ext>
            </a:extLst>
          </p:cNvPr>
          <p:cNvGrpSpPr>
            <a:grpSpLocks/>
          </p:cNvGrpSpPr>
          <p:nvPr/>
        </p:nvGrpSpPr>
        <p:grpSpPr bwMode="auto">
          <a:xfrm rot="6572560">
            <a:off x="8238468" y="5044758"/>
            <a:ext cx="380910" cy="748297"/>
            <a:chOff x="2452" y="1140"/>
            <a:chExt cx="857" cy="2304"/>
          </a:xfrm>
        </p:grpSpPr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D0989497-5167-7DA6-5D71-7CD3EB618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3" y="1550"/>
              <a:ext cx="330" cy="401"/>
            </a:xfrm>
            <a:custGeom>
              <a:avLst/>
              <a:gdLst>
                <a:gd name="T0" fmla="*/ 230 w 330"/>
                <a:gd name="T1" fmla="*/ 126 h 401"/>
                <a:gd name="T2" fmla="*/ 215 w 330"/>
                <a:gd name="T3" fmla="*/ 61 h 401"/>
                <a:gd name="T4" fmla="*/ 180 w 330"/>
                <a:gd name="T5" fmla="*/ 21 h 401"/>
                <a:gd name="T6" fmla="*/ 130 w 330"/>
                <a:gd name="T7" fmla="*/ 0 h 401"/>
                <a:gd name="T8" fmla="*/ 55 w 330"/>
                <a:gd name="T9" fmla="*/ 16 h 401"/>
                <a:gd name="T10" fmla="*/ 15 w 330"/>
                <a:gd name="T11" fmla="*/ 91 h 401"/>
                <a:gd name="T12" fmla="*/ 0 w 330"/>
                <a:gd name="T13" fmla="*/ 166 h 401"/>
                <a:gd name="T14" fmla="*/ 0 w 330"/>
                <a:gd name="T15" fmla="*/ 246 h 401"/>
                <a:gd name="T16" fmla="*/ 15 w 330"/>
                <a:gd name="T17" fmla="*/ 336 h 401"/>
                <a:gd name="T18" fmla="*/ 70 w 330"/>
                <a:gd name="T19" fmla="*/ 391 h 401"/>
                <a:gd name="T20" fmla="*/ 120 w 330"/>
                <a:gd name="T21" fmla="*/ 401 h 401"/>
                <a:gd name="T22" fmla="*/ 185 w 330"/>
                <a:gd name="T23" fmla="*/ 386 h 401"/>
                <a:gd name="T24" fmla="*/ 215 w 330"/>
                <a:gd name="T25" fmla="*/ 326 h 401"/>
                <a:gd name="T26" fmla="*/ 235 w 330"/>
                <a:gd name="T27" fmla="*/ 266 h 401"/>
                <a:gd name="T28" fmla="*/ 245 w 330"/>
                <a:gd name="T29" fmla="*/ 216 h 401"/>
                <a:gd name="T30" fmla="*/ 245 w 330"/>
                <a:gd name="T31" fmla="*/ 181 h 401"/>
                <a:gd name="T32" fmla="*/ 325 w 330"/>
                <a:gd name="T33" fmla="*/ 106 h 401"/>
                <a:gd name="T34" fmla="*/ 330 w 330"/>
                <a:gd name="T35" fmla="*/ 81 h 401"/>
                <a:gd name="T36" fmla="*/ 315 w 330"/>
                <a:gd name="T37" fmla="*/ 71 h 401"/>
                <a:gd name="T38" fmla="*/ 235 w 330"/>
                <a:gd name="T39" fmla="*/ 156 h 401"/>
                <a:gd name="T40" fmla="*/ 230 w 330"/>
                <a:gd name="T41" fmla="*/ 126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0" h="401">
                  <a:moveTo>
                    <a:pt x="230" y="126"/>
                  </a:moveTo>
                  <a:lnTo>
                    <a:pt x="215" y="61"/>
                  </a:lnTo>
                  <a:lnTo>
                    <a:pt x="180" y="21"/>
                  </a:lnTo>
                  <a:lnTo>
                    <a:pt x="130" y="0"/>
                  </a:lnTo>
                  <a:lnTo>
                    <a:pt x="55" y="16"/>
                  </a:lnTo>
                  <a:lnTo>
                    <a:pt x="15" y="91"/>
                  </a:lnTo>
                  <a:lnTo>
                    <a:pt x="0" y="166"/>
                  </a:lnTo>
                  <a:lnTo>
                    <a:pt x="0" y="246"/>
                  </a:lnTo>
                  <a:lnTo>
                    <a:pt x="15" y="336"/>
                  </a:lnTo>
                  <a:lnTo>
                    <a:pt x="70" y="391"/>
                  </a:lnTo>
                  <a:lnTo>
                    <a:pt x="120" y="401"/>
                  </a:lnTo>
                  <a:lnTo>
                    <a:pt x="185" y="386"/>
                  </a:lnTo>
                  <a:lnTo>
                    <a:pt x="215" y="326"/>
                  </a:lnTo>
                  <a:lnTo>
                    <a:pt x="235" y="266"/>
                  </a:lnTo>
                  <a:lnTo>
                    <a:pt x="245" y="216"/>
                  </a:lnTo>
                  <a:lnTo>
                    <a:pt x="245" y="181"/>
                  </a:lnTo>
                  <a:lnTo>
                    <a:pt x="325" y="106"/>
                  </a:lnTo>
                  <a:lnTo>
                    <a:pt x="330" y="81"/>
                  </a:lnTo>
                  <a:lnTo>
                    <a:pt x="315" y="71"/>
                  </a:lnTo>
                  <a:lnTo>
                    <a:pt x="235" y="156"/>
                  </a:lnTo>
                  <a:lnTo>
                    <a:pt x="230" y="1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5B14C9E5-764C-7520-82C0-B9405C54A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1140"/>
              <a:ext cx="581" cy="681"/>
            </a:xfrm>
            <a:custGeom>
              <a:avLst/>
              <a:gdLst>
                <a:gd name="T0" fmla="*/ 11 w 581"/>
                <a:gd name="T1" fmla="*/ 681 h 681"/>
                <a:gd name="T2" fmla="*/ 0 w 581"/>
                <a:gd name="T3" fmla="*/ 620 h 681"/>
                <a:gd name="T4" fmla="*/ 26 w 581"/>
                <a:gd name="T5" fmla="*/ 540 h 681"/>
                <a:gd name="T6" fmla="*/ 96 w 581"/>
                <a:gd name="T7" fmla="*/ 475 h 681"/>
                <a:gd name="T8" fmla="*/ 196 w 581"/>
                <a:gd name="T9" fmla="*/ 385 h 681"/>
                <a:gd name="T10" fmla="*/ 301 w 581"/>
                <a:gd name="T11" fmla="*/ 285 h 681"/>
                <a:gd name="T12" fmla="*/ 396 w 581"/>
                <a:gd name="T13" fmla="*/ 160 h 681"/>
                <a:gd name="T14" fmla="*/ 426 w 581"/>
                <a:gd name="T15" fmla="*/ 85 h 681"/>
                <a:gd name="T16" fmla="*/ 436 w 581"/>
                <a:gd name="T17" fmla="*/ 0 h 681"/>
                <a:gd name="T18" fmla="*/ 456 w 581"/>
                <a:gd name="T19" fmla="*/ 0 h 681"/>
                <a:gd name="T20" fmla="*/ 446 w 581"/>
                <a:gd name="T21" fmla="*/ 90 h 681"/>
                <a:gd name="T22" fmla="*/ 461 w 581"/>
                <a:gd name="T23" fmla="*/ 90 h 681"/>
                <a:gd name="T24" fmla="*/ 541 w 581"/>
                <a:gd name="T25" fmla="*/ 30 h 681"/>
                <a:gd name="T26" fmla="*/ 556 w 581"/>
                <a:gd name="T27" fmla="*/ 50 h 681"/>
                <a:gd name="T28" fmla="*/ 491 w 581"/>
                <a:gd name="T29" fmla="*/ 95 h 681"/>
                <a:gd name="T30" fmla="*/ 481 w 581"/>
                <a:gd name="T31" fmla="*/ 125 h 681"/>
                <a:gd name="T32" fmla="*/ 501 w 581"/>
                <a:gd name="T33" fmla="*/ 135 h 681"/>
                <a:gd name="T34" fmla="*/ 566 w 581"/>
                <a:gd name="T35" fmla="*/ 135 h 681"/>
                <a:gd name="T36" fmla="*/ 581 w 581"/>
                <a:gd name="T37" fmla="*/ 145 h 681"/>
                <a:gd name="T38" fmla="*/ 576 w 581"/>
                <a:gd name="T39" fmla="*/ 160 h 681"/>
                <a:gd name="T40" fmla="*/ 496 w 581"/>
                <a:gd name="T41" fmla="*/ 155 h 681"/>
                <a:gd name="T42" fmla="*/ 471 w 581"/>
                <a:gd name="T43" fmla="*/ 155 h 681"/>
                <a:gd name="T44" fmla="*/ 466 w 581"/>
                <a:gd name="T45" fmla="*/ 170 h 681"/>
                <a:gd name="T46" fmla="*/ 521 w 581"/>
                <a:gd name="T47" fmla="*/ 245 h 681"/>
                <a:gd name="T48" fmla="*/ 506 w 581"/>
                <a:gd name="T49" fmla="*/ 260 h 681"/>
                <a:gd name="T50" fmla="*/ 451 w 581"/>
                <a:gd name="T51" fmla="*/ 190 h 681"/>
                <a:gd name="T52" fmla="*/ 431 w 581"/>
                <a:gd name="T53" fmla="*/ 190 h 681"/>
                <a:gd name="T54" fmla="*/ 391 w 581"/>
                <a:gd name="T55" fmla="*/ 220 h 681"/>
                <a:gd name="T56" fmla="*/ 321 w 581"/>
                <a:gd name="T57" fmla="*/ 315 h 681"/>
                <a:gd name="T58" fmla="*/ 256 w 581"/>
                <a:gd name="T59" fmla="*/ 395 h 681"/>
                <a:gd name="T60" fmla="*/ 181 w 581"/>
                <a:gd name="T61" fmla="*/ 480 h 681"/>
                <a:gd name="T62" fmla="*/ 126 w 581"/>
                <a:gd name="T63" fmla="*/ 565 h 681"/>
                <a:gd name="T64" fmla="*/ 56 w 581"/>
                <a:gd name="T65" fmla="*/ 675 h 681"/>
                <a:gd name="T66" fmla="*/ 11 w 581"/>
                <a:gd name="T67" fmla="*/ 681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1" h="681">
                  <a:moveTo>
                    <a:pt x="11" y="681"/>
                  </a:moveTo>
                  <a:lnTo>
                    <a:pt x="0" y="620"/>
                  </a:lnTo>
                  <a:lnTo>
                    <a:pt x="26" y="540"/>
                  </a:lnTo>
                  <a:lnTo>
                    <a:pt x="96" y="475"/>
                  </a:lnTo>
                  <a:lnTo>
                    <a:pt x="196" y="385"/>
                  </a:lnTo>
                  <a:lnTo>
                    <a:pt x="301" y="285"/>
                  </a:lnTo>
                  <a:lnTo>
                    <a:pt x="396" y="160"/>
                  </a:lnTo>
                  <a:lnTo>
                    <a:pt x="426" y="85"/>
                  </a:lnTo>
                  <a:lnTo>
                    <a:pt x="436" y="0"/>
                  </a:lnTo>
                  <a:lnTo>
                    <a:pt x="456" y="0"/>
                  </a:lnTo>
                  <a:lnTo>
                    <a:pt x="446" y="90"/>
                  </a:lnTo>
                  <a:lnTo>
                    <a:pt x="461" y="90"/>
                  </a:lnTo>
                  <a:lnTo>
                    <a:pt x="541" y="30"/>
                  </a:lnTo>
                  <a:lnTo>
                    <a:pt x="556" y="50"/>
                  </a:lnTo>
                  <a:lnTo>
                    <a:pt x="491" y="95"/>
                  </a:lnTo>
                  <a:lnTo>
                    <a:pt x="481" y="125"/>
                  </a:lnTo>
                  <a:lnTo>
                    <a:pt x="501" y="135"/>
                  </a:lnTo>
                  <a:lnTo>
                    <a:pt x="566" y="135"/>
                  </a:lnTo>
                  <a:lnTo>
                    <a:pt x="581" y="145"/>
                  </a:lnTo>
                  <a:lnTo>
                    <a:pt x="576" y="160"/>
                  </a:lnTo>
                  <a:lnTo>
                    <a:pt x="496" y="155"/>
                  </a:lnTo>
                  <a:lnTo>
                    <a:pt x="471" y="155"/>
                  </a:lnTo>
                  <a:lnTo>
                    <a:pt x="466" y="170"/>
                  </a:lnTo>
                  <a:lnTo>
                    <a:pt x="521" y="245"/>
                  </a:lnTo>
                  <a:lnTo>
                    <a:pt x="506" y="260"/>
                  </a:lnTo>
                  <a:lnTo>
                    <a:pt x="451" y="190"/>
                  </a:lnTo>
                  <a:lnTo>
                    <a:pt x="431" y="190"/>
                  </a:lnTo>
                  <a:lnTo>
                    <a:pt x="391" y="220"/>
                  </a:lnTo>
                  <a:lnTo>
                    <a:pt x="321" y="315"/>
                  </a:lnTo>
                  <a:lnTo>
                    <a:pt x="256" y="395"/>
                  </a:lnTo>
                  <a:lnTo>
                    <a:pt x="181" y="480"/>
                  </a:lnTo>
                  <a:lnTo>
                    <a:pt x="126" y="565"/>
                  </a:lnTo>
                  <a:lnTo>
                    <a:pt x="56" y="675"/>
                  </a:lnTo>
                  <a:lnTo>
                    <a:pt x="11" y="6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5BD95D42-C0ED-6F76-D413-F1F57399A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8" y="1656"/>
              <a:ext cx="681" cy="481"/>
            </a:xfrm>
            <a:custGeom>
              <a:avLst/>
              <a:gdLst>
                <a:gd name="T0" fmla="*/ 0 w 681"/>
                <a:gd name="T1" fmla="*/ 360 h 481"/>
                <a:gd name="T2" fmla="*/ 5 w 681"/>
                <a:gd name="T3" fmla="*/ 400 h 481"/>
                <a:gd name="T4" fmla="*/ 40 w 681"/>
                <a:gd name="T5" fmla="*/ 430 h 481"/>
                <a:gd name="T6" fmla="*/ 125 w 681"/>
                <a:gd name="T7" fmla="*/ 455 h 481"/>
                <a:gd name="T8" fmla="*/ 215 w 681"/>
                <a:gd name="T9" fmla="*/ 475 h 481"/>
                <a:gd name="T10" fmla="*/ 325 w 681"/>
                <a:gd name="T11" fmla="*/ 481 h 481"/>
                <a:gd name="T12" fmla="*/ 370 w 681"/>
                <a:gd name="T13" fmla="*/ 475 h 481"/>
                <a:gd name="T14" fmla="*/ 440 w 681"/>
                <a:gd name="T15" fmla="*/ 315 h 481"/>
                <a:gd name="T16" fmla="*/ 500 w 681"/>
                <a:gd name="T17" fmla="*/ 190 h 481"/>
                <a:gd name="T18" fmla="*/ 550 w 681"/>
                <a:gd name="T19" fmla="*/ 110 h 481"/>
                <a:gd name="T20" fmla="*/ 570 w 681"/>
                <a:gd name="T21" fmla="*/ 110 h 481"/>
                <a:gd name="T22" fmla="*/ 580 w 681"/>
                <a:gd name="T23" fmla="*/ 125 h 481"/>
                <a:gd name="T24" fmla="*/ 580 w 681"/>
                <a:gd name="T25" fmla="*/ 165 h 481"/>
                <a:gd name="T26" fmla="*/ 560 w 681"/>
                <a:gd name="T27" fmla="*/ 190 h 481"/>
                <a:gd name="T28" fmla="*/ 570 w 681"/>
                <a:gd name="T29" fmla="*/ 200 h 481"/>
                <a:gd name="T30" fmla="*/ 595 w 681"/>
                <a:gd name="T31" fmla="*/ 185 h 481"/>
                <a:gd name="T32" fmla="*/ 600 w 681"/>
                <a:gd name="T33" fmla="*/ 160 h 481"/>
                <a:gd name="T34" fmla="*/ 600 w 681"/>
                <a:gd name="T35" fmla="*/ 115 h 481"/>
                <a:gd name="T36" fmla="*/ 620 w 681"/>
                <a:gd name="T37" fmla="*/ 135 h 481"/>
                <a:gd name="T38" fmla="*/ 635 w 681"/>
                <a:gd name="T39" fmla="*/ 170 h 481"/>
                <a:gd name="T40" fmla="*/ 650 w 681"/>
                <a:gd name="T41" fmla="*/ 165 h 481"/>
                <a:gd name="T42" fmla="*/ 635 w 681"/>
                <a:gd name="T43" fmla="*/ 125 h 481"/>
                <a:gd name="T44" fmla="*/ 615 w 681"/>
                <a:gd name="T45" fmla="*/ 105 h 481"/>
                <a:gd name="T46" fmla="*/ 600 w 681"/>
                <a:gd name="T47" fmla="*/ 90 h 481"/>
                <a:gd name="T48" fmla="*/ 635 w 681"/>
                <a:gd name="T49" fmla="*/ 80 h 481"/>
                <a:gd name="T50" fmla="*/ 670 w 681"/>
                <a:gd name="T51" fmla="*/ 95 h 481"/>
                <a:gd name="T52" fmla="*/ 675 w 681"/>
                <a:gd name="T53" fmla="*/ 75 h 481"/>
                <a:gd name="T54" fmla="*/ 635 w 681"/>
                <a:gd name="T55" fmla="*/ 60 h 481"/>
                <a:gd name="T56" fmla="*/ 595 w 681"/>
                <a:gd name="T57" fmla="*/ 65 h 481"/>
                <a:gd name="T58" fmla="*/ 600 w 681"/>
                <a:gd name="T59" fmla="*/ 40 h 481"/>
                <a:gd name="T60" fmla="*/ 625 w 681"/>
                <a:gd name="T61" fmla="*/ 20 h 481"/>
                <a:gd name="T62" fmla="*/ 660 w 681"/>
                <a:gd name="T63" fmla="*/ 20 h 481"/>
                <a:gd name="T64" fmla="*/ 681 w 681"/>
                <a:gd name="T65" fmla="*/ 10 h 481"/>
                <a:gd name="T66" fmla="*/ 640 w 681"/>
                <a:gd name="T67" fmla="*/ 0 h 481"/>
                <a:gd name="T68" fmla="*/ 605 w 681"/>
                <a:gd name="T69" fmla="*/ 5 h 481"/>
                <a:gd name="T70" fmla="*/ 585 w 681"/>
                <a:gd name="T71" fmla="*/ 20 h 481"/>
                <a:gd name="T72" fmla="*/ 535 w 681"/>
                <a:gd name="T73" fmla="*/ 50 h 481"/>
                <a:gd name="T74" fmla="*/ 510 w 681"/>
                <a:gd name="T75" fmla="*/ 90 h 481"/>
                <a:gd name="T76" fmla="*/ 470 w 681"/>
                <a:gd name="T77" fmla="*/ 155 h 481"/>
                <a:gd name="T78" fmla="*/ 420 w 681"/>
                <a:gd name="T79" fmla="*/ 245 h 481"/>
                <a:gd name="T80" fmla="*/ 360 w 681"/>
                <a:gd name="T81" fmla="*/ 350 h 481"/>
                <a:gd name="T82" fmla="*/ 335 w 681"/>
                <a:gd name="T83" fmla="*/ 410 h 481"/>
                <a:gd name="T84" fmla="*/ 310 w 681"/>
                <a:gd name="T85" fmla="*/ 410 h 481"/>
                <a:gd name="T86" fmla="*/ 215 w 681"/>
                <a:gd name="T87" fmla="*/ 405 h 481"/>
                <a:gd name="T88" fmla="*/ 145 w 681"/>
                <a:gd name="T89" fmla="*/ 375 h 481"/>
                <a:gd name="T90" fmla="*/ 80 w 681"/>
                <a:gd name="T91" fmla="*/ 340 h 481"/>
                <a:gd name="T92" fmla="*/ 30 w 681"/>
                <a:gd name="T93" fmla="*/ 330 h 481"/>
                <a:gd name="T94" fmla="*/ 25 w 681"/>
                <a:gd name="T95" fmla="*/ 330 h 481"/>
                <a:gd name="T96" fmla="*/ 0 w 681"/>
                <a:gd name="T97" fmla="*/ 36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1" h="481">
                  <a:moveTo>
                    <a:pt x="0" y="360"/>
                  </a:moveTo>
                  <a:lnTo>
                    <a:pt x="5" y="400"/>
                  </a:lnTo>
                  <a:lnTo>
                    <a:pt x="40" y="430"/>
                  </a:lnTo>
                  <a:lnTo>
                    <a:pt x="125" y="455"/>
                  </a:lnTo>
                  <a:lnTo>
                    <a:pt x="215" y="475"/>
                  </a:lnTo>
                  <a:lnTo>
                    <a:pt x="325" y="481"/>
                  </a:lnTo>
                  <a:lnTo>
                    <a:pt x="370" y="475"/>
                  </a:lnTo>
                  <a:lnTo>
                    <a:pt x="440" y="315"/>
                  </a:lnTo>
                  <a:lnTo>
                    <a:pt x="500" y="190"/>
                  </a:lnTo>
                  <a:lnTo>
                    <a:pt x="550" y="110"/>
                  </a:lnTo>
                  <a:lnTo>
                    <a:pt x="570" y="110"/>
                  </a:lnTo>
                  <a:lnTo>
                    <a:pt x="580" y="125"/>
                  </a:lnTo>
                  <a:lnTo>
                    <a:pt x="580" y="165"/>
                  </a:lnTo>
                  <a:lnTo>
                    <a:pt x="560" y="190"/>
                  </a:lnTo>
                  <a:lnTo>
                    <a:pt x="570" y="200"/>
                  </a:lnTo>
                  <a:lnTo>
                    <a:pt x="595" y="185"/>
                  </a:lnTo>
                  <a:lnTo>
                    <a:pt x="600" y="160"/>
                  </a:lnTo>
                  <a:lnTo>
                    <a:pt x="600" y="115"/>
                  </a:lnTo>
                  <a:lnTo>
                    <a:pt x="620" y="135"/>
                  </a:lnTo>
                  <a:lnTo>
                    <a:pt x="635" y="170"/>
                  </a:lnTo>
                  <a:lnTo>
                    <a:pt x="650" y="165"/>
                  </a:lnTo>
                  <a:lnTo>
                    <a:pt x="635" y="125"/>
                  </a:lnTo>
                  <a:lnTo>
                    <a:pt x="615" y="105"/>
                  </a:lnTo>
                  <a:lnTo>
                    <a:pt x="600" y="90"/>
                  </a:lnTo>
                  <a:lnTo>
                    <a:pt x="635" y="80"/>
                  </a:lnTo>
                  <a:lnTo>
                    <a:pt x="670" y="95"/>
                  </a:lnTo>
                  <a:lnTo>
                    <a:pt x="675" y="75"/>
                  </a:lnTo>
                  <a:lnTo>
                    <a:pt x="635" y="60"/>
                  </a:lnTo>
                  <a:lnTo>
                    <a:pt x="595" y="65"/>
                  </a:lnTo>
                  <a:lnTo>
                    <a:pt x="600" y="40"/>
                  </a:lnTo>
                  <a:lnTo>
                    <a:pt x="625" y="20"/>
                  </a:lnTo>
                  <a:lnTo>
                    <a:pt x="660" y="20"/>
                  </a:lnTo>
                  <a:lnTo>
                    <a:pt x="681" y="10"/>
                  </a:lnTo>
                  <a:lnTo>
                    <a:pt x="640" y="0"/>
                  </a:lnTo>
                  <a:lnTo>
                    <a:pt x="605" y="5"/>
                  </a:lnTo>
                  <a:lnTo>
                    <a:pt x="585" y="20"/>
                  </a:lnTo>
                  <a:lnTo>
                    <a:pt x="535" y="50"/>
                  </a:lnTo>
                  <a:lnTo>
                    <a:pt x="510" y="90"/>
                  </a:lnTo>
                  <a:lnTo>
                    <a:pt x="470" y="155"/>
                  </a:lnTo>
                  <a:lnTo>
                    <a:pt x="420" y="245"/>
                  </a:lnTo>
                  <a:lnTo>
                    <a:pt x="360" y="350"/>
                  </a:lnTo>
                  <a:lnTo>
                    <a:pt x="335" y="410"/>
                  </a:lnTo>
                  <a:lnTo>
                    <a:pt x="310" y="410"/>
                  </a:lnTo>
                  <a:lnTo>
                    <a:pt x="215" y="405"/>
                  </a:lnTo>
                  <a:lnTo>
                    <a:pt x="145" y="375"/>
                  </a:lnTo>
                  <a:lnTo>
                    <a:pt x="80" y="340"/>
                  </a:lnTo>
                  <a:lnTo>
                    <a:pt x="30" y="330"/>
                  </a:lnTo>
                  <a:lnTo>
                    <a:pt x="25" y="330"/>
                  </a:lnTo>
                  <a:lnTo>
                    <a:pt x="0" y="3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63D605BF-738F-889E-4D29-CFF0F6D9F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2007"/>
              <a:ext cx="356" cy="726"/>
            </a:xfrm>
            <a:custGeom>
              <a:avLst/>
              <a:gdLst>
                <a:gd name="T0" fmla="*/ 60 w 356"/>
                <a:gd name="T1" fmla="*/ 75 h 726"/>
                <a:gd name="T2" fmla="*/ 110 w 356"/>
                <a:gd name="T3" fmla="*/ 15 h 726"/>
                <a:gd name="T4" fmla="*/ 165 w 356"/>
                <a:gd name="T5" fmla="*/ 0 h 726"/>
                <a:gd name="T6" fmla="*/ 246 w 356"/>
                <a:gd name="T7" fmla="*/ 20 h 726"/>
                <a:gd name="T8" fmla="*/ 261 w 356"/>
                <a:gd name="T9" fmla="*/ 60 h 726"/>
                <a:gd name="T10" fmla="*/ 266 w 356"/>
                <a:gd name="T11" fmla="*/ 135 h 726"/>
                <a:gd name="T12" fmla="*/ 236 w 356"/>
                <a:gd name="T13" fmla="*/ 255 h 726"/>
                <a:gd name="T14" fmla="*/ 221 w 356"/>
                <a:gd name="T15" fmla="*/ 305 h 726"/>
                <a:gd name="T16" fmla="*/ 221 w 356"/>
                <a:gd name="T17" fmla="*/ 360 h 726"/>
                <a:gd name="T18" fmla="*/ 241 w 356"/>
                <a:gd name="T19" fmla="*/ 411 h 726"/>
                <a:gd name="T20" fmla="*/ 271 w 356"/>
                <a:gd name="T21" fmla="*/ 451 h 726"/>
                <a:gd name="T22" fmla="*/ 341 w 356"/>
                <a:gd name="T23" fmla="*/ 511 h 726"/>
                <a:gd name="T24" fmla="*/ 356 w 356"/>
                <a:gd name="T25" fmla="*/ 576 h 726"/>
                <a:gd name="T26" fmla="*/ 346 w 356"/>
                <a:gd name="T27" fmla="*/ 626 h 726"/>
                <a:gd name="T28" fmla="*/ 326 w 356"/>
                <a:gd name="T29" fmla="*/ 666 h 726"/>
                <a:gd name="T30" fmla="*/ 276 w 356"/>
                <a:gd name="T31" fmla="*/ 711 h 726"/>
                <a:gd name="T32" fmla="*/ 236 w 356"/>
                <a:gd name="T33" fmla="*/ 726 h 726"/>
                <a:gd name="T34" fmla="*/ 175 w 356"/>
                <a:gd name="T35" fmla="*/ 721 h 726"/>
                <a:gd name="T36" fmla="*/ 115 w 356"/>
                <a:gd name="T37" fmla="*/ 706 h 726"/>
                <a:gd name="T38" fmla="*/ 80 w 356"/>
                <a:gd name="T39" fmla="*/ 666 h 726"/>
                <a:gd name="T40" fmla="*/ 40 w 356"/>
                <a:gd name="T41" fmla="*/ 601 h 726"/>
                <a:gd name="T42" fmla="*/ 20 w 356"/>
                <a:gd name="T43" fmla="*/ 541 h 726"/>
                <a:gd name="T44" fmla="*/ 0 w 356"/>
                <a:gd name="T45" fmla="*/ 436 h 726"/>
                <a:gd name="T46" fmla="*/ 0 w 356"/>
                <a:gd name="T47" fmla="*/ 320 h 726"/>
                <a:gd name="T48" fmla="*/ 25 w 356"/>
                <a:gd name="T49" fmla="*/ 195 h 726"/>
                <a:gd name="T50" fmla="*/ 45 w 356"/>
                <a:gd name="T51" fmla="*/ 120 h 726"/>
                <a:gd name="T52" fmla="*/ 60 w 356"/>
                <a:gd name="T53" fmla="*/ 75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6" h="726">
                  <a:moveTo>
                    <a:pt x="60" y="75"/>
                  </a:moveTo>
                  <a:lnTo>
                    <a:pt x="110" y="15"/>
                  </a:lnTo>
                  <a:lnTo>
                    <a:pt x="165" y="0"/>
                  </a:lnTo>
                  <a:lnTo>
                    <a:pt x="246" y="20"/>
                  </a:lnTo>
                  <a:lnTo>
                    <a:pt x="261" y="60"/>
                  </a:lnTo>
                  <a:lnTo>
                    <a:pt x="266" y="135"/>
                  </a:lnTo>
                  <a:lnTo>
                    <a:pt x="236" y="255"/>
                  </a:lnTo>
                  <a:lnTo>
                    <a:pt x="221" y="305"/>
                  </a:lnTo>
                  <a:lnTo>
                    <a:pt x="221" y="360"/>
                  </a:lnTo>
                  <a:lnTo>
                    <a:pt x="241" y="411"/>
                  </a:lnTo>
                  <a:lnTo>
                    <a:pt x="271" y="451"/>
                  </a:lnTo>
                  <a:lnTo>
                    <a:pt x="341" y="511"/>
                  </a:lnTo>
                  <a:lnTo>
                    <a:pt x="356" y="576"/>
                  </a:lnTo>
                  <a:lnTo>
                    <a:pt x="346" y="626"/>
                  </a:lnTo>
                  <a:lnTo>
                    <a:pt x="326" y="666"/>
                  </a:lnTo>
                  <a:lnTo>
                    <a:pt x="276" y="711"/>
                  </a:lnTo>
                  <a:lnTo>
                    <a:pt x="236" y="726"/>
                  </a:lnTo>
                  <a:lnTo>
                    <a:pt x="175" y="721"/>
                  </a:lnTo>
                  <a:lnTo>
                    <a:pt x="115" y="706"/>
                  </a:lnTo>
                  <a:lnTo>
                    <a:pt x="80" y="666"/>
                  </a:lnTo>
                  <a:lnTo>
                    <a:pt x="40" y="601"/>
                  </a:lnTo>
                  <a:lnTo>
                    <a:pt x="20" y="541"/>
                  </a:lnTo>
                  <a:lnTo>
                    <a:pt x="0" y="436"/>
                  </a:lnTo>
                  <a:lnTo>
                    <a:pt x="0" y="320"/>
                  </a:lnTo>
                  <a:lnTo>
                    <a:pt x="25" y="195"/>
                  </a:lnTo>
                  <a:lnTo>
                    <a:pt x="45" y="120"/>
                  </a:lnTo>
                  <a:lnTo>
                    <a:pt x="60" y="7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BC3E6E19-E2F9-5D7B-2CC2-AED85FC2D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" y="2608"/>
              <a:ext cx="300" cy="836"/>
            </a:xfrm>
            <a:custGeom>
              <a:avLst/>
              <a:gdLst>
                <a:gd name="T0" fmla="*/ 30 w 300"/>
                <a:gd name="T1" fmla="*/ 55 h 836"/>
                <a:gd name="T2" fmla="*/ 45 w 300"/>
                <a:gd name="T3" fmla="*/ 10 h 836"/>
                <a:gd name="T4" fmla="*/ 90 w 300"/>
                <a:gd name="T5" fmla="*/ 0 h 836"/>
                <a:gd name="T6" fmla="*/ 130 w 300"/>
                <a:gd name="T7" fmla="*/ 20 h 836"/>
                <a:gd name="T8" fmla="*/ 180 w 300"/>
                <a:gd name="T9" fmla="*/ 105 h 836"/>
                <a:gd name="T10" fmla="*/ 240 w 300"/>
                <a:gd name="T11" fmla="*/ 205 h 836"/>
                <a:gd name="T12" fmla="*/ 285 w 300"/>
                <a:gd name="T13" fmla="*/ 288 h 836"/>
                <a:gd name="T14" fmla="*/ 300 w 300"/>
                <a:gd name="T15" fmla="*/ 375 h 836"/>
                <a:gd name="T16" fmla="*/ 295 w 300"/>
                <a:gd name="T17" fmla="*/ 436 h 836"/>
                <a:gd name="T18" fmla="*/ 250 w 300"/>
                <a:gd name="T19" fmla="*/ 516 h 836"/>
                <a:gd name="T20" fmla="*/ 195 w 300"/>
                <a:gd name="T21" fmla="*/ 571 h 836"/>
                <a:gd name="T22" fmla="*/ 150 w 300"/>
                <a:gd name="T23" fmla="*/ 596 h 836"/>
                <a:gd name="T24" fmla="*/ 80 w 300"/>
                <a:gd name="T25" fmla="*/ 611 h 836"/>
                <a:gd name="T26" fmla="*/ 55 w 300"/>
                <a:gd name="T27" fmla="*/ 636 h 836"/>
                <a:gd name="T28" fmla="*/ 75 w 300"/>
                <a:gd name="T29" fmla="*/ 676 h 836"/>
                <a:gd name="T30" fmla="*/ 110 w 300"/>
                <a:gd name="T31" fmla="*/ 711 h 836"/>
                <a:gd name="T32" fmla="*/ 135 w 300"/>
                <a:gd name="T33" fmla="*/ 776 h 836"/>
                <a:gd name="T34" fmla="*/ 175 w 300"/>
                <a:gd name="T35" fmla="*/ 771 h 836"/>
                <a:gd name="T36" fmla="*/ 200 w 300"/>
                <a:gd name="T37" fmla="*/ 806 h 836"/>
                <a:gd name="T38" fmla="*/ 165 w 300"/>
                <a:gd name="T39" fmla="*/ 836 h 836"/>
                <a:gd name="T40" fmla="*/ 135 w 300"/>
                <a:gd name="T41" fmla="*/ 821 h 836"/>
                <a:gd name="T42" fmla="*/ 100 w 300"/>
                <a:gd name="T43" fmla="*/ 796 h 836"/>
                <a:gd name="T44" fmla="*/ 85 w 300"/>
                <a:gd name="T45" fmla="*/ 731 h 836"/>
                <a:gd name="T46" fmla="*/ 35 w 300"/>
                <a:gd name="T47" fmla="*/ 686 h 836"/>
                <a:gd name="T48" fmla="*/ 0 w 300"/>
                <a:gd name="T49" fmla="*/ 636 h 836"/>
                <a:gd name="T50" fmla="*/ 5 w 300"/>
                <a:gd name="T51" fmla="*/ 601 h 836"/>
                <a:gd name="T52" fmla="*/ 40 w 300"/>
                <a:gd name="T53" fmla="*/ 586 h 836"/>
                <a:gd name="T54" fmla="*/ 125 w 300"/>
                <a:gd name="T55" fmla="*/ 556 h 836"/>
                <a:gd name="T56" fmla="*/ 195 w 300"/>
                <a:gd name="T57" fmla="*/ 516 h 836"/>
                <a:gd name="T58" fmla="*/ 220 w 300"/>
                <a:gd name="T59" fmla="*/ 456 h 836"/>
                <a:gd name="T60" fmla="*/ 235 w 300"/>
                <a:gd name="T61" fmla="*/ 410 h 836"/>
                <a:gd name="T62" fmla="*/ 235 w 300"/>
                <a:gd name="T63" fmla="*/ 370 h 836"/>
                <a:gd name="T64" fmla="*/ 230 w 300"/>
                <a:gd name="T65" fmla="*/ 320 h 836"/>
                <a:gd name="T66" fmla="*/ 210 w 300"/>
                <a:gd name="T67" fmla="*/ 280 h 836"/>
                <a:gd name="T68" fmla="*/ 175 w 300"/>
                <a:gd name="T69" fmla="*/ 220 h 836"/>
                <a:gd name="T70" fmla="*/ 115 w 300"/>
                <a:gd name="T71" fmla="*/ 155 h 836"/>
                <a:gd name="T72" fmla="*/ 75 w 300"/>
                <a:gd name="T73" fmla="*/ 120 h 836"/>
                <a:gd name="T74" fmla="*/ 40 w 300"/>
                <a:gd name="T75" fmla="*/ 80 h 836"/>
                <a:gd name="T76" fmla="*/ 30 w 300"/>
                <a:gd name="T77" fmla="*/ 55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00" h="836">
                  <a:moveTo>
                    <a:pt x="30" y="55"/>
                  </a:moveTo>
                  <a:lnTo>
                    <a:pt x="45" y="10"/>
                  </a:lnTo>
                  <a:lnTo>
                    <a:pt x="90" y="0"/>
                  </a:lnTo>
                  <a:lnTo>
                    <a:pt x="130" y="20"/>
                  </a:lnTo>
                  <a:lnTo>
                    <a:pt x="180" y="105"/>
                  </a:lnTo>
                  <a:lnTo>
                    <a:pt x="240" y="205"/>
                  </a:lnTo>
                  <a:lnTo>
                    <a:pt x="285" y="288"/>
                  </a:lnTo>
                  <a:lnTo>
                    <a:pt x="300" y="375"/>
                  </a:lnTo>
                  <a:lnTo>
                    <a:pt x="295" y="436"/>
                  </a:lnTo>
                  <a:lnTo>
                    <a:pt x="250" y="516"/>
                  </a:lnTo>
                  <a:lnTo>
                    <a:pt x="195" y="571"/>
                  </a:lnTo>
                  <a:lnTo>
                    <a:pt x="150" y="596"/>
                  </a:lnTo>
                  <a:lnTo>
                    <a:pt x="80" y="611"/>
                  </a:lnTo>
                  <a:lnTo>
                    <a:pt x="55" y="636"/>
                  </a:lnTo>
                  <a:lnTo>
                    <a:pt x="75" y="676"/>
                  </a:lnTo>
                  <a:lnTo>
                    <a:pt x="110" y="711"/>
                  </a:lnTo>
                  <a:lnTo>
                    <a:pt x="135" y="776"/>
                  </a:lnTo>
                  <a:lnTo>
                    <a:pt x="175" y="771"/>
                  </a:lnTo>
                  <a:lnTo>
                    <a:pt x="200" y="806"/>
                  </a:lnTo>
                  <a:lnTo>
                    <a:pt x="165" y="836"/>
                  </a:lnTo>
                  <a:lnTo>
                    <a:pt x="135" y="821"/>
                  </a:lnTo>
                  <a:lnTo>
                    <a:pt x="100" y="796"/>
                  </a:lnTo>
                  <a:lnTo>
                    <a:pt x="85" y="731"/>
                  </a:lnTo>
                  <a:lnTo>
                    <a:pt x="35" y="686"/>
                  </a:lnTo>
                  <a:lnTo>
                    <a:pt x="0" y="636"/>
                  </a:lnTo>
                  <a:lnTo>
                    <a:pt x="5" y="601"/>
                  </a:lnTo>
                  <a:lnTo>
                    <a:pt x="40" y="586"/>
                  </a:lnTo>
                  <a:lnTo>
                    <a:pt x="125" y="556"/>
                  </a:lnTo>
                  <a:lnTo>
                    <a:pt x="195" y="516"/>
                  </a:lnTo>
                  <a:lnTo>
                    <a:pt x="220" y="456"/>
                  </a:lnTo>
                  <a:lnTo>
                    <a:pt x="235" y="410"/>
                  </a:lnTo>
                  <a:lnTo>
                    <a:pt x="235" y="370"/>
                  </a:lnTo>
                  <a:lnTo>
                    <a:pt x="230" y="320"/>
                  </a:lnTo>
                  <a:lnTo>
                    <a:pt x="210" y="280"/>
                  </a:lnTo>
                  <a:lnTo>
                    <a:pt x="175" y="220"/>
                  </a:lnTo>
                  <a:lnTo>
                    <a:pt x="115" y="155"/>
                  </a:lnTo>
                  <a:lnTo>
                    <a:pt x="75" y="120"/>
                  </a:lnTo>
                  <a:lnTo>
                    <a:pt x="40" y="80"/>
                  </a:lnTo>
                  <a:lnTo>
                    <a:pt x="30" y="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6A3D73CF-F5EA-07AE-A48C-C16BDC5E26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2422"/>
              <a:ext cx="621" cy="441"/>
            </a:xfrm>
            <a:custGeom>
              <a:avLst/>
              <a:gdLst>
                <a:gd name="T0" fmla="*/ 0 w 621"/>
                <a:gd name="T1" fmla="*/ 225 h 441"/>
                <a:gd name="T2" fmla="*/ 5 w 621"/>
                <a:gd name="T3" fmla="*/ 265 h 441"/>
                <a:gd name="T4" fmla="*/ 80 w 621"/>
                <a:gd name="T5" fmla="*/ 295 h 441"/>
                <a:gd name="T6" fmla="*/ 160 w 621"/>
                <a:gd name="T7" fmla="*/ 300 h 441"/>
                <a:gd name="T8" fmla="*/ 235 w 621"/>
                <a:gd name="T9" fmla="*/ 270 h 441"/>
                <a:gd name="T10" fmla="*/ 290 w 621"/>
                <a:gd name="T11" fmla="*/ 185 h 441"/>
                <a:gd name="T12" fmla="*/ 330 w 621"/>
                <a:gd name="T13" fmla="*/ 100 h 441"/>
                <a:gd name="T14" fmla="*/ 345 w 621"/>
                <a:gd name="T15" fmla="*/ 85 h 441"/>
                <a:gd name="T16" fmla="*/ 370 w 621"/>
                <a:gd name="T17" fmla="*/ 90 h 441"/>
                <a:gd name="T18" fmla="*/ 405 w 621"/>
                <a:gd name="T19" fmla="*/ 160 h 441"/>
                <a:gd name="T20" fmla="*/ 435 w 621"/>
                <a:gd name="T21" fmla="*/ 285 h 441"/>
                <a:gd name="T22" fmla="*/ 455 w 621"/>
                <a:gd name="T23" fmla="*/ 380 h 441"/>
                <a:gd name="T24" fmla="*/ 465 w 621"/>
                <a:gd name="T25" fmla="*/ 430 h 441"/>
                <a:gd name="T26" fmla="*/ 495 w 621"/>
                <a:gd name="T27" fmla="*/ 441 h 441"/>
                <a:gd name="T28" fmla="*/ 520 w 621"/>
                <a:gd name="T29" fmla="*/ 420 h 441"/>
                <a:gd name="T30" fmla="*/ 540 w 621"/>
                <a:gd name="T31" fmla="*/ 350 h 441"/>
                <a:gd name="T32" fmla="*/ 570 w 621"/>
                <a:gd name="T33" fmla="*/ 285 h 441"/>
                <a:gd name="T34" fmla="*/ 585 w 621"/>
                <a:gd name="T35" fmla="*/ 205 h 441"/>
                <a:gd name="T36" fmla="*/ 615 w 621"/>
                <a:gd name="T37" fmla="*/ 200 h 441"/>
                <a:gd name="T38" fmla="*/ 621 w 621"/>
                <a:gd name="T39" fmla="*/ 185 h 441"/>
                <a:gd name="T40" fmla="*/ 600 w 621"/>
                <a:gd name="T41" fmla="*/ 165 h 441"/>
                <a:gd name="T42" fmla="*/ 565 w 621"/>
                <a:gd name="T43" fmla="*/ 170 h 441"/>
                <a:gd name="T44" fmla="*/ 550 w 621"/>
                <a:gd name="T45" fmla="*/ 220 h 441"/>
                <a:gd name="T46" fmla="*/ 545 w 621"/>
                <a:gd name="T47" fmla="*/ 260 h 441"/>
                <a:gd name="T48" fmla="*/ 525 w 621"/>
                <a:gd name="T49" fmla="*/ 315 h 441"/>
                <a:gd name="T50" fmla="*/ 500 w 621"/>
                <a:gd name="T51" fmla="*/ 335 h 441"/>
                <a:gd name="T52" fmla="*/ 480 w 621"/>
                <a:gd name="T53" fmla="*/ 275 h 441"/>
                <a:gd name="T54" fmla="*/ 455 w 621"/>
                <a:gd name="T55" fmla="*/ 170 h 441"/>
                <a:gd name="T56" fmla="*/ 440 w 621"/>
                <a:gd name="T57" fmla="*/ 120 h 441"/>
                <a:gd name="T58" fmla="*/ 410 w 621"/>
                <a:gd name="T59" fmla="*/ 60 h 441"/>
                <a:gd name="T60" fmla="*/ 385 w 621"/>
                <a:gd name="T61" fmla="*/ 15 h 441"/>
                <a:gd name="T62" fmla="*/ 340 w 621"/>
                <a:gd name="T63" fmla="*/ 0 h 441"/>
                <a:gd name="T64" fmla="*/ 320 w 621"/>
                <a:gd name="T65" fmla="*/ 5 h 441"/>
                <a:gd name="T66" fmla="*/ 290 w 621"/>
                <a:gd name="T67" fmla="*/ 70 h 441"/>
                <a:gd name="T68" fmla="*/ 255 w 621"/>
                <a:gd name="T69" fmla="*/ 150 h 441"/>
                <a:gd name="T70" fmla="*/ 220 w 621"/>
                <a:gd name="T71" fmla="*/ 185 h 441"/>
                <a:gd name="T72" fmla="*/ 175 w 621"/>
                <a:gd name="T73" fmla="*/ 220 h 441"/>
                <a:gd name="T74" fmla="*/ 120 w 621"/>
                <a:gd name="T75" fmla="*/ 190 h 441"/>
                <a:gd name="T76" fmla="*/ 55 w 621"/>
                <a:gd name="T77" fmla="*/ 170 h 441"/>
                <a:gd name="T78" fmla="*/ 30 w 621"/>
                <a:gd name="T79" fmla="*/ 190 h 441"/>
                <a:gd name="T80" fmla="*/ 0 w 621"/>
                <a:gd name="T81" fmla="*/ 225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21" h="441">
                  <a:moveTo>
                    <a:pt x="0" y="225"/>
                  </a:moveTo>
                  <a:lnTo>
                    <a:pt x="5" y="265"/>
                  </a:lnTo>
                  <a:lnTo>
                    <a:pt x="80" y="295"/>
                  </a:lnTo>
                  <a:lnTo>
                    <a:pt x="160" y="300"/>
                  </a:lnTo>
                  <a:lnTo>
                    <a:pt x="235" y="270"/>
                  </a:lnTo>
                  <a:lnTo>
                    <a:pt x="290" y="185"/>
                  </a:lnTo>
                  <a:lnTo>
                    <a:pt x="330" y="100"/>
                  </a:lnTo>
                  <a:lnTo>
                    <a:pt x="345" y="85"/>
                  </a:lnTo>
                  <a:lnTo>
                    <a:pt x="370" y="90"/>
                  </a:lnTo>
                  <a:lnTo>
                    <a:pt x="405" y="160"/>
                  </a:lnTo>
                  <a:lnTo>
                    <a:pt x="435" y="285"/>
                  </a:lnTo>
                  <a:lnTo>
                    <a:pt x="455" y="380"/>
                  </a:lnTo>
                  <a:lnTo>
                    <a:pt x="465" y="430"/>
                  </a:lnTo>
                  <a:lnTo>
                    <a:pt x="495" y="441"/>
                  </a:lnTo>
                  <a:lnTo>
                    <a:pt x="520" y="420"/>
                  </a:lnTo>
                  <a:lnTo>
                    <a:pt x="540" y="350"/>
                  </a:lnTo>
                  <a:lnTo>
                    <a:pt x="570" y="285"/>
                  </a:lnTo>
                  <a:lnTo>
                    <a:pt x="585" y="205"/>
                  </a:lnTo>
                  <a:lnTo>
                    <a:pt x="615" y="200"/>
                  </a:lnTo>
                  <a:lnTo>
                    <a:pt x="621" y="185"/>
                  </a:lnTo>
                  <a:lnTo>
                    <a:pt x="600" y="165"/>
                  </a:lnTo>
                  <a:lnTo>
                    <a:pt x="565" y="170"/>
                  </a:lnTo>
                  <a:lnTo>
                    <a:pt x="550" y="220"/>
                  </a:lnTo>
                  <a:lnTo>
                    <a:pt x="545" y="260"/>
                  </a:lnTo>
                  <a:lnTo>
                    <a:pt x="525" y="315"/>
                  </a:lnTo>
                  <a:lnTo>
                    <a:pt x="500" y="335"/>
                  </a:lnTo>
                  <a:lnTo>
                    <a:pt x="480" y="275"/>
                  </a:lnTo>
                  <a:lnTo>
                    <a:pt x="455" y="170"/>
                  </a:lnTo>
                  <a:lnTo>
                    <a:pt x="440" y="120"/>
                  </a:lnTo>
                  <a:lnTo>
                    <a:pt x="410" y="60"/>
                  </a:lnTo>
                  <a:lnTo>
                    <a:pt x="385" y="15"/>
                  </a:lnTo>
                  <a:lnTo>
                    <a:pt x="340" y="0"/>
                  </a:lnTo>
                  <a:lnTo>
                    <a:pt x="320" y="5"/>
                  </a:lnTo>
                  <a:lnTo>
                    <a:pt x="290" y="70"/>
                  </a:lnTo>
                  <a:lnTo>
                    <a:pt x="255" y="150"/>
                  </a:lnTo>
                  <a:lnTo>
                    <a:pt x="220" y="185"/>
                  </a:lnTo>
                  <a:lnTo>
                    <a:pt x="175" y="220"/>
                  </a:lnTo>
                  <a:lnTo>
                    <a:pt x="120" y="190"/>
                  </a:lnTo>
                  <a:lnTo>
                    <a:pt x="55" y="170"/>
                  </a:lnTo>
                  <a:lnTo>
                    <a:pt x="30" y="190"/>
                  </a:lnTo>
                  <a:lnTo>
                    <a:pt x="0" y="2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33" name="AutoShape 34">
            <a:extLst>
              <a:ext uri="{FF2B5EF4-FFF2-40B4-BE49-F238E27FC236}">
                <a16:creationId xmlns:a16="http://schemas.microsoft.com/office/drawing/2014/main" id="{65027840-CDBE-93A5-BF2D-C5E859419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2703" y="4474875"/>
            <a:ext cx="2322300" cy="1452384"/>
          </a:xfrm>
          <a:prstGeom prst="cloudCallout">
            <a:avLst>
              <a:gd name="adj1" fmla="val -5190"/>
              <a:gd name="adj2" fmla="val 217829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itchFamily="34" charset="0"/>
                <a:ea typeface="等线" panose="02010600030101010101" pitchFamily="2" charset="-122"/>
                <a:cs typeface="+mn-cs"/>
              </a:rPr>
              <a:t>这里比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itchFamily="34" charset="0"/>
                <a:ea typeface="等线" panose="02010600030101010101" pitchFamily="2" charset="-122"/>
                <a:cs typeface="+mn-cs"/>
              </a:rPr>
              <a:t>B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itchFamily="34" charset="0"/>
                <a:ea typeface="等线" panose="02010600030101010101" pitchFamily="2" charset="-122"/>
                <a:cs typeface="+mn-cs"/>
              </a:rPr>
              <a:t>低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itchFamily="34" charset="0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34" name="Group 35">
            <a:extLst>
              <a:ext uri="{FF2B5EF4-FFF2-40B4-BE49-F238E27FC236}">
                <a16:creationId xmlns:a16="http://schemas.microsoft.com/office/drawing/2014/main" id="{D1E5776E-7F87-DF2C-B351-3E2279A68A92}"/>
              </a:ext>
            </a:extLst>
          </p:cNvPr>
          <p:cNvGrpSpPr>
            <a:grpSpLocks/>
          </p:cNvGrpSpPr>
          <p:nvPr/>
        </p:nvGrpSpPr>
        <p:grpSpPr bwMode="auto">
          <a:xfrm rot="16699885" flipH="1">
            <a:off x="9229804" y="5011044"/>
            <a:ext cx="390928" cy="623351"/>
            <a:chOff x="2452" y="1140"/>
            <a:chExt cx="857" cy="2304"/>
          </a:xfrm>
        </p:grpSpPr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4A14073A-03E7-4B39-59CC-7A222903C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3" y="1550"/>
              <a:ext cx="330" cy="401"/>
            </a:xfrm>
            <a:custGeom>
              <a:avLst/>
              <a:gdLst>
                <a:gd name="T0" fmla="*/ 230 w 330"/>
                <a:gd name="T1" fmla="*/ 126 h 401"/>
                <a:gd name="T2" fmla="*/ 215 w 330"/>
                <a:gd name="T3" fmla="*/ 61 h 401"/>
                <a:gd name="T4" fmla="*/ 180 w 330"/>
                <a:gd name="T5" fmla="*/ 21 h 401"/>
                <a:gd name="T6" fmla="*/ 130 w 330"/>
                <a:gd name="T7" fmla="*/ 0 h 401"/>
                <a:gd name="T8" fmla="*/ 55 w 330"/>
                <a:gd name="T9" fmla="*/ 16 h 401"/>
                <a:gd name="T10" fmla="*/ 15 w 330"/>
                <a:gd name="T11" fmla="*/ 91 h 401"/>
                <a:gd name="T12" fmla="*/ 0 w 330"/>
                <a:gd name="T13" fmla="*/ 166 h 401"/>
                <a:gd name="T14" fmla="*/ 0 w 330"/>
                <a:gd name="T15" fmla="*/ 246 h 401"/>
                <a:gd name="T16" fmla="*/ 15 w 330"/>
                <a:gd name="T17" fmla="*/ 336 h 401"/>
                <a:gd name="T18" fmla="*/ 70 w 330"/>
                <a:gd name="T19" fmla="*/ 391 h 401"/>
                <a:gd name="T20" fmla="*/ 120 w 330"/>
                <a:gd name="T21" fmla="*/ 401 h 401"/>
                <a:gd name="T22" fmla="*/ 185 w 330"/>
                <a:gd name="T23" fmla="*/ 386 h 401"/>
                <a:gd name="T24" fmla="*/ 215 w 330"/>
                <a:gd name="T25" fmla="*/ 326 h 401"/>
                <a:gd name="T26" fmla="*/ 235 w 330"/>
                <a:gd name="T27" fmla="*/ 266 h 401"/>
                <a:gd name="T28" fmla="*/ 245 w 330"/>
                <a:gd name="T29" fmla="*/ 216 h 401"/>
                <a:gd name="T30" fmla="*/ 245 w 330"/>
                <a:gd name="T31" fmla="*/ 181 h 401"/>
                <a:gd name="T32" fmla="*/ 325 w 330"/>
                <a:gd name="T33" fmla="*/ 106 h 401"/>
                <a:gd name="T34" fmla="*/ 330 w 330"/>
                <a:gd name="T35" fmla="*/ 81 h 401"/>
                <a:gd name="T36" fmla="*/ 315 w 330"/>
                <a:gd name="T37" fmla="*/ 71 h 401"/>
                <a:gd name="T38" fmla="*/ 235 w 330"/>
                <a:gd name="T39" fmla="*/ 156 h 401"/>
                <a:gd name="T40" fmla="*/ 230 w 330"/>
                <a:gd name="T41" fmla="*/ 126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0" h="401">
                  <a:moveTo>
                    <a:pt x="230" y="126"/>
                  </a:moveTo>
                  <a:lnTo>
                    <a:pt x="215" y="61"/>
                  </a:lnTo>
                  <a:lnTo>
                    <a:pt x="180" y="21"/>
                  </a:lnTo>
                  <a:lnTo>
                    <a:pt x="130" y="0"/>
                  </a:lnTo>
                  <a:lnTo>
                    <a:pt x="55" y="16"/>
                  </a:lnTo>
                  <a:lnTo>
                    <a:pt x="15" y="91"/>
                  </a:lnTo>
                  <a:lnTo>
                    <a:pt x="0" y="166"/>
                  </a:lnTo>
                  <a:lnTo>
                    <a:pt x="0" y="246"/>
                  </a:lnTo>
                  <a:lnTo>
                    <a:pt x="15" y="336"/>
                  </a:lnTo>
                  <a:lnTo>
                    <a:pt x="70" y="391"/>
                  </a:lnTo>
                  <a:lnTo>
                    <a:pt x="120" y="401"/>
                  </a:lnTo>
                  <a:lnTo>
                    <a:pt x="185" y="386"/>
                  </a:lnTo>
                  <a:lnTo>
                    <a:pt x="215" y="326"/>
                  </a:lnTo>
                  <a:lnTo>
                    <a:pt x="235" y="266"/>
                  </a:lnTo>
                  <a:lnTo>
                    <a:pt x="245" y="216"/>
                  </a:lnTo>
                  <a:lnTo>
                    <a:pt x="245" y="181"/>
                  </a:lnTo>
                  <a:lnTo>
                    <a:pt x="325" y="106"/>
                  </a:lnTo>
                  <a:lnTo>
                    <a:pt x="330" y="81"/>
                  </a:lnTo>
                  <a:lnTo>
                    <a:pt x="315" y="71"/>
                  </a:lnTo>
                  <a:lnTo>
                    <a:pt x="235" y="156"/>
                  </a:lnTo>
                  <a:lnTo>
                    <a:pt x="230" y="126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3B497D43-AF02-4460-22A3-FC7C26AA5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1140"/>
              <a:ext cx="581" cy="681"/>
            </a:xfrm>
            <a:custGeom>
              <a:avLst/>
              <a:gdLst>
                <a:gd name="T0" fmla="*/ 11 w 581"/>
                <a:gd name="T1" fmla="*/ 681 h 681"/>
                <a:gd name="T2" fmla="*/ 0 w 581"/>
                <a:gd name="T3" fmla="*/ 620 h 681"/>
                <a:gd name="T4" fmla="*/ 26 w 581"/>
                <a:gd name="T5" fmla="*/ 540 h 681"/>
                <a:gd name="T6" fmla="*/ 96 w 581"/>
                <a:gd name="T7" fmla="*/ 475 h 681"/>
                <a:gd name="T8" fmla="*/ 196 w 581"/>
                <a:gd name="T9" fmla="*/ 385 h 681"/>
                <a:gd name="T10" fmla="*/ 301 w 581"/>
                <a:gd name="T11" fmla="*/ 285 h 681"/>
                <a:gd name="T12" fmla="*/ 396 w 581"/>
                <a:gd name="T13" fmla="*/ 160 h 681"/>
                <a:gd name="T14" fmla="*/ 426 w 581"/>
                <a:gd name="T15" fmla="*/ 85 h 681"/>
                <a:gd name="T16" fmla="*/ 436 w 581"/>
                <a:gd name="T17" fmla="*/ 0 h 681"/>
                <a:gd name="T18" fmla="*/ 456 w 581"/>
                <a:gd name="T19" fmla="*/ 0 h 681"/>
                <a:gd name="T20" fmla="*/ 446 w 581"/>
                <a:gd name="T21" fmla="*/ 90 h 681"/>
                <a:gd name="T22" fmla="*/ 461 w 581"/>
                <a:gd name="T23" fmla="*/ 90 h 681"/>
                <a:gd name="T24" fmla="*/ 541 w 581"/>
                <a:gd name="T25" fmla="*/ 30 h 681"/>
                <a:gd name="T26" fmla="*/ 556 w 581"/>
                <a:gd name="T27" fmla="*/ 50 h 681"/>
                <a:gd name="T28" fmla="*/ 491 w 581"/>
                <a:gd name="T29" fmla="*/ 95 h 681"/>
                <a:gd name="T30" fmla="*/ 481 w 581"/>
                <a:gd name="T31" fmla="*/ 125 h 681"/>
                <a:gd name="T32" fmla="*/ 501 w 581"/>
                <a:gd name="T33" fmla="*/ 135 h 681"/>
                <a:gd name="T34" fmla="*/ 566 w 581"/>
                <a:gd name="T35" fmla="*/ 135 h 681"/>
                <a:gd name="T36" fmla="*/ 581 w 581"/>
                <a:gd name="T37" fmla="*/ 145 h 681"/>
                <a:gd name="T38" fmla="*/ 576 w 581"/>
                <a:gd name="T39" fmla="*/ 160 h 681"/>
                <a:gd name="T40" fmla="*/ 496 w 581"/>
                <a:gd name="T41" fmla="*/ 155 h 681"/>
                <a:gd name="T42" fmla="*/ 471 w 581"/>
                <a:gd name="T43" fmla="*/ 155 h 681"/>
                <a:gd name="T44" fmla="*/ 466 w 581"/>
                <a:gd name="T45" fmla="*/ 170 h 681"/>
                <a:gd name="T46" fmla="*/ 521 w 581"/>
                <a:gd name="T47" fmla="*/ 245 h 681"/>
                <a:gd name="T48" fmla="*/ 506 w 581"/>
                <a:gd name="T49" fmla="*/ 260 h 681"/>
                <a:gd name="T50" fmla="*/ 451 w 581"/>
                <a:gd name="T51" fmla="*/ 190 h 681"/>
                <a:gd name="T52" fmla="*/ 431 w 581"/>
                <a:gd name="T53" fmla="*/ 190 h 681"/>
                <a:gd name="T54" fmla="*/ 391 w 581"/>
                <a:gd name="T55" fmla="*/ 220 h 681"/>
                <a:gd name="T56" fmla="*/ 321 w 581"/>
                <a:gd name="T57" fmla="*/ 315 h 681"/>
                <a:gd name="T58" fmla="*/ 256 w 581"/>
                <a:gd name="T59" fmla="*/ 395 h 681"/>
                <a:gd name="T60" fmla="*/ 181 w 581"/>
                <a:gd name="T61" fmla="*/ 480 h 681"/>
                <a:gd name="T62" fmla="*/ 126 w 581"/>
                <a:gd name="T63" fmla="*/ 565 h 681"/>
                <a:gd name="T64" fmla="*/ 56 w 581"/>
                <a:gd name="T65" fmla="*/ 675 h 681"/>
                <a:gd name="T66" fmla="*/ 11 w 581"/>
                <a:gd name="T67" fmla="*/ 681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1" h="681">
                  <a:moveTo>
                    <a:pt x="11" y="681"/>
                  </a:moveTo>
                  <a:lnTo>
                    <a:pt x="0" y="620"/>
                  </a:lnTo>
                  <a:lnTo>
                    <a:pt x="26" y="540"/>
                  </a:lnTo>
                  <a:lnTo>
                    <a:pt x="96" y="475"/>
                  </a:lnTo>
                  <a:lnTo>
                    <a:pt x="196" y="385"/>
                  </a:lnTo>
                  <a:lnTo>
                    <a:pt x="301" y="285"/>
                  </a:lnTo>
                  <a:lnTo>
                    <a:pt x="396" y="160"/>
                  </a:lnTo>
                  <a:lnTo>
                    <a:pt x="426" y="85"/>
                  </a:lnTo>
                  <a:lnTo>
                    <a:pt x="436" y="0"/>
                  </a:lnTo>
                  <a:lnTo>
                    <a:pt x="456" y="0"/>
                  </a:lnTo>
                  <a:lnTo>
                    <a:pt x="446" y="90"/>
                  </a:lnTo>
                  <a:lnTo>
                    <a:pt x="461" y="90"/>
                  </a:lnTo>
                  <a:lnTo>
                    <a:pt x="541" y="30"/>
                  </a:lnTo>
                  <a:lnTo>
                    <a:pt x="556" y="50"/>
                  </a:lnTo>
                  <a:lnTo>
                    <a:pt x="491" y="95"/>
                  </a:lnTo>
                  <a:lnTo>
                    <a:pt x="481" y="125"/>
                  </a:lnTo>
                  <a:lnTo>
                    <a:pt x="501" y="135"/>
                  </a:lnTo>
                  <a:lnTo>
                    <a:pt x="566" y="135"/>
                  </a:lnTo>
                  <a:lnTo>
                    <a:pt x="581" y="145"/>
                  </a:lnTo>
                  <a:lnTo>
                    <a:pt x="576" y="160"/>
                  </a:lnTo>
                  <a:lnTo>
                    <a:pt x="496" y="155"/>
                  </a:lnTo>
                  <a:lnTo>
                    <a:pt x="471" y="155"/>
                  </a:lnTo>
                  <a:lnTo>
                    <a:pt x="466" y="170"/>
                  </a:lnTo>
                  <a:lnTo>
                    <a:pt x="521" y="245"/>
                  </a:lnTo>
                  <a:lnTo>
                    <a:pt x="506" y="260"/>
                  </a:lnTo>
                  <a:lnTo>
                    <a:pt x="451" y="190"/>
                  </a:lnTo>
                  <a:lnTo>
                    <a:pt x="431" y="190"/>
                  </a:lnTo>
                  <a:lnTo>
                    <a:pt x="391" y="220"/>
                  </a:lnTo>
                  <a:lnTo>
                    <a:pt x="321" y="315"/>
                  </a:lnTo>
                  <a:lnTo>
                    <a:pt x="256" y="395"/>
                  </a:lnTo>
                  <a:lnTo>
                    <a:pt x="181" y="480"/>
                  </a:lnTo>
                  <a:lnTo>
                    <a:pt x="126" y="565"/>
                  </a:lnTo>
                  <a:lnTo>
                    <a:pt x="56" y="675"/>
                  </a:lnTo>
                  <a:lnTo>
                    <a:pt x="11" y="681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13639F1F-72F2-0111-0409-4595F98E6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8" y="1656"/>
              <a:ext cx="681" cy="481"/>
            </a:xfrm>
            <a:custGeom>
              <a:avLst/>
              <a:gdLst>
                <a:gd name="T0" fmla="*/ 0 w 681"/>
                <a:gd name="T1" fmla="*/ 360 h 481"/>
                <a:gd name="T2" fmla="*/ 5 w 681"/>
                <a:gd name="T3" fmla="*/ 400 h 481"/>
                <a:gd name="T4" fmla="*/ 40 w 681"/>
                <a:gd name="T5" fmla="*/ 430 h 481"/>
                <a:gd name="T6" fmla="*/ 125 w 681"/>
                <a:gd name="T7" fmla="*/ 455 h 481"/>
                <a:gd name="T8" fmla="*/ 215 w 681"/>
                <a:gd name="T9" fmla="*/ 475 h 481"/>
                <a:gd name="T10" fmla="*/ 325 w 681"/>
                <a:gd name="T11" fmla="*/ 481 h 481"/>
                <a:gd name="T12" fmla="*/ 370 w 681"/>
                <a:gd name="T13" fmla="*/ 475 h 481"/>
                <a:gd name="T14" fmla="*/ 440 w 681"/>
                <a:gd name="T15" fmla="*/ 315 h 481"/>
                <a:gd name="T16" fmla="*/ 500 w 681"/>
                <a:gd name="T17" fmla="*/ 190 h 481"/>
                <a:gd name="T18" fmla="*/ 550 w 681"/>
                <a:gd name="T19" fmla="*/ 110 h 481"/>
                <a:gd name="T20" fmla="*/ 570 w 681"/>
                <a:gd name="T21" fmla="*/ 110 h 481"/>
                <a:gd name="T22" fmla="*/ 580 w 681"/>
                <a:gd name="T23" fmla="*/ 125 h 481"/>
                <a:gd name="T24" fmla="*/ 580 w 681"/>
                <a:gd name="T25" fmla="*/ 165 h 481"/>
                <a:gd name="T26" fmla="*/ 560 w 681"/>
                <a:gd name="T27" fmla="*/ 190 h 481"/>
                <a:gd name="T28" fmla="*/ 570 w 681"/>
                <a:gd name="T29" fmla="*/ 200 h 481"/>
                <a:gd name="T30" fmla="*/ 595 w 681"/>
                <a:gd name="T31" fmla="*/ 185 h 481"/>
                <a:gd name="T32" fmla="*/ 600 w 681"/>
                <a:gd name="T33" fmla="*/ 160 h 481"/>
                <a:gd name="T34" fmla="*/ 600 w 681"/>
                <a:gd name="T35" fmla="*/ 115 h 481"/>
                <a:gd name="T36" fmla="*/ 620 w 681"/>
                <a:gd name="T37" fmla="*/ 135 h 481"/>
                <a:gd name="T38" fmla="*/ 635 w 681"/>
                <a:gd name="T39" fmla="*/ 170 h 481"/>
                <a:gd name="T40" fmla="*/ 650 w 681"/>
                <a:gd name="T41" fmla="*/ 165 h 481"/>
                <a:gd name="T42" fmla="*/ 635 w 681"/>
                <a:gd name="T43" fmla="*/ 125 h 481"/>
                <a:gd name="T44" fmla="*/ 615 w 681"/>
                <a:gd name="T45" fmla="*/ 105 h 481"/>
                <a:gd name="T46" fmla="*/ 600 w 681"/>
                <a:gd name="T47" fmla="*/ 90 h 481"/>
                <a:gd name="T48" fmla="*/ 635 w 681"/>
                <a:gd name="T49" fmla="*/ 80 h 481"/>
                <a:gd name="T50" fmla="*/ 670 w 681"/>
                <a:gd name="T51" fmla="*/ 95 h 481"/>
                <a:gd name="T52" fmla="*/ 675 w 681"/>
                <a:gd name="T53" fmla="*/ 75 h 481"/>
                <a:gd name="T54" fmla="*/ 635 w 681"/>
                <a:gd name="T55" fmla="*/ 60 h 481"/>
                <a:gd name="T56" fmla="*/ 595 w 681"/>
                <a:gd name="T57" fmla="*/ 65 h 481"/>
                <a:gd name="T58" fmla="*/ 600 w 681"/>
                <a:gd name="T59" fmla="*/ 40 h 481"/>
                <a:gd name="T60" fmla="*/ 625 w 681"/>
                <a:gd name="T61" fmla="*/ 20 h 481"/>
                <a:gd name="T62" fmla="*/ 660 w 681"/>
                <a:gd name="T63" fmla="*/ 20 h 481"/>
                <a:gd name="T64" fmla="*/ 681 w 681"/>
                <a:gd name="T65" fmla="*/ 10 h 481"/>
                <a:gd name="T66" fmla="*/ 640 w 681"/>
                <a:gd name="T67" fmla="*/ 0 h 481"/>
                <a:gd name="T68" fmla="*/ 605 w 681"/>
                <a:gd name="T69" fmla="*/ 5 h 481"/>
                <a:gd name="T70" fmla="*/ 585 w 681"/>
                <a:gd name="T71" fmla="*/ 20 h 481"/>
                <a:gd name="T72" fmla="*/ 535 w 681"/>
                <a:gd name="T73" fmla="*/ 50 h 481"/>
                <a:gd name="T74" fmla="*/ 510 w 681"/>
                <a:gd name="T75" fmla="*/ 90 h 481"/>
                <a:gd name="T76" fmla="*/ 470 w 681"/>
                <a:gd name="T77" fmla="*/ 155 h 481"/>
                <a:gd name="T78" fmla="*/ 420 w 681"/>
                <a:gd name="T79" fmla="*/ 245 h 481"/>
                <a:gd name="T80" fmla="*/ 360 w 681"/>
                <a:gd name="T81" fmla="*/ 350 h 481"/>
                <a:gd name="T82" fmla="*/ 335 w 681"/>
                <a:gd name="T83" fmla="*/ 410 h 481"/>
                <a:gd name="T84" fmla="*/ 310 w 681"/>
                <a:gd name="T85" fmla="*/ 410 h 481"/>
                <a:gd name="T86" fmla="*/ 215 w 681"/>
                <a:gd name="T87" fmla="*/ 405 h 481"/>
                <a:gd name="T88" fmla="*/ 145 w 681"/>
                <a:gd name="T89" fmla="*/ 375 h 481"/>
                <a:gd name="T90" fmla="*/ 80 w 681"/>
                <a:gd name="T91" fmla="*/ 340 h 481"/>
                <a:gd name="T92" fmla="*/ 30 w 681"/>
                <a:gd name="T93" fmla="*/ 330 h 481"/>
                <a:gd name="T94" fmla="*/ 25 w 681"/>
                <a:gd name="T95" fmla="*/ 330 h 481"/>
                <a:gd name="T96" fmla="*/ 0 w 681"/>
                <a:gd name="T97" fmla="*/ 36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1" h="481">
                  <a:moveTo>
                    <a:pt x="0" y="360"/>
                  </a:moveTo>
                  <a:lnTo>
                    <a:pt x="5" y="400"/>
                  </a:lnTo>
                  <a:lnTo>
                    <a:pt x="40" y="430"/>
                  </a:lnTo>
                  <a:lnTo>
                    <a:pt x="125" y="455"/>
                  </a:lnTo>
                  <a:lnTo>
                    <a:pt x="215" y="475"/>
                  </a:lnTo>
                  <a:lnTo>
                    <a:pt x="325" y="481"/>
                  </a:lnTo>
                  <a:lnTo>
                    <a:pt x="370" y="475"/>
                  </a:lnTo>
                  <a:lnTo>
                    <a:pt x="440" y="315"/>
                  </a:lnTo>
                  <a:lnTo>
                    <a:pt x="500" y="190"/>
                  </a:lnTo>
                  <a:lnTo>
                    <a:pt x="550" y="110"/>
                  </a:lnTo>
                  <a:lnTo>
                    <a:pt x="570" y="110"/>
                  </a:lnTo>
                  <a:lnTo>
                    <a:pt x="580" y="125"/>
                  </a:lnTo>
                  <a:lnTo>
                    <a:pt x="580" y="165"/>
                  </a:lnTo>
                  <a:lnTo>
                    <a:pt x="560" y="190"/>
                  </a:lnTo>
                  <a:lnTo>
                    <a:pt x="570" y="200"/>
                  </a:lnTo>
                  <a:lnTo>
                    <a:pt x="595" y="185"/>
                  </a:lnTo>
                  <a:lnTo>
                    <a:pt x="600" y="160"/>
                  </a:lnTo>
                  <a:lnTo>
                    <a:pt x="600" y="115"/>
                  </a:lnTo>
                  <a:lnTo>
                    <a:pt x="620" y="135"/>
                  </a:lnTo>
                  <a:lnTo>
                    <a:pt x="635" y="170"/>
                  </a:lnTo>
                  <a:lnTo>
                    <a:pt x="650" y="165"/>
                  </a:lnTo>
                  <a:lnTo>
                    <a:pt x="635" y="125"/>
                  </a:lnTo>
                  <a:lnTo>
                    <a:pt x="615" y="105"/>
                  </a:lnTo>
                  <a:lnTo>
                    <a:pt x="600" y="90"/>
                  </a:lnTo>
                  <a:lnTo>
                    <a:pt x="635" y="80"/>
                  </a:lnTo>
                  <a:lnTo>
                    <a:pt x="670" y="95"/>
                  </a:lnTo>
                  <a:lnTo>
                    <a:pt x="675" y="75"/>
                  </a:lnTo>
                  <a:lnTo>
                    <a:pt x="635" y="60"/>
                  </a:lnTo>
                  <a:lnTo>
                    <a:pt x="595" y="65"/>
                  </a:lnTo>
                  <a:lnTo>
                    <a:pt x="600" y="40"/>
                  </a:lnTo>
                  <a:lnTo>
                    <a:pt x="625" y="20"/>
                  </a:lnTo>
                  <a:lnTo>
                    <a:pt x="660" y="20"/>
                  </a:lnTo>
                  <a:lnTo>
                    <a:pt x="681" y="10"/>
                  </a:lnTo>
                  <a:lnTo>
                    <a:pt x="640" y="0"/>
                  </a:lnTo>
                  <a:lnTo>
                    <a:pt x="605" y="5"/>
                  </a:lnTo>
                  <a:lnTo>
                    <a:pt x="585" y="20"/>
                  </a:lnTo>
                  <a:lnTo>
                    <a:pt x="535" y="50"/>
                  </a:lnTo>
                  <a:lnTo>
                    <a:pt x="510" y="90"/>
                  </a:lnTo>
                  <a:lnTo>
                    <a:pt x="470" y="155"/>
                  </a:lnTo>
                  <a:lnTo>
                    <a:pt x="420" y="245"/>
                  </a:lnTo>
                  <a:lnTo>
                    <a:pt x="360" y="350"/>
                  </a:lnTo>
                  <a:lnTo>
                    <a:pt x="335" y="410"/>
                  </a:lnTo>
                  <a:lnTo>
                    <a:pt x="310" y="410"/>
                  </a:lnTo>
                  <a:lnTo>
                    <a:pt x="215" y="405"/>
                  </a:lnTo>
                  <a:lnTo>
                    <a:pt x="145" y="375"/>
                  </a:lnTo>
                  <a:lnTo>
                    <a:pt x="80" y="340"/>
                  </a:lnTo>
                  <a:lnTo>
                    <a:pt x="30" y="330"/>
                  </a:lnTo>
                  <a:lnTo>
                    <a:pt x="25" y="330"/>
                  </a:lnTo>
                  <a:lnTo>
                    <a:pt x="0" y="36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" name="Freeform 39">
              <a:extLst>
                <a:ext uri="{FF2B5EF4-FFF2-40B4-BE49-F238E27FC236}">
                  <a16:creationId xmlns:a16="http://schemas.microsoft.com/office/drawing/2014/main" id="{998D33D2-7AA6-E871-F8EC-0B18652EB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2007"/>
              <a:ext cx="356" cy="726"/>
            </a:xfrm>
            <a:custGeom>
              <a:avLst/>
              <a:gdLst>
                <a:gd name="T0" fmla="*/ 60 w 356"/>
                <a:gd name="T1" fmla="*/ 75 h 726"/>
                <a:gd name="T2" fmla="*/ 110 w 356"/>
                <a:gd name="T3" fmla="*/ 15 h 726"/>
                <a:gd name="T4" fmla="*/ 165 w 356"/>
                <a:gd name="T5" fmla="*/ 0 h 726"/>
                <a:gd name="T6" fmla="*/ 246 w 356"/>
                <a:gd name="T7" fmla="*/ 20 h 726"/>
                <a:gd name="T8" fmla="*/ 261 w 356"/>
                <a:gd name="T9" fmla="*/ 60 h 726"/>
                <a:gd name="T10" fmla="*/ 266 w 356"/>
                <a:gd name="T11" fmla="*/ 135 h 726"/>
                <a:gd name="T12" fmla="*/ 236 w 356"/>
                <a:gd name="T13" fmla="*/ 255 h 726"/>
                <a:gd name="T14" fmla="*/ 221 w 356"/>
                <a:gd name="T15" fmla="*/ 305 h 726"/>
                <a:gd name="T16" fmla="*/ 221 w 356"/>
                <a:gd name="T17" fmla="*/ 360 h 726"/>
                <a:gd name="T18" fmla="*/ 241 w 356"/>
                <a:gd name="T19" fmla="*/ 411 h 726"/>
                <a:gd name="T20" fmla="*/ 271 w 356"/>
                <a:gd name="T21" fmla="*/ 451 h 726"/>
                <a:gd name="T22" fmla="*/ 341 w 356"/>
                <a:gd name="T23" fmla="*/ 511 h 726"/>
                <a:gd name="T24" fmla="*/ 356 w 356"/>
                <a:gd name="T25" fmla="*/ 576 h 726"/>
                <a:gd name="T26" fmla="*/ 346 w 356"/>
                <a:gd name="T27" fmla="*/ 626 h 726"/>
                <a:gd name="T28" fmla="*/ 326 w 356"/>
                <a:gd name="T29" fmla="*/ 666 h 726"/>
                <a:gd name="T30" fmla="*/ 276 w 356"/>
                <a:gd name="T31" fmla="*/ 711 h 726"/>
                <a:gd name="T32" fmla="*/ 236 w 356"/>
                <a:gd name="T33" fmla="*/ 726 h 726"/>
                <a:gd name="T34" fmla="*/ 175 w 356"/>
                <a:gd name="T35" fmla="*/ 721 h 726"/>
                <a:gd name="T36" fmla="*/ 115 w 356"/>
                <a:gd name="T37" fmla="*/ 706 h 726"/>
                <a:gd name="T38" fmla="*/ 80 w 356"/>
                <a:gd name="T39" fmla="*/ 666 h 726"/>
                <a:gd name="T40" fmla="*/ 40 w 356"/>
                <a:gd name="T41" fmla="*/ 601 h 726"/>
                <a:gd name="T42" fmla="*/ 20 w 356"/>
                <a:gd name="T43" fmla="*/ 541 h 726"/>
                <a:gd name="T44" fmla="*/ 0 w 356"/>
                <a:gd name="T45" fmla="*/ 436 h 726"/>
                <a:gd name="T46" fmla="*/ 0 w 356"/>
                <a:gd name="T47" fmla="*/ 320 h 726"/>
                <a:gd name="T48" fmla="*/ 25 w 356"/>
                <a:gd name="T49" fmla="*/ 195 h 726"/>
                <a:gd name="T50" fmla="*/ 45 w 356"/>
                <a:gd name="T51" fmla="*/ 120 h 726"/>
                <a:gd name="T52" fmla="*/ 60 w 356"/>
                <a:gd name="T53" fmla="*/ 75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6" h="726">
                  <a:moveTo>
                    <a:pt x="60" y="75"/>
                  </a:moveTo>
                  <a:lnTo>
                    <a:pt x="110" y="15"/>
                  </a:lnTo>
                  <a:lnTo>
                    <a:pt x="165" y="0"/>
                  </a:lnTo>
                  <a:lnTo>
                    <a:pt x="246" y="20"/>
                  </a:lnTo>
                  <a:lnTo>
                    <a:pt x="261" y="60"/>
                  </a:lnTo>
                  <a:lnTo>
                    <a:pt x="266" y="135"/>
                  </a:lnTo>
                  <a:lnTo>
                    <a:pt x="236" y="255"/>
                  </a:lnTo>
                  <a:lnTo>
                    <a:pt x="221" y="305"/>
                  </a:lnTo>
                  <a:lnTo>
                    <a:pt x="221" y="360"/>
                  </a:lnTo>
                  <a:lnTo>
                    <a:pt x="241" y="411"/>
                  </a:lnTo>
                  <a:lnTo>
                    <a:pt x="271" y="451"/>
                  </a:lnTo>
                  <a:lnTo>
                    <a:pt x="341" y="511"/>
                  </a:lnTo>
                  <a:lnTo>
                    <a:pt x="356" y="576"/>
                  </a:lnTo>
                  <a:lnTo>
                    <a:pt x="346" y="626"/>
                  </a:lnTo>
                  <a:lnTo>
                    <a:pt x="326" y="666"/>
                  </a:lnTo>
                  <a:lnTo>
                    <a:pt x="276" y="711"/>
                  </a:lnTo>
                  <a:lnTo>
                    <a:pt x="236" y="726"/>
                  </a:lnTo>
                  <a:lnTo>
                    <a:pt x="175" y="721"/>
                  </a:lnTo>
                  <a:lnTo>
                    <a:pt x="115" y="706"/>
                  </a:lnTo>
                  <a:lnTo>
                    <a:pt x="80" y="666"/>
                  </a:lnTo>
                  <a:lnTo>
                    <a:pt x="40" y="601"/>
                  </a:lnTo>
                  <a:lnTo>
                    <a:pt x="20" y="541"/>
                  </a:lnTo>
                  <a:lnTo>
                    <a:pt x="0" y="436"/>
                  </a:lnTo>
                  <a:lnTo>
                    <a:pt x="0" y="320"/>
                  </a:lnTo>
                  <a:lnTo>
                    <a:pt x="25" y="195"/>
                  </a:lnTo>
                  <a:lnTo>
                    <a:pt x="45" y="120"/>
                  </a:lnTo>
                  <a:lnTo>
                    <a:pt x="60" y="75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Freeform 40">
              <a:extLst>
                <a:ext uri="{FF2B5EF4-FFF2-40B4-BE49-F238E27FC236}">
                  <a16:creationId xmlns:a16="http://schemas.microsoft.com/office/drawing/2014/main" id="{0DAFB1D9-FDD3-6079-04D8-1749F281B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" y="2608"/>
              <a:ext cx="300" cy="836"/>
            </a:xfrm>
            <a:custGeom>
              <a:avLst/>
              <a:gdLst>
                <a:gd name="T0" fmla="*/ 30 w 300"/>
                <a:gd name="T1" fmla="*/ 55 h 836"/>
                <a:gd name="T2" fmla="*/ 45 w 300"/>
                <a:gd name="T3" fmla="*/ 10 h 836"/>
                <a:gd name="T4" fmla="*/ 90 w 300"/>
                <a:gd name="T5" fmla="*/ 0 h 836"/>
                <a:gd name="T6" fmla="*/ 130 w 300"/>
                <a:gd name="T7" fmla="*/ 20 h 836"/>
                <a:gd name="T8" fmla="*/ 180 w 300"/>
                <a:gd name="T9" fmla="*/ 105 h 836"/>
                <a:gd name="T10" fmla="*/ 240 w 300"/>
                <a:gd name="T11" fmla="*/ 205 h 836"/>
                <a:gd name="T12" fmla="*/ 285 w 300"/>
                <a:gd name="T13" fmla="*/ 288 h 836"/>
                <a:gd name="T14" fmla="*/ 300 w 300"/>
                <a:gd name="T15" fmla="*/ 375 h 836"/>
                <a:gd name="T16" fmla="*/ 295 w 300"/>
                <a:gd name="T17" fmla="*/ 436 h 836"/>
                <a:gd name="T18" fmla="*/ 250 w 300"/>
                <a:gd name="T19" fmla="*/ 516 h 836"/>
                <a:gd name="T20" fmla="*/ 195 w 300"/>
                <a:gd name="T21" fmla="*/ 571 h 836"/>
                <a:gd name="T22" fmla="*/ 150 w 300"/>
                <a:gd name="T23" fmla="*/ 596 h 836"/>
                <a:gd name="T24" fmla="*/ 80 w 300"/>
                <a:gd name="T25" fmla="*/ 611 h 836"/>
                <a:gd name="T26" fmla="*/ 55 w 300"/>
                <a:gd name="T27" fmla="*/ 636 h 836"/>
                <a:gd name="T28" fmla="*/ 75 w 300"/>
                <a:gd name="T29" fmla="*/ 676 h 836"/>
                <a:gd name="T30" fmla="*/ 110 w 300"/>
                <a:gd name="T31" fmla="*/ 711 h 836"/>
                <a:gd name="T32" fmla="*/ 135 w 300"/>
                <a:gd name="T33" fmla="*/ 776 h 836"/>
                <a:gd name="T34" fmla="*/ 175 w 300"/>
                <a:gd name="T35" fmla="*/ 771 h 836"/>
                <a:gd name="T36" fmla="*/ 200 w 300"/>
                <a:gd name="T37" fmla="*/ 806 h 836"/>
                <a:gd name="T38" fmla="*/ 165 w 300"/>
                <a:gd name="T39" fmla="*/ 836 h 836"/>
                <a:gd name="T40" fmla="*/ 135 w 300"/>
                <a:gd name="T41" fmla="*/ 821 h 836"/>
                <a:gd name="T42" fmla="*/ 100 w 300"/>
                <a:gd name="T43" fmla="*/ 796 h 836"/>
                <a:gd name="T44" fmla="*/ 85 w 300"/>
                <a:gd name="T45" fmla="*/ 731 h 836"/>
                <a:gd name="T46" fmla="*/ 35 w 300"/>
                <a:gd name="T47" fmla="*/ 686 h 836"/>
                <a:gd name="T48" fmla="*/ 0 w 300"/>
                <a:gd name="T49" fmla="*/ 636 h 836"/>
                <a:gd name="T50" fmla="*/ 5 w 300"/>
                <a:gd name="T51" fmla="*/ 601 h 836"/>
                <a:gd name="T52" fmla="*/ 40 w 300"/>
                <a:gd name="T53" fmla="*/ 586 h 836"/>
                <a:gd name="T54" fmla="*/ 125 w 300"/>
                <a:gd name="T55" fmla="*/ 556 h 836"/>
                <a:gd name="T56" fmla="*/ 195 w 300"/>
                <a:gd name="T57" fmla="*/ 516 h 836"/>
                <a:gd name="T58" fmla="*/ 220 w 300"/>
                <a:gd name="T59" fmla="*/ 456 h 836"/>
                <a:gd name="T60" fmla="*/ 235 w 300"/>
                <a:gd name="T61" fmla="*/ 410 h 836"/>
                <a:gd name="T62" fmla="*/ 235 w 300"/>
                <a:gd name="T63" fmla="*/ 370 h 836"/>
                <a:gd name="T64" fmla="*/ 230 w 300"/>
                <a:gd name="T65" fmla="*/ 320 h 836"/>
                <a:gd name="T66" fmla="*/ 210 w 300"/>
                <a:gd name="T67" fmla="*/ 280 h 836"/>
                <a:gd name="T68" fmla="*/ 175 w 300"/>
                <a:gd name="T69" fmla="*/ 220 h 836"/>
                <a:gd name="T70" fmla="*/ 115 w 300"/>
                <a:gd name="T71" fmla="*/ 155 h 836"/>
                <a:gd name="T72" fmla="*/ 75 w 300"/>
                <a:gd name="T73" fmla="*/ 120 h 836"/>
                <a:gd name="T74" fmla="*/ 40 w 300"/>
                <a:gd name="T75" fmla="*/ 80 h 836"/>
                <a:gd name="T76" fmla="*/ 30 w 300"/>
                <a:gd name="T77" fmla="*/ 55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00" h="836">
                  <a:moveTo>
                    <a:pt x="30" y="55"/>
                  </a:moveTo>
                  <a:lnTo>
                    <a:pt x="45" y="10"/>
                  </a:lnTo>
                  <a:lnTo>
                    <a:pt x="90" y="0"/>
                  </a:lnTo>
                  <a:lnTo>
                    <a:pt x="130" y="20"/>
                  </a:lnTo>
                  <a:lnTo>
                    <a:pt x="180" y="105"/>
                  </a:lnTo>
                  <a:lnTo>
                    <a:pt x="240" y="205"/>
                  </a:lnTo>
                  <a:lnTo>
                    <a:pt x="285" y="288"/>
                  </a:lnTo>
                  <a:lnTo>
                    <a:pt x="300" y="375"/>
                  </a:lnTo>
                  <a:lnTo>
                    <a:pt x="295" y="436"/>
                  </a:lnTo>
                  <a:lnTo>
                    <a:pt x="250" y="516"/>
                  </a:lnTo>
                  <a:lnTo>
                    <a:pt x="195" y="571"/>
                  </a:lnTo>
                  <a:lnTo>
                    <a:pt x="150" y="596"/>
                  </a:lnTo>
                  <a:lnTo>
                    <a:pt x="80" y="611"/>
                  </a:lnTo>
                  <a:lnTo>
                    <a:pt x="55" y="636"/>
                  </a:lnTo>
                  <a:lnTo>
                    <a:pt x="75" y="676"/>
                  </a:lnTo>
                  <a:lnTo>
                    <a:pt x="110" y="711"/>
                  </a:lnTo>
                  <a:lnTo>
                    <a:pt x="135" y="776"/>
                  </a:lnTo>
                  <a:lnTo>
                    <a:pt x="175" y="771"/>
                  </a:lnTo>
                  <a:lnTo>
                    <a:pt x="200" y="806"/>
                  </a:lnTo>
                  <a:lnTo>
                    <a:pt x="165" y="836"/>
                  </a:lnTo>
                  <a:lnTo>
                    <a:pt x="135" y="821"/>
                  </a:lnTo>
                  <a:lnTo>
                    <a:pt x="100" y="796"/>
                  </a:lnTo>
                  <a:lnTo>
                    <a:pt x="85" y="731"/>
                  </a:lnTo>
                  <a:lnTo>
                    <a:pt x="35" y="686"/>
                  </a:lnTo>
                  <a:lnTo>
                    <a:pt x="0" y="636"/>
                  </a:lnTo>
                  <a:lnTo>
                    <a:pt x="5" y="601"/>
                  </a:lnTo>
                  <a:lnTo>
                    <a:pt x="40" y="586"/>
                  </a:lnTo>
                  <a:lnTo>
                    <a:pt x="125" y="556"/>
                  </a:lnTo>
                  <a:lnTo>
                    <a:pt x="195" y="516"/>
                  </a:lnTo>
                  <a:lnTo>
                    <a:pt x="220" y="456"/>
                  </a:lnTo>
                  <a:lnTo>
                    <a:pt x="235" y="410"/>
                  </a:lnTo>
                  <a:lnTo>
                    <a:pt x="235" y="370"/>
                  </a:lnTo>
                  <a:lnTo>
                    <a:pt x="230" y="320"/>
                  </a:lnTo>
                  <a:lnTo>
                    <a:pt x="210" y="280"/>
                  </a:lnTo>
                  <a:lnTo>
                    <a:pt x="175" y="220"/>
                  </a:lnTo>
                  <a:lnTo>
                    <a:pt x="115" y="155"/>
                  </a:lnTo>
                  <a:lnTo>
                    <a:pt x="75" y="120"/>
                  </a:lnTo>
                  <a:lnTo>
                    <a:pt x="40" y="80"/>
                  </a:lnTo>
                  <a:lnTo>
                    <a:pt x="30" y="55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" name="Freeform 41">
              <a:extLst>
                <a:ext uri="{FF2B5EF4-FFF2-40B4-BE49-F238E27FC236}">
                  <a16:creationId xmlns:a16="http://schemas.microsoft.com/office/drawing/2014/main" id="{90E53DF3-7DD6-FEF0-014E-F9F536685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2422"/>
              <a:ext cx="621" cy="441"/>
            </a:xfrm>
            <a:custGeom>
              <a:avLst/>
              <a:gdLst>
                <a:gd name="T0" fmla="*/ 0 w 621"/>
                <a:gd name="T1" fmla="*/ 225 h 441"/>
                <a:gd name="T2" fmla="*/ 5 w 621"/>
                <a:gd name="T3" fmla="*/ 265 h 441"/>
                <a:gd name="T4" fmla="*/ 80 w 621"/>
                <a:gd name="T5" fmla="*/ 295 h 441"/>
                <a:gd name="T6" fmla="*/ 160 w 621"/>
                <a:gd name="T7" fmla="*/ 300 h 441"/>
                <a:gd name="T8" fmla="*/ 235 w 621"/>
                <a:gd name="T9" fmla="*/ 270 h 441"/>
                <a:gd name="T10" fmla="*/ 290 w 621"/>
                <a:gd name="T11" fmla="*/ 185 h 441"/>
                <a:gd name="T12" fmla="*/ 330 w 621"/>
                <a:gd name="T13" fmla="*/ 100 h 441"/>
                <a:gd name="T14" fmla="*/ 345 w 621"/>
                <a:gd name="T15" fmla="*/ 85 h 441"/>
                <a:gd name="T16" fmla="*/ 370 w 621"/>
                <a:gd name="T17" fmla="*/ 90 h 441"/>
                <a:gd name="T18" fmla="*/ 405 w 621"/>
                <a:gd name="T19" fmla="*/ 160 h 441"/>
                <a:gd name="T20" fmla="*/ 435 w 621"/>
                <a:gd name="T21" fmla="*/ 285 h 441"/>
                <a:gd name="T22" fmla="*/ 455 w 621"/>
                <a:gd name="T23" fmla="*/ 380 h 441"/>
                <a:gd name="T24" fmla="*/ 465 w 621"/>
                <a:gd name="T25" fmla="*/ 430 h 441"/>
                <a:gd name="T26" fmla="*/ 495 w 621"/>
                <a:gd name="T27" fmla="*/ 441 h 441"/>
                <a:gd name="T28" fmla="*/ 520 w 621"/>
                <a:gd name="T29" fmla="*/ 420 h 441"/>
                <a:gd name="T30" fmla="*/ 540 w 621"/>
                <a:gd name="T31" fmla="*/ 350 h 441"/>
                <a:gd name="T32" fmla="*/ 570 w 621"/>
                <a:gd name="T33" fmla="*/ 285 h 441"/>
                <a:gd name="T34" fmla="*/ 585 w 621"/>
                <a:gd name="T35" fmla="*/ 205 h 441"/>
                <a:gd name="T36" fmla="*/ 615 w 621"/>
                <a:gd name="T37" fmla="*/ 200 h 441"/>
                <a:gd name="T38" fmla="*/ 621 w 621"/>
                <a:gd name="T39" fmla="*/ 185 h 441"/>
                <a:gd name="T40" fmla="*/ 600 w 621"/>
                <a:gd name="T41" fmla="*/ 165 h 441"/>
                <a:gd name="T42" fmla="*/ 565 w 621"/>
                <a:gd name="T43" fmla="*/ 170 h 441"/>
                <a:gd name="T44" fmla="*/ 550 w 621"/>
                <a:gd name="T45" fmla="*/ 220 h 441"/>
                <a:gd name="T46" fmla="*/ 545 w 621"/>
                <a:gd name="T47" fmla="*/ 260 h 441"/>
                <a:gd name="T48" fmla="*/ 525 w 621"/>
                <a:gd name="T49" fmla="*/ 315 h 441"/>
                <a:gd name="T50" fmla="*/ 500 w 621"/>
                <a:gd name="T51" fmla="*/ 335 h 441"/>
                <a:gd name="T52" fmla="*/ 480 w 621"/>
                <a:gd name="T53" fmla="*/ 275 h 441"/>
                <a:gd name="T54" fmla="*/ 455 w 621"/>
                <a:gd name="T55" fmla="*/ 170 h 441"/>
                <a:gd name="T56" fmla="*/ 440 w 621"/>
                <a:gd name="T57" fmla="*/ 120 h 441"/>
                <a:gd name="T58" fmla="*/ 410 w 621"/>
                <a:gd name="T59" fmla="*/ 60 h 441"/>
                <a:gd name="T60" fmla="*/ 385 w 621"/>
                <a:gd name="T61" fmla="*/ 15 h 441"/>
                <a:gd name="T62" fmla="*/ 340 w 621"/>
                <a:gd name="T63" fmla="*/ 0 h 441"/>
                <a:gd name="T64" fmla="*/ 320 w 621"/>
                <a:gd name="T65" fmla="*/ 5 h 441"/>
                <a:gd name="T66" fmla="*/ 290 w 621"/>
                <a:gd name="T67" fmla="*/ 70 h 441"/>
                <a:gd name="T68" fmla="*/ 255 w 621"/>
                <a:gd name="T69" fmla="*/ 150 h 441"/>
                <a:gd name="T70" fmla="*/ 220 w 621"/>
                <a:gd name="T71" fmla="*/ 185 h 441"/>
                <a:gd name="T72" fmla="*/ 175 w 621"/>
                <a:gd name="T73" fmla="*/ 220 h 441"/>
                <a:gd name="T74" fmla="*/ 120 w 621"/>
                <a:gd name="T75" fmla="*/ 190 h 441"/>
                <a:gd name="T76" fmla="*/ 55 w 621"/>
                <a:gd name="T77" fmla="*/ 170 h 441"/>
                <a:gd name="T78" fmla="*/ 30 w 621"/>
                <a:gd name="T79" fmla="*/ 190 h 441"/>
                <a:gd name="T80" fmla="*/ 0 w 621"/>
                <a:gd name="T81" fmla="*/ 225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21" h="441">
                  <a:moveTo>
                    <a:pt x="0" y="225"/>
                  </a:moveTo>
                  <a:lnTo>
                    <a:pt x="5" y="265"/>
                  </a:lnTo>
                  <a:lnTo>
                    <a:pt x="80" y="295"/>
                  </a:lnTo>
                  <a:lnTo>
                    <a:pt x="160" y="300"/>
                  </a:lnTo>
                  <a:lnTo>
                    <a:pt x="235" y="270"/>
                  </a:lnTo>
                  <a:lnTo>
                    <a:pt x="290" y="185"/>
                  </a:lnTo>
                  <a:lnTo>
                    <a:pt x="330" y="100"/>
                  </a:lnTo>
                  <a:lnTo>
                    <a:pt x="345" y="85"/>
                  </a:lnTo>
                  <a:lnTo>
                    <a:pt x="370" y="90"/>
                  </a:lnTo>
                  <a:lnTo>
                    <a:pt x="405" y="160"/>
                  </a:lnTo>
                  <a:lnTo>
                    <a:pt x="435" y="285"/>
                  </a:lnTo>
                  <a:lnTo>
                    <a:pt x="455" y="380"/>
                  </a:lnTo>
                  <a:lnTo>
                    <a:pt x="465" y="430"/>
                  </a:lnTo>
                  <a:lnTo>
                    <a:pt x="495" y="441"/>
                  </a:lnTo>
                  <a:lnTo>
                    <a:pt x="520" y="420"/>
                  </a:lnTo>
                  <a:lnTo>
                    <a:pt x="540" y="350"/>
                  </a:lnTo>
                  <a:lnTo>
                    <a:pt x="570" y="285"/>
                  </a:lnTo>
                  <a:lnTo>
                    <a:pt x="585" y="205"/>
                  </a:lnTo>
                  <a:lnTo>
                    <a:pt x="615" y="200"/>
                  </a:lnTo>
                  <a:lnTo>
                    <a:pt x="621" y="185"/>
                  </a:lnTo>
                  <a:lnTo>
                    <a:pt x="600" y="165"/>
                  </a:lnTo>
                  <a:lnTo>
                    <a:pt x="565" y="170"/>
                  </a:lnTo>
                  <a:lnTo>
                    <a:pt x="550" y="220"/>
                  </a:lnTo>
                  <a:lnTo>
                    <a:pt x="545" y="260"/>
                  </a:lnTo>
                  <a:lnTo>
                    <a:pt x="525" y="315"/>
                  </a:lnTo>
                  <a:lnTo>
                    <a:pt x="500" y="335"/>
                  </a:lnTo>
                  <a:lnTo>
                    <a:pt x="480" y="275"/>
                  </a:lnTo>
                  <a:lnTo>
                    <a:pt x="455" y="170"/>
                  </a:lnTo>
                  <a:lnTo>
                    <a:pt x="440" y="120"/>
                  </a:lnTo>
                  <a:lnTo>
                    <a:pt x="410" y="60"/>
                  </a:lnTo>
                  <a:lnTo>
                    <a:pt x="385" y="15"/>
                  </a:lnTo>
                  <a:lnTo>
                    <a:pt x="340" y="0"/>
                  </a:lnTo>
                  <a:lnTo>
                    <a:pt x="320" y="5"/>
                  </a:lnTo>
                  <a:lnTo>
                    <a:pt x="290" y="70"/>
                  </a:lnTo>
                  <a:lnTo>
                    <a:pt x="255" y="150"/>
                  </a:lnTo>
                  <a:lnTo>
                    <a:pt x="220" y="185"/>
                  </a:lnTo>
                  <a:lnTo>
                    <a:pt x="175" y="220"/>
                  </a:lnTo>
                  <a:lnTo>
                    <a:pt x="120" y="190"/>
                  </a:lnTo>
                  <a:lnTo>
                    <a:pt x="55" y="170"/>
                  </a:lnTo>
                  <a:lnTo>
                    <a:pt x="30" y="190"/>
                  </a:lnTo>
                  <a:lnTo>
                    <a:pt x="0" y="225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41" name="AutoShape 42">
            <a:extLst>
              <a:ext uri="{FF2B5EF4-FFF2-40B4-BE49-F238E27FC236}">
                <a16:creationId xmlns:a16="http://schemas.microsoft.com/office/drawing/2014/main" id="{84281C65-E285-4ABB-3F6E-FE045A864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3809" y="2525906"/>
            <a:ext cx="3450194" cy="1341656"/>
          </a:xfrm>
          <a:prstGeom prst="wedgeEllipseCallout">
            <a:avLst>
              <a:gd name="adj1" fmla="val 25882"/>
              <a:gd name="adj2" fmla="val 133326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itchFamily="34" charset="0"/>
                <a:ea typeface="等线" panose="02010600030101010101" pitchFamily="2" charset="-122"/>
                <a:cs typeface="+mn-cs"/>
              </a:rPr>
              <a:t>这里比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itchFamily="34" charset="0"/>
                <a:ea typeface="等线" panose="02010600030101010101" pitchFamily="2" charset="-122"/>
                <a:cs typeface="+mn-cs"/>
              </a:rPr>
              <a:t>B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itchFamily="34" charset="0"/>
                <a:ea typeface="等线" panose="02010600030101010101" pitchFamily="2" charset="-122"/>
                <a:cs typeface="+mn-cs"/>
              </a:rPr>
              <a:t>低，往回走吧。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5DB7FA29-B469-0883-1929-5D4F2DBD7D1C}"/>
              </a:ext>
            </a:extLst>
          </p:cNvPr>
          <p:cNvSpPr/>
          <p:nvPr/>
        </p:nvSpPr>
        <p:spPr>
          <a:xfrm>
            <a:off x="5528558" y="6098193"/>
            <a:ext cx="356873" cy="365186"/>
          </a:xfrm>
          <a:prstGeom prst="ellipse">
            <a:avLst/>
          </a:prstGeom>
          <a:solidFill>
            <a:srgbClr val="0033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A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F582A824-E0E9-65D8-DA6D-0E4238C3E618}"/>
              </a:ext>
            </a:extLst>
          </p:cNvPr>
          <p:cNvSpPr/>
          <p:nvPr/>
        </p:nvSpPr>
        <p:spPr>
          <a:xfrm>
            <a:off x="7260472" y="5071469"/>
            <a:ext cx="356873" cy="365186"/>
          </a:xfrm>
          <a:prstGeom prst="ellipse">
            <a:avLst/>
          </a:prstGeom>
          <a:solidFill>
            <a:srgbClr val="0033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B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CBE8893D-F7B9-4D18-E9E4-97247A5D4D56}"/>
              </a:ext>
            </a:extLst>
          </p:cNvPr>
          <p:cNvSpPr/>
          <p:nvPr/>
        </p:nvSpPr>
        <p:spPr>
          <a:xfrm>
            <a:off x="9214051" y="5552880"/>
            <a:ext cx="356873" cy="365186"/>
          </a:xfrm>
          <a:prstGeom prst="ellipse">
            <a:avLst/>
          </a:prstGeom>
          <a:solidFill>
            <a:srgbClr val="0033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C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068F7265-C707-7B90-D7FE-EF29D2504287}"/>
              </a:ext>
            </a:extLst>
          </p:cNvPr>
          <p:cNvSpPr/>
          <p:nvPr/>
        </p:nvSpPr>
        <p:spPr>
          <a:xfrm>
            <a:off x="10658478" y="4032552"/>
            <a:ext cx="356873" cy="365186"/>
          </a:xfrm>
          <a:prstGeom prst="ellipse">
            <a:avLst/>
          </a:prstGeom>
          <a:solidFill>
            <a:srgbClr val="0033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D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40905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157130"/>
            <a:ext cx="10972800" cy="1143000"/>
          </a:xfrm>
        </p:spPr>
        <p:txBody>
          <a:bodyPr>
            <a:normAutofit/>
          </a:bodyPr>
          <a:lstStyle/>
          <a:p>
            <a:r>
              <a:rPr lang="zh-CN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贪心算法</a:t>
            </a:r>
            <a:r>
              <a:rPr lang="en-US" altLang="zh-CN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—【</a:t>
            </a:r>
            <a:r>
              <a:rPr lang="zh-CN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背包问题</a:t>
            </a:r>
            <a:r>
              <a:rPr lang="en-US" altLang="zh-CN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】</a:t>
            </a:r>
            <a:r>
              <a:rPr lang="zh-CN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案例</a:t>
            </a:r>
          </a:p>
        </p:txBody>
      </p:sp>
      <p:sp>
        <p:nvSpPr>
          <p:cNvPr id="2401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12564"/>
            <a:ext cx="9695329" cy="4832871"/>
          </a:xfrm>
        </p:spPr>
        <p:txBody>
          <a:bodyPr>
            <a:noAutofit/>
          </a:bodyPr>
          <a:lstStyle/>
          <a:p>
            <a:pPr marL="0" lvl="1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假定有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N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个物体和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个背包，物体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I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有质量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WI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，价值为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PI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，而背包容量为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M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。装入物总重不超过背包容量时，装入哪些物品使背包总价值。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736"/>
            <a:ext cx="8836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ym typeface="Wingdings"/>
                <a:hlinkClick r:id="" action="ppaction://noaction"/>
              </a:rPr>
              <a:t></a:t>
            </a:r>
            <a:endParaRPr lang="zh-CN" altLang="en-US" sz="8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7490" y="985870"/>
            <a:ext cx="3990031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073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01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01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0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0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128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24886F2-990D-7F47-897F-2E6E3E6E6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282" name="Rectangle 2">
            <a:extLst>
              <a:ext uri="{FF2B5EF4-FFF2-40B4-BE49-F238E27FC236}">
                <a16:creationId xmlns:a16="http://schemas.microsoft.com/office/drawing/2014/main" id="{C3CFAF38-DD63-867F-66CE-1CC142894A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1828" y="-157130"/>
            <a:ext cx="10972800" cy="1143000"/>
          </a:xfrm>
        </p:spPr>
        <p:txBody>
          <a:bodyPr>
            <a:normAutofit/>
          </a:bodyPr>
          <a:lstStyle/>
          <a:p>
            <a:r>
              <a:rPr lang="zh-CN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贪心算法</a:t>
            </a:r>
            <a:r>
              <a:rPr lang="en-US" altLang="zh-CN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—【</a:t>
            </a:r>
            <a:r>
              <a:rPr lang="zh-CN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背包问题</a:t>
            </a:r>
            <a:r>
              <a:rPr lang="en-US" altLang="zh-CN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】</a:t>
            </a:r>
            <a:r>
              <a:rPr lang="zh-CN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案例</a:t>
            </a:r>
          </a:p>
        </p:txBody>
      </p:sp>
      <p:sp>
        <p:nvSpPr>
          <p:cNvPr id="2401283" name="Rectangle 3">
            <a:extLst>
              <a:ext uri="{FF2B5EF4-FFF2-40B4-BE49-F238E27FC236}">
                <a16:creationId xmlns:a16="http://schemas.microsoft.com/office/drawing/2014/main" id="{1357D7AB-64F8-28A4-1F85-94C7AC4417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17901"/>
            <a:ext cx="11582400" cy="4832871"/>
          </a:xfrm>
        </p:spPr>
        <p:txBody>
          <a:bodyPr>
            <a:noAutofit/>
          </a:bodyPr>
          <a:lstStyle/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把单位效益最高的物体先放入背包。</a:t>
            </a:r>
            <a:endParaRPr lang="en-US" altLang="zh-C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E1E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示例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：物品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：重量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，价值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10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，物品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B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：重量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，价值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15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物品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C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：重量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，价值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6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背包容量：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E1E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解决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计算单位重量价值：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A=5, B=5, C=6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排序后的物品顺序：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C, A, B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装入物品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C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单位重量，价值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6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），剩余容量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装入物品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单位重量，价值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10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），剩余容量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装入物品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B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的一部分（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单位重量，价值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）。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最大价值： 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6 + 10 + 5 = 21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E545E9-0EF5-5E1C-9BF2-69373A290D85}"/>
              </a:ext>
            </a:extLst>
          </p:cNvPr>
          <p:cNvSpPr txBox="1"/>
          <p:nvPr/>
        </p:nvSpPr>
        <p:spPr>
          <a:xfrm>
            <a:off x="0" y="5736"/>
            <a:ext cx="8836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ym typeface="Wingdings"/>
                <a:hlinkClick r:id="" action="ppaction://noaction"/>
              </a:rPr>
              <a:t></a:t>
            </a:r>
            <a:endParaRPr lang="zh-CN" altLang="en-US" sz="8000" dirty="0"/>
          </a:p>
        </p:txBody>
      </p:sp>
    </p:spTree>
    <p:extLst>
      <p:ext uri="{BB962C8B-B14F-4D97-AF65-F5344CB8AC3E}">
        <p14:creationId xmlns:p14="http://schemas.microsoft.com/office/powerpoint/2010/main" val="776981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01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01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0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0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01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01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0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0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01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01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01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01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01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01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01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01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01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01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01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01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01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01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01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01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128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>
            <a:extLst>
              <a:ext uri="{FF2B5EF4-FFF2-40B4-BE49-F238E27FC236}">
                <a16:creationId xmlns:a16="http://schemas.microsoft.com/office/drawing/2014/main" id="{A95E4898-2A77-56C1-ACBD-7AA8CFA6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4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常用算法</a:t>
            </a:r>
            <a:b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b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D3B974-C0E3-4AF4-679C-02E64F4C3516}"/>
              </a:ext>
            </a:extLst>
          </p:cNvPr>
          <p:cNvSpPr txBox="1"/>
          <p:nvPr/>
        </p:nvSpPr>
        <p:spPr>
          <a:xfrm>
            <a:off x="838200" y="1468574"/>
            <a:ext cx="1036781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排序：冒泡排序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比较值大小，按升序整理元素合适的位置</a:t>
            </a:r>
          </a:p>
        </p:txBody>
      </p:sp>
    </p:spTree>
    <p:extLst>
      <p:ext uri="{BB962C8B-B14F-4D97-AF65-F5344CB8AC3E}">
        <p14:creationId xmlns:p14="http://schemas.microsoft.com/office/powerpoint/2010/main" val="15277671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A9C0C24-0A5B-1989-E99B-B78CC8EC7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2471" y="108840"/>
            <a:ext cx="5591847" cy="6640320"/>
          </a:xfrm>
          <a:prstGeom prst="rect">
            <a:avLst/>
          </a:prstGeom>
          <a:ln>
            <a:solidFill>
              <a:srgbClr val="0000FF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EF3779B-30A6-F0B5-3839-60461CD11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1918" y="1121789"/>
            <a:ext cx="2951594" cy="3282375"/>
          </a:xfrm>
          <a:prstGeom prst="rect">
            <a:avLst/>
          </a:prstGeom>
        </p:spPr>
      </p:pic>
      <p:sp>
        <p:nvSpPr>
          <p:cNvPr id="8" name="等腰三角形 7">
            <a:extLst>
              <a:ext uri="{FF2B5EF4-FFF2-40B4-BE49-F238E27FC236}">
                <a16:creationId xmlns:a16="http://schemas.microsoft.com/office/drawing/2014/main" id="{CAFE6669-EE71-0388-468C-EDB547E4FF20}"/>
              </a:ext>
            </a:extLst>
          </p:cNvPr>
          <p:cNvSpPr/>
          <p:nvPr/>
        </p:nvSpPr>
        <p:spPr>
          <a:xfrm>
            <a:off x="803361" y="1091152"/>
            <a:ext cx="1216058" cy="4675695"/>
          </a:xfrm>
          <a:prstGeom prst="triangle">
            <a:avLst/>
          </a:prstGeom>
          <a:solidFill>
            <a:srgbClr val="C29E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91551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83323B0-15A0-F669-C1BF-957F3C20F52E}"/>
              </a:ext>
            </a:extLst>
          </p:cNvPr>
          <p:cNvGraphicFramePr>
            <a:graphicFrameLocks noGrp="1"/>
          </p:cNvGraphicFramePr>
          <p:nvPr/>
        </p:nvGraphicFramePr>
        <p:xfrm>
          <a:off x="408394" y="135858"/>
          <a:ext cx="11375211" cy="6400800"/>
        </p:xfrm>
        <a:graphic>
          <a:graphicData uri="http://schemas.openxmlformats.org/drawingml/2006/table">
            <a:tbl>
              <a:tblPr firstRow="1" firstCol="1" bandRow="1"/>
              <a:tblGrid>
                <a:gridCol w="591449">
                  <a:extLst>
                    <a:ext uri="{9D8B030D-6E8A-4147-A177-3AD203B41FA5}">
                      <a16:colId xmlns:a16="http://schemas.microsoft.com/office/drawing/2014/main" val="3153705751"/>
                    </a:ext>
                  </a:extLst>
                </a:gridCol>
                <a:gridCol w="6092612">
                  <a:extLst>
                    <a:ext uri="{9D8B030D-6E8A-4147-A177-3AD203B41FA5}">
                      <a16:colId xmlns:a16="http://schemas.microsoft.com/office/drawing/2014/main" val="781626301"/>
                    </a:ext>
                  </a:extLst>
                </a:gridCol>
                <a:gridCol w="4691150">
                  <a:extLst>
                    <a:ext uri="{9D8B030D-6E8A-4147-A177-3AD203B41FA5}">
                      <a16:colId xmlns:a16="http://schemas.microsoft.com/office/drawing/2014/main" val="3937756573"/>
                    </a:ext>
                  </a:extLst>
                </a:gridCol>
              </a:tblGrid>
              <a:tr h="3547156"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1</a:t>
                      </a:r>
                      <a:endParaRPr lang="zh-CN" sz="2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2</a:t>
                      </a:r>
                      <a:endParaRPr lang="zh-CN" sz="2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3</a:t>
                      </a:r>
                      <a:endParaRPr lang="zh-CN" sz="2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4</a:t>
                      </a:r>
                      <a:endParaRPr lang="zh-CN" sz="2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5</a:t>
                      </a:r>
                      <a:endParaRPr lang="zh-CN" sz="2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6</a:t>
                      </a:r>
                      <a:endParaRPr lang="zh-CN" sz="2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7</a:t>
                      </a:r>
                      <a:endParaRPr lang="zh-CN" sz="2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8</a:t>
                      </a:r>
                      <a:endParaRPr lang="zh-CN" sz="2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9</a:t>
                      </a:r>
                      <a:endParaRPr lang="zh-CN" sz="2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10</a:t>
                      </a:r>
                      <a:endParaRPr lang="zh-CN" sz="2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11</a:t>
                      </a:r>
                      <a:endParaRPr lang="zh-CN" sz="2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def </a:t>
                      </a:r>
                      <a:r>
                        <a:rPr lang="en-US" sz="2800" b="1" kern="0" dirty="0" err="1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bSort</a:t>
                      </a: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(n):</a:t>
                      </a:r>
                      <a:endParaRPr lang="zh-CN" sz="28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for i in range(len(n) - 1):</a:t>
                      </a:r>
                      <a:endParaRPr lang="zh-CN" sz="28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for j in range(len(n) - i - 1):</a:t>
                      </a:r>
                      <a:endParaRPr lang="zh-CN" sz="28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    if n [j] &gt; n [j+1]:</a:t>
                      </a:r>
                      <a:endParaRPr lang="zh-CN" sz="28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        n[j], n [j+1] = n[j+1], n[j]</a:t>
                      </a:r>
                      <a:endParaRPr lang="zh-CN" sz="28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print(f'</a:t>
                      </a:r>
                      <a:r>
                        <a:rPr lang="zh-CN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{i}</a:t>
                      </a:r>
                      <a:r>
                        <a:rPr lang="zh-CN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轮排序</a:t>
                      </a: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', n)</a:t>
                      </a:r>
                      <a:endParaRPr lang="zh-CN" sz="28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return n </a:t>
                      </a:r>
                      <a:endParaRPr lang="zh-CN" sz="28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 = [7, 2, 5, 3, 1]</a:t>
                      </a:r>
                      <a:endParaRPr lang="en-US" sz="2800" b="1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print(bubbleSort(n))</a:t>
                      </a:r>
                      <a:endParaRPr lang="zh-CN" sz="2800" b="1" kern="100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冒泡排序函数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外循环控制排序轮数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内循环</a:t>
                      </a: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个元素比较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判断</a:t>
                      </a: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个元素大小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交换</a:t>
                      </a: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个元素的位置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输出每轮冒泡结果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函数返回</a:t>
                      </a: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定义初始元素列表</a:t>
                      </a:r>
                      <a:endParaRPr lang="en-US" altLang="zh-CN" sz="2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调用冒泡排序函数</a:t>
                      </a:r>
                      <a:endParaRPr lang="zh-CN" sz="2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067428"/>
                  </a:ext>
                </a:extLst>
              </a:tr>
              <a:tr h="316504"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2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&gt;&gt;&gt; </a:t>
                      </a:r>
                      <a:r>
                        <a:rPr lang="zh-CN" sz="28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sz="28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zh-CN" sz="28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轮排序</a:t>
                      </a:r>
                      <a:r>
                        <a:rPr lang="en-US" sz="28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[2, 5, 3, 1, 7]…</a:t>
                      </a:r>
                      <a:r>
                        <a:rPr lang="zh-CN" sz="28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（输出略）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 </a:t>
                      </a:r>
                      <a:r>
                        <a:rPr lang="zh-CN" sz="2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程序运行结果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5854849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E544C7A-078B-0C92-0C23-DAB3B6D013AB}"/>
              </a:ext>
            </a:extLst>
          </p:cNvPr>
          <p:cNvSpPr txBox="1"/>
          <p:nvPr/>
        </p:nvSpPr>
        <p:spPr>
          <a:xfrm>
            <a:off x="4895272" y="4345709"/>
            <a:ext cx="6647974" cy="954107"/>
          </a:xfrm>
          <a:prstGeom prst="rect">
            <a:avLst/>
          </a:prstGeom>
          <a:solidFill>
            <a:srgbClr val="E7D9CF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优：简单，不太占内存，空间复杂度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O(1)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缺：运行效率低，时间复杂度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O(n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2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)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8780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3476C18-E27C-C436-738D-67ED97EA0FDE}"/>
              </a:ext>
            </a:extLst>
          </p:cNvPr>
          <p:cNvSpPr txBox="1"/>
          <p:nvPr/>
        </p:nvSpPr>
        <p:spPr>
          <a:xfrm>
            <a:off x="523085" y="1569870"/>
            <a:ext cx="1036781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1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）算法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+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数据结构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=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程序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早期计算机主要处理数值计算，后来非数值计算问题越来越广泛。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非数值数据很难用数学方程式描述，需要设计合适的数据结构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62451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3476C18-E27C-C436-738D-67ED97EA0FDE}"/>
              </a:ext>
            </a:extLst>
          </p:cNvPr>
          <p:cNvSpPr txBox="1"/>
          <p:nvPr/>
        </p:nvSpPr>
        <p:spPr>
          <a:xfrm>
            <a:off x="523085" y="1569870"/>
            <a:ext cx="1036781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2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）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数据结构：数据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+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结构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数据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：数值和非数值，如整数，字母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结构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：数据元素间的关系，逻辑结构和存储结构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数据结构类型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131F21-BE11-A27F-4015-6947D894D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85" y="3672790"/>
            <a:ext cx="11685132" cy="174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8949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67E54D2-3EA7-F220-3E21-CF66DFF2337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859847"/>
            <a:ext cx="11887200" cy="5633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874CF66-9CFE-5316-E845-91329F19967A}"/>
              </a:ext>
            </a:extLst>
          </p:cNvPr>
          <p:cNvSpPr txBox="1"/>
          <p:nvPr/>
        </p:nvSpPr>
        <p:spPr>
          <a:xfrm>
            <a:off x="480291" y="3868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数据结构类型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01000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3476C18-E27C-C436-738D-67ED97EA0FDE}"/>
              </a:ext>
            </a:extLst>
          </p:cNvPr>
          <p:cNvSpPr txBox="1"/>
          <p:nvPr/>
        </p:nvSpPr>
        <p:spPr>
          <a:xfrm>
            <a:off x="523085" y="1569870"/>
            <a:ext cx="1036781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表结构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1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）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表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是数据结构，由记录组成，在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逻辑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上是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线性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结构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2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）表可用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连续内存单元存放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，这是数据的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存储结构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3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）可对表中数据查询，修改，删除等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操作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F42A221-2DA9-EE8C-3653-9E888827CCEF}"/>
              </a:ext>
            </a:extLst>
          </p:cNvPr>
          <p:cNvGraphicFramePr>
            <a:graphicFrameLocks noGrp="1"/>
          </p:cNvGraphicFramePr>
          <p:nvPr/>
        </p:nvGraphicFramePr>
        <p:xfrm>
          <a:off x="746155" y="3732783"/>
          <a:ext cx="10699690" cy="2133600"/>
        </p:xfrm>
        <a:graphic>
          <a:graphicData uri="http://schemas.openxmlformats.org/drawingml/2006/table">
            <a:tbl>
              <a:tblPr firstRow="1" firstCol="1" bandRow="1"/>
              <a:tblGrid>
                <a:gridCol w="2569700">
                  <a:extLst>
                    <a:ext uri="{9D8B030D-6E8A-4147-A177-3AD203B41FA5}">
                      <a16:colId xmlns:a16="http://schemas.microsoft.com/office/drawing/2014/main" val="2953863225"/>
                    </a:ext>
                  </a:extLst>
                </a:gridCol>
                <a:gridCol w="2078181">
                  <a:extLst>
                    <a:ext uri="{9D8B030D-6E8A-4147-A177-3AD203B41FA5}">
                      <a16:colId xmlns:a16="http://schemas.microsoft.com/office/drawing/2014/main" val="2078531638"/>
                    </a:ext>
                  </a:extLst>
                </a:gridCol>
                <a:gridCol w="1985819">
                  <a:extLst>
                    <a:ext uri="{9D8B030D-6E8A-4147-A177-3AD203B41FA5}">
                      <a16:colId xmlns:a16="http://schemas.microsoft.com/office/drawing/2014/main" val="1140576229"/>
                    </a:ext>
                  </a:extLst>
                </a:gridCol>
                <a:gridCol w="1926052">
                  <a:extLst>
                    <a:ext uri="{9D8B030D-6E8A-4147-A177-3AD203B41FA5}">
                      <a16:colId xmlns:a16="http://schemas.microsoft.com/office/drawing/2014/main" val="2615598144"/>
                    </a:ext>
                  </a:extLst>
                </a:gridCol>
                <a:gridCol w="2139938">
                  <a:extLst>
                    <a:ext uri="{9D8B030D-6E8A-4147-A177-3AD203B41FA5}">
                      <a16:colId xmlns:a16="http://schemas.microsoft.com/office/drawing/2014/main" val="3661814985"/>
                    </a:ext>
                  </a:extLst>
                </a:gridCol>
              </a:tblGrid>
              <a:tr h="4102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indent="229235" algn="ctr">
                        <a:spcAft>
                          <a:spcPts val="0"/>
                        </a:spcAft>
                      </a:pPr>
                      <a:r>
                        <a:rPr lang="zh-CN" sz="2800" kern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学号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indent="229235" algn="ctr">
                        <a:spcAft>
                          <a:spcPts val="0"/>
                        </a:spcAft>
                      </a:pPr>
                      <a:r>
                        <a:rPr lang="zh-CN" sz="2800" kern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姓名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indent="229235" algn="ctr">
                        <a:spcAft>
                          <a:spcPts val="0"/>
                        </a:spcAft>
                      </a:pPr>
                      <a:r>
                        <a:rPr lang="zh-CN" sz="2800" kern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专业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indent="229235" algn="ctr">
                        <a:spcAft>
                          <a:spcPts val="0"/>
                        </a:spcAft>
                      </a:pPr>
                      <a:r>
                        <a:rPr lang="zh-CN" sz="2800" kern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成绩</a:t>
                      </a:r>
                      <a:r>
                        <a:rPr lang="en-US" sz="2800" kern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indent="229235" algn="ctr">
                        <a:spcAft>
                          <a:spcPts val="0"/>
                        </a:spcAft>
                      </a:pPr>
                      <a:r>
                        <a:rPr lang="zh-CN" sz="2800" kern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成绩</a:t>
                      </a:r>
                      <a:r>
                        <a:rPr lang="en-US" sz="2800" kern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048156"/>
                  </a:ext>
                </a:extLst>
              </a:tr>
              <a:tr h="4102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indent="228600" algn="ctr">
                        <a:spcAft>
                          <a:spcPts val="0"/>
                        </a:spcAft>
                      </a:pPr>
                      <a:r>
                        <a:rPr lang="en-US" sz="2800" kern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G2021060102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indent="228600" algn="ctr">
                        <a:spcAft>
                          <a:spcPts val="0"/>
                        </a:spcAft>
                      </a:pPr>
                      <a:r>
                        <a:rPr lang="zh-CN" sz="2800" kern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韩屏西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indent="228600" algn="ctr">
                        <a:spcAft>
                          <a:spcPts val="0"/>
                        </a:spcAft>
                      </a:pPr>
                      <a:r>
                        <a:rPr lang="zh-CN" sz="2800" kern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公路</a:t>
                      </a:r>
                      <a:r>
                        <a:rPr lang="en-US" sz="2800" kern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indent="228600" algn="ctr">
                        <a:spcAft>
                          <a:spcPts val="0"/>
                        </a:spcAft>
                      </a:pPr>
                      <a:r>
                        <a:rPr lang="en-US" sz="2800" kern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85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indent="228600" algn="ctr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88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610695"/>
                  </a:ext>
                </a:extLst>
              </a:tr>
              <a:tr h="4102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indent="228600" algn="ctr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G2021060103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indent="228600" algn="ctr">
                        <a:spcAft>
                          <a:spcPts val="0"/>
                        </a:spcAft>
                      </a:pPr>
                      <a:r>
                        <a:rPr lang="zh-CN" sz="2800" kern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郑秋月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indent="228600" algn="ctr">
                        <a:spcAft>
                          <a:spcPts val="0"/>
                        </a:spcAft>
                      </a:pPr>
                      <a:r>
                        <a:rPr lang="zh-CN" sz="2800" kern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公路</a:t>
                      </a:r>
                      <a:r>
                        <a:rPr lang="en-US" sz="2800" kern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indent="228600" algn="ctr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88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indent="228600" algn="ctr">
                        <a:spcAft>
                          <a:spcPts val="0"/>
                        </a:spcAft>
                      </a:pPr>
                      <a:r>
                        <a:rPr lang="en-US" sz="2800" kern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75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446055"/>
                  </a:ext>
                </a:extLst>
              </a:tr>
              <a:tr h="4102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indent="228600" algn="ctr">
                        <a:spcAft>
                          <a:spcPts val="0"/>
                        </a:spcAft>
                      </a:pPr>
                      <a:r>
                        <a:rPr lang="en-US" sz="2800" kern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T2021060107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indent="228600" algn="ctr">
                        <a:spcAft>
                          <a:spcPts val="0"/>
                        </a:spcAft>
                      </a:pPr>
                      <a:r>
                        <a:rPr lang="zh-CN" sz="2800" kern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孙小天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indent="228600" algn="ctr">
                        <a:spcAft>
                          <a:spcPts val="0"/>
                        </a:spcAft>
                      </a:pPr>
                      <a:r>
                        <a:rPr lang="zh-CN" sz="2800" kern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土木</a:t>
                      </a:r>
                      <a:r>
                        <a:rPr lang="en-US" sz="2800" kern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indent="228600" algn="ctr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88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indent="228600" algn="ctr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90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381593"/>
                  </a:ext>
                </a:extLst>
              </a:tr>
              <a:tr h="4102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indent="228600" algn="ctr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T2021060110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indent="228600" algn="ctr">
                        <a:spcAft>
                          <a:spcPts val="0"/>
                        </a:spcAft>
                      </a:pPr>
                      <a:r>
                        <a:rPr lang="zh-CN" sz="2800" kern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朱星长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indent="228600" algn="ctr">
                        <a:spcAft>
                          <a:spcPts val="0"/>
                        </a:spcAft>
                      </a:pPr>
                      <a:r>
                        <a:rPr lang="zh-CN" sz="2800" kern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土木</a:t>
                      </a:r>
                      <a:r>
                        <a:rPr lang="en-US" sz="2800" kern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indent="228600" algn="ctr">
                        <a:spcAft>
                          <a:spcPts val="0"/>
                        </a:spcAft>
                      </a:pPr>
                      <a:r>
                        <a:rPr lang="en-US" sz="2800" kern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82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indent="228600" algn="ctr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78</a:t>
                      </a:r>
                      <a:endParaRPr lang="zh-CN" sz="2800" kern="100" dirty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570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5361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3476C18-E27C-C436-738D-67ED97EA0FDE}"/>
              </a:ext>
            </a:extLst>
          </p:cNvPr>
          <p:cNvSpPr txBox="1"/>
          <p:nvPr/>
        </p:nvSpPr>
        <p:spPr>
          <a:xfrm>
            <a:off x="523085" y="1569870"/>
            <a:ext cx="1036781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树结构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1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）文件系统是典型树形结构，用树根朝上倒置树表示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00268F6-477D-9674-3D08-A9565771D40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8100" y="2724150"/>
            <a:ext cx="1223010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3978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3476C18-E27C-C436-738D-67ED97EA0FDE}"/>
              </a:ext>
            </a:extLst>
          </p:cNvPr>
          <p:cNvSpPr txBox="1"/>
          <p:nvPr/>
        </p:nvSpPr>
        <p:spPr>
          <a:xfrm>
            <a:off x="523085" y="1569870"/>
            <a:ext cx="1036781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图结构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1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）交通线路构成了图结构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pic>
        <p:nvPicPr>
          <p:cNvPr id="4" name="Picture 47" descr="https://gimg2.baidu.com/image_search/src=http%3A%2F%2Fwww.pianshen.com%2Fimages%2F947%2Fece93a33820325af11eefac21d69db93.png&amp;refer=http%3A%2F%2Fwww.pianshen.com&amp;app=2002&amp;size=f9999,10000&amp;q=a80&amp;n=0&amp;g=0n&amp;fmt=auto?sec=1654357347&amp;t=bdf5ee368027b5779d8feda22fd447f7">
            <a:extLst>
              <a:ext uri="{FF2B5EF4-FFF2-40B4-BE49-F238E27FC236}">
                <a16:creationId xmlns:a16="http://schemas.microsoft.com/office/drawing/2014/main" id="{8DBC1236-86D4-55B2-EC9B-CCC290E98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5766" y="2650300"/>
            <a:ext cx="3928715" cy="4036721"/>
          </a:xfrm>
          <a:prstGeom prst="rect">
            <a:avLst/>
          </a:prstGeom>
          <a:noFill/>
          <a:ln>
            <a:solidFill>
              <a:srgbClr val="00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B5EBC49-40A4-0603-A976-DADA83A11B5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7162" y="2590622"/>
            <a:ext cx="6072535" cy="4038056"/>
          </a:xfrm>
          <a:prstGeom prst="rect">
            <a:avLst/>
          </a:prstGeom>
          <a:ln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618994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9116</TotalTime>
  <Words>3105</Words>
  <Application>Microsoft Office PowerPoint</Application>
  <PresentationFormat>宽屏</PresentationFormat>
  <Paragraphs>488</Paragraphs>
  <Slides>56</Slides>
  <Notes>30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73" baseType="lpstr">
      <vt:lpstr>等线</vt:lpstr>
      <vt:lpstr>等线 Light</vt:lpstr>
      <vt:lpstr>仿宋</vt:lpstr>
      <vt:lpstr>黑体</vt:lpstr>
      <vt:lpstr>华文楷体</vt:lpstr>
      <vt:lpstr>楷体</vt:lpstr>
      <vt:lpstr>宋体</vt:lpstr>
      <vt:lpstr>微软雅黑</vt:lpstr>
      <vt:lpstr>幼圆</vt:lpstr>
      <vt:lpstr>Arial</vt:lpstr>
      <vt:lpstr>Calibri</vt:lpstr>
      <vt:lpstr>Times New Roman</vt:lpstr>
      <vt:lpstr>Trebuchet MS</vt:lpstr>
      <vt:lpstr>Wingdings</vt:lpstr>
      <vt:lpstr>Office 主题​​</vt:lpstr>
      <vt:lpstr>自定义设计方案</vt:lpstr>
      <vt:lpstr>Image</vt:lpstr>
      <vt:lpstr>第五章 程序语言和算法</vt:lpstr>
      <vt:lpstr>提纲</vt:lpstr>
      <vt:lpstr>PowerPoint 演示文稿</vt:lpstr>
      <vt:lpstr>PowerPoint 演示文稿</vt:lpstr>
      <vt:lpstr>5.1 Python 编程基础</vt:lpstr>
      <vt:lpstr>PowerPoint 演示文稿</vt:lpstr>
      <vt:lpstr>5.1 Python 编程基础</vt:lpstr>
      <vt:lpstr>5.1 Python 编程基础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5.2 算法</vt:lpstr>
      <vt:lpstr>5.2 算法</vt:lpstr>
      <vt:lpstr>5.2 算法</vt:lpstr>
      <vt:lpstr>算法表达形式 </vt:lpstr>
      <vt:lpstr>算法评估 </vt:lpstr>
      <vt:lpstr>算法评估 </vt:lpstr>
      <vt:lpstr>算法评估 </vt:lpstr>
      <vt:lpstr>算法评估 </vt:lpstr>
      <vt:lpstr>PowerPoint 演示文稿</vt:lpstr>
      <vt:lpstr>常用算法 </vt:lpstr>
      <vt:lpstr>常用算法 </vt:lpstr>
      <vt:lpstr>常用算法 </vt:lpstr>
      <vt:lpstr>迭代算法—斐波那契数列问题</vt:lpstr>
      <vt:lpstr>常用算法 </vt:lpstr>
      <vt:lpstr>常用算法 </vt:lpstr>
      <vt:lpstr>递归算法 </vt:lpstr>
      <vt:lpstr>递归算法  </vt:lpstr>
      <vt:lpstr>常用算法 </vt:lpstr>
      <vt:lpstr>贪心算法</vt:lpstr>
      <vt:lpstr>PowerPoint 演示文稿</vt:lpstr>
      <vt:lpstr>贪心算法—【背包问题】案例</vt:lpstr>
      <vt:lpstr>贪心算法—【背包问题】案例</vt:lpstr>
      <vt:lpstr>常用算法 </vt:lpstr>
      <vt:lpstr>PowerPoint 演示文稿</vt:lpstr>
      <vt:lpstr>PowerPoint 演示文稿</vt:lpstr>
      <vt:lpstr>5.3 数据结构</vt:lpstr>
      <vt:lpstr>5.3 数据结构</vt:lpstr>
      <vt:lpstr>PowerPoint 演示文稿</vt:lpstr>
      <vt:lpstr>5.3 数据结构</vt:lpstr>
      <vt:lpstr>5.3 数据结构</vt:lpstr>
      <vt:lpstr>5.3 数据结构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数据分析方法</dc:title>
  <dc:creator>Windows 用户</dc:creator>
  <cp:lastModifiedBy>254885449@qq.com</cp:lastModifiedBy>
  <cp:revision>375</cp:revision>
  <dcterms:created xsi:type="dcterms:W3CDTF">2020-02-05T02:41:26Z</dcterms:created>
  <dcterms:modified xsi:type="dcterms:W3CDTF">2024-12-25T11:15:12Z</dcterms:modified>
</cp:coreProperties>
</file>