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1"/>
  </p:notesMasterIdLst>
  <p:handoutMasterIdLst>
    <p:handoutMasterId r:id="rId82"/>
  </p:handoutMasterIdLst>
  <p:sldIdLst>
    <p:sldId id="379" r:id="rId3"/>
    <p:sldId id="431" r:id="rId4"/>
    <p:sldId id="524" r:id="rId5"/>
    <p:sldId id="462" r:id="rId6"/>
    <p:sldId id="525" r:id="rId7"/>
    <p:sldId id="526" r:id="rId8"/>
    <p:sldId id="543" r:id="rId9"/>
    <p:sldId id="544" r:id="rId10"/>
    <p:sldId id="571" r:id="rId11"/>
    <p:sldId id="572" r:id="rId12"/>
    <p:sldId id="573" r:id="rId13"/>
    <p:sldId id="574" r:id="rId14"/>
    <p:sldId id="581" r:id="rId15"/>
    <p:sldId id="569" r:id="rId16"/>
    <p:sldId id="570" r:id="rId17"/>
    <p:sldId id="580" r:id="rId18"/>
    <p:sldId id="575" r:id="rId19"/>
    <p:sldId id="576" r:id="rId20"/>
    <p:sldId id="577" r:id="rId21"/>
    <p:sldId id="578" r:id="rId22"/>
    <p:sldId id="579" r:id="rId23"/>
    <p:sldId id="527" r:id="rId24"/>
    <p:sldId id="529" r:id="rId25"/>
    <p:sldId id="531" r:id="rId26"/>
    <p:sldId id="532" r:id="rId27"/>
    <p:sldId id="528" r:id="rId28"/>
    <p:sldId id="530" r:id="rId29"/>
    <p:sldId id="533" r:id="rId30"/>
    <p:sldId id="582" r:id="rId31"/>
    <p:sldId id="583" r:id="rId32"/>
    <p:sldId id="585" r:id="rId33"/>
    <p:sldId id="586" r:id="rId34"/>
    <p:sldId id="587" r:id="rId35"/>
    <p:sldId id="588" r:id="rId36"/>
    <p:sldId id="589" r:id="rId37"/>
    <p:sldId id="592" r:id="rId38"/>
    <p:sldId id="593" r:id="rId39"/>
    <p:sldId id="594" r:id="rId40"/>
    <p:sldId id="601" r:id="rId41"/>
    <p:sldId id="595" r:id="rId42"/>
    <p:sldId id="596" r:id="rId43"/>
    <p:sldId id="597" r:id="rId44"/>
    <p:sldId id="602" r:id="rId45"/>
    <p:sldId id="603" r:id="rId46"/>
    <p:sldId id="599" r:id="rId47"/>
    <p:sldId id="604" r:id="rId48"/>
    <p:sldId id="605" r:id="rId49"/>
    <p:sldId id="606" r:id="rId50"/>
    <p:sldId id="607" r:id="rId51"/>
    <p:sldId id="598" r:id="rId52"/>
    <p:sldId id="608" r:id="rId53"/>
    <p:sldId id="609" r:id="rId54"/>
    <p:sldId id="610" r:id="rId55"/>
    <p:sldId id="611" r:id="rId56"/>
    <p:sldId id="614" r:id="rId57"/>
    <p:sldId id="615" r:id="rId58"/>
    <p:sldId id="616" r:id="rId59"/>
    <p:sldId id="617" r:id="rId60"/>
    <p:sldId id="618" r:id="rId61"/>
    <p:sldId id="619" r:id="rId62"/>
    <p:sldId id="620" r:id="rId63"/>
    <p:sldId id="621" r:id="rId64"/>
    <p:sldId id="622" r:id="rId65"/>
    <p:sldId id="623" r:id="rId66"/>
    <p:sldId id="612" r:id="rId67"/>
    <p:sldId id="625" r:id="rId68"/>
    <p:sldId id="629" r:id="rId69"/>
    <p:sldId id="624" r:id="rId70"/>
    <p:sldId id="626" r:id="rId71"/>
    <p:sldId id="634" r:id="rId72"/>
    <p:sldId id="628" r:id="rId73"/>
    <p:sldId id="630" r:id="rId74"/>
    <p:sldId id="632" r:id="rId75"/>
    <p:sldId id="633" r:id="rId76"/>
    <p:sldId id="631" r:id="rId77"/>
    <p:sldId id="627" r:id="rId78"/>
    <p:sldId id="635" r:id="rId79"/>
    <p:sldId id="636" r:id="rId8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43C0C"/>
    <a:srgbClr val="FFE1E1"/>
    <a:srgbClr val="C55A11"/>
    <a:srgbClr val="C29E86"/>
    <a:srgbClr val="DBDBF9"/>
    <a:srgbClr val="CDCDF7"/>
    <a:srgbClr val="BEB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5" autoAdjust="0"/>
    <p:restoredTop sz="73546" autoAdjust="0"/>
  </p:normalViewPr>
  <p:slideViewPr>
    <p:cSldViewPr snapToGrid="0">
      <p:cViewPr varScale="1">
        <p:scale>
          <a:sx n="57" d="100"/>
          <a:sy n="57" d="100"/>
        </p:scale>
        <p:origin x="509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8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" d="100"/>
          <a:sy n="16" d="100"/>
        </p:scale>
        <p:origin x="3950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1AB5E9A-CBFC-67FC-49F2-FD96B6BC22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4A6E9F-26DE-E0AA-7E70-D42E366E6D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F8C96-C84E-4991-B653-754E6670E9BB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3A63FD-69E6-5F4A-9A71-ED0673F47A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EE3B3B-3680-85F6-6214-CA3A6E638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192DE-76F3-439D-B2AD-FDAE705A6C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20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B4B0-65D4-4E33-8144-61AC5D25D1E9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49BE-BF5F-4C11-9ED4-DFF65B4717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98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仿宋" panose="02010609060101010101" pitchFamily="49" charset="-122"/>
                <a:ea typeface="仿宋" panose="02010609060101010101" pitchFamily="49" charset="-122"/>
              </a:rPr>
              <a:t>逻辑性强：二进制的</a:t>
            </a:r>
            <a:r>
              <a:rPr lang="en-US" altLang="zh-CN" sz="12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1200" b="1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12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b="1" dirty="0">
                <a:latin typeface="仿宋" panose="02010609060101010101" pitchFamily="49" charset="-122"/>
                <a:ea typeface="仿宋" panose="02010609060101010101" pitchFamily="49" charset="-122"/>
              </a:rPr>
              <a:t>对应逻辑代数的真和假，做条件判断，做是否执行某个操作，循环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718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十进制：代表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个数字（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0-9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）做基本字符来表达所有数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F73131"/>
                </a:solidFill>
                <a:effectLst/>
                <a:latin typeface="-apple-system"/>
              </a:rPr>
              <a:t>古巴比伦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文明主要位于现今伊拉克境内的底格里斯河和幼发拉底河两河流域，先波斯再阿拉伯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各进制使用领域：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法语：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10,16,60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5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109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C8BD-357D-5A66-2376-E53F5E86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094AF9-623D-709E-77A2-2C3603251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A94106-FAD1-E48F-65FE-A51C5E899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0A6727-C759-A9FD-D0D7-70E35595C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761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D42C-12DB-4AEB-D3BB-9D080532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3C789E-EF82-628B-BCE7-567DDB72B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6CB7F9-8CB3-5D4F-16E4-E2801E1E5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870E7-A391-828A-DEBC-A16717CE1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065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A1D1-07C6-DD67-E30B-B916A545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CEF28F-431B-7240-B9A8-73F5D1BED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FE4A34-EEB8-98E5-E442-9F8A70E16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DE899E-1F23-3B5B-4FEB-12D4B05C5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3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A15E-EDF7-3BB6-095D-81F3C91C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2CF236-A6F0-A485-6B46-17F258387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9065A3-098B-1406-C3C4-D9BA6CD77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93956F-0B8B-9998-3F9C-E4F05245A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853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30E3-787B-F3C1-FC1E-A179D15C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DC9420-FD9B-37C1-B16A-266198039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9EB558-66F7-6BAF-7607-277EB6EFE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42336-AE42-176C-2A21-EEE23A4DF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236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6A64-DBF0-76CD-8063-9DFBA7B5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90941D-DFF1-B2D3-9E40-5E055E7DF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156874-83EA-E530-129E-EC87F149B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数码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0-9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），（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0-1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基数：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10,2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91EA3-E67C-40A7-E057-7C059A7FA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883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7086-99A4-10BD-FB57-88050B30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3A7D4A-6A1E-D341-C5DD-A4871511C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6E3174-C612-DB17-9E1C-8A3D245E0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数码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0-9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），（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0-1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）（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0-9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A-F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基数：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10,2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3EB7E-8DC8-8FA9-BE1B-2361FA007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856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29BE-4636-027F-3040-750BF3E7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6DA23E-1534-011B-F44C-CC05A6A48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78DB31-8D74-D65D-D6A8-CE347C5AA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CC2503-45FE-9651-2B30-64EEE82F8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643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F2CA-573A-42B0-2126-5F6FD3C9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475852-B52D-9E9E-D0A0-2ED32C832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38EC56-0296-37B2-C2CF-E35CB3657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955B8C-FD24-D9D7-C05E-B27B88305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30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4B01-AE12-DDD1-88D5-A8B560DF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231873-2FB5-8F8F-65A6-94F3AEE76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5A9C65-7C63-374C-9D25-B39AF4501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798960-0F64-4838-F0D6-E103F061E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565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BB67-972C-7ED4-9543-A8918DAB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BAA08E-9C80-03EE-0308-F7F10F01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6B2127-AD8A-144A-B8EE-E5FEE199E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C6396C-52C9-D89E-634F-5070DF60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778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11F06-A993-F258-3913-F8BA1366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360270-933E-D5D5-E3A2-576FFFB67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FEC547-08FA-94C4-0A8A-F569766AF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AE896A-53A1-FFFA-EC00-9CD1BD9E9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980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BA88-D8C2-2C3A-ACF8-A88D575D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B5BDEA-9792-F972-6D58-DE015E667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83D1BF-989B-019E-ADA1-8E4F4FC77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D7667B-9C26-AD05-68F6-2E497B0C2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689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047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000,-111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种状态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677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274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722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Hello 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世界   总字节数 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= 5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（英文字母） * 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1 + 1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（空格） * 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1 + 2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（汉字） * 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2 = 5 + 1 + 4 = 10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字节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ASCII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-apple-system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ASCII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码：一个英文字符占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个字节，一个汉字占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UTF-8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编码：一个英文字符占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个字节，一个汉字占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个字节（扩展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B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区以后的汉字占四个字节）。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Unicode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编码：一个英文字符占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个字节，一个汉字占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GB2312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中文编码：一个汉字占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GBK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编码：一个汉字占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个字节。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990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5343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17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D4D5-7BBA-1031-E9E1-35261C98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B67A7F-8E61-AD74-98D5-152DA7D8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AA4A7F-0514-90C8-2BF6-6A324CAE0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48FB82-5129-E956-19F3-93A5D29EE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0872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BD4D-7615-7F7E-0B87-07CA2DEA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36AB32-C577-5120-BC0C-ABFD3B989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163AC-CF9D-A491-8810-8104DE11B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）机器判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数符号，如果相同相加，不相同减法，判断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5073B"/>
                </a:solidFill>
                <a:effectLst/>
                <a:uLnTx/>
                <a:uFillTx/>
                <a:latin typeface="PingFang-SC-Regular"/>
                <a:ea typeface="等线" panose="02010600030101010101" pitchFamily="2" charset="-122"/>
                <a:cs typeface="+mn-cs"/>
              </a:rPr>
              <a:t>数绝对值大小，大减小，再判别结果符号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7BAD3-08DF-FEDE-E1F5-4327960B0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1569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217F-044B-B193-5F40-BAA9A67D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E9BB9C-AAAC-C53B-98BA-64400C869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AA9822-040C-4C72-9C01-BE4204B9B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EAAFA5-8DCE-8BAB-61EE-116778631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113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84A3-9368-88D5-6830-685EDA33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F6EAED-3A1E-436B-A43F-FFC12E15A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52FAB0-AEAC-CA68-D70F-C81641F5D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81FBB8-6F79-626C-229D-33207BD18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6344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9017-84D9-00D5-4E39-D7B5A04B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4E6080-17BD-E13D-295A-89174054F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84D806-2C52-0125-A991-E567B1C9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FA7CE-462F-920A-04A0-EFD76859A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1473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3388-B1E3-05A4-1835-96C4E76A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38091-DCB2-FB90-4AF5-0E3A3AEB6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DD14A9-14EC-AB7E-B217-9FD3085CF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BB3A5-9F94-C6B7-E93D-BA20DD6A3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945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52804-4720-7F6A-2036-B84A8404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F7819B-F4A0-E74B-956A-061A61EA6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25EA8B-2BAA-3539-8E1C-F0EE23458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B5D83-FDC8-0B01-88D5-61D5F629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0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8DC5-4E48-73B1-9193-2704C2C6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44422D-086F-E7CD-0986-EE4C0EE53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CC0D75-E135-A3AB-5F1B-EB9C1A3F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491F26-CE70-8C95-17B2-48FF265827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3136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B5F1-695B-F792-C70F-EE2DB719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03744-C99E-6225-B061-6E32E97DE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796C04-F9B2-114C-72AE-636A434D8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7858FC-4339-92D4-A2F8-35EDD2329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805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1863-8F33-3B7D-A29B-ED8F2BDD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E7B93B-6E72-FFCF-55A7-C303A4DF4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EDDAFF-3DAA-4016-5645-044C13B92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8E915D-268D-71DD-C5F0-7DFA376F6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241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62CF-25CF-22D0-042B-EFE3F9FE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BE7A33-F4F7-11F5-6ED8-4C66287F9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18835B-9116-0A55-1780-F642667B4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A1DCE3-F95E-53FE-815D-0D2DA406C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546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194C-8497-4FB9-8BAE-5C6504A2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EF5FA2-6954-BC4A-C220-77571D509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F71E7-0326-D923-B775-F7B0C74B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21438-03D3-2F92-3679-813F048D7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4988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BC75-CA1A-01C8-54B5-6AEC5DF5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E83FAC-967B-B997-ED2E-1366C0C18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564205-EC2A-1EA9-97CE-FAE1AFB82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FBB2AD-A8AA-D579-68BA-8C8B19590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6487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F92D-6987-4C1B-D13B-E885DEDD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D73655-783C-F1F5-54A1-CFC6C906B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F04842-B807-9CB9-2A84-5E73820E4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8C8042-C04F-B839-F1FD-F29FB5DDE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2283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DA1C-5FFF-717F-8B98-D4475D9B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81D2E6-FA98-170B-18AA-61D9CDB2F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7711D9-C801-C203-8A22-03CB7400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379925-78DC-C03F-C0BA-C17272BA8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1455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9152-406F-5352-2A8D-8F9ADEE4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1CA1AF-51AF-858C-3D83-5D82CB46B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72D93D-3AF3-A556-D6A2-A522C85B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4EFD0-78D9-7BCC-11D8-55FF46096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002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FD7C-8D04-783E-2E21-802F942A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AD8E88-7777-CA7C-2F90-9C3B78FF3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C756BB-3AB8-E8A3-B616-9A5F61539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50D6CB-262B-801D-7480-9AF4390D5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7936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945E-52D1-592E-B4AE-41911D4F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9ED7D1-34E6-DA8A-517F-04BC79123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5DAC-0DBB-8157-E580-BB7FAE4FE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B405F-EB03-B5C0-C617-E3DC3BABD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3230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6F672-782B-B743-9ECB-17A4536D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C6092F-8D2C-B9C3-4617-5BAE8D137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F2394A-2222-9F76-EE71-0368719E5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BEDC8-2B0B-90D2-F906-FAE683005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4039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EF5E-8296-1CBD-41E7-710540C7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0FB209-A07B-A2F3-A9AE-BE1E41665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08EAE6-B91E-A136-FB66-CAD7E5538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2DBA5-3874-C052-E021-9DD96563E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6492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E0BB-5F24-15FA-9DE5-43B93D2C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97D1B9-12EA-A909-2118-24725C2D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B2307C-F6A1-3CC4-C4D6-F3DE74AC8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C23A5C-7A58-269B-9B03-409FC63B3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2181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A6FB-42E7-028F-88DD-DA6766EE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AC966D-30B4-BF5C-E5D4-F764A25A5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50B6D4-1EE0-3049-FE2C-F5EBE359B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8012FD-3427-28EB-EBA8-4697EF71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2827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8199E-83E3-B97D-5D01-0F29D7E2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BFE312-8C82-E7FE-468E-83779EE08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9E24F0-B6E7-84F0-1E46-CFBDDED04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E0431E-EA6D-4BFB-9A7F-3AE93C285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95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5AF2-DC4D-68FD-4A50-C713B1B6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A0888B-6052-D2E8-2EE8-9D1A1EB87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97F6D2-7832-097D-A32C-C442D0DF3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ABB2A7-B487-F159-D514-899720285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3360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FF3C-7664-09F2-E692-74ECF5BC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9D6099-F6F9-D9EA-9A5F-1CF4E0AE6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9B1015-D7C0-BE89-8C4C-8C49614B0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64AA24-656B-5506-C5A8-CB66834CE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2864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0A34-13CE-4788-3DB6-7E079566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0186F1-6092-A5E8-F3C0-FD66CEF44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99B48B-E6F0-93BE-7C14-2D0157C98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BD1524-CCBB-C1E9-8AEB-25B114ECC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9446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69F0-94DB-BF36-2BA2-E72DE051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189F50-CB1F-3263-F68A-3BA24CE9C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07D040-BFF5-4EC5-87F4-2ADAB24A0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118F7-556D-BB3B-64F9-6F97BB75F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6681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E66D-3280-DB6A-4CC1-C64AC428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BC6599-C50B-B6FB-9D99-4EAD214E3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2068E-CC99-A9CF-9D43-24BB0B289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4E9D1-926D-95CD-26C6-39EFEA7B1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1281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B0F9-33E5-1004-45E5-8E7FC64A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C89721-0734-EEAB-A2DB-006C97528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99FAB0-6BD0-C0E2-E98F-443EE757E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D4EA42-1E0C-BAE1-15DB-B131BB4E7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9874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5729-588E-B34F-2264-D14FFC82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42855F-DE41-11DB-6AEC-9C4F87B69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A6F427-3233-E8CA-6CEC-1CDA92F24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1E1881-1538-BB0E-BB66-DEE8D6D52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1815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矢量图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：用点和线等数学表达式来描述一幅图，记录图形的路径节点。图形由线段组成的轮廓，由外框和外框封闭的颜色决定画显示的颜色。后缀名一般为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CDR,AI,WMF,DWG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点位图（像）：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图由若干像素组成，颜色用像素的二进制表达，通过扫描仪，摄像机，录像机等将模拟图像编程点位图。后缀名一般为不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bmp,jpg,png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518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2A3F-6801-AA81-CF24-2EEEABAD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2AD0E5-1BD0-039D-320C-42090DE18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0F971C-C642-3630-C163-061FA49A6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87071-7AB0-2F6F-4A9E-381B0EDB4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7963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EA04-8B3E-DC88-4A63-69B5C0B1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64240E-DE53-E680-5864-A8B79B1DA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E86E88-1C4B-5165-1179-28D15ABAA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CCD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是一种半导体器件，其工作原理是通过将光线转化为电荷，并将电荷从一个像素传输到另一个像素，最后通过放大器将电荷转化为电压或电流，从而生成图像</a:t>
            </a:r>
            <a:endParaRPr lang="en-US" altLang="zh-C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CMOS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是一种集成电路，其工作原理是通过在像素内集成放大器和模数转换器</a:t>
            </a:r>
            <a:endParaRPr lang="en-US" altLang="zh-C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CCD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：由于其高图像质量和低噪声，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CCD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传感器常用于专业摄影和高端工业应用。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60607"/>
                </a:solidFill>
                <a:effectLst/>
                <a:latin typeface="-apple-system"/>
              </a:rPr>
              <a:t>CMOS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CMOS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传感器因其低成本和低功耗特性，被广泛应用于消费电子产品，如智能手机、数码相机和监控摄像头。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C3357-D39F-E6D7-7BC1-ECA6CEE68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4869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zh-CN" sz="5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CMOS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2566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CE68E-2AB3-26EB-09E9-89A58014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2DBE8-9D2D-3108-F23A-C158F5555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62FE87-0A2A-E392-A20B-2D68D6F90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845E3-E82D-BBBF-8900-F9B54763C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4954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79EA-FB20-D6B4-AF9B-4C9034CE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52B064-830E-E4CB-1514-2B597B74B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06A8F1-97B8-6304-C27E-B03689A39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显示设备分辨率越高，屏幕显示像素越多，能显示的图像就越大越精细。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若图像像素点距固定，则图像分辨率越大则图像越大；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当图像分辨率大于显示分辨率，显示屏幕仅会显示图像的一部分。当图像分辨率小于显示分辨率，图像则只占显示屏幕的一部分。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4K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图像的分辨率，特别是指具有</a:t>
            </a:r>
            <a:r>
              <a:rPr lang="en-US" altLang="zh-CN" b="0" i="0" dirty="0">
                <a:solidFill>
                  <a:srgbClr val="060607"/>
                </a:solidFill>
                <a:effectLst/>
                <a:latin typeface="-apple-system"/>
              </a:rPr>
              <a:t>4096×2160</a:t>
            </a:r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像素的分辨率，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98160-7554-68B5-87CF-083A8E120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05329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DEE2-9F4E-648C-BBE7-10A64A6B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ED0FCD-464B-EB06-7ED9-4F207AEDF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12B05F-B4F1-C0C3-2483-BCDBDBA1F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5073B"/>
              </a:solidFill>
              <a:effectLst/>
              <a:uLnTx/>
              <a:uFillTx/>
              <a:latin typeface="PingFang-SC-Regular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E542C-CF1E-BF85-CEB5-61A7D487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13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4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4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0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00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81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42950" indent="-285750"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4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9898916" y="130167"/>
            <a:ext cx="2064527" cy="41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fld id="{C5E79471-F8A8-4285-BECE-D9E30C77A9C8}" type="slidenum">
              <a:rPr lang="zh-CN" altLang="en-US" sz="1600" b="0" smtClean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 共</a:t>
            </a:r>
            <a:r>
              <a:rPr lang="en-US" altLang="zh-CN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152</a:t>
            </a:r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687" y="73046"/>
            <a:ext cx="4401894" cy="4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indent="-360000">
              <a:lnSpc>
                <a:spcPct val="100000"/>
              </a:lnSpc>
              <a:spcBef>
                <a:spcPts val="50"/>
              </a:spcBef>
              <a:defRPr sz="2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3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gray">
          <a:xfrm>
            <a:off x="0" y="0"/>
            <a:ext cx="12192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2800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203200" y="381000"/>
            <a:ext cx="9118600" cy="3365500"/>
            <a:chOff x="664" y="1951"/>
            <a:chExt cx="4308" cy="2120"/>
          </a:xfrm>
        </p:grpSpPr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6 w 1692"/>
                <a:gd name="T1" fmla="*/ 34 h 2586"/>
                <a:gd name="T2" fmla="*/ 43 w 1692"/>
                <a:gd name="T3" fmla="*/ 28 h 2586"/>
                <a:gd name="T4" fmla="*/ 57 w 1692"/>
                <a:gd name="T5" fmla="*/ 32 h 2586"/>
                <a:gd name="T6" fmla="*/ 55 w 1692"/>
                <a:gd name="T7" fmla="*/ 59 h 2586"/>
                <a:gd name="T8" fmla="*/ 36 w 1692"/>
                <a:gd name="T9" fmla="*/ 77 h 2586"/>
                <a:gd name="T10" fmla="*/ 28 w 1692"/>
                <a:gd name="T11" fmla="*/ 95 h 2586"/>
                <a:gd name="T12" fmla="*/ 37 w 1692"/>
                <a:gd name="T13" fmla="*/ 128 h 2586"/>
                <a:gd name="T14" fmla="*/ 42 w 1692"/>
                <a:gd name="T15" fmla="*/ 127 h 2586"/>
                <a:gd name="T16" fmla="*/ 43 w 1692"/>
                <a:gd name="T17" fmla="*/ 120 h 2586"/>
                <a:gd name="T18" fmla="*/ 64 w 1692"/>
                <a:gd name="T19" fmla="*/ 154 h 2586"/>
                <a:gd name="T20" fmla="*/ 86 w 1692"/>
                <a:gd name="T21" fmla="*/ 159 h 2586"/>
                <a:gd name="T22" fmla="*/ 105 w 1692"/>
                <a:gd name="T23" fmla="*/ 179 h 2586"/>
                <a:gd name="T24" fmla="*/ 113 w 1692"/>
                <a:gd name="T25" fmla="*/ 189 h 2586"/>
                <a:gd name="T26" fmla="*/ 102 w 1692"/>
                <a:gd name="T27" fmla="*/ 214 h 2586"/>
                <a:gd name="T28" fmla="*/ 121 w 1692"/>
                <a:gd name="T29" fmla="*/ 236 h 2586"/>
                <a:gd name="T30" fmla="*/ 136 w 1692"/>
                <a:gd name="T31" fmla="*/ 268 h 2586"/>
                <a:gd name="T32" fmla="*/ 145 w 1692"/>
                <a:gd name="T33" fmla="*/ 307 h 2586"/>
                <a:gd name="T34" fmla="*/ 157 w 1692"/>
                <a:gd name="T35" fmla="*/ 337 h 2586"/>
                <a:gd name="T36" fmla="*/ 168 w 1692"/>
                <a:gd name="T37" fmla="*/ 335 h 2586"/>
                <a:gd name="T38" fmla="*/ 165 w 1692"/>
                <a:gd name="T39" fmla="*/ 318 h 2586"/>
                <a:gd name="T40" fmla="*/ 170 w 1692"/>
                <a:gd name="T41" fmla="*/ 306 h 2586"/>
                <a:gd name="T42" fmla="*/ 180 w 1692"/>
                <a:gd name="T43" fmla="*/ 296 h 2586"/>
                <a:gd name="T44" fmla="*/ 191 w 1692"/>
                <a:gd name="T45" fmla="*/ 276 h 2586"/>
                <a:gd name="T46" fmla="*/ 207 w 1692"/>
                <a:gd name="T47" fmla="*/ 259 h 2586"/>
                <a:gd name="T48" fmla="*/ 214 w 1692"/>
                <a:gd name="T49" fmla="*/ 232 h 2586"/>
                <a:gd name="T50" fmla="*/ 204 w 1692"/>
                <a:gd name="T51" fmla="*/ 204 h 2586"/>
                <a:gd name="T52" fmla="*/ 181 w 1692"/>
                <a:gd name="T53" fmla="*/ 187 h 2586"/>
                <a:gd name="T54" fmla="*/ 146 w 1692"/>
                <a:gd name="T55" fmla="*/ 170 h 2586"/>
                <a:gd name="T56" fmla="*/ 128 w 1692"/>
                <a:gd name="T57" fmla="*/ 167 h 2586"/>
                <a:gd name="T58" fmla="*/ 119 w 1692"/>
                <a:gd name="T59" fmla="*/ 169 h 2586"/>
                <a:gd name="T60" fmla="*/ 105 w 1692"/>
                <a:gd name="T61" fmla="*/ 174 h 2586"/>
                <a:gd name="T62" fmla="*/ 100 w 1692"/>
                <a:gd name="T63" fmla="*/ 156 h 2586"/>
                <a:gd name="T64" fmla="*/ 97 w 1692"/>
                <a:gd name="T65" fmla="*/ 141 h 2586"/>
                <a:gd name="T66" fmla="*/ 83 w 1692"/>
                <a:gd name="T67" fmla="*/ 147 h 2586"/>
                <a:gd name="T68" fmla="*/ 75 w 1692"/>
                <a:gd name="T69" fmla="*/ 127 h 2586"/>
                <a:gd name="T70" fmla="*/ 97 w 1692"/>
                <a:gd name="T71" fmla="*/ 121 h 2586"/>
                <a:gd name="T72" fmla="*/ 111 w 1692"/>
                <a:gd name="T73" fmla="*/ 120 h 2586"/>
                <a:gd name="T74" fmla="*/ 118 w 1692"/>
                <a:gd name="T75" fmla="*/ 119 h 2586"/>
                <a:gd name="T76" fmla="*/ 139 w 1692"/>
                <a:gd name="T77" fmla="*/ 100 h 2586"/>
                <a:gd name="T78" fmla="*/ 157 w 1692"/>
                <a:gd name="T79" fmla="*/ 90 h 2586"/>
                <a:gd name="T80" fmla="*/ 168 w 1692"/>
                <a:gd name="T81" fmla="*/ 85 h 2586"/>
                <a:gd name="T82" fmla="*/ 177 w 1692"/>
                <a:gd name="T83" fmla="*/ 71 h 2586"/>
                <a:gd name="T84" fmla="*/ 170 w 1692"/>
                <a:gd name="T85" fmla="*/ 68 h 2586"/>
                <a:gd name="T86" fmla="*/ 201 w 1692"/>
                <a:gd name="T87" fmla="*/ 61 h 2586"/>
                <a:gd name="T88" fmla="*/ 186 w 1692"/>
                <a:gd name="T89" fmla="*/ 46 h 2586"/>
                <a:gd name="T90" fmla="*/ 175 w 1692"/>
                <a:gd name="T91" fmla="*/ 34 h 2586"/>
                <a:gd name="T92" fmla="*/ 162 w 1692"/>
                <a:gd name="T93" fmla="*/ 48 h 2586"/>
                <a:gd name="T94" fmla="*/ 146 w 1692"/>
                <a:gd name="T95" fmla="*/ 59 h 2586"/>
                <a:gd name="T96" fmla="*/ 135 w 1692"/>
                <a:gd name="T97" fmla="*/ 40 h 2586"/>
                <a:gd name="T98" fmla="*/ 159 w 1692"/>
                <a:gd name="T99" fmla="*/ 32 h 2586"/>
                <a:gd name="T100" fmla="*/ 167 w 1692"/>
                <a:gd name="T101" fmla="*/ 25 h 2586"/>
                <a:gd name="T102" fmla="*/ 175 w 1692"/>
                <a:gd name="T103" fmla="*/ 23 h 2586"/>
                <a:gd name="T104" fmla="*/ 170 w 1692"/>
                <a:gd name="T105" fmla="*/ 19 h 2586"/>
                <a:gd name="T106" fmla="*/ 166 w 1692"/>
                <a:gd name="T107" fmla="*/ 16 h 2586"/>
                <a:gd name="T108" fmla="*/ 159 w 1692"/>
                <a:gd name="T109" fmla="*/ 13 h 2586"/>
                <a:gd name="T110" fmla="*/ 146 w 1692"/>
                <a:gd name="T111" fmla="*/ 18 h 2586"/>
                <a:gd name="T112" fmla="*/ 125 w 1692"/>
                <a:gd name="T113" fmla="*/ 16 h 2586"/>
                <a:gd name="T114" fmla="*/ 73 w 1692"/>
                <a:gd name="T115" fmla="*/ 0 h 2586"/>
                <a:gd name="T116" fmla="*/ 46 w 1692"/>
                <a:gd name="T117" fmla="*/ 4 h 2586"/>
                <a:gd name="T118" fmla="*/ 38 w 1692"/>
                <a:gd name="T119" fmla="*/ 13 h 2586"/>
                <a:gd name="T120" fmla="*/ 16 w 1692"/>
                <a:gd name="T121" fmla="*/ 23 h 2586"/>
                <a:gd name="T122" fmla="*/ 16 w 1692"/>
                <a:gd name="T123" fmla="*/ 28 h 2586"/>
                <a:gd name="T124" fmla="*/ 1 w 1692"/>
                <a:gd name="T125" fmla="*/ 33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2 w 46"/>
                <a:gd name="T1" fmla="*/ 1 h 38"/>
                <a:gd name="T2" fmla="*/ 0 w 46"/>
                <a:gd name="T3" fmla="*/ 3 h 38"/>
                <a:gd name="T4" fmla="*/ 3 w 46"/>
                <a:gd name="T5" fmla="*/ 4 h 38"/>
                <a:gd name="T6" fmla="*/ 5 w 46"/>
                <a:gd name="T7" fmla="*/ 3 h 38"/>
                <a:gd name="T8" fmla="*/ 4 w 46"/>
                <a:gd name="T9" fmla="*/ 0 h 38"/>
                <a:gd name="T10" fmla="*/ 2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2 w 52"/>
                <a:gd name="T1" fmla="*/ 0 h 44"/>
                <a:gd name="T2" fmla="*/ 4 w 52"/>
                <a:gd name="T3" fmla="*/ 5 h 44"/>
                <a:gd name="T4" fmla="*/ 6 w 52"/>
                <a:gd name="T5" fmla="*/ 5 h 44"/>
                <a:gd name="T6" fmla="*/ 6 w 52"/>
                <a:gd name="T7" fmla="*/ 2 h 44"/>
                <a:gd name="T8" fmla="*/ 4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13 w 131"/>
                <a:gd name="T1" fmla="*/ 0 h 98"/>
                <a:gd name="T2" fmla="*/ 10 w 131"/>
                <a:gd name="T3" fmla="*/ 2 h 98"/>
                <a:gd name="T4" fmla="*/ 7 w 131"/>
                <a:gd name="T5" fmla="*/ 4 h 98"/>
                <a:gd name="T6" fmla="*/ 5 w 131"/>
                <a:gd name="T7" fmla="*/ 6 h 98"/>
                <a:gd name="T8" fmla="*/ 3 w 131"/>
                <a:gd name="T9" fmla="*/ 8 h 98"/>
                <a:gd name="T10" fmla="*/ 7 w 131"/>
                <a:gd name="T11" fmla="*/ 11 h 98"/>
                <a:gd name="T12" fmla="*/ 10 w 131"/>
                <a:gd name="T13" fmla="*/ 13 h 98"/>
                <a:gd name="T14" fmla="*/ 11 w 131"/>
                <a:gd name="T15" fmla="*/ 13 h 98"/>
                <a:gd name="T16" fmla="*/ 12 w 131"/>
                <a:gd name="T17" fmla="*/ 12 h 98"/>
                <a:gd name="T18" fmla="*/ 13 w 131"/>
                <a:gd name="T19" fmla="*/ 14 h 98"/>
                <a:gd name="T20" fmla="*/ 16 w 131"/>
                <a:gd name="T21" fmla="*/ 12 h 98"/>
                <a:gd name="T22" fmla="*/ 17 w 131"/>
                <a:gd name="T23" fmla="*/ 11 h 98"/>
                <a:gd name="T24" fmla="*/ 13 w 131"/>
                <a:gd name="T25" fmla="*/ 6 h 98"/>
                <a:gd name="T26" fmla="*/ 15 w 131"/>
                <a:gd name="T27" fmla="*/ 4 h 98"/>
                <a:gd name="T28" fmla="*/ 14 w 131"/>
                <a:gd name="T29" fmla="*/ 2 h 98"/>
                <a:gd name="T30" fmla="*/ 1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5 w 212"/>
                <a:gd name="T1" fmla="*/ 2 h 112"/>
                <a:gd name="T2" fmla="*/ 2 w 212"/>
                <a:gd name="T3" fmla="*/ 2 h 112"/>
                <a:gd name="T4" fmla="*/ 1 w 212"/>
                <a:gd name="T5" fmla="*/ 2 h 112"/>
                <a:gd name="T6" fmla="*/ 3 w 212"/>
                <a:gd name="T7" fmla="*/ 8 h 112"/>
                <a:gd name="T8" fmla="*/ 7 w 212"/>
                <a:gd name="T9" fmla="*/ 6 h 112"/>
                <a:gd name="T10" fmla="*/ 12 w 212"/>
                <a:gd name="T11" fmla="*/ 8 h 112"/>
                <a:gd name="T12" fmla="*/ 14 w 212"/>
                <a:gd name="T13" fmla="*/ 8 h 112"/>
                <a:gd name="T14" fmla="*/ 17 w 212"/>
                <a:gd name="T15" fmla="*/ 13 h 112"/>
                <a:gd name="T16" fmla="*/ 18 w 212"/>
                <a:gd name="T17" fmla="*/ 15 h 112"/>
                <a:gd name="T18" fmla="*/ 20 w 212"/>
                <a:gd name="T19" fmla="*/ 14 h 112"/>
                <a:gd name="T20" fmla="*/ 22 w 212"/>
                <a:gd name="T21" fmla="*/ 13 h 112"/>
                <a:gd name="T22" fmla="*/ 24 w 212"/>
                <a:gd name="T23" fmla="*/ 14 h 112"/>
                <a:gd name="T24" fmla="*/ 25 w 212"/>
                <a:gd name="T25" fmla="*/ 11 h 112"/>
                <a:gd name="T26" fmla="*/ 19 w 212"/>
                <a:gd name="T27" fmla="*/ 8 h 112"/>
                <a:gd name="T28" fmla="*/ 13 w 212"/>
                <a:gd name="T29" fmla="*/ 3 h 112"/>
                <a:gd name="T30" fmla="*/ 7 w 212"/>
                <a:gd name="T31" fmla="*/ 4 h 112"/>
                <a:gd name="T32" fmla="*/ 5 w 212"/>
                <a:gd name="T33" fmla="*/ 2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7 w 133"/>
                <a:gd name="T1" fmla="*/ 0 h 54"/>
                <a:gd name="T2" fmla="*/ 5 w 133"/>
                <a:gd name="T3" fmla="*/ 2 h 54"/>
                <a:gd name="T4" fmla="*/ 4 w 133"/>
                <a:gd name="T5" fmla="*/ 5 h 54"/>
                <a:gd name="T6" fmla="*/ 1 w 133"/>
                <a:gd name="T7" fmla="*/ 5 h 54"/>
                <a:gd name="T8" fmla="*/ 1 w 133"/>
                <a:gd name="T9" fmla="*/ 6 h 54"/>
                <a:gd name="T10" fmla="*/ 1 w 133"/>
                <a:gd name="T11" fmla="*/ 8 h 54"/>
                <a:gd name="T12" fmla="*/ 17 w 133"/>
                <a:gd name="T13" fmla="*/ 5 h 54"/>
                <a:gd name="T14" fmla="*/ 16 w 133"/>
                <a:gd name="T15" fmla="*/ 2 h 54"/>
                <a:gd name="T16" fmla="*/ 13 w 133"/>
                <a:gd name="T17" fmla="*/ 2 h 54"/>
                <a:gd name="T18" fmla="*/ 13 w 133"/>
                <a:gd name="T19" fmla="*/ 4 h 54"/>
                <a:gd name="T20" fmla="*/ 11 w 133"/>
                <a:gd name="T21" fmla="*/ 3 h 54"/>
                <a:gd name="T22" fmla="*/ 9 w 133"/>
                <a:gd name="T23" fmla="*/ 2 h 54"/>
                <a:gd name="T24" fmla="*/ 7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4 h 34"/>
                <a:gd name="T6" fmla="*/ 2 w 16"/>
                <a:gd name="T7" fmla="*/ 2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8 w 240"/>
                <a:gd name="T1" fmla="*/ 1 h 117"/>
                <a:gd name="T2" fmla="*/ 4 w 240"/>
                <a:gd name="T3" fmla="*/ 5 h 117"/>
                <a:gd name="T4" fmla="*/ 2 w 240"/>
                <a:gd name="T5" fmla="*/ 5 h 117"/>
                <a:gd name="T6" fmla="*/ 0 w 240"/>
                <a:gd name="T7" fmla="*/ 6 h 117"/>
                <a:gd name="T8" fmla="*/ 4 w 240"/>
                <a:gd name="T9" fmla="*/ 8 h 117"/>
                <a:gd name="T10" fmla="*/ 6 w 240"/>
                <a:gd name="T11" fmla="*/ 8 h 117"/>
                <a:gd name="T12" fmla="*/ 10 w 240"/>
                <a:gd name="T13" fmla="*/ 6 h 117"/>
                <a:gd name="T14" fmla="*/ 11 w 240"/>
                <a:gd name="T15" fmla="*/ 6 h 117"/>
                <a:gd name="T16" fmla="*/ 11 w 240"/>
                <a:gd name="T17" fmla="*/ 8 h 117"/>
                <a:gd name="T18" fmla="*/ 8 w 240"/>
                <a:gd name="T19" fmla="*/ 8 h 117"/>
                <a:gd name="T20" fmla="*/ 10 w 240"/>
                <a:gd name="T21" fmla="*/ 10 h 117"/>
                <a:gd name="T22" fmla="*/ 6 w 240"/>
                <a:gd name="T23" fmla="*/ 12 h 117"/>
                <a:gd name="T24" fmla="*/ 10 w 240"/>
                <a:gd name="T25" fmla="*/ 15 h 117"/>
                <a:gd name="T26" fmla="*/ 11 w 240"/>
                <a:gd name="T27" fmla="*/ 15 h 117"/>
                <a:gd name="T28" fmla="*/ 17 w 240"/>
                <a:gd name="T29" fmla="*/ 14 h 117"/>
                <a:gd name="T30" fmla="*/ 20 w 240"/>
                <a:gd name="T31" fmla="*/ 14 h 117"/>
                <a:gd name="T32" fmla="*/ 23 w 240"/>
                <a:gd name="T33" fmla="*/ 17 h 117"/>
                <a:gd name="T34" fmla="*/ 28 w 240"/>
                <a:gd name="T35" fmla="*/ 15 h 117"/>
                <a:gd name="T36" fmla="*/ 30 w 240"/>
                <a:gd name="T37" fmla="*/ 14 h 117"/>
                <a:gd name="T38" fmla="*/ 30 w 240"/>
                <a:gd name="T39" fmla="*/ 11 h 117"/>
                <a:gd name="T40" fmla="*/ 32 w 240"/>
                <a:gd name="T41" fmla="*/ 10 h 117"/>
                <a:gd name="T42" fmla="*/ 32 w 240"/>
                <a:gd name="T43" fmla="*/ 6 h 117"/>
                <a:gd name="T44" fmla="*/ 29 w 240"/>
                <a:gd name="T45" fmla="*/ 8 h 117"/>
                <a:gd name="T46" fmla="*/ 27 w 240"/>
                <a:gd name="T47" fmla="*/ 6 h 117"/>
                <a:gd name="T48" fmla="*/ 23 w 240"/>
                <a:gd name="T49" fmla="*/ 6 h 117"/>
                <a:gd name="T50" fmla="*/ 18 w 240"/>
                <a:gd name="T51" fmla="*/ 2 h 117"/>
                <a:gd name="T52" fmla="*/ 13 w 240"/>
                <a:gd name="T53" fmla="*/ 2 h 117"/>
                <a:gd name="T54" fmla="*/ 11 w 240"/>
                <a:gd name="T55" fmla="*/ 1 h 117"/>
                <a:gd name="T56" fmla="*/ 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13 w 194"/>
                <a:gd name="T1" fmla="*/ 2 h 80"/>
                <a:gd name="T2" fmla="*/ 2 w 194"/>
                <a:gd name="T3" fmla="*/ 4 h 80"/>
                <a:gd name="T4" fmla="*/ 2 w 194"/>
                <a:gd name="T5" fmla="*/ 5 h 80"/>
                <a:gd name="T6" fmla="*/ 8 w 194"/>
                <a:gd name="T7" fmla="*/ 8 h 80"/>
                <a:gd name="T8" fmla="*/ 19 w 194"/>
                <a:gd name="T9" fmla="*/ 11 h 80"/>
                <a:gd name="T10" fmla="*/ 24 w 194"/>
                <a:gd name="T11" fmla="*/ 10 h 80"/>
                <a:gd name="T12" fmla="*/ 26 w 194"/>
                <a:gd name="T13" fmla="*/ 8 h 80"/>
                <a:gd name="T14" fmla="*/ 24 w 194"/>
                <a:gd name="T15" fmla="*/ 6 h 80"/>
                <a:gd name="T16" fmla="*/ 23 w 194"/>
                <a:gd name="T17" fmla="*/ 5 h 80"/>
                <a:gd name="T18" fmla="*/ 17 w 194"/>
                <a:gd name="T19" fmla="*/ 4 h 80"/>
                <a:gd name="T20" fmla="*/ 13 w 194"/>
                <a:gd name="T21" fmla="*/ 2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10 w 310"/>
                <a:gd name="T1" fmla="*/ 1 h 254"/>
                <a:gd name="T2" fmla="*/ 8 w 310"/>
                <a:gd name="T3" fmla="*/ 3 h 254"/>
                <a:gd name="T4" fmla="*/ 3 w 310"/>
                <a:gd name="T5" fmla="*/ 5 h 254"/>
                <a:gd name="T6" fmla="*/ 8 w 310"/>
                <a:gd name="T7" fmla="*/ 10 h 254"/>
                <a:gd name="T8" fmla="*/ 11 w 310"/>
                <a:gd name="T9" fmla="*/ 11 h 254"/>
                <a:gd name="T10" fmla="*/ 14 w 310"/>
                <a:gd name="T11" fmla="*/ 13 h 254"/>
                <a:gd name="T12" fmla="*/ 17 w 310"/>
                <a:gd name="T13" fmla="*/ 11 h 254"/>
                <a:gd name="T14" fmla="*/ 20 w 310"/>
                <a:gd name="T15" fmla="*/ 13 h 254"/>
                <a:gd name="T16" fmla="*/ 20 w 310"/>
                <a:gd name="T17" fmla="*/ 16 h 254"/>
                <a:gd name="T18" fmla="*/ 16 w 310"/>
                <a:gd name="T19" fmla="*/ 20 h 254"/>
                <a:gd name="T20" fmla="*/ 13 w 310"/>
                <a:gd name="T21" fmla="*/ 22 h 254"/>
                <a:gd name="T22" fmla="*/ 10 w 310"/>
                <a:gd name="T23" fmla="*/ 22 h 254"/>
                <a:gd name="T24" fmla="*/ 8 w 310"/>
                <a:gd name="T25" fmla="*/ 22 h 254"/>
                <a:gd name="T26" fmla="*/ 6 w 310"/>
                <a:gd name="T27" fmla="*/ 25 h 254"/>
                <a:gd name="T28" fmla="*/ 6 w 310"/>
                <a:gd name="T29" fmla="*/ 25 h 254"/>
                <a:gd name="T30" fmla="*/ 10 w 310"/>
                <a:gd name="T31" fmla="*/ 27 h 254"/>
                <a:gd name="T32" fmla="*/ 13 w 310"/>
                <a:gd name="T33" fmla="*/ 27 h 254"/>
                <a:gd name="T34" fmla="*/ 16 w 310"/>
                <a:gd name="T35" fmla="*/ 30 h 254"/>
                <a:gd name="T36" fmla="*/ 17 w 310"/>
                <a:gd name="T37" fmla="*/ 31 h 254"/>
                <a:gd name="T38" fmla="*/ 19 w 310"/>
                <a:gd name="T39" fmla="*/ 31 h 254"/>
                <a:gd name="T40" fmla="*/ 22 w 310"/>
                <a:gd name="T41" fmla="*/ 33 h 254"/>
                <a:gd name="T42" fmla="*/ 25 w 310"/>
                <a:gd name="T43" fmla="*/ 31 h 254"/>
                <a:gd name="T44" fmla="*/ 28 w 310"/>
                <a:gd name="T45" fmla="*/ 31 h 254"/>
                <a:gd name="T46" fmla="*/ 31 w 310"/>
                <a:gd name="T47" fmla="*/ 28 h 254"/>
                <a:gd name="T48" fmla="*/ 30 w 310"/>
                <a:gd name="T49" fmla="*/ 24 h 254"/>
                <a:gd name="T50" fmla="*/ 29 w 310"/>
                <a:gd name="T51" fmla="*/ 22 h 254"/>
                <a:gd name="T52" fmla="*/ 32 w 310"/>
                <a:gd name="T53" fmla="*/ 22 h 254"/>
                <a:gd name="T54" fmla="*/ 33 w 310"/>
                <a:gd name="T55" fmla="*/ 24 h 254"/>
                <a:gd name="T56" fmla="*/ 33 w 310"/>
                <a:gd name="T57" fmla="*/ 25 h 254"/>
                <a:gd name="T58" fmla="*/ 35 w 310"/>
                <a:gd name="T59" fmla="*/ 25 h 254"/>
                <a:gd name="T60" fmla="*/ 41 w 310"/>
                <a:gd name="T61" fmla="*/ 22 h 254"/>
                <a:gd name="T62" fmla="*/ 40 w 310"/>
                <a:gd name="T63" fmla="*/ 19 h 254"/>
                <a:gd name="T64" fmla="*/ 35 w 310"/>
                <a:gd name="T65" fmla="*/ 16 h 254"/>
                <a:gd name="T66" fmla="*/ 36 w 310"/>
                <a:gd name="T67" fmla="*/ 14 h 254"/>
                <a:gd name="T68" fmla="*/ 38 w 310"/>
                <a:gd name="T69" fmla="*/ 13 h 254"/>
                <a:gd name="T70" fmla="*/ 34 w 310"/>
                <a:gd name="T71" fmla="*/ 7 h 254"/>
                <a:gd name="T72" fmla="*/ 32 w 310"/>
                <a:gd name="T73" fmla="*/ 7 h 254"/>
                <a:gd name="T74" fmla="*/ 30 w 310"/>
                <a:gd name="T75" fmla="*/ 7 h 254"/>
                <a:gd name="T76" fmla="*/ 27 w 310"/>
                <a:gd name="T77" fmla="*/ 4 h 254"/>
                <a:gd name="T78" fmla="*/ 22 w 310"/>
                <a:gd name="T79" fmla="*/ 5 h 254"/>
                <a:gd name="T80" fmla="*/ 23 w 310"/>
                <a:gd name="T81" fmla="*/ 3 h 254"/>
                <a:gd name="T82" fmla="*/ 19 w 310"/>
                <a:gd name="T83" fmla="*/ 2 h 254"/>
                <a:gd name="T84" fmla="*/ 17 w 310"/>
                <a:gd name="T85" fmla="*/ 2 h 254"/>
                <a:gd name="T86" fmla="*/ 10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3 w 59"/>
                <a:gd name="T1" fmla="*/ 0 h 50"/>
                <a:gd name="T2" fmla="*/ 0 w 59"/>
                <a:gd name="T3" fmla="*/ 1 h 50"/>
                <a:gd name="T4" fmla="*/ 4 w 59"/>
                <a:gd name="T5" fmla="*/ 5 h 50"/>
                <a:gd name="T6" fmla="*/ 6 w 59"/>
                <a:gd name="T7" fmla="*/ 6 h 50"/>
                <a:gd name="T8" fmla="*/ 7 w 59"/>
                <a:gd name="T9" fmla="*/ 4 h 50"/>
                <a:gd name="T10" fmla="*/ 5 w 59"/>
                <a:gd name="T11" fmla="*/ 1 h 50"/>
                <a:gd name="T12" fmla="*/ 3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6 w 86"/>
                <a:gd name="T1" fmla="*/ 1 h 57"/>
                <a:gd name="T2" fmla="*/ 4 w 86"/>
                <a:gd name="T3" fmla="*/ 3 h 57"/>
                <a:gd name="T4" fmla="*/ 2 w 86"/>
                <a:gd name="T5" fmla="*/ 3 h 57"/>
                <a:gd name="T6" fmla="*/ 2 w 86"/>
                <a:gd name="T7" fmla="*/ 7 h 57"/>
                <a:gd name="T8" fmla="*/ 11 w 86"/>
                <a:gd name="T9" fmla="*/ 4 h 57"/>
                <a:gd name="T10" fmla="*/ 12 w 86"/>
                <a:gd name="T11" fmla="*/ 2 h 57"/>
                <a:gd name="T12" fmla="*/ 8 w 86"/>
                <a:gd name="T13" fmla="*/ 1 h 57"/>
                <a:gd name="T14" fmla="*/ 6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5 w 73"/>
                <a:gd name="T1" fmla="*/ 0 h 34"/>
                <a:gd name="T2" fmla="*/ 1 w 73"/>
                <a:gd name="T3" fmla="*/ 2 h 34"/>
                <a:gd name="T4" fmla="*/ 3 w 73"/>
                <a:gd name="T5" fmla="*/ 4 h 34"/>
                <a:gd name="T6" fmla="*/ 7 w 73"/>
                <a:gd name="T7" fmla="*/ 3 h 34"/>
                <a:gd name="T8" fmla="*/ 7 w 73"/>
                <a:gd name="T9" fmla="*/ 2 h 34"/>
                <a:gd name="T10" fmla="*/ 5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8 w 85"/>
                <a:gd name="T1" fmla="*/ 2 h 45"/>
                <a:gd name="T2" fmla="*/ 4 w 85"/>
                <a:gd name="T3" fmla="*/ 2 h 45"/>
                <a:gd name="T4" fmla="*/ 0 w 85"/>
                <a:gd name="T5" fmla="*/ 3 h 45"/>
                <a:gd name="T6" fmla="*/ 6 w 85"/>
                <a:gd name="T7" fmla="*/ 5 h 45"/>
                <a:gd name="T8" fmla="*/ 8 w 85"/>
                <a:gd name="T9" fmla="*/ 6 h 45"/>
                <a:gd name="T10" fmla="*/ 11 w 85"/>
                <a:gd name="T11" fmla="*/ 3 h 45"/>
                <a:gd name="T12" fmla="*/ 11 w 85"/>
                <a:gd name="T13" fmla="*/ 2 h 45"/>
                <a:gd name="T14" fmla="*/ 8 w 85"/>
                <a:gd name="T15" fmla="*/ 0 h 45"/>
                <a:gd name="T16" fmla="*/ 8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3 h 31"/>
                <a:gd name="T4" fmla="*/ 3 w 58"/>
                <a:gd name="T5" fmla="*/ 5 h 31"/>
                <a:gd name="T6" fmla="*/ 4 w 58"/>
                <a:gd name="T7" fmla="*/ 3 h 31"/>
                <a:gd name="T8" fmla="*/ 8 w 58"/>
                <a:gd name="T9" fmla="*/ 2 h 31"/>
                <a:gd name="T10" fmla="*/ 6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6 w 152"/>
                <a:gd name="T1" fmla="*/ 0 h 102"/>
                <a:gd name="T2" fmla="*/ 2 w 152"/>
                <a:gd name="T3" fmla="*/ 2 h 102"/>
                <a:gd name="T4" fmla="*/ 2 w 152"/>
                <a:gd name="T5" fmla="*/ 6 h 102"/>
                <a:gd name="T6" fmla="*/ 2 w 152"/>
                <a:gd name="T7" fmla="*/ 8 h 102"/>
                <a:gd name="T8" fmla="*/ 0 w 152"/>
                <a:gd name="T9" fmla="*/ 10 h 102"/>
                <a:gd name="T10" fmla="*/ 8 w 152"/>
                <a:gd name="T11" fmla="*/ 12 h 102"/>
                <a:gd name="T12" fmla="*/ 11 w 152"/>
                <a:gd name="T13" fmla="*/ 13 h 102"/>
                <a:gd name="T14" fmla="*/ 21 w 152"/>
                <a:gd name="T15" fmla="*/ 12 h 102"/>
                <a:gd name="T16" fmla="*/ 11 w 152"/>
                <a:gd name="T17" fmla="*/ 10 h 102"/>
                <a:gd name="T18" fmla="*/ 8 w 152"/>
                <a:gd name="T19" fmla="*/ 8 h 102"/>
                <a:gd name="T20" fmla="*/ 6 w 152"/>
                <a:gd name="T21" fmla="*/ 8 h 102"/>
                <a:gd name="T22" fmla="*/ 8 w 152"/>
                <a:gd name="T23" fmla="*/ 5 h 102"/>
                <a:gd name="T24" fmla="*/ 6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4 w 34"/>
                <a:gd name="T1" fmla="*/ 0 h 20"/>
                <a:gd name="T2" fmla="*/ 3 w 34"/>
                <a:gd name="T3" fmla="*/ 3 h 20"/>
                <a:gd name="T4" fmla="*/ 1 w 34"/>
                <a:gd name="T5" fmla="*/ 3 h 20"/>
                <a:gd name="T6" fmla="*/ 1 w 34"/>
                <a:gd name="T7" fmla="*/ 2 h 20"/>
                <a:gd name="T8" fmla="*/ 4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3 h 24"/>
                <a:gd name="T4" fmla="*/ 4 w 51"/>
                <a:gd name="T5" fmla="*/ 4 h 24"/>
                <a:gd name="T6" fmla="*/ 5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4 w 929"/>
                <a:gd name="T1" fmla="*/ 7 h 462"/>
                <a:gd name="T2" fmla="*/ 1 w 929"/>
                <a:gd name="T3" fmla="*/ 12 h 462"/>
                <a:gd name="T4" fmla="*/ 4 w 929"/>
                <a:gd name="T5" fmla="*/ 13 h 462"/>
                <a:gd name="T6" fmla="*/ 2 w 929"/>
                <a:gd name="T7" fmla="*/ 16 h 462"/>
                <a:gd name="T8" fmla="*/ 13 w 929"/>
                <a:gd name="T9" fmla="*/ 18 h 462"/>
                <a:gd name="T10" fmla="*/ 19 w 929"/>
                <a:gd name="T11" fmla="*/ 17 h 462"/>
                <a:gd name="T12" fmla="*/ 33 w 929"/>
                <a:gd name="T13" fmla="*/ 10 h 462"/>
                <a:gd name="T14" fmla="*/ 40 w 929"/>
                <a:gd name="T15" fmla="*/ 9 h 462"/>
                <a:gd name="T16" fmla="*/ 43 w 929"/>
                <a:gd name="T17" fmla="*/ 10 h 462"/>
                <a:gd name="T18" fmla="*/ 36 w 929"/>
                <a:gd name="T19" fmla="*/ 12 h 462"/>
                <a:gd name="T20" fmla="*/ 32 w 929"/>
                <a:gd name="T21" fmla="*/ 14 h 462"/>
                <a:gd name="T22" fmla="*/ 33 w 929"/>
                <a:gd name="T23" fmla="*/ 16 h 462"/>
                <a:gd name="T24" fmla="*/ 34 w 929"/>
                <a:gd name="T25" fmla="*/ 21 h 462"/>
                <a:gd name="T26" fmla="*/ 46 w 929"/>
                <a:gd name="T27" fmla="*/ 25 h 462"/>
                <a:gd name="T28" fmla="*/ 44 w 929"/>
                <a:gd name="T29" fmla="*/ 28 h 462"/>
                <a:gd name="T30" fmla="*/ 49 w 929"/>
                <a:gd name="T31" fmla="*/ 32 h 462"/>
                <a:gd name="T32" fmla="*/ 46 w 929"/>
                <a:gd name="T33" fmla="*/ 35 h 462"/>
                <a:gd name="T34" fmla="*/ 43 w 929"/>
                <a:gd name="T35" fmla="*/ 39 h 462"/>
                <a:gd name="T36" fmla="*/ 39 w 929"/>
                <a:gd name="T37" fmla="*/ 43 h 462"/>
                <a:gd name="T38" fmla="*/ 39 w 929"/>
                <a:gd name="T39" fmla="*/ 56 h 462"/>
                <a:gd name="T40" fmla="*/ 44 w 929"/>
                <a:gd name="T41" fmla="*/ 59 h 462"/>
                <a:gd name="T42" fmla="*/ 51 w 929"/>
                <a:gd name="T43" fmla="*/ 59 h 462"/>
                <a:gd name="T44" fmla="*/ 55 w 929"/>
                <a:gd name="T45" fmla="*/ 56 h 462"/>
                <a:gd name="T46" fmla="*/ 67 w 929"/>
                <a:gd name="T47" fmla="*/ 47 h 462"/>
                <a:gd name="T48" fmla="*/ 76 w 929"/>
                <a:gd name="T49" fmla="*/ 44 h 462"/>
                <a:gd name="T50" fmla="*/ 86 w 929"/>
                <a:gd name="T51" fmla="*/ 41 h 462"/>
                <a:gd name="T52" fmla="*/ 95 w 929"/>
                <a:gd name="T53" fmla="*/ 38 h 462"/>
                <a:gd name="T54" fmla="*/ 101 w 929"/>
                <a:gd name="T55" fmla="*/ 34 h 462"/>
                <a:gd name="T56" fmla="*/ 106 w 929"/>
                <a:gd name="T57" fmla="*/ 26 h 462"/>
                <a:gd name="T58" fmla="*/ 106 w 929"/>
                <a:gd name="T59" fmla="*/ 20 h 462"/>
                <a:gd name="T60" fmla="*/ 106 w 929"/>
                <a:gd name="T61" fmla="*/ 16 h 462"/>
                <a:gd name="T62" fmla="*/ 110 w 929"/>
                <a:gd name="T63" fmla="*/ 12 h 462"/>
                <a:gd name="T64" fmla="*/ 116 w 929"/>
                <a:gd name="T65" fmla="*/ 12 h 462"/>
                <a:gd name="T66" fmla="*/ 122 w 929"/>
                <a:gd name="T67" fmla="*/ 7 h 462"/>
                <a:gd name="T68" fmla="*/ 118 w 929"/>
                <a:gd name="T69" fmla="*/ 7 h 462"/>
                <a:gd name="T70" fmla="*/ 112 w 929"/>
                <a:gd name="T71" fmla="*/ 5 h 462"/>
                <a:gd name="T72" fmla="*/ 105 w 929"/>
                <a:gd name="T73" fmla="*/ 3 h 462"/>
                <a:gd name="T74" fmla="*/ 85 w 929"/>
                <a:gd name="T75" fmla="*/ 3 h 462"/>
                <a:gd name="T76" fmla="*/ 77 w 929"/>
                <a:gd name="T77" fmla="*/ 5 h 462"/>
                <a:gd name="T78" fmla="*/ 73 w 929"/>
                <a:gd name="T79" fmla="*/ 5 h 462"/>
                <a:gd name="T80" fmla="*/ 68 w 929"/>
                <a:gd name="T81" fmla="*/ 7 h 462"/>
                <a:gd name="T82" fmla="*/ 64 w 929"/>
                <a:gd name="T83" fmla="*/ 4 h 462"/>
                <a:gd name="T84" fmla="*/ 57 w 929"/>
                <a:gd name="T85" fmla="*/ 5 h 462"/>
                <a:gd name="T86" fmla="*/ 48 w 929"/>
                <a:gd name="T87" fmla="*/ 7 h 462"/>
                <a:gd name="T88" fmla="*/ 55 w 929"/>
                <a:gd name="T89" fmla="*/ 5 h 462"/>
                <a:gd name="T90" fmla="*/ 46 w 929"/>
                <a:gd name="T91" fmla="*/ 1 h 462"/>
                <a:gd name="T92" fmla="*/ 44 w 929"/>
                <a:gd name="T93" fmla="*/ 1 h 462"/>
                <a:gd name="T94" fmla="*/ 41 w 929"/>
                <a:gd name="T95" fmla="*/ 1 h 462"/>
                <a:gd name="T96" fmla="*/ 32 w 929"/>
                <a:gd name="T97" fmla="*/ 2 h 462"/>
                <a:gd name="T98" fmla="*/ 21 w 929"/>
                <a:gd name="T99" fmla="*/ 4 h 462"/>
                <a:gd name="T100" fmla="*/ 14 w 929"/>
                <a:gd name="T101" fmla="*/ 3 h 462"/>
                <a:gd name="T102" fmla="*/ 15 w 929"/>
                <a:gd name="T103" fmla="*/ 9 h 462"/>
                <a:gd name="T104" fmla="*/ 13 w 929"/>
                <a:gd name="T105" fmla="*/ 7 h 462"/>
                <a:gd name="T106" fmla="*/ 7 w 929"/>
                <a:gd name="T107" fmla="*/ 5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3 w 172"/>
                <a:gd name="T1" fmla="*/ 2 h 72"/>
                <a:gd name="T2" fmla="*/ 8 w 172"/>
                <a:gd name="T3" fmla="*/ 2 h 72"/>
                <a:gd name="T4" fmla="*/ 7 w 172"/>
                <a:gd name="T5" fmla="*/ 0 h 72"/>
                <a:gd name="T6" fmla="*/ 0 w 172"/>
                <a:gd name="T7" fmla="*/ 4 h 72"/>
                <a:gd name="T8" fmla="*/ 4 w 172"/>
                <a:gd name="T9" fmla="*/ 6 h 72"/>
                <a:gd name="T10" fmla="*/ 5 w 172"/>
                <a:gd name="T11" fmla="*/ 8 h 72"/>
                <a:gd name="T12" fmla="*/ 8 w 172"/>
                <a:gd name="T13" fmla="*/ 10 h 72"/>
                <a:gd name="T14" fmla="*/ 10 w 172"/>
                <a:gd name="T15" fmla="*/ 10 h 72"/>
                <a:gd name="T16" fmla="*/ 16 w 172"/>
                <a:gd name="T17" fmla="*/ 8 h 72"/>
                <a:gd name="T18" fmla="*/ 22 w 172"/>
                <a:gd name="T19" fmla="*/ 6 h 72"/>
                <a:gd name="T20" fmla="*/ 19 w 172"/>
                <a:gd name="T21" fmla="*/ 3 h 72"/>
                <a:gd name="T22" fmla="*/ 17 w 172"/>
                <a:gd name="T23" fmla="*/ 2 h 72"/>
                <a:gd name="T24" fmla="*/ 13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26 w 206"/>
                <a:gd name="T1" fmla="*/ 1 h 85"/>
                <a:gd name="T2" fmla="*/ 14 w 206"/>
                <a:gd name="T3" fmla="*/ 1 h 85"/>
                <a:gd name="T4" fmla="*/ 15 w 206"/>
                <a:gd name="T5" fmla="*/ 3 h 85"/>
                <a:gd name="T6" fmla="*/ 15 w 206"/>
                <a:gd name="T7" fmla="*/ 4 h 85"/>
                <a:gd name="T8" fmla="*/ 13 w 206"/>
                <a:gd name="T9" fmla="*/ 3 h 85"/>
                <a:gd name="T10" fmla="*/ 11 w 206"/>
                <a:gd name="T11" fmla="*/ 2 h 85"/>
                <a:gd name="T12" fmla="*/ 4 w 206"/>
                <a:gd name="T13" fmla="*/ 3 h 85"/>
                <a:gd name="T14" fmla="*/ 5 w 206"/>
                <a:gd name="T15" fmla="*/ 6 h 85"/>
                <a:gd name="T16" fmla="*/ 8 w 206"/>
                <a:gd name="T17" fmla="*/ 7 h 85"/>
                <a:gd name="T18" fmla="*/ 11 w 206"/>
                <a:gd name="T19" fmla="*/ 9 h 85"/>
                <a:gd name="T20" fmla="*/ 13 w 206"/>
                <a:gd name="T21" fmla="*/ 10 h 85"/>
                <a:gd name="T22" fmla="*/ 15 w 206"/>
                <a:gd name="T23" fmla="*/ 8 h 85"/>
                <a:gd name="T24" fmla="*/ 17 w 206"/>
                <a:gd name="T25" fmla="*/ 7 h 85"/>
                <a:gd name="T26" fmla="*/ 17 w 206"/>
                <a:gd name="T27" fmla="*/ 5 h 85"/>
                <a:gd name="T28" fmla="*/ 23 w 206"/>
                <a:gd name="T29" fmla="*/ 4 h 85"/>
                <a:gd name="T30" fmla="*/ 26 w 206"/>
                <a:gd name="T31" fmla="*/ 4 h 85"/>
                <a:gd name="T32" fmla="*/ 27 w 206"/>
                <a:gd name="T33" fmla="*/ 3 h 85"/>
                <a:gd name="T34" fmla="*/ 26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5 w 64"/>
                <a:gd name="T1" fmla="*/ 2 h 28"/>
                <a:gd name="T2" fmla="*/ 2 w 64"/>
                <a:gd name="T3" fmla="*/ 2 h 28"/>
                <a:gd name="T4" fmla="*/ 4 w 64"/>
                <a:gd name="T5" fmla="*/ 4 h 28"/>
                <a:gd name="T6" fmla="*/ 8 w 64"/>
                <a:gd name="T7" fmla="*/ 2 h 28"/>
                <a:gd name="T8" fmla="*/ 5 w 64"/>
                <a:gd name="T9" fmla="*/ 2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3 w 146"/>
                <a:gd name="T1" fmla="*/ 3 h 176"/>
                <a:gd name="T2" fmla="*/ 0 w 146"/>
                <a:gd name="T3" fmla="*/ 4 h 176"/>
                <a:gd name="T4" fmla="*/ 1 w 146"/>
                <a:gd name="T5" fmla="*/ 6 h 176"/>
                <a:gd name="T6" fmla="*/ 4 w 146"/>
                <a:gd name="T7" fmla="*/ 12 h 176"/>
                <a:gd name="T8" fmla="*/ 7 w 146"/>
                <a:gd name="T9" fmla="*/ 13 h 176"/>
                <a:gd name="T10" fmla="*/ 7 w 146"/>
                <a:gd name="T11" fmla="*/ 15 h 176"/>
                <a:gd name="T12" fmla="*/ 4 w 146"/>
                <a:gd name="T13" fmla="*/ 15 h 176"/>
                <a:gd name="T14" fmla="*/ 2 w 146"/>
                <a:gd name="T15" fmla="*/ 18 h 176"/>
                <a:gd name="T16" fmla="*/ 2 w 146"/>
                <a:gd name="T17" fmla="*/ 19 h 176"/>
                <a:gd name="T18" fmla="*/ 4 w 146"/>
                <a:gd name="T19" fmla="*/ 20 h 176"/>
                <a:gd name="T20" fmla="*/ 2 w 146"/>
                <a:gd name="T21" fmla="*/ 23 h 176"/>
                <a:gd name="T22" fmla="*/ 2 w 146"/>
                <a:gd name="T23" fmla="*/ 24 h 176"/>
                <a:gd name="T24" fmla="*/ 4 w 146"/>
                <a:gd name="T25" fmla="*/ 23 h 176"/>
                <a:gd name="T26" fmla="*/ 7 w 146"/>
                <a:gd name="T27" fmla="*/ 23 h 176"/>
                <a:gd name="T28" fmla="*/ 12 w 146"/>
                <a:gd name="T29" fmla="*/ 23 h 176"/>
                <a:gd name="T30" fmla="*/ 14 w 146"/>
                <a:gd name="T31" fmla="*/ 23 h 176"/>
                <a:gd name="T32" fmla="*/ 16 w 146"/>
                <a:gd name="T33" fmla="*/ 23 h 176"/>
                <a:gd name="T34" fmla="*/ 16 w 146"/>
                <a:gd name="T35" fmla="*/ 20 h 176"/>
                <a:gd name="T36" fmla="*/ 19 w 146"/>
                <a:gd name="T37" fmla="*/ 18 h 176"/>
                <a:gd name="T38" fmla="*/ 14 w 146"/>
                <a:gd name="T39" fmla="*/ 15 h 176"/>
                <a:gd name="T40" fmla="*/ 12 w 146"/>
                <a:gd name="T41" fmla="*/ 11 h 176"/>
                <a:gd name="T42" fmla="*/ 10 w 146"/>
                <a:gd name="T43" fmla="*/ 10 h 176"/>
                <a:gd name="T44" fmla="*/ 8 w 146"/>
                <a:gd name="T45" fmla="*/ 8 h 176"/>
                <a:gd name="T46" fmla="*/ 11 w 146"/>
                <a:gd name="T47" fmla="*/ 6 h 176"/>
                <a:gd name="T48" fmla="*/ 8 w 146"/>
                <a:gd name="T49" fmla="*/ 5 h 176"/>
                <a:gd name="T50" fmla="*/ 9 w 146"/>
                <a:gd name="T51" fmla="*/ 2 h 176"/>
                <a:gd name="T52" fmla="*/ 5 w 146"/>
                <a:gd name="T53" fmla="*/ 1 h 176"/>
                <a:gd name="T54" fmla="*/ 4 w 146"/>
                <a:gd name="T55" fmla="*/ 2 h 176"/>
                <a:gd name="T56" fmla="*/ 3 w 146"/>
                <a:gd name="T57" fmla="*/ 3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8 w 92"/>
                <a:gd name="T1" fmla="*/ 1 h 92"/>
                <a:gd name="T2" fmla="*/ 11 w 92"/>
                <a:gd name="T3" fmla="*/ 1 h 92"/>
                <a:gd name="T4" fmla="*/ 13 w 92"/>
                <a:gd name="T5" fmla="*/ 3 h 92"/>
                <a:gd name="T6" fmla="*/ 11 w 92"/>
                <a:gd name="T7" fmla="*/ 5 h 92"/>
                <a:gd name="T8" fmla="*/ 6 w 92"/>
                <a:gd name="T9" fmla="*/ 9 h 92"/>
                <a:gd name="T10" fmla="*/ 3 w 92"/>
                <a:gd name="T11" fmla="*/ 11 h 92"/>
                <a:gd name="T12" fmla="*/ 2 w 92"/>
                <a:gd name="T13" fmla="*/ 9 h 92"/>
                <a:gd name="T14" fmla="*/ 3 w 92"/>
                <a:gd name="T15" fmla="*/ 7 h 92"/>
                <a:gd name="T16" fmla="*/ 2 w 92"/>
                <a:gd name="T17" fmla="*/ 5 h 92"/>
                <a:gd name="T18" fmla="*/ 6 w 92"/>
                <a:gd name="T19" fmla="*/ 4 h 92"/>
                <a:gd name="T20" fmla="*/ 8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8 w 633"/>
                <a:gd name="T1" fmla="*/ 2 h 660"/>
                <a:gd name="T2" fmla="*/ 23 w 633"/>
                <a:gd name="T3" fmla="*/ 3 h 660"/>
                <a:gd name="T4" fmla="*/ 19 w 633"/>
                <a:gd name="T5" fmla="*/ 8 h 660"/>
                <a:gd name="T6" fmla="*/ 13 w 633"/>
                <a:gd name="T7" fmla="*/ 8 h 660"/>
                <a:gd name="T8" fmla="*/ 10 w 633"/>
                <a:gd name="T9" fmla="*/ 11 h 660"/>
                <a:gd name="T10" fmla="*/ 9 w 633"/>
                <a:gd name="T11" fmla="*/ 16 h 660"/>
                <a:gd name="T12" fmla="*/ 4 w 633"/>
                <a:gd name="T13" fmla="*/ 23 h 660"/>
                <a:gd name="T14" fmla="*/ 0 w 633"/>
                <a:gd name="T15" fmla="*/ 24 h 660"/>
                <a:gd name="T16" fmla="*/ 9 w 633"/>
                <a:gd name="T17" fmla="*/ 44 h 660"/>
                <a:gd name="T18" fmla="*/ 16 w 633"/>
                <a:gd name="T19" fmla="*/ 57 h 660"/>
                <a:gd name="T20" fmla="*/ 19 w 633"/>
                <a:gd name="T21" fmla="*/ 59 h 660"/>
                <a:gd name="T22" fmla="*/ 22 w 633"/>
                <a:gd name="T23" fmla="*/ 60 h 660"/>
                <a:gd name="T24" fmla="*/ 30 w 633"/>
                <a:gd name="T25" fmla="*/ 58 h 660"/>
                <a:gd name="T26" fmla="*/ 33 w 633"/>
                <a:gd name="T27" fmla="*/ 57 h 660"/>
                <a:gd name="T28" fmla="*/ 39 w 633"/>
                <a:gd name="T29" fmla="*/ 60 h 660"/>
                <a:gd name="T30" fmla="*/ 43 w 633"/>
                <a:gd name="T31" fmla="*/ 71 h 660"/>
                <a:gd name="T32" fmla="*/ 44 w 633"/>
                <a:gd name="T33" fmla="*/ 71 h 660"/>
                <a:gd name="T34" fmla="*/ 46 w 633"/>
                <a:gd name="T35" fmla="*/ 68 h 660"/>
                <a:gd name="T36" fmla="*/ 49 w 633"/>
                <a:gd name="T37" fmla="*/ 74 h 660"/>
                <a:gd name="T38" fmla="*/ 53 w 633"/>
                <a:gd name="T39" fmla="*/ 77 h 660"/>
                <a:gd name="T40" fmla="*/ 58 w 633"/>
                <a:gd name="T41" fmla="*/ 80 h 660"/>
                <a:gd name="T42" fmla="*/ 58 w 633"/>
                <a:gd name="T43" fmla="*/ 83 h 660"/>
                <a:gd name="T44" fmla="*/ 60 w 633"/>
                <a:gd name="T45" fmla="*/ 83 h 660"/>
                <a:gd name="T46" fmla="*/ 64 w 633"/>
                <a:gd name="T47" fmla="*/ 87 h 660"/>
                <a:gd name="T48" fmla="*/ 65 w 633"/>
                <a:gd name="T49" fmla="*/ 85 h 660"/>
                <a:gd name="T50" fmla="*/ 71 w 633"/>
                <a:gd name="T51" fmla="*/ 89 h 660"/>
                <a:gd name="T52" fmla="*/ 77 w 633"/>
                <a:gd name="T53" fmla="*/ 87 h 660"/>
                <a:gd name="T54" fmla="*/ 82 w 633"/>
                <a:gd name="T55" fmla="*/ 71 h 660"/>
                <a:gd name="T56" fmla="*/ 83 w 633"/>
                <a:gd name="T57" fmla="*/ 62 h 660"/>
                <a:gd name="T58" fmla="*/ 82 w 633"/>
                <a:gd name="T59" fmla="*/ 49 h 660"/>
                <a:gd name="T60" fmla="*/ 70 w 633"/>
                <a:gd name="T61" fmla="*/ 37 h 660"/>
                <a:gd name="T62" fmla="*/ 70 w 633"/>
                <a:gd name="T63" fmla="*/ 32 h 660"/>
                <a:gd name="T64" fmla="*/ 61 w 633"/>
                <a:gd name="T65" fmla="*/ 24 h 660"/>
                <a:gd name="T66" fmla="*/ 62 w 633"/>
                <a:gd name="T67" fmla="*/ 21 h 660"/>
                <a:gd name="T68" fmla="*/ 60 w 633"/>
                <a:gd name="T69" fmla="*/ 18 h 660"/>
                <a:gd name="T70" fmla="*/ 55 w 633"/>
                <a:gd name="T71" fmla="*/ 11 h 660"/>
                <a:gd name="T72" fmla="*/ 52 w 633"/>
                <a:gd name="T73" fmla="*/ 5 h 660"/>
                <a:gd name="T74" fmla="*/ 51 w 633"/>
                <a:gd name="T75" fmla="*/ 3 h 660"/>
                <a:gd name="T76" fmla="*/ 48 w 633"/>
                <a:gd name="T77" fmla="*/ 20 h 660"/>
                <a:gd name="T78" fmla="*/ 43 w 633"/>
                <a:gd name="T79" fmla="*/ 16 h 660"/>
                <a:gd name="T80" fmla="*/ 39 w 633"/>
                <a:gd name="T81" fmla="*/ 15 h 660"/>
                <a:gd name="T82" fmla="*/ 36 w 633"/>
                <a:gd name="T83" fmla="*/ 12 h 660"/>
                <a:gd name="T84" fmla="*/ 34 w 633"/>
                <a:gd name="T85" fmla="*/ 8 h 660"/>
                <a:gd name="T86" fmla="*/ 37 w 633"/>
                <a:gd name="T87" fmla="*/ 8 h 660"/>
                <a:gd name="T88" fmla="*/ 32 w 633"/>
                <a:gd name="T89" fmla="*/ 3 h 660"/>
                <a:gd name="T90" fmla="*/ 28 w 633"/>
                <a:gd name="T91" fmla="*/ 2 h 660"/>
                <a:gd name="T92" fmla="*/ 27 w 633"/>
                <a:gd name="T93" fmla="*/ 2 h 660"/>
                <a:gd name="T94" fmla="*/ 28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10 w 426"/>
                <a:gd name="T1" fmla="*/ 8 h 280"/>
                <a:gd name="T2" fmla="*/ 9 w 426"/>
                <a:gd name="T3" fmla="*/ 5 h 280"/>
                <a:gd name="T4" fmla="*/ 8 w 426"/>
                <a:gd name="T5" fmla="*/ 2 h 280"/>
                <a:gd name="T6" fmla="*/ 7 w 426"/>
                <a:gd name="T7" fmla="*/ 2 h 280"/>
                <a:gd name="T8" fmla="*/ 2 w 426"/>
                <a:gd name="T9" fmla="*/ 2 h 280"/>
                <a:gd name="T10" fmla="*/ 5 w 426"/>
                <a:gd name="T11" fmla="*/ 6 h 280"/>
                <a:gd name="T12" fmla="*/ 6 w 426"/>
                <a:gd name="T13" fmla="*/ 8 h 280"/>
                <a:gd name="T14" fmla="*/ 3 w 426"/>
                <a:gd name="T15" fmla="*/ 10 h 280"/>
                <a:gd name="T16" fmla="*/ 12 w 426"/>
                <a:gd name="T17" fmla="*/ 13 h 280"/>
                <a:gd name="T18" fmla="*/ 16 w 426"/>
                <a:gd name="T19" fmla="*/ 15 h 280"/>
                <a:gd name="T20" fmla="*/ 16 w 426"/>
                <a:gd name="T21" fmla="*/ 17 h 280"/>
                <a:gd name="T22" fmla="*/ 19 w 426"/>
                <a:gd name="T23" fmla="*/ 18 h 280"/>
                <a:gd name="T24" fmla="*/ 19 w 426"/>
                <a:gd name="T25" fmla="*/ 22 h 280"/>
                <a:gd name="T26" fmla="*/ 17 w 426"/>
                <a:gd name="T27" fmla="*/ 26 h 280"/>
                <a:gd name="T28" fmla="*/ 24 w 426"/>
                <a:gd name="T29" fmla="*/ 26 h 280"/>
                <a:gd name="T30" fmla="*/ 25 w 426"/>
                <a:gd name="T31" fmla="*/ 29 h 280"/>
                <a:gd name="T32" fmla="*/ 28 w 426"/>
                <a:gd name="T33" fmla="*/ 30 h 280"/>
                <a:gd name="T34" fmla="*/ 30 w 426"/>
                <a:gd name="T35" fmla="*/ 31 h 280"/>
                <a:gd name="T36" fmla="*/ 33 w 426"/>
                <a:gd name="T37" fmla="*/ 30 h 280"/>
                <a:gd name="T38" fmla="*/ 37 w 426"/>
                <a:gd name="T39" fmla="*/ 26 h 280"/>
                <a:gd name="T40" fmla="*/ 44 w 426"/>
                <a:gd name="T41" fmla="*/ 34 h 280"/>
                <a:gd name="T42" fmla="*/ 48 w 426"/>
                <a:gd name="T43" fmla="*/ 38 h 280"/>
                <a:gd name="T44" fmla="*/ 48 w 426"/>
                <a:gd name="T45" fmla="*/ 30 h 280"/>
                <a:gd name="T46" fmla="*/ 44 w 426"/>
                <a:gd name="T47" fmla="*/ 27 h 280"/>
                <a:gd name="T48" fmla="*/ 49 w 426"/>
                <a:gd name="T49" fmla="*/ 23 h 280"/>
                <a:gd name="T50" fmla="*/ 54 w 426"/>
                <a:gd name="T51" fmla="*/ 22 h 280"/>
                <a:gd name="T52" fmla="*/ 56 w 426"/>
                <a:gd name="T53" fmla="*/ 21 h 280"/>
                <a:gd name="T54" fmla="*/ 56 w 426"/>
                <a:gd name="T55" fmla="*/ 19 h 280"/>
                <a:gd name="T56" fmla="*/ 47 w 426"/>
                <a:gd name="T57" fmla="*/ 20 h 280"/>
                <a:gd name="T58" fmla="*/ 40 w 426"/>
                <a:gd name="T59" fmla="*/ 19 h 280"/>
                <a:gd name="T60" fmla="*/ 39 w 426"/>
                <a:gd name="T61" fmla="*/ 17 h 280"/>
                <a:gd name="T62" fmla="*/ 39 w 426"/>
                <a:gd name="T63" fmla="*/ 16 h 280"/>
                <a:gd name="T64" fmla="*/ 29 w 426"/>
                <a:gd name="T65" fmla="*/ 11 h 280"/>
                <a:gd name="T66" fmla="*/ 21 w 426"/>
                <a:gd name="T67" fmla="*/ 8 h 280"/>
                <a:gd name="T68" fmla="*/ 18 w 426"/>
                <a:gd name="T69" fmla="*/ 8 h 280"/>
                <a:gd name="T70" fmla="*/ 10 w 426"/>
                <a:gd name="T71" fmla="*/ 8 h 280"/>
                <a:gd name="T72" fmla="*/ 9 w 426"/>
                <a:gd name="T73" fmla="*/ 5 h 280"/>
                <a:gd name="T74" fmla="*/ 9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 w 416"/>
                <a:gd name="T3" fmla="*/ 5 h 282"/>
                <a:gd name="T4" fmla="*/ 4 w 416"/>
                <a:gd name="T5" fmla="*/ 7 h 282"/>
                <a:gd name="T6" fmla="*/ 10 w 416"/>
                <a:gd name="T7" fmla="*/ 12 h 282"/>
                <a:gd name="T8" fmla="*/ 16 w 416"/>
                <a:gd name="T9" fmla="*/ 15 h 282"/>
                <a:gd name="T10" fmla="*/ 17 w 416"/>
                <a:gd name="T11" fmla="*/ 16 h 282"/>
                <a:gd name="T12" fmla="*/ 18 w 416"/>
                <a:gd name="T13" fmla="*/ 22 h 282"/>
                <a:gd name="T14" fmla="*/ 16 w 416"/>
                <a:gd name="T15" fmla="*/ 26 h 282"/>
                <a:gd name="T16" fmla="*/ 18 w 416"/>
                <a:gd name="T17" fmla="*/ 25 h 282"/>
                <a:gd name="T18" fmla="*/ 19 w 416"/>
                <a:gd name="T19" fmla="*/ 25 h 282"/>
                <a:gd name="T20" fmla="*/ 21 w 416"/>
                <a:gd name="T21" fmla="*/ 26 h 282"/>
                <a:gd name="T22" fmla="*/ 24 w 416"/>
                <a:gd name="T23" fmla="*/ 28 h 282"/>
                <a:gd name="T24" fmla="*/ 28 w 416"/>
                <a:gd name="T25" fmla="*/ 31 h 282"/>
                <a:gd name="T26" fmla="*/ 31 w 416"/>
                <a:gd name="T27" fmla="*/ 29 h 282"/>
                <a:gd name="T28" fmla="*/ 32 w 416"/>
                <a:gd name="T29" fmla="*/ 25 h 282"/>
                <a:gd name="T30" fmla="*/ 35 w 416"/>
                <a:gd name="T31" fmla="*/ 26 h 282"/>
                <a:gd name="T32" fmla="*/ 38 w 416"/>
                <a:gd name="T33" fmla="*/ 28 h 282"/>
                <a:gd name="T34" fmla="*/ 44 w 416"/>
                <a:gd name="T35" fmla="*/ 37 h 282"/>
                <a:gd name="T36" fmla="*/ 46 w 416"/>
                <a:gd name="T37" fmla="*/ 37 h 282"/>
                <a:gd name="T38" fmla="*/ 46 w 416"/>
                <a:gd name="T39" fmla="*/ 33 h 282"/>
                <a:gd name="T40" fmla="*/ 41 w 416"/>
                <a:gd name="T41" fmla="*/ 25 h 282"/>
                <a:gd name="T42" fmla="*/ 47 w 416"/>
                <a:gd name="T43" fmla="*/ 23 h 282"/>
                <a:gd name="T44" fmla="*/ 53 w 416"/>
                <a:gd name="T45" fmla="*/ 19 h 282"/>
                <a:gd name="T46" fmla="*/ 54 w 416"/>
                <a:gd name="T47" fmla="*/ 16 h 282"/>
                <a:gd name="T48" fmla="*/ 48 w 416"/>
                <a:gd name="T49" fmla="*/ 18 h 282"/>
                <a:gd name="T50" fmla="*/ 40 w 416"/>
                <a:gd name="T51" fmla="*/ 18 h 282"/>
                <a:gd name="T52" fmla="*/ 34 w 416"/>
                <a:gd name="T53" fmla="*/ 13 h 282"/>
                <a:gd name="T54" fmla="*/ 24 w 416"/>
                <a:gd name="T55" fmla="*/ 7 h 282"/>
                <a:gd name="T56" fmla="*/ 17 w 416"/>
                <a:gd name="T57" fmla="*/ 4 h 282"/>
                <a:gd name="T58" fmla="*/ 12 w 416"/>
                <a:gd name="T59" fmla="*/ 5 h 282"/>
                <a:gd name="T60" fmla="*/ 10 w 416"/>
                <a:gd name="T61" fmla="*/ 7 h 282"/>
                <a:gd name="T62" fmla="*/ 7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5 w 60"/>
                <a:gd name="T1" fmla="*/ 2 h 78"/>
                <a:gd name="T2" fmla="*/ 0 w 60"/>
                <a:gd name="T3" fmla="*/ 2 h 78"/>
                <a:gd name="T4" fmla="*/ 3 w 60"/>
                <a:gd name="T5" fmla="*/ 5 h 78"/>
                <a:gd name="T6" fmla="*/ 4 w 60"/>
                <a:gd name="T7" fmla="*/ 8 h 78"/>
                <a:gd name="T8" fmla="*/ 5 w 60"/>
                <a:gd name="T9" fmla="*/ 10 h 78"/>
                <a:gd name="T10" fmla="*/ 8 w 60"/>
                <a:gd name="T11" fmla="*/ 7 h 78"/>
                <a:gd name="T12" fmla="*/ 5 w 60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5 w 219"/>
                <a:gd name="T1" fmla="*/ 10 h 113"/>
                <a:gd name="T2" fmla="*/ 5 w 219"/>
                <a:gd name="T3" fmla="*/ 8 h 113"/>
                <a:gd name="T4" fmla="*/ 1 w 219"/>
                <a:gd name="T5" fmla="*/ 10 h 113"/>
                <a:gd name="T6" fmla="*/ 5 w 219"/>
                <a:gd name="T7" fmla="*/ 15 h 113"/>
                <a:gd name="T8" fmla="*/ 16 w 219"/>
                <a:gd name="T9" fmla="*/ 13 h 113"/>
                <a:gd name="T10" fmla="*/ 19 w 219"/>
                <a:gd name="T11" fmla="*/ 10 h 113"/>
                <a:gd name="T12" fmla="*/ 22 w 219"/>
                <a:gd name="T13" fmla="*/ 9 h 113"/>
                <a:gd name="T14" fmla="*/ 29 w 219"/>
                <a:gd name="T15" fmla="*/ 3 h 113"/>
                <a:gd name="T16" fmla="*/ 28 w 219"/>
                <a:gd name="T17" fmla="*/ 0 h 113"/>
                <a:gd name="T18" fmla="*/ 23 w 219"/>
                <a:gd name="T19" fmla="*/ 3 h 113"/>
                <a:gd name="T20" fmla="*/ 14 w 219"/>
                <a:gd name="T21" fmla="*/ 6 h 113"/>
                <a:gd name="T22" fmla="*/ 10 w 219"/>
                <a:gd name="T23" fmla="*/ 6 h 113"/>
                <a:gd name="T24" fmla="*/ 7 w 219"/>
                <a:gd name="T25" fmla="*/ 8 h 113"/>
                <a:gd name="T26" fmla="*/ 5 w 219"/>
                <a:gd name="T27" fmla="*/ 1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 w 139"/>
                <a:gd name="T1" fmla="*/ 8 h 122"/>
                <a:gd name="T2" fmla="*/ 1 w 139"/>
                <a:gd name="T3" fmla="*/ 11 h 122"/>
                <a:gd name="T4" fmla="*/ 0 w 139"/>
                <a:gd name="T5" fmla="*/ 15 h 122"/>
                <a:gd name="T6" fmla="*/ 4 w 139"/>
                <a:gd name="T7" fmla="*/ 17 h 122"/>
                <a:gd name="T8" fmla="*/ 7 w 139"/>
                <a:gd name="T9" fmla="*/ 13 h 122"/>
                <a:gd name="T10" fmla="*/ 16 w 139"/>
                <a:gd name="T11" fmla="*/ 10 h 122"/>
                <a:gd name="T12" fmla="*/ 18 w 139"/>
                <a:gd name="T13" fmla="*/ 6 h 122"/>
                <a:gd name="T14" fmla="*/ 14 w 139"/>
                <a:gd name="T15" fmla="*/ 4 h 122"/>
                <a:gd name="T16" fmla="*/ 13 w 139"/>
                <a:gd name="T17" fmla="*/ 3 h 122"/>
                <a:gd name="T18" fmla="*/ 8 w 139"/>
                <a:gd name="T19" fmla="*/ 2 h 122"/>
                <a:gd name="T20" fmla="*/ 7 w 139"/>
                <a:gd name="T21" fmla="*/ 5 h 122"/>
                <a:gd name="T22" fmla="*/ 1 w 139"/>
                <a:gd name="T23" fmla="*/ 8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5 w 49"/>
                <a:gd name="T1" fmla="*/ 0 h 35"/>
                <a:gd name="T2" fmla="*/ 2 w 49"/>
                <a:gd name="T3" fmla="*/ 1 h 35"/>
                <a:gd name="T4" fmla="*/ 4 w 49"/>
                <a:gd name="T5" fmla="*/ 4 h 35"/>
                <a:gd name="T6" fmla="*/ 6 w 49"/>
                <a:gd name="T7" fmla="*/ 3 h 35"/>
                <a:gd name="T8" fmla="*/ 5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7 w 164"/>
                <a:gd name="T1" fmla="*/ 0 h 268"/>
                <a:gd name="T2" fmla="*/ 14 w 164"/>
                <a:gd name="T3" fmla="*/ 4 h 268"/>
                <a:gd name="T4" fmla="*/ 13 w 164"/>
                <a:gd name="T5" fmla="*/ 8 h 268"/>
                <a:gd name="T6" fmla="*/ 5 w 164"/>
                <a:gd name="T7" fmla="*/ 11 h 268"/>
                <a:gd name="T8" fmla="*/ 4 w 164"/>
                <a:gd name="T9" fmla="*/ 13 h 268"/>
                <a:gd name="T10" fmla="*/ 2 w 164"/>
                <a:gd name="T11" fmla="*/ 14 h 268"/>
                <a:gd name="T12" fmla="*/ 3 w 164"/>
                <a:gd name="T13" fmla="*/ 18 h 268"/>
                <a:gd name="T14" fmla="*/ 4 w 164"/>
                <a:gd name="T15" fmla="*/ 22 h 268"/>
                <a:gd name="T16" fmla="*/ 0 w 164"/>
                <a:gd name="T17" fmla="*/ 27 h 268"/>
                <a:gd name="T18" fmla="*/ 4 w 164"/>
                <a:gd name="T19" fmla="*/ 35 h 268"/>
                <a:gd name="T20" fmla="*/ 8 w 164"/>
                <a:gd name="T21" fmla="*/ 36 h 268"/>
                <a:gd name="T22" fmla="*/ 13 w 164"/>
                <a:gd name="T23" fmla="*/ 29 h 268"/>
                <a:gd name="T24" fmla="*/ 14 w 164"/>
                <a:gd name="T25" fmla="*/ 26 h 268"/>
                <a:gd name="T26" fmla="*/ 17 w 164"/>
                <a:gd name="T27" fmla="*/ 16 h 268"/>
                <a:gd name="T28" fmla="*/ 19 w 164"/>
                <a:gd name="T29" fmla="*/ 11 h 268"/>
                <a:gd name="T30" fmla="*/ 22 w 164"/>
                <a:gd name="T31" fmla="*/ 10 h 268"/>
                <a:gd name="T32" fmla="*/ 17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4 w 66"/>
                <a:gd name="T1" fmla="*/ 0 h 81"/>
                <a:gd name="T2" fmla="*/ 3 w 66"/>
                <a:gd name="T3" fmla="*/ 8 h 81"/>
                <a:gd name="T4" fmla="*/ 4 w 66"/>
                <a:gd name="T5" fmla="*/ 11 h 81"/>
                <a:gd name="T6" fmla="*/ 5 w 66"/>
                <a:gd name="T7" fmla="*/ 11 h 81"/>
                <a:gd name="T8" fmla="*/ 7 w 66"/>
                <a:gd name="T9" fmla="*/ 11 h 81"/>
                <a:gd name="T10" fmla="*/ 4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13 w 148"/>
                <a:gd name="T1" fmla="*/ 0 h 244"/>
                <a:gd name="T2" fmla="*/ 8 w 148"/>
                <a:gd name="T3" fmla="*/ 11 h 244"/>
                <a:gd name="T4" fmla="*/ 5 w 148"/>
                <a:gd name="T5" fmla="*/ 13 h 244"/>
                <a:gd name="T6" fmla="*/ 2 w 148"/>
                <a:gd name="T7" fmla="*/ 15 h 244"/>
                <a:gd name="T8" fmla="*/ 6 w 148"/>
                <a:gd name="T9" fmla="*/ 26 h 244"/>
                <a:gd name="T10" fmla="*/ 8 w 148"/>
                <a:gd name="T11" fmla="*/ 30 h 244"/>
                <a:gd name="T12" fmla="*/ 8 w 148"/>
                <a:gd name="T13" fmla="*/ 32 h 244"/>
                <a:gd name="T14" fmla="*/ 11 w 148"/>
                <a:gd name="T15" fmla="*/ 33 h 244"/>
                <a:gd name="T16" fmla="*/ 13 w 148"/>
                <a:gd name="T17" fmla="*/ 26 h 244"/>
                <a:gd name="T18" fmla="*/ 17 w 148"/>
                <a:gd name="T19" fmla="*/ 23 h 244"/>
                <a:gd name="T20" fmla="*/ 15 w 148"/>
                <a:gd name="T21" fmla="*/ 10 h 244"/>
                <a:gd name="T22" fmla="*/ 19 w 148"/>
                <a:gd name="T23" fmla="*/ 6 h 244"/>
                <a:gd name="T24" fmla="*/ 15 w 148"/>
                <a:gd name="T25" fmla="*/ 3 h 244"/>
                <a:gd name="T26" fmla="*/ 13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6 w 96"/>
                <a:gd name="T1" fmla="*/ 1 h 183"/>
                <a:gd name="T2" fmla="*/ 8 w 96"/>
                <a:gd name="T3" fmla="*/ 4 h 183"/>
                <a:gd name="T4" fmla="*/ 8 w 96"/>
                <a:gd name="T5" fmla="*/ 7 h 183"/>
                <a:gd name="T6" fmla="*/ 8 w 96"/>
                <a:gd name="T7" fmla="*/ 12 h 183"/>
                <a:gd name="T8" fmla="*/ 10 w 96"/>
                <a:gd name="T9" fmla="*/ 14 h 183"/>
                <a:gd name="T10" fmla="*/ 10 w 96"/>
                <a:gd name="T11" fmla="*/ 16 h 183"/>
                <a:gd name="T12" fmla="*/ 8 w 96"/>
                <a:gd name="T13" fmla="*/ 12 h 183"/>
                <a:gd name="T14" fmla="*/ 5 w 96"/>
                <a:gd name="T15" fmla="*/ 10 h 183"/>
                <a:gd name="T16" fmla="*/ 2 w 96"/>
                <a:gd name="T17" fmla="*/ 10 h 183"/>
                <a:gd name="T18" fmla="*/ 2 w 96"/>
                <a:gd name="T19" fmla="*/ 13 h 183"/>
                <a:gd name="T20" fmla="*/ 6 w 96"/>
                <a:gd name="T21" fmla="*/ 15 h 183"/>
                <a:gd name="T22" fmla="*/ 8 w 96"/>
                <a:gd name="T23" fmla="*/ 18 h 183"/>
                <a:gd name="T24" fmla="*/ 10 w 96"/>
                <a:gd name="T25" fmla="*/ 18 h 183"/>
                <a:gd name="T26" fmla="*/ 11 w 96"/>
                <a:gd name="T27" fmla="*/ 19 h 183"/>
                <a:gd name="T28" fmla="*/ 13 w 96"/>
                <a:gd name="T29" fmla="*/ 23 h 183"/>
                <a:gd name="T30" fmla="*/ 11 w 96"/>
                <a:gd name="T31" fmla="*/ 16 h 183"/>
                <a:gd name="T32" fmla="*/ 11 w 96"/>
                <a:gd name="T33" fmla="*/ 12 h 183"/>
                <a:gd name="T34" fmla="*/ 10 w 96"/>
                <a:gd name="T35" fmla="*/ 7 h 183"/>
                <a:gd name="T36" fmla="*/ 8 w 96"/>
                <a:gd name="T37" fmla="*/ 5 h 183"/>
                <a:gd name="T38" fmla="*/ 8 w 96"/>
                <a:gd name="T39" fmla="*/ 2 h 183"/>
                <a:gd name="T40" fmla="*/ 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3 h 175"/>
                <a:gd name="T4" fmla="*/ 1 w 54"/>
                <a:gd name="T5" fmla="*/ 7 h 175"/>
                <a:gd name="T6" fmla="*/ 2 w 54"/>
                <a:gd name="T7" fmla="*/ 12 h 175"/>
                <a:gd name="T8" fmla="*/ 4 w 54"/>
                <a:gd name="T9" fmla="*/ 17 h 175"/>
                <a:gd name="T10" fmla="*/ 7 w 54"/>
                <a:gd name="T11" fmla="*/ 23 h 175"/>
                <a:gd name="T12" fmla="*/ 5 w 54"/>
                <a:gd name="T13" fmla="*/ 15 h 175"/>
                <a:gd name="T14" fmla="*/ 4 w 54"/>
                <a:gd name="T15" fmla="*/ 12 h 175"/>
                <a:gd name="T16" fmla="*/ 4 w 54"/>
                <a:gd name="T17" fmla="*/ 7 h 175"/>
                <a:gd name="T18" fmla="*/ 3 w 54"/>
                <a:gd name="T19" fmla="*/ 5 h 175"/>
                <a:gd name="T20" fmla="*/ 2 w 54"/>
                <a:gd name="T21" fmla="*/ 5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4 h 73"/>
                <a:gd name="T4" fmla="*/ 4 w 86"/>
                <a:gd name="T5" fmla="*/ 5 h 73"/>
                <a:gd name="T6" fmla="*/ 6 w 86"/>
                <a:gd name="T7" fmla="*/ 6 h 73"/>
                <a:gd name="T8" fmla="*/ 8 w 86"/>
                <a:gd name="T9" fmla="*/ 7 h 73"/>
                <a:gd name="T10" fmla="*/ 11 w 86"/>
                <a:gd name="T11" fmla="*/ 8 h 73"/>
                <a:gd name="T12" fmla="*/ 12 w 86"/>
                <a:gd name="T13" fmla="*/ 9 h 73"/>
                <a:gd name="T14" fmla="*/ 10 w 86"/>
                <a:gd name="T15" fmla="*/ 5 h 73"/>
                <a:gd name="T16" fmla="*/ 8 w 86"/>
                <a:gd name="T17" fmla="*/ 3 h 73"/>
                <a:gd name="T18" fmla="*/ 5 w 86"/>
                <a:gd name="T19" fmla="*/ 3 h 73"/>
                <a:gd name="T20" fmla="*/ 4 w 86"/>
                <a:gd name="T21" fmla="*/ 2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13 w 111"/>
                <a:gd name="T1" fmla="*/ 0 h 156"/>
                <a:gd name="T2" fmla="*/ 10 w 111"/>
                <a:gd name="T3" fmla="*/ 2 h 156"/>
                <a:gd name="T4" fmla="*/ 3 w 111"/>
                <a:gd name="T5" fmla="*/ 2 h 156"/>
                <a:gd name="T6" fmla="*/ 1 w 111"/>
                <a:gd name="T7" fmla="*/ 5 h 156"/>
                <a:gd name="T8" fmla="*/ 1 w 111"/>
                <a:gd name="T9" fmla="*/ 8 h 156"/>
                <a:gd name="T10" fmla="*/ 1 w 111"/>
                <a:gd name="T11" fmla="*/ 11 h 156"/>
                <a:gd name="T12" fmla="*/ 1 w 111"/>
                <a:gd name="T13" fmla="*/ 13 h 156"/>
                <a:gd name="T14" fmla="*/ 1 w 111"/>
                <a:gd name="T15" fmla="*/ 15 h 156"/>
                <a:gd name="T16" fmla="*/ 3 w 111"/>
                <a:gd name="T17" fmla="*/ 17 h 156"/>
                <a:gd name="T18" fmla="*/ 1 w 111"/>
                <a:gd name="T19" fmla="*/ 20 h 156"/>
                <a:gd name="T20" fmla="*/ 3 w 111"/>
                <a:gd name="T21" fmla="*/ 22 h 156"/>
                <a:gd name="T22" fmla="*/ 5 w 111"/>
                <a:gd name="T23" fmla="*/ 20 h 156"/>
                <a:gd name="T24" fmla="*/ 7 w 111"/>
                <a:gd name="T25" fmla="*/ 13 h 156"/>
                <a:gd name="T26" fmla="*/ 7 w 111"/>
                <a:gd name="T27" fmla="*/ 17 h 156"/>
                <a:gd name="T28" fmla="*/ 9 w 111"/>
                <a:gd name="T29" fmla="*/ 20 h 156"/>
                <a:gd name="T30" fmla="*/ 7 w 111"/>
                <a:gd name="T31" fmla="*/ 15 h 156"/>
                <a:gd name="T32" fmla="*/ 9 w 111"/>
                <a:gd name="T33" fmla="*/ 10 h 156"/>
                <a:gd name="T34" fmla="*/ 9 w 111"/>
                <a:gd name="T35" fmla="*/ 8 h 156"/>
                <a:gd name="T36" fmla="*/ 7 w 111"/>
                <a:gd name="T37" fmla="*/ 8 h 156"/>
                <a:gd name="T38" fmla="*/ 4 w 111"/>
                <a:gd name="T39" fmla="*/ 8 h 156"/>
                <a:gd name="T40" fmla="*/ 5 w 111"/>
                <a:gd name="T41" fmla="*/ 5 h 156"/>
                <a:gd name="T42" fmla="*/ 7 w 111"/>
                <a:gd name="T43" fmla="*/ 5 h 156"/>
                <a:gd name="T44" fmla="*/ 10 w 111"/>
                <a:gd name="T45" fmla="*/ 6 h 156"/>
                <a:gd name="T46" fmla="*/ 13 w 111"/>
                <a:gd name="T47" fmla="*/ 5 h 156"/>
                <a:gd name="T48" fmla="*/ 14 w 111"/>
                <a:gd name="T49" fmla="*/ 2 h 156"/>
                <a:gd name="T50" fmla="*/ 1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2 h 94"/>
                <a:gd name="T4" fmla="*/ 1 w 30"/>
                <a:gd name="T5" fmla="*/ 5 h 94"/>
                <a:gd name="T6" fmla="*/ 1 w 30"/>
                <a:gd name="T7" fmla="*/ 8 h 94"/>
                <a:gd name="T8" fmla="*/ 2 w 30"/>
                <a:gd name="T9" fmla="*/ 13 h 94"/>
                <a:gd name="T10" fmla="*/ 4 w 30"/>
                <a:gd name="T11" fmla="*/ 11 h 94"/>
                <a:gd name="T12" fmla="*/ 3 w 30"/>
                <a:gd name="T13" fmla="*/ 8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2 h 158"/>
                <a:gd name="T4" fmla="*/ 2 w 81"/>
                <a:gd name="T5" fmla="*/ 7 h 158"/>
                <a:gd name="T6" fmla="*/ 2 w 81"/>
                <a:gd name="T7" fmla="*/ 14 h 158"/>
                <a:gd name="T8" fmla="*/ 3 w 81"/>
                <a:gd name="T9" fmla="*/ 13 h 158"/>
                <a:gd name="T10" fmla="*/ 3 w 81"/>
                <a:gd name="T11" fmla="*/ 15 h 158"/>
                <a:gd name="T12" fmla="*/ 5 w 81"/>
                <a:gd name="T13" fmla="*/ 16 h 158"/>
                <a:gd name="T14" fmla="*/ 6 w 81"/>
                <a:gd name="T15" fmla="*/ 18 h 158"/>
                <a:gd name="T16" fmla="*/ 6 w 81"/>
                <a:gd name="T17" fmla="*/ 16 h 158"/>
                <a:gd name="T18" fmla="*/ 9 w 81"/>
                <a:gd name="T19" fmla="*/ 17 h 158"/>
                <a:gd name="T20" fmla="*/ 8 w 81"/>
                <a:gd name="T21" fmla="*/ 14 h 158"/>
                <a:gd name="T22" fmla="*/ 6 w 81"/>
                <a:gd name="T23" fmla="*/ 13 h 158"/>
                <a:gd name="T24" fmla="*/ 6 w 81"/>
                <a:gd name="T25" fmla="*/ 12 h 158"/>
                <a:gd name="T26" fmla="*/ 5 w 81"/>
                <a:gd name="T27" fmla="*/ 10 h 158"/>
                <a:gd name="T28" fmla="*/ 6 w 81"/>
                <a:gd name="T29" fmla="*/ 7 h 158"/>
                <a:gd name="T30" fmla="*/ 5 w 81"/>
                <a:gd name="T31" fmla="*/ 4 h 158"/>
                <a:gd name="T32" fmla="*/ 6 w 81"/>
                <a:gd name="T33" fmla="*/ 2 h 158"/>
                <a:gd name="T34" fmla="*/ 5 w 81"/>
                <a:gd name="T35" fmla="*/ 1 h 158"/>
                <a:gd name="T36" fmla="*/ 3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8 w 85"/>
                <a:gd name="T1" fmla="*/ 0 h 105"/>
                <a:gd name="T2" fmla="*/ 6 w 85"/>
                <a:gd name="T3" fmla="*/ 3 h 105"/>
                <a:gd name="T4" fmla="*/ 5 w 85"/>
                <a:gd name="T5" fmla="*/ 5 h 105"/>
                <a:gd name="T6" fmla="*/ 2 w 85"/>
                <a:gd name="T7" fmla="*/ 5 h 105"/>
                <a:gd name="T8" fmla="*/ 2 w 85"/>
                <a:gd name="T9" fmla="*/ 6 h 105"/>
                <a:gd name="T10" fmla="*/ 2 w 85"/>
                <a:gd name="T11" fmla="*/ 11 h 105"/>
                <a:gd name="T12" fmla="*/ 2 w 85"/>
                <a:gd name="T13" fmla="*/ 10 h 105"/>
                <a:gd name="T14" fmla="*/ 4 w 85"/>
                <a:gd name="T15" fmla="*/ 8 h 105"/>
                <a:gd name="T16" fmla="*/ 5 w 85"/>
                <a:gd name="T17" fmla="*/ 10 h 105"/>
                <a:gd name="T18" fmla="*/ 8 w 85"/>
                <a:gd name="T19" fmla="*/ 14 h 105"/>
                <a:gd name="T20" fmla="*/ 10 w 85"/>
                <a:gd name="T21" fmla="*/ 10 h 105"/>
                <a:gd name="T22" fmla="*/ 11 w 85"/>
                <a:gd name="T23" fmla="*/ 10 h 105"/>
                <a:gd name="T24" fmla="*/ 11 w 85"/>
                <a:gd name="T25" fmla="*/ 6 h 105"/>
                <a:gd name="T26" fmla="*/ 8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2 w 38"/>
                <a:gd name="T1" fmla="*/ 3 h 66"/>
                <a:gd name="T2" fmla="*/ 4 w 38"/>
                <a:gd name="T3" fmla="*/ 8 h 66"/>
                <a:gd name="T4" fmla="*/ 5 w 38"/>
                <a:gd name="T5" fmla="*/ 7 h 66"/>
                <a:gd name="T6" fmla="*/ 6 w 38"/>
                <a:gd name="T7" fmla="*/ 5 h 66"/>
                <a:gd name="T8" fmla="*/ 5 w 38"/>
                <a:gd name="T9" fmla="*/ 3 h 66"/>
                <a:gd name="T10" fmla="*/ 3 w 38"/>
                <a:gd name="T11" fmla="*/ 1 h 66"/>
                <a:gd name="T12" fmla="*/ 2 w 38"/>
                <a:gd name="T13" fmla="*/ 1 h 66"/>
                <a:gd name="T14" fmla="*/ 2 w 38"/>
                <a:gd name="T15" fmla="*/ 1 h 66"/>
                <a:gd name="T16" fmla="*/ 2 w 38"/>
                <a:gd name="T17" fmla="*/ 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3 h 23"/>
                <a:gd name="T4" fmla="*/ 4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3 h 49"/>
                <a:gd name="T4" fmla="*/ 4 w 60"/>
                <a:gd name="T5" fmla="*/ 5 h 49"/>
                <a:gd name="T6" fmla="*/ 6 w 60"/>
                <a:gd name="T7" fmla="*/ 6 h 49"/>
                <a:gd name="T8" fmla="*/ 8 w 60"/>
                <a:gd name="T9" fmla="*/ 6 h 49"/>
                <a:gd name="T10" fmla="*/ 7 w 60"/>
                <a:gd name="T11" fmla="*/ 4 h 49"/>
                <a:gd name="T12" fmla="*/ 4 w 60"/>
                <a:gd name="T13" fmla="*/ 2 h 49"/>
                <a:gd name="T14" fmla="*/ 3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4 w 61"/>
                <a:gd name="T5" fmla="*/ 4 h 63"/>
                <a:gd name="T6" fmla="*/ 5 w 61"/>
                <a:gd name="T7" fmla="*/ 7 h 63"/>
                <a:gd name="T8" fmla="*/ 6 w 61"/>
                <a:gd name="T9" fmla="*/ 7 h 63"/>
                <a:gd name="T10" fmla="*/ 8 w 61"/>
                <a:gd name="T11" fmla="*/ 7 h 63"/>
                <a:gd name="T12" fmla="*/ 5 w 61"/>
                <a:gd name="T13" fmla="*/ 2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4 w 61"/>
                <a:gd name="T1" fmla="*/ 1 h 67"/>
                <a:gd name="T2" fmla="*/ 5 w 61"/>
                <a:gd name="T3" fmla="*/ 4 h 67"/>
                <a:gd name="T4" fmla="*/ 2 w 61"/>
                <a:gd name="T5" fmla="*/ 5 h 67"/>
                <a:gd name="T6" fmla="*/ 4 w 61"/>
                <a:gd name="T7" fmla="*/ 9 h 67"/>
                <a:gd name="T8" fmla="*/ 6 w 61"/>
                <a:gd name="T9" fmla="*/ 7 h 67"/>
                <a:gd name="T10" fmla="*/ 8 w 61"/>
                <a:gd name="T11" fmla="*/ 5 h 67"/>
                <a:gd name="T12" fmla="*/ 8 w 61"/>
                <a:gd name="T13" fmla="*/ 4 h 67"/>
                <a:gd name="T14" fmla="*/ 8 w 61"/>
                <a:gd name="T15" fmla="*/ 1 h 67"/>
                <a:gd name="T16" fmla="*/ 8 w 61"/>
                <a:gd name="T17" fmla="*/ 1 h 67"/>
                <a:gd name="T18" fmla="*/ 6 w 61"/>
                <a:gd name="T19" fmla="*/ 1 h 67"/>
                <a:gd name="T20" fmla="*/ 8 w 61"/>
                <a:gd name="T21" fmla="*/ 1 h 67"/>
                <a:gd name="T22" fmla="*/ 7 w 61"/>
                <a:gd name="T23" fmla="*/ 2 h 67"/>
                <a:gd name="T24" fmla="*/ 6 w 61"/>
                <a:gd name="T25" fmla="*/ 3 h 67"/>
                <a:gd name="T26" fmla="*/ 4 w 61"/>
                <a:gd name="T27" fmla="*/ 1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3 w 43"/>
                <a:gd name="T1" fmla="*/ 2 h 36"/>
                <a:gd name="T2" fmla="*/ 1 w 43"/>
                <a:gd name="T3" fmla="*/ 2 h 36"/>
                <a:gd name="T4" fmla="*/ 4 w 43"/>
                <a:gd name="T5" fmla="*/ 5 h 36"/>
                <a:gd name="T6" fmla="*/ 5 w 43"/>
                <a:gd name="T7" fmla="*/ 5 h 36"/>
                <a:gd name="T8" fmla="*/ 3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3 w 32"/>
                <a:gd name="T1" fmla="*/ 0 h 41"/>
                <a:gd name="T2" fmla="*/ 0 w 32"/>
                <a:gd name="T3" fmla="*/ 4 h 41"/>
                <a:gd name="T4" fmla="*/ 2 w 32"/>
                <a:gd name="T5" fmla="*/ 4 h 41"/>
                <a:gd name="T6" fmla="*/ 3 w 32"/>
                <a:gd name="T7" fmla="*/ 5 h 41"/>
                <a:gd name="T8" fmla="*/ 2 w 32"/>
                <a:gd name="T9" fmla="*/ 5 h 41"/>
                <a:gd name="T10" fmla="*/ 5 w 32"/>
                <a:gd name="T11" fmla="*/ 3 h 41"/>
                <a:gd name="T12" fmla="*/ 4 w 32"/>
                <a:gd name="T13" fmla="*/ 2 h 41"/>
                <a:gd name="T14" fmla="*/ 3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3 w 45"/>
                <a:gd name="T1" fmla="*/ 0 h 32"/>
                <a:gd name="T2" fmla="*/ 0 w 45"/>
                <a:gd name="T3" fmla="*/ 2 h 32"/>
                <a:gd name="T4" fmla="*/ 4 w 45"/>
                <a:gd name="T5" fmla="*/ 5 h 32"/>
                <a:gd name="T6" fmla="*/ 6 w 45"/>
                <a:gd name="T7" fmla="*/ 4 h 32"/>
                <a:gd name="T8" fmla="*/ 4 w 45"/>
                <a:gd name="T9" fmla="*/ 2 h 32"/>
                <a:gd name="T10" fmla="*/ 3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5 w 35"/>
                <a:gd name="T1" fmla="*/ 0 h 74"/>
                <a:gd name="T2" fmla="*/ 3 w 35"/>
                <a:gd name="T3" fmla="*/ 1 h 74"/>
                <a:gd name="T4" fmla="*/ 2 w 35"/>
                <a:gd name="T5" fmla="*/ 4 h 74"/>
                <a:gd name="T6" fmla="*/ 0 w 35"/>
                <a:gd name="T7" fmla="*/ 7 h 74"/>
                <a:gd name="T8" fmla="*/ 2 w 35"/>
                <a:gd name="T9" fmla="*/ 9 h 74"/>
                <a:gd name="T10" fmla="*/ 3 w 35"/>
                <a:gd name="T11" fmla="*/ 7 h 74"/>
                <a:gd name="T12" fmla="*/ 5 w 35"/>
                <a:gd name="T13" fmla="*/ 4 h 74"/>
                <a:gd name="T14" fmla="*/ 5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4 h 73"/>
                <a:gd name="T6" fmla="*/ 2 w 25"/>
                <a:gd name="T7" fmla="*/ 6 h 73"/>
                <a:gd name="T8" fmla="*/ 4 w 25"/>
                <a:gd name="T9" fmla="*/ 8 h 73"/>
                <a:gd name="T10" fmla="*/ 2 w 25"/>
                <a:gd name="T11" fmla="*/ 3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4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2 h 64"/>
                <a:gd name="T4" fmla="*/ 3 w 28"/>
                <a:gd name="T5" fmla="*/ 3 h 64"/>
                <a:gd name="T6" fmla="*/ 2 w 28"/>
                <a:gd name="T7" fmla="*/ 6 h 64"/>
                <a:gd name="T8" fmla="*/ 0 w 28"/>
                <a:gd name="T9" fmla="*/ 8 h 64"/>
                <a:gd name="T10" fmla="*/ 2 w 28"/>
                <a:gd name="T11" fmla="*/ 8 h 64"/>
                <a:gd name="T12" fmla="*/ 4 w 28"/>
                <a:gd name="T13" fmla="*/ 4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4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2 w 16"/>
                <a:gd name="T1" fmla="*/ 1 h 19"/>
                <a:gd name="T2" fmla="*/ 0 w 16"/>
                <a:gd name="T3" fmla="*/ 1 h 19"/>
                <a:gd name="T4" fmla="*/ 2 w 16"/>
                <a:gd name="T5" fmla="*/ 2 h 19"/>
                <a:gd name="T6" fmla="*/ 2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2 w 22"/>
                <a:gd name="T3" fmla="*/ 2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2 h 81"/>
                <a:gd name="T4" fmla="*/ 2 w 60"/>
                <a:gd name="T5" fmla="*/ 5 h 81"/>
                <a:gd name="T6" fmla="*/ 4 w 60"/>
                <a:gd name="T7" fmla="*/ 7 h 81"/>
                <a:gd name="T8" fmla="*/ 6 w 60"/>
                <a:gd name="T9" fmla="*/ 7 h 81"/>
                <a:gd name="T10" fmla="*/ 8 w 60"/>
                <a:gd name="T11" fmla="*/ 10 h 81"/>
                <a:gd name="T12" fmla="*/ 8 w 60"/>
                <a:gd name="T13" fmla="*/ 7 h 81"/>
                <a:gd name="T14" fmla="*/ 6 w 60"/>
                <a:gd name="T15" fmla="*/ 4 h 81"/>
                <a:gd name="T16" fmla="*/ 4 w 60"/>
                <a:gd name="T17" fmla="*/ 2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4 w 71"/>
                <a:gd name="T1" fmla="*/ 4 h 61"/>
                <a:gd name="T2" fmla="*/ 1 w 71"/>
                <a:gd name="T3" fmla="*/ 5 h 61"/>
                <a:gd name="T4" fmla="*/ 1 w 71"/>
                <a:gd name="T5" fmla="*/ 6 h 61"/>
                <a:gd name="T6" fmla="*/ 1 w 71"/>
                <a:gd name="T7" fmla="*/ 8 h 61"/>
                <a:gd name="T8" fmla="*/ 4 w 71"/>
                <a:gd name="T9" fmla="*/ 6 h 61"/>
                <a:gd name="T10" fmla="*/ 5 w 71"/>
                <a:gd name="T11" fmla="*/ 4 h 61"/>
                <a:gd name="T12" fmla="*/ 7 w 71"/>
                <a:gd name="T13" fmla="*/ 0 h 61"/>
                <a:gd name="T14" fmla="*/ 9 w 71"/>
                <a:gd name="T15" fmla="*/ 2 h 61"/>
                <a:gd name="T16" fmla="*/ 4 w 71"/>
                <a:gd name="T17" fmla="*/ 4 h 61"/>
                <a:gd name="T18" fmla="*/ 4 w 71"/>
                <a:gd name="T19" fmla="*/ 4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5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3 w 26"/>
                <a:gd name="T1" fmla="*/ 0 h 23"/>
                <a:gd name="T2" fmla="*/ 0 w 26"/>
                <a:gd name="T3" fmla="*/ 1 h 23"/>
                <a:gd name="T4" fmla="*/ 3 w 26"/>
                <a:gd name="T5" fmla="*/ 2 h 23"/>
                <a:gd name="T6" fmla="*/ 3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5 w 34"/>
                <a:gd name="T1" fmla="*/ 0 h 44"/>
                <a:gd name="T2" fmla="*/ 2 w 34"/>
                <a:gd name="T3" fmla="*/ 2 h 44"/>
                <a:gd name="T4" fmla="*/ 2 w 34"/>
                <a:gd name="T5" fmla="*/ 5 h 44"/>
                <a:gd name="T6" fmla="*/ 4 w 34"/>
                <a:gd name="T7" fmla="*/ 5 h 44"/>
                <a:gd name="T8" fmla="*/ 5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4 w 38"/>
                <a:gd name="T1" fmla="*/ 2 h 37"/>
                <a:gd name="T2" fmla="*/ 1 w 38"/>
                <a:gd name="T3" fmla="*/ 2 h 37"/>
                <a:gd name="T4" fmla="*/ 1 w 38"/>
                <a:gd name="T5" fmla="*/ 4 h 37"/>
                <a:gd name="T6" fmla="*/ 3 w 38"/>
                <a:gd name="T7" fmla="*/ 5 h 37"/>
                <a:gd name="T8" fmla="*/ 4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4 w 38"/>
                <a:gd name="T1" fmla="*/ 2 h 34"/>
                <a:gd name="T2" fmla="*/ 1 w 38"/>
                <a:gd name="T3" fmla="*/ 2 h 34"/>
                <a:gd name="T4" fmla="*/ 2 w 38"/>
                <a:gd name="T5" fmla="*/ 4 h 34"/>
                <a:gd name="T6" fmla="*/ 3 w 38"/>
                <a:gd name="T7" fmla="*/ 4 h 34"/>
                <a:gd name="T8" fmla="*/ 4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4 w 35"/>
                <a:gd name="T1" fmla="*/ 1 h 27"/>
                <a:gd name="T2" fmla="*/ 1 w 35"/>
                <a:gd name="T3" fmla="*/ 1 h 27"/>
                <a:gd name="T4" fmla="*/ 1 w 35"/>
                <a:gd name="T5" fmla="*/ 1 h 27"/>
                <a:gd name="T6" fmla="*/ 3 w 35"/>
                <a:gd name="T7" fmla="*/ 2 h 27"/>
                <a:gd name="T8" fmla="*/ 4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4 w 35"/>
                <a:gd name="T1" fmla="*/ 2 h 47"/>
                <a:gd name="T2" fmla="*/ 2 w 35"/>
                <a:gd name="T3" fmla="*/ 1 h 47"/>
                <a:gd name="T4" fmla="*/ 1 w 35"/>
                <a:gd name="T5" fmla="*/ 3 h 47"/>
                <a:gd name="T6" fmla="*/ 2 w 35"/>
                <a:gd name="T7" fmla="*/ 4 h 47"/>
                <a:gd name="T8" fmla="*/ 3 w 35"/>
                <a:gd name="T9" fmla="*/ 4 h 47"/>
                <a:gd name="T10" fmla="*/ 4 w 35"/>
                <a:gd name="T11" fmla="*/ 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22 w 189"/>
                <a:gd name="T1" fmla="*/ 2 h 144"/>
                <a:gd name="T2" fmla="*/ 24 w 189"/>
                <a:gd name="T3" fmla="*/ 2 h 144"/>
                <a:gd name="T4" fmla="*/ 24 w 189"/>
                <a:gd name="T5" fmla="*/ 2 h 144"/>
                <a:gd name="T6" fmla="*/ 24 w 189"/>
                <a:gd name="T7" fmla="*/ 4 h 144"/>
                <a:gd name="T8" fmla="*/ 16 w 189"/>
                <a:gd name="T9" fmla="*/ 6 h 144"/>
                <a:gd name="T10" fmla="*/ 14 w 189"/>
                <a:gd name="T11" fmla="*/ 8 h 144"/>
                <a:gd name="T12" fmla="*/ 12 w 189"/>
                <a:gd name="T13" fmla="*/ 8 h 144"/>
                <a:gd name="T14" fmla="*/ 9 w 189"/>
                <a:gd name="T15" fmla="*/ 11 h 144"/>
                <a:gd name="T16" fmla="*/ 10 w 189"/>
                <a:gd name="T17" fmla="*/ 13 h 144"/>
                <a:gd name="T18" fmla="*/ 10 w 189"/>
                <a:gd name="T19" fmla="*/ 16 h 144"/>
                <a:gd name="T20" fmla="*/ 14 w 189"/>
                <a:gd name="T21" fmla="*/ 17 h 144"/>
                <a:gd name="T22" fmla="*/ 12 w 189"/>
                <a:gd name="T23" fmla="*/ 19 h 144"/>
                <a:gd name="T24" fmla="*/ 10 w 189"/>
                <a:gd name="T25" fmla="*/ 18 h 144"/>
                <a:gd name="T26" fmla="*/ 9 w 189"/>
                <a:gd name="T27" fmla="*/ 18 h 144"/>
                <a:gd name="T28" fmla="*/ 3 w 189"/>
                <a:gd name="T29" fmla="*/ 17 h 144"/>
                <a:gd name="T30" fmla="*/ 2 w 189"/>
                <a:gd name="T31" fmla="*/ 15 h 144"/>
                <a:gd name="T32" fmla="*/ 5 w 189"/>
                <a:gd name="T33" fmla="*/ 13 h 144"/>
                <a:gd name="T34" fmla="*/ 7 w 189"/>
                <a:gd name="T35" fmla="*/ 11 h 144"/>
                <a:gd name="T36" fmla="*/ 5 w 189"/>
                <a:gd name="T37" fmla="*/ 8 h 144"/>
                <a:gd name="T38" fmla="*/ 9 w 189"/>
                <a:gd name="T39" fmla="*/ 6 h 144"/>
                <a:gd name="T40" fmla="*/ 12 w 189"/>
                <a:gd name="T41" fmla="*/ 5 h 144"/>
                <a:gd name="T42" fmla="*/ 14 w 189"/>
                <a:gd name="T43" fmla="*/ 4 h 144"/>
                <a:gd name="T44" fmla="*/ 22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4 w 53"/>
                <a:gd name="T1" fmla="*/ 0 h 17"/>
                <a:gd name="T2" fmla="*/ 2 w 53"/>
                <a:gd name="T3" fmla="*/ 1 h 17"/>
                <a:gd name="T4" fmla="*/ 5 w 53"/>
                <a:gd name="T5" fmla="*/ 1 h 17"/>
                <a:gd name="T6" fmla="*/ 6 w 53"/>
                <a:gd name="T7" fmla="*/ 1 h 17"/>
                <a:gd name="T8" fmla="*/ 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7 w 57"/>
                <a:gd name="T1" fmla="*/ 2 h 37"/>
                <a:gd name="T2" fmla="*/ 3 w 57"/>
                <a:gd name="T3" fmla="*/ 4 h 37"/>
                <a:gd name="T4" fmla="*/ 1 w 57"/>
                <a:gd name="T5" fmla="*/ 5 h 37"/>
                <a:gd name="T6" fmla="*/ 1 w 57"/>
                <a:gd name="T7" fmla="*/ 2 h 37"/>
                <a:gd name="T8" fmla="*/ 2 w 57"/>
                <a:gd name="T9" fmla="*/ 0 h 37"/>
                <a:gd name="T10" fmla="*/ 7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3 w 68"/>
                <a:gd name="T1" fmla="*/ 0 h 26"/>
                <a:gd name="T2" fmla="*/ 1 w 68"/>
                <a:gd name="T3" fmla="*/ 2 h 26"/>
                <a:gd name="T4" fmla="*/ 7 w 68"/>
                <a:gd name="T5" fmla="*/ 4 h 26"/>
                <a:gd name="T6" fmla="*/ 7 w 68"/>
                <a:gd name="T7" fmla="*/ 4 h 26"/>
                <a:gd name="T8" fmla="*/ 3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8 w 66"/>
                <a:gd name="T1" fmla="*/ 1 h 43"/>
                <a:gd name="T2" fmla="*/ 4 w 66"/>
                <a:gd name="T3" fmla="*/ 1 h 43"/>
                <a:gd name="T4" fmla="*/ 2 w 66"/>
                <a:gd name="T5" fmla="*/ 1 h 43"/>
                <a:gd name="T6" fmla="*/ 2 w 66"/>
                <a:gd name="T7" fmla="*/ 4 h 43"/>
                <a:gd name="T8" fmla="*/ 5 w 66"/>
                <a:gd name="T9" fmla="*/ 5 h 43"/>
                <a:gd name="T10" fmla="*/ 8 w 66"/>
                <a:gd name="T11" fmla="*/ 3 h 43"/>
                <a:gd name="T12" fmla="*/ 8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8 w 117"/>
                <a:gd name="T5" fmla="*/ 5 h 41"/>
                <a:gd name="T6" fmla="*/ 11 w 117"/>
                <a:gd name="T7" fmla="*/ 5 h 41"/>
                <a:gd name="T8" fmla="*/ 15 w 117"/>
                <a:gd name="T9" fmla="*/ 4 h 41"/>
                <a:gd name="T10" fmla="*/ 11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4 w 62"/>
                <a:gd name="T1" fmla="*/ 2 h 32"/>
                <a:gd name="T2" fmla="*/ 7 w 62"/>
                <a:gd name="T3" fmla="*/ 2 h 32"/>
                <a:gd name="T4" fmla="*/ 4 w 62"/>
                <a:gd name="T5" fmla="*/ 5 h 32"/>
                <a:gd name="T6" fmla="*/ 1 w 62"/>
                <a:gd name="T7" fmla="*/ 4 h 32"/>
                <a:gd name="T8" fmla="*/ 4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3 w 49"/>
                <a:gd name="T1" fmla="*/ 1 h 23"/>
                <a:gd name="T2" fmla="*/ 2 w 49"/>
                <a:gd name="T3" fmla="*/ 1 h 23"/>
                <a:gd name="T4" fmla="*/ 6 w 49"/>
                <a:gd name="T5" fmla="*/ 3 h 23"/>
                <a:gd name="T6" fmla="*/ 3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3 h 152"/>
                <a:gd name="T4" fmla="*/ 1 w 102"/>
                <a:gd name="T5" fmla="*/ 6 h 152"/>
                <a:gd name="T6" fmla="*/ 4 w 102"/>
                <a:gd name="T7" fmla="*/ 10 h 152"/>
                <a:gd name="T8" fmla="*/ 4 w 102"/>
                <a:gd name="T9" fmla="*/ 14 h 152"/>
                <a:gd name="T10" fmla="*/ 10 w 102"/>
                <a:gd name="T11" fmla="*/ 21 h 152"/>
                <a:gd name="T12" fmla="*/ 11 w 102"/>
                <a:gd name="T13" fmla="*/ 17 h 152"/>
                <a:gd name="T14" fmla="*/ 10 w 102"/>
                <a:gd name="T15" fmla="*/ 14 h 152"/>
                <a:gd name="T16" fmla="*/ 7 w 102"/>
                <a:gd name="T17" fmla="*/ 13 h 152"/>
                <a:gd name="T18" fmla="*/ 7 w 102"/>
                <a:gd name="T19" fmla="*/ 11 h 152"/>
                <a:gd name="T20" fmla="*/ 5 w 102"/>
                <a:gd name="T21" fmla="*/ 6 h 152"/>
                <a:gd name="T22" fmla="*/ 1 w 102"/>
                <a:gd name="T23" fmla="*/ 2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8 w 74"/>
                <a:gd name="T1" fmla="*/ 4 h 103"/>
                <a:gd name="T2" fmla="*/ 9 w 74"/>
                <a:gd name="T3" fmla="*/ 6 h 103"/>
                <a:gd name="T4" fmla="*/ 4 w 74"/>
                <a:gd name="T5" fmla="*/ 11 h 103"/>
                <a:gd name="T6" fmla="*/ 4 w 74"/>
                <a:gd name="T7" fmla="*/ 14 h 103"/>
                <a:gd name="T8" fmla="*/ 2 w 74"/>
                <a:gd name="T9" fmla="*/ 13 h 103"/>
                <a:gd name="T10" fmla="*/ 1 w 74"/>
                <a:gd name="T11" fmla="*/ 11 h 103"/>
                <a:gd name="T12" fmla="*/ 0 w 74"/>
                <a:gd name="T13" fmla="*/ 11 h 103"/>
                <a:gd name="T14" fmla="*/ 1 w 74"/>
                <a:gd name="T15" fmla="*/ 8 h 103"/>
                <a:gd name="T16" fmla="*/ 1 w 74"/>
                <a:gd name="T17" fmla="*/ 8 h 103"/>
                <a:gd name="T18" fmla="*/ 1 w 74"/>
                <a:gd name="T19" fmla="*/ 4 h 103"/>
                <a:gd name="T20" fmla="*/ 1 w 74"/>
                <a:gd name="T21" fmla="*/ 2 h 103"/>
                <a:gd name="T22" fmla="*/ 3 w 74"/>
                <a:gd name="T23" fmla="*/ 4 h 103"/>
                <a:gd name="T24" fmla="*/ 4 w 74"/>
                <a:gd name="T25" fmla="*/ 5 h 103"/>
                <a:gd name="T26" fmla="*/ 8 w 74"/>
                <a:gd name="T27" fmla="*/ 4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10 w 146"/>
                <a:gd name="T1" fmla="*/ 14 h 252"/>
                <a:gd name="T2" fmla="*/ 9 w 146"/>
                <a:gd name="T3" fmla="*/ 15 h 252"/>
                <a:gd name="T4" fmla="*/ 8 w 146"/>
                <a:gd name="T5" fmla="*/ 18 h 252"/>
                <a:gd name="T6" fmla="*/ 3 w 146"/>
                <a:gd name="T7" fmla="*/ 20 h 252"/>
                <a:gd name="T8" fmla="*/ 1 w 146"/>
                <a:gd name="T9" fmla="*/ 23 h 252"/>
                <a:gd name="T10" fmla="*/ 2 w 146"/>
                <a:gd name="T11" fmla="*/ 25 h 252"/>
                <a:gd name="T12" fmla="*/ 1 w 146"/>
                <a:gd name="T13" fmla="*/ 26 h 252"/>
                <a:gd name="T14" fmla="*/ 3 w 146"/>
                <a:gd name="T15" fmla="*/ 34 h 252"/>
                <a:gd name="T16" fmla="*/ 4 w 146"/>
                <a:gd name="T17" fmla="*/ 29 h 252"/>
                <a:gd name="T18" fmla="*/ 3 w 146"/>
                <a:gd name="T19" fmla="*/ 26 h 252"/>
                <a:gd name="T20" fmla="*/ 5 w 146"/>
                <a:gd name="T21" fmla="*/ 24 h 252"/>
                <a:gd name="T22" fmla="*/ 7 w 146"/>
                <a:gd name="T23" fmla="*/ 22 h 252"/>
                <a:gd name="T24" fmla="*/ 9 w 146"/>
                <a:gd name="T25" fmla="*/ 24 h 252"/>
                <a:gd name="T26" fmla="*/ 5 w 146"/>
                <a:gd name="T27" fmla="*/ 26 h 252"/>
                <a:gd name="T28" fmla="*/ 7 w 146"/>
                <a:gd name="T29" fmla="*/ 27 h 252"/>
                <a:gd name="T30" fmla="*/ 9 w 146"/>
                <a:gd name="T31" fmla="*/ 24 h 252"/>
                <a:gd name="T32" fmla="*/ 10 w 146"/>
                <a:gd name="T33" fmla="*/ 25 h 252"/>
                <a:gd name="T34" fmla="*/ 13 w 146"/>
                <a:gd name="T35" fmla="*/ 20 h 252"/>
                <a:gd name="T36" fmla="*/ 14 w 146"/>
                <a:gd name="T37" fmla="*/ 22 h 252"/>
                <a:gd name="T38" fmla="*/ 18 w 146"/>
                <a:gd name="T39" fmla="*/ 20 h 252"/>
                <a:gd name="T40" fmla="*/ 19 w 146"/>
                <a:gd name="T41" fmla="*/ 18 h 252"/>
                <a:gd name="T42" fmla="*/ 19 w 146"/>
                <a:gd name="T43" fmla="*/ 15 h 252"/>
                <a:gd name="T44" fmla="*/ 17 w 146"/>
                <a:gd name="T45" fmla="*/ 14 h 252"/>
                <a:gd name="T46" fmla="*/ 16 w 146"/>
                <a:gd name="T47" fmla="*/ 6 h 252"/>
                <a:gd name="T48" fmla="*/ 12 w 146"/>
                <a:gd name="T49" fmla="*/ 0 h 252"/>
                <a:gd name="T50" fmla="*/ 10 w 146"/>
                <a:gd name="T51" fmla="*/ 2 h 252"/>
                <a:gd name="T52" fmla="*/ 12 w 146"/>
                <a:gd name="T53" fmla="*/ 5 h 252"/>
                <a:gd name="T54" fmla="*/ 12 w 146"/>
                <a:gd name="T55" fmla="*/ 8 h 252"/>
                <a:gd name="T56" fmla="*/ 10 w 146"/>
                <a:gd name="T57" fmla="*/ 14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7 w 70"/>
                <a:gd name="T1" fmla="*/ 0 h 40"/>
                <a:gd name="T2" fmla="*/ 8 w 70"/>
                <a:gd name="T3" fmla="*/ 3 h 40"/>
                <a:gd name="T4" fmla="*/ 5 w 70"/>
                <a:gd name="T5" fmla="*/ 4 h 40"/>
                <a:gd name="T6" fmla="*/ 4 w 70"/>
                <a:gd name="T7" fmla="*/ 6 h 40"/>
                <a:gd name="T8" fmla="*/ 1 w 70"/>
                <a:gd name="T9" fmla="*/ 6 h 40"/>
                <a:gd name="T10" fmla="*/ 1 w 70"/>
                <a:gd name="T11" fmla="*/ 5 h 40"/>
                <a:gd name="T12" fmla="*/ 4 w 70"/>
                <a:gd name="T13" fmla="*/ 3 h 40"/>
                <a:gd name="T14" fmla="*/ 7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2 w 26"/>
                <a:gd name="T1" fmla="*/ 0 h 29"/>
                <a:gd name="T2" fmla="*/ 0 w 26"/>
                <a:gd name="T3" fmla="*/ 3 h 29"/>
                <a:gd name="T4" fmla="*/ 2 w 26"/>
                <a:gd name="T5" fmla="*/ 4 h 29"/>
                <a:gd name="T6" fmla="*/ 2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3 h 36"/>
                <a:gd name="T4" fmla="*/ 2 w 49"/>
                <a:gd name="T5" fmla="*/ 5 h 36"/>
                <a:gd name="T6" fmla="*/ 3 w 49"/>
                <a:gd name="T7" fmla="*/ 5 h 36"/>
                <a:gd name="T8" fmla="*/ 6 w 49"/>
                <a:gd name="T9" fmla="*/ 4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2 w 27"/>
                <a:gd name="T5" fmla="*/ 3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2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4 w 24"/>
                <a:gd name="T1" fmla="*/ 0 h 44"/>
                <a:gd name="T2" fmla="*/ 2 w 24"/>
                <a:gd name="T3" fmla="*/ 2 h 44"/>
                <a:gd name="T4" fmla="*/ 0 w 24"/>
                <a:gd name="T5" fmla="*/ 5 h 44"/>
                <a:gd name="T6" fmla="*/ 2 w 24"/>
                <a:gd name="T7" fmla="*/ 6 h 44"/>
                <a:gd name="T8" fmla="*/ 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5 w 41"/>
                <a:gd name="T1" fmla="*/ 0 h 24"/>
                <a:gd name="T2" fmla="*/ 4 w 41"/>
                <a:gd name="T3" fmla="*/ 4 h 24"/>
                <a:gd name="T4" fmla="*/ 5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3933" y="3167063"/>
            <a:ext cx="5901267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5234" y="3352800"/>
            <a:ext cx="2205567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95200" y="2895601"/>
            <a:ext cx="1483784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7599" y="3144913"/>
            <a:ext cx="6478057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7851" y="3097213"/>
            <a:ext cx="3962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801" y="1993900"/>
            <a:ext cx="206163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467" y="2862264"/>
            <a:ext cx="83185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79867" y="95250"/>
            <a:ext cx="2404533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05934" y="1968500"/>
            <a:ext cx="143933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4452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406400" y="4419600"/>
            <a:ext cx="8534400" cy="1143000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54453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406400" y="5715000"/>
            <a:ext cx="85344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pic>
        <p:nvPicPr>
          <p:cNvPr id="123" name="Picture 16" descr="a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3779" y="4593358"/>
            <a:ext cx="942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8" y="238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3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65" y="201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33" y="703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8989E-6 -4.62214E-8 C -0.10149 -0.11578 -0.4135 -0.63115 -0.60787 -0.68939 C -0.80198 -0.7474 -1.04938 -0.42454 -1.16545 -0.35452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73" y="-37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25A4A-BAED-4624-90D1-88F38BD6F015}" type="datetimeFigureOut">
              <a:rPr lang="zh-CN" altLang="en-US" smtClean="0"/>
              <a:pPr/>
              <a:t>2024/11/24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467834"/>
            <a:ext cx="10972800" cy="565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489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tmp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50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第二章 </a:t>
            </a:r>
            <a:r>
              <a:rPr lang="en-US" altLang="zh-CN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的信息世界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974B1-CF7E-F81A-EDDF-A5288C7D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727" b="12682"/>
          <a:stretch/>
        </p:blipFill>
        <p:spPr>
          <a:xfrm>
            <a:off x="3711896" y="2683590"/>
            <a:ext cx="3997939" cy="410726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2" y="2683590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6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729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CN" altLang="en-US" sz="60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8415" y="1375349"/>
            <a:ext cx="11553585" cy="5401968"/>
          </a:xfrm>
        </p:spPr>
        <p:txBody>
          <a:bodyPr>
            <a:normAutofit/>
          </a:bodyPr>
          <a:lstStyle/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二进制信息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进制转换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数字运算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数字化文字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571500">
              <a:lnSpc>
                <a:spcPts val="6500"/>
              </a:lnSpc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 数字化声音图像</a:t>
            </a:r>
            <a:endParaRPr lang="en-US" altLang="zh-CN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EEF413-BECD-2C23-2BE6-654A22F8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69" y="1025726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C5D14E-A83B-E4AA-B37C-9C376C65981D}"/>
              </a:ext>
            </a:extLst>
          </p:cNvPr>
          <p:cNvSpPr/>
          <p:nvPr/>
        </p:nvSpPr>
        <p:spPr>
          <a:xfrm>
            <a:off x="328258" y="1344720"/>
            <a:ext cx="11138572" cy="5050384"/>
          </a:xfrm>
          <a:prstGeom prst="roundRect">
            <a:avLst/>
          </a:prstGeom>
          <a:noFill/>
          <a:ln w="57150">
            <a:solidFill>
              <a:srgbClr val="843C0C"/>
            </a:solidFill>
            <a:prstDash val="dash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30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34813" y="1266841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数字化动机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pic>
        <p:nvPicPr>
          <p:cNvPr id="13" name="图片 10">
            <a:extLst>
              <a:ext uri="{FF2B5EF4-FFF2-40B4-BE49-F238E27FC236}">
                <a16:creationId xmlns:a16="http://schemas.microsoft.com/office/drawing/2014/main" id="{CB3DD121-D40B-4A5A-8578-0F46A1745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47" y="2387277"/>
            <a:ext cx="2560933" cy="2018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43EDA89-AFD8-0D8A-DA17-B8375954EED6}"/>
              </a:ext>
            </a:extLst>
          </p:cNvPr>
          <p:cNvSpPr/>
          <p:nvPr/>
        </p:nvSpPr>
        <p:spPr>
          <a:xfrm>
            <a:off x="2091567" y="5068625"/>
            <a:ext cx="2057806" cy="1360907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5000" b="1" dirty="0">
                <a:solidFill>
                  <a:srgbClr val="FF0000"/>
                </a:solidFill>
              </a:rPr>
              <a:t>记录</a:t>
            </a:r>
          </a:p>
        </p:txBody>
      </p:sp>
      <p:pic>
        <p:nvPicPr>
          <p:cNvPr id="19" name="图片 15">
            <a:extLst>
              <a:ext uri="{FF2B5EF4-FFF2-40B4-BE49-F238E27FC236}">
                <a16:creationId xmlns:a16="http://schemas.microsoft.com/office/drawing/2014/main" id="{8E12778B-2929-155E-E69C-7CE618D78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28" y="2403706"/>
            <a:ext cx="3069560" cy="2709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8D2741C-A1D1-5DCF-6835-DE5BB76F741F}"/>
              </a:ext>
            </a:extLst>
          </p:cNvPr>
          <p:cNvSpPr/>
          <p:nvPr/>
        </p:nvSpPr>
        <p:spPr>
          <a:xfrm>
            <a:off x="7855530" y="5178311"/>
            <a:ext cx="3498270" cy="1235950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5000" b="1" dirty="0">
                <a:solidFill>
                  <a:srgbClr val="FF0000"/>
                </a:solidFill>
              </a:rPr>
              <a:t>1001001</a:t>
            </a:r>
            <a:endParaRPr lang="zh-CN" altLang="en-US" sz="5000" b="1" dirty="0">
              <a:solidFill>
                <a:srgbClr val="FF0000"/>
              </a:solidFill>
            </a:endParaRPr>
          </a:p>
        </p:txBody>
      </p:sp>
      <p:sp>
        <p:nvSpPr>
          <p:cNvPr id="25" name="箭头: 左右 24">
            <a:extLst>
              <a:ext uri="{FF2B5EF4-FFF2-40B4-BE49-F238E27FC236}">
                <a16:creationId xmlns:a16="http://schemas.microsoft.com/office/drawing/2014/main" id="{73A14DF2-EF9E-54AE-C2BC-BD105E0305A4}"/>
              </a:ext>
            </a:extLst>
          </p:cNvPr>
          <p:cNvSpPr/>
          <p:nvPr/>
        </p:nvSpPr>
        <p:spPr>
          <a:xfrm>
            <a:off x="4506459" y="2909878"/>
            <a:ext cx="2874280" cy="668166"/>
          </a:xfrm>
          <a:prstGeom prst="left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6DC8A6-47BD-5F45-B856-91F0FE32F1E0}"/>
              </a:ext>
            </a:extLst>
          </p:cNvPr>
          <p:cNvSpPr txBox="1"/>
          <p:nvPr/>
        </p:nvSpPr>
        <p:spPr>
          <a:xfrm>
            <a:off x="4734882" y="3480129"/>
            <a:ext cx="2874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人机交流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0F8F4E-4419-C0B0-7E54-6A549849B986}"/>
              </a:ext>
            </a:extLst>
          </p:cNvPr>
          <p:cNvSpPr txBox="1"/>
          <p:nvPr/>
        </p:nvSpPr>
        <p:spPr>
          <a:xfrm>
            <a:off x="4881985" y="1034613"/>
            <a:ext cx="74756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计算机用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编码，即“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0”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和“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1”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lang="zh-CN" altLang="en-US" sz="5000" b="1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3F46310-A4BC-3B7F-D375-9C39B6EB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6F1240-D2E9-CD62-F968-B89C2CF62603}"/>
              </a:ext>
            </a:extLst>
          </p:cNvPr>
          <p:cNvSpPr txBox="1"/>
          <p:nvPr/>
        </p:nvSpPr>
        <p:spPr>
          <a:xfrm>
            <a:off x="828884" y="81073"/>
            <a:ext cx="103441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2.1 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二进制信息</a:t>
            </a:r>
            <a:endParaRPr lang="zh-CN" altLang="en-US" sz="11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E37A9A9-8B00-45C0-9987-DBDF7E0B92E7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25B06186-C853-BB24-45AF-C4C752DAF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75FA118-4457-6F14-7541-67E617976FE9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70366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用二进制原因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E6943A-F13B-8806-6AB6-78941DAD1F76}"/>
              </a:ext>
            </a:extLst>
          </p:cNvPr>
          <p:cNvSpPr txBox="1"/>
          <p:nvPr/>
        </p:nvSpPr>
        <p:spPr>
          <a:xfrm>
            <a:off x="357811" y="1892711"/>
            <a:ext cx="13205789" cy="452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 电路简单，易于表示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 可靠性高，不易出错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 运算简单：求积求和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个运算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 逻辑性强：逻辑运算的真和假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F209DF-ADA5-60BD-513A-57610EA56D36}"/>
              </a:ext>
            </a:extLst>
          </p:cNvPr>
          <p:cNvSpPr txBox="1"/>
          <p:nvPr/>
        </p:nvSpPr>
        <p:spPr>
          <a:xfrm>
            <a:off x="5042451" y="1076240"/>
            <a:ext cx="6964016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4000" b="1" dirty="0">
                <a:solidFill>
                  <a:srgbClr val="0000FF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二进制</a:t>
            </a:r>
            <a:r>
              <a:rPr lang="zh-CN" altLang="en-US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  </a:t>
            </a:r>
            <a:r>
              <a:rPr lang="zh-CN" altLang="en-US" sz="4000" b="1" dirty="0">
                <a:solidFill>
                  <a:srgbClr val="0000FF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十进制</a:t>
            </a:r>
            <a:r>
              <a:rPr lang="zh-CN" altLang="en-US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4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0-9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74607AD-DDF2-E952-986A-334DDDE8D9E3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C9A29D48-45BD-252A-4285-BF04978671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8281CCC-38C2-07CF-A9C5-21732520790C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92767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F8828E-CEA3-00D3-5AFE-692C0C354178}"/>
              </a:ext>
            </a:extLst>
          </p:cNvPr>
          <p:cNvSpPr txBox="1"/>
          <p:nvPr/>
        </p:nvSpPr>
        <p:spPr>
          <a:xfrm>
            <a:off x="8198410" y="1520034"/>
            <a:ext cx="273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美洲玛雅人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FB2FDB1-2CF8-07F7-1A06-CC491CD080B7}"/>
              </a:ext>
            </a:extLst>
          </p:cNvPr>
          <p:cNvGrpSpPr/>
          <p:nvPr/>
        </p:nvGrpSpPr>
        <p:grpSpPr>
          <a:xfrm>
            <a:off x="1082531" y="2034148"/>
            <a:ext cx="11328963" cy="3456084"/>
            <a:chOff x="1429580" y="889977"/>
            <a:chExt cx="11328963" cy="345608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CECB513-47EE-8B4F-24EA-7D51A16E0109}"/>
                </a:ext>
              </a:extLst>
            </p:cNvPr>
            <p:cNvSpPr/>
            <p:nvPr/>
          </p:nvSpPr>
          <p:spPr>
            <a:xfrm>
              <a:off x="2069825" y="1173272"/>
              <a:ext cx="2332382" cy="940906"/>
            </a:xfrm>
            <a:prstGeom prst="roundRect">
              <a:avLst/>
            </a:prstGeom>
            <a:solidFill>
              <a:srgbClr val="E2FDFE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十进制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04E3835-F62D-F3C1-A822-9DEA19AE2AA7}"/>
                </a:ext>
              </a:extLst>
            </p:cNvPr>
            <p:cNvSpPr/>
            <p:nvPr/>
          </p:nvSpPr>
          <p:spPr>
            <a:xfrm>
              <a:off x="4705348" y="1160315"/>
              <a:ext cx="2915476" cy="94090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十六进制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B63D6C0-D8A3-AEF7-C6A9-25A88D6DDB2D}"/>
                </a:ext>
              </a:extLst>
            </p:cNvPr>
            <p:cNvSpPr/>
            <p:nvPr/>
          </p:nvSpPr>
          <p:spPr>
            <a:xfrm>
              <a:off x="7923965" y="1153284"/>
              <a:ext cx="2915476" cy="940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二十进制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42920850-5269-723D-DD84-778D530927DF}"/>
                </a:ext>
              </a:extLst>
            </p:cNvPr>
            <p:cNvSpPr/>
            <p:nvPr/>
          </p:nvSpPr>
          <p:spPr>
            <a:xfrm>
              <a:off x="2069825" y="3405155"/>
              <a:ext cx="2332382" cy="940906"/>
            </a:xfrm>
            <a:prstGeom prst="roundRect">
              <a:avLst/>
            </a:prstGeom>
            <a:solidFill>
              <a:srgbClr val="FFFF00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二进制</a:t>
              </a:r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35ED17FD-A470-1DE4-0596-D676927B8AF6}"/>
                </a:ext>
              </a:extLst>
            </p:cNvPr>
            <p:cNvSpPr/>
            <p:nvPr/>
          </p:nvSpPr>
          <p:spPr>
            <a:xfrm>
              <a:off x="1429580" y="1892711"/>
              <a:ext cx="518489" cy="1844402"/>
            </a:xfrm>
            <a:prstGeom prst="leftBrac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5201508-460E-43A1-0604-39D61B592B4E}"/>
                </a:ext>
              </a:extLst>
            </p:cNvPr>
            <p:cNvSpPr/>
            <p:nvPr/>
          </p:nvSpPr>
          <p:spPr>
            <a:xfrm>
              <a:off x="7923965" y="2200932"/>
              <a:ext cx="2915476" cy="940906"/>
            </a:xfrm>
            <a:prstGeom prst="roundRect">
              <a:avLst/>
            </a:prstGeom>
            <a:solidFill>
              <a:srgbClr val="EAE2FE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六十进制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EF8CD8B-E738-0FE4-82C8-15236DABAC82}"/>
                </a:ext>
              </a:extLst>
            </p:cNvPr>
            <p:cNvSpPr txBox="1"/>
            <p:nvPr/>
          </p:nvSpPr>
          <p:spPr>
            <a:xfrm>
              <a:off x="2561395" y="2094190"/>
              <a:ext cx="15306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中国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5BA192D-F271-2927-EDF6-5EFE3F42E287}"/>
                </a:ext>
              </a:extLst>
            </p:cNvPr>
            <p:cNvSpPr txBox="1"/>
            <p:nvPr/>
          </p:nvSpPr>
          <p:spPr>
            <a:xfrm>
              <a:off x="7584406" y="3081989"/>
              <a:ext cx="517413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两河流域古巴比伦人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FF71781-AEA7-2ECB-B3F8-57EE874D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9374" y="929640"/>
              <a:ext cx="529541" cy="49991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0D76C477-D112-2BA3-1D9F-E66FAD7B5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2848" y="894121"/>
              <a:ext cx="529541" cy="499916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AAFBC9C-CBCD-2005-6428-917B602DA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5136" y="889977"/>
              <a:ext cx="529541" cy="499916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91A32AB-D587-55C4-0D96-7C14FE8DB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365" y="2107539"/>
              <a:ext cx="529541" cy="499916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1702050-3D26-5F26-3CFA-0D38083D8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9825" y="3086236"/>
              <a:ext cx="694920" cy="49985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59D7D54-4722-6DFA-C756-4F65D233D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5921" y="940024"/>
              <a:ext cx="694920" cy="499855"/>
            </a:xfrm>
            <a:prstGeom prst="rect">
              <a:avLst/>
            </a:prstGeom>
          </p:spPr>
        </p:pic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6FCF94D-DA31-7DE4-B53B-E6345C5F5C26}"/>
              </a:ext>
            </a:extLst>
          </p:cNvPr>
          <p:cNvSpPr/>
          <p:nvPr/>
        </p:nvSpPr>
        <p:spPr>
          <a:xfrm>
            <a:off x="4146538" y="4554845"/>
            <a:ext cx="2915476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839CBA9-C556-E07C-8814-3922F47E2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01" y="4323242"/>
            <a:ext cx="694920" cy="49985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72A9D03-736E-C7BD-AC4A-A1D61FAC2A83}"/>
              </a:ext>
            </a:extLst>
          </p:cNvPr>
          <p:cNvSpPr txBox="1"/>
          <p:nvPr/>
        </p:nvSpPr>
        <p:spPr>
          <a:xfrm>
            <a:off x="4802251" y="5404188"/>
            <a:ext cx="2083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Unix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5B2BB2DC-A4C9-6195-F5FB-F5A7B0F1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AF8F79A-D01B-9994-45AB-D2F72E96D172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8265618C-4472-78CF-8623-023C03E5A9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1F957EA-B90A-986B-53BB-EC30B32D859B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000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F8828E-CEA3-00D3-5AFE-692C0C354178}"/>
              </a:ext>
            </a:extLst>
          </p:cNvPr>
          <p:cNvSpPr txBox="1"/>
          <p:nvPr/>
        </p:nvSpPr>
        <p:spPr>
          <a:xfrm>
            <a:off x="8279312" y="380816"/>
            <a:ext cx="273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美洲玛雅人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FB2FDB1-2CF8-07F7-1A06-CC491CD080B7}"/>
              </a:ext>
            </a:extLst>
          </p:cNvPr>
          <p:cNvGrpSpPr/>
          <p:nvPr/>
        </p:nvGrpSpPr>
        <p:grpSpPr>
          <a:xfrm>
            <a:off x="2264472" y="1213492"/>
            <a:ext cx="9034653" cy="1988554"/>
            <a:chOff x="2069825" y="1153284"/>
            <a:chExt cx="8769616" cy="198855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CECB513-47EE-8B4F-24EA-7D51A16E0109}"/>
                </a:ext>
              </a:extLst>
            </p:cNvPr>
            <p:cNvSpPr/>
            <p:nvPr/>
          </p:nvSpPr>
          <p:spPr>
            <a:xfrm>
              <a:off x="2069825" y="1173272"/>
              <a:ext cx="2332382" cy="940906"/>
            </a:xfrm>
            <a:prstGeom prst="roundRect">
              <a:avLst/>
            </a:prstGeom>
            <a:solidFill>
              <a:srgbClr val="E2FDFE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十进制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04E3835-F62D-F3C1-A822-9DEA19AE2AA7}"/>
                </a:ext>
              </a:extLst>
            </p:cNvPr>
            <p:cNvSpPr/>
            <p:nvPr/>
          </p:nvSpPr>
          <p:spPr>
            <a:xfrm>
              <a:off x="4705348" y="1160315"/>
              <a:ext cx="2915476" cy="94090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十六进制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B63D6C0-D8A3-AEF7-C6A9-25A88D6DDB2D}"/>
                </a:ext>
              </a:extLst>
            </p:cNvPr>
            <p:cNvSpPr/>
            <p:nvPr/>
          </p:nvSpPr>
          <p:spPr>
            <a:xfrm>
              <a:off x="7923965" y="1153284"/>
              <a:ext cx="2915476" cy="940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二十进制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5201508-460E-43A1-0604-39D61B592B4E}"/>
                </a:ext>
              </a:extLst>
            </p:cNvPr>
            <p:cNvSpPr/>
            <p:nvPr/>
          </p:nvSpPr>
          <p:spPr>
            <a:xfrm>
              <a:off x="7923965" y="2200932"/>
              <a:ext cx="2915476" cy="940906"/>
            </a:xfrm>
            <a:prstGeom prst="roundRect">
              <a:avLst/>
            </a:prstGeom>
            <a:solidFill>
              <a:srgbClr val="EAE2FE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六十进制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33E239B-DE4A-776A-650B-29AC0117ABB4}"/>
              </a:ext>
            </a:extLst>
          </p:cNvPr>
          <p:cNvSpPr txBox="1"/>
          <p:nvPr/>
        </p:nvSpPr>
        <p:spPr>
          <a:xfrm>
            <a:off x="160154" y="2255124"/>
            <a:ext cx="6321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法语数字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A3BB4B-A39C-8F8D-7035-AAD66519E3B2}"/>
              </a:ext>
            </a:extLst>
          </p:cNvPr>
          <p:cNvSpPr txBox="1"/>
          <p:nvPr/>
        </p:nvSpPr>
        <p:spPr>
          <a:xfrm>
            <a:off x="1" y="3134875"/>
            <a:ext cx="12192000" cy="4401205"/>
          </a:xfrm>
          <a:prstGeom prst="rect">
            <a:avLst/>
          </a:prstGeom>
          <a:solidFill>
            <a:srgbClr val="EAE2FE"/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1-16(16)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:un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deux,trois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, seize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17-69(10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):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21=20+1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vingt et un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62=60+2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soixante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-deux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70-79(10,16,60):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70=60+10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soixante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-dix 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72=60+12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80-99(10,16,20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):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97=20*4+17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quatre-vingt-dix-sept.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2E83032-8400-C34C-DFE4-A4FAD3643445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00D89494-F94A-6214-B01C-E6F9A16E3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5A28441-EFC1-AA61-C0C2-48FCAF2B6F8A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9409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A1CA776D-636D-3369-12F8-AB1285476361}"/>
              </a:ext>
            </a:extLst>
          </p:cNvPr>
          <p:cNvGraphicFramePr>
            <a:graphicFrameLocks noGrp="1"/>
          </p:cNvGraphicFramePr>
          <p:nvPr/>
        </p:nvGraphicFramePr>
        <p:xfrm>
          <a:off x="265043" y="0"/>
          <a:ext cx="11330610" cy="644077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十进制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二进制</a:t>
                      </a:r>
                      <a:endParaRPr kumimoji="1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八进制</a:t>
                      </a:r>
                      <a:endParaRPr kumimoji="1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十六进制</a:t>
                      </a:r>
                      <a:endParaRPr kumimoji="1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零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壹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贰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叁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肆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伍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陆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柒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捌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玖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76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拾壹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29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A1CA776D-636D-3369-12F8-AB1285476361}"/>
              </a:ext>
            </a:extLst>
          </p:cNvPr>
          <p:cNvGraphicFramePr>
            <a:graphicFrameLocks noGrp="1"/>
          </p:cNvGraphicFramePr>
          <p:nvPr/>
        </p:nvGraphicFramePr>
        <p:xfrm>
          <a:off x="265043" y="0"/>
          <a:ext cx="11330610" cy="2499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4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十进制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二进制</a:t>
                      </a:r>
                      <a:endParaRPr kumimoji="1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八进制</a:t>
                      </a:r>
                      <a:endParaRPr kumimoji="1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十六进制</a:t>
                      </a:r>
                      <a:endParaRPr kumimoji="1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拾贰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拾叁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拾肆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拾伍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36000" marR="36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EE86-A810-2D11-E3D1-F6FD987D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0D35A2E-BB1B-3B82-E5C0-282ADB431927}"/>
              </a:ext>
            </a:extLst>
          </p:cNvPr>
          <p:cNvSpPr txBox="1"/>
          <p:nvPr/>
        </p:nvSpPr>
        <p:spPr>
          <a:xfrm>
            <a:off x="-165653" y="957255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C27319-DA6D-F949-7136-B6845B87FF10}"/>
              </a:ext>
            </a:extLst>
          </p:cNvPr>
          <p:cNvSpPr txBox="1"/>
          <p:nvPr/>
        </p:nvSpPr>
        <p:spPr>
          <a:xfrm>
            <a:off x="-152401" y="1763033"/>
            <a:ext cx="12192000" cy="1631216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数码：符号集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{0,1…9}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,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{0,1}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，十六进制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{0,1…9,A…F}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BA95B4-84A3-3989-7AA8-FF6E4DF97FF8}"/>
              </a:ext>
            </a:extLst>
          </p:cNvPr>
          <p:cNvSpPr txBox="1"/>
          <p:nvPr/>
        </p:nvSpPr>
        <p:spPr>
          <a:xfrm>
            <a:off x="-135835" y="3429000"/>
            <a:ext cx="124636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十进制基为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逢十进一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二进制基为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逢二进一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4645C5-8742-F999-638B-FB02262CADE1}"/>
              </a:ext>
            </a:extLst>
          </p:cNvPr>
          <p:cNvSpPr txBox="1"/>
          <p:nvPr/>
        </p:nvSpPr>
        <p:spPr>
          <a:xfrm>
            <a:off x="-139149" y="5094967"/>
            <a:ext cx="117480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权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不同位置数符代表值不同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29AFCEB-007D-1493-9FF3-1D519322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839E67A-78D7-2437-DE03-C2513DBC45FA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12D1A62-8E5A-3573-6BF7-B0B6C529A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3F0AF17-8B46-ADF6-2B52-DBE6C7EFFAC4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52465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1A86-D5CE-4393-41E7-6C8E342D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0C267F-4B78-E27F-51EE-669D8194DC00}"/>
              </a:ext>
            </a:extLst>
          </p:cNvPr>
          <p:cNvSpPr txBox="1"/>
          <p:nvPr/>
        </p:nvSpPr>
        <p:spPr>
          <a:xfrm>
            <a:off x="0" y="1093415"/>
            <a:ext cx="117480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权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不同位置数符代表值不同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F6B68E-7B82-E92B-1A58-1588DDA0EC66}"/>
              </a:ext>
            </a:extLst>
          </p:cNvPr>
          <p:cNvSpPr txBox="1"/>
          <p:nvPr/>
        </p:nvSpPr>
        <p:spPr>
          <a:xfrm>
            <a:off x="178903" y="2400039"/>
            <a:ext cx="12198627" cy="273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(786.25)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10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=7×10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+8×10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+6×10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0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＋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2×10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-1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+5×10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-2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F1BD55-05E3-E620-A200-C0C3F18EC3B4}"/>
              </a:ext>
            </a:extLst>
          </p:cNvPr>
          <p:cNvSpPr txBox="1"/>
          <p:nvPr/>
        </p:nvSpPr>
        <p:spPr>
          <a:xfrm>
            <a:off x="378201" y="2035290"/>
            <a:ext cx="2323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210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-1-2</a:t>
            </a:r>
            <a:endParaRPr kumimoji="0" lang="zh-CN" altLang="en-US" sz="4800" b="1" i="0" u="none" strike="noStrike" kern="1200" cap="none" spc="-30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7D18DA-AD47-1FB5-FBA4-6B510C45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76" y="4201247"/>
            <a:ext cx="732957" cy="69067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209213-7D8B-CEEE-9D6A-2B790D10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236" y="5371215"/>
            <a:ext cx="709608" cy="78674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50BA680-840F-77DC-12C1-014441FA7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131" y="5353335"/>
            <a:ext cx="709608" cy="8225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C0791F7F-B13D-6047-F1C4-3CC111F7F60D}"/>
              </a:ext>
            </a:extLst>
          </p:cNvPr>
          <p:cNvSpPr/>
          <p:nvPr/>
        </p:nvSpPr>
        <p:spPr>
          <a:xfrm rot="16200000">
            <a:off x="2977778" y="4974101"/>
            <a:ext cx="425058" cy="19247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C2EB023-E621-BF2D-9426-3EE841B71B3B}"/>
              </a:ext>
            </a:extLst>
          </p:cNvPr>
          <p:cNvSpPr/>
          <p:nvPr/>
        </p:nvSpPr>
        <p:spPr>
          <a:xfrm rot="16200000">
            <a:off x="4284406" y="4975976"/>
            <a:ext cx="425058" cy="19247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8EB865-F465-0FA4-3474-43280AAA28BC}"/>
              </a:ext>
            </a:extLst>
          </p:cNvPr>
          <p:cNvSpPr/>
          <p:nvPr/>
        </p:nvSpPr>
        <p:spPr>
          <a:xfrm>
            <a:off x="4142131" y="3975652"/>
            <a:ext cx="1331017" cy="1223408"/>
          </a:xfrm>
          <a:prstGeom prst="roundRect">
            <a:avLst/>
          </a:prstGeom>
          <a:noFill/>
          <a:ln w="57150">
            <a:solidFill>
              <a:srgbClr val="843C0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208D7D2-4842-85A1-9246-885BB245BDF9}"/>
              </a:ext>
            </a:extLst>
          </p:cNvPr>
          <p:cNvSpPr/>
          <p:nvPr/>
        </p:nvSpPr>
        <p:spPr>
          <a:xfrm rot="10800000">
            <a:off x="5526933" y="4394884"/>
            <a:ext cx="425058" cy="19247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FB0FE979-B75B-31B8-DFF9-0B2D8784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6803ECA-EE1B-8682-5696-E3D6825015A4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3185C6E5-9413-9F4F-0833-16C6449B7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3D85154-D35E-6CAC-E9C5-FC03AC46A9F9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971456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1FB7-0A24-1678-6E3D-C84108D0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3AB3D68-C93D-8F29-4438-60EC5B6E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766" y="-801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6000" b="1" dirty="0">
                <a:latin typeface="华光楷体_CNKI" pitchFamily="2" charset="-122"/>
                <a:ea typeface="华光楷体_CNKI" pitchFamily="2" charset="-122"/>
              </a:rPr>
              <a:t>2.1 </a:t>
            </a:r>
            <a:r>
              <a:rPr lang="zh-CN" altLang="en-US" sz="6000" b="1" dirty="0">
                <a:latin typeface="华光楷体_CNKI" pitchFamily="2" charset="-122"/>
                <a:ea typeface="华光楷体_CNKI" pitchFamily="2" charset="-122"/>
              </a:rPr>
              <a:t>信息表示法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94F0486-FDD1-7DEE-E8EA-32926EFFFBC8}"/>
              </a:ext>
            </a:extLst>
          </p:cNvPr>
          <p:cNvCxnSpPr/>
          <p:nvPr/>
        </p:nvCxnSpPr>
        <p:spPr>
          <a:xfrm flipV="1">
            <a:off x="0" y="1061714"/>
            <a:ext cx="12192000" cy="1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A6A570D-04A3-8E49-EE0C-E4226B724B25}"/>
              </a:ext>
            </a:extLst>
          </p:cNvPr>
          <p:cNvSpPr txBox="1"/>
          <p:nvPr/>
        </p:nvSpPr>
        <p:spPr>
          <a:xfrm>
            <a:off x="0" y="1061714"/>
            <a:ext cx="11748053" cy="5682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为区分不同进制数，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种书写法。</a:t>
            </a:r>
          </a:p>
          <a:p>
            <a:pPr marL="914400" marR="0" lvl="0" indent="-9144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括号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下标，如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(1011101)</a:t>
            </a:r>
            <a:r>
              <a:rPr kumimoji="0" lang="en-US" altLang="zh-CN" sz="5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(93)</a:t>
            </a:r>
            <a:r>
              <a:rPr kumimoji="0" lang="en-US" altLang="zh-CN" sz="5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en-US" altLang="zh-CN" sz="5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914400" marR="0" lvl="0" indent="-9144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数后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字母，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D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十进制，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二进制，字母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O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八进制，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H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十六进制，如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1100B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、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AC72H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14258D-F506-CABC-02B1-6F8DA25D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77" y="2143125"/>
            <a:ext cx="11620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7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D156-89EC-F04F-FDB8-4C515D973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2625B10-E01D-EAB1-C618-086CBF7E9777}"/>
              </a:ext>
            </a:extLst>
          </p:cNvPr>
          <p:cNvGraphicFramePr>
            <a:graphicFrameLocks noGrp="1"/>
          </p:cNvGraphicFramePr>
          <p:nvPr/>
        </p:nvGraphicFramePr>
        <p:xfrm>
          <a:off x="-86139" y="1245385"/>
          <a:ext cx="12364278" cy="555596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75182">
                  <a:extLst>
                    <a:ext uri="{9D8B030D-6E8A-4147-A177-3AD203B41FA5}">
                      <a16:colId xmlns:a16="http://schemas.microsoft.com/office/drawing/2014/main" val="2025876185"/>
                    </a:ext>
                  </a:extLst>
                </a:gridCol>
                <a:gridCol w="2319131">
                  <a:extLst>
                    <a:ext uri="{9D8B030D-6E8A-4147-A177-3AD203B41FA5}">
                      <a16:colId xmlns:a16="http://schemas.microsoft.com/office/drawing/2014/main" val="1128968601"/>
                    </a:ext>
                  </a:extLst>
                </a:gridCol>
                <a:gridCol w="2517913">
                  <a:extLst>
                    <a:ext uri="{9D8B030D-6E8A-4147-A177-3AD203B41FA5}">
                      <a16:colId xmlns:a16="http://schemas.microsoft.com/office/drawing/2014/main" val="3524909852"/>
                    </a:ext>
                  </a:extLst>
                </a:gridCol>
                <a:gridCol w="2517913">
                  <a:extLst>
                    <a:ext uri="{9D8B030D-6E8A-4147-A177-3AD203B41FA5}">
                      <a16:colId xmlns:a16="http://schemas.microsoft.com/office/drawing/2014/main" val="2704194657"/>
                    </a:ext>
                  </a:extLst>
                </a:gridCol>
                <a:gridCol w="3134139">
                  <a:extLst>
                    <a:ext uri="{9D8B030D-6E8A-4147-A177-3AD203B41FA5}">
                      <a16:colId xmlns:a16="http://schemas.microsoft.com/office/drawing/2014/main" val="2848212665"/>
                    </a:ext>
                  </a:extLst>
                </a:gridCol>
              </a:tblGrid>
              <a:tr h="1230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0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进位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二位制</a:t>
                      </a:r>
                    </a:p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八位制</a:t>
                      </a:r>
                    </a:p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十位制</a:t>
                      </a:r>
                    </a:p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十六位制</a:t>
                      </a:r>
                    </a:p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57175"/>
                  </a:ext>
                </a:extLst>
              </a:tr>
              <a:tr h="83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规则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-30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逢二进一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-30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逢八进一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-30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逢十进一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000" b="1" i="0" u="none" strike="noStrike" kern="1200" cap="none" spc="-30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逢十六进一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366"/>
                  </a:ext>
                </a:extLst>
              </a:tr>
              <a:tr h="83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基数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10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16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7406"/>
                  </a:ext>
                </a:extLst>
              </a:tr>
              <a:tr h="7061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数符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0,1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0,1,2…7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0,1,2…9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0,1,2…9,A,B…F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142020"/>
                  </a:ext>
                </a:extLst>
              </a:tr>
              <a:tr h="83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权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kumimoji="0" lang="en-US" altLang="zh-CN" sz="4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endParaRPr kumimoji="0" lang="zh-CN" altLang="en-US" sz="40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  <a:r>
                        <a:rPr kumimoji="0" lang="en-US" altLang="zh-CN" sz="4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endParaRPr kumimoji="0" lang="zh-CN" altLang="en-US" sz="40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10</a:t>
                      </a:r>
                      <a:r>
                        <a:rPr kumimoji="0" lang="en-US" altLang="zh-CN" sz="4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endParaRPr kumimoji="0" lang="zh-CN" altLang="en-US" sz="40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16</a:t>
                      </a:r>
                      <a:r>
                        <a:rPr kumimoji="0" lang="en-US" altLang="zh-CN" sz="4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endParaRPr kumimoji="0" lang="zh-CN" altLang="en-US" sz="40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902129"/>
                  </a:ext>
                </a:extLst>
              </a:tr>
              <a:tr h="832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形式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O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H</a:t>
                      </a:r>
                      <a:endParaRPr kumimoji="0" lang="zh-CN" altLang="en-US" sz="4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8165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FF81DC0-214E-60E0-1E4F-F75D611A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5EAC0EA-689F-0BA1-BD00-C206E8A4F3A4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C358953-5FB6-A7CD-77F6-A2CB430E0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C5860FC-FAD2-7B5F-9FF7-2B1C32467395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91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F396B-8165-5088-A877-83653CCB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1B2FD744-03A7-18F1-521E-035B35DD6625}"/>
              </a:ext>
            </a:extLst>
          </p:cNvPr>
          <p:cNvSpPr/>
          <p:nvPr/>
        </p:nvSpPr>
        <p:spPr>
          <a:xfrm>
            <a:off x="7606743" y="2958547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6F434E-348A-AC82-E08D-3C974A932468}"/>
              </a:ext>
            </a:extLst>
          </p:cNvPr>
          <p:cNvSpPr/>
          <p:nvPr/>
        </p:nvSpPr>
        <p:spPr>
          <a:xfrm>
            <a:off x="1933166" y="4791005"/>
            <a:ext cx="2915476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E52E73-F98E-C8CC-BB79-EEEB64E8879E}"/>
              </a:ext>
            </a:extLst>
          </p:cNvPr>
          <p:cNvSpPr/>
          <p:nvPr/>
        </p:nvSpPr>
        <p:spPr>
          <a:xfrm>
            <a:off x="2039177" y="1930336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E2213F2-A4A7-6CE5-B08C-392287322BE8}"/>
              </a:ext>
            </a:extLst>
          </p:cNvPr>
          <p:cNvSpPr/>
          <p:nvPr/>
        </p:nvSpPr>
        <p:spPr>
          <a:xfrm>
            <a:off x="1906663" y="3366123"/>
            <a:ext cx="2915476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58405F-7948-DA8A-2922-75C4C4B3DBB7}"/>
              </a:ext>
            </a:extLst>
          </p:cNvPr>
          <p:cNvSpPr txBox="1"/>
          <p:nvPr/>
        </p:nvSpPr>
        <p:spPr>
          <a:xfrm>
            <a:off x="-267531" y="878474"/>
            <a:ext cx="5714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数制转换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D873863-770C-36B4-98EB-B6F3F1C5B8F1}"/>
              </a:ext>
            </a:extLst>
          </p:cNvPr>
          <p:cNvCxnSpPr>
            <a:cxnSpLocks/>
          </p:cNvCxnSpPr>
          <p:nvPr/>
        </p:nvCxnSpPr>
        <p:spPr>
          <a:xfrm>
            <a:off x="4379838" y="2479570"/>
            <a:ext cx="3226905" cy="886553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ADD8D90-251B-270F-F4A5-8C3AE349DE1F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4822139" y="3677549"/>
            <a:ext cx="2784604" cy="159027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6D66289-DD91-04A0-A87F-FF1093C92EA0}"/>
              </a:ext>
            </a:extLst>
          </p:cNvPr>
          <p:cNvCxnSpPr>
            <a:cxnSpLocks/>
          </p:cNvCxnSpPr>
          <p:nvPr/>
        </p:nvCxnSpPr>
        <p:spPr>
          <a:xfrm flipV="1">
            <a:off x="4956313" y="4057441"/>
            <a:ext cx="2676933" cy="1280525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E4EE90E-D77D-F45F-28B4-8F15ED34F98A}"/>
              </a:ext>
            </a:extLst>
          </p:cNvPr>
          <p:cNvSpPr txBox="1"/>
          <p:nvPr/>
        </p:nvSpPr>
        <p:spPr>
          <a:xfrm>
            <a:off x="5082205" y="1780235"/>
            <a:ext cx="1212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0" lang="zh-CN" altLang="en-US" sz="54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0EBFD9-3399-3B57-54CA-498A4083972B}"/>
              </a:ext>
            </a:extLst>
          </p:cNvPr>
          <p:cNvSpPr txBox="1"/>
          <p:nvPr/>
        </p:nvSpPr>
        <p:spPr>
          <a:xfrm>
            <a:off x="5001867" y="2833732"/>
            <a:ext cx="1212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0" lang="zh-CN" altLang="en-US" sz="54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105AD4-FDF2-54D9-B4A5-AB9E97DC32D9}"/>
              </a:ext>
            </a:extLst>
          </p:cNvPr>
          <p:cNvSpPr txBox="1"/>
          <p:nvPr/>
        </p:nvSpPr>
        <p:spPr>
          <a:xfrm>
            <a:off x="5082205" y="4057441"/>
            <a:ext cx="1212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16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0" lang="zh-CN" altLang="en-US" sz="54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7E43F7B-1F66-0F88-93D1-5493602AC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665" y="2958547"/>
            <a:ext cx="1005107" cy="94887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FFCD8F9-2F9B-56B7-9010-15D8DFC92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21" y="3099704"/>
            <a:ext cx="1122927" cy="807720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1D627571-A31F-E039-2073-B845BB32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E451DF1-1087-7996-D20C-55B5F4041FF8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6A7D88B8-25F7-064D-DB57-F101301F1A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E0EAA36-8897-AB79-CCA5-A026494A2453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9039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5998-FD61-D5F9-D435-7469AFBA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F857B5EC-9FAE-FC52-7080-D214C9BC9534}"/>
              </a:ext>
            </a:extLst>
          </p:cNvPr>
          <p:cNvSpPr txBox="1"/>
          <p:nvPr/>
        </p:nvSpPr>
        <p:spPr>
          <a:xfrm>
            <a:off x="-165653" y="957255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数制转换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59F30A-ED20-83F6-0159-01E38AB8D955}"/>
              </a:ext>
            </a:extLst>
          </p:cNvPr>
          <p:cNvSpPr txBox="1"/>
          <p:nvPr/>
        </p:nvSpPr>
        <p:spPr>
          <a:xfrm>
            <a:off x="0" y="1777937"/>
            <a:ext cx="12192000" cy="231858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十进制转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(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576)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= 5ⅹ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+7ⅹ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+6ⅹ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378410B-CB7D-EFE2-65B1-63B401BA4E05}"/>
              </a:ext>
            </a:extLst>
          </p:cNvPr>
          <p:cNvGrpSpPr/>
          <p:nvPr/>
        </p:nvGrpSpPr>
        <p:grpSpPr>
          <a:xfrm>
            <a:off x="1060327" y="2417322"/>
            <a:ext cx="1142178" cy="620085"/>
            <a:chOff x="999036" y="2910830"/>
            <a:chExt cx="1142178" cy="620085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423BE55-C7CC-7EA7-FE81-DA3CC34AE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036" y="3031884"/>
              <a:ext cx="377068" cy="46408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6A7A3A6-4AC7-BECE-2D97-C64C8F8FC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6556" y="3031884"/>
              <a:ext cx="298457" cy="42636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FC71B93-1A00-20BB-DB34-587D88180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7322" y="2910830"/>
              <a:ext cx="333892" cy="620085"/>
            </a:xfrm>
            <a:prstGeom prst="rect">
              <a:avLst/>
            </a:prstGeom>
          </p:spPr>
        </p:pic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C1CAB7A2-0440-E044-90E0-350C37E52C4E}"/>
              </a:ext>
            </a:extLst>
          </p:cNvPr>
          <p:cNvSpPr txBox="1"/>
          <p:nvPr/>
        </p:nvSpPr>
        <p:spPr>
          <a:xfrm>
            <a:off x="-165653" y="4096520"/>
            <a:ext cx="12463670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二进制转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5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(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1011)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1ⅹ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+0ⅹ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</a:p>
          <a:p>
            <a:pPr marL="0" marR="0" lvl="0" indent="0" algn="just" defTabSz="914400" rtl="0" eaLnBrk="1" fontAlgn="auto" latinLnBrk="0" hangingPunct="1">
              <a:lnSpc>
                <a:spcPts val="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     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(11)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05FAA63-8086-6445-BEFD-C290789D792D}"/>
              </a:ext>
            </a:extLst>
          </p:cNvPr>
          <p:cNvGrpSpPr/>
          <p:nvPr/>
        </p:nvGrpSpPr>
        <p:grpSpPr>
          <a:xfrm>
            <a:off x="838200" y="4812742"/>
            <a:ext cx="1634021" cy="377838"/>
            <a:chOff x="643231" y="4804300"/>
            <a:chExt cx="1472035" cy="62008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90859FD-C28D-6F4A-5EC8-4E8676D32FC1}"/>
                </a:ext>
              </a:extLst>
            </p:cNvPr>
            <p:cNvGrpSpPr/>
            <p:nvPr/>
          </p:nvGrpSpPr>
          <p:grpSpPr>
            <a:xfrm>
              <a:off x="973088" y="4804300"/>
              <a:ext cx="1142178" cy="620085"/>
              <a:chOff x="999036" y="2910830"/>
              <a:chExt cx="1142178" cy="620085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669DAC7C-3EB4-9F57-23C4-2AD38C32E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036" y="3031884"/>
                <a:ext cx="377068" cy="464084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350D388E-8BA7-3074-2EBF-30B972EA7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556" y="3031884"/>
                <a:ext cx="298457" cy="426367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D3540068-7FB5-C6C8-6A04-CA5E8E55A2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7322" y="2910830"/>
                <a:ext cx="333892" cy="620085"/>
              </a:xfrm>
              <a:prstGeom prst="rect">
                <a:avLst/>
              </a:prstGeom>
            </p:spPr>
          </p:pic>
        </p:grp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FFECCFC-BF61-82EA-E33F-D86CC171D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3231" y="4829060"/>
              <a:ext cx="294936" cy="560378"/>
            </a:xfrm>
            <a:prstGeom prst="rect">
              <a:avLst/>
            </a:prstGeom>
          </p:spPr>
        </p:pic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C6A89A4-182B-4DF6-8B71-93638365D34D}"/>
              </a:ext>
            </a:extLst>
          </p:cNvPr>
          <p:cNvSpPr/>
          <p:nvPr/>
        </p:nvSpPr>
        <p:spPr>
          <a:xfrm>
            <a:off x="3395404" y="1810653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42AD737-66C5-8A03-9AB2-00297DF39C6E}"/>
              </a:ext>
            </a:extLst>
          </p:cNvPr>
          <p:cNvSpPr/>
          <p:nvPr/>
        </p:nvSpPr>
        <p:spPr>
          <a:xfrm>
            <a:off x="3318233" y="4143316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7CC07A-5083-C8D7-1CD5-B4FD98F9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4B9CAE-C8E7-914E-F2C0-BB8E42CB386E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1475527-D847-7704-7F97-44695DC81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8D6B393-551A-9D7B-5AE2-127ECC811664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8431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953A-B081-EE23-41AD-72AC4B80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FF3A12B6-9933-B102-098D-44BA092B07B8}"/>
              </a:ext>
            </a:extLst>
          </p:cNvPr>
          <p:cNvSpPr txBox="1"/>
          <p:nvPr/>
        </p:nvSpPr>
        <p:spPr>
          <a:xfrm>
            <a:off x="-66261" y="1018108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数制转换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3FC397-F255-0159-A8B1-9F818BD13A08}"/>
              </a:ext>
            </a:extLst>
          </p:cNvPr>
          <p:cNvSpPr txBox="1"/>
          <p:nvPr/>
        </p:nvSpPr>
        <p:spPr>
          <a:xfrm>
            <a:off x="-1" y="1777937"/>
            <a:ext cx="13994297" cy="231858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进制转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375)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=3ⅹ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+7ⅹ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+5ⅹ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(253)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B7F40B7-5FF9-6AF9-0321-6C7AC5315B80}"/>
              </a:ext>
            </a:extLst>
          </p:cNvPr>
          <p:cNvGrpSpPr/>
          <p:nvPr/>
        </p:nvGrpSpPr>
        <p:grpSpPr>
          <a:xfrm>
            <a:off x="367069" y="2518763"/>
            <a:ext cx="1142178" cy="620085"/>
            <a:chOff x="999036" y="2910830"/>
            <a:chExt cx="1142178" cy="620085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5A4D107-50AB-DE8C-9E1F-003A9E5B0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036" y="3031884"/>
              <a:ext cx="377068" cy="46408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CE6C334-6370-771D-5EFA-D118024AC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6556" y="3031884"/>
              <a:ext cx="298457" cy="42636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E96EB9B-42B9-153B-0D20-2E1C48F5E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7322" y="2910830"/>
              <a:ext cx="333892" cy="620085"/>
            </a:xfrm>
            <a:prstGeom prst="rect">
              <a:avLst/>
            </a:prstGeom>
          </p:spPr>
        </p:pic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28D6C78-CB1C-A609-86F5-6539C399C992}"/>
              </a:ext>
            </a:extLst>
          </p:cNvPr>
          <p:cNvSpPr txBox="1"/>
          <p:nvPr/>
        </p:nvSpPr>
        <p:spPr>
          <a:xfrm>
            <a:off x="-188844" y="3819692"/>
            <a:ext cx="12463670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进制转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5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(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3AF)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3ⅹ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+10ⅹ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+15ⅹ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endParaRPr kumimoji="0" lang="en-US" altLang="zh-CN" sz="5400" b="1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   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=(943)</a:t>
            </a:r>
            <a:r>
              <a:rPr kumimoji="0" lang="en-US" altLang="zh-CN" sz="60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0FE7BAE-4762-8E7A-8434-AC96CA7D06AC}"/>
              </a:ext>
            </a:extLst>
          </p:cNvPr>
          <p:cNvGrpSpPr/>
          <p:nvPr/>
        </p:nvGrpSpPr>
        <p:grpSpPr>
          <a:xfrm>
            <a:off x="541422" y="5418448"/>
            <a:ext cx="1267866" cy="377838"/>
            <a:chOff x="999036" y="2910830"/>
            <a:chExt cx="1142178" cy="62008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126BD26D-CEB1-E56A-A018-1BCFB3887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036" y="3031884"/>
              <a:ext cx="377068" cy="464084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4DF024C-7BAF-EA23-8E3A-E0C76E2A0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6556" y="3031884"/>
              <a:ext cx="298457" cy="426367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150B8411-0A27-5E30-35AA-708A047D6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7322" y="2910830"/>
              <a:ext cx="333892" cy="620085"/>
            </a:xfrm>
            <a:prstGeom prst="rect">
              <a:avLst/>
            </a:prstGeom>
          </p:spPr>
        </p:pic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05A3207-5D22-5966-772E-EB7B884A93E8}"/>
              </a:ext>
            </a:extLst>
          </p:cNvPr>
          <p:cNvSpPr/>
          <p:nvPr/>
        </p:nvSpPr>
        <p:spPr>
          <a:xfrm>
            <a:off x="3395404" y="1810653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C7D28B9-8CD7-B292-5B50-7EF4E2CBF65F}"/>
              </a:ext>
            </a:extLst>
          </p:cNvPr>
          <p:cNvSpPr/>
          <p:nvPr/>
        </p:nvSpPr>
        <p:spPr>
          <a:xfrm>
            <a:off x="3763618" y="3917635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AD6FAA9B-F4FB-4031-25FA-500C0BD3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37D1C1-CBFB-DC3E-5EBA-413E91BBE21D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33F60E7-A27E-A720-9A5F-0BD7AD2F8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09A2912-57F3-720D-25EF-88E7DEE23050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296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9CFA-7BCD-C568-DA46-A0F1E238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131396-8AC9-055F-C91F-73AF0887D67C}"/>
              </a:ext>
            </a:extLst>
          </p:cNvPr>
          <p:cNvSpPr/>
          <p:nvPr/>
        </p:nvSpPr>
        <p:spPr>
          <a:xfrm>
            <a:off x="1616765" y="3429000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FF90B8D-D8E1-1BB0-562E-EC7818912002}"/>
              </a:ext>
            </a:extLst>
          </p:cNvPr>
          <p:cNvSpPr/>
          <p:nvPr/>
        </p:nvSpPr>
        <p:spPr>
          <a:xfrm>
            <a:off x="8438324" y="1346054"/>
            <a:ext cx="2915476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23B08EF-588A-D44A-98FB-AC2F1DA89460}"/>
              </a:ext>
            </a:extLst>
          </p:cNvPr>
          <p:cNvSpPr/>
          <p:nvPr/>
        </p:nvSpPr>
        <p:spPr>
          <a:xfrm>
            <a:off x="6480322" y="3429000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0BF1771-8ECA-3879-A31A-39714F9930BA}"/>
              </a:ext>
            </a:extLst>
          </p:cNvPr>
          <p:cNvSpPr/>
          <p:nvPr/>
        </p:nvSpPr>
        <p:spPr>
          <a:xfrm>
            <a:off x="8666929" y="5521634"/>
            <a:ext cx="2915476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EB1946-B1FD-C231-C5C8-A2BB561E9B8E}"/>
              </a:ext>
            </a:extLst>
          </p:cNvPr>
          <p:cNvSpPr txBox="1"/>
          <p:nvPr/>
        </p:nvSpPr>
        <p:spPr>
          <a:xfrm>
            <a:off x="-79520" y="1046871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数制转换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738C18C-5F1F-FD2F-B854-421DC3D1C082}"/>
              </a:ext>
            </a:extLst>
          </p:cNvPr>
          <p:cNvCxnSpPr>
            <a:cxnSpLocks/>
          </p:cNvCxnSpPr>
          <p:nvPr/>
        </p:nvCxnSpPr>
        <p:spPr>
          <a:xfrm>
            <a:off x="4161182" y="3833441"/>
            <a:ext cx="2252870" cy="0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D67A6CC-E122-27FF-65C6-21E63C1DDA84}"/>
              </a:ext>
            </a:extLst>
          </p:cNvPr>
          <p:cNvCxnSpPr>
            <a:cxnSpLocks/>
          </p:cNvCxnSpPr>
          <p:nvPr/>
        </p:nvCxnSpPr>
        <p:spPr>
          <a:xfrm flipV="1">
            <a:off x="3167265" y="1993014"/>
            <a:ext cx="5194849" cy="1335906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267DD92-91C1-044B-1B35-7D7066E48842}"/>
              </a:ext>
            </a:extLst>
          </p:cNvPr>
          <p:cNvCxnSpPr>
            <a:cxnSpLocks/>
          </p:cNvCxnSpPr>
          <p:nvPr/>
        </p:nvCxnSpPr>
        <p:spPr>
          <a:xfrm flipV="1">
            <a:off x="7805523" y="2252057"/>
            <a:ext cx="1497498" cy="1106027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ACF67C3-3D6E-3E1C-74F3-86C929FA5662}"/>
              </a:ext>
            </a:extLst>
          </p:cNvPr>
          <p:cNvSpPr txBox="1"/>
          <p:nvPr/>
        </p:nvSpPr>
        <p:spPr>
          <a:xfrm>
            <a:off x="3949147" y="2898033"/>
            <a:ext cx="25311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29BB010-1295-8A7B-F73F-A75685600682}"/>
              </a:ext>
            </a:extLst>
          </p:cNvPr>
          <p:cNvCxnSpPr>
            <a:cxnSpLocks/>
          </p:cNvCxnSpPr>
          <p:nvPr/>
        </p:nvCxnSpPr>
        <p:spPr>
          <a:xfrm>
            <a:off x="3167265" y="4369906"/>
            <a:ext cx="5711709" cy="1622181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460A784-9078-83FA-321B-9AC6BEB57707}"/>
              </a:ext>
            </a:extLst>
          </p:cNvPr>
          <p:cNvSpPr txBox="1"/>
          <p:nvPr/>
        </p:nvSpPr>
        <p:spPr>
          <a:xfrm>
            <a:off x="3949147" y="1821170"/>
            <a:ext cx="2915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16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4912A04-1894-BB83-174F-B75AAD704C1C}"/>
              </a:ext>
            </a:extLst>
          </p:cNvPr>
          <p:cNvSpPr txBox="1"/>
          <p:nvPr/>
        </p:nvSpPr>
        <p:spPr>
          <a:xfrm>
            <a:off x="4161182" y="4980005"/>
            <a:ext cx="2915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47B800E-9718-ED5A-CFC3-096E2719E953}"/>
              </a:ext>
            </a:extLst>
          </p:cNvPr>
          <p:cNvCxnSpPr>
            <a:cxnSpLocks/>
          </p:cNvCxnSpPr>
          <p:nvPr/>
        </p:nvCxnSpPr>
        <p:spPr>
          <a:xfrm>
            <a:off x="7805523" y="4440822"/>
            <a:ext cx="1338473" cy="940906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F0794B8C-022A-8EAC-D565-DC98F4FB472F}"/>
              </a:ext>
            </a:extLst>
          </p:cNvPr>
          <p:cNvSpPr txBox="1"/>
          <p:nvPr/>
        </p:nvSpPr>
        <p:spPr>
          <a:xfrm>
            <a:off x="8786183" y="2588096"/>
            <a:ext cx="2915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9A037FB-0E11-6C15-54BE-4AE7F9A05BDD}"/>
              </a:ext>
            </a:extLst>
          </p:cNvPr>
          <p:cNvSpPr txBox="1"/>
          <p:nvPr/>
        </p:nvSpPr>
        <p:spPr>
          <a:xfrm>
            <a:off x="8772952" y="4244368"/>
            <a:ext cx="29154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45844E-9FC4-E07F-3D25-50336F28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23" y="3387958"/>
            <a:ext cx="1005107" cy="9488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27E70D-CB62-09A1-E1C0-5F541502D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812" y="3632762"/>
            <a:ext cx="1122927" cy="807720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12164952-BDF2-8E41-CC9B-AEF43BE8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F403247-D017-8F1D-A123-1EEC150815BB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9D190818-2530-AB35-DCEA-E6A5653B2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9797906-54CA-F898-CE88-C4817506B967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45181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B5B1-9EDB-FBAB-202A-1B34CA7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FD4FC7FC-9929-7FFC-D579-AE81A262B050}"/>
              </a:ext>
            </a:extLst>
          </p:cNvPr>
          <p:cNvSpPr txBox="1"/>
          <p:nvPr/>
        </p:nvSpPr>
        <p:spPr>
          <a:xfrm>
            <a:off x="0" y="1084057"/>
            <a:ext cx="13994297" cy="113877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转二进制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取余直到商为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D4CD3E-08C0-B124-FA9B-71052F4760EA}"/>
              </a:ext>
            </a:extLst>
          </p:cNvPr>
          <p:cNvSpPr txBox="1"/>
          <p:nvPr/>
        </p:nvSpPr>
        <p:spPr>
          <a:xfrm>
            <a:off x="106017" y="2150975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(26)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=(11010)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5400" b="1" i="0" u="none" strike="noStrike" kern="1200" cap="none" spc="0" normalizeH="0" baseline="-2500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" name="图片 5" descr="屏幕剪辑">
            <a:extLst>
              <a:ext uri="{FF2B5EF4-FFF2-40B4-BE49-F238E27FC236}">
                <a16:creationId xmlns:a16="http://schemas.microsoft.com/office/drawing/2014/main" id="{AE6DE254-FCC7-70A6-10CC-E3B3A0ABB9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7" t="19094" r="6229" b="3019"/>
          <a:stretch/>
        </p:blipFill>
        <p:spPr>
          <a:xfrm>
            <a:off x="5107762" y="2027583"/>
            <a:ext cx="7084238" cy="4391993"/>
          </a:xfrm>
          <a:prstGeom prst="rect">
            <a:avLst/>
          </a:prstGeom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A195862-9B96-3189-D40E-F780ACE8395E}"/>
              </a:ext>
            </a:extLst>
          </p:cNvPr>
          <p:cNvCxnSpPr>
            <a:cxnSpLocks/>
          </p:cNvCxnSpPr>
          <p:nvPr/>
        </p:nvCxnSpPr>
        <p:spPr>
          <a:xfrm>
            <a:off x="5989983" y="2346222"/>
            <a:ext cx="1384851" cy="728083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77A4FAB-A49B-0FD9-E9BF-3169DAF522DE}"/>
              </a:ext>
            </a:extLst>
          </p:cNvPr>
          <p:cNvSpPr txBox="1"/>
          <p:nvPr/>
        </p:nvSpPr>
        <p:spPr>
          <a:xfrm>
            <a:off x="7227934" y="2014370"/>
            <a:ext cx="10081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26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FD68AAC-0635-5FF3-3B34-6A7BFFCA4483}"/>
              </a:ext>
            </a:extLst>
          </p:cNvPr>
          <p:cNvCxnSpPr/>
          <p:nvPr/>
        </p:nvCxnSpPr>
        <p:spPr>
          <a:xfrm>
            <a:off x="7248938" y="2585125"/>
            <a:ext cx="10081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0F9BD16-B3B5-5037-56CD-29C13746F6A8}"/>
              </a:ext>
            </a:extLst>
          </p:cNvPr>
          <p:cNvSpPr txBox="1"/>
          <p:nvPr/>
        </p:nvSpPr>
        <p:spPr>
          <a:xfrm>
            <a:off x="7420091" y="2648910"/>
            <a:ext cx="10081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642701-5AC7-EF71-0442-ACA1C83CE6C1}"/>
              </a:ext>
            </a:extLst>
          </p:cNvPr>
          <p:cNvSpPr txBox="1"/>
          <p:nvPr/>
        </p:nvSpPr>
        <p:spPr>
          <a:xfrm>
            <a:off x="8048016" y="3455936"/>
            <a:ext cx="10081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0C5005-B021-9B96-2496-A6631386AA4E}"/>
              </a:ext>
            </a:extLst>
          </p:cNvPr>
          <p:cNvSpPr txBox="1"/>
          <p:nvPr/>
        </p:nvSpPr>
        <p:spPr>
          <a:xfrm>
            <a:off x="8715967" y="4312005"/>
            <a:ext cx="10081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8CE5C9A-A07E-24EE-CAC7-952E75E2E50D}"/>
              </a:ext>
            </a:extLst>
          </p:cNvPr>
          <p:cNvSpPr txBox="1"/>
          <p:nvPr/>
        </p:nvSpPr>
        <p:spPr>
          <a:xfrm>
            <a:off x="9118906" y="5028579"/>
            <a:ext cx="10081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40DDADB-9F51-00E9-EBCD-C94989B17107}"/>
              </a:ext>
            </a:extLst>
          </p:cNvPr>
          <p:cNvCxnSpPr>
            <a:cxnSpLocks/>
          </p:cNvCxnSpPr>
          <p:nvPr/>
        </p:nvCxnSpPr>
        <p:spPr>
          <a:xfrm>
            <a:off x="6096000" y="3086781"/>
            <a:ext cx="1828149" cy="716009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892DD0A-B617-E909-6C60-B0997BC7F48F}"/>
              </a:ext>
            </a:extLst>
          </p:cNvPr>
          <p:cNvCxnSpPr>
            <a:cxnSpLocks/>
          </p:cNvCxnSpPr>
          <p:nvPr/>
        </p:nvCxnSpPr>
        <p:spPr>
          <a:xfrm>
            <a:off x="6096000" y="3893807"/>
            <a:ext cx="2332208" cy="859371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DFA4F57-2AA7-A4A8-46B3-B12233DAB7D4}"/>
              </a:ext>
            </a:extLst>
          </p:cNvPr>
          <p:cNvCxnSpPr>
            <a:cxnSpLocks/>
          </p:cNvCxnSpPr>
          <p:nvPr/>
        </p:nvCxnSpPr>
        <p:spPr>
          <a:xfrm>
            <a:off x="6096000" y="4746316"/>
            <a:ext cx="2835965" cy="740084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66C004C-E004-FC8C-4924-A7A5DAB48DCE}"/>
              </a:ext>
            </a:extLst>
          </p:cNvPr>
          <p:cNvCxnSpPr>
            <a:cxnSpLocks/>
          </p:cNvCxnSpPr>
          <p:nvPr/>
        </p:nvCxnSpPr>
        <p:spPr>
          <a:xfrm>
            <a:off x="6134155" y="5451358"/>
            <a:ext cx="2835965" cy="740084"/>
          </a:xfrm>
          <a:prstGeom prst="straightConnector1">
            <a:avLst/>
          </a:prstGeom>
          <a:ln w="76200">
            <a:solidFill>
              <a:srgbClr val="843C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28AA8FD-0B60-54EB-00F6-11B2C259B674}"/>
              </a:ext>
            </a:extLst>
          </p:cNvPr>
          <p:cNvSpPr txBox="1"/>
          <p:nvPr/>
        </p:nvSpPr>
        <p:spPr>
          <a:xfrm>
            <a:off x="-1" y="3244114"/>
            <a:ext cx="506960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二进制位数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=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除法次数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从左到右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=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余数后先后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B5855DA-5CAC-58F1-0128-7C5D080D4D86}"/>
              </a:ext>
            </a:extLst>
          </p:cNvPr>
          <p:cNvSpPr/>
          <p:nvPr/>
        </p:nvSpPr>
        <p:spPr>
          <a:xfrm>
            <a:off x="3246711" y="1123510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AEFD1648-2640-9D26-5283-A6DDE2B7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C6E10B-FB80-BF7B-1E94-54188DFF59EE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7F86E91-3C30-35BA-9A7A-36676A4BF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3750BAC-B079-461E-E7C4-6A289ED8CE35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972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B9C77-9ACD-BF7E-79F7-95D833F4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1E4FE22-3D4E-B7D4-FC0D-887BE77E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47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6000" b="1" dirty="0">
                <a:latin typeface="华光楷体_CNKI" pitchFamily="2" charset="-122"/>
                <a:ea typeface="华光楷体_CNKI" pitchFamily="2" charset="-122"/>
              </a:rPr>
              <a:t>2.1 </a:t>
            </a:r>
            <a:r>
              <a:rPr lang="zh-CN" altLang="en-US" sz="6000" b="1" dirty="0">
                <a:latin typeface="华光楷体_CNKI" pitchFamily="2" charset="-122"/>
                <a:ea typeface="华光楷体_CNKI" pitchFamily="2" charset="-122"/>
              </a:rPr>
              <a:t>信息表示法</a:t>
            </a:r>
            <a:br>
              <a:rPr lang="zh-CN" altLang="en-US" sz="6000" b="1" dirty="0">
                <a:latin typeface="华光楷体_CNKI" pitchFamily="2" charset="-122"/>
                <a:ea typeface="华光楷体_CNKI" pitchFamily="2" charset="-122"/>
              </a:rPr>
            </a:br>
            <a:endParaRPr lang="zh-CN" altLang="en-US" sz="6000" b="1" dirty="0">
              <a:latin typeface="华光楷体_CNKI" pitchFamily="2" charset="-122"/>
              <a:ea typeface="华光楷体_CNKI" pitchFamily="2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0102201-F990-1EDE-B039-B1369A8EB7D1}"/>
              </a:ext>
            </a:extLst>
          </p:cNvPr>
          <p:cNvCxnSpPr/>
          <p:nvPr/>
        </p:nvCxnSpPr>
        <p:spPr>
          <a:xfrm flipV="1">
            <a:off x="0" y="1061714"/>
            <a:ext cx="12192000" cy="1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8846B45-6744-5B8E-7834-000540CA7A2F}"/>
              </a:ext>
            </a:extLst>
          </p:cNvPr>
          <p:cNvSpPr txBox="1"/>
          <p:nvPr/>
        </p:nvSpPr>
        <p:spPr>
          <a:xfrm>
            <a:off x="0" y="1084057"/>
            <a:ext cx="13994297" cy="861774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转二进制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取余直到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商为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BF0D1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9962A2-BE00-7BFF-6417-26C23FF45428}"/>
              </a:ext>
            </a:extLst>
          </p:cNvPr>
          <p:cNvSpPr txBox="1"/>
          <p:nvPr/>
        </p:nvSpPr>
        <p:spPr>
          <a:xfrm>
            <a:off x="3476567" y="1806775"/>
            <a:ext cx="5286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(26)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=(11010)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5400" b="1" i="0" u="none" strike="noStrike" kern="1200" cap="none" spc="0" normalizeH="0" baseline="-2500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CC3B4ED-B66B-5EB3-7DEC-D9988D53C501}"/>
              </a:ext>
            </a:extLst>
          </p:cNvPr>
          <p:cNvGrpSpPr/>
          <p:nvPr/>
        </p:nvGrpSpPr>
        <p:grpSpPr>
          <a:xfrm>
            <a:off x="1258954" y="2984589"/>
            <a:ext cx="1861878" cy="2351743"/>
            <a:chOff x="5473148" y="1928958"/>
            <a:chExt cx="1861878" cy="2351743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71BF785-6177-5B49-B4CB-EF6E99EA7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2586952"/>
              <a:ext cx="901148" cy="1047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704A2D6-E0A7-CF69-F676-E7655BA2078D}"/>
                </a:ext>
              </a:extLst>
            </p:cNvPr>
            <p:cNvGrpSpPr/>
            <p:nvPr/>
          </p:nvGrpSpPr>
          <p:grpSpPr>
            <a:xfrm>
              <a:off x="5473148" y="2509215"/>
              <a:ext cx="1729746" cy="1298713"/>
              <a:chOff x="5473148" y="2509215"/>
              <a:chExt cx="1729746" cy="1298713"/>
            </a:xfrm>
          </p:grpSpPr>
          <p:sp>
            <p:nvSpPr>
              <p:cNvPr id="9" name="弧形 8">
                <a:extLst>
                  <a:ext uri="{FF2B5EF4-FFF2-40B4-BE49-F238E27FC236}">
                    <a16:creationId xmlns:a16="http://schemas.microsoft.com/office/drawing/2014/main" id="{3FB3EBC8-4A5D-7C5D-9E3A-FC2CDA26A0CC}"/>
                  </a:ext>
                </a:extLst>
              </p:cNvPr>
              <p:cNvSpPr/>
              <p:nvPr/>
            </p:nvSpPr>
            <p:spPr>
              <a:xfrm rot="1990101">
                <a:off x="5473148" y="2509215"/>
                <a:ext cx="622852" cy="1298713"/>
              </a:xfrm>
              <a:prstGeom prst="arc">
                <a:avLst>
                  <a:gd name="adj1" fmla="val 16320901"/>
                  <a:gd name="adj2" fmla="val 20069028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075140-8E68-92DA-361D-A80CF1F12EAC}"/>
                  </a:ext>
                </a:extLst>
              </p:cNvPr>
              <p:cNvSpPr txBox="1"/>
              <p:nvPr/>
            </p:nvSpPr>
            <p:spPr>
              <a:xfrm>
                <a:off x="6194777" y="3014681"/>
                <a:ext cx="1008117" cy="1971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26</a:t>
                </a:r>
                <a:endPara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1166335-CED7-2550-B739-C42170BCBFB3}"/>
                </a:ext>
              </a:extLst>
            </p:cNvPr>
            <p:cNvSpPr txBox="1"/>
            <p:nvPr/>
          </p:nvSpPr>
          <p:spPr>
            <a:xfrm>
              <a:off x="5625548" y="2503965"/>
              <a:ext cx="47045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BF0D1"/>
                  </a:highligh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943F682-9034-F63E-5FE0-38BF69ED6A10}"/>
                </a:ext>
              </a:extLst>
            </p:cNvPr>
            <p:cNvSpPr txBox="1"/>
            <p:nvPr/>
          </p:nvSpPr>
          <p:spPr>
            <a:xfrm>
              <a:off x="6281868" y="1928958"/>
              <a:ext cx="83393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03EAA2-379E-916F-8B0B-00EF6B65D567}"/>
                </a:ext>
              </a:extLst>
            </p:cNvPr>
            <p:cNvSpPr txBox="1"/>
            <p:nvPr/>
          </p:nvSpPr>
          <p:spPr>
            <a:xfrm>
              <a:off x="6334429" y="3040647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26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D8A15711-1FB4-0015-AF71-5F8792B6B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8663" y="3629106"/>
              <a:ext cx="901148" cy="1047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29BFDF1-3D74-C44D-1E26-374611F27C74}"/>
                </a:ext>
              </a:extLst>
            </p:cNvPr>
            <p:cNvSpPr txBox="1"/>
            <p:nvPr/>
          </p:nvSpPr>
          <p:spPr>
            <a:xfrm>
              <a:off x="6606215" y="3572815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404618F-5D87-8F3D-AA4A-EB5EF07D9A04}"/>
              </a:ext>
            </a:extLst>
          </p:cNvPr>
          <p:cNvGrpSpPr/>
          <p:nvPr/>
        </p:nvGrpSpPr>
        <p:grpSpPr>
          <a:xfrm>
            <a:off x="3141327" y="2978491"/>
            <a:ext cx="1861878" cy="2374714"/>
            <a:chOff x="7355521" y="1922860"/>
            <a:chExt cx="1861878" cy="2374714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D3F9900D-E1F4-ADAD-80D0-0F25FF5C710D}"/>
                </a:ext>
              </a:extLst>
            </p:cNvPr>
            <p:cNvGrpSpPr/>
            <p:nvPr/>
          </p:nvGrpSpPr>
          <p:grpSpPr>
            <a:xfrm>
              <a:off x="7355521" y="1922860"/>
              <a:ext cx="1861878" cy="2374714"/>
              <a:chOff x="5473148" y="1905987"/>
              <a:chExt cx="1861878" cy="2374714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3B4F3E4-EB36-45DF-2827-3AB8183357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586952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弧形 38">
                <a:extLst>
                  <a:ext uri="{FF2B5EF4-FFF2-40B4-BE49-F238E27FC236}">
                    <a16:creationId xmlns:a16="http://schemas.microsoft.com/office/drawing/2014/main" id="{590B3821-9E91-E6D1-540B-ADC7110C4A99}"/>
                  </a:ext>
                </a:extLst>
              </p:cNvPr>
              <p:cNvSpPr/>
              <p:nvPr/>
            </p:nvSpPr>
            <p:spPr>
              <a:xfrm rot="1990101">
                <a:off x="5473148" y="2509215"/>
                <a:ext cx="622852" cy="1298713"/>
              </a:xfrm>
              <a:prstGeom prst="arc">
                <a:avLst>
                  <a:gd name="adj1" fmla="val 16320901"/>
                  <a:gd name="adj2" fmla="val 20069028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A7631CE-E180-3CE6-E5A5-216075CBBE12}"/>
                  </a:ext>
                </a:extLst>
              </p:cNvPr>
              <p:cNvSpPr txBox="1"/>
              <p:nvPr/>
            </p:nvSpPr>
            <p:spPr>
              <a:xfrm>
                <a:off x="5625548" y="2503965"/>
                <a:ext cx="470452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3C0C"/>
                    </a:solidFill>
                    <a:effectLst/>
                    <a:highlight>
                      <a:srgbClr val="FBF0D1"/>
                    </a:highligh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BF0D1"/>
                  </a:highligh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277BEEE-DD3C-EAFD-BC30-D79B1913110E}"/>
                  </a:ext>
                </a:extLst>
              </p:cNvPr>
              <p:cNvSpPr txBox="1"/>
              <p:nvPr/>
            </p:nvSpPr>
            <p:spPr>
              <a:xfrm>
                <a:off x="6501091" y="1905987"/>
                <a:ext cx="8339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6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4384D9A-9608-7E82-36C8-255A81DC845F}"/>
                  </a:ext>
                </a:extLst>
              </p:cNvPr>
              <p:cNvSpPr txBox="1"/>
              <p:nvPr/>
            </p:nvSpPr>
            <p:spPr>
              <a:xfrm>
                <a:off x="6340891" y="3039670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12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FFEEB83-E40A-F48D-804D-4E2C502724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8663" y="3629106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98389ED-7B3B-8D78-71F5-037955089E96}"/>
                  </a:ext>
                </a:extLst>
              </p:cNvPr>
              <p:cNvSpPr txBox="1"/>
              <p:nvPr/>
            </p:nvSpPr>
            <p:spPr>
              <a:xfrm>
                <a:off x="6606215" y="3572815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E0BEAC5-8457-0A8A-26CD-8FF55D13A1FF}"/>
                </a:ext>
              </a:extLst>
            </p:cNvPr>
            <p:cNvSpPr txBox="1"/>
            <p:nvPr/>
          </p:nvSpPr>
          <p:spPr>
            <a:xfrm>
              <a:off x="8177164" y="2546773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BCF0143-9682-BEA7-35A8-1B5593733D96}"/>
              </a:ext>
            </a:extLst>
          </p:cNvPr>
          <p:cNvGrpSpPr/>
          <p:nvPr/>
        </p:nvGrpSpPr>
        <p:grpSpPr>
          <a:xfrm>
            <a:off x="5176100" y="2978491"/>
            <a:ext cx="1716663" cy="2357841"/>
            <a:chOff x="7355521" y="1976534"/>
            <a:chExt cx="1716663" cy="2357841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3820D341-726A-7C0B-B9B6-9C98FA45EE7D}"/>
                </a:ext>
              </a:extLst>
            </p:cNvPr>
            <p:cNvGrpSpPr/>
            <p:nvPr/>
          </p:nvGrpSpPr>
          <p:grpSpPr>
            <a:xfrm>
              <a:off x="7355521" y="1976534"/>
              <a:ext cx="1716663" cy="2357841"/>
              <a:chOff x="5473148" y="1959661"/>
              <a:chExt cx="1716663" cy="235784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ABBB858-A911-D269-F38F-1F0F3E6A5B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586952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弧形 48">
                <a:extLst>
                  <a:ext uri="{FF2B5EF4-FFF2-40B4-BE49-F238E27FC236}">
                    <a16:creationId xmlns:a16="http://schemas.microsoft.com/office/drawing/2014/main" id="{3A97F4EA-93D8-E1CE-F744-102822F892E9}"/>
                  </a:ext>
                </a:extLst>
              </p:cNvPr>
              <p:cNvSpPr/>
              <p:nvPr/>
            </p:nvSpPr>
            <p:spPr>
              <a:xfrm rot="1990101">
                <a:off x="5473148" y="2509215"/>
                <a:ext cx="622852" cy="1298713"/>
              </a:xfrm>
              <a:prstGeom prst="arc">
                <a:avLst>
                  <a:gd name="adj1" fmla="val 16320901"/>
                  <a:gd name="adj2" fmla="val 20069028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440E361-69AE-0EEB-647F-2E590CDD593C}"/>
                  </a:ext>
                </a:extLst>
              </p:cNvPr>
              <p:cNvSpPr txBox="1"/>
              <p:nvPr/>
            </p:nvSpPr>
            <p:spPr>
              <a:xfrm>
                <a:off x="5625548" y="2503965"/>
                <a:ext cx="470452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3C0C"/>
                    </a:solidFill>
                    <a:effectLst/>
                    <a:highlight>
                      <a:srgbClr val="FBF0D1"/>
                    </a:highligh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BF0D1"/>
                  </a:highligh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1B54C42-D69E-E0EA-4495-DF602B28038D}"/>
                  </a:ext>
                </a:extLst>
              </p:cNvPr>
              <p:cNvSpPr txBox="1"/>
              <p:nvPr/>
            </p:nvSpPr>
            <p:spPr>
              <a:xfrm>
                <a:off x="6322269" y="1959661"/>
                <a:ext cx="8339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3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92553FF-6D92-EAC2-B39F-FA1CF0655A14}"/>
                  </a:ext>
                </a:extLst>
              </p:cNvPr>
              <p:cNvSpPr txBox="1"/>
              <p:nvPr/>
            </p:nvSpPr>
            <p:spPr>
              <a:xfrm>
                <a:off x="6270031" y="3065743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6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B812115-FFD0-25D2-4510-432B471B8B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8663" y="3629106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0E0C101-AEBD-DB4A-5364-DAB6F5DDA587}"/>
                  </a:ext>
                </a:extLst>
              </p:cNvPr>
              <p:cNvSpPr txBox="1"/>
              <p:nvPr/>
            </p:nvSpPr>
            <p:spPr>
              <a:xfrm>
                <a:off x="6327424" y="3609616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84AAAA0-55F5-5B0F-8ADC-E71045BA1B58}"/>
                </a:ext>
              </a:extLst>
            </p:cNvPr>
            <p:cNvSpPr txBox="1"/>
            <p:nvPr/>
          </p:nvSpPr>
          <p:spPr>
            <a:xfrm>
              <a:off x="8177164" y="2546773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578A935-88CE-EB09-8494-74E7FD66812A}"/>
              </a:ext>
            </a:extLst>
          </p:cNvPr>
          <p:cNvGrpSpPr/>
          <p:nvPr/>
        </p:nvGrpSpPr>
        <p:grpSpPr>
          <a:xfrm>
            <a:off x="7147277" y="2933253"/>
            <a:ext cx="1716663" cy="2357841"/>
            <a:chOff x="7355521" y="1976534"/>
            <a:chExt cx="1716663" cy="2357841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ED9C3C4F-E80F-4098-9666-11A81C99B524}"/>
                </a:ext>
              </a:extLst>
            </p:cNvPr>
            <p:cNvGrpSpPr/>
            <p:nvPr/>
          </p:nvGrpSpPr>
          <p:grpSpPr>
            <a:xfrm>
              <a:off x="7355521" y="1976534"/>
              <a:ext cx="1716663" cy="2357841"/>
              <a:chOff x="5473148" y="1959661"/>
              <a:chExt cx="1716663" cy="2357841"/>
            </a:xfrm>
          </p:grpSpPr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27AC1F2D-3A4F-E656-3FD0-E3850C67BE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586952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弧形 58">
                <a:extLst>
                  <a:ext uri="{FF2B5EF4-FFF2-40B4-BE49-F238E27FC236}">
                    <a16:creationId xmlns:a16="http://schemas.microsoft.com/office/drawing/2014/main" id="{6C3099E7-AE30-90D8-2F01-3476915CB20F}"/>
                  </a:ext>
                </a:extLst>
              </p:cNvPr>
              <p:cNvSpPr/>
              <p:nvPr/>
            </p:nvSpPr>
            <p:spPr>
              <a:xfrm rot="1990101">
                <a:off x="5473148" y="2509215"/>
                <a:ext cx="622852" cy="1298713"/>
              </a:xfrm>
              <a:prstGeom prst="arc">
                <a:avLst>
                  <a:gd name="adj1" fmla="val 16320901"/>
                  <a:gd name="adj2" fmla="val 20069028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B25B9D8-5E2B-F5B4-D20F-35CEA83667CA}"/>
                  </a:ext>
                </a:extLst>
              </p:cNvPr>
              <p:cNvSpPr txBox="1"/>
              <p:nvPr/>
            </p:nvSpPr>
            <p:spPr>
              <a:xfrm>
                <a:off x="5625548" y="2503965"/>
                <a:ext cx="470452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3C0C"/>
                    </a:solidFill>
                    <a:effectLst/>
                    <a:highlight>
                      <a:srgbClr val="FBF0D1"/>
                    </a:highligh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BF0D1"/>
                  </a:highligh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E5C5504-0C54-3906-E506-B90B58FAF413}"/>
                  </a:ext>
                </a:extLst>
              </p:cNvPr>
              <p:cNvSpPr txBox="1"/>
              <p:nvPr/>
            </p:nvSpPr>
            <p:spPr>
              <a:xfrm>
                <a:off x="6322269" y="1959661"/>
                <a:ext cx="8339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FD72545-5DE6-B49D-69E2-9CCEEBEA986F}"/>
                  </a:ext>
                </a:extLst>
              </p:cNvPr>
              <p:cNvSpPr txBox="1"/>
              <p:nvPr/>
            </p:nvSpPr>
            <p:spPr>
              <a:xfrm>
                <a:off x="6270031" y="3065743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C14CDC50-1F22-2373-4F29-696D8A2E51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8663" y="3629106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B0FBB1A-742A-6AEC-3337-5B1B5742F122}"/>
                  </a:ext>
                </a:extLst>
              </p:cNvPr>
              <p:cNvSpPr txBox="1"/>
              <p:nvPr/>
            </p:nvSpPr>
            <p:spPr>
              <a:xfrm>
                <a:off x="6327424" y="3609616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E6728F1-8916-A7F7-1A3A-19FAE2C08F10}"/>
                </a:ext>
              </a:extLst>
            </p:cNvPr>
            <p:cNvSpPr txBox="1"/>
            <p:nvPr/>
          </p:nvSpPr>
          <p:spPr>
            <a:xfrm>
              <a:off x="8177164" y="2546773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7D048CB-1583-96E6-2738-4076425EB282}"/>
              </a:ext>
            </a:extLst>
          </p:cNvPr>
          <p:cNvGrpSpPr/>
          <p:nvPr/>
        </p:nvGrpSpPr>
        <p:grpSpPr>
          <a:xfrm>
            <a:off x="8671277" y="2942998"/>
            <a:ext cx="1716663" cy="2357841"/>
            <a:chOff x="7355521" y="1976534"/>
            <a:chExt cx="1716663" cy="2357841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059EB91-CFB9-2684-DE37-B4E8F6F423AA}"/>
                </a:ext>
              </a:extLst>
            </p:cNvPr>
            <p:cNvGrpSpPr/>
            <p:nvPr/>
          </p:nvGrpSpPr>
          <p:grpSpPr>
            <a:xfrm>
              <a:off x="7355521" y="1976534"/>
              <a:ext cx="1716663" cy="2357841"/>
              <a:chOff x="5473148" y="1959661"/>
              <a:chExt cx="1716663" cy="235784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FCA5C5FC-C27C-9E2B-D602-28E8B856C9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586952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36FE312C-C0DA-4F1B-E82F-0146962637DF}"/>
                  </a:ext>
                </a:extLst>
              </p:cNvPr>
              <p:cNvSpPr/>
              <p:nvPr/>
            </p:nvSpPr>
            <p:spPr>
              <a:xfrm rot="1990101">
                <a:off x="5473148" y="2509215"/>
                <a:ext cx="622852" cy="1298713"/>
              </a:xfrm>
              <a:prstGeom prst="arc">
                <a:avLst>
                  <a:gd name="adj1" fmla="val 16320901"/>
                  <a:gd name="adj2" fmla="val 20069028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FDF69CB9-8606-A19A-EF00-C99E16962E69}"/>
                  </a:ext>
                </a:extLst>
              </p:cNvPr>
              <p:cNvSpPr txBox="1"/>
              <p:nvPr/>
            </p:nvSpPr>
            <p:spPr>
              <a:xfrm>
                <a:off x="5625548" y="2503965"/>
                <a:ext cx="470452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3C0C"/>
                    </a:solidFill>
                    <a:effectLst/>
                    <a:highlight>
                      <a:srgbClr val="FBF0D1"/>
                    </a:highligh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2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BF0D1"/>
                  </a:highligh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6712A45-D593-5FEF-4CD8-E1E3921C5575}"/>
                  </a:ext>
                </a:extLst>
              </p:cNvPr>
              <p:cNvSpPr txBox="1"/>
              <p:nvPr/>
            </p:nvSpPr>
            <p:spPr>
              <a:xfrm>
                <a:off x="6322269" y="1959661"/>
                <a:ext cx="8339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5655A5C1-DA10-387F-FB5C-2516A3A330C2}"/>
                  </a:ext>
                </a:extLst>
              </p:cNvPr>
              <p:cNvSpPr txBox="1"/>
              <p:nvPr/>
            </p:nvSpPr>
            <p:spPr>
              <a:xfrm>
                <a:off x="6270031" y="3065743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9DF0FB25-E6A6-C2D3-30AD-670806A11A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8663" y="3629106"/>
                <a:ext cx="901148" cy="1047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FCBC81D1-00F7-ED23-D138-07CF6690E97F}"/>
                  </a:ext>
                </a:extLst>
              </p:cNvPr>
              <p:cNvSpPr txBox="1"/>
              <p:nvPr/>
            </p:nvSpPr>
            <p:spPr>
              <a:xfrm>
                <a:off x="6327424" y="3609616"/>
                <a:ext cx="72881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8259661-E4AD-3799-B47B-37445C90019A}"/>
                </a:ext>
              </a:extLst>
            </p:cNvPr>
            <p:cNvSpPr txBox="1"/>
            <p:nvPr/>
          </p:nvSpPr>
          <p:spPr>
            <a:xfrm>
              <a:off x="8177164" y="2546773"/>
              <a:ext cx="72881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75" name="椭圆 74">
            <a:extLst>
              <a:ext uri="{FF2B5EF4-FFF2-40B4-BE49-F238E27FC236}">
                <a16:creationId xmlns:a16="http://schemas.microsoft.com/office/drawing/2014/main" id="{24E51F3B-9C67-11D5-F81D-D65E98F76D5E}"/>
              </a:ext>
            </a:extLst>
          </p:cNvPr>
          <p:cNvSpPr/>
          <p:nvPr/>
        </p:nvSpPr>
        <p:spPr>
          <a:xfrm>
            <a:off x="2186328" y="5289103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DA45B3A4-42FC-971D-0655-9B3ED972C07A}"/>
              </a:ext>
            </a:extLst>
          </p:cNvPr>
          <p:cNvSpPr/>
          <p:nvPr/>
        </p:nvSpPr>
        <p:spPr>
          <a:xfrm>
            <a:off x="4168038" y="5284211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811ACBB9-F5F3-8B1F-CD21-B0333B7965DA}"/>
              </a:ext>
            </a:extLst>
          </p:cNvPr>
          <p:cNvSpPr/>
          <p:nvPr/>
        </p:nvSpPr>
        <p:spPr>
          <a:xfrm>
            <a:off x="5946808" y="5300764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9B4D794-E66D-D09E-8187-73D0E356FF3C}"/>
              </a:ext>
            </a:extLst>
          </p:cNvPr>
          <p:cNvSpPr/>
          <p:nvPr/>
        </p:nvSpPr>
        <p:spPr>
          <a:xfrm>
            <a:off x="7843522" y="5277169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DFA839B-7FA6-AD05-8190-44B8491BBCC3}"/>
              </a:ext>
            </a:extLst>
          </p:cNvPr>
          <p:cNvSpPr/>
          <p:nvPr/>
        </p:nvSpPr>
        <p:spPr>
          <a:xfrm>
            <a:off x="9486792" y="5284210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FD380D1-2D4F-30B5-948C-9EC3EEBAE7DE}"/>
              </a:ext>
            </a:extLst>
          </p:cNvPr>
          <p:cNvCxnSpPr>
            <a:cxnSpLocks/>
          </p:cNvCxnSpPr>
          <p:nvPr/>
        </p:nvCxnSpPr>
        <p:spPr>
          <a:xfrm>
            <a:off x="2700735" y="3445368"/>
            <a:ext cx="1392726" cy="441919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6D2A1493-1784-F99A-6A9C-8DFA5CCC1688}"/>
              </a:ext>
            </a:extLst>
          </p:cNvPr>
          <p:cNvCxnSpPr>
            <a:cxnSpLocks/>
          </p:cNvCxnSpPr>
          <p:nvPr/>
        </p:nvCxnSpPr>
        <p:spPr>
          <a:xfrm>
            <a:off x="4684683" y="3409856"/>
            <a:ext cx="1392726" cy="441919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F302C4D9-1689-8473-385A-2D6D3F6717E1}"/>
              </a:ext>
            </a:extLst>
          </p:cNvPr>
          <p:cNvCxnSpPr>
            <a:cxnSpLocks/>
          </p:cNvCxnSpPr>
          <p:nvPr/>
        </p:nvCxnSpPr>
        <p:spPr>
          <a:xfrm>
            <a:off x="6577218" y="3401756"/>
            <a:ext cx="1392726" cy="441919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D3E5228-C3A4-483A-C7BD-5477993D6042}"/>
              </a:ext>
            </a:extLst>
          </p:cNvPr>
          <p:cNvCxnSpPr>
            <a:cxnSpLocks/>
          </p:cNvCxnSpPr>
          <p:nvPr/>
        </p:nvCxnSpPr>
        <p:spPr>
          <a:xfrm>
            <a:off x="8223293" y="3282033"/>
            <a:ext cx="1392726" cy="441919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箭头: 右 86">
            <a:extLst>
              <a:ext uri="{FF2B5EF4-FFF2-40B4-BE49-F238E27FC236}">
                <a16:creationId xmlns:a16="http://schemas.microsoft.com/office/drawing/2014/main" id="{BBDF9D14-1FAB-1921-AB3C-E3CDB3839E6D}"/>
              </a:ext>
            </a:extLst>
          </p:cNvPr>
          <p:cNvSpPr/>
          <p:nvPr/>
        </p:nvSpPr>
        <p:spPr>
          <a:xfrm>
            <a:off x="3184817" y="5427504"/>
            <a:ext cx="535871" cy="314047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DA91B4AA-284D-8F86-B6D5-29E8DEA23019}"/>
              </a:ext>
            </a:extLst>
          </p:cNvPr>
          <p:cNvSpPr/>
          <p:nvPr/>
        </p:nvSpPr>
        <p:spPr>
          <a:xfrm>
            <a:off x="5207071" y="5403909"/>
            <a:ext cx="535871" cy="314047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箭头: 右 88">
            <a:extLst>
              <a:ext uri="{FF2B5EF4-FFF2-40B4-BE49-F238E27FC236}">
                <a16:creationId xmlns:a16="http://schemas.microsoft.com/office/drawing/2014/main" id="{D995654E-0886-4FD3-84F2-1AC37AD74B64}"/>
              </a:ext>
            </a:extLst>
          </p:cNvPr>
          <p:cNvSpPr/>
          <p:nvPr/>
        </p:nvSpPr>
        <p:spPr>
          <a:xfrm>
            <a:off x="6956011" y="5377198"/>
            <a:ext cx="535871" cy="314047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CFB468FB-EA45-D2E7-8F56-F46673367BD1}"/>
              </a:ext>
            </a:extLst>
          </p:cNvPr>
          <p:cNvSpPr/>
          <p:nvPr/>
        </p:nvSpPr>
        <p:spPr>
          <a:xfrm>
            <a:off x="8665643" y="5394017"/>
            <a:ext cx="535871" cy="314047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9DE2FB1-0C5C-413E-A8B3-9D97977826D4}"/>
              </a:ext>
            </a:extLst>
          </p:cNvPr>
          <p:cNvSpPr txBox="1"/>
          <p:nvPr/>
        </p:nvSpPr>
        <p:spPr>
          <a:xfrm>
            <a:off x="9486792" y="5864202"/>
            <a:ext cx="547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386F34B-E81B-CD4D-6C2A-742ECE3E890D}"/>
              </a:ext>
            </a:extLst>
          </p:cNvPr>
          <p:cNvSpPr txBox="1"/>
          <p:nvPr/>
        </p:nvSpPr>
        <p:spPr>
          <a:xfrm>
            <a:off x="7889627" y="5796287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BDAA2F0-C4D0-1115-2EB8-B8179C45D6C8}"/>
              </a:ext>
            </a:extLst>
          </p:cNvPr>
          <p:cNvSpPr txBox="1"/>
          <p:nvPr/>
        </p:nvSpPr>
        <p:spPr>
          <a:xfrm>
            <a:off x="6040055" y="5773943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F3149280-4AA5-E1C8-F2E4-2550EA00B031}"/>
              </a:ext>
            </a:extLst>
          </p:cNvPr>
          <p:cNvSpPr txBox="1"/>
          <p:nvPr/>
        </p:nvSpPr>
        <p:spPr>
          <a:xfrm>
            <a:off x="4190483" y="5771523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1992037-E56A-10D2-247C-D5BC9F7547E0}"/>
              </a:ext>
            </a:extLst>
          </p:cNvPr>
          <p:cNvSpPr txBox="1"/>
          <p:nvPr/>
        </p:nvSpPr>
        <p:spPr>
          <a:xfrm>
            <a:off x="2208571" y="5717956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0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448BE93-22E5-8A62-6AA1-C4BE8847DA4A}"/>
              </a:ext>
            </a:extLst>
          </p:cNvPr>
          <p:cNvSpPr txBox="1"/>
          <p:nvPr/>
        </p:nvSpPr>
        <p:spPr>
          <a:xfrm>
            <a:off x="-300812" y="6099580"/>
            <a:ext cx="5089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二进制位置</a:t>
            </a:r>
            <a:endParaRPr kumimoji="0" lang="zh-CN" altLang="en-US" sz="48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7545AD0-8097-5E71-A8CE-E3E83A645770}"/>
              </a:ext>
            </a:extLst>
          </p:cNvPr>
          <p:cNvSpPr txBox="1"/>
          <p:nvPr/>
        </p:nvSpPr>
        <p:spPr>
          <a:xfrm>
            <a:off x="-185778" y="5095529"/>
            <a:ext cx="3527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运算顺序</a:t>
            </a:r>
            <a:endParaRPr kumimoji="0" lang="zh-CN" altLang="en-US" sz="48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CED05E5-ED73-D982-E474-77C0D823D896}"/>
              </a:ext>
            </a:extLst>
          </p:cNvPr>
          <p:cNvSpPr txBox="1"/>
          <p:nvPr/>
        </p:nvSpPr>
        <p:spPr>
          <a:xfrm>
            <a:off x="6713342" y="2359126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F67A5F3-3628-1DB6-93F1-CC8B17E9EE25}"/>
              </a:ext>
            </a:extLst>
          </p:cNvPr>
          <p:cNvSpPr txBox="1"/>
          <p:nvPr/>
        </p:nvSpPr>
        <p:spPr>
          <a:xfrm>
            <a:off x="7112201" y="2350291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032F272-E4FA-C8F8-D49E-29F8DF374519}"/>
              </a:ext>
            </a:extLst>
          </p:cNvPr>
          <p:cNvSpPr txBox="1"/>
          <p:nvPr/>
        </p:nvSpPr>
        <p:spPr>
          <a:xfrm>
            <a:off x="6363047" y="2366046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0A03C38-680D-2AE8-12A0-BEC6CE6A6840}"/>
              </a:ext>
            </a:extLst>
          </p:cNvPr>
          <p:cNvSpPr txBox="1"/>
          <p:nvPr/>
        </p:nvSpPr>
        <p:spPr>
          <a:xfrm>
            <a:off x="6026162" y="2359126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61F34CB-B630-3C65-5E17-5AE872988BD5}"/>
              </a:ext>
            </a:extLst>
          </p:cNvPr>
          <p:cNvSpPr txBox="1"/>
          <p:nvPr/>
        </p:nvSpPr>
        <p:spPr>
          <a:xfrm>
            <a:off x="7490734" y="2353071"/>
            <a:ext cx="485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0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562D0D36-4ADF-773A-93BC-1486A7F1BB64}"/>
              </a:ext>
            </a:extLst>
          </p:cNvPr>
          <p:cNvSpPr/>
          <p:nvPr/>
        </p:nvSpPr>
        <p:spPr>
          <a:xfrm>
            <a:off x="3293727" y="1024366"/>
            <a:ext cx="2162574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</p:spTree>
    <p:extLst>
      <p:ext uri="{BB962C8B-B14F-4D97-AF65-F5344CB8AC3E}">
        <p14:creationId xmlns:p14="http://schemas.microsoft.com/office/powerpoint/2010/main" val="6780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A520B-3A62-672E-732C-0AB0A066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F12352BC-81F0-99CC-CF33-811DE1AF4BCB}"/>
              </a:ext>
            </a:extLst>
          </p:cNvPr>
          <p:cNvSpPr txBox="1"/>
          <p:nvPr/>
        </p:nvSpPr>
        <p:spPr>
          <a:xfrm>
            <a:off x="0" y="1084057"/>
            <a:ext cx="13994297" cy="113877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转八进制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取余直到商为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72FD51-EB55-AAF1-3A51-0B957F5591A6}"/>
              </a:ext>
            </a:extLst>
          </p:cNvPr>
          <p:cNvSpPr txBox="1"/>
          <p:nvPr/>
        </p:nvSpPr>
        <p:spPr>
          <a:xfrm>
            <a:off x="0" y="2387277"/>
            <a:ext cx="13994297" cy="113877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转十六进制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除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16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取余直到商为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B923A5-85D3-D1AC-B8EE-D9D5EDB8EB80}"/>
              </a:ext>
            </a:extLst>
          </p:cNvPr>
          <p:cNvSpPr/>
          <p:nvPr/>
        </p:nvSpPr>
        <p:spPr>
          <a:xfrm>
            <a:off x="3299654" y="2445128"/>
            <a:ext cx="2796346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F99769D-FA63-001A-A8EE-049D97BEFE20}"/>
              </a:ext>
            </a:extLst>
          </p:cNvPr>
          <p:cNvSpPr/>
          <p:nvPr/>
        </p:nvSpPr>
        <p:spPr>
          <a:xfrm>
            <a:off x="3330054" y="1071923"/>
            <a:ext cx="2265528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60DC5D7-8393-6C6B-8D40-2181B49783A4}"/>
              </a:ext>
            </a:extLst>
          </p:cNvPr>
          <p:cNvSpPr/>
          <p:nvPr/>
        </p:nvSpPr>
        <p:spPr>
          <a:xfrm>
            <a:off x="975320" y="4470223"/>
            <a:ext cx="2332382" cy="940906"/>
          </a:xfrm>
          <a:prstGeom prst="roundRect">
            <a:avLst/>
          </a:prstGeom>
          <a:solidFill>
            <a:srgbClr val="E2FD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十进制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8F9D210-AAD7-8A87-83F0-7D5D27451CA5}"/>
              </a:ext>
            </a:extLst>
          </p:cNvPr>
          <p:cNvSpPr/>
          <p:nvPr/>
        </p:nvSpPr>
        <p:spPr>
          <a:xfrm>
            <a:off x="7742288" y="3523074"/>
            <a:ext cx="2915476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0244846-9B19-E0CA-58AB-56872E9CF829}"/>
              </a:ext>
            </a:extLst>
          </p:cNvPr>
          <p:cNvSpPr/>
          <p:nvPr/>
        </p:nvSpPr>
        <p:spPr>
          <a:xfrm>
            <a:off x="4664766" y="4463980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61FE807-922B-E1FE-80B9-5BCB8F12FF01}"/>
              </a:ext>
            </a:extLst>
          </p:cNvPr>
          <p:cNvSpPr/>
          <p:nvPr/>
        </p:nvSpPr>
        <p:spPr>
          <a:xfrm>
            <a:off x="7861710" y="5722623"/>
            <a:ext cx="2915476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54E1C1D-C246-74C1-E972-DC3C538844C0}"/>
              </a:ext>
            </a:extLst>
          </p:cNvPr>
          <p:cNvCxnSpPr>
            <a:cxnSpLocks/>
          </p:cNvCxnSpPr>
          <p:nvPr/>
        </p:nvCxnSpPr>
        <p:spPr>
          <a:xfrm>
            <a:off x="6618772" y="5411129"/>
            <a:ext cx="1123516" cy="784955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D13178C-D498-C0F5-C830-5B32981B7FCC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6499350" y="3993527"/>
            <a:ext cx="1242938" cy="470453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7208A9F-C993-0885-776D-04B56A9D092D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364765" y="4934433"/>
            <a:ext cx="1300001" cy="0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A32AF9A-78C1-632C-F5EA-4EBD3860763D}"/>
              </a:ext>
            </a:extLst>
          </p:cNvPr>
          <p:cNvCxnSpPr>
            <a:cxnSpLocks/>
          </p:cNvCxnSpPr>
          <p:nvPr/>
        </p:nvCxnSpPr>
        <p:spPr>
          <a:xfrm flipV="1">
            <a:off x="3330054" y="3630304"/>
            <a:ext cx="4412234" cy="1060744"/>
          </a:xfrm>
          <a:prstGeom prst="straightConnector1">
            <a:avLst/>
          </a:prstGeom>
          <a:ln w="76200">
            <a:solidFill>
              <a:srgbClr val="843C0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82D2C5E-8C09-DE7C-E15B-55B73CE14E42}"/>
              </a:ext>
            </a:extLst>
          </p:cNvPr>
          <p:cNvCxnSpPr>
            <a:cxnSpLocks/>
          </p:cNvCxnSpPr>
          <p:nvPr/>
        </p:nvCxnSpPr>
        <p:spPr>
          <a:xfrm>
            <a:off x="3299654" y="5297656"/>
            <a:ext cx="4684286" cy="1212326"/>
          </a:xfrm>
          <a:prstGeom prst="straightConnector1">
            <a:avLst/>
          </a:prstGeom>
          <a:ln w="76200">
            <a:solidFill>
              <a:srgbClr val="843C0C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乘号 51">
            <a:extLst>
              <a:ext uri="{FF2B5EF4-FFF2-40B4-BE49-F238E27FC236}">
                <a16:creationId xmlns:a16="http://schemas.microsoft.com/office/drawing/2014/main" id="{E339E46D-5A02-7AC1-3BF4-9BD67BC8041D}"/>
              </a:ext>
            </a:extLst>
          </p:cNvPr>
          <p:cNvSpPr/>
          <p:nvPr/>
        </p:nvSpPr>
        <p:spPr>
          <a:xfrm>
            <a:off x="5463236" y="3702793"/>
            <a:ext cx="625718" cy="68869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乘号 52">
            <a:extLst>
              <a:ext uri="{FF2B5EF4-FFF2-40B4-BE49-F238E27FC236}">
                <a16:creationId xmlns:a16="http://schemas.microsoft.com/office/drawing/2014/main" id="{12B66F60-4749-9B38-2D8C-CAA3AC4A2CC9}"/>
              </a:ext>
            </a:extLst>
          </p:cNvPr>
          <p:cNvSpPr/>
          <p:nvPr/>
        </p:nvSpPr>
        <p:spPr>
          <a:xfrm>
            <a:off x="5346131" y="5667144"/>
            <a:ext cx="625718" cy="68869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D68424E-9591-E559-2F82-71713131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350881C-6264-FC29-E3A9-74C2597484F1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070E510-2F37-42B8-95CC-67CCD716CA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A474B2-3917-0D60-95DA-6F0DD778D5FA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0606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DF39-E2B2-35AD-B049-84A51D20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72195B17-5688-832B-3BBC-333913E338A9}"/>
              </a:ext>
            </a:extLst>
          </p:cNvPr>
          <p:cNvSpPr txBox="1"/>
          <p:nvPr/>
        </p:nvSpPr>
        <p:spPr>
          <a:xfrm>
            <a:off x="1" y="1084056"/>
            <a:ext cx="11887200" cy="168808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进制转八进制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右往左每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位分为一组，不足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位左侧补零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2A3F1A-7E74-8942-5BD3-3738984BA3CD}"/>
              </a:ext>
            </a:extLst>
          </p:cNvPr>
          <p:cNvSpPr txBox="1"/>
          <p:nvPr/>
        </p:nvSpPr>
        <p:spPr>
          <a:xfrm>
            <a:off x="1550505" y="2772169"/>
            <a:ext cx="72621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1101110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156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DDA54E6-C39B-6CA2-2E30-28DCF6E8D69A}"/>
              </a:ext>
            </a:extLst>
          </p:cNvPr>
          <p:cNvCxnSpPr/>
          <p:nvPr/>
        </p:nvCxnSpPr>
        <p:spPr>
          <a:xfrm>
            <a:off x="3591339" y="2772169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53DE23C-BA2C-93CB-6680-478618D9529B}"/>
              </a:ext>
            </a:extLst>
          </p:cNvPr>
          <p:cNvCxnSpPr/>
          <p:nvPr/>
        </p:nvCxnSpPr>
        <p:spPr>
          <a:xfrm>
            <a:off x="2352260" y="2772169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4CB124F-8483-F4E6-567D-437F1A6F072A}"/>
              </a:ext>
            </a:extLst>
          </p:cNvPr>
          <p:cNvCxnSpPr/>
          <p:nvPr/>
        </p:nvCxnSpPr>
        <p:spPr>
          <a:xfrm flipH="1">
            <a:off x="2146851" y="3882886"/>
            <a:ext cx="2517913" cy="0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B5F440F-04A3-DB1D-582D-26B4F964E2A4}"/>
              </a:ext>
            </a:extLst>
          </p:cNvPr>
          <p:cNvCxnSpPr/>
          <p:nvPr/>
        </p:nvCxnSpPr>
        <p:spPr>
          <a:xfrm>
            <a:off x="6559826" y="2772169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4C97365-6C2A-D16A-70D0-34A15233DBAC}"/>
              </a:ext>
            </a:extLst>
          </p:cNvPr>
          <p:cNvCxnSpPr/>
          <p:nvPr/>
        </p:nvCxnSpPr>
        <p:spPr>
          <a:xfrm>
            <a:off x="7043530" y="2772169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EA21396-15F9-2F64-39DE-EAE58307A1E5}"/>
              </a:ext>
            </a:extLst>
          </p:cNvPr>
          <p:cNvSpPr txBox="1"/>
          <p:nvPr/>
        </p:nvSpPr>
        <p:spPr>
          <a:xfrm>
            <a:off x="616229" y="3853778"/>
            <a:ext cx="11042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+0ⅹ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=(6)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FB44F5-42F2-49B0-5E3D-6A0F3B2D4A65}"/>
              </a:ext>
            </a:extLst>
          </p:cNvPr>
          <p:cNvSpPr txBox="1"/>
          <p:nvPr/>
        </p:nvSpPr>
        <p:spPr>
          <a:xfrm>
            <a:off x="616229" y="5696870"/>
            <a:ext cx="11042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00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+0ⅹ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=(1)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098022E-331C-A1D2-C25E-E8BE3999D2EB}"/>
              </a:ext>
            </a:extLst>
          </p:cNvPr>
          <p:cNvSpPr txBox="1"/>
          <p:nvPr/>
        </p:nvSpPr>
        <p:spPr>
          <a:xfrm>
            <a:off x="616229" y="4763724"/>
            <a:ext cx="11042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(101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+0ⅹ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BF0D1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=(5)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BED59AC-2246-A2C1-8112-84ABAFF7ABF1}"/>
              </a:ext>
            </a:extLst>
          </p:cNvPr>
          <p:cNvSpPr/>
          <p:nvPr/>
        </p:nvSpPr>
        <p:spPr>
          <a:xfrm>
            <a:off x="3985590" y="2423817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65B39DE6-4CBD-4A13-DB3A-C40529C08CDC}"/>
              </a:ext>
            </a:extLst>
          </p:cNvPr>
          <p:cNvSpPr/>
          <p:nvPr/>
        </p:nvSpPr>
        <p:spPr>
          <a:xfrm>
            <a:off x="2691849" y="2414870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7B8F11B-C1B4-C4A0-474B-979D3A103B98}"/>
              </a:ext>
            </a:extLst>
          </p:cNvPr>
          <p:cNvSpPr/>
          <p:nvPr/>
        </p:nvSpPr>
        <p:spPr>
          <a:xfrm>
            <a:off x="1707874" y="2403166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621D2C2-A1B3-8A7E-3815-AADB0500F79D}"/>
              </a:ext>
            </a:extLst>
          </p:cNvPr>
          <p:cNvSpPr/>
          <p:nvPr/>
        </p:nvSpPr>
        <p:spPr>
          <a:xfrm>
            <a:off x="228602" y="4177665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AC30554-A448-A03B-04FC-2182A3C27C24}"/>
              </a:ext>
            </a:extLst>
          </p:cNvPr>
          <p:cNvSpPr/>
          <p:nvPr/>
        </p:nvSpPr>
        <p:spPr>
          <a:xfrm>
            <a:off x="228601" y="5045496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2F2421-CE3E-1076-3B5A-D911D3EFB929}"/>
              </a:ext>
            </a:extLst>
          </p:cNvPr>
          <p:cNvSpPr/>
          <p:nvPr/>
        </p:nvSpPr>
        <p:spPr>
          <a:xfrm>
            <a:off x="228604" y="5955442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B339516-A570-0525-B6A6-3940A92BC68E}"/>
              </a:ext>
            </a:extLst>
          </p:cNvPr>
          <p:cNvSpPr/>
          <p:nvPr/>
        </p:nvSpPr>
        <p:spPr>
          <a:xfrm>
            <a:off x="3330054" y="1071923"/>
            <a:ext cx="2265528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八进制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7040439-F1A8-E0E0-0D2B-3D96A9FE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D793072-A8E9-FFC7-4C1F-A0558CF6D886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0EA13716-6E8F-AFB1-50DD-CCAD25CDE4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3938E81-F254-9F6E-C2AA-6266889E4C8F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5748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9249-9D3C-005B-461F-0C82D531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8BA2594-B7E9-B151-E46C-76661279C687}"/>
              </a:ext>
            </a:extLst>
          </p:cNvPr>
          <p:cNvSpPr txBox="1"/>
          <p:nvPr/>
        </p:nvSpPr>
        <p:spPr>
          <a:xfrm>
            <a:off x="1" y="1084056"/>
            <a:ext cx="11887200" cy="1688083"/>
          </a:xfrm>
          <a:prstGeom prst="rect">
            <a:avLst/>
          </a:prstGeom>
          <a:noFill/>
          <a:ln>
            <a:solidFill>
              <a:srgbClr val="2C4C37"/>
            </a:solidFill>
          </a:ln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进制转十六进制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右往左每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位分为一组，不足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位左侧补零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A2055E-D26E-E6F5-2C02-7F94C11CB76C}"/>
              </a:ext>
            </a:extLst>
          </p:cNvPr>
          <p:cNvSpPr txBox="1"/>
          <p:nvPr/>
        </p:nvSpPr>
        <p:spPr>
          <a:xfrm>
            <a:off x="1186072" y="2772169"/>
            <a:ext cx="10777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(00110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10010110110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</a:t>
            </a: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34B6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018D9C2-6E67-F889-8B32-BAE2C500967A}"/>
              </a:ext>
            </a:extLst>
          </p:cNvPr>
          <p:cNvCxnSpPr/>
          <p:nvPr/>
        </p:nvCxnSpPr>
        <p:spPr>
          <a:xfrm>
            <a:off x="2976770" y="2849381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2B33A0D-2685-EAFF-B888-1AEA1780AFB7}"/>
              </a:ext>
            </a:extLst>
          </p:cNvPr>
          <p:cNvCxnSpPr/>
          <p:nvPr/>
        </p:nvCxnSpPr>
        <p:spPr>
          <a:xfrm>
            <a:off x="4664764" y="2813445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5292D46-805D-A7E4-0236-E24F805156E7}"/>
              </a:ext>
            </a:extLst>
          </p:cNvPr>
          <p:cNvCxnSpPr>
            <a:cxnSpLocks/>
          </p:cNvCxnSpPr>
          <p:nvPr/>
        </p:nvCxnSpPr>
        <p:spPr>
          <a:xfrm flipH="1">
            <a:off x="2146851" y="3882886"/>
            <a:ext cx="5963479" cy="0"/>
          </a:xfrm>
          <a:prstGeom prst="straightConnector1">
            <a:avLst/>
          </a:prstGeom>
          <a:ln w="762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D963A48-FA28-9F2F-D9BA-8E26DC76985B}"/>
              </a:ext>
            </a:extLst>
          </p:cNvPr>
          <p:cNvCxnSpPr/>
          <p:nvPr/>
        </p:nvCxnSpPr>
        <p:spPr>
          <a:xfrm>
            <a:off x="6283187" y="2849381"/>
            <a:ext cx="0" cy="923330"/>
          </a:xfrm>
          <a:prstGeom prst="line">
            <a:avLst/>
          </a:prstGeom>
          <a:ln w="76200">
            <a:solidFill>
              <a:srgbClr val="843C0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161F124-267D-8C40-DAC6-1D8161D2A679}"/>
              </a:ext>
            </a:extLst>
          </p:cNvPr>
          <p:cNvSpPr txBox="1"/>
          <p:nvPr/>
        </p:nvSpPr>
        <p:spPr>
          <a:xfrm>
            <a:off x="815009" y="4085862"/>
            <a:ext cx="1104237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6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(1011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+0ⅹ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6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+1ⅹ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en-US" altLang="zh-CN" sz="5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=(11)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=(B)</a:t>
            </a:r>
            <a:r>
              <a:rPr kumimoji="0" lang="en-US" altLang="zh-CN" sz="5400" b="1" i="0" u="none" strike="noStrike" kern="1200" cap="none" spc="0" normalizeH="0" baseline="-2500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16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1BCD331-C7C0-3AD1-ACB5-A744189F7507}"/>
              </a:ext>
            </a:extLst>
          </p:cNvPr>
          <p:cNvSpPr/>
          <p:nvPr/>
        </p:nvSpPr>
        <p:spPr>
          <a:xfrm>
            <a:off x="6973126" y="2396565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4D07C51-F4AB-6BE1-D9B1-A56C1175D8B4}"/>
              </a:ext>
            </a:extLst>
          </p:cNvPr>
          <p:cNvSpPr/>
          <p:nvPr/>
        </p:nvSpPr>
        <p:spPr>
          <a:xfrm>
            <a:off x="5156751" y="2443945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1F98D83-CD9F-E929-6F43-C09BFD8ABE41}"/>
              </a:ext>
            </a:extLst>
          </p:cNvPr>
          <p:cNvSpPr/>
          <p:nvPr/>
        </p:nvSpPr>
        <p:spPr>
          <a:xfrm>
            <a:off x="3487394" y="2429903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AD4225-F0E2-2428-050D-4EE48D2CE865}"/>
              </a:ext>
            </a:extLst>
          </p:cNvPr>
          <p:cNvSpPr/>
          <p:nvPr/>
        </p:nvSpPr>
        <p:spPr>
          <a:xfrm>
            <a:off x="245166" y="4309928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8F8B057-6DB3-B408-3D7E-37A2C1A4C118}"/>
              </a:ext>
            </a:extLst>
          </p:cNvPr>
          <p:cNvSpPr/>
          <p:nvPr/>
        </p:nvSpPr>
        <p:spPr>
          <a:xfrm>
            <a:off x="1810997" y="2409265"/>
            <a:ext cx="569843" cy="567529"/>
          </a:xfrm>
          <a:prstGeom prst="ellipse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4C087AA-AE71-6A5A-7B8C-7382A38E1B56}"/>
              </a:ext>
            </a:extLst>
          </p:cNvPr>
          <p:cNvSpPr/>
          <p:nvPr/>
        </p:nvSpPr>
        <p:spPr>
          <a:xfrm>
            <a:off x="3266591" y="976036"/>
            <a:ext cx="2796346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十六进制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1C081FE7-E5D2-D569-A6D2-96098E16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E76BA01-A033-E9ED-FE5C-54AA017896ED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E3CEA36-851E-BBD1-41F4-3C96B65A9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5E8092B-F5CC-9C49-05E9-D080785C157C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28602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二进制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成组编码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E6943A-F13B-8806-6AB6-78941DAD1F76}"/>
              </a:ext>
            </a:extLst>
          </p:cNvPr>
          <p:cNvSpPr txBox="1"/>
          <p:nvPr/>
        </p:nvSpPr>
        <p:spPr>
          <a:xfrm>
            <a:off x="649357" y="3429000"/>
            <a:ext cx="32997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种逻辑状态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1794B77-8DE3-57DD-4CB2-F71EBCC89B1C}"/>
              </a:ext>
            </a:extLst>
          </p:cNvPr>
          <p:cNvSpPr/>
          <p:nvPr/>
        </p:nvSpPr>
        <p:spPr>
          <a:xfrm>
            <a:off x="838200" y="2488094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D86C56E-A571-0F06-98E6-9111D9C21B68}"/>
              </a:ext>
            </a:extLst>
          </p:cNvPr>
          <p:cNvSpPr/>
          <p:nvPr/>
        </p:nvSpPr>
        <p:spPr>
          <a:xfrm>
            <a:off x="8242854" y="2049115"/>
            <a:ext cx="2332382" cy="1719471"/>
          </a:xfrm>
          <a:prstGeom prst="roundRect">
            <a:avLst/>
          </a:prstGeom>
          <a:solidFill>
            <a:srgbClr val="EAE2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丰富的信息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7562801-688B-87EE-4E6A-234599B4FF3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220281" y="2908851"/>
            <a:ext cx="5022573" cy="0"/>
          </a:xfrm>
          <a:prstGeom prst="straightConnector1">
            <a:avLst/>
          </a:prstGeom>
          <a:ln w="762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53416EE-2FDD-94D2-17BE-C2CFDD1D86A0}"/>
              </a:ext>
            </a:extLst>
          </p:cNvPr>
          <p:cNvSpPr txBox="1"/>
          <p:nvPr/>
        </p:nvSpPr>
        <p:spPr>
          <a:xfrm>
            <a:off x="8242854" y="3722423"/>
            <a:ext cx="32997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千变万化形式和内容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E0EC02-D005-226D-AA87-8B82533E23D4}"/>
              </a:ext>
            </a:extLst>
          </p:cNvPr>
          <p:cNvSpPr txBox="1"/>
          <p:nvPr/>
        </p:nvSpPr>
        <p:spPr>
          <a:xfrm>
            <a:off x="4142967" y="2132300"/>
            <a:ext cx="27166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如何演化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AC290D-0AA6-F0B5-6316-EB06A19803F8}"/>
              </a:ext>
            </a:extLst>
          </p:cNvPr>
          <p:cNvSpPr txBox="1"/>
          <p:nvPr/>
        </p:nvSpPr>
        <p:spPr>
          <a:xfrm>
            <a:off x="354495" y="5073011"/>
            <a:ext cx="116387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成组编码：使用多位的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联合表达，位数越多，可能性状态越多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3EF09A2-4297-9EC2-770B-8E741127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5D0F6D0-21C0-B580-B771-B8CBF70E9876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52B469D-BE27-B7EA-206E-B9CD587A23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B87D328-84AD-EB45-09E0-867D09496743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30311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二进制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成组编码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5E8644-C534-5936-5A99-4B05D40DAAA1}"/>
              </a:ext>
            </a:extLst>
          </p:cNvPr>
          <p:cNvSpPr txBox="1"/>
          <p:nvPr/>
        </p:nvSpPr>
        <p:spPr>
          <a:xfrm>
            <a:off x="0" y="2061603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若信息有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0~7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八个状态，可用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000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001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010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011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110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111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来对应，即编码过程，三个比特位的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来成组编码形成的八种状态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94859A7-1B94-F4B6-7956-A1AB6C1EA822}"/>
              </a:ext>
            </a:extLst>
          </p:cNvPr>
          <p:cNvSpPr/>
          <p:nvPr/>
        </p:nvSpPr>
        <p:spPr>
          <a:xfrm>
            <a:off x="1050235" y="5108591"/>
            <a:ext cx="2332382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二进制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1CD97A-36B3-5A53-F602-416D00FE5798}"/>
              </a:ext>
            </a:extLst>
          </p:cNvPr>
          <p:cNvSpPr/>
          <p:nvPr/>
        </p:nvSpPr>
        <p:spPr>
          <a:xfrm>
            <a:off x="8454889" y="4669612"/>
            <a:ext cx="2332382" cy="1719471"/>
          </a:xfrm>
          <a:prstGeom prst="roundRect">
            <a:avLst/>
          </a:prstGeom>
          <a:solidFill>
            <a:srgbClr val="EAE2FE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种状态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52370C-3642-0169-B6CF-7933D794CB70}"/>
              </a:ext>
            </a:extLst>
          </p:cNvPr>
          <p:cNvCxnSpPr>
            <a:cxnSpLocks/>
          </p:cNvCxnSpPr>
          <p:nvPr/>
        </p:nvCxnSpPr>
        <p:spPr>
          <a:xfrm>
            <a:off x="3432316" y="5493025"/>
            <a:ext cx="5022573" cy="0"/>
          </a:xfrm>
          <a:prstGeom prst="straightConnector1">
            <a:avLst/>
          </a:prstGeom>
          <a:ln w="762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A3AD8-F437-06A4-2113-150718D28CCB}"/>
              </a:ext>
            </a:extLst>
          </p:cNvPr>
          <p:cNvSpPr txBox="1"/>
          <p:nvPr/>
        </p:nvSpPr>
        <p:spPr>
          <a:xfrm>
            <a:off x="4078359" y="4596968"/>
            <a:ext cx="37304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位成组编码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2CF8B1-F5F8-118B-F03C-30191A3B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71A319-E088-213C-796F-5ECE76CA2872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D82EA1C-39DD-5BBA-1F22-87FDB9372F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3AA258F-5146-EB35-5D01-443A2963D653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3024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数据表示单位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AC290D-0AA6-F0B5-6316-EB06A19803F8}"/>
              </a:ext>
            </a:extLst>
          </p:cNvPr>
          <p:cNvSpPr txBox="1"/>
          <p:nvPr/>
        </p:nvSpPr>
        <p:spPr>
          <a:xfrm>
            <a:off x="124238" y="1923134"/>
            <a:ext cx="11638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898B32-83C9-2686-467C-DEB3303EE66B}"/>
              </a:ext>
            </a:extLst>
          </p:cNvPr>
          <p:cNvSpPr txBox="1"/>
          <p:nvPr/>
        </p:nvSpPr>
        <p:spPr>
          <a:xfrm>
            <a:off x="124238" y="3429000"/>
            <a:ext cx="11638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字节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9377A5-2686-783E-26DC-2DDE4B744C90}"/>
              </a:ext>
            </a:extLst>
          </p:cNvPr>
          <p:cNvSpPr txBox="1"/>
          <p:nvPr/>
        </p:nvSpPr>
        <p:spPr>
          <a:xfrm>
            <a:off x="4414631" y="1076926"/>
            <a:ext cx="11638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计算机对数据表示赋予规则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B50D7E-0858-6252-C60A-24D3A6242CE8}"/>
              </a:ext>
            </a:extLst>
          </p:cNvPr>
          <p:cNvSpPr txBox="1"/>
          <p:nvPr/>
        </p:nvSpPr>
        <p:spPr>
          <a:xfrm>
            <a:off x="124238" y="4965289"/>
            <a:ext cx="11638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8678B905-6065-1BF3-97EA-83C0AC3C1EC2}"/>
              </a:ext>
            </a:extLst>
          </p:cNvPr>
          <p:cNvSpPr/>
          <p:nvPr/>
        </p:nvSpPr>
        <p:spPr>
          <a:xfrm rot="10800000">
            <a:off x="2752305" y="2225326"/>
            <a:ext cx="518489" cy="1844402"/>
          </a:xfrm>
          <a:prstGeom prst="leftBrac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C870BB-F19B-9BA9-F6CE-6BF20AEB5938}"/>
              </a:ext>
            </a:extLst>
          </p:cNvPr>
          <p:cNvSpPr txBox="1"/>
          <p:nvPr/>
        </p:nvSpPr>
        <p:spPr>
          <a:xfrm>
            <a:off x="3390064" y="2233109"/>
            <a:ext cx="48266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数据存储表示，最常用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77414B-665E-7CF6-31C2-AAD9441761B0}"/>
              </a:ext>
            </a:extLst>
          </p:cNvPr>
          <p:cNvSpPr txBox="1"/>
          <p:nvPr/>
        </p:nvSpPr>
        <p:spPr>
          <a:xfrm>
            <a:off x="2177490" y="4965289"/>
            <a:ext cx="482668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数据处理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237F45DE-FE88-B4CC-B0B0-5BEFE71D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7E847BF-42F7-0459-A839-676C185F958A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8926F37-D7C2-E4D8-C29D-3219247A9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23754EA-324C-E85D-F8AC-C160612AA3DE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0392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数据表示单位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9377A5-2686-783E-26DC-2DDE4B744C90}"/>
              </a:ext>
            </a:extLst>
          </p:cNvPr>
          <p:cNvSpPr txBox="1"/>
          <p:nvPr/>
        </p:nvSpPr>
        <p:spPr>
          <a:xfrm>
            <a:off x="4414631" y="1076926"/>
            <a:ext cx="11638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计算机对数据表示赋予规则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AC02DB-E441-D612-4C1C-12DBFC112E3E}"/>
              </a:ext>
            </a:extLst>
          </p:cNvPr>
          <p:cNvSpPr txBox="1"/>
          <p:nvPr/>
        </p:nvSpPr>
        <p:spPr>
          <a:xfrm>
            <a:off x="124238" y="1923134"/>
            <a:ext cx="116387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最小数据单位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bit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比特简称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种取值（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0,1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C1C43F-8D63-AADB-D7C7-55655ADFCAF9}"/>
              </a:ext>
            </a:extLst>
          </p:cNvPr>
          <p:cNvSpPr txBox="1"/>
          <p:nvPr/>
        </p:nvSpPr>
        <p:spPr>
          <a:xfrm>
            <a:off x="708990" y="3641588"/>
            <a:ext cx="111782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ASCII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码：字母“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a”= 01000001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D9DE835-FDC5-8557-B446-8272D2A1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C95C458-C1D2-7554-693D-34A0D1A74D59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B4067E5-3B89-FE8B-D934-948E3FD2C6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0DFADE9-E2D7-7ECA-6773-F443737CD4BF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2059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数据表示单位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898B32-83C9-2686-467C-DEB3303EE66B}"/>
              </a:ext>
            </a:extLst>
          </p:cNvPr>
          <p:cNvSpPr txBox="1"/>
          <p:nvPr/>
        </p:nvSpPr>
        <p:spPr>
          <a:xfrm>
            <a:off x="124238" y="1947605"/>
            <a:ext cx="116387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字节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：计算机表示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存储空间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的基本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单位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Byte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简称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B,1B=8b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KB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TB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等，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字母占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字节，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汉字占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9377A5-2686-783E-26DC-2DDE4B744C90}"/>
              </a:ext>
            </a:extLst>
          </p:cNvPr>
          <p:cNvSpPr txBox="1"/>
          <p:nvPr/>
        </p:nvSpPr>
        <p:spPr>
          <a:xfrm>
            <a:off x="4414631" y="1076926"/>
            <a:ext cx="75666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计算机对数据表示赋予规则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16ADAE-81D5-1E45-560E-381C0A6A4A47}"/>
              </a:ext>
            </a:extLst>
          </p:cNvPr>
          <p:cNvSpPr txBox="1"/>
          <p:nvPr/>
        </p:nvSpPr>
        <p:spPr>
          <a:xfrm>
            <a:off x="447260" y="4903911"/>
            <a:ext cx="119534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ASCII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码：字母“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a”=01000001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GB2312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：“中”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 10010100 10111001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7528CA-2A39-7E1A-DA47-DA7FFFBD56E4}"/>
              </a:ext>
            </a:extLst>
          </p:cNvPr>
          <p:cNvSpPr txBox="1"/>
          <p:nvPr/>
        </p:nvSpPr>
        <p:spPr>
          <a:xfrm>
            <a:off x="447260" y="4105003"/>
            <a:ext cx="8236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Hello 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世界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6932B5-C5BB-CB28-D63B-036A65B2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520FE60-C30E-B8B8-A389-8C605FAFDBBB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D9E14EB-4CD8-55BE-FEA4-934AFF812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C93B83F-72CF-9376-FF65-03EB3728ACCD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1055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数据表示单位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EA3629-3891-2535-60B2-899DE621BDF7}"/>
              </a:ext>
            </a:extLst>
          </p:cNvPr>
          <p:cNvSpPr txBox="1"/>
          <p:nvPr/>
        </p:nvSpPr>
        <p:spPr>
          <a:xfrm>
            <a:off x="0" y="2067743"/>
            <a:ext cx="11873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计算机单次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数据处理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的数据最大位数，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Word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32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位机，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64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位机（处理能力）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72AA05-18B3-8379-4DCF-056DBDDC1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42" y="3979833"/>
            <a:ext cx="10473000" cy="7776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C04C134-C0C2-B7ED-5D6B-29227B9B503E}"/>
              </a:ext>
            </a:extLst>
          </p:cNvPr>
          <p:cNvSpPr txBox="1"/>
          <p:nvPr/>
        </p:nvSpPr>
        <p:spPr>
          <a:xfrm>
            <a:off x="447260" y="4903911"/>
            <a:ext cx="119534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32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位机中，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个字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=32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个二进制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64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位机中，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个字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=64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EAE2FE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个二进制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EAE2FE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5238F61D-7242-A969-D05B-F0B8BBDC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489585B-64EC-6943-601E-45424C420470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20E6D935-4C2E-E271-0F11-DA0EFDADCB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810310A-07BD-EBC0-8E0B-0141DA62D82C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0399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1BD07D32-B529-9A12-2B22-CBAA17A6DF8B}"/>
              </a:ext>
            </a:extLst>
          </p:cNvPr>
          <p:cNvSpPr txBox="1"/>
          <p:nvPr/>
        </p:nvSpPr>
        <p:spPr>
          <a:xfrm>
            <a:off x="-165653" y="1061714"/>
            <a:ext cx="610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计算机数据换算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EA3629-3891-2535-60B2-899DE621BDF7}"/>
              </a:ext>
            </a:extLst>
          </p:cNvPr>
          <p:cNvSpPr txBox="1"/>
          <p:nvPr/>
        </p:nvSpPr>
        <p:spPr>
          <a:xfrm>
            <a:off x="318052" y="1734032"/>
            <a:ext cx="11873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以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字节（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为单位，以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en-US" altLang="zh-CN" sz="4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=1024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为进率 </a:t>
            </a:r>
          </a:p>
        </p:txBody>
      </p:sp>
      <p:graphicFrame>
        <p:nvGraphicFramePr>
          <p:cNvPr id="6" name="Group 700">
            <a:extLst>
              <a:ext uri="{FF2B5EF4-FFF2-40B4-BE49-F238E27FC236}">
                <a16:creationId xmlns:a16="http://schemas.microsoft.com/office/drawing/2014/main" id="{72AE8908-98E0-572D-8F9F-5D1E2F941B0F}"/>
              </a:ext>
            </a:extLst>
          </p:cNvPr>
          <p:cNvGraphicFramePr>
            <a:graphicFrameLocks noGrp="1"/>
          </p:cNvGraphicFramePr>
          <p:nvPr/>
        </p:nvGraphicFramePr>
        <p:xfrm>
          <a:off x="0" y="2565028"/>
          <a:ext cx="12278139" cy="4275094"/>
        </p:xfrm>
        <a:graphic>
          <a:graphicData uri="http://schemas.openxmlformats.org/drawingml/2006/table">
            <a:tbl>
              <a:tblPr/>
              <a:tblGrid>
                <a:gridCol w="160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4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6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3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5738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单位</a:t>
                      </a:r>
                      <a:endParaRPr kumimoji="1" lang="zh-CN" altLang="en-US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KB</a:t>
                      </a:r>
                      <a:endParaRPr kumimoji="1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MB</a:t>
                      </a:r>
                      <a:endParaRPr kumimoji="1" lang="en-US" altLang="zh-CN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GB</a:t>
                      </a:r>
                      <a:endParaRPr kumimoji="1" lang="en-US" altLang="zh-CN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TB</a:t>
                      </a:r>
                      <a:endParaRPr kumimoji="1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PB</a:t>
                      </a:r>
                      <a:endParaRPr kumimoji="1" lang="en-US" altLang="zh-CN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0754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换算关系</a:t>
                      </a:r>
                    </a:p>
                  </a:txBody>
                  <a:tcPr marL="0" marR="0" marT="46832" marB="46832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1KB=1024B</a:t>
                      </a: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1MB=1024KB</a:t>
                      </a: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1GB=1024MB</a:t>
                      </a: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1TB=1024GB</a:t>
                      </a: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1PB=1024TB</a:t>
                      </a: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738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叫法</a:t>
                      </a:r>
                      <a:endParaRPr kumimoji="1" lang="zh-CN" alt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千字节</a:t>
                      </a:r>
                      <a:endParaRPr kumimoji="1" lang="zh-CN" alt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兆字节</a:t>
                      </a:r>
                      <a:endParaRPr kumimoji="1" lang="zh-CN" altLang="en-US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吉字节</a:t>
                      </a:r>
                      <a:endParaRPr kumimoji="1" lang="zh-CN" altLang="en-US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太字节</a:t>
                      </a:r>
                      <a:endParaRPr kumimoji="1" lang="zh-CN" alt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拍字节</a:t>
                      </a:r>
                      <a:endParaRPr kumimoji="1" lang="zh-CN" alt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616"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涵义</a:t>
                      </a:r>
                      <a:endParaRPr kumimoji="1" lang="zh-CN" alt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Kilobyte</a:t>
                      </a:r>
                      <a:endParaRPr kumimoji="1" lang="en-US" altLang="zh-CN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Megabyte</a:t>
                      </a:r>
                      <a:endParaRPr kumimoji="1" lang="en-US" altLang="zh-CN" sz="4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Gigabyte</a:t>
                      </a:r>
                      <a:endParaRPr kumimoji="1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Trillionbyte</a:t>
                      </a:r>
                      <a:endParaRPr kumimoji="1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75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仿宋" panose="02010609060101010101" pitchFamily="49" charset="-122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Petabyte</a:t>
                      </a:r>
                      <a:endParaRPr kumimoji="1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0" marR="0" marT="46832" marB="4683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标题 9">
            <a:extLst>
              <a:ext uri="{FF2B5EF4-FFF2-40B4-BE49-F238E27FC236}">
                <a16:creationId xmlns:a16="http://schemas.microsoft.com/office/drawing/2014/main" id="{39989370-71AB-D298-CCFF-ADB84049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12A243C-972A-DF0C-2182-F500A8A35D42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E37B6737-FF35-4A98-D18F-BD267AD7CB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B0EF51C-3DB6-B058-6627-6D80AD48B961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2.1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二进制信息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89444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4488-1093-63AB-AE4D-9A46B678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5CF54F98-76C2-5BB9-407C-7E71B1568B47}"/>
              </a:ext>
            </a:extLst>
          </p:cNvPr>
          <p:cNvSpPr txBox="1"/>
          <p:nvPr/>
        </p:nvSpPr>
        <p:spPr>
          <a:xfrm>
            <a:off x="-165653" y="1061714"/>
            <a:ext cx="7745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符号数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运算编码法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53954DF-BBBF-27D6-6CAC-917FB969FFD8}"/>
              </a:ext>
            </a:extLst>
          </p:cNvPr>
          <p:cNvGrpSpPr/>
          <p:nvPr/>
        </p:nvGrpSpPr>
        <p:grpSpPr>
          <a:xfrm>
            <a:off x="251792" y="2002155"/>
            <a:ext cx="10827026" cy="3358480"/>
            <a:chOff x="265044" y="2351849"/>
            <a:chExt cx="10827026" cy="335848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2CF7C80-437F-9A92-896E-1C931ED84EBF}"/>
                </a:ext>
              </a:extLst>
            </p:cNvPr>
            <p:cNvGrpSpPr/>
            <p:nvPr/>
          </p:nvGrpSpPr>
          <p:grpSpPr>
            <a:xfrm>
              <a:off x="265044" y="2351849"/>
              <a:ext cx="10827026" cy="3358480"/>
              <a:chOff x="291548" y="1936351"/>
              <a:chExt cx="10827026" cy="3358480"/>
            </a:xfrm>
          </p:grpSpPr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CE96F4FE-E0AF-3923-5D24-B87D37ADCCEF}"/>
                  </a:ext>
                </a:extLst>
              </p:cNvPr>
              <p:cNvSpPr/>
              <p:nvPr/>
            </p:nvSpPr>
            <p:spPr>
              <a:xfrm>
                <a:off x="3350270" y="3112148"/>
                <a:ext cx="1680010" cy="94090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反码</a:t>
                </a:r>
              </a:p>
            </p:txBody>
          </p:sp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5ED244DB-6798-489E-0AD3-6CFA74A7C352}"/>
                  </a:ext>
                </a:extLst>
              </p:cNvPr>
              <p:cNvSpPr/>
              <p:nvPr/>
            </p:nvSpPr>
            <p:spPr>
              <a:xfrm>
                <a:off x="3409200" y="1936351"/>
                <a:ext cx="1680010" cy="940906"/>
              </a:xfrm>
              <a:prstGeom prst="roundRect">
                <a:avLst/>
              </a:prstGeom>
              <a:solidFill>
                <a:srgbClr val="FFFF00"/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原码</a:t>
                </a:r>
              </a:p>
            </p:txBody>
          </p: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A4DF1CDB-E51C-F090-E6CB-78D569A885DD}"/>
                  </a:ext>
                </a:extLst>
              </p:cNvPr>
              <p:cNvSpPr/>
              <p:nvPr/>
            </p:nvSpPr>
            <p:spPr>
              <a:xfrm>
                <a:off x="3409199" y="4334986"/>
                <a:ext cx="1680011" cy="94090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补码</a:t>
                </a:r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7C5188C-15A6-C7B7-8ED2-25B163775B74}"/>
                  </a:ext>
                </a:extLst>
              </p:cNvPr>
              <p:cNvSpPr/>
              <p:nvPr/>
            </p:nvSpPr>
            <p:spPr>
              <a:xfrm>
                <a:off x="291548" y="3112148"/>
                <a:ext cx="2239552" cy="940906"/>
              </a:xfrm>
              <a:prstGeom prst="roundRect">
                <a:avLst/>
              </a:prstGeom>
              <a:solidFill>
                <a:srgbClr val="EAE2FE"/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二进制</a:t>
                </a:r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B674A884-BD90-18FA-BDAB-3BFA319504C8}"/>
                  </a:ext>
                </a:extLst>
              </p:cNvPr>
              <p:cNvSpPr/>
              <p:nvPr/>
            </p:nvSpPr>
            <p:spPr>
              <a:xfrm>
                <a:off x="8253842" y="4353925"/>
                <a:ext cx="2864732" cy="94090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运算结果</a:t>
                </a:r>
              </a:p>
            </p:txBody>
          </p:sp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CAA9D00F-B8F5-1E9B-EB38-DBF2E4EFF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4401" y="3286215"/>
                <a:ext cx="1269209" cy="1305062"/>
              </a:xfrm>
              <a:prstGeom prst="rect">
                <a:avLst/>
              </a:prstGeom>
            </p:spPr>
          </p:pic>
          <p:sp>
            <p:nvSpPr>
              <p:cNvPr id="18" name="左大括号 17">
                <a:extLst>
                  <a:ext uri="{FF2B5EF4-FFF2-40B4-BE49-F238E27FC236}">
                    <a16:creationId xmlns:a16="http://schemas.microsoft.com/office/drawing/2014/main" id="{97DC3D5A-71D8-A623-EBC9-3B3A7D0F69BE}"/>
                  </a:ext>
                </a:extLst>
              </p:cNvPr>
              <p:cNvSpPr/>
              <p:nvPr/>
            </p:nvSpPr>
            <p:spPr>
              <a:xfrm>
                <a:off x="2689754" y="2307646"/>
                <a:ext cx="487800" cy="2657644"/>
              </a:xfrm>
              <a:prstGeom prst="leftBrace">
                <a:avLst>
                  <a:gd name="adj1" fmla="val 8333"/>
                  <a:gd name="adj2" fmla="val 49501"/>
                </a:avLst>
              </a:prstGeom>
              <a:ln w="76200">
                <a:solidFill>
                  <a:srgbClr val="843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箭头: 右 20">
                <a:extLst>
                  <a:ext uri="{FF2B5EF4-FFF2-40B4-BE49-F238E27FC236}">
                    <a16:creationId xmlns:a16="http://schemas.microsoft.com/office/drawing/2014/main" id="{076F3F56-041F-F766-3087-9600E9AD83D7}"/>
                  </a:ext>
                </a:extLst>
              </p:cNvPr>
              <p:cNvSpPr/>
              <p:nvPr/>
            </p:nvSpPr>
            <p:spPr>
              <a:xfrm>
                <a:off x="5286066" y="4423813"/>
                <a:ext cx="2650832" cy="689761"/>
              </a:xfrm>
              <a:prstGeom prst="rightArrow">
                <a:avLst/>
              </a:prstGeom>
              <a:solidFill>
                <a:srgbClr val="843C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7FF95AC-2487-6628-18E0-3E96CE88569B}"/>
                </a:ext>
              </a:extLst>
            </p:cNvPr>
            <p:cNvSpPr txBox="1"/>
            <p:nvPr/>
          </p:nvSpPr>
          <p:spPr>
            <a:xfrm>
              <a:off x="5227972" y="4762819"/>
              <a:ext cx="265083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参与运算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F9A968EA-1368-47A4-2198-E9BBD0BDBDFA}"/>
              </a:ext>
            </a:extLst>
          </p:cNvPr>
          <p:cNvSpPr txBox="1"/>
          <p:nvPr/>
        </p:nvSpPr>
        <p:spPr>
          <a:xfrm>
            <a:off x="5360494" y="1638987"/>
            <a:ext cx="7745896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=1000 0000 0001 0011</a:t>
            </a:r>
          </a:p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反</a:t>
            </a: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1110 1100 </a:t>
            </a:r>
          </a:p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4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1110 1101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54A841-C257-55C1-E650-C8261036477B}"/>
              </a:ext>
            </a:extLst>
          </p:cNvPr>
          <p:cNvSpPr txBox="1"/>
          <p:nvPr/>
        </p:nvSpPr>
        <p:spPr>
          <a:xfrm>
            <a:off x="-165653" y="5360635"/>
            <a:ext cx="123576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减少设备复杂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,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减法变加法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带符号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),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引入反码和补码，不同运算用不同码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69F5F10-0206-B42F-EACD-9B56F0ED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F395888-779D-1F63-7B87-C91F0FD17926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20C0D4AE-7205-1AC4-0188-49FD2832E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24A604A-74E0-D43B-334B-47423D055680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6510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F75F-F45F-3A61-4E08-D708ACB8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14F9A32A-EC8A-3268-104A-B085746EFC4F}"/>
              </a:ext>
            </a:extLst>
          </p:cNvPr>
          <p:cNvSpPr txBox="1"/>
          <p:nvPr/>
        </p:nvSpPr>
        <p:spPr>
          <a:xfrm>
            <a:off x="944217" y="5244201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=1000 0000 0001 0011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AD66BD-1EDD-69EA-4987-6DF0C35D7953}"/>
              </a:ext>
            </a:extLst>
          </p:cNvPr>
          <p:cNvSpPr txBox="1"/>
          <p:nvPr/>
        </p:nvSpPr>
        <p:spPr>
          <a:xfrm>
            <a:off x="1680011" y="857252"/>
            <a:ext cx="107740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最高位表正负，其他位表大小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符号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绝对值，和真值接近直观，十进制转换简单，但加减复杂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D93FAA2-244D-05FE-8084-4EE10F5C62B7}"/>
              </a:ext>
            </a:extLst>
          </p:cNvPr>
          <p:cNvSpPr/>
          <p:nvPr/>
        </p:nvSpPr>
        <p:spPr>
          <a:xfrm>
            <a:off x="0" y="1147821"/>
            <a:ext cx="1680010" cy="940906"/>
          </a:xfrm>
          <a:prstGeom prst="roundRect">
            <a:avLst/>
          </a:prstGeom>
          <a:solidFill>
            <a:srgbClr val="FFFF00"/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原码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D4764B-04E4-630E-E85E-B4D69B774B23}"/>
              </a:ext>
            </a:extLst>
          </p:cNvPr>
          <p:cNvSpPr txBox="1"/>
          <p:nvPr/>
        </p:nvSpPr>
        <p:spPr>
          <a:xfrm>
            <a:off x="1232452" y="4292531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=0000 0000 0001 0011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5C10AC-52A0-7D28-64B6-7B416951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0DB80CC-AD70-BC14-CAD6-D1CC9CCEB7F9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65C3811C-ED01-4D2C-9FBD-6B47C11F0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2A81EDF-7DF5-67B6-0BA3-AE318C5E0847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02772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BF9B-ADD0-93CC-3F20-55442B1C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8A82408-6C07-3798-D382-75386A3C35FC}"/>
              </a:ext>
            </a:extLst>
          </p:cNvPr>
          <p:cNvCxnSpPr/>
          <p:nvPr/>
        </p:nvCxnSpPr>
        <p:spPr>
          <a:xfrm flipV="1">
            <a:off x="0" y="1061714"/>
            <a:ext cx="12192000" cy="1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8F4814F-A49C-0709-33C3-77B86EFD72EE}"/>
              </a:ext>
            </a:extLst>
          </p:cNvPr>
          <p:cNvSpPr txBox="1"/>
          <p:nvPr/>
        </p:nvSpPr>
        <p:spPr>
          <a:xfrm>
            <a:off x="546652" y="5126708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反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1110 1100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01E5602-C39A-4805-9524-7F667EBEEB53}"/>
              </a:ext>
            </a:extLst>
          </p:cNvPr>
          <p:cNvSpPr txBox="1"/>
          <p:nvPr/>
        </p:nvSpPr>
        <p:spPr>
          <a:xfrm>
            <a:off x="1680011" y="857252"/>
            <a:ext cx="107740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正数反码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原码，负数反码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符号位不变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其他位取反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3C1CC2E-C908-7081-5A0A-D9D8313F234A}"/>
              </a:ext>
            </a:extLst>
          </p:cNvPr>
          <p:cNvSpPr/>
          <p:nvPr/>
        </p:nvSpPr>
        <p:spPr>
          <a:xfrm>
            <a:off x="-56322" y="1061714"/>
            <a:ext cx="1680010" cy="9409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反码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53752F-4A4E-A9BA-66E3-687FF665374C}"/>
              </a:ext>
            </a:extLst>
          </p:cNvPr>
          <p:cNvSpPr txBox="1"/>
          <p:nvPr/>
        </p:nvSpPr>
        <p:spPr>
          <a:xfrm>
            <a:off x="546652" y="401973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=1000 0000 0001 0011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B382C55-55AF-895B-98E8-7C7A7340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97CFE9D-B3E7-6416-9046-C9E3CAECA254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3CD4291-2AA7-54AD-7E9B-F59541919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12BC19F-AF11-B5BE-BF5C-822499A36EDE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0886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18CF-E9E7-8869-6032-95B137CD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E57741AF-3780-426D-94F6-821D833DA122}"/>
              </a:ext>
            </a:extLst>
          </p:cNvPr>
          <p:cNvSpPr txBox="1"/>
          <p:nvPr/>
        </p:nvSpPr>
        <p:spPr>
          <a:xfrm>
            <a:off x="616226" y="3607444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反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1110 1100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C87EE65-78CB-4FE9-3088-7F7B2304AD25}"/>
              </a:ext>
            </a:extLst>
          </p:cNvPr>
          <p:cNvSpPr txBox="1"/>
          <p:nvPr/>
        </p:nvSpPr>
        <p:spPr>
          <a:xfrm>
            <a:off x="1680011" y="857252"/>
            <a:ext cx="107740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正数补码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原码，负数补码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反码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D132BD-3201-A2ED-74FE-F79683F37349}"/>
              </a:ext>
            </a:extLst>
          </p:cNvPr>
          <p:cNvSpPr/>
          <p:nvPr/>
        </p:nvSpPr>
        <p:spPr>
          <a:xfrm>
            <a:off x="0" y="1129363"/>
            <a:ext cx="1680011" cy="9409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补码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1A21AB-DDEB-C44E-A290-5B7D4C2A4089}"/>
              </a:ext>
            </a:extLst>
          </p:cNvPr>
          <p:cNvSpPr txBox="1"/>
          <p:nvPr/>
        </p:nvSpPr>
        <p:spPr>
          <a:xfrm>
            <a:off x="616226" y="2604245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=1000 0000 0001 0011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0886CE-AD97-FD54-E2AD-DC3E1AC6CBBA}"/>
              </a:ext>
            </a:extLst>
          </p:cNvPr>
          <p:cNvSpPr txBox="1"/>
          <p:nvPr/>
        </p:nvSpPr>
        <p:spPr>
          <a:xfrm>
            <a:off x="616226" y="4610643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[-19]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1110 1101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130D52E7-8A9C-1176-9A0D-85708480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651CCF4-7815-83B5-D436-328F1EDC8641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9238DC1-C112-7178-03A3-AF8E4D7B9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360D32-B054-C369-317F-788FA57DAB4D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1845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9E5F-4EE6-A2CA-263B-CBCA2493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20F1937-B994-903B-7345-2B2420E0E761}"/>
              </a:ext>
            </a:extLst>
          </p:cNvPr>
          <p:cNvSpPr txBox="1"/>
          <p:nvPr/>
        </p:nvSpPr>
        <p:spPr>
          <a:xfrm>
            <a:off x="61518" y="1981213"/>
            <a:ext cx="2650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正数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A60E8A-5BA4-67C0-AD9E-122C5D3C4A83}"/>
              </a:ext>
            </a:extLst>
          </p:cNvPr>
          <p:cNvGrpSpPr/>
          <p:nvPr/>
        </p:nvGrpSpPr>
        <p:grpSpPr>
          <a:xfrm>
            <a:off x="3197165" y="2048926"/>
            <a:ext cx="6518465" cy="947950"/>
            <a:chOff x="3091148" y="1795928"/>
            <a:chExt cx="6518465" cy="94795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4F70349-FB2D-3023-BAEC-6566AB26C36E}"/>
                </a:ext>
              </a:extLst>
            </p:cNvPr>
            <p:cNvSpPr/>
            <p:nvPr/>
          </p:nvSpPr>
          <p:spPr>
            <a:xfrm>
              <a:off x="5510375" y="1795928"/>
              <a:ext cx="1680010" cy="94090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反码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553AB7B-16FA-BB83-C674-548251837606}"/>
                </a:ext>
              </a:extLst>
            </p:cNvPr>
            <p:cNvSpPr/>
            <p:nvPr/>
          </p:nvSpPr>
          <p:spPr>
            <a:xfrm>
              <a:off x="3091148" y="1802972"/>
              <a:ext cx="1680010" cy="940906"/>
            </a:xfrm>
            <a:prstGeom prst="roundRect">
              <a:avLst/>
            </a:prstGeom>
            <a:solidFill>
              <a:srgbClr val="FFFF00"/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原码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5A7F23F-D9A4-B9EF-6BF1-C20CE33C71DA}"/>
                </a:ext>
              </a:extLst>
            </p:cNvPr>
            <p:cNvSpPr/>
            <p:nvPr/>
          </p:nvSpPr>
          <p:spPr>
            <a:xfrm>
              <a:off x="7929602" y="1802972"/>
              <a:ext cx="1680011" cy="9409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补码</a:t>
              </a:r>
            </a:p>
          </p:txBody>
        </p:sp>
        <p:sp>
          <p:nvSpPr>
            <p:cNvPr id="12" name="等号 11">
              <a:extLst>
                <a:ext uri="{FF2B5EF4-FFF2-40B4-BE49-F238E27FC236}">
                  <a16:creationId xmlns:a16="http://schemas.microsoft.com/office/drawing/2014/main" id="{AF3965A9-A247-EB61-CF73-6BA53791ADE0}"/>
                </a:ext>
              </a:extLst>
            </p:cNvPr>
            <p:cNvSpPr/>
            <p:nvPr/>
          </p:nvSpPr>
          <p:spPr>
            <a:xfrm>
              <a:off x="4795693" y="2146852"/>
              <a:ext cx="593818" cy="384313"/>
            </a:xfrm>
            <a:prstGeom prst="mathEqual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等号 12">
              <a:extLst>
                <a:ext uri="{FF2B5EF4-FFF2-40B4-BE49-F238E27FC236}">
                  <a16:creationId xmlns:a16="http://schemas.microsoft.com/office/drawing/2014/main" id="{D660D2E0-D8E4-A4D2-3E30-183CCC9EBCF1}"/>
                </a:ext>
              </a:extLst>
            </p:cNvPr>
            <p:cNvSpPr/>
            <p:nvPr/>
          </p:nvSpPr>
          <p:spPr>
            <a:xfrm>
              <a:off x="7240347" y="2111602"/>
              <a:ext cx="593818" cy="384313"/>
            </a:xfrm>
            <a:prstGeom prst="mathEqual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54BE938-F0E2-D405-C333-2E8D29D10A85}"/>
              </a:ext>
            </a:extLst>
          </p:cNvPr>
          <p:cNvGrpSpPr/>
          <p:nvPr/>
        </p:nvGrpSpPr>
        <p:grpSpPr>
          <a:xfrm>
            <a:off x="74654" y="3926235"/>
            <a:ext cx="9654112" cy="2772165"/>
            <a:chOff x="61518" y="2722124"/>
            <a:chExt cx="9654112" cy="277216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5522FB0-21FD-8EA5-D4F1-E6CC06DE4961}"/>
                </a:ext>
              </a:extLst>
            </p:cNvPr>
            <p:cNvSpPr txBox="1"/>
            <p:nvPr/>
          </p:nvSpPr>
          <p:spPr>
            <a:xfrm>
              <a:off x="61518" y="2731128"/>
              <a:ext cx="265043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57250" marR="0" lvl="0" indent="-8572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负数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91767C7-B437-3806-8C58-E04E637C600A}"/>
                </a:ext>
              </a:extLst>
            </p:cNvPr>
            <p:cNvGrpSpPr/>
            <p:nvPr/>
          </p:nvGrpSpPr>
          <p:grpSpPr>
            <a:xfrm>
              <a:off x="3197165" y="2722124"/>
              <a:ext cx="6518465" cy="947950"/>
              <a:chOff x="3091148" y="1795928"/>
              <a:chExt cx="6518465" cy="947950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D53D3BAD-EECC-6706-871D-651E8CDB1677}"/>
                  </a:ext>
                </a:extLst>
              </p:cNvPr>
              <p:cNvSpPr/>
              <p:nvPr/>
            </p:nvSpPr>
            <p:spPr>
              <a:xfrm>
                <a:off x="5510375" y="1795928"/>
                <a:ext cx="1680010" cy="94090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反码</a:t>
                </a: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03813B1F-89A5-8F78-2AC2-CA0B8E5CF139}"/>
                  </a:ext>
                </a:extLst>
              </p:cNvPr>
              <p:cNvSpPr/>
              <p:nvPr/>
            </p:nvSpPr>
            <p:spPr>
              <a:xfrm>
                <a:off x="3091148" y="1802972"/>
                <a:ext cx="1680010" cy="940906"/>
              </a:xfrm>
              <a:prstGeom prst="roundRect">
                <a:avLst/>
              </a:prstGeom>
              <a:solidFill>
                <a:srgbClr val="FFFF00"/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原码</a:t>
                </a: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BE92B68E-7F4D-F77D-C309-A8749DEFCBA2}"/>
                  </a:ext>
                </a:extLst>
              </p:cNvPr>
              <p:cNvSpPr/>
              <p:nvPr/>
            </p:nvSpPr>
            <p:spPr>
              <a:xfrm>
                <a:off x="7929602" y="1802972"/>
                <a:ext cx="1680011" cy="94090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补码</a:t>
                </a:r>
              </a:p>
            </p:txBody>
          </p:sp>
        </p:grpSp>
        <p:sp>
          <p:nvSpPr>
            <p:cNvPr id="23" name="不等号 22">
              <a:extLst>
                <a:ext uri="{FF2B5EF4-FFF2-40B4-BE49-F238E27FC236}">
                  <a16:creationId xmlns:a16="http://schemas.microsoft.com/office/drawing/2014/main" id="{6A1ED8CF-539D-A8A1-A25A-13DE6BB1D6E0}"/>
                </a:ext>
              </a:extLst>
            </p:cNvPr>
            <p:cNvSpPr/>
            <p:nvPr/>
          </p:nvSpPr>
          <p:spPr>
            <a:xfrm>
              <a:off x="4840810" y="3046802"/>
              <a:ext cx="715617" cy="384313"/>
            </a:xfrm>
            <a:prstGeom prst="mathNotEqual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不等号 23">
              <a:extLst>
                <a:ext uri="{FF2B5EF4-FFF2-40B4-BE49-F238E27FC236}">
                  <a16:creationId xmlns:a16="http://schemas.microsoft.com/office/drawing/2014/main" id="{EE6EC29F-ABC0-801F-CB3B-19DACFDCACC1}"/>
                </a:ext>
              </a:extLst>
            </p:cNvPr>
            <p:cNvSpPr/>
            <p:nvPr/>
          </p:nvSpPr>
          <p:spPr>
            <a:xfrm>
              <a:off x="7285464" y="3012683"/>
              <a:ext cx="715617" cy="384313"/>
            </a:xfrm>
            <a:prstGeom prst="mathNotEqual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C14BB4C7-7756-88E9-D89E-84154D20A927}"/>
                </a:ext>
              </a:extLst>
            </p:cNvPr>
            <p:cNvSpPr/>
            <p:nvPr/>
          </p:nvSpPr>
          <p:spPr>
            <a:xfrm>
              <a:off x="3635578" y="3682702"/>
              <a:ext cx="490330" cy="940906"/>
            </a:xfrm>
            <a:prstGeom prst="down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6FAC909-094E-0FF4-1990-FAF2FD9EA011}"/>
                </a:ext>
              </a:extLst>
            </p:cNvPr>
            <p:cNvSpPr txBox="1"/>
            <p:nvPr/>
          </p:nvSpPr>
          <p:spPr>
            <a:xfrm>
              <a:off x="3040738" y="4560092"/>
              <a:ext cx="168001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可读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A5D9553-366C-E8B1-F058-151325349CD2}"/>
                </a:ext>
              </a:extLst>
            </p:cNvPr>
            <p:cNvSpPr txBox="1"/>
            <p:nvPr/>
          </p:nvSpPr>
          <p:spPr>
            <a:xfrm>
              <a:off x="8252237" y="4577251"/>
              <a:ext cx="146339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运算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BC0C28AE-626C-9016-99C9-27B9262DCF1E}"/>
                </a:ext>
              </a:extLst>
            </p:cNvPr>
            <p:cNvSpPr/>
            <p:nvPr/>
          </p:nvSpPr>
          <p:spPr>
            <a:xfrm>
              <a:off x="8717247" y="3768553"/>
              <a:ext cx="490330" cy="940906"/>
            </a:xfrm>
            <a:prstGeom prst="down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箭头: 下 31">
              <a:extLst>
                <a:ext uri="{FF2B5EF4-FFF2-40B4-BE49-F238E27FC236}">
                  <a16:creationId xmlns:a16="http://schemas.microsoft.com/office/drawing/2014/main" id="{B333193D-58D9-B2AB-CC08-9CA3F2AC625A}"/>
                </a:ext>
              </a:extLst>
            </p:cNvPr>
            <p:cNvSpPr/>
            <p:nvPr/>
          </p:nvSpPr>
          <p:spPr>
            <a:xfrm>
              <a:off x="6096000" y="3670074"/>
              <a:ext cx="490330" cy="479265"/>
            </a:xfrm>
            <a:prstGeom prst="down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9B4EBFB-BBDA-B8A3-52B9-4E3C423C6853}"/>
                </a:ext>
              </a:extLst>
            </p:cNvPr>
            <p:cNvSpPr txBox="1"/>
            <p:nvPr/>
          </p:nvSpPr>
          <p:spPr>
            <a:xfrm>
              <a:off x="4697309" y="3924629"/>
              <a:ext cx="354045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负数转补码过渡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6E73F8D-7141-CE89-D43E-CAA220EB917B}"/>
              </a:ext>
            </a:extLst>
          </p:cNvPr>
          <p:cNvSpPr txBox="1"/>
          <p:nvPr/>
        </p:nvSpPr>
        <p:spPr>
          <a:xfrm>
            <a:off x="2946305" y="1162749"/>
            <a:ext cx="6647732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正数直接读，直接运算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AEEC7D0-8A41-5E99-9D5C-8433BF1EE22A}"/>
              </a:ext>
            </a:extLst>
          </p:cNvPr>
          <p:cNvSpPr txBox="1"/>
          <p:nvPr/>
        </p:nvSpPr>
        <p:spPr>
          <a:xfrm>
            <a:off x="2878546" y="2992226"/>
            <a:ext cx="7003677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负数读原码，运算用补码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29ADAE-C040-B181-B64A-6628F533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71BD8D4-5DDD-14EF-3AD8-6A2D0B6A3698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73C5025E-F16E-B640-3C25-772DAED26F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5A72BFE-B1B3-1C1F-C3F5-2149AEC56C83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lang="zh-CN" altLang="en-US" sz="6600" b="1" dirty="0">
                  <a:solidFill>
                    <a:srgbClr val="843C0C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88965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1152-AC86-13AA-4D94-2205EF156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4D18205-1E12-6A4A-9191-6816E43EF3B2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运算：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3-1 = 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175E0B-D573-ACD7-7CCF-57375004674F}"/>
              </a:ext>
            </a:extLst>
          </p:cNvPr>
          <p:cNvSpPr txBox="1"/>
          <p:nvPr/>
        </p:nvSpPr>
        <p:spPr>
          <a:xfrm>
            <a:off x="546652" y="234388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[3]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=0000 0000 0000 0011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7A354D-AB59-7B94-A48B-3D76C79B5DCE}"/>
              </a:ext>
            </a:extLst>
          </p:cNvPr>
          <p:cNvSpPr txBox="1"/>
          <p:nvPr/>
        </p:nvSpPr>
        <p:spPr>
          <a:xfrm>
            <a:off x="496956" y="4307295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反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1111 1110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1AAA70-F4EF-2CD5-DE5E-98D6D39751BB}"/>
              </a:ext>
            </a:extLst>
          </p:cNvPr>
          <p:cNvSpPr txBox="1"/>
          <p:nvPr/>
        </p:nvSpPr>
        <p:spPr>
          <a:xfrm>
            <a:off x="546652" y="335575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=1000 0000 0000 0001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F1797D-8228-C60F-5904-67BEB57A9D35}"/>
              </a:ext>
            </a:extLst>
          </p:cNvPr>
          <p:cNvSpPr txBox="1"/>
          <p:nvPr/>
        </p:nvSpPr>
        <p:spPr>
          <a:xfrm>
            <a:off x="496956" y="5258840"/>
            <a:ext cx="98927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=1111 1111 1111 1111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C28BCB5-20A0-0BC6-AFC7-DCBEB453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AA5B55-6DB4-F7EA-73DA-D9206BC0A4E3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D604232C-A9CF-12CA-E91A-52754E01DD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60FB439-66B7-885A-50C2-FDF28B2CBF71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4822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AEE4-0053-65A2-F5F8-BDF81C26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21E01FA-6E65-80B0-0D5F-9F4D8D7D855B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运算：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3-1 = 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83362-2DEB-F3C2-378D-90A79C9BB8FF}"/>
              </a:ext>
            </a:extLst>
          </p:cNvPr>
          <p:cNvSpPr txBox="1"/>
          <p:nvPr/>
        </p:nvSpPr>
        <p:spPr>
          <a:xfrm>
            <a:off x="546652" y="234388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[3]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0000 0000 0000 0011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B9FEFC-1FA8-4377-E1AA-2D2B9E873072}"/>
              </a:ext>
            </a:extLst>
          </p:cNvPr>
          <p:cNvSpPr txBox="1"/>
          <p:nvPr/>
        </p:nvSpPr>
        <p:spPr>
          <a:xfrm>
            <a:off x="674430" y="3483323"/>
            <a:ext cx="10523656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1111 1111 1111 1111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806BCCB-1298-FB2D-FD93-718FC9DD09EF}"/>
              </a:ext>
            </a:extLst>
          </p:cNvPr>
          <p:cNvCxnSpPr>
            <a:cxnSpLocks/>
          </p:cNvCxnSpPr>
          <p:nvPr/>
        </p:nvCxnSpPr>
        <p:spPr>
          <a:xfrm>
            <a:off x="546652" y="4359579"/>
            <a:ext cx="10523656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加号 10">
            <a:extLst>
              <a:ext uri="{FF2B5EF4-FFF2-40B4-BE49-F238E27FC236}">
                <a16:creationId xmlns:a16="http://schemas.microsoft.com/office/drawing/2014/main" id="{AD10A9FF-DC4E-6287-2732-CC048693F9AE}"/>
              </a:ext>
            </a:extLst>
          </p:cNvPr>
          <p:cNvSpPr/>
          <p:nvPr/>
        </p:nvSpPr>
        <p:spPr>
          <a:xfrm>
            <a:off x="3101009" y="3494008"/>
            <a:ext cx="533400" cy="573157"/>
          </a:xfrm>
          <a:prstGeom prst="mathPlus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881FD7-1EE5-0AF5-93A1-FCB119F6CC65}"/>
              </a:ext>
            </a:extLst>
          </p:cNvPr>
          <p:cNvSpPr txBox="1"/>
          <p:nvPr/>
        </p:nvSpPr>
        <p:spPr>
          <a:xfrm>
            <a:off x="674430" y="4541010"/>
            <a:ext cx="10959548" cy="733534"/>
          </a:xfrm>
          <a:prstGeom prst="rect">
            <a:avLst/>
          </a:prstGeom>
          <a:noFill/>
          <a:ln>
            <a:solidFill>
              <a:srgbClr val="FBF0D1"/>
            </a:solidFill>
          </a:ln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000 0000 0000 0010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99AB48-05A0-C07C-2B4B-AA0E99ECBB87}"/>
              </a:ext>
            </a:extLst>
          </p:cNvPr>
          <p:cNvSpPr txBox="1"/>
          <p:nvPr/>
        </p:nvSpPr>
        <p:spPr>
          <a:xfrm>
            <a:off x="-69574" y="516848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结果是补码，溢出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去除，最高位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代表正数，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正数补码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原码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，不用加工，直接读出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47AA72B3-ACC8-B6D7-F002-EB3473CC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BE0F3F7-FFED-D10F-10FA-EC4DD262C719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CF49E12-11BF-2306-2F79-DBDF7B9488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4918232-7348-66E2-6698-1873519806EB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7693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7FA0-25BA-08B1-838D-1FD0665A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607CB23-7179-5C1E-47C3-5B5000EA9F73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运算：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-5-10=-15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5AD1DBA-75A6-CC1A-6B4E-B9D8C1F52687}"/>
              </a:ext>
            </a:extLst>
          </p:cNvPr>
          <p:cNvCxnSpPr>
            <a:cxnSpLocks/>
          </p:cNvCxnSpPr>
          <p:nvPr/>
        </p:nvCxnSpPr>
        <p:spPr>
          <a:xfrm>
            <a:off x="674430" y="3322983"/>
            <a:ext cx="10523656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加号 10">
            <a:extLst>
              <a:ext uri="{FF2B5EF4-FFF2-40B4-BE49-F238E27FC236}">
                <a16:creationId xmlns:a16="http://schemas.microsoft.com/office/drawing/2014/main" id="{46FBF9F4-0117-96EF-CDC0-FBF6D378AB2A}"/>
              </a:ext>
            </a:extLst>
          </p:cNvPr>
          <p:cNvSpPr/>
          <p:nvPr/>
        </p:nvSpPr>
        <p:spPr>
          <a:xfrm>
            <a:off x="3127513" y="2385939"/>
            <a:ext cx="533400" cy="573157"/>
          </a:xfrm>
          <a:prstGeom prst="mathPlus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01093F-1B0F-695E-7DA6-C35D0870DCD4}"/>
              </a:ext>
            </a:extLst>
          </p:cNvPr>
          <p:cNvSpPr txBox="1"/>
          <p:nvPr/>
        </p:nvSpPr>
        <p:spPr>
          <a:xfrm>
            <a:off x="273326" y="3488658"/>
            <a:ext cx="10959548" cy="733534"/>
          </a:xfrm>
          <a:prstGeom prst="rect">
            <a:avLst/>
          </a:prstGeom>
          <a:noFill/>
          <a:ln>
            <a:solidFill>
              <a:srgbClr val="FBF0D1"/>
            </a:solidFill>
          </a:ln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111 1111 1111 0001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26C0E3-3087-E6E8-78BC-A3F4EFB4A23F}"/>
              </a:ext>
            </a:extLst>
          </p:cNvPr>
          <p:cNvSpPr txBox="1"/>
          <p:nvPr/>
        </p:nvSpPr>
        <p:spPr>
          <a:xfrm>
            <a:off x="-159742" y="4156935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结果</a:t>
            </a:r>
            <a:r>
              <a:rPr kumimoji="0" lang="en-US" altLang="zh-CN" sz="48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去除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最高位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为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负数，不能读取，需还原成原码，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负数补码的补码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原码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B00793-541D-A8A8-891A-E54BD410E1DA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10C06F3-CF7B-710F-118A-D58C5265F5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D45A2EC-24EF-47D7-2E3D-D78A749D63A2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05505284-650A-3599-5CD6-1ECAC368959C}"/>
              </a:ext>
            </a:extLst>
          </p:cNvPr>
          <p:cNvSpPr txBox="1"/>
          <p:nvPr/>
        </p:nvSpPr>
        <p:spPr>
          <a:xfrm>
            <a:off x="616226" y="190388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[-5]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lang="en-US" altLang="zh-CN" sz="6000" b="1" spc="-1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111 1111 1111 1011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0B5C62-9416-A241-A210-6E9966E6FB4D}"/>
              </a:ext>
            </a:extLst>
          </p:cNvPr>
          <p:cNvSpPr txBox="1"/>
          <p:nvPr/>
        </p:nvSpPr>
        <p:spPr>
          <a:xfrm>
            <a:off x="273326" y="2654707"/>
            <a:ext cx="10523656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[-10]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1111 1111 1111 01</a:t>
            </a:r>
            <a:r>
              <a:rPr lang="en-US" altLang="zh-CN" sz="6000" b="1" spc="-1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kumimoji="0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260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4563-3DE7-257F-3761-B5B71106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24F34DE-C225-38B2-45B0-AB4A62FCC71D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运算：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-5-10= -15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B874AE-D4EE-0455-8F44-05E498F2C05F}"/>
              </a:ext>
            </a:extLst>
          </p:cNvPr>
          <p:cNvCxnSpPr>
            <a:cxnSpLocks/>
          </p:cNvCxnSpPr>
          <p:nvPr/>
        </p:nvCxnSpPr>
        <p:spPr>
          <a:xfrm>
            <a:off x="674430" y="3322983"/>
            <a:ext cx="10523656" cy="0"/>
          </a:xfrm>
          <a:prstGeom prst="lin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加号 10">
            <a:extLst>
              <a:ext uri="{FF2B5EF4-FFF2-40B4-BE49-F238E27FC236}">
                <a16:creationId xmlns:a16="http://schemas.microsoft.com/office/drawing/2014/main" id="{504B4107-15CB-5597-00CF-13EC380DB796}"/>
              </a:ext>
            </a:extLst>
          </p:cNvPr>
          <p:cNvSpPr/>
          <p:nvPr/>
        </p:nvSpPr>
        <p:spPr>
          <a:xfrm>
            <a:off x="3127513" y="2385939"/>
            <a:ext cx="533400" cy="573157"/>
          </a:xfrm>
          <a:prstGeom prst="mathPlus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9A7EEB-4A48-1BA9-EB89-8C4BEB97E7F2}"/>
              </a:ext>
            </a:extLst>
          </p:cNvPr>
          <p:cNvSpPr txBox="1"/>
          <p:nvPr/>
        </p:nvSpPr>
        <p:spPr>
          <a:xfrm>
            <a:off x="273326" y="3488658"/>
            <a:ext cx="10959548" cy="733534"/>
          </a:xfrm>
          <a:prstGeom prst="rect">
            <a:avLst/>
          </a:prstGeom>
          <a:noFill/>
          <a:ln>
            <a:solidFill>
              <a:srgbClr val="FBF0D1"/>
            </a:solidFill>
          </a:ln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111 1111 1111 0001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9E5579-7435-8FBC-715D-796DA99A3687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AB000CD-6C4E-F89C-F41A-C0B911CB26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BEEDB04-04AB-659D-140C-824AA5341DB7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2.2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数字运算</a:t>
              </a:r>
              <a:endParaRPr lang="zh-CN" altLang="en-US" sz="1100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FB44D1A-FC62-2C97-84DE-3CF3DCF4EAE3}"/>
              </a:ext>
            </a:extLst>
          </p:cNvPr>
          <p:cNvSpPr txBox="1"/>
          <p:nvPr/>
        </p:nvSpPr>
        <p:spPr>
          <a:xfrm>
            <a:off x="616226" y="1903880"/>
            <a:ext cx="10959548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[-5]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lang="en-US" altLang="zh-CN" sz="6000" b="1" spc="-1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111 1111 1111 1011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65A46B-25C0-A50F-D424-1AB805CC185B}"/>
              </a:ext>
            </a:extLst>
          </p:cNvPr>
          <p:cNvSpPr txBox="1"/>
          <p:nvPr/>
        </p:nvSpPr>
        <p:spPr>
          <a:xfrm>
            <a:off x="273326" y="2654707"/>
            <a:ext cx="10523656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[-10]</a:t>
            </a: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补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1111 1111 1111 01</a:t>
            </a:r>
            <a:r>
              <a:rPr lang="en-US" altLang="zh-CN" sz="6000" b="1" spc="-1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kumimoji="0" lang="en-US" altLang="zh-CN" sz="6000" b="1" i="0" u="none" strike="noStrike" kern="1200" cap="none" spc="-15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03A7F9-5338-1E61-B18B-29052A3B20B0}"/>
              </a:ext>
            </a:extLst>
          </p:cNvPr>
          <p:cNvSpPr txBox="1"/>
          <p:nvPr/>
        </p:nvSpPr>
        <p:spPr>
          <a:xfrm>
            <a:off x="213485" y="4504964"/>
            <a:ext cx="10959548" cy="733534"/>
          </a:xfrm>
          <a:prstGeom prst="rect">
            <a:avLst/>
          </a:prstGeom>
          <a:noFill/>
          <a:ln>
            <a:solidFill>
              <a:srgbClr val="FBF0D1"/>
            </a:solidFill>
          </a:ln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取反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000 0000 0000 1110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F7CD34-2054-8D7B-967E-36CAA1EE3949}"/>
              </a:ext>
            </a:extLst>
          </p:cNvPr>
          <p:cNvSpPr txBox="1"/>
          <p:nvPr/>
        </p:nvSpPr>
        <p:spPr>
          <a:xfrm>
            <a:off x="238538" y="5429168"/>
            <a:ext cx="10959548" cy="733534"/>
          </a:xfrm>
          <a:prstGeom prst="rect">
            <a:avLst/>
          </a:prstGeom>
          <a:noFill/>
          <a:ln>
            <a:solidFill>
              <a:srgbClr val="FBF0D1"/>
            </a:solidFill>
          </a:ln>
        </p:spPr>
        <p:txBody>
          <a:bodyPr wrap="square">
            <a:spAutoFit/>
          </a:bodyPr>
          <a:lstStyle/>
          <a:p>
            <a:pPr marL="0" marR="0" lvl="1" indent="0" algn="just" defTabSz="914400" rtl="0" eaLnBrk="1" fontAlgn="auto" latinLnBrk="0" hangingPunct="1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加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     </a:t>
            </a:r>
            <a:r>
              <a:rPr lang="en-US" altLang="zh-CN" sz="6000" b="1" spc="-1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en-US" altLang="zh-CN" sz="6000" b="1" i="0" u="none" strike="noStrike" kern="1200" cap="none" spc="-15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000 0000 0000 1111</a:t>
            </a:r>
          </a:p>
        </p:txBody>
      </p:sp>
    </p:spTree>
    <p:extLst>
      <p:ext uri="{BB962C8B-B14F-4D97-AF65-F5344CB8AC3E}">
        <p14:creationId xmlns:p14="http://schemas.microsoft.com/office/powerpoint/2010/main" val="2576955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7F64-09F4-C98E-B63B-313F1F3A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18F9BCA-D78F-5C5B-601E-0A2CB02EDE40}"/>
              </a:ext>
            </a:extLst>
          </p:cNvPr>
          <p:cNvSpPr txBox="1"/>
          <p:nvPr/>
        </p:nvSpPr>
        <p:spPr>
          <a:xfrm>
            <a:off x="0" y="1446272"/>
            <a:ext cx="11070308" cy="345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英文编码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-ASCII</a:t>
            </a:r>
          </a:p>
          <a:p>
            <a:pPr marL="857250" marR="0" lvl="0" indent="-85725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汉字编码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57250" marR="0" lvl="0" indent="-85725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扩展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-Unicode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effectLst/>
              <a:highlight>
                <a:srgbClr val="FBF0D1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4A926C6-E4A6-E8CC-BFDF-B0A4373B08C8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C2B22369-A65F-2B68-AF25-3E697F81F2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E91E02B-29FD-2D06-A557-D56877DDAB97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B35CC8C-64B2-7689-25F7-74B2F980191A}"/>
              </a:ext>
            </a:extLst>
          </p:cNvPr>
          <p:cNvGrpSpPr/>
          <p:nvPr/>
        </p:nvGrpSpPr>
        <p:grpSpPr>
          <a:xfrm>
            <a:off x="7105466" y="1488873"/>
            <a:ext cx="1183340" cy="941294"/>
            <a:chOff x="7315201" y="4047566"/>
            <a:chExt cx="1183340" cy="94129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3F0DB92C-FE8A-822C-ADE7-86F06146CFEE}"/>
                </a:ext>
              </a:extLst>
            </p:cNvPr>
            <p:cNvSpPr/>
            <p:nvPr/>
          </p:nvSpPr>
          <p:spPr>
            <a:xfrm>
              <a:off x="7315201" y="4047566"/>
              <a:ext cx="1183340" cy="9412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D118DAC-C50E-2E90-81B6-B84D44443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36224" y="4155140"/>
              <a:ext cx="949418" cy="786385"/>
            </a:xfrm>
            <a:prstGeom prst="rect">
              <a:avLst/>
            </a:prstGeom>
          </p:spPr>
        </p:pic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E212CA3-CD0D-685A-A3C7-352089EBBB7D}"/>
              </a:ext>
            </a:extLst>
          </p:cNvPr>
          <p:cNvSpPr/>
          <p:nvPr/>
        </p:nvSpPr>
        <p:spPr>
          <a:xfrm>
            <a:off x="7157038" y="3915226"/>
            <a:ext cx="1183340" cy="9412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C9BA6A4-A943-62FC-1951-22CB532B3783}"/>
              </a:ext>
            </a:extLst>
          </p:cNvPr>
          <p:cNvSpPr/>
          <p:nvPr/>
        </p:nvSpPr>
        <p:spPr>
          <a:xfrm>
            <a:off x="9585215" y="2409515"/>
            <a:ext cx="2772632" cy="94129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00010001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BBEE421D-530C-1ABB-FF2F-E25631D88910}"/>
              </a:ext>
            </a:extLst>
          </p:cNvPr>
          <p:cNvSpPr/>
          <p:nvPr/>
        </p:nvSpPr>
        <p:spPr>
          <a:xfrm>
            <a:off x="8544962" y="2806761"/>
            <a:ext cx="919228" cy="555672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58A458B-0AF5-D360-04F6-49A4C56A7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65" y="2244786"/>
            <a:ext cx="1085850" cy="561975"/>
          </a:xfrm>
          <a:prstGeom prst="rect">
            <a:avLst/>
          </a:prstGeom>
          <a:ln>
            <a:solidFill>
              <a:srgbClr val="FF000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76B17E-D19B-CE27-2BEA-4231BDDAE241}"/>
              </a:ext>
            </a:extLst>
          </p:cNvPr>
          <p:cNvGrpSpPr/>
          <p:nvPr/>
        </p:nvGrpSpPr>
        <p:grpSpPr>
          <a:xfrm>
            <a:off x="7157038" y="2725027"/>
            <a:ext cx="1183340" cy="941294"/>
            <a:chOff x="7157038" y="2725027"/>
            <a:chExt cx="1183340" cy="94129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DD724B4-C547-FAC1-A392-4C6227F8203B}"/>
                </a:ext>
              </a:extLst>
            </p:cNvPr>
            <p:cNvSpPr/>
            <p:nvPr/>
          </p:nvSpPr>
          <p:spPr>
            <a:xfrm>
              <a:off x="7157038" y="2725027"/>
              <a:ext cx="1183340" cy="9412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8872E75D-DD6A-23A3-7124-1E6CA25A7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11826" y="2770544"/>
              <a:ext cx="1085850" cy="873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4387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A3C1-3A29-5640-EFB7-377B8C90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E9DE342-419D-A4E1-9677-B9419FE563A1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英文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-ASCII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6184B9D-726B-FB3C-12AA-0118DE66FFBC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CF8A7AB7-1D60-306F-E62F-88D3D379F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C7F69CC-8AC4-C497-F14A-C3ADF7428B1F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817403F-8650-5B99-5054-584D76A14C36}"/>
              </a:ext>
            </a:extLst>
          </p:cNvPr>
          <p:cNvGrpSpPr/>
          <p:nvPr/>
        </p:nvGrpSpPr>
        <p:grpSpPr>
          <a:xfrm>
            <a:off x="427596" y="3004744"/>
            <a:ext cx="11974880" cy="3406391"/>
            <a:chOff x="373808" y="2567595"/>
            <a:chExt cx="11974880" cy="340639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7AA4A23-380B-58EC-4884-ED18A5D23C5D}"/>
                </a:ext>
              </a:extLst>
            </p:cNvPr>
            <p:cNvGrpSpPr/>
            <p:nvPr/>
          </p:nvGrpSpPr>
          <p:grpSpPr>
            <a:xfrm>
              <a:off x="9469074" y="2728710"/>
              <a:ext cx="2241542" cy="1837693"/>
              <a:chOff x="7315201" y="4047566"/>
              <a:chExt cx="1183340" cy="941294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535AB8BE-0C65-2F0D-2198-8C6E85D2D86E}"/>
                  </a:ext>
                </a:extLst>
              </p:cNvPr>
              <p:cNvSpPr/>
              <p:nvPr/>
            </p:nvSpPr>
            <p:spPr>
              <a:xfrm>
                <a:off x="7315201" y="4047566"/>
                <a:ext cx="1183340" cy="9412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76200"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32E5F5FD-97EB-DBEA-9D9C-40F113238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0293" y="4065963"/>
                <a:ext cx="1079294" cy="893959"/>
              </a:xfrm>
              <a:prstGeom prst="rect">
                <a:avLst/>
              </a:prstGeom>
            </p:spPr>
          </p:pic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535C56D-6C25-073E-458D-3F5D97D55479}"/>
                </a:ext>
              </a:extLst>
            </p:cNvPr>
            <p:cNvSpPr/>
            <p:nvPr/>
          </p:nvSpPr>
          <p:spPr>
            <a:xfrm>
              <a:off x="481384" y="2890789"/>
              <a:ext cx="1680882" cy="1513537"/>
            </a:xfrm>
            <a:prstGeom prst="roundRect">
              <a:avLst/>
            </a:prstGeom>
            <a:solidFill>
              <a:srgbClr val="FFFF00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000" b="1" spc="-3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键盘输入</a:t>
              </a:r>
              <a:endParaRPr lang="en-US" altLang="zh-CN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73BBD810-B1E9-8910-3AC7-912B3B164EB8}"/>
                </a:ext>
              </a:extLst>
            </p:cNvPr>
            <p:cNvSpPr/>
            <p:nvPr/>
          </p:nvSpPr>
          <p:spPr>
            <a:xfrm>
              <a:off x="2556761" y="3405840"/>
              <a:ext cx="1538287" cy="665358"/>
            </a:xfrm>
            <a:prstGeom prst="right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7C26B9F-C0CC-8E35-1BFE-F8175F58C18C}"/>
                </a:ext>
              </a:extLst>
            </p:cNvPr>
            <p:cNvSpPr txBox="1"/>
            <p:nvPr/>
          </p:nvSpPr>
          <p:spPr>
            <a:xfrm>
              <a:off x="2162266" y="2567595"/>
              <a:ext cx="301214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BF0D1"/>
                  </a:highligh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ASCII</a:t>
              </a: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BF0D1"/>
                  </a:highligh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编码</a:t>
              </a:r>
              <a:endParaRPr lang="zh-CN" altLang="en-US" sz="1400" dirty="0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83539DD-14CD-74F6-8EED-F74C84DB1B5D}"/>
                </a:ext>
              </a:extLst>
            </p:cNvPr>
            <p:cNvSpPr/>
            <p:nvPr/>
          </p:nvSpPr>
          <p:spPr>
            <a:xfrm>
              <a:off x="4479946" y="3274301"/>
              <a:ext cx="2864223" cy="1130025"/>
            </a:xfrm>
            <a:prstGeom prst="roundRect">
              <a:avLst/>
            </a:prstGeom>
            <a:solidFill>
              <a:srgbClr val="FFFF00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0" b="1" spc="-3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01000001</a:t>
              </a:r>
              <a:endParaRPr lang="zh-CN" altLang="en-US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3683FB52-7024-EECA-B70E-FC119A633DA8}"/>
                </a:ext>
              </a:extLst>
            </p:cNvPr>
            <p:cNvSpPr/>
            <p:nvPr/>
          </p:nvSpPr>
          <p:spPr>
            <a:xfrm>
              <a:off x="7486412" y="3454721"/>
              <a:ext cx="1538287" cy="665358"/>
            </a:xfrm>
            <a:prstGeom prst="right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3823F94-14EA-7D0E-FFE0-373E7964D074}"/>
                </a:ext>
              </a:extLst>
            </p:cNvPr>
            <p:cNvSpPr txBox="1"/>
            <p:nvPr/>
          </p:nvSpPr>
          <p:spPr>
            <a:xfrm>
              <a:off x="7518490" y="2747183"/>
              <a:ext cx="177626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BF0D1"/>
                  </a:highligh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对应</a:t>
              </a:r>
              <a:endParaRPr lang="zh-CN" altLang="en-US" sz="14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9E78D7D-7E88-E993-E0E6-10A4AEA8D941}"/>
                </a:ext>
              </a:extLst>
            </p:cNvPr>
            <p:cNvSpPr txBox="1"/>
            <p:nvPr/>
          </p:nvSpPr>
          <p:spPr>
            <a:xfrm>
              <a:off x="373808" y="4404326"/>
              <a:ext cx="2556761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48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英文或不可见码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321A2BD-0EC9-A676-0335-44FA0F010CA4}"/>
                </a:ext>
              </a:extLst>
            </p:cNvPr>
            <p:cNvSpPr txBox="1"/>
            <p:nvPr/>
          </p:nvSpPr>
          <p:spPr>
            <a:xfrm>
              <a:off x="4787408" y="4404326"/>
              <a:ext cx="255676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8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ASCII</a:t>
              </a:r>
              <a:r>
                <a:rPr lang="zh-CN" altLang="en-US" sz="4800" b="1" spc="-3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码</a:t>
              </a:r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9D949FC-5FE2-D91E-F957-B919FF6F98F5}"/>
                </a:ext>
              </a:extLst>
            </p:cNvPr>
            <p:cNvSpPr txBox="1"/>
            <p:nvPr/>
          </p:nvSpPr>
          <p:spPr>
            <a:xfrm>
              <a:off x="9024699" y="4610170"/>
              <a:ext cx="332398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48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可显示字模</a:t>
              </a:r>
              <a:endParaRPr lang="zh-CN" altLang="en-US" dirty="0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DCA92182-77F6-012E-EA5E-4FF50CA7818A}"/>
              </a:ext>
            </a:extLst>
          </p:cNvPr>
          <p:cNvSpPr txBox="1"/>
          <p:nvPr/>
        </p:nvSpPr>
        <p:spPr>
          <a:xfrm>
            <a:off x="-93875" y="2135047"/>
            <a:ext cx="14361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merican 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tandard 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C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ode for 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nformation 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</a:t>
            </a:r>
            <a:r>
              <a:rPr kumimoji="0" lang="en-US" altLang="zh-CN" sz="44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nterchange</a:t>
            </a:r>
            <a:endParaRPr lang="zh-CN" altLang="en-US" kern="500" spc="-300" dirty="0"/>
          </a:p>
        </p:txBody>
      </p:sp>
    </p:spTree>
    <p:extLst>
      <p:ext uri="{BB962C8B-B14F-4D97-AF65-F5344CB8AC3E}">
        <p14:creationId xmlns:p14="http://schemas.microsoft.com/office/powerpoint/2010/main" val="3789444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3D27-321C-D300-3D6A-7232DD00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491B1A3-34DE-C7A6-980E-C34548194169}"/>
              </a:ext>
            </a:extLst>
          </p:cNvPr>
          <p:cNvSpPr txBox="1"/>
          <p:nvPr/>
        </p:nvSpPr>
        <p:spPr>
          <a:xfrm>
            <a:off x="-94128" y="932239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英文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-ASCII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BCCCE98-535F-FC6B-E685-8EFBA7DBE9BC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60C8666-6C5C-550B-8F13-C97DA6C807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CDD70EE-F7D5-B372-BBAE-B7F710AC8DEE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3A82DE1-42D9-A750-0994-EEA64C0E9211}"/>
              </a:ext>
            </a:extLst>
          </p:cNvPr>
          <p:cNvSpPr txBox="1"/>
          <p:nvPr/>
        </p:nvSpPr>
        <p:spPr>
          <a:xfrm>
            <a:off x="-94128" y="1941369"/>
            <a:ext cx="124288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每个字符分配</a:t>
            </a:r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个二进制码</a:t>
            </a:r>
            <a:endParaRPr kumimoji="0" lang="en-US" altLang="zh-CN" sz="54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lvl="0" algn="just">
              <a:buFont typeface="Arial" panose="020B0604020202020204" pitchFamily="34" charset="0"/>
              <a:buChar char="•"/>
              <a:defRPr/>
            </a:pPr>
            <a:r>
              <a:rPr lang="en-US" altLang="zh-CN" sz="54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en-US" altLang="zh-CN" sz="54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个字符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en-US" altLang="zh-CN" sz="5400" b="1" u="sng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5400" b="1" u="sng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位有效</a:t>
            </a:r>
            <a:r>
              <a:rPr lang="en-US" altLang="zh-CN" sz="5400" b="1" u="sng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en-US" altLang="zh-CN" sz="5400" b="1" u="sng" spc="-300" baseline="30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en-US" altLang="zh-CN" sz="5400" b="1" u="sng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en-US" altLang="zh-CN" sz="54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128</a:t>
            </a:r>
            <a:r>
              <a:rPr lang="zh-CN" altLang="en-US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种组合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最高位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endParaRPr kumimoji="0" lang="en-US" altLang="zh-CN" sz="48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769EAE-4B02-9CB6-B79D-97E7D89C7FA7}"/>
              </a:ext>
            </a:extLst>
          </p:cNvPr>
          <p:cNvSpPr/>
          <p:nvPr/>
        </p:nvSpPr>
        <p:spPr>
          <a:xfrm>
            <a:off x="1945890" y="4628450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140A8B-CCC8-4368-22DB-E294E21763DA}"/>
              </a:ext>
            </a:extLst>
          </p:cNvPr>
          <p:cNvSpPr txBox="1"/>
          <p:nvPr/>
        </p:nvSpPr>
        <p:spPr>
          <a:xfrm>
            <a:off x="8516052" y="4402266"/>
            <a:ext cx="4142397" cy="1015663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zh-CN" sz="6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</a:t>
            </a:r>
            <a:r>
              <a:rPr kumimoji="0" lang="zh-CN" altLang="en-US" sz="6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</a:t>
            </a:r>
            <a:r>
              <a:rPr kumimoji="0" lang="en-US" altLang="zh-CN" sz="6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ASCII</a:t>
            </a:r>
            <a:r>
              <a:rPr kumimoji="0" lang="zh-CN" altLang="en-US" sz="6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码</a:t>
            </a:r>
            <a:endParaRPr lang="zh-CN" altLang="en-US" sz="2000" dirty="0">
              <a:highlight>
                <a:srgbClr val="DBDBF9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390B22-47D3-5C65-5D27-6517A0247981}"/>
              </a:ext>
            </a:extLst>
          </p:cNvPr>
          <p:cNvSpPr/>
          <p:nvPr/>
        </p:nvSpPr>
        <p:spPr>
          <a:xfrm>
            <a:off x="2854402" y="4628450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12EA770-5F73-2B65-0579-8E27846B63D2}"/>
              </a:ext>
            </a:extLst>
          </p:cNvPr>
          <p:cNvSpPr/>
          <p:nvPr/>
        </p:nvSpPr>
        <p:spPr>
          <a:xfrm>
            <a:off x="3747653" y="4621006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255791-2555-2799-9528-EA65052A45D7}"/>
              </a:ext>
            </a:extLst>
          </p:cNvPr>
          <p:cNvSpPr/>
          <p:nvPr/>
        </p:nvSpPr>
        <p:spPr>
          <a:xfrm>
            <a:off x="4656165" y="4621006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FD18AD-E3DE-A02C-31E7-117899209F3E}"/>
              </a:ext>
            </a:extLst>
          </p:cNvPr>
          <p:cNvSpPr/>
          <p:nvPr/>
        </p:nvSpPr>
        <p:spPr>
          <a:xfrm>
            <a:off x="5556293" y="4621006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517C61-8BF7-5C86-7E3F-80FC7E8F0ABD}"/>
              </a:ext>
            </a:extLst>
          </p:cNvPr>
          <p:cNvSpPr/>
          <p:nvPr/>
        </p:nvSpPr>
        <p:spPr>
          <a:xfrm>
            <a:off x="6464805" y="4621006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1F1FAA-D3A7-951E-17A3-A13A5620137A}"/>
              </a:ext>
            </a:extLst>
          </p:cNvPr>
          <p:cNvSpPr/>
          <p:nvPr/>
        </p:nvSpPr>
        <p:spPr>
          <a:xfrm>
            <a:off x="7358056" y="4613562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E034CDA-7EB9-9C1A-67BE-53FC0863796C}"/>
              </a:ext>
            </a:extLst>
          </p:cNvPr>
          <p:cNvSpPr txBox="1"/>
          <p:nvPr/>
        </p:nvSpPr>
        <p:spPr>
          <a:xfrm>
            <a:off x="1593199" y="5489321"/>
            <a:ext cx="6535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2</a:t>
            </a:r>
            <a:r>
              <a:rPr kumimoji="0" lang="en-US" altLang="zh-CN" sz="5400" b="1" i="0" u="none" strike="noStrike" kern="1200" cap="none" spc="-300" normalizeH="0" baseline="30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 </a:t>
            </a:r>
            <a:r>
              <a:rPr kumimoji="0" lang="en-US" altLang="zh-CN" sz="5400" b="1" i="0" u="none" strike="noStrike" kern="12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+ 2</a:t>
            </a:r>
            <a:r>
              <a:rPr kumimoji="0" lang="en-US" altLang="zh-CN" sz="5400" b="1" i="0" u="none" strike="noStrike" kern="1200" cap="none" spc="-300" normalizeH="0" baseline="30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r>
              <a:rPr kumimoji="0" lang="en-US" altLang="zh-CN" sz="5400" b="1" i="0" u="none" strike="noStrike" kern="12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= 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kumimoji="0" lang="en-US" altLang="zh-CN" sz="5400" b="1" i="0" u="none" strike="noStrike" kern="12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65</a:t>
            </a:r>
            <a:r>
              <a:rPr lang="en-US" altLang="zh-CN" sz="5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en-US" altLang="zh-CN" sz="5400" b="1" spc="-300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endParaRPr lang="zh-CN" altLang="en-US" baseline="-25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F9D0CCB-6461-C9C7-DBDD-2CE3F0BA92EA}"/>
              </a:ext>
            </a:extLst>
          </p:cNvPr>
          <p:cNvSpPr txBox="1"/>
          <p:nvPr/>
        </p:nvSpPr>
        <p:spPr>
          <a:xfrm>
            <a:off x="2049344" y="3947924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E345D0F-69DD-F813-DD93-FD35BDB1EFF0}"/>
              </a:ext>
            </a:extLst>
          </p:cNvPr>
          <p:cNvSpPr txBox="1"/>
          <p:nvPr/>
        </p:nvSpPr>
        <p:spPr>
          <a:xfrm>
            <a:off x="3015375" y="3943403"/>
            <a:ext cx="2310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7348314-710B-4258-2488-9CB2864AB99E}"/>
              </a:ext>
            </a:extLst>
          </p:cNvPr>
          <p:cNvSpPr txBox="1"/>
          <p:nvPr/>
        </p:nvSpPr>
        <p:spPr>
          <a:xfrm>
            <a:off x="3902926" y="3943403"/>
            <a:ext cx="2622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EF9279E-8E47-1CA4-5CA2-3666EDDAD32E}"/>
              </a:ext>
            </a:extLst>
          </p:cNvPr>
          <p:cNvSpPr txBox="1"/>
          <p:nvPr/>
        </p:nvSpPr>
        <p:spPr>
          <a:xfrm>
            <a:off x="4796177" y="3946408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C911C26-1B09-F018-BE32-4ADC59F3AD4A}"/>
              </a:ext>
            </a:extLst>
          </p:cNvPr>
          <p:cNvSpPr txBox="1"/>
          <p:nvPr/>
        </p:nvSpPr>
        <p:spPr>
          <a:xfrm>
            <a:off x="5696821" y="3943403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D3CD3D-97BE-B819-7DC5-A22B008B5465}"/>
              </a:ext>
            </a:extLst>
          </p:cNvPr>
          <p:cNvSpPr txBox="1"/>
          <p:nvPr/>
        </p:nvSpPr>
        <p:spPr>
          <a:xfrm>
            <a:off x="6561808" y="3921196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A7D2EFD-9B60-B60F-E0C2-91BEC3093269}"/>
              </a:ext>
            </a:extLst>
          </p:cNvPr>
          <p:cNvSpPr txBox="1"/>
          <p:nvPr/>
        </p:nvSpPr>
        <p:spPr>
          <a:xfrm>
            <a:off x="7468383" y="3917146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AB467AE-38AF-C6B9-EC79-6ACA2B0B1765}"/>
              </a:ext>
            </a:extLst>
          </p:cNvPr>
          <p:cNvSpPr txBox="1"/>
          <p:nvPr/>
        </p:nvSpPr>
        <p:spPr>
          <a:xfrm>
            <a:off x="7495691" y="5091080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75BC4A-7628-8184-0E42-24F90B8F5912}"/>
              </a:ext>
            </a:extLst>
          </p:cNvPr>
          <p:cNvSpPr txBox="1"/>
          <p:nvPr/>
        </p:nvSpPr>
        <p:spPr>
          <a:xfrm>
            <a:off x="6650901" y="5097011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14B12B8-4292-3915-B827-AB5CB780F014}"/>
              </a:ext>
            </a:extLst>
          </p:cNvPr>
          <p:cNvSpPr txBox="1"/>
          <p:nvPr/>
        </p:nvSpPr>
        <p:spPr>
          <a:xfrm>
            <a:off x="5727803" y="5038166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A144760-984D-D453-031D-CC4BDA20EA35}"/>
              </a:ext>
            </a:extLst>
          </p:cNvPr>
          <p:cNvSpPr txBox="1"/>
          <p:nvPr/>
        </p:nvSpPr>
        <p:spPr>
          <a:xfrm>
            <a:off x="4812942" y="5073822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D8E0427-818E-90BD-F0AF-D7DAB47160A5}"/>
              </a:ext>
            </a:extLst>
          </p:cNvPr>
          <p:cNvSpPr txBox="1"/>
          <p:nvPr/>
        </p:nvSpPr>
        <p:spPr>
          <a:xfrm>
            <a:off x="3931738" y="5052768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A1F08C1-C659-62B3-0C12-490DD50DB542}"/>
              </a:ext>
            </a:extLst>
          </p:cNvPr>
          <p:cNvSpPr txBox="1"/>
          <p:nvPr/>
        </p:nvSpPr>
        <p:spPr>
          <a:xfrm>
            <a:off x="2974983" y="5052767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FF3C6D4-3FDD-26C6-C5B0-FD7D284765F6}"/>
              </a:ext>
            </a:extLst>
          </p:cNvPr>
          <p:cNvSpPr/>
          <p:nvPr/>
        </p:nvSpPr>
        <p:spPr>
          <a:xfrm>
            <a:off x="1050880" y="4628450"/>
            <a:ext cx="770413" cy="747078"/>
          </a:xfrm>
          <a:prstGeom prst="rect">
            <a:avLst/>
          </a:prstGeom>
          <a:noFill/>
          <a:ln w="7620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0</a:t>
            </a:r>
            <a:endParaRPr lang="zh-CN" altLang="en-US" sz="4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3A40114-2D87-7714-52A5-E56C32EA6D7B}"/>
              </a:ext>
            </a:extLst>
          </p:cNvPr>
          <p:cNvSpPr txBox="1"/>
          <p:nvPr/>
        </p:nvSpPr>
        <p:spPr>
          <a:xfrm>
            <a:off x="2069719" y="5085723"/>
            <a:ext cx="278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B647CF17-8C06-6DAF-337E-27BAF5BCF081}"/>
              </a:ext>
            </a:extLst>
          </p:cNvPr>
          <p:cNvSpPr/>
          <p:nvPr/>
        </p:nvSpPr>
        <p:spPr>
          <a:xfrm rot="5400000">
            <a:off x="4842989" y="870449"/>
            <a:ext cx="458132" cy="6182579"/>
          </a:xfrm>
          <a:prstGeom prst="leftBrac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6DD7547-664A-2422-B2A8-1CDDB71DEA36}"/>
              </a:ext>
            </a:extLst>
          </p:cNvPr>
          <p:cNvSpPr txBox="1"/>
          <p:nvPr/>
        </p:nvSpPr>
        <p:spPr>
          <a:xfrm>
            <a:off x="620231" y="5135355"/>
            <a:ext cx="14148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8486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47D8-31B0-70AD-CFF8-2F0B8FEC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1105F53-5DB8-8318-9B8A-45B422354371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英文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-ASCII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A474B00-CBF2-D778-A5BB-1517EC843480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BAC4D848-E922-E76F-5989-0A6A366E9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F938ECC-275B-4640-FA69-1CAA2FBB4DB0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D07EE48-3DF3-6CE8-E783-9DFDDEF7B11A}"/>
              </a:ext>
            </a:extLst>
          </p:cNvPr>
          <p:cNvSpPr txBox="1"/>
          <p:nvPr/>
        </p:nvSpPr>
        <p:spPr>
          <a:xfrm>
            <a:off x="-94128" y="1941369"/>
            <a:ext cx="10521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ASCII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码对应字模，字模可显示</a:t>
            </a:r>
            <a:endParaRPr kumimoji="0" lang="en-US" altLang="zh-CN" sz="48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439360-ABB6-E776-E6F7-3218410F7A10}"/>
              </a:ext>
            </a:extLst>
          </p:cNvPr>
          <p:cNvSpPr txBox="1"/>
          <p:nvPr/>
        </p:nvSpPr>
        <p:spPr>
          <a:xfrm>
            <a:off x="303282" y="3847355"/>
            <a:ext cx="4142397" cy="923330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</a:t>
            </a: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</a:t>
            </a:r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ASCII</a:t>
            </a: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码</a:t>
            </a:r>
            <a:endParaRPr lang="zh-CN" altLang="en-US" dirty="0">
              <a:highlight>
                <a:srgbClr val="DBDBF9"/>
              </a:highlight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1F5A212-C213-E356-A4DF-EE0B07A70E9E}"/>
              </a:ext>
            </a:extLst>
          </p:cNvPr>
          <p:cNvGrpSpPr/>
          <p:nvPr/>
        </p:nvGrpSpPr>
        <p:grpSpPr>
          <a:xfrm>
            <a:off x="0" y="4969228"/>
            <a:ext cx="7077589" cy="761966"/>
            <a:chOff x="499553" y="4936290"/>
            <a:chExt cx="7077589" cy="76196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C313815-0F55-BD27-6A3F-7EE32CF3538C}"/>
                </a:ext>
              </a:extLst>
            </p:cNvPr>
            <p:cNvSpPr/>
            <p:nvPr/>
          </p:nvSpPr>
          <p:spPr>
            <a:xfrm>
              <a:off x="1394563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1923048-8B3F-DB36-2651-EC718A07D8FC}"/>
                </a:ext>
              </a:extLst>
            </p:cNvPr>
            <p:cNvSpPr/>
            <p:nvPr/>
          </p:nvSpPr>
          <p:spPr>
            <a:xfrm>
              <a:off x="2303075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B19DBC8-E4C5-36C1-202E-266120477A11}"/>
                </a:ext>
              </a:extLst>
            </p:cNvPr>
            <p:cNvSpPr/>
            <p:nvPr/>
          </p:nvSpPr>
          <p:spPr>
            <a:xfrm>
              <a:off x="3196326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2C328BB-385E-DFC5-0FC1-E8F65C4531E5}"/>
                </a:ext>
              </a:extLst>
            </p:cNvPr>
            <p:cNvSpPr/>
            <p:nvPr/>
          </p:nvSpPr>
          <p:spPr>
            <a:xfrm>
              <a:off x="4104838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06A809E-F4E4-7DD5-3904-E4FAEBB9F26A}"/>
                </a:ext>
              </a:extLst>
            </p:cNvPr>
            <p:cNvSpPr/>
            <p:nvPr/>
          </p:nvSpPr>
          <p:spPr>
            <a:xfrm>
              <a:off x="5004966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65D2098-99B5-E165-A2AE-36A4D9E8391E}"/>
                </a:ext>
              </a:extLst>
            </p:cNvPr>
            <p:cNvSpPr/>
            <p:nvPr/>
          </p:nvSpPr>
          <p:spPr>
            <a:xfrm>
              <a:off x="5913478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540A4C0-A979-EFF0-EE5A-1DAB647DF6C2}"/>
                </a:ext>
              </a:extLst>
            </p:cNvPr>
            <p:cNvSpPr/>
            <p:nvPr/>
          </p:nvSpPr>
          <p:spPr>
            <a:xfrm>
              <a:off x="6806729" y="4936290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348DAE4-254C-9E11-0F81-0D02A387816F}"/>
                </a:ext>
              </a:extLst>
            </p:cNvPr>
            <p:cNvSpPr/>
            <p:nvPr/>
          </p:nvSpPr>
          <p:spPr>
            <a:xfrm>
              <a:off x="499553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43446161-0A49-9811-5647-9883512CE1E7}"/>
              </a:ext>
            </a:extLst>
          </p:cNvPr>
          <p:cNvSpPr txBox="1"/>
          <p:nvPr/>
        </p:nvSpPr>
        <p:spPr>
          <a:xfrm>
            <a:off x="7637929" y="1189069"/>
            <a:ext cx="4554071" cy="923330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A</a:t>
            </a: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字模网格</a:t>
            </a:r>
            <a:r>
              <a:rPr kumimoji="0" lang="en-US" altLang="zh-CN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DBDBF9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8*16</a:t>
            </a:r>
            <a:endParaRPr lang="zh-CN" altLang="en-US" dirty="0">
              <a:highlight>
                <a:srgbClr val="DBDBF9"/>
              </a:highlight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FF3578D-0C71-766C-AE9A-10272B74A3EF}"/>
              </a:ext>
            </a:extLst>
          </p:cNvPr>
          <p:cNvSpPr/>
          <p:nvPr/>
        </p:nvSpPr>
        <p:spPr>
          <a:xfrm>
            <a:off x="7215688" y="5031677"/>
            <a:ext cx="1374751" cy="579530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3F8D0B-6A57-C409-CC69-8B03E51BBD8E}"/>
              </a:ext>
            </a:extLst>
          </p:cNvPr>
          <p:cNvSpPr txBox="1"/>
          <p:nvPr/>
        </p:nvSpPr>
        <p:spPr>
          <a:xfrm>
            <a:off x="7138743" y="4309020"/>
            <a:ext cx="15331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显示对应</a:t>
            </a:r>
            <a:endParaRPr lang="zh-CN" altLang="en-US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C2194D4-DC6C-F89D-EA94-8CE33B74D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987" y="2267001"/>
            <a:ext cx="2392003" cy="454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582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73B4F44-4790-672A-7FF7-A2C50B5D6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684094"/>
              </p:ext>
            </p:extLst>
          </p:nvPr>
        </p:nvGraphicFramePr>
        <p:xfrm>
          <a:off x="255494" y="-201706"/>
          <a:ext cx="11936504" cy="721975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49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2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27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13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27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333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ASCII</a:t>
                      </a:r>
                      <a:r>
                        <a:rPr lang="zh-CN" sz="2800" dirty="0">
                          <a:effectLst/>
                        </a:rPr>
                        <a:t>值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字符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ASCII</a:t>
                      </a:r>
                      <a:r>
                        <a:rPr lang="zh-CN" sz="2800" dirty="0">
                          <a:effectLst/>
                        </a:rPr>
                        <a:t>值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字符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ASCII</a:t>
                      </a:r>
                      <a:r>
                        <a:rPr lang="zh-CN" sz="2800" dirty="0">
                          <a:effectLst/>
                        </a:rPr>
                        <a:t>值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字符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ASCII</a:t>
                      </a:r>
                      <a:r>
                        <a:rPr lang="zh-CN" sz="2800" dirty="0">
                          <a:effectLst/>
                        </a:rPr>
                        <a:t>值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字符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0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NUT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32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(space)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64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@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96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altLang="zh-CN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、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SOH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33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altLang="zh-CN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！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65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97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2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STX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34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”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66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98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</a:t>
                      </a: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ETX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35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#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67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99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4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EOT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36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$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68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100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5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ENQ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37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%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69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101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</a:t>
                      </a: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ACK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38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&amp;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70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102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BEL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39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,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71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103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</a:t>
                      </a: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8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BS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40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(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72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104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9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HT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41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)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73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I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105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</a:rPr>
                        <a:t>i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876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LF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42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*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74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J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106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  <a:p>
                      <a:pPr indent="127000"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j</a:t>
                      </a:r>
                      <a:endParaRPr lang="zh-CN" sz="28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55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39D9B-7968-BDD1-659F-D6501808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758C4D0-64BC-7A4C-DCF7-33F7E2445A2D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98F98CE-F917-91CB-77AB-25A3D7EA5021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40707346-1301-2A84-9640-7F1BF8C9C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8F8C1A0-7320-3540-AD18-5B16F4296874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FD6894F-ED55-28B5-20CA-99B8C3D9FD4E}"/>
              </a:ext>
            </a:extLst>
          </p:cNvPr>
          <p:cNvSpPr/>
          <p:nvPr/>
        </p:nvSpPr>
        <p:spPr>
          <a:xfrm>
            <a:off x="481384" y="2890789"/>
            <a:ext cx="1680882" cy="1513537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键盘输入</a:t>
            </a:r>
            <a:endParaRPr lang="en-US" altLang="zh-CN" sz="5000" b="1" spc="-3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60BF98D-B33E-1E10-FFAE-608B08031476}"/>
              </a:ext>
            </a:extLst>
          </p:cNvPr>
          <p:cNvSpPr/>
          <p:nvPr/>
        </p:nvSpPr>
        <p:spPr>
          <a:xfrm>
            <a:off x="2556761" y="3405840"/>
            <a:ext cx="1538287" cy="66535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D9DBDE-DF8F-B775-55D1-EE9F963D06D6}"/>
              </a:ext>
            </a:extLst>
          </p:cNvPr>
          <p:cNvSpPr txBox="1"/>
          <p:nvPr/>
        </p:nvSpPr>
        <p:spPr>
          <a:xfrm>
            <a:off x="2302025" y="1918626"/>
            <a:ext cx="25330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GB2312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lang="zh-CN" altLang="en-US" sz="14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FC03C3-4DE3-0819-8806-5628814F8FD5}"/>
              </a:ext>
            </a:extLst>
          </p:cNvPr>
          <p:cNvSpPr/>
          <p:nvPr/>
        </p:nvSpPr>
        <p:spPr>
          <a:xfrm>
            <a:off x="4237291" y="2803915"/>
            <a:ext cx="3198325" cy="1577500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10010000</a:t>
            </a:r>
          </a:p>
          <a:p>
            <a:pPr algn="ctr"/>
            <a:r>
              <a:rPr lang="en-US" altLang="zh-CN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10000001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450A7AD-D4CB-0C61-DADE-A37B2256318D}"/>
              </a:ext>
            </a:extLst>
          </p:cNvPr>
          <p:cNvSpPr/>
          <p:nvPr/>
        </p:nvSpPr>
        <p:spPr>
          <a:xfrm>
            <a:off x="7486412" y="3454721"/>
            <a:ext cx="1538287" cy="66535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387AB1-9843-23E9-0882-03DBCBAEA614}"/>
              </a:ext>
            </a:extLst>
          </p:cNvPr>
          <p:cNvSpPr txBox="1"/>
          <p:nvPr/>
        </p:nvSpPr>
        <p:spPr>
          <a:xfrm>
            <a:off x="7518490" y="2747183"/>
            <a:ext cx="1776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对应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3B8A2D-AF4F-FA33-2F52-4ECEABAA7494}"/>
              </a:ext>
            </a:extLst>
          </p:cNvPr>
          <p:cNvSpPr txBox="1"/>
          <p:nvPr/>
        </p:nvSpPr>
        <p:spPr>
          <a:xfrm>
            <a:off x="528468" y="4404326"/>
            <a:ext cx="1680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中文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0D1CD6-D8DB-EBB8-95C9-1AD576065817}"/>
              </a:ext>
            </a:extLst>
          </p:cNvPr>
          <p:cNvSpPr txBox="1"/>
          <p:nvPr/>
        </p:nvSpPr>
        <p:spPr>
          <a:xfrm>
            <a:off x="4787408" y="4404326"/>
            <a:ext cx="2556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机内码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402BECC-E2D9-EEAF-D519-11677F3D8F80}"/>
              </a:ext>
            </a:extLst>
          </p:cNvPr>
          <p:cNvSpPr txBox="1"/>
          <p:nvPr/>
        </p:nvSpPr>
        <p:spPr>
          <a:xfrm>
            <a:off x="10005581" y="4577259"/>
            <a:ext cx="1538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字库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C3299CE-D70D-6511-3AB1-B8DF6D99F9F9}"/>
              </a:ext>
            </a:extLst>
          </p:cNvPr>
          <p:cNvGrpSpPr/>
          <p:nvPr/>
        </p:nvGrpSpPr>
        <p:grpSpPr>
          <a:xfrm>
            <a:off x="9166942" y="2318583"/>
            <a:ext cx="2376927" cy="2169391"/>
            <a:chOff x="7157038" y="2725027"/>
            <a:chExt cx="1183340" cy="94129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5ADABA5-5676-478A-EA37-040AD4EFAF97}"/>
                </a:ext>
              </a:extLst>
            </p:cNvPr>
            <p:cNvSpPr/>
            <p:nvPr/>
          </p:nvSpPr>
          <p:spPr>
            <a:xfrm>
              <a:off x="7157038" y="2725027"/>
              <a:ext cx="1183340" cy="9412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64C431B-CA0C-1C53-D5A0-E289C7BCC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1826" y="2770544"/>
              <a:ext cx="1085850" cy="873071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20601A-D616-F088-A8C6-B35F38B2C3A1}"/>
              </a:ext>
            </a:extLst>
          </p:cNvPr>
          <p:cNvSpPr txBox="1"/>
          <p:nvPr/>
        </p:nvSpPr>
        <p:spPr>
          <a:xfrm>
            <a:off x="-132104" y="5164351"/>
            <a:ext cx="11937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kumimoji="0" lang="zh-CN" altLang="en-US" sz="48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汉字编码标准</a:t>
            </a:r>
            <a:r>
              <a:rPr kumimoji="0" lang="zh-CN" altLang="en-US" sz="48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：信息交换用汉字编码字符集</a:t>
            </a:r>
            <a:r>
              <a:rPr kumimoji="0" lang="en-US" altLang="zh-CN" sz="48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</a:t>
            </a:r>
            <a:r>
              <a:rPr kumimoji="0" lang="zh-CN" altLang="en-US" sz="48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基本集，即</a:t>
            </a:r>
            <a:r>
              <a:rPr kumimoji="0" lang="en-US" altLang="zh-CN" sz="4800" b="1" i="0" u="none" strike="noStrike" kern="500" cap="none" spc="-30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GB2312</a:t>
            </a:r>
            <a:endParaRPr lang="zh-CN" altLang="en-US" sz="2000" kern="500" spc="-300" dirty="0"/>
          </a:p>
        </p:txBody>
      </p:sp>
    </p:spTree>
    <p:extLst>
      <p:ext uri="{BB962C8B-B14F-4D97-AF65-F5344CB8AC3E}">
        <p14:creationId xmlns:p14="http://schemas.microsoft.com/office/powerpoint/2010/main" val="29753717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B212C11-B57F-DC4C-8C6F-7A0D34FBE417}"/>
              </a:ext>
            </a:extLst>
          </p:cNvPr>
          <p:cNvSpPr txBox="1"/>
          <p:nvPr/>
        </p:nvSpPr>
        <p:spPr>
          <a:xfrm>
            <a:off x="0" y="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250455-EED8-E6D3-9892-34B60378993C}"/>
              </a:ext>
            </a:extLst>
          </p:cNvPr>
          <p:cNvSpPr/>
          <p:nvPr/>
        </p:nvSpPr>
        <p:spPr>
          <a:xfrm>
            <a:off x="8322837" y="1633764"/>
            <a:ext cx="2181134" cy="719140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机内码</a:t>
            </a:r>
            <a:endParaRPr lang="en-US" altLang="zh-CN" sz="5000" b="1" spc="-3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15577DD-8BE2-400D-4ABC-BE8F19D58E55}"/>
              </a:ext>
            </a:extLst>
          </p:cNvPr>
          <p:cNvSpPr/>
          <p:nvPr/>
        </p:nvSpPr>
        <p:spPr>
          <a:xfrm>
            <a:off x="4425896" y="1761672"/>
            <a:ext cx="3588545" cy="66535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113118-32B9-5954-922D-429C743128CC}"/>
              </a:ext>
            </a:extLst>
          </p:cNvPr>
          <p:cNvSpPr/>
          <p:nvPr/>
        </p:nvSpPr>
        <p:spPr>
          <a:xfrm>
            <a:off x="1361305" y="1586080"/>
            <a:ext cx="2910393" cy="766824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中文字符</a:t>
            </a:r>
            <a:endParaRPr lang="en-US" altLang="zh-CN" sz="5000" b="1" spc="-3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7F831E-12E4-4ABE-4C96-BFD6527328A1}"/>
              </a:ext>
            </a:extLst>
          </p:cNvPr>
          <p:cNvSpPr txBox="1"/>
          <p:nvPr/>
        </p:nvSpPr>
        <p:spPr>
          <a:xfrm>
            <a:off x="4009500" y="926744"/>
            <a:ext cx="5403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5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汉字分区实现编码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6DDBC16-2AFC-F93A-188C-C3FB74F7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7" y="2482951"/>
            <a:ext cx="11844706" cy="412308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4023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DF47-DB42-ED9E-32C4-21FF74E2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2CFAC83-72CA-FAB9-7ADD-D0AEDFB1AB61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9C2BAE3-9E46-E55E-6AD6-C75432C7676D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3DCEE9CF-ED23-D847-2518-23A747A4F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13BC7AF-0488-849C-9DF1-2642656B4FB1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F2FED6C-86CB-A0C1-21A2-C0B8A00D3EBB}"/>
              </a:ext>
            </a:extLst>
          </p:cNvPr>
          <p:cNvSpPr txBox="1"/>
          <p:nvPr/>
        </p:nvSpPr>
        <p:spPr>
          <a:xfrm>
            <a:off x="-118430" y="2187528"/>
            <a:ext cx="12428860" cy="266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汉字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(5000)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比英文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(26)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多，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8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不够，如何分配</a:t>
            </a:r>
            <a:endParaRPr lang="en-US" altLang="zh-CN" sz="48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汉字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=2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个字节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=16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位，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14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位有效位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en-US" altLang="zh-CN" sz="4800" b="1" spc="-300" baseline="30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14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=65536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组合</a:t>
            </a:r>
            <a:endParaRPr lang="en-US" altLang="zh-CN" sz="48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每字节最高位为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，汉字代码标志</a:t>
            </a:r>
            <a:endParaRPr lang="en-US" altLang="zh-CN" sz="48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7BE3889-68BC-518B-A7F5-933AFDA2AD1C}"/>
              </a:ext>
            </a:extLst>
          </p:cNvPr>
          <p:cNvGrpSpPr/>
          <p:nvPr/>
        </p:nvGrpSpPr>
        <p:grpSpPr>
          <a:xfrm>
            <a:off x="969699" y="5163672"/>
            <a:ext cx="4704957" cy="726141"/>
            <a:chOff x="314319" y="4937988"/>
            <a:chExt cx="7405069" cy="76026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1DF8C07-2B3A-962B-5510-C6C49DC69C39}"/>
                </a:ext>
              </a:extLst>
            </p:cNvPr>
            <p:cNvSpPr/>
            <p:nvPr/>
          </p:nvSpPr>
          <p:spPr>
            <a:xfrm>
              <a:off x="1288742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D3331E0-9AA4-C174-35BE-AEE292F1FC72}"/>
                </a:ext>
              </a:extLst>
            </p:cNvPr>
            <p:cNvSpPr/>
            <p:nvPr/>
          </p:nvSpPr>
          <p:spPr>
            <a:xfrm>
              <a:off x="2260746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3B0DEDC-301E-BB90-B71C-848CC07CD478}"/>
                </a:ext>
              </a:extLst>
            </p:cNvPr>
            <p:cNvSpPr/>
            <p:nvPr/>
          </p:nvSpPr>
          <p:spPr>
            <a:xfrm>
              <a:off x="3196326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3EA34DB-6BAF-E372-D79E-DC7EFFBE7D75}"/>
                </a:ext>
              </a:extLst>
            </p:cNvPr>
            <p:cNvSpPr/>
            <p:nvPr/>
          </p:nvSpPr>
          <p:spPr>
            <a:xfrm>
              <a:off x="4168330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698AC3B-A5E5-07A2-E375-8C3F8CF6A77E}"/>
                </a:ext>
              </a:extLst>
            </p:cNvPr>
            <p:cNvSpPr/>
            <p:nvPr/>
          </p:nvSpPr>
          <p:spPr>
            <a:xfrm>
              <a:off x="5089622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55441F3-A320-BC97-1CE7-498F481E30AF}"/>
                </a:ext>
              </a:extLst>
            </p:cNvPr>
            <p:cNvSpPr/>
            <p:nvPr/>
          </p:nvSpPr>
          <p:spPr>
            <a:xfrm>
              <a:off x="6019298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DDB5F68-CC06-1FAB-91ED-FCC745EEEAE3}"/>
                </a:ext>
              </a:extLst>
            </p:cNvPr>
            <p:cNvSpPr/>
            <p:nvPr/>
          </p:nvSpPr>
          <p:spPr>
            <a:xfrm>
              <a:off x="6948975" y="493798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AA4A7EE-49DB-83ED-CB48-0F419105CE30}"/>
                </a:ext>
              </a:extLst>
            </p:cNvPr>
            <p:cNvSpPr/>
            <p:nvPr/>
          </p:nvSpPr>
          <p:spPr>
            <a:xfrm>
              <a:off x="314319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4CDE2A2-B837-3A52-0A09-44410E3B8990}"/>
              </a:ext>
            </a:extLst>
          </p:cNvPr>
          <p:cNvGrpSpPr/>
          <p:nvPr/>
        </p:nvGrpSpPr>
        <p:grpSpPr>
          <a:xfrm>
            <a:off x="5869976" y="5135929"/>
            <a:ext cx="4704957" cy="726141"/>
            <a:chOff x="314319" y="4937988"/>
            <a:chExt cx="7405069" cy="76026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3D397B2-0C29-3B17-5C4B-E6434F25E728}"/>
                </a:ext>
              </a:extLst>
            </p:cNvPr>
            <p:cNvSpPr/>
            <p:nvPr/>
          </p:nvSpPr>
          <p:spPr>
            <a:xfrm>
              <a:off x="1288742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25CBC2A-6CC1-B579-2896-159780BB4A1F}"/>
                </a:ext>
              </a:extLst>
            </p:cNvPr>
            <p:cNvSpPr/>
            <p:nvPr/>
          </p:nvSpPr>
          <p:spPr>
            <a:xfrm>
              <a:off x="2260746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8E1BA45-D821-12F4-7EA7-1BAA7F915718}"/>
                </a:ext>
              </a:extLst>
            </p:cNvPr>
            <p:cNvSpPr/>
            <p:nvPr/>
          </p:nvSpPr>
          <p:spPr>
            <a:xfrm>
              <a:off x="3196326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6F06C36-1E05-44EE-DE0E-247B9FCD2AE0}"/>
                </a:ext>
              </a:extLst>
            </p:cNvPr>
            <p:cNvSpPr/>
            <p:nvPr/>
          </p:nvSpPr>
          <p:spPr>
            <a:xfrm>
              <a:off x="4168330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0C54577-CBC4-66F5-55F3-9AA512E253B1}"/>
                </a:ext>
              </a:extLst>
            </p:cNvPr>
            <p:cNvSpPr/>
            <p:nvPr/>
          </p:nvSpPr>
          <p:spPr>
            <a:xfrm>
              <a:off x="5089622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B19C3FA-BFDA-11A9-90F4-B1D1DED6CF88}"/>
                </a:ext>
              </a:extLst>
            </p:cNvPr>
            <p:cNvSpPr/>
            <p:nvPr/>
          </p:nvSpPr>
          <p:spPr>
            <a:xfrm>
              <a:off x="6019298" y="4943734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DC61017-A3CD-5A65-3F23-6B7405FDFAD8}"/>
                </a:ext>
              </a:extLst>
            </p:cNvPr>
            <p:cNvSpPr/>
            <p:nvPr/>
          </p:nvSpPr>
          <p:spPr>
            <a:xfrm>
              <a:off x="6948975" y="493798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71BCCC1-B820-5578-9A3D-38746E33D6F5}"/>
                </a:ext>
              </a:extLst>
            </p:cNvPr>
            <p:cNvSpPr/>
            <p:nvPr/>
          </p:nvSpPr>
          <p:spPr>
            <a:xfrm>
              <a:off x="314319" y="4951178"/>
              <a:ext cx="770413" cy="747078"/>
            </a:xfrm>
            <a:prstGeom prst="rect">
              <a:avLst/>
            </a:prstGeom>
            <a:noFill/>
            <a:ln w="7620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</a:rPr>
                <a:t>1</a:t>
              </a:r>
              <a:endPara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1456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9DEF-2CD1-AB65-6EB6-1600A789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DB5B89D-8437-9935-AD55-FD176EA5DBBF}"/>
              </a:ext>
            </a:extLst>
          </p:cNvPr>
          <p:cNvSpPr txBox="1"/>
          <p:nvPr/>
        </p:nvSpPr>
        <p:spPr>
          <a:xfrm>
            <a:off x="0" y="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0FA54B-6C0E-882A-AA12-D5D8E23FCB4E}"/>
              </a:ext>
            </a:extLst>
          </p:cNvPr>
          <p:cNvSpPr txBox="1"/>
          <p:nvPr/>
        </p:nvSpPr>
        <p:spPr>
          <a:xfrm>
            <a:off x="0" y="1788649"/>
            <a:ext cx="11774177" cy="181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kumimoji="0" lang="zh-CN" altLang="en-US" sz="4800" b="1" i="0" u="none" strike="noStrike" kern="5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字库：每个机内码对应字形图样</a:t>
            </a:r>
            <a:endParaRPr kumimoji="0" lang="en-US" altLang="zh-CN" sz="4800" b="1" i="0" u="none" strike="noStrike" kern="5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1800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字库有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中表示：</a:t>
            </a:r>
            <a:r>
              <a:rPr lang="zh-CN" altLang="en-US" sz="4800" b="1" kern="500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点阵表示法和矢量表示法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705BF4-FCDA-FC28-AE70-41212455AD5C}"/>
              </a:ext>
            </a:extLst>
          </p:cNvPr>
          <p:cNvGrpSpPr/>
          <p:nvPr/>
        </p:nvGrpSpPr>
        <p:grpSpPr>
          <a:xfrm>
            <a:off x="3554540" y="599340"/>
            <a:ext cx="7550914" cy="1569660"/>
            <a:chOff x="1362669" y="1069988"/>
            <a:chExt cx="7550914" cy="1569660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0E524C2-9B14-6690-8FA3-7A1CB62C24F4}"/>
                </a:ext>
              </a:extLst>
            </p:cNvPr>
            <p:cNvSpPr/>
            <p:nvPr/>
          </p:nvSpPr>
          <p:spPr>
            <a:xfrm>
              <a:off x="6732449" y="1547086"/>
              <a:ext cx="2181134" cy="719140"/>
            </a:xfrm>
            <a:prstGeom prst="roundRect">
              <a:avLst/>
            </a:prstGeom>
            <a:solidFill>
              <a:srgbClr val="FFFF00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zh-CN" altLang="en-US" sz="5000" b="1" spc="-3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字库</a:t>
              </a:r>
              <a:endParaRPr lang="en-US" altLang="zh-CN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3" name="箭头: 右 2">
              <a:extLst>
                <a:ext uri="{FF2B5EF4-FFF2-40B4-BE49-F238E27FC236}">
                  <a16:creationId xmlns:a16="http://schemas.microsoft.com/office/drawing/2014/main" id="{82755F77-6523-EB51-46F7-E36FD11B7A63}"/>
                </a:ext>
              </a:extLst>
            </p:cNvPr>
            <p:cNvSpPr/>
            <p:nvPr/>
          </p:nvSpPr>
          <p:spPr>
            <a:xfrm>
              <a:off x="3778623" y="1640608"/>
              <a:ext cx="2877671" cy="665358"/>
            </a:xfrm>
            <a:prstGeom prst="rightArrow">
              <a:avLst/>
            </a:prstGeom>
            <a:solidFill>
              <a:srgbClr val="843C0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96FA0E-D8DD-A909-4B19-15BA0C2CA5F0}"/>
                </a:ext>
              </a:extLst>
            </p:cNvPr>
            <p:cNvSpPr/>
            <p:nvPr/>
          </p:nvSpPr>
          <p:spPr>
            <a:xfrm>
              <a:off x="1362669" y="1574175"/>
              <a:ext cx="2339799" cy="766824"/>
            </a:xfrm>
            <a:prstGeom prst="roundRect">
              <a:avLst/>
            </a:prstGeom>
            <a:solidFill>
              <a:srgbClr val="FFFF00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000" b="1" spc="-3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机内码</a:t>
              </a:r>
              <a:endParaRPr lang="en-US" altLang="zh-CN" sz="5000" b="1" spc="-3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6226A5B-8B09-F5DA-6688-86DD944D9909}"/>
                </a:ext>
              </a:extLst>
            </p:cNvPr>
            <p:cNvSpPr txBox="1"/>
            <p:nvPr/>
          </p:nvSpPr>
          <p:spPr>
            <a:xfrm>
              <a:off x="4457940" y="1069988"/>
              <a:ext cx="1731038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4800" b="1" i="0" u="none" strike="noStrike" kern="5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显示对应</a:t>
              </a:r>
              <a:endParaRPr lang="zh-CN" altLang="en-US" dirty="0"/>
            </a:p>
          </p:txBody>
        </p:sp>
      </p:grpSp>
      <p:pic>
        <p:nvPicPr>
          <p:cNvPr id="18" name="图片 17" descr="http://www.hanyi.com.cn/jishu/images/dianzhen.gif">
            <a:extLst>
              <a:ext uri="{FF2B5EF4-FFF2-40B4-BE49-F238E27FC236}">
                <a16:creationId xmlns:a16="http://schemas.microsoft.com/office/drawing/2014/main" id="{B2CBE006-392F-5C53-27D3-E53104830DF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4" r="1314" b="15480"/>
          <a:stretch/>
        </p:blipFill>
        <p:spPr bwMode="auto">
          <a:xfrm>
            <a:off x="658904" y="3603890"/>
            <a:ext cx="9238130" cy="31897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379D686-EDD4-F67B-2FB2-76123DCB0881}"/>
              </a:ext>
            </a:extLst>
          </p:cNvPr>
          <p:cNvSpPr txBox="1"/>
          <p:nvPr/>
        </p:nvSpPr>
        <p:spPr>
          <a:xfrm>
            <a:off x="4075804" y="4203649"/>
            <a:ext cx="27270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44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29E86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点阵字库</a:t>
            </a:r>
            <a:endParaRPr lang="zh-CN" altLang="en-US" sz="4400" spc="-300" dirty="0">
              <a:highlight>
                <a:srgbClr val="C29E86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7C3E15-C141-1234-FFD2-D6C0ED9CA361}"/>
              </a:ext>
            </a:extLst>
          </p:cNvPr>
          <p:cNvSpPr txBox="1"/>
          <p:nvPr/>
        </p:nvSpPr>
        <p:spPr>
          <a:xfrm>
            <a:off x="426494" y="3962202"/>
            <a:ext cx="111027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altLang="zh-CN" sz="44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29E86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kumimoji="0" lang="zh-CN" altLang="en-US" sz="44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29E86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点阵</a:t>
            </a:r>
            <a:endParaRPr lang="zh-CN" altLang="en-US" sz="4400" spc="-300" dirty="0">
              <a:highlight>
                <a:srgbClr val="C29E86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48BE37-2AAF-AABC-1575-E357CE62CA51}"/>
              </a:ext>
            </a:extLst>
          </p:cNvPr>
          <p:cNvSpPr txBox="1"/>
          <p:nvPr/>
        </p:nvSpPr>
        <p:spPr>
          <a:xfrm>
            <a:off x="9170193" y="3962202"/>
            <a:ext cx="111027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altLang="zh-CN" sz="44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29E86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48</a:t>
            </a:r>
            <a:r>
              <a:rPr kumimoji="0" lang="zh-CN" altLang="en-US" sz="44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29E86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点阵</a:t>
            </a:r>
            <a:endParaRPr lang="zh-CN" altLang="en-US" sz="4400" spc="-300" dirty="0">
              <a:highlight>
                <a:srgbClr val="C29E86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389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20C8-D016-605C-CD32-78F9BD39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4CC77C7-F187-D25F-1E08-F7C5B2475B30}"/>
              </a:ext>
            </a:extLst>
          </p:cNvPr>
          <p:cNvSpPr txBox="1"/>
          <p:nvPr/>
        </p:nvSpPr>
        <p:spPr>
          <a:xfrm>
            <a:off x="0" y="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67BC05-1C09-2E72-BB7F-3F2AF9D8F2B7}"/>
              </a:ext>
            </a:extLst>
          </p:cNvPr>
          <p:cNvSpPr txBox="1"/>
          <p:nvPr/>
        </p:nvSpPr>
        <p:spPr>
          <a:xfrm>
            <a:off x="0" y="1015663"/>
            <a:ext cx="11774177" cy="5405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4400" indent="-914400">
              <a:lnSpc>
                <a:spcPts val="7000"/>
              </a:lnSpc>
              <a:buFont typeface="+mj-ea"/>
              <a:buAutoNum type="circleNumDbPlain"/>
            </a:pPr>
            <a:r>
              <a:rPr lang="zh-CN" altLang="en-US" sz="4800" b="1" kern="5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点阵表示法</a:t>
            </a:r>
            <a:endParaRPr lang="en-US" altLang="zh-CN" sz="4800" b="1" kern="5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65800" indent="-6858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点阵对应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16(2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)*16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网格，信息量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2*16=32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字节，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48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点阵对应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48(6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)*48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网格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信息量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6*48=288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endParaRPr lang="en-US" altLang="zh-CN" sz="4800" b="1" kern="500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65800" indent="-6858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点阵以下用于计算机，手机等电子设备屏幕显示，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24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点阵以上用于打印机输出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276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0F55-4EE7-87E8-78AB-3DF43026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BB945D-7BA1-9951-A62F-49FC133B1A62}"/>
              </a:ext>
            </a:extLst>
          </p:cNvPr>
          <p:cNvSpPr txBox="1"/>
          <p:nvPr/>
        </p:nvSpPr>
        <p:spPr>
          <a:xfrm>
            <a:off x="0" y="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中文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-GB2312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353DD7-31E7-2F42-EF7D-AD9843F02755}"/>
              </a:ext>
            </a:extLst>
          </p:cNvPr>
          <p:cNvSpPr txBox="1"/>
          <p:nvPr/>
        </p:nvSpPr>
        <p:spPr>
          <a:xfrm>
            <a:off x="0" y="1015663"/>
            <a:ext cx="11774177" cy="361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4400" indent="-914400">
              <a:lnSpc>
                <a:spcPts val="7000"/>
              </a:lnSpc>
              <a:buFont typeface="+mj-ea"/>
              <a:buAutoNum type="circleNumDbPlain" startAt="2"/>
            </a:pP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矢量字符</a:t>
            </a:r>
            <a:endParaRPr lang="en-US" altLang="zh-CN" sz="4800" b="1" kern="500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65800" indent="-6858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程序指令实现字符外形（轮廓）输出</a:t>
            </a:r>
            <a:endParaRPr lang="en-US" altLang="zh-CN" sz="4800" b="1" kern="500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65800" indent="-6858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Windows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操作系统中使用的</a:t>
            </a: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True</a:t>
            </a:r>
          </a:p>
          <a:p>
            <a:pPr marL="865800" indent="-685800">
              <a:lnSpc>
                <a:spcPts val="7000"/>
              </a:lnSpc>
              <a:buFont typeface="Arial" panose="020B0604020202020204" pitchFamily="34" charset="0"/>
              <a:buChar char="•"/>
            </a:pPr>
            <a:r>
              <a:rPr lang="en-US" altLang="zh-CN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Type</a:t>
            </a:r>
            <a:r>
              <a:rPr lang="zh-CN" altLang="en-US" sz="4800" b="1" kern="500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技术就是汉字的矢量表示方式</a:t>
            </a:r>
            <a:endParaRPr lang="en-US" altLang="zh-CN" sz="4800" b="1" kern="500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AutoShape 2" descr="动图">
            <a:extLst>
              <a:ext uri="{FF2B5EF4-FFF2-40B4-BE49-F238E27FC236}">
                <a16:creationId xmlns:a16="http://schemas.microsoft.com/office/drawing/2014/main" id="{484C9CB3-B5F6-1A26-197C-D1AC8DE955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9228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D7372778-F713-805C-4FFD-9BFFF0AEF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67" y="268943"/>
            <a:ext cx="10703466" cy="475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963AAE-ED1C-F167-9F44-5A58C7050A57}"/>
              </a:ext>
            </a:extLst>
          </p:cNvPr>
          <p:cNvSpPr txBox="1"/>
          <p:nvPr/>
        </p:nvSpPr>
        <p:spPr>
          <a:xfrm>
            <a:off x="6935324" y="5070666"/>
            <a:ext cx="3405466" cy="87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algn="just">
              <a:lnSpc>
                <a:spcPts val="7000"/>
              </a:lnSpc>
            </a:pPr>
            <a:r>
              <a:rPr lang="zh-CN" altLang="en-US" sz="5000" b="1" kern="5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矢量表示法</a:t>
            </a:r>
            <a:endParaRPr lang="en-US" altLang="zh-CN" sz="5000" b="1" kern="5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521CA0-FD0F-D87D-C466-3DE40C8078DB}"/>
              </a:ext>
            </a:extLst>
          </p:cNvPr>
          <p:cNvSpPr txBox="1"/>
          <p:nvPr/>
        </p:nvSpPr>
        <p:spPr>
          <a:xfrm>
            <a:off x="1063440" y="5023039"/>
            <a:ext cx="3405466" cy="87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algn="just">
              <a:lnSpc>
                <a:spcPts val="7000"/>
              </a:lnSpc>
            </a:pPr>
            <a:r>
              <a:rPr lang="zh-CN" altLang="en-US" sz="5000" b="1" kern="500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点阵表示法</a:t>
            </a:r>
            <a:endParaRPr lang="en-US" altLang="zh-CN" sz="5000" b="1" kern="5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544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FDD4-F3D2-50AE-75ED-B048FB19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9294DDA-129D-18D2-344D-2FF116D9E367}"/>
              </a:ext>
            </a:extLst>
          </p:cNvPr>
          <p:cNvSpPr txBox="1"/>
          <p:nvPr/>
        </p:nvSpPr>
        <p:spPr>
          <a:xfrm>
            <a:off x="0" y="1081607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扩展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-Unicode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576E88B-6DB7-6176-9FF9-2918F1C9FE43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6AEEA0ED-D008-2EF7-7C6F-7BCE66494A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8D63877-7E34-E0C6-64C4-F3F895180D3A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2.3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数字化文字</a:t>
              </a:r>
              <a:endParaRPr lang="zh-CN" altLang="en-US" sz="1100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32AB69C-66A2-A2F4-B8F3-643A04E9F516}"/>
              </a:ext>
            </a:extLst>
          </p:cNvPr>
          <p:cNvSpPr txBox="1"/>
          <p:nvPr/>
        </p:nvSpPr>
        <p:spPr>
          <a:xfrm>
            <a:off x="-118430" y="2097270"/>
            <a:ext cx="1242886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全球文字体系繁多，存在多种编码方式，同一二进制数被解释成不同符号</a:t>
            </a:r>
            <a:endParaRPr kumimoji="0" lang="en-US" altLang="zh-CN" sz="44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Unicode</a:t>
            </a:r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对全球文字符号都纳入，都有唯一的编码，编码乱码</a:t>
            </a:r>
            <a:endParaRPr lang="en-US" altLang="zh-CN" sz="44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Unicode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可容纳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100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多万个符号，符号对应表可查询 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https://home.unicode.org/</a:t>
            </a:r>
          </a:p>
        </p:txBody>
      </p:sp>
    </p:spTree>
    <p:extLst>
      <p:ext uri="{BB962C8B-B14F-4D97-AF65-F5344CB8AC3E}">
        <p14:creationId xmlns:p14="http://schemas.microsoft.com/office/powerpoint/2010/main" val="844743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26B4E62-382D-D243-697A-13A296EF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" y="1035424"/>
            <a:ext cx="12077722" cy="545138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138208-C7F1-16BD-6F8A-A31D85A79420}"/>
              </a:ext>
            </a:extLst>
          </p:cNvPr>
          <p:cNvSpPr txBox="1"/>
          <p:nvPr/>
        </p:nvSpPr>
        <p:spPr>
          <a:xfrm>
            <a:off x="2635624" y="0"/>
            <a:ext cx="73488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https://home.unicode.org/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131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7C68-9C73-00BC-F8B3-A1D4FF9B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0A6A4D-342D-2AD7-62C2-533929651F86}"/>
              </a:ext>
            </a:extLst>
          </p:cNvPr>
          <p:cNvSpPr txBox="1"/>
          <p:nvPr/>
        </p:nvSpPr>
        <p:spPr>
          <a:xfrm>
            <a:off x="-118430" y="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扩展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-Unicode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7A702D-900F-712C-1CD4-BC0E61F3F71F}"/>
              </a:ext>
            </a:extLst>
          </p:cNvPr>
          <p:cNvSpPr txBox="1"/>
          <p:nvPr/>
        </p:nvSpPr>
        <p:spPr>
          <a:xfrm>
            <a:off x="0" y="1015663"/>
            <a:ext cx="124288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Unicode</a:t>
            </a:r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字符集，</a:t>
            </a:r>
            <a:r>
              <a:rPr lang="en-US" altLang="zh-CN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个字符</a:t>
            </a:r>
            <a:r>
              <a:rPr lang="en-US" altLang="zh-CN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=3</a:t>
            </a:r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或</a:t>
            </a:r>
            <a:r>
              <a:rPr lang="en-US" altLang="zh-CN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个字节</a:t>
            </a:r>
            <a:endParaRPr lang="en-US" altLang="zh-CN" sz="44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Unicode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编码中最常用的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Utf-8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kumimoji="0" lang="en-US" altLang="zh-CN" sz="48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4FDA4E-918B-CDE6-1A13-5BE3191EDA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53"/>
          <a:stretch/>
        </p:blipFill>
        <p:spPr>
          <a:xfrm>
            <a:off x="91689" y="2717301"/>
            <a:ext cx="11496139" cy="390363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AFE79F6-7088-5014-87B5-883BC72A4ABD}"/>
              </a:ext>
            </a:extLst>
          </p:cNvPr>
          <p:cNvSpPr/>
          <p:nvPr/>
        </p:nvSpPr>
        <p:spPr>
          <a:xfrm>
            <a:off x="4889251" y="5507486"/>
            <a:ext cx="2138082" cy="97450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A978BD-D5DE-A026-B7DC-36784275796B}"/>
              </a:ext>
            </a:extLst>
          </p:cNvPr>
          <p:cNvSpPr txBox="1"/>
          <p:nvPr/>
        </p:nvSpPr>
        <p:spPr>
          <a:xfrm>
            <a:off x="5740400" y="4274467"/>
            <a:ext cx="645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文件另存为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3686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F1FC62F-EBC8-58DE-FB32-2C7533083E67}"/>
              </a:ext>
            </a:extLst>
          </p:cNvPr>
          <p:cNvGrpSpPr/>
          <p:nvPr/>
        </p:nvGrpSpPr>
        <p:grpSpPr>
          <a:xfrm>
            <a:off x="2211559" y="498963"/>
            <a:ext cx="8107548" cy="5860074"/>
            <a:chOff x="2211559" y="498963"/>
            <a:chExt cx="8107548" cy="586007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E0B2281-F195-22C4-DE24-4822D2A81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1559" y="498963"/>
              <a:ext cx="8107548" cy="5860074"/>
            </a:xfrm>
            <a:prstGeom prst="rect">
              <a:avLst/>
            </a:prstGeom>
          </p:spPr>
        </p:pic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D2DD555F-3869-96D6-5C78-F3254CF1E41A}"/>
                </a:ext>
              </a:extLst>
            </p:cNvPr>
            <p:cNvSpPr/>
            <p:nvPr/>
          </p:nvSpPr>
          <p:spPr>
            <a:xfrm>
              <a:off x="2784117" y="728135"/>
              <a:ext cx="3955349" cy="999066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ECA7BD6-3261-8753-6BE7-CDA840E2343F}"/>
              </a:ext>
            </a:extLst>
          </p:cNvPr>
          <p:cNvSpPr txBox="1"/>
          <p:nvPr/>
        </p:nvSpPr>
        <p:spPr>
          <a:xfrm>
            <a:off x="6739465" y="4161304"/>
            <a:ext cx="4284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Python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代码文件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2337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0C88-5A76-BD1F-A943-1AB298C1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B96895B-8D8B-F66B-496F-BF9F08242199}"/>
              </a:ext>
            </a:extLst>
          </p:cNvPr>
          <p:cNvSpPr txBox="1"/>
          <p:nvPr/>
        </p:nvSpPr>
        <p:spPr>
          <a:xfrm>
            <a:off x="102725" y="1323654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5DCA545-EA24-DC27-08A4-8318375B04B8}"/>
              </a:ext>
            </a:extLst>
          </p:cNvPr>
          <p:cNvGrpSpPr/>
          <p:nvPr/>
        </p:nvGrpSpPr>
        <p:grpSpPr>
          <a:xfrm>
            <a:off x="651083" y="81073"/>
            <a:ext cx="10521950" cy="1107996"/>
            <a:chOff x="651083" y="81073"/>
            <a:chExt cx="10521950" cy="1107996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D147FDD-3FFA-C3D7-B82B-D3228D8E6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83" y="1079532"/>
              <a:ext cx="10521950" cy="109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59A3167-1E0A-F811-F243-6DEF91022118}"/>
                </a:ext>
              </a:extLst>
            </p:cNvPr>
            <p:cNvSpPr txBox="1"/>
            <p:nvPr/>
          </p:nvSpPr>
          <p:spPr>
            <a:xfrm>
              <a:off x="828884" y="81073"/>
              <a:ext cx="1034414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2.4 </a:t>
              </a:r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rPr>
                <a:t>数字化音频图像</a:t>
              </a:r>
              <a:endParaRPr lang="zh-CN" altLang="en-US" sz="11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FA1316B-F4B3-5EF5-35ED-52B93F9C712C}"/>
              </a:ext>
            </a:extLst>
          </p:cNvPr>
          <p:cNvSpPr txBox="1"/>
          <p:nvPr/>
        </p:nvSpPr>
        <p:spPr>
          <a:xfrm>
            <a:off x="102725" y="2686290"/>
            <a:ext cx="11070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BF0D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BF0D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996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7F8E-B9BF-764F-F750-99CA7278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6DA3475-0040-D93A-6E8D-129FFDFC35B7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D818FF-C1B4-D861-C863-6FCB89F9CC28}"/>
              </a:ext>
            </a:extLst>
          </p:cNvPr>
          <p:cNvSpPr txBox="1"/>
          <p:nvPr/>
        </p:nvSpPr>
        <p:spPr>
          <a:xfrm>
            <a:off x="0" y="1015663"/>
            <a:ext cx="1242886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声音产生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声源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因机械或气流</a:t>
            </a:r>
            <a:r>
              <a:rPr lang="zh-CN" altLang="en-US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振动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引起</a:t>
            </a:r>
            <a:r>
              <a:rPr lang="zh-CN" altLang="en-US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介质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气，液，固</a:t>
            </a:r>
            <a:r>
              <a:rPr lang="en-US" altLang="zh-CN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48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波动的现象</a:t>
            </a:r>
            <a:endParaRPr lang="en-US" altLang="zh-CN" sz="48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FC4BF78C-FE29-9740-6776-042120985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36" y="3052990"/>
            <a:ext cx="2226705" cy="240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564747-70F3-C501-2960-1A8D7F7C4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810" y="3035196"/>
            <a:ext cx="4222096" cy="272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2E9427-1B53-E9CB-439B-A95228CCB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334" y="3052990"/>
            <a:ext cx="4445783" cy="269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DEE5F9E-8B7E-67B0-BD42-EDB49DF652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0" y="2796967"/>
            <a:ext cx="1484470" cy="1001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8F3CF51-9825-A03B-448D-F7C0BB211489}"/>
              </a:ext>
            </a:extLst>
          </p:cNvPr>
          <p:cNvSpPr txBox="1"/>
          <p:nvPr/>
        </p:nvSpPr>
        <p:spPr>
          <a:xfrm>
            <a:off x="-11853" y="3713219"/>
            <a:ext cx="14844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声源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F8E065-5D4C-69AA-40BC-883F230E50B9}"/>
              </a:ext>
            </a:extLst>
          </p:cNvPr>
          <p:cNvSpPr txBox="1"/>
          <p:nvPr/>
        </p:nvSpPr>
        <p:spPr>
          <a:xfrm>
            <a:off x="768204" y="5365204"/>
            <a:ext cx="28291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空气介质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6EE635-DFE2-76BA-C613-D016C67BF1A8}"/>
              </a:ext>
            </a:extLst>
          </p:cNvPr>
          <p:cNvSpPr txBox="1"/>
          <p:nvPr/>
        </p:nvSpPr>
        <p:spPr>
          <a:xfrm>
            <a:off x="3151558" y="5603787"/>
            <a:ext cx="4983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空气振动产生声波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95F904-05DE-AB68-E743-0B3421437AE6}"/>
              </a:ext>
            </a:extLst>
          </p:cNvPr>
          <p:cNvSpPr txBox="1"/>
          <p:nvPr/>
        </p:nvSpPr>
        <p:spPr>
          <a:xfrm>
            <a:off x="7708885" y="2882222"/>
            <a:ext cx="2526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人耳感知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37475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1309-EB1F-00BD-2758-8BC0F2E9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37685E2-2E73-36E2-9BC4-DCFD05A7596C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5FA36B-AE10-AD67-C1DE-7A4A9D016F97}"/>
              </a:ext>
            </a:extLst>
          </p:cNvPr>
          <p:cNvSpPr txBox="1"/>
          <p:nvPr/>
        </p:nvSpPr>
        <p:spPr>
          <a:xfrm>
            <a:off x="4889921" y="5360"/>
            <a:ext cx="12428860" cy="88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音频特性</a:t>
            </a:r>
            <a:endParaRPr lang="en-US" altLang="zh-CN" sz="54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AA86AE-34A8-8E0C-E43D-6F7194F26CBF}"/>
              </a:ext>
            </a:extLst>
          </p:cNvPr>
          <p:cNvSpPr txBox="1"/>
          <p:nvPr/>
        </p:nvSpPr>
        <p:spPr>
          <a:xfrm>
            <a:off x="121024" y="1036240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6842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物理三特性：频率、振幅和波形。</a:t>
            </a:r>
          </a:p>
          <a:p>
            <a:pPr marL="514350" marR="0" lvl="0" indent="-514350" algn="l" defTabSz="6842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感觉：音调、响度和音色。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514350" marR="0" lvl="0" indent="-514350" algn="l" defTabSz="6842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人耳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：超声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(&gt;20KHZ),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可听声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(20HZ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20kHZ)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次声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(&lt;20HZ)</a:t>
            </a:r>
            <a:endParaRPr lang="zh-CN" altLang="en-US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2FEC8433-65C8-BA5D-B8FE-109B465A9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491" y="3967716"/>
            <a:ext cx="1591924" cy="1441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">
            <a:extLst>
              <a:ext uri="{FF2B5EF4-FFF2-40B4-BE49-F238E27FC236}">
                <a16:creationId xmlns:a16="http://schemas.microsoft.com/office/drawing/2014/main" id="{E391FD38-766E-E4F4-AC14-882E1FD04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037" y="4014740"/>
            <a:ext cx="1519222" cy="135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4">
            <a:extLst>
              <a:ext uri="{FF2B5EF4-FFF2-40B4-BE49-F238E27FC236}">
                <a16:creationId xmlns:a16="http://schemas.microsoft.com/office/drawing/2014/main" id="{E5018FD7-F244-E550-6F30-0C530E2E3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30" y="3984656"/>
            <a:ext cx="1609473" cy="141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7">
            <a:extLst>
              <a:ext uri="{FF2B5EF4-FFF2-40B4-BE49-F238E27FC236}">
                <a16:creationId xmlns:a16="http://schemas.microsoft.com/office/drawing/2014/main" id="{DDE677D7-7373-9F82-06E5-1E93ACFF0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691" y="3954572"/>
            <a:ext cx="1609473" cy="141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5">
            <a:extLst>
              <a:ext uri="{FF2B5EF4-FFF2-40B4-BE49-F238E27FC236}">
                <a16:creationId xmlns:a16="http://schemas.microsoft.com/office/drawing/2014/main" id="{45840B0F-48F6-1B46-B4A8-F63E4E62F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00" y="4032566"/>
            <a:ext cx="1549306" cy="144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FC0D01E4-03B8-4244-BAE5-C0220F4D1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662" y="4014740"/>
            <a:ext cx="1609473" cy="141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955EBFA-6A09-7CEC-709E-BA44F565170F}"/>
              </a:ext>
            </a:extLst>
          </p:cNvPr>
          <p:cNvSpPr txBox="1"/>
          <p:nvPr/>
        </p:nvSpPr>
        <p:spPr>
          <a:xfrm>
            <a:off x="706085" y="5261305"/>
            <a:ext cx="2857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不同频率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365940-32A1-1870-954E-2BD02A3DD5E4}"/>
              </a:ext>
            </a:extLst>
          </p:cNvPr>
          <p:cNvSpPr txBox="1"/>
          <p:nvPr/>
        </p:nvSpPr>
        <p:spPr>
          <a:xfrm>
            <a:off x="5134663" y="5270808"/>
            <a:ext cx="2857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不同振幅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9D68DD-0CC7-9847-F4B7-6F8F7FC7C645}"/>
              </a:ext>
            </a:extLst>
          </p:cNvPr>
          <p:cNvSpPr txBox="1"/>
          <p:nvPr/>
        </p:nvSpPr>
        <p:spPr>
          <a:xfrm>
            <a:off x="9334499" y="5398586"/>
            <a:ext cx="2857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不同波形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30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1658-1D41-9C0E-2907-25795FFFB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D3F5D59-B13F-C729-DAB3-676B0D0A6FFB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B44F67-A275-C57A-D0E4-7E682D162353}"/>
              </a:ext>
            </a:extLst>
          </p:cNvPr>
          <p:cNvSpPr txBox="1"/>
          <p:nvPr/>
        </p:nvSpPr>
        <p:spPr>
          <a:xfrm>
            <a:off x="4889921" y="5360"/>
            <a:ext cx="12428860" cy="88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音频特性</a:t>
            </a:r>
            <a:endParaRPr lang="en-US" altLang="zh-CN" sz="54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4447A1-ED8D-2A17-6337-F53DDC411B49}"/>
              </a:ext>
            </a:extLst>
          </p:cNvPr>
          <p:cNvSpPr txBox="1"/>
          <p:nvPr/>
        </p:nvSpPr>
        <p:spPr>
          <a:xfrm>
            <a:off x="121024" y="943674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0" indent="-914400" algn="l" defTabSz="6842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 startAt="3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人耳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：超声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(&gt;20KHZ),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可听声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(20HZ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20kHZ)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次声</a:t>
            </a:r>
            <a:r>
              <a:rPr lang="en-US" altLang="zh-CN" sz="48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(&lt;20HZ)</a:t>
            </a:r>
            <a:endParaRPr lang="zh-CN" altLang="en-US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 descr="屏幕剪辑">
            <a:extLst>
              <a:ext uri="{FF2B5EF4-FFF2-40B4-BE49-F238E27FC236}">
                <a16:creationId xmlns:a16="http://schemas.microsoft.com/office/drawing/2014/main" id="{74495DAE-082D-94F0-26BB-D11DF48818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r="2589" b="13656"/>
          <a:stretch/>
        </p:blipFill>
        <p:spPr>
          <a:xfrm>
            <a:off x="96478" y="2513334"/>
            <a:ext cx="12095522" cy="376517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6197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4728-5ACC-C51F-F312-7C9A9FDE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17A1D45-A533-4853-A115-686309189AFC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F0025D-1465-6A74-71FA-4EB7F49D9E2C}"/>
              </a:ext>
            </a:extLst>
          </p:cNvPr>
          <p:cNvSpPr txBox="1"/>
          <p:nvPr/>
        </p:nvSpPr>
        <p:spPr>
          <a:xfrm>
            <a:off x="4889921" y="5360"/>
            <a:ext cx="12428860" cy="88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音频特性</a:t>
            </a:r>
            <a:endParaRPr lang="en-US" altLang="zh-CN" sz="5400" b="1" spc="-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A840FD-6C0C-9BE7-BD26-B8EF06A710BD}"/>
              </a:ext>
            </a:extLst>
          </p:cNvPr>
          <p:cNvSpPr txBox="1"/>
          <p:nvPr/>
        </p:nvSpPr>
        <p:spPr>
          <a:xfrm>
            <a:off x="-96478" y="80841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0" indent="-914400" defTabSz="684213" fontAlgn="base"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3"/>
              <a:defRPr/>
            </a:pP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声音频带宽度越高，声音质量越好，唱片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(10-22kHZ),FM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广播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(20-15kHZ)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 AM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广播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(50-7kHZ),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电话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(200-3.4kHZ)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endParaRPr lang="zh-CN" altLang="en-US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 descr="屏幕剪辑">
            <a:extLst>
              <a:ext uri="{FF2B5EF4-FFF2-40B4-BE49-F238E27FC236}">
                <a16:creationId xmlns:a16="http://schemas.microsoft.com/office/drawing/2014/main" id="{30DC9BB3-DDC6-9843-7DEA-D8A237FE0A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r="2589" b="13656"/>
          <a:stretch/>
        </p:blipFill>
        <p:spPr>
          <a:xfrm>
            <a:off x="48239" y="3087464"/>
            <a:ext cx="12095522" cy="376517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1732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8A238-56F2-52E4-4D20-17570C37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7BA065C-37CA-E902-7ACE-BB2E53E2268E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3450A7-DDB0-A559-63F6-2C3E0EC1E0FE}"/>
              </a:ext>
            </a:extLst>
          </p:cNvPr>
          <p:cNvSpPr txBox="1"/>
          <p:nvPr/>
        </p:nvSpPr>
        <p:spPr>
          <a:xfrm>
            <a:off x="-96478" y="80841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0" indent="-914400" defTabSz="684213" fontAlgn="base"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4"/>
              <a:defRPr/>
            </a:pP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声波是连续的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模拟信号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，计算机只能处理离散的二进制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数字信号</a:t>
            </a:r>
            <a:endParaRPr lang="en-US" altLang="zh-CN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lvl="0" indent="-914400" defTabSz="684213" fontAlgn="base"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4"/>
              <a:defRPr/>
            </a:pP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声音数字化</a:t>
            </a:r>
            <a:r>
              <a:rPr lang="en-US" altLang="zh-CN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将模拟信号转化数字信号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DCA756-E094-1317-8B15-B4A35D61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554" y="3429000"/>
            <a:ext cx="6013076" cy="29145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4DC55D-4E58-9D97-E795-BF6997F3AF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53"/>
          <a:stretch/>
        </p:blipFill>
        <p:spPr>
          <a:xfrm>
            <a:off x="5822576" y="3133238"/>
            <a:ext cx="6425346" cy="321026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68AFBD6-C40C-FB9B-7374-C79BE1EF3C4B}"/>
              </a:ext>
            </a:extLst>
          </p:cNvPr>
          <p:cNvSpPr txBox="1"/>
          <p:nvPr/>
        </p:nvSpPr>
        <p:spPr>
          <a:xfrm>
            <a:off x="1371600" y="5928002"/>
            <a:ext cx="2823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模拟信号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3D6ED6-EEC5-CAFB-7F47-08DF4016806C}"/>
              </a:ext>
            </a:extLst>
          </p:cNvPr>
          <p:cNvSpPr txBox="1"/>
          <p:nvPr/>
        </p:nvSpPr>
        <p:spPr>
          <a:xfrm>
            <a:off x="7671386" y="5976141"/>
            <a:ext cx="29046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数字信号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17825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891A-5652-9AB9-79A5-B6A07AF0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E7323AE-18A0-E8F7-A6FE-4DAD55E57C47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音频数字化三步骤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50BFCA-D8B5-4A1A-D19A-8C07CFAEF39F}"/>
              </a:ext>
            </a:extLst>
          </p:cNvPr>
          <p:cNvSpPr txBox="1"/>
          <p:nvPr/>
        </p:nvSpPr>
        <p:spPr>
          <a:xfrm>
            <a:off x="4746426" y="989013"/>
            <a:ext cx="2393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-360000">
              <a:buFont typeface="+mj-ea"/>
              <a:buAutoNum type="circleNumDbPlain" startAt="2"/>
              <a:defRPr kumimoji="0" sz="4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pPr>
              <a:buFont typeface="+mj-ea"/>
              <a:buAutoNum type="circleNumDbPlain"/>
            </a:pPr>
            <a:r>
              <a:rPr lang="zh-CN" altLang="en-US" dirty="0"/>
              <a:t>采样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388A4D-EE99-4CB6-89FB-1BB579B99658}"/>
              </a:ext>
            </a:extLst>
          </p:cNvPr>
          <p:cNvSpPr txBox="1"/>
          <p:nvPr/>
        </p:nvSpPr>
        <p:spPr>
          <a:xfrm>
            <a:off x="9385764" y="2777131"/>
            <a:ext cx="2608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+mj-ea"/>
              <a:buAutoNum type="circleNumDbPlain" startAt="2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量化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C8C30-9296-EE84-8343-D1D7514B1FD9}"/>
              </a:ext>
            </a:extLst>
          </p:cNvPr>
          <p:cNvSpPr txBox="1"/>
          <p:nvPr/>
        </p:nvSpPr>
        <p:spPr>
          <a:xfrm>
            <a:off x="5011625" y="4025667"/>
            <a:ext cx="2393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>
              <a:buFont typeface="+mj-ea"/>
              <a:buAutoNum type="circleNumDbPlain" startAt="3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51CFA5-F32D-C17A-8B69-45D5E6AAB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12" y="946868"/>
            <a:ext cx="4048125" cy="1647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DF233A-0A34-D42E-B708-4D2334D85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30" y="324622"/>
            <a:ext cx="4048125" cy="23717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908511-0514-4659-1888-E55060A76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001" y="3665370"/>
            <a:ext cx="4356567" cy="25050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A36593F-BABC-1121-C772-57E8358DC1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02724"/>
            <a:ext cx="5261107" cy="1235770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059893E8-6807-63F3-CD88-B7220821AAD4}"/>
              </a:ext>
            </a:extLst>
          </p:cNvPr>
          <p:cNvSpPr/>
          <p:nvPr/>
        </p:nvSpPr>
        <p:spPr>
          <a:xfrm>
            <a:off x="5066124" y="1865349"/>
            <a:ext cx="1519518" cy="51098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6A6EB259-77F7-60A5-31B5-1494265A86B5}"/>
              </a:ext>
            </a:extLst>
          </p:cNvPr>
          <p:cNvSpPr/>
          <p:nvPr/>
        </p:nvSpPr>
        <p:spPr>
          <a:xfrm>
            <a:off x="8908676" y="2878912"/>
            <a:ext cx="524435" cy="982225"/>
          </a:xfrm>
          <a:prstGeom prst="down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C6CF7455-5CF7-3F20-0874-7B48852DA582}"/>
              </a:ext>
            </a:extLst>
          </p:cNvPr>
          <p:cNvSpPr/>
          <p:nvPr/>
        </p:nvSpPr>
        <p:spPr>
          <a:xfrm rot="10800000">
            <a:off x="5411377" y="4917907"/>
            <a:ext cx="1519518" cy="51098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399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7A14-28E6-8362-F287-1D978603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F1B12F4-6C79-FFDC-6272-BBD92C3B69FD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Font typeface="Wingdings" panose="05000000000000000000" pitchFamily="2" charset="2"/>
              <a:buChar char="Ø"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数字音频指标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A2E410-68F4-7603-AD28-C89F586C31F3}"/>
              </a:ext>
            </a:extLst>
          </p:cNvPr>
          <p:cNvSpPr txBox="1"/>
          <p:nvPr/>
        </p:nvSpPr>
        <p:spPr>
          <a:xfrm>
            <a:off x="5456166" y="4102262"/>
            <a:ext cx="2393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-360000">
              <a:buFont typeface="+mj-ea"/>
              <a:buAutoNum type="circleNumDbPlain" startAt="2"/>
              <a:defRPr kumimoji="0" sz="4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pPr>
              <a:buFont typeface="+mj-ea"/>
              <a:buAutoNum type="circleNumDbPlain"/>
            </a:pPr>
            <a:r>
              <a:rPr lang="zh-CN" altLang="en-US" dirty="0"/>
              <a:t>采样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CC9B92-720D-7C27-BD11-4AEB7FE4C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12" y="2982665"/>
            <a:ext cx="4048125" cy="1647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AE25E2-1FF6-9FC7-8604-B7572CEF3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635" y="1434854"/>
            <a:ext cx="4048125" cy="2371725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D2EE216C-34B7-7EF3-8AAD-963BF0117BDD}"/>
              </a:ext>
            </a:extLst>
          </p:cNvPr>
          <p:cNvSpPr/>
          <p:nvPr/>
        </p:nvSpPr>
        <p:spPr>
          <a:xfrm rot="2457372">
            <a:off x="5980038" y="5158279"/>
            <a:ext cx="1519518" cy="51098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78A47B-AA65-6E60-4B3A-3B212026CE94}"/>
              </a:ext>
            </a:extLst>
          </p:cNvPr>
          <p:cNvSpPr txBox="1"/>
          <p:nvPr/>
        </p:nvSpPr>
        <p:spPr>
          <a:xfrm>
            <a:off x="-90471" y="1078196"/>
            <a:ext cx="81085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Arial" panose="020B0604020202020204" pitchFamily="34" charset="0"/>
              <a:buChar char="•"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采样频率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：每秒采集样本次数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采样频率越高，记录声音质量越高</a:t>
            </a:r>
            <a:endParaRPr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F1B08A-CDC5-6D2B-6E9F-A45D53716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541" y="4054646"/>
            <a:ext cx="4048125" cy="2371725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92917F9-6108-FAA7-7394-2E078B7B8564}"/>
              </a:ext>
            </a:extLst>
          </p:cNvPr>
          <p:cNvCxnSpPr/>
          <p:nvPr/>
        </p:nvCxnSpPr>
        <p:spPr>
          <a:xfrm>
            <a:off x="8202705" y="5692588"/>
            <a:ext cx="0" cy="457200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F10425A-4D2F-22CD-6095-4C99C67049E5}"/>
              </a:ext>
            </a:extLst>
          </p:cNvPr>
          <p:cNvCxnSpPr>
            <a:cxnSpLocks/>
          </p:cNvCxnSpPr>
          <p:nvPr/>
        </p:nvCxnSpPr>
        <p:spPr>
          <a:xfrm>
            <a:off x="8556810" y="5580529"/>
            <a:ext cx="0" cy="600636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EBCE10C-1CA6-E789-433B-E7BCD43E0EDD}"/>
              </a:ext>
            </a:extLst>
          </p:cNvPr>
          <p:cNvCxnSpPr>
            <a:cxnSpLocks/>
          </p:cNvCxnSpPr>
          <p:nvPr/>
        </p:nvCxnSpPr>
        <p:spPr>
          <a:xfrm>
            <a:off x="8924362" y="4872834"/>
            <a:ext cx="0" cy="1312814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2499C41-5606-6DF3-3D01-6E76B157BA53}"/>
              </a:ext>
            </a:extLst>
          </p:cNvPr>
          <p:cNvCxnSpPr>
            <a:cxnSpLocks/>
          </p:cNvCxnSpPr>
          <p:nvPr/>
        </p:nvCxnSpPr>
        <p:spPr>
          <a:xfrm>
            <a:off x="9305362" y="4872834"/>
            <a:ext cx="0" cy="1312814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DB5075B-B230-E025-9334-FEC83DA7A9F5}"/>
              </a:ext>
            </a:extLst>
          </p:cNvPr>
          <p:cNvCxnSpPr>
            <a:cxnSpLocks/>
          </p:cNvCxnSpPr>
          <p:nvPr/>
        </p:nvCxnSpPr>
        <p:spPr>
          <a:xfrm>
            <a:off x="10748680" y="5264781"/>
            <a:ext cx="0" cy="916384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0A1B65B-6263-8F91-AE9F-CE48F82FF861}"/>
              </a:ext>
            </a:extLst>
          </p:cNvPr>
          <p:cNvCxnSpPr>
            <a:cxnSpLocks/>
          </p:cNvCxnSpPr>
          <p:nvPr/>
        </p:nvCxnSpPr>
        <p:spPr>
          <a:xfrm>
            <a:off x="9663950" y="5529241"/>
            <a:ext cx="0" cy="651924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64FDBC9-AD40-2EC9-1EA2-958D658358B6}"/>
              </a:ext>
            </a:extLst>
          </p:cNvPr>
          <p:cNvCxnSpPr>
            <a:cxnSpLocks/>
          </p:cNvCxnSpPr>
          <p:nvPr/>
        </p:nvCxnSpPr>
        <p:spPr>
          <a:xfrm>
            <a:off x="10018056" y="5692588"/>
            <a:ext cx="0" cy="457200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DF5DF49-EA10-EBCB-2D61-AC37320CEF0D}"/>
              </a:ext>
            </a:extLst>
          </p:cNvPr>
          <p:cNvCxnSpPr>
            <a:cxnSpLocks/>
          </p:cNvCxnSpPr>
          <p:nvPr/>
        </p:nvCxnSpPr>
        <p:spPr>
          <a:xfrm>
            <a:off x="10399056" y="5529241"/>
            <a:ext cx="0" cy="651924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9136EB8-93C9-8242-F076-F953FD144035}"/>
              </a:ext>
            </a:extLst>
          </p:cNvPr>
          <p:cNvCxnSpPr>
            <a:cxnSpLocks/>
          </p:cNvCxnSpPr>
          <p:nvPr/>
        </p:nvCxnSpPr>
        <p:spPr>
          <a:xfrm>
            <a:off x="11102786" y="5329517"/>
            <a:ext cx="0" cy="851648"/>
          </a:xfrm>
          <a:prstGeom prst="line">
            <a:avLst/>
          </a:prstGeom>
          <a:ln w="2857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箭头: 右 41">
            <a:extLst>
              <a:ext uri="{FF2B5EF4-FFF2-40B4-BE49-F238E27FC236}">
                <a16:creationId xmlns:a16="http://schemas.microsoft.com/office/drawing/2014/main" id="{98771B03-6097-FE7C-C878-0A0C76524BD7}"/>
              </a:ext>
            </a:extLst>
          </p:cNvPr>
          <p:cNvSpPr/>
          <p:nvPr/>
        </p:nvSpPr>
        <p:spPr>
          <a:xfrm rot="18963509">
            <a:off x="5893195" y="3551084"/>
            <a:ext cx="1519518" cy="51098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1D232DB-9D47-238E-B52E-541997D93AE3}"/>
              </a:ext>
            </a:extLst>
          </p:cNvPr>
          <p:cNvSpPr txBox="1"/>
          <p:nvPr/>
        </p:nvSpPr>
        <p:spPr>
          <a:xfrm>
            <a:off x="7890640" y="4031007"/>
            <a:ext cx="4106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更高的采样频率</a:t>
            </a:r>
            <a:endParaRPr lang="zh-CN" altLang="en-US" dirty="0">
              <a:solidFill>
                <a:srgbClr val="843C0C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3AF33B9-715E-9409-B937-BDFDA3467CA5}"/>
              </a:ext>
            </a:extLst>
          </p:cNvPr>
          <p:cNvSpPr txBox="1"/>
          <p:nvPr/>
        </p:nvSpPr>
        <p:spPr>
          <a:xfrm>
            <a:off x="7881674" y="1221377"/>
            <a:ext cx="4106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普通采样频率</a:t>
            </a:r>
            <a:endParaRPr lang="zh-CN" altLang="en-US" dirty="0">
              <a:solidFill>
                <a:srgbClr val="843C0C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54C12BF-AC0A-7850-A89B-E2455651EA24}"/>
              </a:ext>
            </a:extLst>
          </p:cNvPr>
          <p:cNvSpPr txBox="1"/>
          <p:nvPr/>
        </p:nvSpPr>
        <p:spPr>
          <a:xfrm>
            <a:off x="-177054" y="4863235"/>
            <a:ext cx="696333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CD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采样频率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44.1kHz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，约是人耳频率最高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2040823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5809E-15CD-9635-C44F-C90A470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0265FFB-ED7A-0374-1ABC-1196B1337B13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数字音频指标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C328AD-26FD-A9E6-5D0E-15F313123DC1}"/>
              </a:ext>
            </a:extLst>
          </p:cNvPr>
          <p:cNvSpPr txBox="1"/>
          <p:nvPr/>
        </p:nvSpPr>
        <p:spPr>
          <a:xfrm>
            <a:off x="-90471" y="1121628"/>
            <a:ext cx="120889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Arial" panose="020B0604020202020204" pitchFamily="34" charset="0"/>
              <a:buChar char="•"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量化位数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：量化位数越高，代表还原数字精度越高，更接近原始音频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E8EBC0-94CB-CCF9-E78B-AC9706A381F6}"/>
              </a:ext>
            </a:extLst>
          </p:cNvPr>
          <p:cNvSpPr txBox="1"/>
          <p:nvPr/>
        </p:nvSpPr>
        <p:spPr>
          <a:xfrm>
            <a:off x="4607859" y="6027003"/>
            <a:ext cx="63671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352DBBAB-91B5-59C9-E37B-38C35113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5" y="2807812"/>
            <a:ext cx="12092485" cy="3114731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30192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52C85-83C0-5B9D-8867-BC7E1005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F74546D-4847-E5E6-FC3D-03C1A5494420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数字音频指标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9E424B-3261-0F7D-C13B-E1A59EF8E38E}"/>
              </a:ext>
            </a:extLst>
          </p:cNvPr>
          <p:cNvSpPr txBox="1"/>
          <p:nvPr/>
        </p:nvSpPr>
        <p:spPr>
          <a:xfrm>
            <a:off x="-90471" y="1121628"/>
            <a:ext cx="120889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Arial" panose="020B0604020202020204" pitchFamily="34" charset="0"/>
              <a:buChar char="•"/>
            </a:pP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声道数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：单声道和双声道或立体声，声道数越多，立体感越强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61249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9A85-7B4A-AAD9-6DEC-1C3027E7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71460E7-FBD0-DD93-F0AA-217C2BADF32D}"/>
              </a:ext>
            </a:extLst>
          </p:cNvPr>
          <p:cNvSpPr txBox="1"/>
          <p:nvPr/>
        </p:nvSpPr>
        <p:spPr>
          <a:xfrm>
            <a:off x="-90471" y="-71989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数字音频指标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495B2A-20A0-3085-A44A-9E57783A1C5B}"/>
              </a:ext>
            </a:extLst>
          </p:cNvPr>
          <p:cNvSpPr txBox="1"/>
          <p:nvPr/>
        </p:nvSpPr>
        <p:spPr>
          <a:xfrm>
            <a:off x="-90471" y="798898"/>
            <a:ext cx="1208890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Arial" panose="020B0604020202020204" pitchFamily="34" charset="0"/>
              <a:buChar char="•"/>
            </a:pP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录制一首未经压缩的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5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分钟的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双声道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的歌曲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其采样频率为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44.1kHZ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,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量化位数为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16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该歌曲数据大小？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EFA0C-D1E8-B4B6-E2E5-267E557C6630}"/>
              </a:ext>
            </a:extLst>
          </p:cNvPr>
          <p:cNvSpPr txBox="1"/>
          <p:nvPr/>
        </p:nvSpPr>
        <p:spPr>
          <a:xfrm>
            <a:off x="193565" y="2818861"/>
            <a:ext cx="122824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音频数据量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=(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采样频率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量化位数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声道数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)/8</a:t>
            </a:r>
          </a:p>
          <a:p>
            <a:pPr algn="just"/>
            <a:r>
              <a:rPr kumimoji="0" lang="zh-CN" altLang="en-US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每秒数据量：</a:t>
            </a:r>
            <a:r>
              <a:rPr kumimoji="0" lang="en-US" altLang="zh-CN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(44100HZ*16</a:t>
            </a:r>
            <a:r>
              <a:rPr kumimoji="0" lang="zh-CN" altLang="en-US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en-US" altLang="zh-CN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*2(</a:t>
            </a:r>
            <a:r>
              <a:rPr kumimoji="0" lang="zh-CN" altLang="en-US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声道</a:t>
            </a:r>
            <a:r>
              <a:rPr kumimoji="0" lang="en-US" altLang="zh-CN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))/8=176400</a:t>
            </a:r>
            <a:r>
              <a:rPr kumimoji="0" lang="en-US" altLang="zh-CN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Byte</a:t>
            </a:r>
          </a:p>
          <a:p>
            <a:pPr algn="just"/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分钟数据量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176400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*300)/1024=51600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KB</a:t>
            </a:r>
          </a:p>
          <a:p>
            <a:pPr algn="just"/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              51600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KB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/1024=50.39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MB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6409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0C19-9625-5C53-6F95-2977AD28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8ADCDA3-8A12-7969-2F1D-17D8FE3050EE}"/>
              </a:ext>
            </a:extLst>
          </p:cNvPr>
          <p:cNvSpPr txBox="1"/>
          <p:nvPr/>
        </p:nvSpPr>
        <p:spPr>
          <a:xfrm>
            <a:off x="361565" y="3015920"/>
            <a:ext cx="111730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WAVE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文件：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Windows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系统支持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.WAV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MP3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文件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:.mp3</a:t>
            </a:r>
            <a:endParaRPr kumimoji="0" lang="zh-CN" altLang="en-US" sz="4800" b="1" i="0" u="none" strike="noStrike" kern="1200" cap="none" spc="-300" normalizeH="0" baseline="0" noProof="0" dirty="0">
              <a:ln>
                <a:noFill/>
              </a:ln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RA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文件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:RealAudio</a:t>
            </a:r>
            <a:r>
              <a:rPr kumimoji="0" lang="zh-CN" altLang="en-US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格式，</a:t>
            </a:r>
            <a:r>
              <a:rPr kumimoji="0" lang="en-US" altLang="zh-CN" sz="4800" b="1" i="0" u="none" strike="noStrike" kern="1200" cap="none" spc="-30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4800" b="1" i="0" u="none" strike="noStrike" kern="1200" cap="none" spc="-300" normalizeH="0" baseline="0" noProof="0" dirty="0" err="1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ra</a:t>
            </a:r>
            <a:endParaRPr kumimoji="0" lang="en-US" altLang="zh-CN" sz="4800" b="1" i="0" u="none" strike="noStrike" kern="1200" cap="none" spc="-300" normalizeH="0" baseline="0" noProof="0" dirty="0">
              <a:ln>
                <a:noFill/>
              </a:ln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800" b="1" spc="-300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Midi</a:t>
            </a:r>
            <a:r>
              <a:rPr lang="zh-CN" altLang="en-US" sz="4800" b="1" spc="-300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文件</a:t>
            </a:r>
            <a:r>
              <a:rPr lang="en-US" altLang="zh-CN" sz="4800" b="1" spc="-300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4800" b="1" spc="-300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电子合成音乐</a:t>
            </a:r>
            <a:r>
              <a:rPr lang="en-US" altLang="zh-CN" sz="4800" b="1" spc="-300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,.mid</a:t>
            </a:r>
            <a:endParaRPr kumimoji="0" lang="zh-CN" altLang="en-US" sz="4800" b="1" i="0" u="none" strike="noStrike" kern="1200" cap="none" spc="-300" normalizeH="0" baseline="0" noProof="0" dirty="0">
              <a:ln>
                <a:noFill/>
              </a:ln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64CD01-82E9-5395-4A50-7551B9AB3371}"/>
              </a:ext>
            </a:extLst>
          </p:cNvPr>
          <p:cNvSpPr txBox="1"/>
          <p:nvPr/>
        </p:nvSpPr>
        <p:spPr>
          <a:xfrm>
            <a:off x="103094" y="215153"/>
            <a:ext cx="1208890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1500" indent="-571500">
              <a:buFont typeface="Wingdings" panose="05000000000000000000" pitchFamily="2" charset="2"/>
              <a:buChar char="Ø"/>
            </a:pP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编码算法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：未压缩的音频数据非常大，压缩算法包括有损压缩和无损压缩。压缩越多，信息丢失越多，信号就越失真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211500" indent="-571500">
              <a:buFont typeface="Wingdings" panose="05000000000000000000" pitchFamily="2" charset="2"/>
              <a:buChar char="Ø"/>
            </a:pP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不同编码对应不同音频格式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48556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8C55-31E6-996B-885B-A02A6660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04CD09C-64E9-CFE9-C300-626132D505B3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C252FD7C-5E16-65DB-0485-5916B7E2B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2" y="1246372"/>
            <a:ext cx="5421405" cy="786243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zh-CN" altLang="en-US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计算机图像种类</a:t>
            </a:r>
            <a:r>
              <a:rPr lang="en-US" altLang="zh-CN" sz="48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316FBC58-C5CA-FD58-B781-FB474B4E68C2}"/>
              </a:ext>
            </a:extLst>
          </p:cNvPr>
          <p:cNvSpPr/>
          <p:nvPr/>
        </p:nvSpPr>
        <p:spPr>
          <a:xfrm>
            <a:off x="5598459" y="892651"/>
            <a:ext cx="995082" cy="1634732"/>
          </a:xfrm>
          <a:prstGeom prst="leftBrace">
            <a:avLst/>
          </a:prstGeom>
          <a:ln w="5715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7D2163C8-983A-56DD-68D7-CAC1079B774E}"/>
              </a:ext>
            </a:extLst>
          </p:cNvPr>
          <p:cNvSpPr txBox="1">
            <a:spLocks/>
          </p:cNvSpPr>
          <p:nvPr/>
        </p:nvSpPr>
        <p:spPr>
          <a:xfrm>
            <a:off x="6900586" y="2142335"/>
            <a:ext cx="2442882" cy="75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矢量图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F0146959-349D-4C13-5CC0-59A79874D0AC}"/>
              </a:ext>
            </a:extLst>
          </p:cNvPr>
          <p:cNvSpPr txBox="1">
            <a:spLocks/>
          </p:cNvSpPr>
          <p:nvPr/>
        </p:nvSpPr>
        <p:spPr>
          <a:xfrm>
            <a:off x="7091082" y="788468"/>
            <a:ext cx="1797423" cy="75171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位图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DD74E7-E547-19C4-65B6-A4CF676A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354" y="3098635"/>
            <a:ext cx="3046320" cy="34535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D6451B8-1C28-075A-7AD4-5CB9D38E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328" y="3453785"/>
            <a:ext cx="2817469" cy="2931178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内容占位符 1">
            <a:extLst>
              <a:ext uri="{FF2B5EF4-FFF2-40B4-BE49-F238E27FC236}">
                <a16:creationId xmlns:a16="http://schemas.microsoft.com/office/drawing/2014/main" id="{B6EF25B8-811F-7C82-67FF-E592874CC20D}"/>
              </a:ext>
            </a:extLst>
          </p:cNvPr>
          <p:cNvSpPr txBox="1">
            <a:spLocks/>
          </p:cNvSpPr>
          <p:nvPr/>
        </p:nvSpPr>
        <p:spPr>
          <a:xfrm>
            <a:off x="398929" y="4825385"/>
            <a:ext cx="2442882" cy="75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位图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内容占位符 1">
            <a:extLst>
              <a:ext uri="{FF2B5EF4-FFF2-40B4-BE49-F238E27FC236}">
                <a16:creationId xmlns:a16="http://schemas.microsoft.com/office/drawing/2014/main" id="{0201828C-C2D5-B10E-CE14-EDF52D35AE4A}"/>
              </a:ext>
            </a:extLst>
          </p:cNvPr>
          <p:cNvSpPr txBox="1">
            <a:spLocks/>
          </p:cNvSpPr>
          <p:nvPr/>
        </p:nvSpPr>
        <p:spPr>
          <a:xfrm>
            <a:off x="5094197" y="4785047"/>
            <a:ext cx="2442882" cy="75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矢量图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80655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50AF3AC-7803-DA14-BE4E-C7EAB4572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913" y="183998"/>
            <a:ext cx="5307339" cy="53439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">
            <a:extLst>
              <a:ext uri="{FF2B5EF4-FFF2-40B4-BE49-F238E27FC236}">
                <a16:creationId xmlns:a16="http://schemas.microsoft.com/office/drawing/2014/main" id="{9DEBC7EC-E35D-65A7-AF3A-33FFD998F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9" y="183998"/>
            <a:ext cx="5053667" cy="512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6">
            <a:extLst>
              <a:ext uri="{FF2B5EF4-FFF2-40B4-BE49-F238E27FC236}">
                <a16:creationId xmlns:a16="http://schemas.microsoft.com/office/drawing/2014/main" id="{53608828-8A89-39D2-A263-D8E8F3807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559" y="5527978"/>
            <a:ext cx="172354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/>
              <a:t>位图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AA0F57-8012-ABA7-7D6D-FA188E05B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6488" y="5527977"/>
            <a:ext cx="249299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/>
              <a:t>矢量图</a:t>
            </a:r>
          </a:p>
        </p:txBody>
      </p:sp>
    </p:spTree>
    <p:extLst>
      <p:ext uri="{BB962C8B-B14F-4D97-AF65-F5344CB8AC3E}">
        <p14:creationId xmlns:p14="http://schemas.microsoft.com/office/powerpoint/2010/main" val="28522433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B46AC-E441-89DE-92A7-816B9C4D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>
            <a:extLst>
              <a:ext uri="{FF2B5EF4-FFF2-40B4-BE49-F238E27FC236}">
                <a16:creationId xmlns:a16="http://schemas.microsoft.com/office/drawing/2014/main" id="{EB9E8E65-D37C-97AB-1EB0-63B91D089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"/>
            <a:ext cx="12192000" cy="6172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位图图像</a:t>
            </a:r>
            <a:endParaRPr lang="en-US" altLang="zh-C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）具有精细细节图像，编辑单元是像素，像素间独立，数据量大，显示速度快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）放大后有锯齿，清晰度和像素点多少相关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）色彩细微变化，色调，阴影表达效果更佳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矢量图形</a:t>
            </a:r>
            <a:endParaRPr lang="en-US" altLang="zh-C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）只记录指令集合和特征点，空间小，显示速度慢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）指令集合：描述点线和面等图形大小，形状以及位置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）按照指令和特征生成图形的过程即渲染</a:t>
            </a:r>
            <a:endParaRPr lang="en-US" altLang="zh-CN" sz="4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endParaRPr lang="en-US" altLang="zh-CN" sz="57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7009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>
            <a:extLst>
              <a:ext uri="{FF2B5EF4-FFF2-40B4-BE49-F238E27FC236}">
                <a16:creationId xmlns:a16="http://schemas.microsoft.com/office/drawing/2014/main" id="{D17B198F-DB8A-2B34-353A-75C32BD49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870" y="0"/>
            <a:ext cx="8328211" cy="683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7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2B4E413-6CE5-8556-5611-C7C20982D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26" y="-2570"/>
            <a:ext cx="6059955" cy="686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423572-A5A6-4DCC-E394-E5F8CE9A76B7}"/>
              </a:ext>
            </a:extLst>
          </p:cNvPr>
          <p:cNvSpPr txBox="1"/>
          <p:nvPr/>
        </p:nvSpPr>
        <p:spPr>
          <a:xfrm>
            <a:off x="6917391" y="2765995"/>
            <a:ext cx="5530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180000">
              <a:buFont typeface="Arial" panose="020B0604020202020204" pitchFamily="34" charset="0"/>
              <a:buChar char="•"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彩色位图红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R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，绿</a:t>
            </a:r>
            <a:r>
              <a:rPr lang="en-US" altLang="zh-CN" sz="4000" b="1" dirty="0">
                <a:solidFill>
                  <a:prstClr val="black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G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，蓝</a:t>
            </a:r>
            <a:r>
              <a:rPr lang="en-US" altLang="zh-CN" sz="4000" b="1" dirty="0">
                <a:solidFill>
                  <a:prstClr val="black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三通道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421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CC48C-7806-7958-24CA-05FA226C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0A3B1-C36F-8168-7B15-D3D18161B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C6F862E1-43C5-1F3B-676C-4D165809F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4" t="3780" r="8464" b="-703"/>
          <a:stretch>
            <a:fillRect/>
          </a:stretch>
        </p:blipFill>
        <p:spPr bwMode="auto">
          <a:xfrm>
            <a:off x="838200" y="698786"/>
            <a:ext cx="5609011" cy="579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">
            <a:extLst>
              <a:ext uri="{FF2B5EF4-FFF2-40B4-BE49-F238E27FC236}">
                <a16:creationId xmlns:a16="http://schemas.microsoft.com/office/drawing/2014/main" id="{E4C8E5B4-209D-1A25-A13D-26045FB45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627" y="762380"/>
            <a:ext cx="2538219" cy="252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6">
            <a:extLst>
              <a:ext uri="{FF2B5EF4-FFF2-40B4-BE49-F238E27FC236}">
                <a16:creationId xmlns:a16="http://schemas.microsoft.com/office/drawing/2014/main" id="{F6C2234D-E6E0-4FA8-304A-051ADA621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132" y="4040871"/>
            <a:ext cx="5119876" cy="205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9786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B0D62344-3DAD-56FC-8813-1C6C91E2F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71" y="96181"/>
            <a:ext cx="11265087" cy="6665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411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C13B-8ACB-0809-A496-86B20FA5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C02AF69-009B-8118-7F15-7B5871096975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图像数字化步骤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9" name="图片 8" descr="屏幕剪辑">
            <a:extLst>
              <a:ext uri="{FF2B5EF4-FFF2-40B4-BE49-F238E27FC236}">
                <a16:creationId xmlns:a16="http://schemas.microsoft.com/office/drawing/2014/main" id="{FD55A593-1AC1-76C4-B901-79237369C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36"/>
            <a:ext cx="11954439" cy="3200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974F100-64F1-6CD6-FFC1-73CD06D893FE}"/>
              </a:ext>
            </a:extLst>
          </p:cNvPr>
          <p:cNvSpPr txBox="1"/>
          <p:nvPr/>
        </p:nvSpPr>
        <p:spPr>
          <a:xfrm>
            <a:off x="6306671" y="7134"/>
            <a:ext cx="2393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-360000">
              <a:buFont typeface="+mj-ea"/>
              <a:buAutoNum type="circleNumDbPlain" startAt="2"/>
              <a:defRPr kumimoji="0" sz="4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pPr>
              <a:buFont typeface="+mj-ea"/>
              <a:buAutoNum type="circleNumDbPlain"/>
            </a:pPr>
            <a:r>
              <a:rPr lang="zh-CN" altLang="en-US" dirty="0"/>
              <a:t>采样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5ACDF1-E0FC-E4B6-5705-D04ADC2F5C96}"/>
              </a:ext>
            </a:extLst>
          </p:cNvPr>
          <p:cNvSpPr txBox="1"/>
          <p:nvPr/>
        </p:nvSpPr>
        <p:spPr>
          <a:xfrm>
            <a:off x="8148919" y="92332"/>
            <a:ext cx="2608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+mj-ea"/>
              <a:buAutoNum type="circleNumDbPlain" startAt="2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量化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C4630F-6A9E-4AB6-72EE-5F278E47A1BE}"/>
              </a:ext>
            </a:extLst>
          </p:cNvPr>
          <p:cNvSpPr txBox="1"/>
          <p:nvPr/>
        </p:nvSpPr>
        <p:spPr>
          <a:xfrm>
            <a:off x="10206321" y="61952"/>
            <a:ext cx="2393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>
              <a:buFont typeface="+mj-ea"/>
              <a:buAutoNum type="circleNumDbPlain" startAt="3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编码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D266D54-002C-7E57-B49E-E680F2D075AF}"/>
              </a:ext>
            </a:extLst>
          </p:cNvPr>
          <p:cNvSpPr/>
          <p:nvPr/>
        </p:nvSpPr>
        <p:spPr>
          <a:xfrm>
            <a:off x="173696" y="4621601"/>
            <a:ext cx="1653988" cy="685800"/>
          </a:xfrm>
          <a:prstGeom prst="roundRect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光照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C36EFF29-6941-1DAD-5C9F-A573DD5D70E5}"/>
              </a:ext>
            </a:extLst>
          </p:cNvPr>
          <p:cNvSpPr/>
          <p:nvPr/>
        </p:nvSpPr>
        <p:spPr>
          <a:xfrm>
            <a:off x="2205326" y="4749512"/>
            <a:ext cx="2326342" cy="437471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13A4CF3-EA5B-9E90-8D91-C5D2B8D4194C}"/>
              </a:ext>
            </a:extLst>
          </p:cNvPr>
          <p:cNvSpPr/>
          <p:nvPr/>
        </p:nvSpPr>
        <p:spPr>
          <a:xfrm>
            <a:off x="4722441" y="4621601"/>
            <a:ext cx="2099984" cy="685800"/>
          </a:xfrm>
          <a:prstGeom prst="roundRect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电信号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E65937-ED9A-1E77-02AE-A23FB55C218E}"/>
              </a:ext>
            </a:extLst>
          </p:cNvPr>
          <p:cNvSpPr txBox="1"/>
          <p:nvPr/>
        </p:nvSpPr>
        <p:spPr>
          <a:xfrm>
            <a:off x="1664641" y="4148893"/>
            <a:ext cx="36699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0" spc="-3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CCD+</a:t>
            </a:r>
            <a:r>
              <a:rPr lang="zh-CN" altLang="en-US" sz="5000" spc="-3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放大器</a:t>
            </a:r>
            <a:endParaRPr lang="en-US" altLang="zh-CN" sz="5000" spc="-3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5000" spc="-3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CMOS</a:t>
            </a:r>
            <a:endParaRPr lang="zh-CN" altLang="en-US" sz="5000" spc="-3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45EAA30-71FE-68C5-6F89-FBACB0585AA3}"/>
              </a:ext>
            </a:extLst>
          </p:cNvPr>
          <p:cNvSpPr/>
          <p:nvPr/>
        </p:nvSpPr>
        <p:spPr>
          <a:xfrm>
            <a:off x="8532161" y="4621601"/>
            <a:ext cx="2729757" cy="685800"/>
          </a:xfrm>
          <a:prstGeom prst="roundRect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数字信号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CFF736DA-C2B5-8106-B5E1-A10C9CFDA4F6}"/>
              </a:ext>
            </a:extLst>
          </p:cNvPr>
          <p:cNvSpPr/>
          <p:nvPr/>
        </p:nvSpPr>
        <p:spPr>
          <a:xfrm>
            <a:off x="6917534" y="4739246"/>
            <a:ext cx="1519518" cy="510988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B5C83F-CF79-A4EC-33A0-1AC9E6C9F5F4}"/>
              </a:ext>
            </a:extLst>
          </p:cNvPr>
          <p:cNvSpPr txBox="1"/>
          <p:nvPr/>
        </p:nvSpPr>
        <p:spPr>
          <a:xfrm>
            <a:off x="6879014" y="4148893"/>
            <a:ext cx="19049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spc="-3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数模</a:t>
            </a:r>
            <a:endParaRPr lang="en-US" altLang="zh-CN" sz="5000" spc="-3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5000" spc="-3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FAA16A-05C9-11BE-8ADF-B058BE6AFCB5}"/>
              </a:ext>
            </a:extLst>
          </p:cNvPr>
          <p:cNvSpPr txBox="1"/>
          <p:nvPr/>
        </p:nvSpPr>
        <p:spPr>
          <a:xfrm>
            <a:off x="8000019" y="904671"/>
            <a:ext cx="27576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spc="-300" dirty="0">
                <a:solidFill>
                  <a:srgbClr val="0000FF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数模转换</a:t>
            </a: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584FFCF4-F8A3-E8E9-379E-28DC84EBBF3B}"/>
              </a:ext>
            </a:extLst>
          </p:cNvPr>
          <p:cNvSpPr/>
          <p:nvPr/>
        </p:nvSpPr>
        <p:spPr>
          <a:xfrm rot="16200000">
            <a:off x="8998113" y="-1027881"/>
            <a:ext cx="359015" cy="3902419"/>
          </a:xfrm>
          <a:prstGeom prst="leftBrac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54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F078015-154E-A091-DA1B-DBFBE1107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142" y="0"/>
            <a:ext cx="8032376" cy="6400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B8A3EE-EEAB-23C6-D2A8-2E8743CCFA44}"/>
              </a:ext>
            </a:extLst>
          </p:cNvPr>
          <p:cNvSpPr txBox="1"/>
          <p:nvPr/>
        </p:nvSpPr>
        <p:spPr>
          <a:xfrm>
            <a:off x="2175061" y="4484013"/>
            <a:ext cx="148253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5000" b="0" i="0" u="none" strike="noStrike" kern="1200" cap="none" spc="-30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CMOS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9A70A2E-330C-9B09-A1C7-22E7A2478A8D}"/>
              </a:ext>
            </a:extLst>
          </p:cNvPr>
          <p:cNvSpPr/>
          <p:nvPr/>
        </p:nvSpPr>
        <p:spPr>
          <a:xfrm>
            <a:off x="3502958" y="4746812"/>
            <a:ext cx="309283" cy="3361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1305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474D-6328-BF41-397D-4EC9B84D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8D07C4E-F96D-F561-820A-36361174FD86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图像数字化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A830CB-1A3A-F386-AF66-382B90B7191C}"/>
              </a:ext>
            </a:extLst>
          </p:cNvPr>
          <p:cNvSpPr txBox="1"/>
          <p:nvPr/>
        </p:nvSpPr>
        <p:spPr>
          <a:xfrm>
            <a:off x="0" y="1015663"/>
            <a:ext cx="12057531" cy="208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</a:t>
            </a:r>
            <a:r>
              <a:rPr lang="zh-CN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一幅图像大小为</a:t>
            </a:r>
            <a:r>
              <a:rPr lang="en-US" altLang="zh-CN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640</a:t>
            </a:r>
            <a:r>
              <a:rPr lang="zh-CN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像素</a:t>
            </a:r>
            <a:r>
              <a:rPr lang="en-US" altLang="zh-CN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*480</a:t>
            </a:r>
            <a:r>
              <a:rPr lang="zh-CN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像素，每个像素用</a:t>
            </a:r>
            <a:r>
              <a:rPr lang="en-US" altLang="zh-CN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R,G,B 3</a:t>
            </a:r>
            <a:r>
              <a:rPr lang="zh-CN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个通道表示，每个分量使用</a:t>
            </a:r>
            <a:r>
              <a:rPr lang="en-US" altLang="zh-CN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位，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这幅图数据量是多少？</a:t>
            </a:r>
            <a:endParaRPr lang="zh-CN" altLang="en-US" sz="24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87A757-C836-4851-AE73-1D08C514D6C4}"/>
              </a:ext>
            </a:extLst>
          </p:cNvPr>
          <p:cNvSpPr txBox="1"/>
          <p:nvPr/>
        </p:nvSpPr>
        <p:spPr>
          <a:xfrm>
            <a:off x="134469" y="3007120"/>
            <a:ext cx="122824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图像数据量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=(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图像大小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通道数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每分量位数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)/8</a:t>
            </a:r>
          </a:p>
          <a:p>
            <a:pPr algn="just"/>
            <a:r>
              <a:rPr lang="zh-CN" altLang="en-US" sz="4400" b="1" spc="-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kumimoji="0" lang="en-US" altLang="zh-CN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640*480*3</a:t>
            </a:r>
            <a:r>
              <a:rPr kumimoji="0" lang="zh-CN" altLang="en-US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通道</a:t>
            </a:r>
            <a:r>
              <a:rPr kumimoji="0" lang="en-US" altLang="zh-CN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*8</a:t>
            </a:r>
            <a:r>
              <a:rPr kumimoji="0" lang="zh-CN" altLang="en-US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位</a:t>
            </a:r>
            <a:r>
              <a:rPr kumimoji="0" lang="en-US" altLang="zh-CN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)/8=921600</a:t>
            </a:r>
            <a:r>
              <a:rPr kumimoji="0" lang="en-US" altLang="zh-CN" sz="4400" b="1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</a:p>
          <a:p>
            <a:pPr algn="just"/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sym typeface="Wingdings" panose="05000000000000000000" pitchFamily="2" charset="2"/>
              </a:rPr>
              <a:t>   (</a:t>
            </a:r>
            <a:r>
              <a:rPr kumimoji="0" lang="en-US" altLang="zh-CN" sz="44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921600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B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)/1024=900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KB</a:t>
            </a:r>
          </a:p>
          <a:p>
            <a:pPr algn="just"/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   900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KB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/1024=0.88</a:t>
            </a:r>
            <a:r>
              <a:rPr lang="en-US" altLang="zh-CN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MB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566371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F92B-1220-3A7A-7187-C0BD1DE2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A9E8C64-B6D1-E83B-76DD-0D77B30559C6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图像属性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15670F-AA20-1231-54C7-1214312B329C}"/>
              </a:ext>
            </a:extLst>
          </p:cNvPr>
          <p:cNvSpPr txBox="1"/>
          <p:nvPr/>
        </p:nvSpPr>
        <p:spPr>
          <a:xfrm>
            <a:off x="201139" y="1015663"/>
            <a:ext cx="115784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-360000">
              <a:buFont typeface="+mj-ea"/>
              <a:buAutoNum type="circleNumDbPlain" startAt="2"/>
              <a:defRPr kumimoji="0" sz="4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pPr>
              <a:buFont typeface="+mj-ea"/>
              <a:buAutoNum type="circleNumDbPlain"/>
            </a:pPr>
            <a:r>
              <a:rPr lang="zh-CN" altLang="en-US" dirty="0"/>
              <a:t>显示分辨率</a:t>
            </a:r>
            <a:r>
              <a:rPr lang="zh-CN" altLang="en-US" dirty="0">
                <a:solidFill>
                  <a:schemeClr val="tx1"/>
                </a:solidFill>
              </a:rPr>
              <a:t>：显示屏水平和垂直方向上的最大像素点的个数</a:t>
            </a:r>
            <a:r>
              <a:rPr lang="en-US" altLang="zh-CN" dirty="0">
                <a:solidFill>
                  <a:schemeClr val="tx1"/>
                </a:solidFill>
              </a:rPr>
              <a:t>1920*1080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23328A-917F-6A6D-5B58-9D187C1DBA91}"/>
              </a:ext>
            </a:extLst>
          </p:cNvPr>
          <p:cNvSpPr txBox="1"/>
          <p:nvPr/>
        </p:nvSpPr>
        <p:spPr>
          <a:xfrm>
            <a:off x="187692" y="2657612"/>
            <a:ext cx="114036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60000">
              <a:buFont typeface="+mj-ea"/>
              <a:buAutoNum type="circleNumDbPlain" startAt="2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图像分辨率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：图像水平和垂直方向上的最大像素点的个数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B7F896-5502-52CF-1500-B0586047EA82}"/>
              </a:ext>
            </a:extLst>
          </p:cNvPr>
          <p:cNvSpPr txBox="1"/>
          <p:nvPr/>
        </p:nvSpPr>
        <p:spPr>
          <a:xfrm>
            <a:off x="275097" y="4299561"/>
            <a:ext cx="113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>
              <a:buFont typeface="+mj-ea"/>
              <a:buAutoNum type="circleNumDbPlain" startAt="3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颜色深度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：颜色编码二进制位数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1516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90A77-F441-62C4-1F85-CEBF66D9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B7CAF69-FB3C-38C2-6872-0438FF284F5B}"/>
              </a:ext>
            </a:extLst>
          </p:cNvPr>
          <p:cNvSpPr txBox="1"/>
          <p:nvPr/>
        </p:nvSpPr>
        <p:spPr>
          <a:xfrm>
            <a:off x="0" y="0"/>
            <a:ext cx="75034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marR="0" lvl="0" indent="-8572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E1E1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图像属性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E1E1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5B8500-CF9B-560D-0454-859D7230BF48}"/>
              </a:ext>
            </a:extLst>
          </p:cNvPr>
          <p:cNvSpPr txBox="1"/>
          <p:nvPr/>
        </p:nvSpPr>
        <p:spPr>
          <a:xfrm>
            <a:off x="194415" y="904272"/>
            <a:ext cx="113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>
              <a:buFont typeface="+mj-ea"/>
              <a:buAutoNum type="circleNumDbPlain" startAt="3"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颜色深度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：颜色编码二进制位数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E30276-72C9-7DBD-9884-7780A35F9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64" y="4888760"/>
            <a:ext cx="8928942" cy="1907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811B873-5F30-CA25-13E9-54C0F7EBB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600" y="1687793"/>
            <a:ext cx="7285986" cy="370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49509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剪辑">
            <a:extLst>
              <a:ext uri="{FF2B5EF4-FFF2-40B4-BE49-F238E27FC236}">
                <a16:creationId xmlns:a16="http://schemas.microsoft.com/office/drawing/2014/main" id="{D27AF88B-F484-A09A-9A19-ECDEA6E64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41" y="0"/>
            <a:ext cx="9090212" cy="69542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03D2DE8-D489-F20F-2D4E-BEECCAA7438C}"/>
              </a:ext>
            </a:extLst>
          </p:cNvPr>
          <p:cNvSpPr txBox="1"/>
          <p:nvPr/>
        </p:nvSpPr>
        <p:spPr>
          <a:xfrm>
            <a:off x="8780929" y="759589"/>
            <a:ext cx="3411071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图像格式</a:t>
            </a:r>
            <a:endParaRPr kumimoji="0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BMP</a:t>
            </a: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GIF</a:t>
            </a: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TIF</a:t>
            </a: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PCX</a:t>
            </a: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TGA</a:t>
            </a:r>
          </a:p>
          <a:p>
            <a:pPr marL="742950" marR="0" lvl="1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JPEG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07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9070</TotalTime>
  <Words>3368</Words>
  <Application>Microsoft Office PowerPoint</Application>
  <PresentationFormat>宽屏</PresentationFormat>
  <Paragraphs>948</Paragraphs>
  <Slides>78</Slides>
  <Notes>61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98" baseType="lpstr">
      <vt:lpstr>-apple-system</vt:lpstr>
      <vt:lpstr>PingFang-SC-Regular</vt:lpstr>
      <vt:lpstr>等线</vt:lpstr>
      <vt:lpstr>等线 Light</vt:lpstr>
      <vt:lpstr>仿宋</vt:lpstr>
      <vt:lpstr>黑体</vt:lpstr>
      <vt:lpstr>华光楷体_CNKI</vt:lpstr>
      <vt:lpstr>华文楷体</vt:lpstr>
      <vt:lpstr>楷体</vt:lpstr>
      <vt:lpstr>宋体</vt:lpstr>
      <vt:lpstr>微软雅黑</vt:lpstr>
      <vt:lpstr>幼圆</vt:lpstr>
      <vt:lpstr>arial</vt:lpstr>
      <vt:lpstr>arial</vt:lpstr>
      <vt:lpstr>Calibri</vt:lpstr>
      <vt:lpstr>Times New Roman</vt:lpstr>
      <vt:lpstr>Trebuchet MS</vt:lpstr>
      <vt:lpstr>Wingdings</vt:lpstr>
      <vt:lpstr>Office 主题​​</vt:lpstr>
      <vt:lpstr>自定义设计方案</vt:lpstr>
      <vt:lpstr>第二章 0与1的信息世界</vt:lpstr>
      <vt:lpstr>提纲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信息表示法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信息表示法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数据分析方法</dc:title>
  <dc:creator>Windows 用户</dc:creator>
  <cp:lastModifiedBy>254885449@qq.com</cp:lastModifiedBy>
  <cp:revision>371</cp:revision>
  <dcterms:created xsi:type="dcterms:W3CDTF">2020-02-05T02:41:26Z</dcterms:created>
  <dcterms:modified xsi:type="dcterms:W3CDTF">2024-11-24T01:51:05Z</dcterms:modified>
</cp:coreProperties>
</file>